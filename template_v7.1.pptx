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43"/>
  </p:notesMasterIdLst>
  <p:sldIdLst>
    <p:sldId id="256" r:id="rId5"/>
    <p:sldId id="2147471188" r:id="rId6"/>
    <p:sldId id="257" r:id="rId7"/>
    <p:sldId id="258" r:id="rId8"/>
    <p:sldId id="2147471189" r:id="rId9"/>
    <p:sldId id="259" r:id="rId10"/>
    <p:sldId id="260" r:id="rId11"/>
    <p:sldId id="261" r:id="rId12"/>
    <p:sldId id="262" r:id="rId13"/>
    <p:sldId id="264" r:id="rId14"/>
    <p:sldId id="292" r:id="rId15"/>
    <p:sldId id="2147471186" r:id="rId16"/>
    <p:sldId id="295" r:id="rId17"/>
    <p:sldId id="2147471173" r:id="rId18"/>
    <p:sldId id="280" r:id="rId19"/>
    <p:sldId id="281" r:id="rId20"/>
    <p:sldId id="282" r:id="rId21"/>
    <p:sldId id="283" r:id="rId22"/>
    <p:sldId id="286" r:id="rId23"/>
    <p:sldId id="291" r:id="rId24"/>
    <p:sldId id="287" r:id="rId25"/>
    <p:sldId id="288" r:id="rId26"/>
    <p:sldId id="289" r:id="rId27"/>
    <p:sldId id="290" r:id="rId28"/>
    <p:sldId id="2147471185" r:id="rId29"/>
    <p:sldId id="2147471187" r:id="rId30"/>
    <p:sldId id="266" r:id="rId31"/>
    <p:sldId id="267" r:id="rId32"/>
    <p:sldId id="268" r:id="rId33"/>
    <p:sldId id="271" r:id="rId34"/>
    <p:sldId id="2147471176" r:id="rId35"/>
    <p:sldId id="299" r:id="rId36"/>
    <p:sldId id="2132739928" r:id="rId37"/>
    <p:sldId id="2132739904" r:id="rId38"/>
    <p:sldId id="297" r:id="rId39"/>
    <p:sldId id="2147471182" r:id="rId40"/>
    <p:sldId id="2147471180" r:id="rId41"/>
    <p:sldId id="2147471175" r:id="rId42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文字" id="{8FBBF9E3-742D-EE43-B544-9C202CAF3611}">
          <p14:sldIdLst>
            <p14:sldId id="256"/>
            <p14:sldId id="2147471188"/>
            <p14:sldId id="257"/>
            <p14:sldId id="258"/>
            <p14:sldId id="2147471189"/>
            <p14:sldId id="259"/>
            <p14:sldId id="260"/>
            <p14:sldId id="261"/>
            <p14:sldId id="262"/>
          </p14:sldIdLst>
        </p14:section>
        <p14:section name="配色" id="{DE691480-B2F1-7740-8E58-91C628369389}">
          <p14:sldIdLst>
            <p14:sldId id="264"/>
            <p14:sldId id="292"/>
            <p14:sldId id="2147471186"/>
            <p14:sldId id="295"/>
            <p14:sldId id="2147471173"/>
          </p14:sldIdLst>
        </p14:section>
        <p14:section name="輔助線" id="{4432221D-8728-FE42-A226-EA1086BFB841}">
          <p14:sldIdLst>
            <p14:sldId id="280"/>
            <p14:sldId id="281"/>
            <p14:sldId id="282"/>
            <p14:sldId id="283"/>
            <p14:sldId id="286"/>
            <p14:sldId id="291"/>
            <p14:sldId id="287"/>
            <p14:sldId id="288"/>
            <p14:sldId id="289"/>
            <p14:sldId id="290"/>
          </p14:sldIdLst>
        </p14:section>
        <p14:section name="附錄" id="{CA63BE9A-B8D0-4251-A9C4-C491F54A0813}">
          <p14:sldIdLst>
            <p14:sldId id="2147471185"/>
          </p14:sldIdLst>
        </p14:section>
        <p14:section name="配色 1 範例" id="{695353C4-C5F1-ED4E-9C6B-960DFC489390}">
          <p14:sldIdLst>
            <p14:sldId id="2147471187"/>
            <p14:sldId id="266"/>
            <p14:sldId id="267"/>
            <p14:sldId id="268"/>
            <p14:sldId id="271"/>
          </p14:sldIdLst>
        </p14:section>
        <p14:section name="配色 2 範例" id="{642E2B11-D7FC-4E0B-A19B-1A0B358B0A14}">
          <p14:sldIdLst>
            <p14:sldId id="2147471176"/>
            <p14:sldId id="299"/>
            <p14:sldId id="2132739928"/>
            <p14:sldId id="2132739904"/>
          </p14:sldIdLst>
        </p14:section>
        <p14:section name="配色 3 範例" id="{99503297-4F38-4745-AED8-4845CE3AEB99}">
          <p14:sldIdLst>
            <p14:sldId id="297"/>
            <p14:sldId id="2147471182"/>
            <p14:sldId id="2147471180"/>
            <p14:sldId id="21474711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>
      <p:cViewPr varScale="1">
        <p:scale>
          <a:sx n="137" d="100"/>
          <a:sy n="137" d="100"/>
        </p:scale>
        <p:origin x="52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6510\Desktop\New%20Matt\(5)&#34389;&#20839;&#37325;&#35201;&#20107;&#21209;\&#12304;&#31574;&#30053;&#30332;&#23637;&#30456;&#38364;&#12305;\20230213&#39640;&#38542;&#26371;&#35696;&#31777;&#22577;\&#24066;&#22580;&#23450;&#20301;&#2229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F5-BB4D-BCBB-FCB982A3720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F5-BB4D-BCBB-FCB982A3720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EF5-BB4D-BCBB-FCB982A3720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EF5-BB4D-BCBB-FCB982A3720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EF5-BB4D-BCBB-FCB982A3720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F5-BB4D-BCBB-FCB982A3720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F5-BB4D-BCBB-FCB982A3720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EF5-BB4D-BCBB-FCB982A3720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EF5-BB4D-BCBB-FCB982A37206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EF5-BB4D-BCBB-FCB982A372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88ED750-5ABC-43E5-AA0A-450C1A9A03B9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EF5-BB4D-BCBB-FCB982A372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C490BE8-000A-408B-B6AC-D9972300898A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EF5-BB4D-BCBB-FCB982A372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39760CB-5515-4950-ACB4-9946862F9F12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CEF5-BB4D-BCBB-FCB982A372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33D4E4F0-BBA0-4BEC-B036-A94A487F0C29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EF5-BB4D-BCBB-FCB982A37206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7D8B1D47-4CC0-4D00-B444-908A28193CDF}" type="CELLRANGE">
                      <a:rPr lang="zh-TW" altLang="en-US" sz="90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CEF5-BB4D-BCBB-FCB982A372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3973679-4291-4961-9EFA-AD5FE74E42DF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CEF5-BB4D-BCBB-FCB982A3720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2D4D0A0A-BBC7-4165-9352-AA3712F46E03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CEF5-BB4D-BCBB-FCB982A37206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C5E08CFC-3B29-4F22-8E3D-289E104623FA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CEF5-BB4D-BCBB-FCB982A37206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47B52888-8541-4B75-930C-EAE374C729A5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CEF5-BB4D-BCBB-FCB982A37206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AC4DE701-DA20-4596-ABF3-74AEEA72F967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CEF5-BB4D-BCBB-FCB982A372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 (篩選永豐對外曝光)'!$B$2:$B$11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 (篩選永豐對外曝光)'!$C$2:$C$11</c:f>
              <c:numCache>
                <c:formatCode>General</c:formatCode>
                <c:ptCount val="10"/>
                <c:pt idx="0">
                  <c:v>14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 (篩選永豐對外曝光)'!$D$2:$D$11</c:f>
              <c:numCache>
                <c:formatCode>General</c:formatCode>
                <c:ptCount val="10"/>
                <c:pt idx="0">
                  <c:v>54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 (篩選永豐對外曝光)'!$A$2:$A$11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CEF5-BB4D-BCBB-FCB982A37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1C8-2D4F-804D-1F313A69DFC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1C8-2D4F-804D-1F313A69DFC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1C8-2D4F-804D-1F313A69DFC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1C8-2D4F-804D-1F313A69DFC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1C8-2D4F-804D-1F313A69DFC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1C8-2D4F-804D-1F313A69DFC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1C8-2D4F-804D-1F313A69DFC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1C8-2D4F-804D-1F313A69DFC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1C8-2D4F-804D-1F313A69DFC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1C8-2D4F-804D-1F313A69DFC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4507C28-EBAB-470C-B880-0811A9209F1A}" type="CELLRANGE">
                      <a:rPr lang="en-US" altLang="zh-TW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91C8-2D4F-804D-1F313A69DF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ABB8E52-0A2A-420E-ABFA-99442696B5B2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1C8-2D4F-804D-1F313A69DF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8FFF1B3-5B67-49CC-B023-55588039A37E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91C8-2D4F-804D-1F313A69DFC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F31E1A5-5E5B-43C0-935A-705F2E40B166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91C8-2D4F-804D-1F313A69DFC5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60E7E6A4-4B8B-4ACE-A9C2-A1A5D9082A25}" type="CELLRANGE">
                      <a:rPr lang="zh-TW" altLang="en-US" sz="900"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91C8-2D4F-804D-1F313A69DFC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365D837F-93F0-4E6B-83F7-110DCEED2F8E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91C8-2D4F-804D-1F313A69DFC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A0FCB0CA-135D-4657-B825-97B9B3AF387B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91C8-2D4F-804D-1F313A69DFC5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EC962BA1-77B7-40BA-BB20-204517DF5AF2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91C8-2D4F-804D-1F313A69DFC5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60933259-04C9-4746-88B7-DF0FF40AA7B5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91C8-2D4F-804D-1F313A69DFC5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9E4C6004-AA5D-47AC-A70B-4C27A15C3F86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91C8-2D4F-804D-1F313A69DF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'0210'!$C$2:$C$11</c:f>
              <c:numCache>
                <c:formatCode>General</c:formatCode>
                <c:ptCount val="10"/>
                <c:pt idx="0">
                  <c:v>44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'0210'!$D$2:$D$11</c:f>
              <c:numCache>
                <c:formatCode>General</c:formatCode>
                <c:ptCount val="10"/>
                <c:pt idx="0">
                  <c:v>84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91C8-2D4F-804D-1F313A69D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F5-BB4D-BCBB-FCB982A3720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F5-BB4D-BCBB-FCB982A3720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EF5-BB4D-BCBB-FCB982A3720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EF5-BB4D-BCBB-FCB982A3720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EF5-BB4D-BCBB-FCB982A3720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F5-BB4D-BCBB-FCB982A3720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F5-BB4D-BCBB-FCB982A3720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EF5-BB4D-BCBB-FCB982A3720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EF5-BB4D-BCBB-FCB982A37206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EF5-BB4D-BCBB-FCB982A372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63BAF8D-61C1-47C4-BB41-5CA9D900AABA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EF5-BB4D-BCBB-FCB982A372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9D752BE-3498-45C1-9665-86A4186527DB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EF5-BB4D-BCBB-FCB982A372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B7A2D1F-5B07-4F2B-B603-2C8B5B248631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CEF5-BB4D-BCBB-FCB982A372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2C98D45-FFC3-47FD-8C8E-26B0218EC63F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CEF5-BB4D-BCBB-FCB982A37206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7D8B1D47-4CC0-4D00-B444-908A28193CDF}" type="CELLRANGE">
                      <a:rPr lang="zh-TW" altLang="en-US" sz="90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CEF5-BB4D-BCBB-FCB982A372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DD4CA5E-2C8B-43C8-8690-2BB34910C810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CEF5-BB4D-BCBB-FCB982A3720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02ED1BE9-C3DB-4D13-8760-E3C8D379D1C6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CEF5-BB4D-BCBB-FCB982A37206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701BC8E8-4536-4B13-BF34-A878A14FEE13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CEF5-BB4D-BCBB-FCB982A37206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89C88812-F75C-49D8-B574-334BA639A115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CEF5-BB4D-BCBB-FCB982A37206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A28F5C8E-EC4A-41B4-B12D-436A474D1E04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CEF5-BB4D-BCBB-FCB982A372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 (篩選永豐對外曝光)'!$B$2:$B$11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 (篩選永豐對外曝光)'!$C$2:$C$11</c:f>
              <c:numCache>
                <c:formatCode>General</c:formatCode>
                <c:ptCount val="10"/>
                <c:pt idx="0">
                  <c:v>14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 (篩選永豐對外曝光)'!$D$2:$D$11</c:f>
              <c:numCache>
                <c:formatCode>General</c:formatCode>
                <c:ptCount val="10"/>
                <c:pt idx="0">
                  <c:v>54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 (篩選永豐對外曝光)'!$A$2:$A$11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CEF5-BB4D-BCBB-FCB982A37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1C8-2D4F-804D-1F313A69DFC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1C8-2D4F-804D-1F313A69DFC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1C8-2D4F-804D-1F313A69DFC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1C8-2D4F-804D-1F313A69DFC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1C8-2D4F-804D-1F313A69DFC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1C8-2D4F-804D-1F313A69DFC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1C8-2D4F-804D-1F313A69DFC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1C8-2D4F-804D-1F313A69DFC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1C8-2D4F-804D-1F313A69DFC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1C8-2D4F-804D-1F313A69DFC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BD52FFC-E667-4912-BA90-1F4DA2E3F96B}" type="CELLRANGE">
                      <a:rPr lang="en-US" altLang="zh-TW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91C8-2D4F-804D-1F313A69DF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BA3F5E5-91ED-4B88-8C26-8F8926BCEEFD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1C8-2D4F-804D-1F313A69DF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AB11A8D-8520-4C8C-B2A7-8B40870AF512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91C8-2D4F-804D-1F313A69DFC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3838391-F05C-4FF4-9B0D-AC486153D23B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91C8-2D4F-804D-1F313A69DFC5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60E7E6A4-4B8B-4ACE-A9C2-A1A5D9082A25}" type="CELLRANGE">
                      <a:rPr lang="zh-TW" altLang="en-US" sz="900"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91C8-2D4F-804D-1F313A69DFC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D99E93D-3C9E-459E-AC94-675D9020E73B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91C8-2D4F-804D-1F313A69DFC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934B288-9272-458D-B845-A25F046F5778}" type="CELLRANGE">
                      <a:rPr lang="zh-TW" altLang="en-US"/>
                      <a:pPr/>
                      <a:t>[CELLRANGE]</a:t>
                    </a:fld>
                    <a:endParaRPr lang="zh-TW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91C8-2D4F-804D-1F313A69DFC5}"/>
                </c:ext>
              </c:extLst>
            </c:dLbl>
            <c:dLbl>
              <c:idx val="7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C529EC1E-333E-4E14-B7E6-A4A4A50E2597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91C8-2D4F-804D-1F313A69DFC5}"/>
                </c:ext>
              </c:extLst>
            </c:dLbl>
            <c:dLbl>
              <c:idx val="8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9305F5E8-FA14-4AE6-AD66-867B5467B333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91C8-2D4F-804D-1F313A69DFC5}"/>
                </c:ext>
              </c:extLst>
            </c:dLbl>
            <c:dLbl>
              <c:idx val="9"/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effectLst>
                          <a:glow rad="101600">
                            <a:schemeClr val="bg1">
                              <a:lumMod val="50000"/>
                              <a:alpha val="40000"/>
                            </a:schemeClr>
                          </a:glow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  <a:ea typeface="微軟正黑體" panose="020B0604030504040204" pitchFamily="34" charset="-120"/>
                        <a:cs typeface="+mn-cs"/>
                      </a:defRPr>
                    </a:pPr>
                    <a:fld id="{D7E4D36E-73B0-4BF1-B979-C7F543E78E10}" type="CELLRANGE">
                      <a:rPr lang="zh-TW" altLang="en-US"/>
                      <a:pPr>
                        <a:defRPr>
                          <a:solidFill>
                            <a:schemeClr val="bg1"/>
                          </a:solidFill>
                          <a:effectLst>
                            <a:glow rad="101600">
                              <a:schemeClr val="bg1">
                                <a:lumMod val="50000"/>
                                <a:alpha val="40000"/>
                              </a:schemeClr>
                            </a:glow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  <a:ea typeface="微軟正黑體" panose="020B0604030504040204" pitchFamily="34" charset="-120"/>
                        </a:defRPr>
                      </a:pPr>
                      <a:t>[CELLRANGE]</a:t>
                    </a:fld>
                    <a:endParaRPr lang="zh-TW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effectLst>
                        <a:glow rad="101600">
                          <a:schemeClr val="bg1">
                            <a:lumMod val="50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entury Gothic" panose="020B0502020202020204" pitchFamily="34" charset="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91C8-2D4F-804D-1F313A69DF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effectLst>
                      <a:glow rad="101600">
                        <a:schemeClr val="bg1">
                          <a:lumMod val="50000"/>
                          <a:alpha val="40000"/>
                        </a:schemeClr>
                      </a:glow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entury Gothic" panose="020B0502020202020204" pitchFamily="34" charset="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'0210'!$B$2:$B$11</c:f>
              <c:numCache>
                <c:formatCode>General</c:formatCode>
                <c:ptCount val="10"/>
                <c:pt idx="0">
                  <c:v>40</c:v>
                </c:pt>
                <c:pt idx="1">
                  <c:v>43</c:v>
                </c:pt>
                <c:pt idx="2">
                  <c:v>31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xVal>
          <c:yVal>
            <c:numRef>
              <c:f>'0210'!$C$2:$C$11</c:f>
              <c:numCache>
                <c:formatCode>General</c:formatCode>
                <c:ptCount val="10"/>
                <c:pt idx="0">
                  <c:v>44</c:v>
                </c:pt>
                <c:pt idx="1">
                  <c:v>55</c:v>
                </c:pt>
                <c:pt idx="2">
                  <c:v>34</c:v>
                </c:pt>
                <c:pt idx="3">
                  <c:v>36</c:v>
                </c:pt>
                <c:pt idx="4">
                  <c:v>8</c:v>
                </c:pt>
                <c:pt idx="5">
                  <c:v>25</c:v>
                </c:pt>
                <c:pt idx="6">
                  <c:v>19</c:v>
                </c:pt>
                <c:pt idx="7">
                  <c:v>10</c:v>
                </c:pt>
                <c:pt idx="8">
                  <c:v>5</c:v>
                </c:pt>
                <c:pt idx="9">
                  <c:v>8</c:v>
                </c:pt>
              </c:numCache>
            </c:numRef>
          </c:yVal>
          <c:bubbleSize>
            <c:numRef>
              <c:f>'0210'!$D$2:$D$11</c:f>
              <c:numCache>
                <c:formatCode>General</c:formatCode>
                <c:ptCount val="10"/>
                <c:pt idx="0">
                  <c:v>84</c:v>
                </c:pt>
                <c:pt idx="1">
                  <c:v>98</c:v>
                </c:pt>
                <c:pt idx="2">
                  <c:v>65</c:v>
                </c:pt>
                <c:pt idx="3">
                  <c:v>72</c:v>
                </c:pt>
                <c:pt idx="4">
                  <c:v>16</c:v>
                </c:pt>
                <c:pt idx="5">
                  <c:v>50</c:v>
                </c:pt>
                <c:pt idx="6">
                  <c:v>37</c:v>
                </c:pt>
                <c:pt idx="7">
                  <c:v>20</c:v>
                </c:pt>
                <c:pt idx="8">
                  <c:v>10</c:v>
                </c:pt>
                <c:pt idx="9">
                  <c:v>16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'0210'!$A$2:$A$11</c15:f>
                <c15:dlblRangeCache>
                  <c:ptCount val="10"/>
                  <c:pt idx="0">
                    <c:v>永豐金</c:v>
                  </c:pt>
                  <c:pt idx="1">
                    <c:v>國泰金</c:v>
                  </c:pt>
                  <c:pt idx="2">
                    <c:v>中信金</c:v>
                  </c:pt>
                  <c:pt idx="3">
                    <c:v>玉山金</c:v>
                  </c:pt>
                  <c:pt idx="4">
                    <c:v>台新銀</c:v>
                  </c:pt>
                  <c:pt idx="5">
                    <c:v>富邦金</c:v>
                  </c:pt>
                  <c:pt idx="6">
                    <c:v>元大金</c:v>
                  </c:pt>
                  <c:pt idx="7">
                    <c:v>第一銀</c:v>
                  </c:pt>
                  <c:pt idx="8">
                    <c:v>星展銀</c:v>
                  </c:pt>
                  <c:pt idx="9">
                    <c:v>新光金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91C8-2D4F-804D-1F313A69D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626656344"/>
        <c:axId val="626661264"/>
      </c:bubbleChart>
      <c:valAx>
        <c:axId val="626656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26661264"/>
        <c:crosses val="autoZero"/>
        <c:crossBetween val="midCat"/>
      </c:valAx>
      <c:valAx>
        <c:axId val="626661264"/>
        <c:scaling>
          <c:orientation val="minMax"/>
          <c:max val="80"/>
        </c:scaling>
        <c:delete val="1"/>
        <c:axPos val="l"/>
        <c:numFmt formatCode="General" sourceLinked="1"/>
        <c:majorTickMark val="none"/>
        <c:minorTickMark val="none"/>
        <c:tickLblPos val="nextTo"/>
        <c:crossAx val="6266563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4086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98809eb64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298809eb64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98809eb6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2298809eb64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98809eb64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2298809eb64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3bcfb68ef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3bcfb68ef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3031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3d89c15d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3d89c15d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0677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3bcfb68ef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3bcfb68ef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3418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98809eb64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2298809eb64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把邊界、字體、行距等數值調整成整齊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的數字，排版上優先對齊column，橫軸的部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分版面過窄，基本上只能置頂或置中(如右圖)</a:t>
            </a:r>
            <a:endParaRPr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，因此只留content區的中心線，並在title和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content間做了半個gutter的間隔，最後新增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zh-TW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了無標題的母片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2871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98809eb64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2298809eb64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5959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3d89c15d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3d89c15d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06415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3030b41c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3030b41c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3bcfb68ef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3bcfb68ef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76327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107f9f4f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107f9f4f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7994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117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3bcfb68ef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3bcfb68ef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9193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107f9f4f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107f9f4f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6054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781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userDrawn="1">
  <p:cSld name="盡量不要用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" name="Google Shape;24;p35"/>
          <p:cNvCxnSpPr>
            <a:cxnSpLocks/>
          </p:cNvCxnSpPr>
          <p:nvPr/>
        </p:nvCxnSpPr>
        <p:spPr>
          <a:xfrm>
            <a:off x="179388" y="611438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;p49">
            <a:extLst>
              <a:ext uri="{FF2B5EF4-FFF2-40B4-BE49-F238E27FC236}">
                <a16:creationId xmlns:a16="http://schemas.microsoft.com/office/drawing/2014/main" id="{4B1AA4F1-C32F-CE82-074E-09C516818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" name="Google Shape;30;p49">
            <a:extLst>
              <a:ext uri="{FF2B5EF4-FFF2-40B4-BE49-F238E27FC236}">
                <a16:creationId xmlns:a16="http://schemas.microsoft.com/office/drawing/2014/main" id="{29CA88E3-41D3-FF37-BF7E-B456D3066D29}"/>
              </a:ext>
            </a:extLst>
          </p:cNvPr>
          <p:cNvCxnSpPr>
            <a:cxnSpLocks/>
          </p:cNvCxnSpPr>
          <p:nvPr userDrawn="1"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9;p34">
            <a:extLst>
              <a:ext uri="{FF2B5EF4-FFF2-40B4-BE49-F238E27FC236}">
                <a16:creationId xmlns:a16="http://schemas.microsoft.com/office/drawing/2014/main" id="{E8E59DF3-723D-F8D2-F968-6FCDA67BCDDC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7" name="Google Shape;19;p34">
            <a:extLst>
              <a:ext uri="{FF2B5EF4-FFF2-40B4-BE49-F238E27FC236}">
                <a16:creationId xmlns:a16="http://schemas.microsoft.com/office/drawing/2014/main" id="{AB88F2E6-F0E1-9028-69C7-33CBCB9759A2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5868990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6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4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2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0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en-US" altLang="zh-TW" sz="8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50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  <p:sldLayoutId id="2147483657" r:id="rId4"/>
    <p:sldLayoutId id="2147483649" r:id="rId5"/>
    <p:sldLayoutId id="2147483659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aJydGnLmd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aJydGnLmd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160174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altLang="en-US" b="0" dirty="0"/>
              <a:t>封面標題</a:t>
            </a:r>
            <a:r>
              <a:rPr lang="en-US" altLang="zh-TW" b="0" dirty="0"/>
              <a:t>(36 pt)</a:t>
            </a:r>
            <a:endParaRPr lang="en-US" b="0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2800" b="0" dirty="0"/>
              <a:t>封面副標(28 pt)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b="0" dirty="0"/>
              <a:t>YYYY.MM.DD</a:t>
            </a:r>
            <a:r>
              <a:rPr lang="en-US" altLang="zh-TW" sz="1600" b="0" dirty="0"/>
              <a:t> (16 pt)</a:t>
            </a:r>
            <a:endParaRPr lang="en-US" sz="16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使用方式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B0BEFF6-7576-F03B-6928-72A9AEB67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51460" indent="-215900">
              <a:spcBef>
                <a:spcPts val="600"/>
              </a:spcBef>
              <a:buFont typeface="+mj-lt"/>
              <a:buAutoNum type="arabicPeriod"/>
            </a:pPr>
            <a:r>
              <a:rPr lang="zh-TW" altLang="en-US" sz="1600">
                <a:latin typeface="微軟正黑體"/>
                <a:ea typeface="微軟正黑體"/>
              </a:rPr>
              <a:t>複製這份簡報 </a:t>
            </a:r>
            <a:r>
              <a:rPr lang="zh-TW" altLang="en-US" sz="1400">
                <a:latin typeface="微軟正黑體"/>
                <a:ea typeface="微軟正黑體"/>
              </a:rPr>
              <a:t>如果經常使用，可以存成 </a:t>
            </a:r>
            <a:r>
              <a:rPr lang="en-US" altLang="zh-TW" sz="1400">
                <a:latin typeface="微軟正黑體"/>
                <a:ea typeface="微軟正黑體"/>
              </a:rPr>
              <a:t>.</a:t>
            </a:r>
            <a:r>
              <a:rPr lang="en-US" altLang="zh-TW" sz="1400" err="1">
                <a:latin typeface="微軟正黑體"/>
                <a:ea typeface="微軟正黑體"/>
              </a:rPr>
              <a:t>potx</a:t>
            </a:r>
            <a:r>
              <a:rPr lang="en-US" altLang="zh-TW" sz="1400">
                <a:latin typeface="微軟正黑體"/>
                <a:ea typeface="微軟正黑體"/>
              </a:rPr>
              <a:t> </a:t>
            </a:r>
            <a:r>
              <a:rPr lang="zh-TW" altLang="en-US" sz="1400">
                <a:latin typeface="微軟正黑體"/>
                <a:ea typeface="微軟正黑體"/>
              </a:rPr>
              <a:t>範本檔案，之後打開 </a:t>
            </a:r>
            <a:r>
              <a:rPr lang="en-US" altLang="zh-TW" sz="1400" err="1">
                <a:latin typeface="微軟正黑體"/>
                <a:ea typeface="微軟正黑體"/>
              </a:rPr>
              <a:t>Powerpoint</a:t>
            </a:r>
            <a:r>
              <a:rPr lang="en-US" altLang="zh-TW" sz="1400">
                <a:latin typeface="微軟正黑體"/>
                <a:ea typeface="微軟正黑體"/>
              </a:rPr>
              <a:t> </a:t>
            </a:r>
            <a:r>
              <a:rPr lang="zh-TW" altLang="en-US" sz="1400">
                <a:latin typeface="微軟正黑體"/>
                <a:ea typeface="微軟正黑體"/>
              </a:rPr>
              <a:t>後就可以點選範本，不用一直複製</a:t>
            </a:r>
            <a:endParaRPr lang="en-US" altLang="zh-TW" sz="1400">
              <a:latin typeface="微軟正黑體"/>
              <a:ea typeface="微軟正黑體"/>
            </a:endParaRPr>
          </a:p>
          <a:p>
            <a:pPr marL="251460" indent="-215900">
              <a:spcBef>
                <a:spcPts val="600"/>
              </a:spcBef>
              <a:buFont typeface="+mj-lt"/>
              <a:buAutoNum type="arabicPeriod"/>
            </a:pPr>
            <a:r>
              <a:rPr lang="zh-TW" altLang="en-US" sz="1600">
                <a:latin typeface="微軟正黑體"/>
                <a:ea typeface="微軟正黑體"/>
              </a:rPr>
              <a:t>看</a:t>
            </a:r>
            <a:r>
              <a:rPr lang="en-US" altLang="zh-TW" sz="1600">
                <a:latin typeface="微軟正黑體"/>
                <a:ea typeface="微軟正黑體"/>
              </a:rPr>
              <a:t> p4~5</a:t>
            </a:r>
          </a:p>
          <a:p>
            <a:pPr marL="251460" indent="-215900">
              <a:spcBef>
                <a:spcPts val="600"/>
              </a:spcBef>
              <a:buFont typeface="+mj-lt"/>
              <a:buAutoNum type="arabicPeriod"/>
            </a:pPr>
            <a:r>
              <a:rPr lang="zh-TW" altLang="en-US" sz="1600">
                <a:latin typeface="微軟正黑體"/>
                <a:ea typeface="微軟正黑體"/>
              </a:rPr>
              <a:t>從 </a:t>
            </a:r>
            <a:r>
              <a:rPr lang="en-US" altLang="zh-TW" sz="1600">
                <a:latin typeface="微軟正黑體"/>
                <a:ea typeface="微軟正黑體"/>
              </a:rPr>
              <a:t>p11~14 </a:t>
            </a:r>
            <a:r>
              <a:rPr lang="zh-TW" altLang="en-US" sz="1600">
                <a:latin typeface="微軟正黑體"/>
                <a:ea typeface="微軟正黑體"/>
              </a:rPr>
              <a:t>配色中選一頁</a:t>
            </a:r>
            <a:endParaRPr lang="en-US" altLang="zh-TW" sz="1600">
              <a:latin typeface="微軟正黑體"/>
              <a:ea typeface="微軟正黑體"/>
            </a:endParaRPr>
          </a:p>
          <a:p>
            <a:pPr marL="251460" indent="-215900">
              <a:spcBef>
                <a:spcPts val="600"/>
              </a:spcBef>
              <a:buFont typeface="+mj-lt"/>
              <a:buAutoNum type="arabicPeriod"/>
            </a:pPr>
            <a:r>
              <a:rPr lang="zh-TW" altLang="en-US" sz="1600">
                <a:latin typeface="微軟正黑體"/>
                <a:ea typeface="微軟正黑體"/>
              </a:rPr>
              <a:t>看 </a:t>
            </a:r>
            <a:r>
              <a:rPr lang="en-US" altLang="zh-TW" sz="1600">
                <a:latin typeface="微軟正黑體"/>
                <a:ea typeface="微軟正黑體"/>
              </a:rPr>
              <a:t>p26~p38</a:t>
            </a:r>
            <a:r>
              <a:rPr lang="zh-TW" altLang="en-US" sz="1600">
                <a:latin typeface="微軟正黑體"/>
                <a:ea typeface="微軟正黑體"/>
              </a:rPr>
              <a:t>，如果你決定不了要用哪個配色</a:t>
            </a:r>
            <a:endParaRPr lang="en-US" altLang="zh-TW" sz="1600">
              <a:latin typeface="微軟正黑體"/>
              <a:ea typeface="微軟正黑體"/>
            </a:endParaRPr>
          </a:p>
          <a:p>
            <a:pPr marL="251460" indent="-215900">
              <a:spcBef>
                <a:spcPts val="600"/>
              </a:spcBef>
              <a:buFont typeface="+mj-lt"/>
              <a:buAutoNum type="arabicPeriod"/>
            </a:pPr>
            <a:r>
              <a:rPr lang="zh-TW" altLang="en-US" sz="1600">
                <a:latin typeface="微軟正黑體"/>
                <a:ea typeface="微軟正黑體"/>
              </a:rPr>
              <a:t>看</a:t>
            </a:r>
            <a:r>
              <a:rPr lang="en-US" altLang="zh-TW" sz="1600">
                <a:latin typeface="微軟正黑體"/>
                <a:ea typeface="微軟正黑體"/>
              </a:rPr>
              <a:t> p16~24</a:t>
            </a:r>
            <a:r>
              <a:rPr lang="zh-TW" altLang="en-US" sz="1600">
                <a:latin typeface="微軟正黑體"/>
                <a:ea typeface="微軟正黑體"/>
              </a:rPr>
              <a:t>，如果你還不熟悉輔助線的使用</a:t>
            </a:r>
            <a:endParaRPr lang="en-US" altLang="zh-TW" sz="1600">
              <a:latin typeface="微軟正黑體"/>
              <a:ea typeface="微軟正黑體"/>
            </a:endParaRPr>
          </a:p>
          <a:p>
            <a:pPr marL="251460" indent="-215900">
              <a:spcBef>
                <a:spcPts val="600"/>
              </a:spcBef>
              <a:buFont typeface="+mj-lt"/>
              <a:buAutoNum type="arabicPeriod"/>
            </a:pPr>
            <a:r>
              <a:rPr lang="zh-TW" altLang="en-US" sz="1600">
                <a:latin typeface="微軟正黑體"/>
                <a:ea typeface="微軟正黑體"/>
              </a:rPr>
              <a:t>留下</a:t>
            </a:r>
            <a:r>
              <a:rPr lang="en-US" altLang="zh-TW" sz="1600">
                <a:latin typeface="微軟正黑體"/>
                <a:ea typeface="微軟正黑體"/>
              </a:rPr>
              <a:t> p4~5 </a:t>
            </a:r>
            <a:r>
              <a:rPr lang="zh-TW" altLang="en-US" sz="1600">
                <a:latin typeface="微軟正黑體"/>
                <a:ea typeface="微軟正黑體"/>
              </a:rPr>
              <a:t>跟一頁配色，剩下刪掉，開始製作簡報</a:t>
            </a:r>
            <a:endParaRPr lang="en-US" altLang="zh-TW" sz="1600"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6058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E308CD-B82E-060F-E169-9D098748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文字</a:t>
            </a:r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文字設定說明</a:t>
            </a: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3101E3-ED46-FC0E-DE8A-AA2AFC68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本頁說明文字設定原則，實際使用可以參考</a:t>
            </a:r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p6~8</a:t>
            </a:r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600"/>
              </a:spcBef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先決定</a:t>
            </a:r>
            <a:r>
              <a:rPr lang="zh-TW" altLang="en-US" u="sng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內文</a:t>
            </a:r>
            <a:r>
              <a:rPr lang="en-US" altLang="zh-TW" u="sng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af-ZA" altLang="zh-TW" u="sng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Main Copy)</a:t>
            </a: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的字型大小</a:t>
            </a:r>
            <a:endParaRPr lang="af-ZA" altLang="zh-TW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spcBef>
                <a:spcPts val="600"/>
              </a:spcBef>
              <a:buFont typeface="Arial"/>
              <a:buChar char="○"/>
            </a:pPr>
            <a:r>
              <a:rPr lang="zh-TW" altLang="en-US" sz="1400" u="sng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內文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為單頁最多</a:t>
            </a:r>
            <a:r>
              <a:rPr lang="en-US" altLang="zh-TW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/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主要段落的文字</a:t>
            </a:r>
          </a:p>
          <a:p>
            <a:pPr lvl="1">
              <a:spcBef>
                <a:spcPts val="600"/>
              </a:spcBef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依整份簡報的內容決定，以不壅擠且不超出輔助線區域為準</a:t>
            </a:r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  <a:sym typeface="Microsoft JhengHei"/>
            </a:endParaRPr>
          </a:p>
          <a:p>
            <a:pPr>
              <a:spcBef>
                <a:spcPts val="600"/>
              </a:spcBef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該頁如需其他層級的文字，從</a:t>
            </a:r>
            <a:r>
              <a:rPr lang="zh-TW" altLang="en-US" u="sng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內文</a:t>
            </a: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去拓展</a:t>
            </a:r>
          </a:p>
          <a:p>
            <a:pPr lvl="1">
              <a:spcBef>
                <a:spcPts val="600"/>
              </a:spcBef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原則一個層級差距為 </a:t>
            </a:r>
            <a:r>
              <a:rPr lang="en-US" altLang="zh-TW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2 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個單位</a:t>
            </a:r>
          </a:p>
          <a:p>
            <a:pPr lvl="1">
              <a:spcBef>
                <a:spcPts val="600"/>
              </a:spcBef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當只需要一個層級的標題時，使用</a:t>
            </a:r>
            <a:r>
              <a:rPr lang="zh-TW" altLang="en-US" sz="1400" u="sng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標題</a:t>
            </a:r>
            <a:r>
              <a:rPr lang="en-US" altLang="zh-TW" sz="1400" u="sng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2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＋</a:t>
            </a:r>
            <a:r>
              <a:rPr lang="zh-TW" altLang="en-US" sz="1400" u="sng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內文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，而非</a:t>
            </a:r>
            <a:r>
              <a:rPr lang="zh-TW" altLang="en-US" sz="1400" u="sng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標題</a:t>
            </a:r>
            <a:r>
              <a:rPr lang="en-US" altLang="zh-TW" sz="1400" u="sng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1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＋</a:t>
            </a:r>
            <a:r>
              <a:rPr lang="zh-TW" altLang="en-US" sz="1400" u="sng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內文</a:t>
            </a:r>
          </a:p>
          <a:p>
            <a:pPr>
              <a:spcBef>
                <a:spcPts val="600"/>
              </a:spcBef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字體沒特別需求時，請使用「微軟正黑體」</a:t>
            </a:r>
          </a:p>
          <a:p>
            <a:pPr>
              <a:spcBef>
                <a:spcPts val="600"/>
              </a:spcBef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勿使用粗體、斜體，若必須要用粗體，請使用「微軟正黑體 </a:t>
            </a:r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bold</a:t>
            </a: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endParaRPr lang="en-US" altLang="zh-TW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600"/>
              </a:spcBef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有使用縮排時，請選擇「標題及物件」或「兩欄」版面，縮排設定值如下：</a:t>
            </a:r>
            <a:endParaRPr lang="en-US" altLang="zh-TW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文字之前：</a:t>
            </a:r>
            <a:r>
              <a:rPr lang="en-US" altLang="zh-TW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0.7 cm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，縮排到下一階會是 </a:t>
            </a:r>
            <a:r>
              <a:rPr lang="en-US" altLang="zh-TW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1.4 cm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，以此類推</a:t>
            </a:r>
            <a:endParaRPr lang="en-US" altLang="zh-TW" sz="14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特別：凸排</a:t>
            </a:r>
            <a:endParaRPr lang="en-US" altLang="zh-TW" sz="14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文字之後：</a:t>
            </a:r>
            <a:r>
              <a:rPr lang="en-US" altLang="zh-TW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0.6 cm (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此設定請勿調整</a:t>
            </a:r>
            <a:r>
              <a:rPr lang="en-US" altLang="zh-TW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 lvl="1"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前段間距：</a:t>
            </a:r>
            <a:r>
              <a:rPr lang="en-US" altLang="zh-TW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</a:t>
            </a: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點</a:t>
            </a:r>
            <a:endParaRPr lang="en-US" altLang="zh-TW" sz="14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buFont typeface="Arial"/>
              <a:buChar char="○"/>
            </a:pPr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行距：單行間距</a:t>
            </a:r>
            <a:endParaRPr lang="en-US" altLang="zh-TW" sz="14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03555" lvl="1" indent="-215900">
              <a:buFont typeface="Arial"/>
              <a:buChar char="○"/>
            </a:pPr>
            <a:r>
              <a:rPr lang="zh-TW" altLang="en-US" sz="1400">
                <a:latin typeface="Microsoft JhengHei"/>
                <a:ea typeface="Microsoft JhengHei"/>
              </a:rPr>
              <a:t>後段間距：</a:t>
            </a:r>
            <a:r>
              <a:rPr lang="en-US" altLang="zh-TW" sz="1400">
                <a:latin typeface="Microsoft JhengHei"/>
                <a:ea typeface="Microsoft JhengHei"/>
              </a:rPr>
              <a:t>0</a:t>
            </a:r>
            <a:r>
              <a:rPr lang="zh-TW" altLang="en-US" sz="1400">
                <a:latin typeface="Microsoft JhengHei"/>
                <a:ea typeface="Microsoft JhengHei"/>
              </a:rPr>
              <a:t> 點</a:t>
            </a:r>
            <a:endParaRPr lang="en-US" altLang="zh-TW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 altLang="en-US"/>
              <a:t>表格</a:t>
            </a:r>
            <a:r>
              <a:rPr lang="zh-TW"/>
              <a:t>設定說明</a:t>
            </a:r>
            <a:endParaRPr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2E3C2549-8CE5-1EBD-2266-09CA8BD8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388" y="719149"/>
            <a:ext cx="11161712" cy="740845"/>
          </a:xfrm>
          <a:prstGeom prst="rect">
            <a:avLst/>
          </a:prstGeom>
        </p:spPr>
        <p:txBody>
          <a:bodyPr lIns="86400" tIns="46800" bIns="46800">
            <a:noAutofit/>
          </a:bodyPr>
          <a:lstStyle/>
          <a:p>
            <a:pPr marL="251998" marR="0" lvl="0" indent="-216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○"/>
              <a:tabLst/>
              <a:defRPr/>
            </a:pPr>
            <a:r>
              <a:rPr lang="zh-TW" altLang="en-US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Arial"/>
                <a:sym typeface="Arial"/>
              </a:rPr>
              <a:t>呈現盡量簡潔，如果沒有框線也夠清楚，那就不要框線！讓文字、資料突出</a:t>
            </a:r>
            <a:endParaRPr lang="en-US" altLang="zh-TW" sz="1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Arial"/>
              <a:sym typeface="Arial"/>
            </a:endParaRPr>
          </a:p>
          <a:p>
            <a:pPr marL="251998" marR="0" lvl="0" indent="-216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○"/>
              <a:tabLst/>
              <a:defRPr/>
            </a:pPr>
            <a:r>
              <a:rPr lang="zh-TW" altLang="en-US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Arial"/>
                <a:sym typeface="Arial"/>
              </a:rPr>
              <a:t>表格左右邊界</a:t>
            </a:r>
            <a:r>
              <a:rPr lang="en-US" alt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Arial"/>
                <a:sym typeface="Arial"/>
              </a:rPr>
              <a:t> 0.25 cm</a:t>
            </a:r>
            <a:r>
              <a:rPr lang="zh-TW" altLang="en-US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Arial"/>
                <a:sym typeface="Arial"/>
              </a:rPr>
              <a:t>，上下邊界</a:t>
            </a:r>
            <a:r>
              <a:rPr lang="en-US" altLang="zh-TW" sz="1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Arial"/>
                <a:sym typeface="Arial"/>
              </a:rPr>
              <a:t> 0.13 cm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89DB35-D673-138D-D5DD-E21142D19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155086"/>
              </p:ext>
            </p:extLst>
          </p:nvPr>
        </p:nvGraphicFramePr>
        <p:xfrm>
          <a:off x="179387" y="1567143"/>
          <a:ext cx="11161713" cy="3322320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3720571">
                  <a:extLst>
                    <a:ext uri="{9D8B030D-6E8A-4147-A177-3AD203B41FA5}">
                      <a16:colId xmlns:a16="http://schemas.microsoft.com/office/drawing/2014/main" val="1860503547"/>
                    </a:ext>
                  </a:extLst>
                </a:gridCol>
                <a:gridCol w="3720571">
                  <a:extLst>
                    <a:ext uri="{9D8B030D-6E8A-4147-A177-3AD203B41FA5}">
                      <a16:colId xmlns:a16="http://schemas.microsoft.com/office/drawing/2014/main" val="3659860070"/>
                    </a:ext>
                  </a:extLst>
                </a:gridCol>
                <a:gridCol w="3720571">
                  <a:extLst>
                    <a:ext uri="{9D8B030D-6E8A-4147-A177-3AD203B41FA5}">
                      <a16:colId xmlns:a16="http://schemas.microsoft.com/office/drawing/2014/main" val="1424678120"/>
                    </a:ext>
                  </a:extLst>
                </a:gridCol>
              </a:tblGrid>
              <a:tr h="2504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60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數據少，就用「純文字」</a:t>
                      </a:r>
                      <a:endParaRPr lang="zh-TW" altLang="en-US" sz="1600">
                        <a:solidFill>
                          <a:schemeClr val="bg1"/>
                        </a:solidFill>
                        <a:highlight>
                          <a:srgbClr val="BFDBFE"/>
                        </a:highlight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60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「表格」的主角是資料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用「點型圖」看分布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024376"/>
                  </a:ext>
                </a:extLst>
              </a:tr>
              <a:tr h="867402">
                <a:tc>
                  <a:txBody>
                    <a:bodyPr/>
                    <a:lstStyle/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/>
                        </a:rPr>
                        <a:t>分享的數據只有少數一兩個，純文字可能是最適合的溝通方式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sym typeface="Microsoft JhengHei"/>
                      </a:endParaRPr>
                    </a:p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Microsoft JhengHei"/>
                        </a:rPr>
                        <a:t>將一個或少數幾個數據做成表格或圖表，除了可能會誤導聽眾，氣勢也少了好幾分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左欄讀到右欄、從上列讀到下列，或是比較不同數值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在現場簡報使用表格不是個好主意。考慮放附件，附上連結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搶眼的應該是資料本身，而非框線。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很適合展示兩者之間的關係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通常散布圖較常使用在科學領域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2197738"/>
                  </a:ext>
                </a:extLst>
              </a:tr>
              <a:tr h="2504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60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用「線型圖」看關聯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60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用「條狀圖」比多少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60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用「區域圖」看差異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053961"/>
                  </a:ext>
                </a:extLst>
              </a:tr>
              <a:tr h="867402">
                <a:tc>
                  <a:txBody>
                    <a:bodyPr/>
                    <a:lstStyle/>
                    <a:p>
                      <a:pPr marL="251998" marR="0" lvl="0" indent="-160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  <a:tabLst/>
                        <a:defRPr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最常使用來繪製連續資料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lvl="0" indent="-160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  <a:tabLst/>
                        <a:defRPr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標準折線圖與斜線圖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lvl="0" indent="-160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  <a:tabLst/>
                        <a:defRPr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水平 </a:t>
                      </a:r>
                      <a:r>
                        <a:rPr lang="en-US" altLang="zh-TW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X</a:t>
                      </a: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軸的時間時，繪製的資料間隔必須一致。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因為眼睛會比較長條的相對長度，</a:t>
                      </a:r>
                      <a:r>
                        <a:rPr lang="zh-TW" altLang="en-US" sz="1400" b="0" i="0" u="none" strike="noStrike" cap="none">
                          <a:solidFill>
                            <a:srgbClr val="F8717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所以條狀圖一定要以零為基線</a:t>
                      </a:r>
                      <a:r>
                        <a:rPr lang="zh-TW" altLang="en-US" sz="1400" b="0" i="0" u="none" strike="noStrike" cap="none">
                          <a:solidFill>
                            <a:srgbClr val="007AC5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，</a:t>
                      </a: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不道德之外，可信度會隨之瓦解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條狀的寬度要適中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下面看幾種條狀圖的書名 </a:t>
                      </a:r>
                      <a:r>
                        <a:rPr lang="en-US" altLang="zh-TW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&amp;</a:t>
                      </a: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範例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人類的眼睛並不擅長預估二元空間的量化數值</a:t>
                      </a:r>
                      <a:endParaRPr lang="en-US" altLang="zh-TW" sz="1400" b="0" i="0" u="none" strike="noStrike" cap="none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1998" marR="0" indent="-160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zh-TW" altLang="en-US" sz="1400" b="0" i="0" u="none" strike="noStrike" cap="none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要將規模差異甚大的數字視覺化時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2596303"/>
                  </a:ext>
                </a:extLst>
              </a:tr>
              <a:tr h="250457">
                <a:tc gridSpan="3">
                  <a:txBody>
                    <a:bodyPr/>
                    <a:lstStyle/>
                    <a:p>
                      <a:pPr marL="91098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盡量別用的圖表：圓餅圖、環圈圖、</a:t>
                      </a:r>
                      <a:r>
                        <a:rPr lang="en-US" altLang="zh-TW" sz="1600" b="0" i="0" u="none" strike="noStrike" cap="none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3D</a:t>
                      </a:r>
                      <a:r>
                        <a:rPr lang="zh-TW" altLang="en-US" sz="1600" b="0" i="0" u="none" strike="noStrike" cap="none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立體圖雙</a:t>
                      </a:r>
                      <a:r>
                        <a:rPr lang="en-US" altLang="zh-TW" sz="1600" b="0" i="0" u="none" strike="noStrike" cap="none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Y</a:t>
                      </a:r>
                      <a:r>
                        <a:rPr lang="zh-TW" altLang="en-US" sz="1600" b="0" i="0" u="none" strike="noStrike" cap="none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座標軸</a:t>
                      </a:r>
                      <a:endParaRPr lang="en-US" altLang="zh-TW" sz="1600" b="0" i="0" u="none" strike="noStrike" cap="none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93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41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>
                <a:solidFill>
                  <a:srgbClr val="212121"/>
                </a:solidFill>
              </a:rPr>
              <a:t>內文 18</a:t>
            </a:r>
            <a:r>
              <a:rPr lang="en-US" altLang="zh-TW">
                <a:solidFill>
                  <a:srgbClr val="212121"/>
                </a:solidFill>
              </a:rPr>
              <a:t> </a:t>
            </a:r>
            <a:r>
              <a:rPr lang="en-US" altLang="zh-TW" sz="2000">
                <a:solidFill>
                  <a:srgbClr val="60A5F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zh-TW" altLang="en-US" sz="2000">
              <a:solidFill>
                <a:srgbClr val="60A5F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5" name="Google Shape;55;p4"/>
          <p:cNvGraphicFramePr/>
          <p:nvPr>
            <p:extLst>
              <p:ext uri="{D42A27DB-BD31-4B8C-83A1-F6EECF244321}">
                <p14:modId xmlns:p14="http://schemas.microsoft.com/office/powerpoint/2010/main" val="2903792210"/>
              </p:ext>
            </p:extLst>
          </p:nvPr>
        </p:nvGraphicFramePr>
        <p:xfrm>
          <a:off x="179387" y="719138"/>
          <a:ext cx="11161709" cy="3931680"/>
        </p:xfrm>
        <a:graphic>
          <a:graphicData uri="http://schemas.openxmlformats.org/drawingml/2006/table">
            <a:tbl>
              <a:tblPr>
                <a:noFill/>
                <a:tableStyleId>{91DB7C30-2B5D-4D34-8F22-85940E495A18}</a:tableStyleId>
              </a:tblPr>
              <a:tblGrid>
                <a:gridCol w="2232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0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0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Scale Category</a:t>
                      </a:r>
                      <a:endParaRPr sz="1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Typeface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Weight 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Size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主標(Catch)</a:t>
                      </a:r>
                      <a:endParaRPr sz="3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黑體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32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副標(Pre catch)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標題1 (</a:t>
                      </a:r>
                      <a:r>
                        <a:rPr lang="zh-TW" sz="24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1)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標題2 (</a:t>
                      </a: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2)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內文</a:t>
                      </a: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Main Copy) 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註解1 (Annotation 1)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註解2 (Annotation 2)</a:t>
                      </a:r>
                      <a:endParaRPr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98809eb64_1_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>
                <a:solidFill>
                  <a:srgbClr val="212121"/>
                </a:solidFill>
              </a:rPr>
              <a:t>內文 16</a:t>
            </a:r>
            <a:r>
              <a:rPr lang="en-US" altLang="zh-TW">
                <a:solidFill>
                  <a:srgbClr val="212121"/>
                </a:solidFill>
              </a:rPr>
              <a:t> </a:t>
            </a:r>
            <a:r>
              <a:rPr lang="en-US" altLang="zh-TW" sz="2000">
                <a:solidFill>
                  <a:srgbClr val="60A5F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1" name="Google Shape;61;g2298809eb64_1_1"/>
          <p:cNvGraphicFramePr/>
          <p:nvPr>
            <p:extLst>
              <p:ext uri="{D42A27DB-BD31-4B8C-83A1-F6EECF244321}">
                <p14:modId xmlns:p14="http://schemas.microsoft.com/office/powerpoint/2010/main" val="308059232"/>
              </p:ext>
            </p:extLst>
          </p:nvPr>
        </p:nvGraphicFramePr>
        <p:xfrm>
          <a:off x="179387" y="719138"/>
          <a:ext cx="11161709" cy="3809760"/>
        </p:xfrm>
        <a:graphic>
          <a:graphicData uri="http://schemas.openxmlformats.org/drawingml/2006/table">
            <a:tbl>
              <a:tblPr>
                <a:noFill/>
                <a:tableStyleId>{91DB7C30-2B5D-4D34-8F22-85940E495A18}</a:tableStyleId>
              </a:tblPr>
              <a:tblGrid>
                <a:gridCol w="2232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0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0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Scale Category</a:t>
                      </a:r>
                      <a:endParaRPr sz="1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Typeface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Weight</a:t>
                      </a:r>
                      <a:r>
                        <a:rPr lang="zh-TW" alt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</a:rPr>
                        <a:t> 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Size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主標(Catch)</a:t>
                      </a:r>
                      <a:endParaRPr sz="3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黑體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32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副標(Pre catch)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20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標題1 (</a:t>
                      </a:r>
                      <a:r>
                        <a:rPr lang="zh-TW" sz="2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1)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2</a:t>
                      </a:r>
                      <a:r>
                        <a:rPr lang="zh-TW">
                          <a:latin typeface="Microsoft JhengHei"/>
                          <a:ea typeface="Microsoft JhengHei"/>
                        </a:rPr>
                        <a:t>2</a:t>
                      </a:r>
                      <a:endParaRPr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標題2 (</a:t>
                      </a:r>
                      <a:r>
                        <a:rPr lang="zh-TW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2)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18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內文</a:t>
                      </a:r>
                      <a:r>
                        <a:rPr lang="zh-TW" sz="16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Main Copy)</a:t>
                      </a:r>
                      <a:r>
                        <a:rPr lang="zh-TW" altLang="en-US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 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16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註解1 (Annotation 1)</a:t>
                      </a:r>
                      <a:endParaRPr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14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註解2 (Annotation 2)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12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98809eb64_1_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>
                <a:solidFill>
                  <a:srgbClr val="212121"/>
                </a:solidFill>
              </a:rPr>
              <a:t>內文 14</a:t>
            </a:r>
            <a:r>
              <a:rPr lang="en-US" altLang="zh-TW">
                <a:solidFill>
                  <a:srgbClr val="212121"/>
                </a:solidFill>
              </a:rPr>
              <a:t> </a:t>
            </a:r>
            <a:r>
              <a:rPr lang="en-US" altLang="zh-TW" sz="2000">
                <a:solidFill>
                  <a:srgbClr val="60A5FA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7" name="Google Shape;67;g2298809eb64_1_6"/>
          <p:cNvGraphicFramePr/>
          <p:nvPr>
            <p:extLst>
              <p:ext uri="{D42A27DB-BD31-4B8C-83A1-F6EECF244321}">
                <p14:modId xmlns:p14="http://schemas.microsoft.com/office/powerpoint/2010/main" val="1315491326"/>
              </p:ext>
            </p:extLst>
          </p:nvPr>
        </p:nvGraphicFramePr>
        <p:xfrm>
          <a:off x="179388" y="719138"/>
          <a:ext cx="11161710" cy="3718320"/>
        </p:xfrm>
        <a:graphic>
          <a:graphicData uri="http://schemas.openxmlformats.org/drawingml/2006/table">
            <a:tbl>
              <a:tblPr>
                <a:noFill/>
                <a:tableStyleId>{91DB7C30-2B5D-4D34-8F22-85940E495A18}</a:tableStyleId>
              </a:tblPr>
              <a:tblGrid>
                <a:gridCol w="2232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7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Scale Category</a:t>
                      </a:r>
                      <a:endParaRPr sz="18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Typeface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Weight</a:t>
                      </a:r>
                      <a:r>
                        <a:rPr lang="zh-TW" alt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</a:rPr>
                        <a:t> 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Size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主標(Catch)</a:t>
                      </a:r>
                      <a:endParaRPr sz="3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黑體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32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副標(Pre catch)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20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標題1 (</a:t>
                      </a:r>
                      <a:r>
                        <a:rPr lang="zh-TW" sz="2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1)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2</a:t>
                      </a:r>
                      <a:r>
                        <a:rPr lang="zh-TW">
                          <a:latin typeface="Microsoft JhengHei"/>
                          <a:ea typeface="Microsoft JhengHei"/>
                        </a:rPr>
                        <a:t>0</a:t>
                      </a:r>
                      <a:endParaRPr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標題2 (</a:t>
                      </a: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Sub Catch 2)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 sz="14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</a:t>
                      </a:r>
                      <a:r>
                        <a:rPr lang="zh-TW">
                          <a:latin typeface="Microsoft JhengHei"/>
                          <a:ea typeface="Microsoft JhengHei"/>
                        </a:rPr>
                        <a:t>6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7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內文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Main Copy)</a:t>
                      </a:r>
                      <a:r>
                        <a:rPr lang="zh-TW" altLang="en-US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 </a:t>
                      </a:r>
                      <a:endParaRPr sz="1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</a:t>
                      </a:r>
                      <a:r>
                        <a:rPr lang="zh-TW">
                          <a:latin typeface="Microsoft JhengHei"/>
                          <a:ea typeface="Microsoft JhengHei"/>
                        </a:rPr>
                        <a:t>4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註解1 (Annotation 1)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</a:t>
                      </a:r>
                      <a:r>
                        <a:rPr lang="zh-TW">
                          <a:latin typeface="Microsoft JhengHei"/>
                          <a:ea typeface="Microsoft JhengHei"/>
                        </a:rPr>
                        <a:t>2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註解2 (Annotation 2)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微軟正黑體</a:t>
                      </a:r>
                      <a:endParaRPr sz="140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Regular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Microsoft JhengHei"/>
                          <a:ea typeface="Microsoft JhengHei"/>
                        </a:rPr>
                        <a:t>1</a:t>
                      </a:r>
                      <a:r>
                        <a:rPr lang="zh-TW">
                          <a:latin typeface="Microsoft JhengHei"/>
                          <a:ea typeface="Microsoft JhengHei"/>
                        </a:rPr>
                        <a:t>0</a:t>
                      </a:r>
                      <a:endParaRPr sz="1400" u="none" strike="noStrike" cap="none">
                        <a:latin typeface="Microsoft JhengHei"/>
                        <a:ea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D03238"/>
                </a:solidFill>
              </a:rPr>
              <a:t>[主標 32]</a:t>
            </a:r>
            <a:r>
              <a:rPr lang="zh-TW"/>
              <a:t>永豐 AI</a:t>
            </a:r>
            <a:r>
              <a:rPr lang="en-US" altLang="zh-TW"/>
              <a:t> </a:t>
            </a:r>
            <a:r>
              <a:rPr lang="zh-TW"/>
              <a:t>關鍵佈局</a:t>
            </a:r>
            <a:r>
              <a:rPr lang="zh-TW">
                <a:solidFill>
                  <a:srgbClr val="FF0000"/>
                </a:solidFill>
              </a:rPr>
              <a:t> </a:t>
            </a:r>
            <a:r>
              <a:rPr lang="zh-TW" sz="2000">
                <a:solidFill>
                  <a:srgbClr val="D03238"/>
                </a:solidFill>
              </a:rPr>
              <a:t>[副標 20]</a:t>
            </a:r>
            <a:r>
              <a:rPr lang="zh-TW" sz="2000">
                <a:solidFill>
                  <a:schemeClr val="dk1"/>
                </a:solidFill>
              </a:rPr>
              <a:t>樂學好開心</a:t>
            </a:r>
            <a:endParaRPr sz="2000"/>
          </a:p>
        </p:txBody>
      </p:sp>
      <p:graphicFrame>
        <p:nvGraphicFramePr>
          <p:cNvPr id="73" name="Google Shape;73;p7"/>
          <p:cNvGraphicFramePr/>
          <p:nvPr>
            <p:extLst>
              <p:ext uri="{D42A27DB-BD31-4B8C-83A1-F6EECF244321}">
                <p14:modId xmlns:p14="http://schemas.microsoft.com/office/powerpoint/2010/main" val="1390019292"/>
              </p:ext>
            </p:extLst>
          </p:nvPr>
        </p:nvGraphicFramePr>
        <p:xfrm>
          <a:off x="179388" y="719138"/>
          <a:ext cx="11161710" cy="3437896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1028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7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191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zh-TW" sz="2000" u="none" strike="noStrike" cap="none">
                          <a:solidFill>
                            <a:srgbClr val="FFD2D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[標題1</a:t>
                      </a:r>
                      <a:r>
                        <a:rPr lang="zh-TW" sz="2000">
                          <a:solidFill>
                            <a:srgbClr val="FFD2D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2000" u="none" strike="noStrike" cap="none">
                          <a:solidFill>
                            <a:srgbClr val="FFD2D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20]</a:t>
                      </a:r>
                      <a:r>
                        <a:rPr lang="zh-TW" sz="2000" u="none" strike="noStrike" cap="non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重視顧客需求體驗、提高數位化程度</a:t>
                      </a:r>
                      <a:endParaRPr sz="20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46800" marB="46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79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11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alt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sym typeface="Microsoft JhengHei"/>
                        </a:rPr>
                        <a:t>[</a:t>
                      </a:r>
                      <a:r>
                        <a:rPr lang="zh-TW" altLang="en-US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sym typeface="Microsoft JhengHei"/>
                        </a:rPr>
                        <a:t>標題</a:t>
                      </a:r>
                      <a:r>
                        <a:rPr lang="en-US" alt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600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sym typeface="Microsoft JhengHei"/>
                        </a:rPr>
                        <a:t>16]</a:t>
                      </a:r>
                      <a:r>
                        <a:rPr lang="zh-TW" altLang="en-US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sym typeface="Microsoft JhengHei"/>
                        </a:rPr>
                        <a:t>業務．行銷</a:t>
                      </a:r>
                      <a:endParaRPr lang="zh-TW" altLang="en-US" sz="1600" u="none" strike="noStrike" cap="none"/>
                    </a:p>
                  </a:txBody>
                  <a:tcPr marL="91425" marR="91425" marT="46800" marB="46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[標題2</a:t>
                      </a:r>
                      <a:r>
                        <a:rPr lang="zh-TW" sz="1600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16]</a:t>
                      </a: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業務．行銷</a:t>
                      </a:r>
                      <a:endParaRPr sz="1600" u="none" strike="noStrike" cap="none"/>
                    </a:p>
                  </a:txBody>
                  <a:tcPr marL="91425" marR="91425" marT="46800" marB="4680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風險．決策</a:t>
                      </a:r>
                      <a:endParaRPr sz="1600" u="none" strike="noStrike" cap="none"/>
                    </a:p>
                  </a:txBody>
                  <a:tcPr marL="91425" marR="91425" marT="46800" marB="4680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流程．營運</a:t>
                      </a:r>
                      <a:endParaRPr sz="1600" u="none" strike="noStrike" cap="none"/>
                    </a:p>
                  </a:txBody>
                  <a:tcPr marL="91425" marR="91425" marT="46800" marB="4680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[標題2]</a:t>
                      </a:r>
                      <a:endParaRPr sz="16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描述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[內文</a:t>
                      </a:r>
                      <a:r>
                        <a:rPr lang="zh-TW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14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14]</a:t>
                      </a:r>
                      <a:r>
                        <a:rPr lang="zh-TW" sz="140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建立每一位顧客專屬的「行銷基因」，提供個人化的商品推薦。透過了解顧客潛在的動機，提供行銷成功率。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突破過往資料取得以及固有規則設定方式，以系統化方式加入更多數據、科學化方式產出決策參考依據。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重點發展文件辨識與流程自動化技術，針對大量紙本工作，有效降低錯誤，進而提升人力效能及作業效率。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sz="16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廣度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提供 38 項指標，包含商品(外匯/存款/投資理財/信用卡/授信等)、行為偏好及客群指數，應用於 6 種渠道(電話、簡訊、分行等)。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已運用於零售/法人信用評等、不動產估價、房價指數、信用卡盜刷、理專風險等面向。控管風險、提升服務品質。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運用於銀行、證券、租賃等 3 家子公司，包含電費單、票據、基金配息、財力文件等作業流程。優化流程同時提升顧客體驗。</a:t>
                      </a:r>
                      <a:endParaRPr sz="1400" u="none" strike="noStrike" cap="none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亮點</a:t>
                      </a:r>
                    </a:p>
                  </a:txBody>
                  <a:tcPr marL="91425" marR="91425" marT="46800" marB="468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信貸撥款數單月平均金額，相較於以往未使用 </a:t>
                      </a:r>
                      <a:r>
                        <a:rPr lang="en" altLang="zh-TW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</a:t>
                      </a: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分數成長近 </a:t>
                      </a:r>
                      <a:r>
                        <a:rPr lang="en-US" altLang="zh-TW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 </a:t>
                      </a: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成；換匯交易金額成長近 </a:t>
                      </a:r>
                      <a:r>
                        <a:rPr lang="en-US" altLang="zh-TW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 </a:t>
                      </a: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倍。</a:t>
                      </a:r>
                    </a:p>
                  </a:txBody>
                  <a:tcPr marL="91425" marR="91425" marT="46800" marB="468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秒估房貸提供顧客即時、準確的服務；無時間差判斷信用卡偽冒風險，每月擋下約 </a:t>
                      </a:r>
                      <a:r>
                        <a:rPr lang="en-US" altLang="zh-TW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</a:t>
                      </a: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億盜刷金額。</a:t>
                      </a:r>
                    </a:p>
                  </a:txBody>
                  <a:tcPr marL="91425" marR="91425" marT="46800" marB="468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票據辨識解決峰日 </a:t>
                      </a:r>
                      <a:r>
                        <a:rPr lang="en-US" altLang="zh-TW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 </a:t>
                      </a:r>
                      <a:r>
                        <a:rPr lang="zh-TW" altLang="en-US" sz="1400" b="0" i="0" u="none" strike="noStrike" cap="none">
                          <a:solidFill>
                            <a:srgbClr val="1D1C1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倍的負荷量；過去中央掃票機集中處理的流程，透過輕量化的模型往分散式處理轉型。</a:t>
                      </a:r>
                    </a:p>
                  </a:txBody>
                  <a:tcPr marL="91425" marR="91425" marT="46800" marB="468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A7A4D6-4202-F465-A80E-70AEA1EB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配色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3bcfb68efc_1_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</a:t>
            </a:r>
            <a:r>
              <a:rPr lang="zh-TW" altLang="en-US">
                <a:solidFill>
                  <a:srgbClr val="212121"/>
                </a:solidFill>
              </a:rPr>
              <a:t>表</a:t>
            </a:r>
            <a:r>
              <a:rPr lang="en-US" altLang="zh-TW">
                <a:solidFill>
                  <a:srgbClr val="212121"/>
                </a:solidFill>
              </a:rPr>
              <a:t> </a:t>
            </a:r>
            <a:r>
              <a:rPr lang="en-US" altLang="zh-TW" sz="2000">
                <a:solidFill>
                  <a:srgbClr val="212121"/>
                </a:solidFill>
              </a:rPr>
              <a:t>tailwind</a:t>
            </a:r>
            <a:endParaRPr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95A022-F08C-163B-2FAE-27C45F006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47169"/>
              </p:ext>
            </p:extLst>
          </p:nvPr>
        </p:nvGraphicFramePr>
        <p:xfrm>
          <a:off x="188894" y="719137"/>
          <a:ext cx="11152206" cy="5400676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857862">
                  <a:extLst>
                    <a:ext uri="{9D8B030D-6E8A-4147-A177-3AD203B41FA5}">
                      <a16:colId xmlns:a16="http://schemas.microsoft.com/office/drawing/2014/main" val="1726322716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2647017391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2013861390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4117911952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3934983534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223869624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1487991144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3510350034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2528670871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3673671763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2871346942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2438327320"/>
                    </a:ext>
                  </a:extLst>
                </a:gridCol>
                <a:gridCol w="857862">
                  <a:extLst>
                    <a:ext uri="{9D8B030D-6E8A-4147-A177-3AD203B41FA5}">
                      <a16:colId xmlns:a16="http://schemas.microsoft.com/office/drawing/2014/main" val="2520364490"/>
                    </a:ext>
                  </a:extLst>
                </a:gridCol>
              </a:tblGrid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名稱</a:t>
                      </a: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900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950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3666264"/>
                  </a:ext>
                </a:extLst>
              </a:tr>
              <a:tr h="234812">
                <a:tc rowSpan="5">
                  <a:txBody>
                    <a:bodyPr/>
                    <a:lstStyle/>
                    <a:p>
                      <a:pPr algn="ctr"/>
                      <a:r>
                        <a:rPr lang="zh-TW" altLang="en-US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無彩色</a:t>
                      </a:r>
                    </a:p>
                  </a:txBody>
                  <a:tcPr marT="36000" marB="360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slate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#f8fafc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#f1f5f9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#e2e8f0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#cbd5e1</a:t>
                      </a: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6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#94a3b8</a:t>
                      </a:r>
                      <a:endParaRPr lang="zh-TW" altLang="en-US" sz="100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A4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#64748b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#475569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#334155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#1e293b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#0f172a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#020617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818104"/>
                  </a:ext>
                </a:extLst>
              </a:tr>
              <a:tr h="234812">
                <a:tc vMerge="1">
                  <a:txBody>
                    <a:bodyPr/>
                    <a:lstStyle/>
                    <a:p>
                      <a:pPr algn="ctr"/>
                      <a:endParaRPr lang="zh-TW" altLang="en-US" sz="8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gray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#f9fafb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#f3f4f6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#e5e7eb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#d1d5db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5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#9ca3af</a:t>
                      </a:r>
                      <a:endParaRPr lang="zh-TW" altLang="en-US" sz="100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A3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#6b7280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#4b5563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#374151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#1f2937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#111827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#030712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07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417638"/>
                  </a:ext>
                </a:extLst>
              </a:tr>
              <a:tr h="234812">
                <a:tc vMerge="1">
                  <a:txBody>
                    <a:bodyPr/>
                    <a:lstStyle/>
                    <a:p>
                      <a:pPr algn="ctr"/>
                      <a:endParaRPr lang="zh-TW" altLang="en-US" sz="8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zinc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fafafa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#f4f4f5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#e4e4e7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#d4d4d8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D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#a1a1aa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#71717a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71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#52525b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#3f3f46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3F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#27272a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#18181b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#09090b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756333"/>
                  </a:ext>
                </a:extLst>
              </a:tr>
              <a:tr h="234812">
                <a:tc vMerge="1">
                  <a:txBody>
                    <a:bodyPr/>
                    <a:lstStyle/>
                    <a:p>
                      <a:pPr algn="ctr"/>
                      <a:endParaRPr lang="zh-TW" altLang="en-US" sz="8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neutral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#fafafa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#f5f5f5 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#e5e5e5 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#d4d4d4 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#a3a3a3 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#737373 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#525252 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#404040 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#262626 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#171717 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#0a0a0a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318765"/>
                  </a:ext>
                </a:extLst>
              </a:tr>
              <a:tr h="234812">
                <a:tc vMerge="1">
                  <a:txBody>
                    <a:bodyPr/>
                    <a:lstStyle/>
                    <a:p>
                      <a:pPr algn="ctr"/>
                      <a:endParaRPr lang="zh-TW" altLang="en-US" sz="8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stone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#fafaf9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#f5f5f4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#e7e5e4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5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#d6d3d1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#a8a29e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A2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#78716c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71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#57534e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5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#44403c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40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#292524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25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#1c1917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9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#0c0a09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0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814042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red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#fef2f2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#fee2e2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fecaca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A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#fca5a5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#f87171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#ef4444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#dc2626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25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#b91c1c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1C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#991b1b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1B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#7f1d1d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1C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#450a0a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9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94324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orange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#fff7ed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#ffedd5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#fed7aa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7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#fdba74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B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#fb923c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9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#f97316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#ea580c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5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#c2410c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#9a3412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#7c2d12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2C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#431407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14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490223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amber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fffbeb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#fef3c7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#fde68a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7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#fcd34d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4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#fbbf24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F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#f59e0b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#d97706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77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#b45309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#92400e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4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#78350f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#451a03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1A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68398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yellow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#fefce8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#fef9c3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#fef08a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0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#fde047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0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#facc15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#eab308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B3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#ca8a04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8A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#a16207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62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#854d0e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4D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#713f12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3E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#422006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20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108115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lime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#f7fee7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ecfccb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#d9f99d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9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#bef264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F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#a3e635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E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#84cc16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CC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#65a30d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A3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#4d7c0f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7B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#3f6212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6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#365314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3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#1a2e05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D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198881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green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#f0fdf4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#dcfce7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#bbf7d0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F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#86efac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7EF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#4ade80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DE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#22c55e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C5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#16a34a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A4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#15803d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80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#166534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6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#14532d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#052e16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2D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45544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emerald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#ecfdf5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#d1fae5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F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#a7f3d0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F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#6ee7b7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#34d399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#10b981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#059669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#047857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#065f46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#064e3b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#022c22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2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70542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teal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#f0fdfa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#ccfbf1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#99f6e4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F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#5eead4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#2dd4bf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#14b8a6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#0d9488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#0f766e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#115e59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#134e4a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#042f2e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79932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cyan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ecfeff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cffafe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#a5f3fc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#67e8f9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E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#22d3ee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D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#06b6d4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#0891b2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#0e7490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#155e75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#164e63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#083344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3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83282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sky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#f0f9ff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#e0f2fe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#bae6fd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E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#7dd3fc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D3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#38bdf8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BD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#0ea5e9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A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#0284c7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4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#0369a1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69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#075985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59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#0c4a6e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#082f49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2E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12749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blue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#eff6ff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dbeafe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bfdbfe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#93c5fd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C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#60a5fa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#3b82f6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#2563eb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6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#1d4ed8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C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#1e40af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4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#1e3a8a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9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#172554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732441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indigo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#eef2ff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#e0e7ff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#c7d2fe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#a5b4fc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B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#818cf8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8C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#6366f1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6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#4f46e5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4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#4338ca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7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#3730a3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2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#312e81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2E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#1e1b4b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275603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violet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#f5f3ff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#ede9fe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#ddd6fe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#c4b5fd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B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#a78bfa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8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#8b5cf6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5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#7c3aed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#6d28d9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C27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#5b21b6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#4c1d95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#2e1065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1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753181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purple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#faf5ff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#f3e8ff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#e9d5ff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#d8b4fe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B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#c084fc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#a855f7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5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#9333ea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#7e22ce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21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#6b21a8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20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#581c87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#3b0764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0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118117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fuchsia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#fdf4ff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#fae8ff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#f5d0fe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#f0abfc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A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#e879f9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7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#d946ef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4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#c026d3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25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#a21caf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1B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#86198f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1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#701a75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19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#4a044e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0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699981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pink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#fdf2f8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#fce7f3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#fbcfe8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0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#f9a8d4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9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#f472b6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1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#ec4899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4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#db2777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#be185d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#9d174d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1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#831843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17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#500724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0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82681"/>
                  </a:ext>
                </a:extLst>
              </a:tr>
              <a:tr h="234812">
                <a:tc>
                  <a:txBody>
                    <a:bodyPr/>
                    <a:lstStyle/>
                    <a:p>
                      <a:pPr algn="ctr"/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rose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#fff1f2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#ffe4e6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#fecdd3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#fda4af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A4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#fb7185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71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#f43f5e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#e11d48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1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#be123c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1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#9f1239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12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#881337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12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#4c0519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C05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40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361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3d89c15d02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</a:t>
            </a:r>
            <a:r>
              <a:rPr lang="en-US" altLang="zh-TW">
                <a:solidFill>
                  <a:srgbClr val="212121"/>
                </a:solidFill>
              </a:rPr>
              <a:t> </a:t>
            </a:r>
            <a:r>
              <a:rPr lang="zh-TW">
                <a:solidFill>
                  <a:srgbClr val="212121"/>
                </a:solidFill>
              </a:rPr>
              <a:t>1</a:t>
            </a:r>
            <a:r>
              <a:rPr lang="zh-TW" altLang="en-US">
                <a:solidFill>
                  <a:srgbClr val="212121"/>
                </a:solidFill>
              </a:rPr>
              <a:t> </a:t>
            </a:r>
            <a:r>
              <a:rPr lang="zh-TW" altLang="en-US" sz="2000">
                <a:solidFill>
                  <a:srgbClr val="212121"/>
                </a:solidFill>
              </a:rPr>
              <a:t>非 </a:t>
            </a:r>
            <a:r>
              <a:rPr lang="en-US" altLang="zh-TW" sz="2000">
                <a:solidFill>
                  <a:srgbClr val="212121"/>
                </a:solidFill>
              </a:rPr>
              <a:t>tailwind</a:t>
            </a:r>
            <a:endParaRPr sz="2000"/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5BFE852-4283-E4ED-6BEE-575656748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388" y="719149"/>
            <a:ext cx="11161712" cy="517468"/>
          </a:xfrm>
        </p:spPr>
        <p:txBody>
          <a:bodyPr/>
          <a:lstStyle/>
          <a:p>
            <a:r>
              <a:rPr lang="zh-TW" altLang="en-US">
                <a:latin typeface="Microsoft JhengHei"/>
                <a:ea typeface="Microsoft JhengHei"/>
                <a:cs typeface="Microsoft JhengHei"/>
                <a:sym typeface="Microsoft JhengHei"/>
              </a:rPr>
              <a:t>使用「滴管」工具選取顏色，或輸入＃開頭之國際色碼</a:t>
            </a:r>
            <a:endParaRPr lang="en-US" altLang="zh-TW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14" name="Google Shape;114;g23d89c15d02_0_0"/>
          <p:cNvGraphicFramePr/>
          <p:nvPr>
            <p:extLst>
              <p:ext uri="{D42A27DB-BD31-4B8C-83A1-F6EECF244321}">
                <p14:modId xmlns:p14="http://schemas.microsoft.com/office/powerpoint/2010/main" val="891845387"/>
              </p:ext>
            </p:extLst>
          </p:nvPr>
        </p:nvGraphicFramePr>
        <p:xfrm>
          <a:off x="179388" y="1426972"/>
          <a:ext cx="11161712" cy="4696895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139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文字、深色底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淺色底、螢光筆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顏色一(藍)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87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AE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8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965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9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#58798f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#cbdde9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#93aec1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#6689a1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#496578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#293c49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顏色二(綠)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278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7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A6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84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68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#42786f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#bed7d5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#73a6a0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#46847b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#3b6860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#283e38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顏色三(黃)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3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BC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99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6A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#ffd34e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#febc05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#fe9903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#fe6a08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顏色四(紅)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99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5B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28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#d03238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#f6d6d7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#e8999c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#d95b60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#a6282d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#7d1e22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功能顏色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無彩色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#808080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#f8f8f8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#dddddd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#b2b2b2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#5f5f5f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#333333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#d03238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#f6d6d7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綠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3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#00b176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#b7e3cd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386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3bcfb68efc_1_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r>
              <a:rPr lang="zh-TW">
                <a:solidFill>
                  <a:srgbClr val="212121"/>
                </a:solidFill>
              </a:rPr>
              <a:t>配色</a:t>
            </a:r>
            <a:r>
              <a:rPr lang="zh-TW" altLang="en-US">
                <a:solidFill>
                  <a:srgbClr val="212121"/>
                </a:solidFill>
              </a:rPr>
              <a:t> </a:t>
            </a:r>
            <a:r>
              <a:rPr lang="en-US" altLang="zh-TW">
                <a:solidFill>
                  <a:srgbClr val="212121"/>
                </a:solidFill>
              </a:rPr>
              <a:t>2 </a:t>
            </a:r>
            <a:r>
              <a:rPr lang="en-US" altLang="zh-TW" sz="2000">
                <a:solidFill>
                  <a:srgbClr val="212121"/>
                </a:solidFill>
              </a:rPr>
              <a:t>blue-yellow-violet-rose-500-200</a:t>
            </a:r>
            <a:endParaRPr lang="zh-TW" altLang="en-US" sz="2000">
              <a:solidFill>
                <a:srgbClr val="212121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CAFCDB-F570-3F27-546A-2275FC736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97791"/>
              </p:ext>
            </p:extLst>
          </p:nvPr>
        </p:nvGraphicFramePr>
        <p:xfrm>
          <a:off x="179388" y="719138"/>
          <a:ext cx="11161709" cy="2244000"/>
        </p:xfrm>
        <a:graphic>
          <a:graphicData uri="http://schemas.openxmlformats.org/drawingml/2006/table">
            <a:tbl>
              <a:tblPr/>
              <a:tblGrid>
                <a:gridCol w="858593">
                  <a:extLst>
                    <a:ext uri="{9D8B030D-6E8A-4147-A177-3AD203B41FA5}">
                      <a16:colId xmlns:a16="http://schemas.microsoft.com/office/drawing/2014/main" val="2358896524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83990421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788393351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13586129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783256946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360751475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175628727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2247073097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600089808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810129149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972729908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2854338146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2530189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名稱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50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100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200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300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400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500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600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700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800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900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950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9818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主題顏色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blue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#eff6ff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#dbeafe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#bfdbfe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#93c5fd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#60a5fa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#3b82f6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#2563eb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#1d4ed8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#1e40af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#1e3a8a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#172554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7411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yellow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#fefce8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#fef9c3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#fef08a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#fde047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#facc15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#eab308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#ca8a04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#a16207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62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#854d0e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4D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#713f12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3F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#422006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20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312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0000" marR="90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violet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#f5f3ff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#ede9fe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#ddd6fe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6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#c4b5fd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#a78bfa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#8b5cf6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#7c3aed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#6d28d9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#5b21b6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#4c1d95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#2e1065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1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9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0000" marR="90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rose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#fff1f2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#ffe4e6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#fecdd3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#fda4af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A4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#fb7185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71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#f43f5e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#e11d48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#be123c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#9f1239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12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#881337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#4c0519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05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48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灰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zinc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fafafa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#f4f4f5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#e4e4e7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#d4d4d8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D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#a1a1aa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#71717a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71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#52525b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#3f3f46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#27272a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#18181b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#09090b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440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紅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rose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#fff1f2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#ffe4e6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#fecdd3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#fda4af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A4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#fb7185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71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#f43f5e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#e11d48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#be123c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#9f1239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12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#881337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#4c0519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05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265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黃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yellow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#fefce8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#fef9c3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#fef08a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" sz="1000" b="0" i="0" u="none" strike="noStrike" noProof="0">
                          <a:solidFill>
                            <a:srgbClr val="000000"/>
                          </a:solidFill>
                          <a:latin typeface="Consolas"/>
                        </a:rPr>
                        <a:t>#fde047</a:t>
                      </a:r>
                      <a:endParaRPr lang="zh-TW" altLang="en-US"/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#facc15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#eab308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#ca8a04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#a16207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62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#854d0e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4D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#713f12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3F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#422006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20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2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綠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emerald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#ecfdf5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#d1fae5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#a7f3d0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#6ee7b7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#34d399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#10b981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#059669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#047857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#065f46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#064e3b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#022c22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2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1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  <a:cs typeface="Consolas" panose="020B0609020204030204" pitchFamily="49" charset="0"/>
                        </a:rPr>
                        <a:t>淺色底</a:t>
                      </a:r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  <a:cs typeface="Consolas" panose="020B0609020204030204" pitchFamily="49" charset="0"/>
                        </a:rPr>
                        <a:t>螢光筆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  <a:cs typeface="Consolas" panose="020B0609020204030204" pitchFamily="49" charset="0"/>
                        </a:rPr>
                        <a:t>邊框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altLang="zh-TW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  <a:cs typeface="Consolas" panose="020B0609020204030204" pitchFamily="49" charset="0"/>
                        </a:rPr>
                        <a:t>文字</a:t>
                      </a:r>
                      <a:r>
                        <a:rPr lang="en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" altLang="zh-TW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  <a:cs typeface="Consolas" panose="020B0609020204030204" pitchFamily="49" charset="0"/>
                        </a:rPr>
                        <a:t>深色底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altLang="zh-TW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73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153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B90A57-ED29-4C8C-A672-A0A3C3BB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>
                <a:solidFill>
                  <a:srgbClr val="212121"/>
                </a:solidFill>
              </a:rPr>
              <a:t>配色</a:t>
            </a:r>
            <a:r>
              <a:rPr lang="zh-TW" altLang="en-US">
                <a:solidFill>
                  <a:srgbClr val="212121"/>
                </a:solidFill>
              </a:rPr>
              <a:t> </a:t>
            </a:r>
            <a:r>
              <a:rPr lang="en-US" altLang="zh-TW">
                <a:solidFill>
                  <a:srgbClr val="212121"/>
                </a:solidFill>
              </a:rPr>
              <a:t>3 </a:t>
            </a:r>
            <a:r>
              <a:rPr lang="en-US" altLang="zh-TW" sz="2000">
                <a:solidFill>
                  <a:srgbClr val="212121"/>
                </a:solidFill>
              </a:rPr>
              <a:t>blue-orange-pink-teal-500-200</a:t>
            </a:r>
            <a:endParaRPr lang="zh-TW" altLang="en-US" sz="200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8E60233-BE8D-43C8-A700-30EFB42AD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987764"/>
              </p:ext>
            </p:extLst>
          </p:nvPr>
        </p:nvGraphicFramePr>
        <p:xfrm>
          <a:off x="179388" y="719138"/>
          <a:ext cx="11161709" cy="2244000"/>
        </p:xfrm>
        <a:graphic>
          <a:graphicData uri="http://schemas.openxmlformats.org/drawingml/2006/table">
            <a:tbl>
              <a:tblPr/>
              <a:tblGrid>
                <a:gridCol w="858593">
                  <a:extLst>
                    <a:ext uri="{9D8B030D-6E8A-4147-A177-3AD203B41FA5}">
                      <a16:colId xmlns:a16="http://schemas.microsoft.com/office/drawing/2014/main" val="2358896524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83990421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788393351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13586129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783256946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360751475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1175628727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2247073097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600089808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810129149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3972729908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2854338146"/>
                    </a:ext>
                  </a:extLst>
                </a:gridCol>
                <a:gridCol w="858593">
                  <a:extLst>
                    <a:ext uri="{9D8B030D-6E8A-4147-A177-3AD203B41FA5}">
                      <a16:colId xmlns:a16="http://schemas.microsoft.com/office/drawing/2014/main" val="2530189178"/>
                    </a:ext>
                  </a:extLst>
                </a:gridCol>
              </a:tblGrid>
              <a:tr h="156392">
                <a:tc>
                  <a:txBody>
                    <a:bodyPr/>
                    <a:lstStyle/>
                    <a:p>
                      <a:pPr algn="ctr" fontAlgn="t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名稱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200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500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600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700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800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/>
                          <a:ea typeface="Microsoft JhengHei"/>
                        </a:rPr>
                        <a:t>900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950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9818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主題顏色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blue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#eff6ff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</a:t>
                      </a:r>
                      <a:r>
                        <a:rPr lang="en" altLang="zh-TW" sz="1000" err="1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dbeafe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#bfdbfe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#93c5fd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#60a5fa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#3b82f6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#2563eb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#1d4ed8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#1e40af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#1e3a8a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#172554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7411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0000" marR="90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orange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#fff7ed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#ffedd5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#fed7aa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7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#fdba74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B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#fb923c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9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#f97316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3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#ea580c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5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#c2410c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4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#9a3412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#7c2d12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2C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#431407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14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39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0000" marR="90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pink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#fdf2f8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#fce7f3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#fbcfe8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0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#f9a8d4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A9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#f472b6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71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#ec4899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4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#db2777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#be185d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#9d174d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16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#831843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17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#500724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0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485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teal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rgbClr val="D4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#f0fdfa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#ccfbf1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#99f6e4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F7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#5eead4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#2dd4bf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#14b8a6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#0d9488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#0f766e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#115e59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#134e4a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#042f2e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226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灰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zinc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#fafafa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#f4f4f5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#e4e4e7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#d4d4d8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D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#a1a1aa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#71717a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71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#52525b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#3f3f46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#27272a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#18181b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#09090b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440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紅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/>
                          <a:ea typeface="Microsoft JhengHei"/>
                        </a:rPr>
                        <a:t>rose</a:t>
                      </a:r>
                      <a:endParaRPr lang="zh-TW" altLang="en-US" sz="1000">
                        <a:latin typeface="Microsoft JhengHei"/>
                        <a:ea typeface="Microsoft JhengHei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#fff1f2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#ffe4e6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#fecdd3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#fda4af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A4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#fb7185</a:t>
                      </a:r>
                      <a:endParaRPr lang="zh-TW" altLang="en-US" sz="1000"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71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#f43f5e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#e11d48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#be123c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#9f1239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12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#881337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/>
                          <a:ea typeface="Microsoft JhengHei"/>
                          <a:cs typeface="Consolas" panose="020B0609020204030204" pitchFamily="49" charset="0"/>
                        </a:rPr>
                        <a:t>#4c0519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/>
                        <a:ea typeface="Microsoft JhengHei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05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265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黃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yellow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#fefce8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#fef9c3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#fef08a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#fde047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#facc15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#eab308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#ca8a04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#a16207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62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#854d0e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4D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#713f12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3F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#422006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20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72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綠</a:t>
                      </a: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emerald</a:t>
                      </a:r>
                      <a:endParaRPr lang="zh-TW" altLang="en-US" sz="10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#ecfdf5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#d1fae5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#a7f3d0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#6ee7b7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EE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#34d399</a:t>
                      </a:r>
                      <a:endParaRPr lang="zh-TW" altLang="en-US" sz="10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#10b981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#059669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#047857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#065f46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#064e3b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00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#022c22</a:t>
                      </a:r>
                      <a:endParaRPr lang="zh-TW" altLang="en-US" sz="100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2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1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0" marR="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淺色底/螢光筆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邊框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altLang="zh-TW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文字/深色底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altLang="zh-TW" sz="1000" b="0" i="0" u="none" strike="noStrike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" sz="1000" b="0" i="0" u="none" strike="noStrike">
                        <a:solidFill>
                          <a:srgbClr val="FFFFFF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73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411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05F8E5-2430-5A85-BCF6-9B768A93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>
                <a:latin typeface="Microsoft JhengHei"/>
                <a:ea typeface="Microsoft JhengHei"/>
                <a:cs typeface="Microsoft JhengHei"/>
                <a:sym typeface="Microsoft JhengHei"/>
              </a:rPr>
              <a:t>輔助線</a:t>
            </a:r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</a:t>
            </a:r>
            <a:endParaRPr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EBFAF7-E9BC-713B-646B-8B6EDDE32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388" y="719149"/>
            <a:ext cx="11161712" cy="534885"/>
          </a:xfrm>
        </p:spPr>
        <p:txBody>
          <a:bodyPr/>
          <a:lstStyle/>
          <a:p>
            <a:r>
              <a:rPr lang="zh-TW" altLang="en-US" sz="1600">
                <a:latin typeface="Microsoft JhengHei"/>
                <a:ea typeface="Microsoft JhengHei"/>
                <a:cs typeface="Microsoft JhengHei"/>
                <a:sym typeface="Microsoft JhengHei"/>
              </a:rPr>
              <a:t>開啟與關閉：</a:t>
            </a:r>
            <a:r>
              <a:rPr lang="en-US" alt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[</a:t>
            </a:r>
            <a:r>
              <a:rPr lang="zh-TW" altLang="en-US" sz="1600">
                <a:latin typeface="Microsoft JhengHei"/>
                <a:ea typeface="Microsoft JhengHei"/>
                <a:cs typeface="Microsoft JhengHei"/>
                <a:sym typeface="Microsoft JhengHei"/>
              </a:rPr>
              <a:t>檢視</a:t>
            </a:r>
            <a:r>
              <a:rPr lang="en-US" alt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] &gt; [</a:t>
            </a:r>
            <a:r>
              <a:rPr lang="zh-TW" altLang="en-US" sz="1600">
                <a:latin typeface="Microsoft JhengHei"/>
                <a:ea typeface="Microsoft JhengHei"/>
                <a:cs typeface="Microsoft JhengHei"/>
                <a:sym typeface="Microsoft JhengHei"/>
              </a:rPr>
              <a:t>輔助線</a:t>
            </a:r>
            <a:r>
              <a:rPr lang="en-US" alt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]</a:t>
            </a:r>
          </a:p>
        </p:txBody>
      </p:sp>
      <p:cxnSp>
        <p:nvCxnSpPr>
          <p:cNvPr id="362" name="Google Shape;362;p21"/>
          <p:cNvCxnSpPr/>
          <p:nvPr/>
        </p:nvCxnSpPr>
        <p:spPr>
          <a:xfrm>
            <a:off x="0" y="3240088"/>
            <a:ext cx="115470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4" name="Google Shape;364;p21"/>
          <p:cNvSpPr txBox="1"/>
          <p:nvPr/>
        </p:nvSpPr>
        <p:spPr>
          <a:xfrm>
            <a:off x="5760000" y="3240086"/>
            <a:ext cx="1700700" cy="39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中心線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9" name="Google Shape;362;p21">
            <a:extLst>
              <a:ext uri="{FF2B5EF4-FFF2-40B4-BE49-F238E27FC236}">
                <a16:creationId xmlns:a16="http://schemas.microsoft.com/office/drawing/2014/main" id="{1B4E6412-020B-2A4E-ADA8-68B868BA185A}"/>
              </a:ext>
            </a:extLst>
          </p:cNvPr>
          <p:cNvCxnSpPr>
            <a:cxnSpLocks/>
          </p:cNvCxnSpPr>
          <p:nvPr/>
        </p:nvCxnSpPr>
        <p:spPr>
          <a:xfrm>
            <a:off x="5760000" y="0"/>
            <a:ext cx="0" cy="6480175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/>
          <p:nvPr/>
        </p:nvSpPr>
        <p:spPr>
          <a:xfrm>
            <a:off x="179388" y="719931"/>
            <a:ext cx="5472112" cy="5399882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5868987" y="719137"/>
            <a:ext cx="5472111" cy="5399881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 </a:t>
            </a:r>
            <a:r>
              <a:rPr lang="zh-TW" sz="2000"/>
              <a:t>2 欄</a:t>
            </a:r>
            <a:endParaRPr sz="3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/>
          <p:nvPr/>
        </p:nvSpPr>
        <p:spPr>
          <a:xfrm>
            <a:off x="179388" y="719931"/>
            <a:ext cx="3600450" cy="5399882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7740649" y="720087"/>
            <a:ext cx="3598861" cy="5399725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3960813" y="719931"/>
            <a:ext cx="3598862" cy="5399882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/>
              <a:t>輔助線範例 </a:t>
            </a:r>
            <a:r>
              <a:rPr lang="zh-TW" sz="2000"/>
              <a:t>3 欄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輔助線範例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C61A0227-6D5E-B371-39C8-52DDA7424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標準系統字體"/>
              <a:buChar char="○"/>
            </a:pP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依同業數位科技應用發展市場聲量與公開資訊分析，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永豐目前在</a:t>
            </a:r>
            <a:r>
              <a:rPr lang="zh-TW" altLang="en-US" sz="1400" i="0" u="sng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數位科技的應用成果與研發領域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之市場地位位居「領導者」</a:t>
            </a: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，與金融研訓院</a:t>
            </a:r>
            <a:r>
              <a:rPr lang="en-US" altLang="zh-TW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《</a:t>
            </a: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金融科技創新與數位轉型調查</a:t>
            </a:r>
            <a:r>
              <a:rPr lang="en-US" altLang="zh-TW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》</a:t>
            </a: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評選永豐為「數位轉型領先者」相符。</a:t>
            </a:r>
          </a:p>
          <a:p>
            <a: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標準系統字體"/>
              <a:buChar char="○"/>
            </a:pP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同業數位科技應用總聲量中，國泰金控除位居第一外；更是投入大量資源於在人工智慧、區塊鏈、雲端服務、數據資料、機器人流程自動化之技術研發。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其中，</a:t>
            </a:r>
            <a:r>
              <a:rPr lang="zh-TW" altLang="en-US" sz="1400" i="0" u="sng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針對區塊鏈部分扮演先驅領導角色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，倡議</a:t>
            </a:r>
            <a:r>
              <a:rPr lang="en-US" altLang="zh-TW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《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區塊鏈聯盟自律公約</a:t>
            </a:r>
            <a:r>
              <a:rPr lang="en-US" altLang="zh-TW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》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並建立「聯盟鏈」（產險聯盟鏈、環球貿易共享鏈、身份認證）。</a:t>
            </a:r>
          </a:p>
          <a:p>
            <a:endParaRPr lang="zh-TW" altLang="en-US"/>
          </a:p>
        </p:txBody>
      </p:sp>
      <p:grpSp>
        <p:nvGrpSpPr>
          <p:cNvPr id="430" name="Google Shape;430;p26"/>
          <p:cNvGrpSpPr/>
          <p:nvPr/>
        </p:nvGrpSpPr>
        <p:grpSpPr>
          <a:xfrm>
            <a:off x="5849548" y="2176631"/>
            <a:ext cx="5127496" cy="4215415"/>
            <a:chOff x="6204098" y="2021283"/>
            <a:chExt cx="5445231" cy="4476630"/>
          </a:xfrm>
        </p:grpSpPr>
        <p:sp>
          <p:nvSpPr>
            <p:cNvPr id="431" name="Google Shape;431;p26"/>
            <p:cNvSpPr/>
            <p:nvPr/>
          </p:nvSpPr>
          <p:spPr>
            <a:xfrm>
              <a:off x="6587193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6587193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9160908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9160908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cxnSp>
          <p:nvCxnSpPr>
            <p:cNvPr id="435" name="Google Shape;435;p26"/>
            <p:cNvCxnSpPr/>
            <p:nvPr/>
          </p:nvCxnSpPr>
          <p:spPr>
            <a:xfrm rot="10800000">
              <a:off x="6424318" y="2021283"/>
              <a:ext cx="0" cy="3848067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6" name="Google Shape;436;p26"/>
            <p:cNvCxnSpPr/>
            <p:nvPr/>
          </p:nvCxnSpPr>
          <p:spPr>
            <a:xfrm>
              <a:off x="6580229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37" name="Google Shape;437;p26"/>
            <p:cNvSpPr txBox="1"/>
            <p:nvPr/>
          </p:nvSpPr>
          <p:spPr>
            <a:xfrm>
              <a:off x="6599882" y="5926670"/>
              <a:ext cx="2186815" cy="392175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廣度</a:t>
              </a:r>
              <a:endParaRPr sz="1800" b="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8" name="Google Shape;438;p26"/>
            <p:cNvSpPr txBox="1"/>
            <p:nvPr/>
          </p:nvSpPr>
          <p:spPr>
            <a:xfrm>
              <a:off x="6237338" y="4046593"/>
              <a:ext cx="369332" cy="2451320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6742414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潛力者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9311711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積極者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6742414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挑戰者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9311711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領導者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43" name="Google Shape;443;p26"/>
            <p:cNvGraphicFramePr/>
            <p:nvPr/>
          </p:nvGraphicFramePr>
          <p:xfrm>
            <a:off x="6583501" y="2021283"/>
            <a:ext cx="5055164" cy="39121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444" name="Google Shape;444;p26"/>
            <p:cNvSpPr/>
            <p:nvPr/>
          </p:nvSpPr>
          <p:spPr>
            <a:xfrm rot="5400000">
              <a:off x="5707709" y="3049789"/>
              <a:ext cx="1384995" cy="3922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TW" sz="12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以永豐媒體曝光視角</a:t>
              </a:r>
              <a:endParaRPr sz="1200" b="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endParaRPr>
            </a:p>
          </p:txBody>
        </p:sp>
      </p:grpSp>
      <p:grpSp>
        <p:nvGrpSpPr>
          <p:cNvPr id="445" name="Google Shape;445;p26"/>
          <p:cNvGrpSpPr/>
          <p:nvPr/>
        </p:nvGrpSpPr>
        <p:grpSpPr>
          <a:xfrm>
            <a:off x="543443" y="2169401"/>
            <a:ext cx="5096197" cy="4218517"/>
            <a:chOff x="253607" y="2013588"/>
            <a:chExt cx="5423734" cy="4489644"/>
          </a:xfrm>
        </p:grpSpPr>
        <p:sp>
          <p:nvSpPr>
            <p:cNvPr id="446" name="Google Shape;446;p26"/>
            <p:cNvSpPr/>
            <p:nvPr/>
          </p:nvSpPr>
          <p:spPr>
            <a:xfrm>
              <a:off x="615205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615205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3188920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3188920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cxnSp>
          <p:nvCxnSpPr>
            <p:cNvPr id="450" name="Google Shape;450;p26"/>
            <p:cNvCxnSpPr/>
            <p:nvPr/>
          </p:nvCxnSpPr>
          <p:spPr>
            <a:xfrm rot="10800000" flipH="1">
              <a:off x="450015" y="2013588"/>
              <a:ext cx="4677" cy="3919806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51" name="Google Shape;451;p26"/>
            <p:cNvCxnSpPr/>
            <p:nvPr/>
          </p:nvCxnSpPr>
          <p:spPr>
            <a:xfrm>
              <a:off x="608241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52" name="Google Shape;452;p26"/>
            <p:cNvSpPr/>
            <p:nvPr/>
          </p:nvSpPr>
          <p:spPr>
            <a:xfrm>
              <a:off x="770426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潛力者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339723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積極者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770426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挑戰者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339723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領導者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56" name="Google Shape;456;p26"/>
            <p:cNvGraphicFramePr/>
            <p:nvPr/>
          </p:nvGraphicFramePr>
          <p:xfrm>
            <a:off x="612970" y="2013588"/>
            <a:ext cx="5062134" cy="39130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457" name="Google Shape;457;p26"/>
            <p:cNvSpPr txBox="1"/>
            <p:nvPr/>
          </p:nvSpPr>
          <p:spPr>
            <a:xfrm>
              <a:off x="253607" y="4046593"/>
              <a:ext cx="369300" cy="2456639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</p:grpSp>
      <p:cxnSp>
        <p:nvCxnSpPr>
          <p:cNvPr id="460" name="Google Shape;460;p26"/>
          <p:cNvCxnSpPr/>
          <p:nvPr/>
        </p:nvCxnSpPr>
        <p:spPr>
          <a:xfrm>
            <a:off x="0" y="6120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輔助線範例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1BB81E-425F-3E0D-3888-4DB127B71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標準系統字體"/>
              <a:buChar char="○"/>
            </a:pP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依同業數位科技應用發展市場聲量與公開資訊分析，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永豐目前在</a:t>
            </a:r>
            <a:r>
              <a:rPr lang="zh-TW" altLang="en-US" sz="1400" i="0" u="sng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數位科技的應用成果與研發領域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之市場地位位居「領導者」</a:t>
            </a: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，與金融研訓院</a:t>
            </a:r>
            <a:r>
              <a:rPr lang="en-US" altLang="zh-TW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《</a:t>
            </a: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金融科技創新與數位轉型調查</a:t>
            </a:r>
            <a:r>
              <a:rPr lang="en-US" altLang="zh-TW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》</a:t>
            </a: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評選永豐為「數位轉型領先者」相符。</a:t>
            </a:r>
          </a:p>
          <a:p>
            <a: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標準系統字體"/>
              <a:buChar char="○"/>
            </a:pPr>
            <a:r>
              <a:rPr lang="zh-TW" altLang="en-US" sz="140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同業數位科技應用總聲量中，國泰金控除位居第一外；更是投入大量資源於在人工智慧、區塊鏈、雲端服務、數據資料、機器人流程自動化之技術研發。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其中，</a:t>
            </a:r>
            <a:r>
              <a:rPr lang="zh-TW" altLang="en-US" sz="1400" i="0" u="sng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針對區塊鏈部分扮演先驅領導角色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，倡議</a:t>
            </a:r>
            <a:r>
              <a:rPr lang="en-US" altLang="zh-TW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《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區塊鏈聯盟自律公約</a:t>
            </a:r>
            <a:r>
              <a:rPr lang="en-US" altLang="zh-TW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》</a:t>
            </a:r>
            <a:r>
              <a:rPr lang="zh-TW" altLang="en-US" sz="1400" i="0" u="none" strike="noStrike" cap="none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並建立「聯盟鏈」（產險聯盟鏈、環球貿易共享鏈、身份認證）。</a:t>
            </a:r>
          </a:p>
          <a:p>
            <a:endParaRPr lang="zh-TW" altLang="en-US"/>
          </a:p>
        </p:txBody>
      </p:sp>
      <p:grpSp>
        <p:nvGrpSpPr>
          <p:cNvPr id="430" name="Google Shape;430;p26"/>
          <p:cNvGrpSpPr/>
          <p:nvPr/>
        </p:nvGrpSpPr>
        <p:grpSpPr>
          <a:xfrm>
            <a:off x="5849547" y="2176631"/>
            <a:ext cx="5127497" cy="3945453"/>
            <a:chOff x="6204097" y="2021283"/>
            <a:chExt cx="5445232" cy="4189936"/>
          </a:xfrm>
        </p:grpSpPr>
        <p:sp>
          <p:nvSpPr>
            <p:cNvPr id="431" name="Google Shape;431;p26"/>
            <p:cNvSpPr/>
            <p:nvPr/>
          </p:nvSpPr>
          <p:spPr>
            <a:xfrm>
              <a:off x="6587193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6587193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9160908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9160908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cxnSp>
          <p:nvCxnSpPr>
            <p:cNvPr id="435" name="Google Shape;435;p26"/>
            <p:cNvCxnSpPr/>
            <p:nvPr/>
          </p:nvCxnSpPr>
          <p:spPr>
            <a:xfrm rot="10800000">
              <a:off x="6424318" y="2021283"/>
              <a:ext cx="0" cy="3848067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6" name="Google Shape;436;p26"/>
            <p:cNvCxnSpPr/>
            <p:nvPr/>
          </p:nvCxnSpPr>
          <p:spPr>
            <a:xfrm>
              <a:off x="6580229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37" name="Google Shape;437;p26"/>
            <p:cNvSpPr txBox="1"/>
            <p:nvPr/>
          </p:nvSpPr>
          <p:spPr>
            <a:xfrm>
              <a:off x="6599882" y="5815694"/>
              <a:ext cx="2186815" cy="392174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廣度</a:t>
              </a:r>
              <a:endParaRPr sz="1800" b="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8" name="Google Shape;438;p26"/>
            <p:cNvSpPr txBox="1"/>
            <p:nvPr/>
          </p:nvSpPr>
          <p:spPr>
            <a:xfrm>
              <a:off x="6237338" y="3759900"/>
              <a:ext cx="369332" cy="2451319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6742414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潛力者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9311711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積極者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6742414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挑戰者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9311711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領導者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43" name="Google Shape;443;p26"/>
            <p:cNvGraphicFramePr/>
            <p:nvPr/>
          </p:nvGraphicFramePr>
          <p:xfrm>
            <a:off x="6583501" y="2021283"/>
            <a:ext cx="5055164" cy="39121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444" name="Google Shape;444;p26"/>
            <p:cNvSpPr/>
            <p:nvPr/>
          </p:nvSpPr>
          <p:spPr>
            <a:xfrm rot="5400000">
              <a:off x="5707709" y="2883318"/>
              <a:ext cx="1384994" cy="3922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3600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TW" sz="12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以永豐媒體曝光視角</a:t>
              </a:r>
              <a:endParaRPr sz="1200" b="0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endParaRPr>
            </a:p>
          </p:txBody>
        </p:sp>
      </p:grpSp>
      <p:grpSp>
        <p:nvGrpSpPr>
          <p:cNvPr id="445" name="Google Shape;445;p26"/>
          <p:cNvGrpSpPr/>
          <p:nvPr/>
        </p:nvGrpSpPr>
        <p:grpSpPr>
          <a:xfrm>
            <a:off x="543443" y="2169401"/>
            <a:ext cx="5096197" cy="3948553"/>
            <a:chOff x="253607" y="2013588"/>
            <a:chExt cx="5423734" cy="4202332"/>
          </a:xfrm>
        </p:grpSpPr>
        <p:sp>
          <p:nvSpPr>
            <p:cNvPr id="446" name="Google Shape;446;p26"/>
            <p:cNvSpPr/>
            <p:nvPr/>
          </p:nvSpPr>
          <p:spPr>
            <a:xfrm>
              <a:off x="615205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615205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3188920" y="2021283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3188920" y="4024014"/>
              <a:ext cx="2488421" cy="19115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endParaRPr sz="4000" b="1" i="0" u="none" strike="noStrike" cap="none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  <p:cxnSp>
          <p:nvCxnSpPr>
            <p:cNvPr id="450" name="Google Shape;450;p26"/>
            <p:cNvCxnSpPr/>
            <p:nvPr/>
          </p:nvCxnSpPr>
          <p:spPr>
            <a:xfrm rot="10800000" flipH="1">
              <a:off x="450015" y="2013588"/>
              <a:ext cx="4677" cy="3919806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B9CDE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51" name="Google Shape;451;p26"/>
            <p:cNvCxnSpPr/>
            <p:nvPr/>
          </p:nvCxnSpPr>
          <p:spPr>
            <a:xfrm>
              <a:off x="608241" y="6082551"/>
              <a:ext cx="5062136" cy="1"/>
            </a:xfrm>
            <a:prstGeom prst="straightConnector1">
              <a:avLst/>
            </a:prstGeom>
            <a:solidFill>
              <a:schemeClr val="accent1"/>
            </a:solidFill>
            <a:ln w="73025" cap="flat" cmpd="sng">
              <a:solidFill>
                <a:srgbClr val="C4D5E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52" name="Google Shape;452;p26"/>
            <p:cNvSpPr/>
            <p:nvPr/>
          </p:nvSpPr>
          <p:spPr>
            <a:xfrm>
              <a:off x="770426" y="5453233"/>
              <a:ext cx="2186814" cy="373486"/>
            </a:xfrm>
            <a:prstGeom prst="rect">
              <a:avLst/>
            </a:prstGeom>
            <a:solidFill>
              <a:srgbClr val="4BC89E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潛力者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339723" y="5453233"/>
              <a:ext cx="2186814" cy="373486"/>
            </a:xfrm>
            <a:prstGeom prst="rect">
              <a:avLst/>
            </a:prstGeom>
            <a:solidFill>
              <a:srgbClr val="0CAAE9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積極者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770426" y="2129899"/>
              <a:ext cx="2186814" cy="373486"/>
            </a:xfrm>
            <a:prstGeom prst="rect">
              <a:avLst/>
            </a:prstGeom>
            <a:solidFill>
              <a:srgbClr val="FBB321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挑戰者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339723" y="2129899"/>
              <a:ext cx="2186814" cy="373486"/>
            </a:xfrm>
            <a:prstGeom prst="rect">
              <a:avLst/>
            </a:prstGeom>
            <a:solidFill>
              <a:srgbClr val="2CC6D2"/>
            </a:solidFill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zh-TW" sz="2000" b="0" i="0" u="none" strike="noStrike" cap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領導者</a:t>
              </a: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56" name="Google Shape;456;p26"/>
            <p:cNvGraphicFramePr/>
            <p:nvPr/>
          </p:nvGraphicFramePr>
          <p:xfrm>
            <a:off x="612970" y="2013588"/>
            <a:ext cx="5062134" cy="39130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457" name="Google Shape;457;p26"/>
            <p:cNvSpPr txBox="1"/>
            <p:nvPr/>
          </p:nvSpPr>
          <p:spPr>
            <a:xfrm>
              <a:off x="253607" y="3759281"/>
              <a:ext cx="369300" cy="2456639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數位科技發展</a:t>
              </a:r>
              <a:r>
                <a:rPr lang="zh-TW" sz="1800" b="0" i="0" u="none" strike="noStrike" cap="none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entury Gothic"/>
                  <a:sym typeface="Century Gothic"/>
                </a:rPr>
                <a:t>深度</a:t>
              </a:r>
              <a:endParaRPr sz="1600" b="0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endParaRPr>
            </a:p>
          </p:txBody>
        </p:sp>
      </p:grpSp>
      <p:cxnSp>
        <p:nvCxnSpPr>
          <p:cNvPr id="458" name="Google Shape;458;p26"/>
          <p:cNvCxnSpPr/>
          <p:nvPr/>
        </p:nvCxnSpPr>
        <p:spPr>
          <a:xfrm rot="10800000">
            <a:off x="5652000" y="0"/>
            <a:ext cx="30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9" name="Google Shape;459;p26"/>
          <p:cNvCxnSpPr/>
          <p:nvPr/>
        </p:nvCxnSpPr>
        <p:spPr>
          <a:xfrm rot="10800000">
            <a:off x="5868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0" name="Google Shape;460;p26"/>
          <p:cNvCxnSpPr/>
          <p:nvPr/>
        </p:nvCxnSpPr>
        <p:spPr>
          <a:xfrm>
            <a:off x="0" y="6120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1" name="Google Shape;461;p26"/>
          <p:cNvCxnSpPr/>
          <p:nvPr/>
        </p:nvCxnSpPr>
        <p:spPr>
          <a:xfrm rot="10800000" flipH="1">
            <a:off x="10" y="720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2" name="Google Shape;462;p26"/>
          <p:cNvCxnSpPr/>
          <p:nvPr/>
        </p:nvCxnSpPr>
        <p:spPr>
          <a:xfrm rot="10800000">
            <a:off x="18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3" name="Google Shape;463;p26"/>
          <p:cNvCxnSpPr/>
          <p:nvPr/>
        </p:nvCxnSpPr>
        <p:spPr>
          <a:xfrm rot="10800000">
            <a:off x="113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97488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輔助線範例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9" name="Google Shape;469;p27"/>
          <p:cNvSpPr txBox="1"/>
          <p:nvPr/>
        </p:nvSpPr>
        <p:spPr>
          <a:xfrm>
            <a:off x="4111625" y="1011236"/>
            <a:ext cx="3302001" cy="33180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行動計畫</a:t>
            </a:r>
            <a:endParaRPr sz="1568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470" name="Google Shape;470;p27"/>
          <p:cNvSpPr txBox="1"/>
          <p:nvPr/>
        </p:nvSpPr>
        <p:spPr>
          <a:xfrm>
            <a:off x="540000" y="1008063"/>
            <a:ext cx="3302000" cy="331809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1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經營策略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1" name="Google Shape;471;p27"/>
          <p:cNvSpPr txBox="1"/>
          <p:nvPr/>
        </p:nvSpPr>
        <p:spPr>
          <a:xfrm>
            <a:off x="7678738" y="1010893"/>
            <a:ext cx="3301013" cy="331809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成功指標</a:t>
            </a:r>
            <a:endParaRPr sz="1568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472" name="Google Shape;472;p27"/>
          <p:cNvSpPr txBox="1"/>
          <p:nvPr/>
        </p:nvSpPr>
        <p:spPr>
          <a:xfrm>
            <a:off x="0" y="2821207"/>
            <a:ext cx="1039281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風險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決策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1039280" y="2675915"/>
            <a:ext cx="2802469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>
              <a:spcBef>
                <a:spcPts val="600"/>
              </a:spcBef>
              <a:buSzPts val="1400"/>
              <a:buFont typeface="標準系統字體"/>
              <a:buChar char="○"/>
            </a:pP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配合金融風險管理佈局，提供技術支援配套</a:t>
            </a:r>
            <a:b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</a:br>
            <a:r>
              <a:rPr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</a:t>
            </a: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信用風險、市場風險、行為風險</a:t>
            </a:r>
            <a:r>
              <a:rPr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)</a:t>
            </a:r>
            <a:endParaRPr sz="1200"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4111625" y="2675915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信用風險：信貸進件、銀證所得替代、法金額度預估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市場風險：核心存款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行為風險：理專風險、信用卡盜刷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7678738" y="2666631"/>
            <a:ext cx="3301262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模型部署：</a:t>
            </a:r>
            <a:b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</a:b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信貸進件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(Q1)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、銀證所得替代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(Q2)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、</a:t>
            </a:r>
            <a:b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</a:b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法金額度預估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核心存款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POC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完成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模型部署：</a:t>
            </a:r>
            <a:b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</a:b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理專風險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(Q2)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、信用卡盜刷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</p:txBody>
      </p:sp>
      <p:cxnSp>
        <p:nvCxnSpPr>
          <p:cNvPr id="476" name="Google Shape;476;p27"/>
          <p:cNvCxnSpPr/>
          <p:nvPr/>
        </p:nvCxnSpPr>
        <p:spPr>
          <a:xfrm>
            <a:off x="246553" y="2558756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77" name="Google Shape;477;p27"/>
          <p:cNvCxnSpPr/>
          <p:nvPr/>
        </p:nvCxnSpPr>
        <p:spPr>
          <a:xfrm>
            <a:off x="246553" y="3779509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78" name="Google Shape;478;p27"/>
          <p:cNvSpPr txBox="1"/>
          <p:nvPr/>
        </p:nvSpPr>
        <p:spPr>
          <a:xfrm>
            <a:off x="1" y="5333438"/>
            <a:ext cx="1039280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技術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研發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9" name="Google Shape;479;p27"/>
          <p:cNvSpPr/>
          <p:nvPr/>
        </p:nvSpPr>
        <p:spPr>
          <a:xfrm>
            <a:off x="1039280" y="5190909"/>
            <a:ext cx="2802469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>
              <a:spcBef>
                <a:spcPts val="600"/>
              </a:spcBef>
              <a:buSzPts val="1400"/>
              <a:buFont typeface="標準系統字體"/>
              <a:buChar char="○"/>
            </a:pP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發展運算資源配置最適化</a:t>
            </a:r>
            <a:endParaRPr sz="1200"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lvl="0" indent="-216000">
              <a:spcBef>
                <a:spcPts val="600"/>
              </a:spcBef>
              <a:buSzPts val="1400"/>
              <a:buFont typeface="標準系統字體"/>
              <a:buChar char="○"/>
            </a:pP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積極探索未來市場新商機</a:t>
            </a:r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4111625" y="5190909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邊緣運算技術應用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indent="-216000" algn="just">
              <a:buSzPts val="1200"/>
              <a:buFont typeface="Arial"/>
              <a:buAutoNum type="arabicPeriod"/>
            </a:pPr>
            <a:r>
              <a:rPr lang="en-US" altLang="zh-TW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AI 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資源配置平台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indent="-216000" algn="just">
              <a:buSzPts val="1200"/>
              <a:buFont typeface="Arial"/>
              <a:buAutoNum type="arabicPeriod"/>
            </a:pPr>
            <a:r>
              <a:rPr lang="en-US" altLang="zh-TW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Trading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：美股</a:t>
            </a:r>
            <a:r>
              <a:rPr lang="en-US" altLang="zh-TW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ETF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資產配置、</a:t>
            </a:r>
            <a:r>
              <a:rPr lang="en-US" altLang="zh-TW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AI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基金經理人、台股券商分點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商機洞察，以數據驅動的分析，找出可能的業務商機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81" name="Google Shape;481;p27"/>
          <p:cNvCxnSpPr/>
          <p:nvPr/>
        </p:nvCxnSpPr>
        <p:spPr>
          <a:xfrm>
            <a:off x="246553" y="5003842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82" name="Google Shape;482;p27"/>
          <p:cNvSpPr/>
          <p:nvPr/>
        </p:nvSpPr>
        <p:spPr>
          <a:xfrm>
            <a:off x="7678738" y="5181859"/>
            <a:ext cx="3301262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模型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POC 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完成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(Q2)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開發環境落地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(Q2)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indent="-216000">
              <a:buSzPts val="1200"/>
              <a:buFont typeface="Arial"/>
              <a:buAutoNum type="arabicPeriod"/>
            </a:pP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POC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完成</a:t>
            </a:r>
            <a:b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</a:b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美股資產配置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(Q2)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、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AI 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基金經理人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、台股券商分點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商機洞察報告≥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2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份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</p:txBody>
      </p:sp>
      <p:sp>
        <p:nvSpPr>
          <p:cNvPr id="483" name="Google Shape;483;p27"/>
          <p:cNvSpPr txBox="1"/>
          <p:nvPr/>
        </p:nvSpPr>
        <p:spPr>
          <a:xfrm>
            <a:off x="0" y="1616972"/>
            <a:ext cx="1039283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業務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行銷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1039284" y="1460913"/>
            <a:ext cx="2802466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spcBef>
                <a:spcPts val="600"/>
              </a:spcBef>
              <a:buSzPts val="1400"/>
              <a:buFont typeface="標準系統字體"/>
              <a:buChar char="○"/>
            </a:pP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鏈結績效指標，助攻業務銷售 </a:t>
            </a:r>
            <a:b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</a:br>
            <a:r>
              <a:rPr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</a:t>
            </a: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信貸、中高端理財、銀證數位客群</a:t>
            </a:r>
            <a:r>
              <a:rPr lang="en-US" altLang="zh-TW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)</a:t>
            </a:r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indent="-216000">
              <a:spcBef>
                <a:spcPts val="600"/>
              </a:spcBef>
              <a:buSzPts val="1400"/>
              <a:buFont typeface="標準系統字體"/>
              <a:buChar char="○"/>
            </a:pP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完善資料技術串聯，提升顧客中台架構，深化業務應用</a:t>
            </a:r>
            <a:endParaRPr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4111625" y="1460913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信貸：信貸指數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中高端理財：富能指數、潛力中高端客群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銀證數位客群：大戶指數、證券沉睡戶喚醒、存股推薦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模型庫擴充 (人事時地物)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標籤資料庫整合運用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7678490" y="1339872"/>
            <a:ext cx="3301262" cy="121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信貸指數  (Q1)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富能指數  (Q1)、潛力中高端客群  (Q2)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沉睡戶喚醒 (Q1)、大戶指數 (Q2)、存股推薦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新增模型數 ≥ 20；更新模型數 ≥ 100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模型導入標籤  (Q4)</a:t>
            </a:r>
            <a:endParaRPr sz="1200" b="0" i="0" u="none" strike="noStrike" cap="none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sp>
        <p:nvSpPr>
          <p:cNvPr id="487" name="Google Shape;487;p27"/>
          <p:cNvSpPr txBox="1"/>
          <p:nvPr/>
        </p:nvSpPr>
        <p:spPr>
          <a:xfrm>
            <a:off x="-1" y="4060570"/>
            <a:ext cx="1039281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人才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文化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1039280" y="3905228"/>
            <a:ext cx="2802470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spcBef>
                <a:spcPts val="600"/>
              </a:spcBef>
              <a:buSzPts val="1400"/>
              <a:buFont typeface="標準系統字體"/>
              <a:buChar char="○"/>
            </a:pP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數位科技賦能，培育頂尖人才</a:t>
            </a:r>
            <a:endParaRPr sz="1200"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indent="-216000">
              <a:spcBef>
                <a:spcPts val="600"/>
              </a:spcBef>
              <a:buSzPts val="1400"/>
              <a:buFont typeface="標準系統字體"/>
              <a:buChar char="○"/>
            </a:pPr>
            <a:r>
              <a:rPr lang="zh-TW" altLang="en-US" sz="1200"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打造數位品牌，推動數位變革</a:t>
            </a:r>
            <a:endParaRPr sz="1200">
              <a:latin typeface="微軟正黑體" panose="020B0604030504040204" pitchFamily="34" charset="-120"/>
              <a:ea typeface="微軟正黑體" panose="020B0604030504040204" pitchFamily="34" charset="-120"/>
              <a:sym typeface="Microsoft JhengHe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4111625" y="3905228"/>
            <a:ext cx="3302001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籌辦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「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技術主題競賽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」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lvl="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落實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「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數位幕僚計畫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」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，重點單位數位人才培育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lvl="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建置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「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科技人才能力視覺化平台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」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lvl="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協辦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「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圖靈團隊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Microsoft JhengHei"/>
              </a:rPr>
              <a:t>」</a:t>
            </a: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第四期招募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lvl="0" indent="-216000" algn="just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各項專利申請及對外論文發表</a:t>
            </a:r>
            <a:endParaRPr sz="120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7678739" y="3896959"/>
            <a:ext cx="3302000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提供活動相關技術支援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lvl="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完成數位幕僚培訓首年結業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lvl="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平台建置完成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(Q2)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  <a:p>
            <a:pPr marL="252000" lvl="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招募人數 ≥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6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人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lvl="0" indent="-216000"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專利≥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2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件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(Q4)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，期刊投稿≥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1</a:t>
            </a:r>
            <a:r>
              <a:rPr lang="zh-TW" altLang="en-US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篇 </a:t>
            </a:r>
            <a:r>
              <a:rPr lang="en-US" altLang="zh-TW" sz="1200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Century Gothic"/>
              </a:rPr>
              <a:t>(Q2)</a:t>
            </a:r>
            <a:endParaRPr sz="1200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輔助線範例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6" name="Google Shape;496;p28"/>
          <p:cNvSpPr txBox="1"/>
          <p:nvPr/>
        </p:nvSpPr>
        <p:spPr>
          <a:xfrm>
            <a:off x="3960000" y="1053873"/>
            <a:ext cx="3600000" cy="33180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行動計畫</a:t>
            </a:r>
            <a:endParaRPr sz="1568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497" name="Google Shape;497;p28"/>
          <p:cNvSpPr txBox="1"/>
          <p:nvPr/>
        </p:nvSpPr>
        <p:spPr>
          <a:xfrm>
            <a:off x="179999" y="1053873"/>
            <a:ext cx="3600000" cy="331809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1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經營策略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7739710" y="1053873"/>
            <a:ext cx="3601389" cy="331809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成功指標</a:t>
            </a:r>
            <a:endParaRPr sz="1568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957966" y="2675915"/>
            <a:ext cx="2825434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 Light" panose="020B0304030504040204" pitchFamily="34" charset="-120"/>
              <a:buChar char="o"/>
            </a:pP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配合金融風險管理佈局，提供技術支援配套</a:t>
            </a:r>
            <a:b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(信用風險、市場風險、行為風險)</a:t>
            </a:r>
            <a:endParaRPr sz="1200" b="0" i="0" u="none" strike="noStrike" cap="none">
              <a:solidFill>
                <a:srgbClr val="0F243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3959999" y="2675915"/>
            <a:ext cx="3600000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信用風險：信貸進件、銀證所得替代、法金額度預估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市場風險：核心存款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行為風險：理專風險、信用卡盜刷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7739999" y="2666631"/>
            <a:ext cx="3600000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模型部署：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信貸進件 (Q1)、銀證所得替代 (Q2)、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法金額度預估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核心存款POC完成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模型部署：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理專風險 (Q2)、信用卡盜刷 (Q4)</a:t>
            </a:r>
            <a:endParaRPr sz="1200" b="0" i="0" u="none" strike="noStrike" cap="none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cxnSp>
        <p:nvCxnSpPr>
          <p:cNvPr id="503" name="Google Shape;503;p28"/>
          <p:cNvCxnSpPr/>
          <p:nvPr/>
        </p:nvCxnSpPr>
        <p:spPr>
          <a:xfrm>
            <a:off x="246553" y="2558756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04" name="Google Shape;504;p28"/>
          <p:cNvCxnSpPr/>
          <p:nvPr/>
        </p:nvCxnSpPr>
        <p:spPr>
          <a:xfrm>
            <a:off x="246553" y="3779509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06" name="Google Shape;506;p28"/>
          <p:cNvSpPr/>
          <p:nvPr/>
        </p:nvSpPr>
        <p:spPr>
          <a:xfrm>
            <a:off x="958126" y="5074955"/>
            <a:ext cx="2821712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 Light" panose="020B0304030504040204" pitchFamily="34" charset="-120"/>
              <a:buChar char="o"/>
            </a:pP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發展運算資源配置最適化</a:t>
            </a:r>
            <a:endParaRPr sz="1200" b="0" i="0" u="none" strike="noStrike" cap="none">
              <a:solidFill>
                <a:srgbClr val="0F243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180000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 Light" panose="020B0304030504040204" pitchFamily="34" charset="-120"/>
              <a:buChar char="o"/>
            </a:pP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積極探索未來市場新商機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3959675" y="5007429"/>
            <a:ext cx="3600000" cy="111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邊緣運算技術應用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AI 資源配置平台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Trading：美股ETF資產配置、AI基金經理人、台股券商分點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商機洞察，以數據驅動的分析，找出可能的業務商機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08" name="Google Shape;508;p28"/>
          <p:cNvCxnSpPr/>
          <p:nvPr/>
        </p:nvCxnSpPr>
        <p:spPr>
          <a:xfrm>
            <a:off x="246553" y="5003842"/>
            <a:ext cx="11316415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09" name="Google Shape;509;p28"/>
          <p:cNvSpPr/>
          <p:nvPr/>
        </p:nvSpPr>
        <p:spPr>
          <a:xfrm>
            <a:off x="7740650" y="5007429"/>
            <a:ext cx="3600000" cy="111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模型 POC 完成 (Q2)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開發環境落地 (Q2)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POC完成</a:t>
            </a:r>
            <a:b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美股資產配置 (Q2)、AI 基金經理人 (Q4)、台股券商分點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商機洞察報告≥2份 (Q4)</a:t>
            </a:r>
            <a:endParaRPr sz="1200" b="0" i="0" u="none" strike="noStrike" cap="none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957944" y="1460913"/>
            <a:ext cx="2825946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2" indent="-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 Light" panose="020B0304030504040204" pitchFamily="34" charset="-120"/>
              <a:buChar char="o"/>
            </a:pP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鏈結績效指標，助攻業務銷售</a:t>
            </a:r>
            <a:b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</a:b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(信貸、中高端理財、銀證數位客群)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180000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 Light" panose="020B0304030504040204" pitchFamily="34" charset="-120"/>
              <a:buChar char="o"/>
            </a:pP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完善資料技術串聯，提升顧客中台架構，深化業務應用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3959999" y="1460913"/>
            <a:ext cx="3600000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信貸：信貸指數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中高端理財：富能指數、潛力中高端客群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銀證數位客群：大戶指數、證券沉睡戶喚醒、存股推薦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模型庫擴充 (人事時地物)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標籤資料庫整合運用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7739999" y="1339872"/>
            <a:ext cx="3600000" cy="121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信貸指數  (Q1)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富能指數  (Q1)、潛力中高端客群  (Q2)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沉睡戶喚醒 (Q1)、大戶指數 (Q2)、存股推薦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新增模型數 ≥ 20；更新模型數 ≥ 100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模型導入標籤  (Q4)</a:t>
            </a:r>
            <a:endParaRPr sz="1200" b="0" i="0" u="none" strike="noStrike" cap="none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957965" y="3905228"/>
            <a:ext cx="2825434" cy="977333"/>
          </a:xfrm>
          <a:prstGeom prst="roundRect">
            <a:avLst>
              <a:gd name="adj" fmla="val 541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 Light" panose="020B0304030504040204" pitchFamily="34" charset="-120"/>
              <a:buChar char="o"/>
            </a:pP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數位科技賦能，培育頂尖人才</a:t>
            </a:r>
            <a:endParaRPr sz="1200" b="0" i="0" u="none" strike="noStrike" cap="none">
              <a:solidFill>
                <a:srgbClr val="0F243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180000" algn="l" rtl="0">
              <a:lnSpc>
                <a:spcPct val="100000"/>
              </a:lnSpc>
              <a:spcBef>
                <a:spcPts val="58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icrosoft JhengHei Light" panose="020B0304030504040204" pitchFamily="34" charset="-120"/>
              <a:buChar char="o"/>
            </a:pPr>
            <a:r>
              <a:rPr lang="zh-TW" sz="1200" b="0" i="0" u="none" strike="noStrike" cap="none">
                <a:solidFill>
                  <a:srgbClr val="0F24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打造數位品牌，推動數位變革</a:t>
            </a:r>
            <a:endParaRPr sz="1200" b="0" i="0" u="none" strike="noStrike" cap="none">
              <a:solidFill>
                <a:srgbClr val="0F243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  <a:sym typeface="Microsoft JhengHei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3960000" y="3905228"/>
            <a:ext cx="3600000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籌辦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技術主題競賽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」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落實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數位幕僚計畫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」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，重點單位數位人才培育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建置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科技人才能力視覺化平台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」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協辦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「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圖靈團隊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」</a:t>
            </a: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第四期招募</a:t>
            </a:r>
            <a:endParaRPr sz="1200" b="0" i="0" u="none" strike="noStrike" cap="none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各項專利申請及對外論文發表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7740000" y="3896959"/>
            <a:ext cx="3600000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提供活動相關技術支援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完成數位幕僚培訓首年結業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平台建置完成 (Q2)</a:t>
            </a:r>
            <a:endParaRPr sz="1200" b="0" i="0" u="none" strike="noStrike" cap="none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招募人數 ≥6人 (Q4)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2000" marR="0" lvl="0" indent="-216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rgbClr val="C050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專利≥2件 (Q4)，期刊投稿≥1篇 (Q2)</a:t>
            </a:r>
            <a:endParaRPr sz="1200" b="0" i="0" u="none" strike="noStrike" cap="none">
              <a:solidFill>
                <a:srgbClr val="C0504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</p:txBody>
      </p:sp>
      <p:cxnSp>
        <p:nvCxnSpPr>
          <p:cNvPr id="518" name="Google Shape;518;p28"/>
          <p:cNvCxnSpPr/>
          <p:nvPr/>
        </p:nvCxnSpPr>
        <p:spPr>
          <a:xfrm rot="10800000">
            <a:off x="378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9" name="Google Shape;519;p28"/>
          <p:cNvCxnSpPr/>
          <p:nvPr/>
        </p:nvCxnSpPr>
        <p:spPr>
          <a:xfrm>
            <a:off x="0" y="6120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0" name="Google Shape;520;p28"/>
          <p:cNvCxnSpPr/>
          <p:nvPr/>
        </p:nvCxnSpPr>
        <p:spPr>
          <a:xfrm rot="10800000" flipH="1">
            <a:off x="10" y="720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1" name="Google Shape;521;p28"/>
          <p:cNvCxnSpPr/>
          <p:nvPr/>
        </p:nvCxnSpPr>
        <p:spPr>
          <a:xfrm rot="10800000">
            <a:off x="18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2" name="Google Shape;522;p28"/>
          <p:cNvCxnSpPr/>
          <p:nvPr/>
        </p:nvCxnSpPr>
        <p:spPr>
          <a:xfrm rot="10800000">
            <a:off x="113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3" name="Google Shape;523;p28"/>
          <p:cNvCxnSpPr/>
          <p:nvPr/>
        </p:nvCxnSpPr>
        <p:spPr>
          <a:xfrm rot="10800000">
            <a:off x="396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4" name="Google Shape;524;p28"/>
          <p:cNvCxnSpPr/>
          <p:nvPr/>
        </p:nvCxnSpPr>
        <p:spPr>
          <a:xfrm rot="10800000">
            <a:off x="756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5" name="Google Shape;525;p28"/>
          <p:cNvCxnSpPr/>
          <p:nvPr/>
        </p:nvCxnSpPr>
        <p:spPr>
          <a:xfrm rot="10800000">
            <a:off x="77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9" name="Google Shape;499;p28"/>
          <p:cNvSpPr txBox="1"/>
          <p:nvPr/>
        </p:nvSpPr>
        <p:spPr>
          <a:xfrm>
            <a:off x="180000" y="2821207"/>
            <a:ext cx="871737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風險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決策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5" name="Google Shape;505;p28"/>
          <p:cNvSpPr txBox="1"/>
          <p:nvPr/>
        </p:nvSpPr>
        <p:spPr>
          <a:xfrm>
            <a:off x="180000" y="5217485"/>
            <a:ext cx="871737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技術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研發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0" name="Google Shape;510;p28"/>
          <p:cNvSpPr txBox="1"/>
          <p:nvPr/>
        </p:nvSpPr>
        <p:spPr>
          <a:xfrm>
            <a:off x="180000" y="1616972"/>
            <a:ext cx="871736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業務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行銷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4" name="Google Shape;514;p28"/>
          <p:cNvSpPr txBox="1"/>
          <p:nvPr/>
        </p:nvSpPr>
        <p:spPr>
          <a:xfrm>
            <a:off x="180000" y="4060570"/>
            <a:ext cx="871737" cy="692273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人才</a:t>
            </a:r>
            <a:endParaRPr sz="1764" b="0" i="0" u="none" strike="noStrike" cap="none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4"/>
              <a:buFont typeface="Arial"/>
              <a:buNone/>
            </a:pPr>
            <a:r>
              <a:rPr lang="zh-TW" sz="1764" b="0" i="0" u="none" strike="noStrike" cap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entury Gothic"/>
                <a:sym typeface="Century Gothic"/>
              </a:rPr>
              <a:t>文化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 txBox="1"/>
          <p:nvPr/>
        </p:nvSpPr>
        <p:spPr>
          <a:xfrm>
            <a:off x="539750" y="1008000"/>
            <a:ext cx="8140500" cy="342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spAutoFit/>
          </a:bodyPr>
          <a:lstStyle/>
          <a:p>
            <a:pPr marL="251998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為有效彰顯本公司在 AI 技術研發與國內同業差異度，擬效仿國外著名金融機構(如</a:t>
            </a:r>
            <a:r>
              <a:rPr lang="zh-TW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J.P. Morgan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)，</a:t>
            </a:r>
            <a:r>
              <a:rPr lang="zh-TW" altLang="en-US">
                <a:latin typeface="Microsoft JhengHei"/>
                <a:ea typeface="Microsoft JhengHei"/>
                <a:sym typeface="Microsoft JhengHei"/>
              </a:rPr>
              <a:t>將研發成果發表於國際著名學術研討會</a:t>
            </a:r>
            <a:endParaRPr>
              <a:latin typeface="Microsoft JhengHei"/>
              <a:ea typeface="Microsoft JhengHei"/>
              <a:sym typeface="Microsoft JhengHei"/>
            </a:endParaRPr>
          </a:p>
          <a:p>
            <a:pPr marL="251998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 altLang="en-US">
                <a:latin typeface="Microsoft JhengHei"/>
                <a:ea typeface="Microsoft JhengHei"/>
                <a:sym typeface="Microsoft JhengHei"/>
              </a:rPr>
              <a:t>效益</a:t>
            </a:r>
            <a:b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1) 名聲：當人家問起 “誰能代表 AI 與金融？” 時，答案要毫無疑問是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2) 招募 3) 創意：透過研討會與產官學的頂級研究者交流，獲得人才與想法 </a:t>
            </a:r>
            <a:r>
              <a:rPr lang="zh-TW" sz="1200">
                <a:solidFill>
                  <a:srgbClr val="58798F"/>
                </a:solidFill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 CTO of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4) 激勵同仁投入研發 5) 與國內同業間的宣傳方式(如：廣告、競賽等)建立區隔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擬選擇投稿至 International Conference on Machine Learning (ICML) 研討會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該研討會與 ICLR、NIPS 並列</a:t>
            </a:r>
            <a:r>
              <a:rPr lang="zh-TW" sz="1200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 AI 研討會</a:t>
            </a:r>
            <a:endParaRPr sz="1200">
              <a:solidFill>
                <a:srgbClr val="FF5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若獲選，將成為首家於 ICML 發表之台灣金融機構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1998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考量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挑選學術價值大於實務價值的技術發表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該技術在金融領域的應用已申請專利，發表後一年內也可以追加專利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截稿日 2023/1/26 正值過年期間，會議日期為 2023/7/27，地點在夏威夷</a:t>
            </a:r>
            <a:endParaRPr sz="1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31" name="Google Shape;53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9763" y="1722782"/>
            <a:ext cx="2823507" cy="241974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輔助線範例</a:t>
            </a:r>
            <a:r>
              <a:rPr lang="en-US" altLang="zh-TW"/>
              <a:t> </a:t>
            </a:r>
            <a:r>
              <a:rPr lang="zh-TW"/>
              <a:t>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 txBox="1"/>
          <p:nvPr/>
        </p:nvSpPr>
        <p:spPr>
          <a:xfrm>
            <a:off x="180000" y="720000"/>
            <a:ext cx="7380000" cy="342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0000" rIns="90000" bIns="90000" anchor="t" anchorCtr="0">
            <a:spAutoFit/>
          </a:bodyPr>
          <a:lstStyle/>
          <a:p>
            <a:pPr marL="252000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為有效彰顯本公司在 AI 技術研發與國內同業差異度，擬效仿國外著名金融機構(如 </a:t>
            </a:r>
            <a:r>
              <a:rPr lang="zh-TW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J.P. Morgan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)，將研發成果發表於國際著名學術研討會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2000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效益</a:t>
            </a:r>
            <a:b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1) 名聲：當人家問起 “誰能代表 AI 與金融？” 時，答案要毫無疑問是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2) 招募 3) 創意：透過研討會與產官學的頂級研究者交流，獲得人才與想法 </a:t>
            </a:r>
            <a:r>
              <a:rPr lang="zh-TW" sz="1200">
                <a:solidFill>
                  <a:srgbClr val="58798F"/>
                </a:solidFill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 CTO of J.P. Morgan</a:t>
            </a:r>
            <a:b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4) 激勵同仁投入研發 5) 與國內同業間的宣傳方式(如：廣告、競賽等)建立區隔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2000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擬選擇投稿至 International Conference on Machine Learning (ICML) 研討會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該研討會與 ICLR、NIPS 並列</a:t>
            </a:r>
            <a:r>
              <a:rPr lang="zh-TW" sz="1200">
                <a:solidFill>
                  <a:srgbClr val="FF5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三大 AI 研討會</a:t>
            </a:r>
            <a:endParaRPr sz="1200">
              <a:solidFill>
                <a:srgbClr val="FF5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若獲選，將成為首家於 ICML 發表之台灣金融機構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2000" marR="0" lvl="0" indent="-216000" algn="l" rtl="0"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考量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挑選學術價值大於實務價值的技術發表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該技術在金融領域的應用已申請專利，發表後一年內也可以追加專利</a:t>
            </a:r>
            <a:endParaRPr sz="1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4000" marR="0" lvl="1" indent="-216000" algn="l" rtl="0">
              <a:spcBef>
                <a:spcPts val="600"/>
              </a:spcBef>
              <a:spcAft>
                <a:spcPts val="0"/>
              </a:spcAft>
              <a:buSzPts val="1200"/>
              <a:buChar char="○"/>
            </a:pPr>
            <a:r>
              <a:rPr lang="zh-TW" sz="1200">
                <a:latin typeface="Microsoft JhengHei"/>
                <a:ea typeface="Microsoft JhengHei"/>
                <a:cs typeface="Microsoft JhengHei"/>
                <a:sym typeface="Microsoft JhengHei"/>
              </a:rPr>
              <a:t>截稿日 2023/1/26 正值過年期間，會議日期為 2023/7/27，地點在夏威夷</a:t>
            </a:r>
            <a:endParaRPr sz="12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38" name="Google Shape;538;p30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9998" y="719998"/>
            <a:ext cx="3600000" cy="308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9" name="Google Shape;539;p30"/>
          <p:cNvCxnSpPr/>
          <p:nvPr/>
        </p:nvCxnSpPr>
        <p:spPr>
          <a:xfrm>
            <a:off x="0" y="6120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0" name="Google Shape;540;p30"/>
          <p:cNvCxnSpPr/>
          <p:nvPr/>
        </p:nvCxnSpPr>
        <p:spPr>
          <a:xfrm rot="10800000" flipH="1">
            <a:off x="10" y="720000"/>
            <a:ext cx="11520000" cy="36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1" name="Google Shape;541;p30"/>
          <p:cNvCxnSpPr/>
          <p:nvPr/>
        </p:nvCxnSpPr>
        <p:spPr>
          <a:xfrm rot="10800000">
            <a:off x="18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2" name="Google Shape;542;p30"/>
          <p:cNvCxnSpPr/>
          <p:nvPr/>
        </p:nvCxnSpPr>
        <p:spPr>
          <a:xfrm rot="10800000">
            <a:off x="756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3" name="Google Shape;543;p30"/>
          <p:cNvCxnSpPr/>
          <p:nvPr/>
        </p:nvCxnSpPr>
        <p:spPr>
          <a:xfrm rot="10800000">
            <a:off x="77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4" name="Google Shape;544;p30"/>
          <p:cNvCxnSpPr/>
          <p:nvPr/>
        </p:nvCxnSpPr>
        <p:spPr>
          <a:xfrm rot="10800000">
            <a:off x="11340000" y="0"/>
            <a:ext cx="3600" cy="648000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5" name="Google Shape;545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輔助線範例</a:t>
            </a:r>
            <a:r>
              <a:rPr lang="en-US" altLang="zh-TW"/>
              <a:t> </a:t>
            </a:r>
            <a:r>
              <a:rPr lang="zh-TW"/>
              <a:t>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A7A4D6-4202-F465-A80E-70AEA1EB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附錄</a:t>
            </a:r>
          </a:p>
        </p:txBody>
      </p:sp>
    </p:spTree>
    <p:extLst>
      <p:ext uri="{BB962C8B-B14F-4D97-AF65-F5344CB8AC3E}">
        <p14:creationId xmlns:p14="http://schemas.microsoft.com/office/powerpoint/2010/main" val="393315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3d89c15d02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</a:t>
            </a:r>
            <a:r>
              <a:rPr lang="en-US" altLang="zh-TW">
                <a:solidFill>
                  <a:srgbClr val="212121"/>
                </a:solidFill>
              </a:rPr>
              <a:t> </a:t>
            </a:r>
            <a:r>
              <a:rPr lang="zh-TW">
                <a:solidFill>
                  <a:srgbClr val="212121"/>
                </a:solidFill>
              </a:rPr>
              <a:t>1</a:t>
            </a:r>
            <a:endParaRPr/>
          </a:p>
        </p:txBody>
      </p:sp>
      <p:sp>
        <p:nvSpPr>
          <p:cNvPr id="113" name="Google Shape;113;g23d89c15d02_0_0"/>
          <p:cNvSpPr txBox="1"/>
          <p:nvPr/>
        </p:nvSpPr>
        <p:spPr>
          <a:xfrm>
            <a:off x="179387" y="719138"/>
            <a:ext cx="11161711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1998" marR="0" lvl="0" indent="-216000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使用「滴管」工具選取顏色，或輸入＃開頭之國際色碼</a:t>
            </a:r>
            <a:endParaRPr sz="16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14" name="Google Shape;114;g23d89c15d02_0_0"/>
          <p:cNvGraphicFramePr/>
          <p:nvPr/>
        </p:nvGraphicFramePr>
        <p:xfrm>
          <a:off x="179388" y="1426972"/>
          <a:ext cx="11161712" cy="4696895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139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5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文字、深色底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淺色底、螢光筆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顏色一(藍)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87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AE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8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965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9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#58798f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#cbdde9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#93aec1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#6689a1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#496578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#293c49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顏色二(綠)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278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7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A6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84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68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#42786f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#bed7d5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#73a6a0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#46847b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#3b6860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#283e38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顏色三(黃)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3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BC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990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6A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#ffd34e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#febc05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#fe9903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#fe6a08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顏色四(紅)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99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5B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28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D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#d03238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#f6d6d7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#e8999c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#d95b60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#a6282d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#7d1e22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功能顏色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無彩色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#808080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#f8f8f8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#dddddd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#b2b2b2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#5f5f5f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#333333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#d03238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#f6d6d7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D6D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#ffc629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#ffebb3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綠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E3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#00b176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#b7e3cd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880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3030b41c5_0_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rPr>
              <a:t>配色</a:t>
            </a:r>
            <a:r>
              <a:rPr lang="en-US" altLang="zh-TW">
                <a:solidFill>
                  <a:srgbClr val="21212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rPr>
              <a:t> </a:t>
            </a:r>
            <a:r>
              <a:rPr lang="zh-TW">
                <a:solidFill>
                  <a:srgbClr val="21212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rPr>
              <a:t>1</a:t>
            </a:r>
            <a:r>
              <a:rPr lang="en-US" altLang="zh-TW">
                <a:solidFill>
                  <a:srgbClr val="21212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rPr>
              <a:t> </a:t>
            </a:r>
            <a:r>
              <a:rPr lang="zh-TW">
                <a:solidFill>
                  <a:srgbClr val="21212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rPr>
              <a:t>說明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1" name="Google Shape;121;g253030b41c5_0_12"/>
          <p:cNvGraphicFramePr/>
          <p:nvPr>
            <p:extLst>
              <p:ext uri="{D42A27DB-BD31-4B8C-83A1-F6EECF244321}">
                <p14:modId xmlns:p14="http://schemas.microsoft.com/office/powerpoint/2010/main" val="1808991999"/>
              </p:ext>
            </p:extLst>
          </p:nvPr>
        </p:nvGraphicFramePr>
        <p:xfrm>
          <a:off x="5868988" y="735957"/>
          <a:ext cx="5472112" cy="268212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272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CBDDE</a:t>
                      </a: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#FFFFFF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#58798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87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BED7D5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D7D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#FFFFFF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#42786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278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FFEBB</a:t>
                      </a: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B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#FFFFFF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FFC</a:t>
                      </a: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629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F6D6D7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D6D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#FFFFFF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D</a:t>
                      </a: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03238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" name="Google Shape;122;g253030b41c5_0_12"/>
          <p:cNvPicPr preferRelativeResize="0"/>
          <p:nvPr/>
        </p:nvPicPr>
        <p:blipFill rotWithShape="1">
          <a:blip r:embed="rId3">
            <a:alphaModFix/>
          </a:blip>
          <a:srcRect l="50661" t="-11141" b="-11153"/>
          <a:stretch/>
        </p:blipFill>
        <p:spPr>
          <a:xfrm>
            <a:off x="5868988" y="3542596"/>
            <a:ext cx="3353018" cy="2577217"/>
          </a:xfrm>
          <a:prstGeom prst="rect">
            <a:avLst/>
          </a:prstGeom>
          <a:noFill/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3" name="Google Shape;123;g253030b41c5_0_12"/>
          <p:cNvSpPr/>
          <p:nvPr/>
        </p:nvSpPr>
        <p:spPr>
          <a:xfrm>
            <a:off x="11089100" y="735957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➊</a:t>
            </a:r>
            <a:endParaRPr sz="12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4" name="Google Shape;124;g253030b41c5_0_12"/>
          <p:cNvSpPr/>
          <p:nvPr/>
        </p:nvSpPr>
        <p:spPr>
          <a:xfrm>
            <a:off x="5869001" y="3542596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altLang="en-US" sz="12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➋</a:t>
            </a:r>
            <a:endParaRPr sz="1200">
              <a:solidFill>
                <a:srgbClr val="58798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/>
            </a:endParaRPr>
          </a:p>
        </p:txBody>
      </p:sp>
      <p:sp>
        <p:nvSpPr>
          <p:cNvPr id="8" name="Google Shape;120;g253030b41c5_0_12">
            <a:extLst>
              <a:ext uri="{FF2B5EF4-FFF2-40B4-BE49-F238E27FC236}">
                <a16:creationId xmlns:a16="http://schemas.microsoft.com/office/drawing/2014/main" id="{6D0E0C43-9258-DF4E-B886-0638794E7E1D}"/>
              </a:ext>
            </a:extLst>
          </p:cNvPr>
          <p:cNvSpPr txBox="1">
            <a:spLocks/>
          </p:cNvSpPr>
          <p:nvPr/>
        </p:nvSpPr>
        <p:spPr>
          <a:xfrm>
            <a:off x="179388" y="735957"/>
            <a:ext cx="5472112" cy="2997449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150" tIns="44050" rIns="88150" bIns="4405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2000" indent="-216000" algn="just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單頁有彩色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非灰階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≤ 3 </a:t>
            </a: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種</a:t>
            </a:r>
          </a:p>
          <a:p>
            <a:pPr marL="252000" indent="-216000" algn="just">
              <a:spcBef>
                <a:spcPts val="600"/>
              </a:spcBef>
              <a:buClr>
                <a:srgbClr val="58798F"/>
              </a:buClr>
              <a:buSzPts val="1800"/>
              <a:buFont typeface="Arial"/>
              <a:buChar char="○"/>
            </a:pPr>
            <a:r>
              <a:rPr lang="zh-TW" altLang="en-US" sz="16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超連結</a:t>
            </a:r>
            <a:r>
              <a:rPr lang="en-US" altLang="zh-TW" sz="16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藍</a:t>
            </a:r>
            <a:r>
              <a:rPr lang="en-US" altLang="zh-TW" sz="16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#58798</a:t>
            </a:r>
            <a:r>
              <a:rPr lang="en" altLang="zh-TW" sz="16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</a:t>
            </a:r>
            <a:endParaRPr lang="en" sz="1600">
              <a:solidFill>
                <a:srgbClr val="58798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indent="-216000" algn="just">
              <a:spcBef>
                <a:spcPts val="600"/>
              </a:spcBef>
              <a:buClr>
                <a:srgbClr val="D03238"/>
              </a:buClr>
              <a:buSzPts val="1800"/>
              <a:buFont typeface="Arial"/>
              <a:buChar char="○"/>
            </a:pPr>
            <a:r>
              <a:rPr lang="zh-TW" altLang="en-US" sz="1600">
                <a:solidFill>
                  <a:srgbClr val="D0323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強調文字</a:t>
            </a:r>
            <a:r>
              <a:rPr lang="en-US" altLang="zh-TW" sz="1600">
                <a:solidFill>
                  <a:srgbClr val="D0323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rgbClr val="D0323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</a:t>
            </a:r>
            <a:r>
              <a:rPr lang="en-US" altLang="zh-TW" sz="1600">
                <a:solidFill>
                  <a:srgbClr val="D0323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</a:t>
            </a:r>
            <a:r>
              <a:rPr lang="en" altLang="zh-TW" sz="1600">
                <a:solidFill>
                  <a:srgbClr val="D0323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D03238</a:t>
            </a:r>
            <a:endParaRPr lang="en" sz="1600">
              <a:solidFill>
                <a:srgbClr val="D03238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indent="-216000" algn="just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highlight>
                  <a:srgbClr val="FFD2D2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螢光筆</a:t>
            </a:r>
            <a:r>
              <a:rPr lang="en-US" altLang="zh-TW" sz="1600">
                <a:highlight>
                  <a:srgbClr val="FFD2D2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highlight>
                  <a:srgbClr val="FFD2D2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</a:t>
            </a:r>
            <a:r>
              <a:rPr lang="en-US" altLang="zh-TW" sz="1600">
                <a:highlight>
                  <a:srgbClr val="FFD2D2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#F</a:t>
            </a:r>
            <a:r>
              <a:rPr lang="en" altLang="zh-TW" sz="1600">
                <a:highlight>
                  <a:srgbClr val="FFD2D2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6D6D7</a:t>
            </a:r>
            <a:endParaRPr lang="en" sz="1600">
              <a:highlight>
                <a:srgbClr val="FFD2D2"/>
              </a:highlight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indent="-216000" algn="just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色塊 </a:t>
            </a:r>
            <a:r>
              <a:rPr lang="zh-TW" altLang="en-US" sz="12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➊</a:t>
            </a:r>
            <a:endParaRPr lang="zh-TW" altLang="en-US" sz="1100">
              <a:solidFill>
                <a:srgbClr val="58798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04000" lvl="1" indent="-216000" algn="just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大面積以淺色底為主</a:t>
            </a:r>
          </a:p>
          <a:p>
            <a:pPr marL="504000" lvl="1" indent="-216000" algn="just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單頁深色區域 ≤ 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20% </a:t>
            </a:r>
            <a:endParaRPr lang="zh-TW" altLang="en-US" sz="1600"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  <a:sym typeface="Microsoft JhengHei"/>
            </a:endParaRPr>
          </a:p>
          <a:p>
            <a:pPr marL="252000" indent="-216000" algn="just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圖標 </a:t>
            </a:r>
            <a:r>
              <a:rPr lang="zh-TW" altLang="en-US" sz="1200">
                <a:solidFill>
                  <a:srgbClr val="58798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➋</a:t>
            </a:r>
            <a:endParaRPr lang="zh-TW" altLang="en-US" sz="1100">
              <a:solidFill>
                <a:srgbClr val="58798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31999" lvl="1" indent="-216000" algn="just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預設位於圖片左上角，除非擋住重要資訊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配色範例</a:t>
            </a:r>
            <a:r>
              <a:rPr lang="en-US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 </a:t>
            </a:r>
            <a:r>
              <a:rPr 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1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5851525" y="1014675"/>
            <a:ext cx="2449500" cy="3336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行動計畫</a:t>
            </a:r>
            <a:endParaRPr sz="1568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558900" y="1014675"/>
            <a:ext cx="5108400" cy="3336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經營策略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496300" y="1014675"/>
            <a:ext cx="2484300" cy="333600"/>
          </a:xfrm>
          <a:prstGeom prst="rect">
            <a:avLst/>
          </a:prstGeom>
          <a:solidFill>
            <a:srgbClr val="FFEBB3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8"/>
              <a:buFont typeface="Arial"/>
              <a:buNone/>
            </a:pPr>
            <a:r>
              <a:rPr lang="zh-TW" sz="1568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成功指標</a:t>
            </a:r>
            <a:endParaRPr sz="1568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559026" y="28329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風險．決策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2064420" y="2684964"/>
            <a:ext cx="3570453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配合金融風險管理佈局，提供技術支援配套</a:t>
            </a:r>
            <a:b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</a:br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(</a:t>
            </a: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信用風險、市場風險、行為風險</a:t>
            </a:r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)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5897563" y="2675915"/>
            <a:ext cx="240347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信用風險：信貸進件、銀證所得替代、法金額度預估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市場風險：核心存款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行為風險：理專風險、信用卡盜刷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8570913" y="2676811"/>
            <a:ext cx="240347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模型部署：</a:t>
            </a:r>
            <a:b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</a:b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信貸進件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(Q1)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、銀證所得替代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(Q2)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、</a:t>
            </a:r>
            <a:b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</a:b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法金額度預估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核心存款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POC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完成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</p:txBody>
      </p:sp>
      <p:cxnSp>
        <p:nvCxnSpPr>
          <p:cNvPr id="137" name="Google Shape;137;p12"/>
          <p:cNvCxnSpPr/>
          <p:nvPr/>
        </p:nvCxnSpPr>
        <p:spPr>
          <a:xfrm>
            <a:off x="559050" y="2558756"/>
            <a:ext cx="10421844" cy="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8" name="Google Shape;138;p12"/>
          <p:cNvCxnSpPr/>
          <p:nvPr/>
        </p:nvCxnSpPr>
        <p:spPr>
          <a:xfrm>
            <a:off x="559050" y="3779509"/>
            <a:ext cx="10421844" cy="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9" name="Google Shape;139;p12"/>
          <p:cNvSpPr txBox="1"/>
          <p:nvPr/>
        </p:nvSpPr>
        <p:spPr>
          <a:xfrm>
            <a:off x="559026" y="53479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技術．研發</a:t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2064421" y="5199958"/>
            <a:ext cx="3570452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發展運算資源配置最適化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/>
            </a:endParaRPr>
          </a:p>
          <a:p>
            <a:pPr marL="252000" indent="-216000"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積極探索未來市場新商機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5904759" y="5190909"/>
            <a:ext cx="2396279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邊緣運算技術應用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AI 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資源配置平台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Trading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：美股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ETF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資產配置、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AI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基金經理人、台股券商分點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</p:txBody>
      </p:sp>
      <p:cxnSp>
        <p:nvCxnSpPr>
          <p:cNvPr id="142" name="Google Shape;142;p12"/>
          <p:cNvCxnSpPr/>
          <p:nvPr/>
        </p:nvCxnSpPr>
        <p:spPr>
          <a:xfrm>
            <a:off x="559050" y="5003842"/>
            <a:ext cx="10440738" cy="0"/>
          </a:xfrm>
          <a:prstGeom prst="straightConnector1">
            <a:avLst/>
          </a:prstGeom>
          <a:noFill/>
          <a:ln w="9525" cap="flat" cmpd="sng">
            <a:solidFill>
              <a:srgbClr val="B2B2B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3" name="Google Shape;143;p12"/>
          <p:cNvSpPr/>
          <p:nvPr/>
        </p:nvSpPr>
        <p:spPr>
          <a:xfrm>
            <a:off x="8570913" y="5190908"/>
            <a:ext cx="240982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模型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POC 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完成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(Q2)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開發環境落地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(Q2)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  <a:p>
            <a:pPr marL="25200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POC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完成</a:t>
            </a:r>
            <a:b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</a:b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美股資產配置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(Q2)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、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AI 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基金經理人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、台股券商分點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559051" y="16179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業務．行銷</a:t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2064419" y="1469962"/>
            <a:ext cx="3551309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鏈結績效指標，助攻業務銷售 </a:t>
            </a:r>
            <a:b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</a:br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(</a:t>
            </a: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信貸、中高端理財、銀證數位客群</a:t>
            </a:r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)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lvl="0" indent="-216000"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完善資料技術串聯，提升顧客中台架構，深化業務應用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5904760" y="1460913"/>
            <a:ext cx="2396278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marR="0" lvl="0" indent="-216000" rtl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信貸：信貸指數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2000" marR="0" lvl="0" indent="-216000" rtl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中高端理財：富能指數、潛力中高端客群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2000" marR="0" lvl="0" indent="-216000" rtl="0">
              <a:lnSpc>
                <a:spcPct val="100000"/>
              </a:lnSpc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銀證數位客群：大戶指數、證券沉睡戶喚醒、存股推薦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8570913" y="1460939"/>
            <a:ext cx="240982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模型部署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信貸指數 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(Q1)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富能指數 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(Q1)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、潛力中高端客群 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(Q2)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沉睡戶喚醒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(Q1)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存股推薦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559050" y="4062225"/>
            <a:ext cx="1505400" cy="6924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人才．文化</a:t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2064421" y="3914277"/>
            <a:ext cx="3570452" cy="977333"/>
          </a:xfrm>
          <a:prstGeom prst="roundRect">
            <a:avLst>
              <a:gd name="adj" fmla="val 5418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數位科技賦能，培育頂尖人才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/>
            </a:endParaRPr>
          </a:p>
          <a:p>
            <a:pPr marL="252000" lvl="0" indent="-216000">
              <a:spcBef>
                <a:spcPts val="600"/>
              </a:spcBef>
              <a:buClr>
                <a:schemeClr val="dk1"/>
              </a:buClr>
              <a:buSzPts val="1800"/>
              <a:buFont typeface="Arial"/>
              <a:buChar char="○"/>
            </a:pPr>
            <a:r>
              <a: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打造數位品牌，推動數位變革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5904760" y="3905228"/>
            <a:ext cx="2396278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籌辦「技術主題競賽」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落實「數位幕僚計畫」，重點單位數位人才培育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建置「科技人才能力視覺化平台」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8570913" y="3908661"/>
            <a:ext cx="2409825" cy="99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提供活動相關技術支援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完成數位幕僚培訓首年結業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平台建置完成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(Q2)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  <a:p>
            <a:pPr marL="252000" lvl="0" indent="-216000"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招募人數 ≥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6</a:t>
            </a:r>
            <a:r>
              <a:rPr lang="zh-TW" altLang="en-US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人 </a:t>
            </a:r>
            <a:r>
              <a:rPr lang="en-US" altLang="zh-TW" sz="1200">
                <a:solidFill>
                  <a:schemeClr val="dk1"/>
                </a:solidFill>
                <a:latin typeface="Microsoft JhengHei"/>
                <a:ea typeface="Microsoft JhengHei"/>
                <a:sym typeface="Microsoft JhengHei"/>
              </a:rPr>
              <a:t>(Q4)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13"/>
          <p:cNvCxnSpPr/>
          <p:nvPr/>
        </p:nvCxnSpPr>
        <p:spPr>
          <a:xfrm rot="10800000">
            <a:off x="1038585" y="3879345"/>
            <a:ext cx="1500" cy="763179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157" name="Google Shape;157;p13"/>
          <p:cNvCxnSpPr/>
          <p:nvPr/>
        </p:nvCxnSpPr>
        <p:spPr>
          <a:xfrm rot="10800000">
            <a:off x="10588749" y="3877621"/>
            <a:ext cx="0" cy="758380"/>
          </a:xfrm>
          <a:prstGeom prst="straightConnector1">
            <a:avLst/>
          </a:prstGeom>
          <a:noFill/>
          <a:ln w="19050" cap="flat" cmpd="sng">
            <a:solidFill>
              <a:srgbClr val="58798F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158" name="Google Shape;158;p13"/>
          <p:cNvCxnSpPr>
            <a:stCxn id="159" idx="6"/>
          </p:cNvCxnSpPr>
          <p:nvPr/>
        </p:nvCxnSpPr>
        <p:spPr>
          <a:xfrm>
            <a:off x="1396453" y="3599903"/>
            <a:ext cx="8814600" cy="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9" name="Google Shape;159;p13"/>
          <p:cNvSpPr/>
          <p:nvPr/>
        </p:nvSpPr>
        <p:spPr>
          <a:xfrm>
            <a:off x="682182" y="3242762"/>
            <a:ext cx="714271" cy="714281"/>
          </a:xfrm>
          <a:prstGeom prst="ellipse">
            <a:avLst/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230549" y="3242762"/>
            <a:ext cx="714271" cy="714281"/>
          </a:xfrm>
          <a:prstGeom prst="ellipse">
            <a:avLst/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 sz="14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61" name="Google Shape;161;p13"/>
          <p:cNvCxnSpPr/>
          <p:nvPr/>
        </p:nvCxnSpPr>
        <p:spPr>
          <a:xfrm rot="10800000">
            <a:off x="7546274" y="2110609"/>
            <a:ext cx="1500" cy="11880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62" name="Google Shape;162;p13"/>
          <p:cNvCxnSpPr/>
          <p:nvPr/>
        </p:nvCxnSpPr>
        <p:spPr>
          <a:xfrm rot="10800000">
            <a:off x="4707266" y="2523976"/>
            <a:ext cx="0" cy="7596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63" name="Google Shape;163;p13"/>
          <p:cNvCxnSpPr/>
          <p:nvPr/>
        </p:nvCxnSpPr>
        <p:spPr>
          <a:xfrm rot="10800000">
            <a:off x="4033700" y="3871658"/>
            <a:ext cx="0" cy="75838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cxnSp>
        <p:nvCxnSpPr>
          <p:cNvPr id="164" name="Google Shape;164;p13"/>
          <p:cNvCxnSpPr/>
          <p:nvPr/>
        </p:nvCxnSpPr>
        <p:spPr>
          <a:xfrm rot="10800000">
            <a:off x="6759210" y="3879345"/>
            <a:ext cx="1500" cy="763179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65" name="Google Shape;165;p13"/>
          <p:cNvSpPr txBox="1"/>
          <p:nvPr/>
        </p:nvSpPr>
        <p:spPr>
          <a:xfrm>
            <a:off x="1827503" y="2832599"/>
            <a:ext cx="2055515" cy="4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培訓課程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5895171" y="2855276"/>
            <a:ext cx="2055515" cy="4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專案體驗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3811579" y="1915119"/>
            <a:ext cx="1803899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行銷案例探討</a:t>
            </a:r>
            <a:endParaRPr sz="11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6699564" y="993803"/>
            <a:ext cx="1705385" cy="117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AI專案解方規劃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透過科技轉型顧問之協助，體驗將需求、可行性評估、PoC、至專案解方規劃之過程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9692706" y="4622972"/>
            <a:ext cx="18039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結業餐會</a:t>
            </a: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頒獎、結業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、專案開展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281523" y="4660132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啟動說明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1434981" y="1192379"/>
            <a:ext cx="1515600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數位溝通力建立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業務流程圖實作、OCR案例溝通體驗</a:t>
            </a:r>
            <a:endParaRPr sz="105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6004465" y="4649309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非AI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腦力激盪餐會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75" rIns="88150" bIns="440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配色範例</a:t>
            </a:r>
            <a:r>
              <a:rPr lang="en-US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 </a:t>
            </a:r>
            <a:r>
              <a:rPr 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2</a:t>
            </a:r>
            <a:endParaRPr>
              <a:highlight>
                <a:srgbClr val="FFFF00"/>
              </a:highlight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74" name="Google Shape;174;p13"/>
          <p:cNvCxnSpPr>
            <a:endCxn id="171" idx="2"/>
          </p:cNvCxnSpPr>
          <p:nvPr/>
        </p:nvCxnSpPr>
        <p:spPr>
          <a:xfrm rot="10800000">
            <a:off x="2192781" y="1961021"/>
            <a:ext cx="0" cy="13188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75" name="Google Shape;175;p13"/>
          <p:cNvSpPr txBox="1"/>
          <p:nvPr/>
        </p:nvSpPr>
        <p:spPr>
          <a:xfrm>
            <a:off x="1996951" y="4658805"/>
            <a:ext cx="1515600" cy="135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溝通力建立</a:t>
            </a:r>
            <a:b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業務流程與AI命題描繪執行探討-Regression/</a:t>
            </a:r>
            <a:b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05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Classification</a:t>
            </a:r>
            <a:endParaRPr/>
          </a:p>
        </p:txBody>
      </p:sp>
      <p:cxnSp>
        <p:nvCxnSpPr>
          <p:cNvPr id="176" name="Google Shape;176;p13"/>
          <p:cNvCxnSpPr/>
          <p:nvPr/>
        </p:nvCxnSpPr>
        <p:spPr>
          <a:xfrm rot="10800000">
            <a:off x="2753965" y="3884144"/>
            <a:ext cx="0" cy="75838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77" name="Google Shape;177;p13"/>
          <p:cNvSpPr txBox="1"/>
          <p:nvPr/>
        </p:nvSpPr>
        <p:spPr>
          <a:xfrm>
            <a:off x="3274779" y="4641963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OCR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案例探討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742884" y="1902063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RPA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案例探討</a:t>
            </a:r>
            <a:endParaRPr/>
          </a:p>
        </p:txBody>
      </p:sp>
      <p:cxnSp>
        <p:nvCxnSpPr>
          <p:cNvPr id="179" name="Google Shape;179;p13"/>
          <p:cNvCxnSpPr/>
          <p:nvPr/>
        </p:nvCxnSpPr>
        <p:spPr>
          <a:xfrm rot="10800000">
            <a:off x="3497481" y="2519859"/>
            <a:ext cx="0" cy="7587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80" name="Google Shape;180;p13"/>
          <p:cNvSpPr txBox="1"/>
          <p:nvPr/>
        </p:nvSpPr>
        <p:spPr>
          <a:xfrm>
            <a:off x="5488631" y="1914466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腦力激盪餐會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81" name="Google Shape;181;p13"/>
          <p:cNvCxnSpPr/>
          <p:nvPr/>
        </p:nvCxnSpPr>
        <p:spPr>
          <a:xfrm rot="10800000">
            <a:off x="6239956" y="2531896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82" name="Google Shape;182;p13"/>
          <p:cNvCxnSpPr/>
          <p:nvPr/>
        </p:nvCxnSpPr>
        <p:spPr>
          <a:xfrm rot="10800000">
            <a:off x="8455119" y="3846585"/>
            <a:ext cx="0" cy="802724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83" name="Google Shape;183;p13"/>
          <p:cNvSpPr txBox="1"/>
          <p:nvPr/>
        </p:nvSpPr>
        <p:spPr>
          <a:xfrm>
            <a:off x="7537852" y="4643565"/>
            <a:ext cx="1810437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非AI 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專案解方規劃</a:t>
            </a: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透過科技轉型顧問之協助，體驗將需求、可行性評估、至專案解方規劃之過程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649232" y="2864355"/>
            <a:ext cx="89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單位-月</a:t>
            </a:r>
            <a:endParaRPr sz="1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85" name="Google Shape;185;p13"/>
          <p:cNvCxnSpPr/>
          <p:nvPr/>
        </p:nvCxnSpPr>
        <p:spPr>
          <a:xfrm rot="10800000">
            <a:off x="5460783" y="3606684"/>
            <a:ext cx="0" cy="1042625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oval" w="med" len="med"/>
            <a:tailEnd type="none" w="sm" len="sm"/>
          </a:ln>
        </p:spPr>
      </p:cxnSp>
      <p:sp>
        <p:nvSpPr>
          <p:cNvPr id="186" name="Google Shape;186;p13"/>
          <p:cNvSpPr txBox="1"/>
          <p:nvPr/>
        </p:nvSpPr>
        <p:spPr>
          <a:xfrm>
            <a:off x="4700309" y="4653451"/>
            <a:ext cx="151560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業務單位</a:t>
            </a:r>
            <a:b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處內需求盤點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8702698" y="2127158"/>
            <a:ext cx="1515600" cy="369300"/>
          </a:xfrm>
          <a:prstGeom prst="rect">
            <a:avLst/>
          </a:prstGeom>
          <a:solidFill>
            <a:srgbClr val="F6D6D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latin typeface="Microsoft JhengHei"/>
                <a:ea typeface="Microsoft JhengHei"/>
                <a:cs typeface="Microsoft JhengHei"/>
                <a:sym typeface="Microsoft JhengHei"/>
              </a:rPr>
              <a:t>解方分享交流會</a:t>
            </a:r>
            <a:endParaRPr/>
          </a:p>
        </p:txBody>
      </p:sp>
      <p:cxnSp>
        <p:nvCxnSpPr>
          <p:cNvPr id="188" name="Google Shape;188;p13"/>
          <p:cNvCxnSpPr/>
          <p:nvPr/>
        </p:nvCxnSpPr>
        <p:spPr>
          <a:xfrm rot="10800000">
            <a:off x="9462929" y="2536709"/>
            <a:ext cx="1500" cy="763200"/>
          </a:xfrm>
          <a:prstGeom prst="straightConnector1">
            <a:avLst/>
          </a:prstGeom>
          <a:noFill/>
          <a:ln w="19050" cap="flat" cmpd="sng">
            <a:solidFill>
              <a:srgbClr val="6689A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89" name="Google Shape;189;p13"/>
          <p:cNvSpPr/>
          <p:nvPr/>
        </p:nvSpPr>
        <p:spPr>
          <a:xfrm>
            <a:off x="1778151" y="3242762"/>
            <a:ext cx="3313569" cy="71428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668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811232" y="3246162"/>
            <a:ext cx="4057677" cy="71428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rgbClr val="4684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</a:t>
            </a:r>
            <a:endParaRPr sz="1400" b="0" i="0" u="none" strike="noStrike" cap="non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425428" y="3318060"/>
            <a:ext cx="563677" cy="563685"/>
          </a:xfrm>
          <a:prstGeom prst="ellipse">
            <a:avLst/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9178660" y="3318060"/>
            <a:ext cx="563677" cy="563685"/>
          </a:xfrm>
          <a:prstGeom prst="ellipse">
            <a:avLst/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 sz="13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875457" y="3318060"/>
            <a:ext cx="1169421" cy="561285"/>
          </a:xfrm>
          <a:prstGeom prst="roundRect">
            <a:avLst>
              <a:gd name="adj" fmla="val 50000"/>
            </a:avLst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3153392" y="3331896"/>
            <a:ext cx="1169421" cy="547450"/>
          </a:xfrm>
          <a:prstGeom prst="roundRect">
            <a:avLst>
              <a:gd name="adj" fmla="val 50000"/>
            </a:avLst>
          </a:prstGeom>
          <a:solidFill>
            <a:srgbClr val="93AE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922673" y="3318060"/>
            <a:ext cx="1169421" cy="553598"/>
          </a:xfrm>
          <a:prstGeom prst="roundRect">
            <a:avLst>
              <a:gd name="adj" fmla="val 50000"/>
            </a:avLst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7203535" y="3322078"/>
            <a:ext cx="1848553" cy="553598"/>
          </a:xfrm>
          <a:prstGeom prst="roundRect">
            <a:avLst>
              <a:gd name="adj" fmla="val 50000"/>
            </a:avLst>
          </a:prstGeom>
          <a:solidFill>
            <a:srgbClr val="73A6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~ 9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配色範例</a:t>
            </a:r>
            <a:r>
              <a:rPr lang="en-US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 3</a:t>
            </a: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250" name="Google Shape;250;p17"/>
          <p:cNvGraphicFramePr/>
          <p:nvPr>
            <p:extLst>
              <p:ext uri="{D42A27DB-BD31-4B8C-83A1-F6EECF244321}">
                <p14:modId xmlns:p14="http://schemas.microsoft.com/office/powerpoint/2010/main" val="504525480"/>
              </p:ext>
            </p:extLst>
          </p:nvPr>
        </p:nvGraphicFramePr>
        <p:xfrm>
          <a:off x="179388" y="719138"/>
          <a:ext cx="11161711" cy="2936633"/>
        </p:xfrm>
        <a:graphic>
          <a:graphicData uri="http://schemas.openxmlformats.org/drawingml/2006/table">
            <a:tbl>
              <a:tblPr>
                <a:noFill/>
                <a:tableStyleId>{88D87DB6-C1B6-446D-86CF-44D372F8A824}</a:tableStyleId>
              </a:tblPr>
              <a:tblGrid>
                <a:gridCol w="1014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47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3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名單數 3.5k | 200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10k | 200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1k | 1k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5k | 5k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10k | 10k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測試月份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等級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變化模型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AUM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成長模型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2022.08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417 </a:t>
                      </a:r>
                      <a:r>
                        <a:rPr lang="zh-TW" sz="9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-18%</a:t>
                      </a:r>
                      <a:endParaRPr sz="11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847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1,153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+36%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498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544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847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1,515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1,141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1,823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(544)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(503) </a:t>
                      </a:r>
                      <a:r>
                        <a:rPr lang="zh-TW" sz="90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-8%</a:t>
                      </a:r>
                      <a:endParaRPr sz="110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(925)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(1,326)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+43%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(611)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(676)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(1,371)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(2,385)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(2,019)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(3,730)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368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617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+68%</a:t>
                      </a:r>
                      <a:endParaRPr sz="9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643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1,434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+123%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475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766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1,496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+95%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949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2,174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+129%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(399)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(665)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+67%</a:t>
                      </a:r>
                      <a:endParaRPr sz="11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(717)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(1,260)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(600)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(742)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(1,266)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(2,376)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+88%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(1,784)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(4,046)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+127%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363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1,021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528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257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-51%</a:t>
                      </a:r>
                      <a:endParaRPr sz="900" b="0" i="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910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1,043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+15%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1,558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(395)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(477)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+21%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(688)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(1,168)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(571)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(388)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-32%</a:t>
                      </a:r>
                      <a:endParaRPr>
                        <a:solidFill>
                          <a:srgbClr val="D03238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(1,285)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(1,724)</a:t>
                      </a:r>
                      <a:r>
                        <a:rPr lang="zh-TW" sz="11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+34%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(1,277)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(3,115) </a:t>
                      </a:r>
                      <a:r>
                        <a:rPr lang="zh-TW" sz="900" b="0" i="0" strike="noStrike" cap="none">
                          <a:solidFill>
                            <a:srgbClr val="40896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+144%</a:t>
                      </a:r>
                      <a:endParaRPr/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2022.12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355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572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1,090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441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511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+16%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830</a:t>
                      </a:r>
                      <a:endParaRPr/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1,339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+61%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1,735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+72%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(403)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(626)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+55%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(711)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(1,250)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(531)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(616)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+16%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(1,336)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(2,012)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+51%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(1,839)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(3,299)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+79%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97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2023.01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437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453 </a:t>
                      </a:r>
                      <a:r>
                        <a:rPr lang="zh-TW" sz="90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+4%</a:t>
                      </a:r>
                      <a:endParaRPr sz="90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792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1,122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+42%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518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503 </a:t>
                      </a:r>
                      <a:r>
                        <a:rPr lang="zh-TW" sz="900" b="0" i="0" u="none" strike="noStrike" cap="none">
                          <a:solidFill>
                            <a:srgbClr val="D03238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-3%</a:t>
                      </a:r>
                      <a:endParaRPr sz="900" b="0" i="0" u="none" strike="noStrike" cap="none">
                        <a:solidFill>
                          <a:srgbClr val="D03238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891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1,487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+67%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1,306</a:t>
                      </a:r>
                      <a:endParaRPr sz="11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2,216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+70%</a:t>
                      </a:r>
                      <a:endParaRPr sz="900" b="0" i="0" u="none" strike="noStrike" cap="none">
                        <a:solidFill>
                          <a:srgbClr val="00B176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0" marR="0" marT="45725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(463)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(513)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+11%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(847)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(1,258)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+49%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(574)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(620)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+8%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(1,360)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(2,247)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+65%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(1,946)</a:t>
                      </a:r>
                      <a:endParaRPr/>
                    </a:p>
                  </a:txBody>
                  <a:tcPr marL="0" marR="0" marT="0" marB="45725">
                    <a:lnL w="12700" cap="flat" cmpd="sng">
                      <a:solidFill>
                        <a:srgbClr val="46847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(3,803) </a:t>
                      </a:r>
                      <a:r>
                        <a:rPr lang="zh-TW" sz="900" b="0" i="0" u="none" strike="noStrike" cap="none">
                          <a:solidFill>
                            <a:srgbClr val="00B176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+95%</a:t>
                      </a:r>
                      <a:endParaRPr>
                        <a:solidFill>
                          <a:srgbClr val="00B176"/>
                        </a:solidFill>
                      </a:endParaRPr>
                    </a:p>
                  </a:txBody>
                  <a:tcPr marL="0" marR="0" marT="0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89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Google Shape;251;p17">
            <a:extLst>
              <a:ext uri="{FF2B5EF4-FFF2-40B4-BE49-F238E27FC236}">
                <a16:creationId xmlns:a16="http://schemas.microsoft.com/office/drawing/2014/main" id="{CCB50394-AB2A-2F49-A653-2B25C251FAF0}"/>
              </a:ext>
            </a:extLst>
          </p:cNvPr>
          <p:cNvSpPr txBox="1">
            <a:spLocks/>
          </p:cNvSpPr>
          <p:nvPr/>
        </p:nvSpPr>
        <p:spPr>
          <a:xfrm>
            <a:off x="179387" y="3763471"/>
            <a:ext cx="11161711" cy="1474419"/>
          </a:xfrm>
          <a:prstGeom prst="rect">
            <a:avLst/>
          </a:prstGeom>
          <a:noFill/>
          <a:ln w="9525" cap="flat" cmpd="sng">
            <a:solidFill>
              <a:srgbClr val="668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0000" bIns="90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None/>
              <a:def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■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●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◆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•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51998" indent="-1609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altLang="en-US" sz="1400">
                <a:solidFill>
                  <a:srgbClr val="000000"/>
                </a:solidFill>
              </a:rPr>
              <a:t>名單數 </a:t>
            </a:r>
            <a:r>
              <a:rPr lang="en-US" altLang="zh-TW" sz="1400">
                <a:solidFill>
                  <a:srgbClr val="000000"/>
                </a:solidFill>
              </a:rPr>
              <a:t>3.5</a:t>
            </a:r>
            <a:r>
              <a:rPr lang="en" altLang="zh-TW" sz="1400">
                <a:solidFill>
                  <a:srgbClr val="000000"/>
                </a:solidFill>
              </a:rPr>
              <a:t>k | 200 </a:t>
            </a:r>
            <a:r>
              <a:rPr lang="zh-TW" altLang="en-US" sz="1400">
                <a:solidFill>
                  <a:srgbClr val="000000"/>
                </a:solidFill>
              </a:rPr>
              <a:t>表示大大➜大戶取 </a:t>
            </a:r>
            <a:r>
              <a:rPr lang="en" altLang="zh-TW" sz="1400">
                <a:solidFill>
                  <a:srgbClr val="000000"/>
                </a:solidFill>
              </a:rPr>
              <a:t>Top 3.5k</a:t>
            </a:r>
            <a:r>
              <a:rPr lang="zh-TW" altLang="en" sz="1400">
                <a:solidFill>
                  <a:srgbClr val="000000"/>
                </a:solidFill>
              </a:rPr>
              <a:t>、</a:t>
            </a:r>
            <a:r>
              <a:rPr lang="zh-TW" altLang="en-US" sz="1400">
                <a:solidFill>
                  <a:srgbClr val="000000"/>
                </a:solidFill>
              </a:rPr>
              <a:t>大戶➜大神取 </a:t>
            </a:r>
            <a:r>
              <a:rPr lang="en" altLang="zh-TW" sz="1400">
                <a:solidFill>
                  <a:srgbClr val="000000"/>
                </a:solidFill>
              </a:rPr>
              <a:t>Top 200</a:t>
            </a:r>
            <a:r>
              <a:rPr lang="zh-TW" altLang="en" sz="1400">
                <a:solidFill>
                  <a:srgbClr val="000000"/>
                </a:solidFill>
              </a:rPr>
              <a:t>，</a:t>
            </a:r>
            <a:r>
              <a:rPr lang="zh-TW" altLang="en-US" sz="1400">
                <a:solidFill>
                  <a:srgbClr val="000000"/>
                </a:solidFill>
              </a:rPr>
              <a:t>餘類推</a:t>
            </a:r>
          </a:p>
          <a:p>
            <a:pPr marL="251998" indent="-1609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altLang="en-US" sz="1400"/>
              <a:t>成效比較：名單所有客戶 </a:t>
            </a:r>
            <a:r>
              <a:rPr lang="en" altLang="zh-TW" sz="1400"/>
              <a:t>AUM</a:t>
            </a:r>
            <a:r>
              <a:rPr lang="en" altLang="zh-TW" sz="1400" baseline="-25000"/>
              <a:t>T</a:t>
            </a:r>
            <a:r>
              <a:rPr lang="en" altLang="zh-TW" sz="1400"/>
              <a:t> − AUM</a:t>
            </a:r>
            <a:r>
              <a:rPr lang="en" altLang="zh-TW" sz="1400" baseline="-25000"/>
              <a:t>T-2</a:t>
            </a:r>
            <a:r>
              <a:rPr lang="en" altLang="zh-TW" sz="1400"/>
              <a:t> (</a:t>
            </a:r>
            <a:r>
              <a:rPr lang="zh-TW" altLang="en-US" sz="1400"/>
              <a:t>百萬元</a:t>
            </a:r>
            <a:r>
              <a:rPr lang="en-US" altLang="zh-TW" sz="1400"/>
              <a:t>)</a:t>
            </a:r>
            <a:r>
              <a:rPr lang="zh-TW" altLang="en-US" sz="1400"/>
              <a:t>，</a:t>
            </a:r>
            <a:r>
              <a:rPr lang="en" altLang="zh-TW" sz="1400"/>
              <a:t>T </a:t>
            </a:r>
            <a:r>
              <a:rPr lang="zh-TW" altLang="en-US" sz="1400"/>
              <a:t>為月份</a:t>
            </a:r>
          </a:p>
          <a:p>
            <a:pPr marL="251998" indent="-1609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altLang="en-US" sz="1400"/>
              <a:t>括號內為僅計算預測正確</a:t>
            </a:r>
            <a:r>
              <a:rPr lang="en-US" altLang="zh-TW" sz="1400"/>
              <a:t>(</a:t>
            </a:r>
            <a:r>
              <a:rPr lang="zh-TW" altLang="en-US" sz="1400"/>
              <a:t>升等</a:t>
            </a:r>
            <a:r>
              <a:rPr lang="en-US" altLang="zh-TW" sz="1400"/>
              <a:t>/</a:t>
            </a:r>
            <a:r>
              <a:rPr lang="zh-TW" altLang="en-US" sz="1400"/>
              <a:t>成長</a:t>
            </a:r>
            <a:r>
              <a:rPr lang="en-US" altLang="zh-TW" sz="1400"/>
              <a:t>)</a:t>
            </a:r>
            <a:r>
              <a:rPr lang="zh-TW" altLang="en-US" sz="1400"/>
              <a:t>客戶的 </a:t>
            </a:r>
            <a:r>
              <a:rPr lang="en" altLang="zh-TW" sz="1400"/>
              <a:t>AUM </a:t>
            </a:r>
            <a:r>
              <a:rPr lang="zh-TW" altLang="en-US" sz="1400"/>
              <a:t>變化，此「神諭」結果可以用來評估模型的進步空間</a:t>
            </a:r>
          </a:p>
          <a:p>
            <a:pPr marL="251998" indent="-160900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○"/>
            </a:pPr>
            <a:r>
              <a:rPr lang="zh-TW" altLang="en-US" sz="1400"/>
              <a:t>可以看到</a:t>
            </a:r>
            <a:r>
              <a:rPr lang="zh-TW" altLang="en-US" sz="1400">
                <a:highlight>
                  <a:srgbClr val="F6D6D7"/>
                </a:highlight>
              </a:rPr>
              <a:t>在名單數增加時，</a:t>
            </a:r>
            <a:r>
              <a:rPr lang="en" altLang="zh-TW" sz="1400">
                <a:highlight>
                  <a:srgbClr val="F6D6D7"/>
                </a:highlight>
              </a:rPr>
              <a:t>AUM </a:t>
            </a:r>
            <a:r>
              <a:rPr lang="zh-TW" altLang="en-US" sz="1400">
                <a:highlight>
                  <a:srgbClr val="F6D6D7"/>
                </a:highlight>
              </a:rPr>
              <a:t>成長模型有更好的表現</a:t>
            </a:r>
            <a:r>
              <a:rPr lang="zh-TW" altLang="en-US" sz="1400"/>
              <a:t>，與模型設計的理論一致 </a:t>
            </a:r>
            <a:r>
              <a:rPr lang="en-US" altLang="zh-TW" sz="1400">
                <a:solidFill>
                  <a:srgbClr val="58798F"/>
                </a:solidFill>
              </a:rPr>
              <a:t>link</a:t>
            </a:r>
            <a:endParaRPr lang="zh-TW" altLang="en-US" sz="1400">
              <a:solidFill>
                <a:srgbClr val="58798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3bcfb68efc_1_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</a:t>
            </a:r>
            <a:r>
              <a:rPr lang="zh-TW" altLang="en-US">
                <a:solidFill>
                  <a:srgbClr val="212121"/>
                </a:solidFill>
              </a:rPr>
              <a:t> </a:t>
            </a:r>
            <a:r>
              <a:rPr lang="en-US" altLang="zh-TW">
                <a:solidFill>
                  <a:srgbClr val="212121"/>
                </a:solidFill>
              </a:rPr>
              <a:t>2</a:t>
            </a:r>
            <a:endParaRPr/>
          </a:p>
        </p:txBody>
      </p:sp>
      <p:sp>
        <p:nvSpPr>
          <p:cNvPr id="272" name="Google Shape;272;g23bcfb68efc_1_45"/>
          <p:cNvSpPr txBox="1"/>
          <p:nvPr/>
        </p:nvSpPr>
        <p:spPr>
          <a:xfrm>
            <a:off x="179387" y="719138"/>
            <a:ext cx="11161711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1998" marR="0" lvl="0" indent="-2160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使用「滴管」工具選取顏色，或輸入＃開頭之國際色碼</a:t>
            </a:r>
            <a:endParaRPr sz="16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73" name="Google Shape;273;g23bcfb68efc_1_45"/>
          <p:cNvGraphicFramePr/>
          <p:nvPr>
            <p:extLst>
              <p:ext uri="{D42A27DB-BD31-4B8C-83A1-F6EECF244321}">
                <p14:modId xmlns:p14="http://schemas.microsoft.com/office/powerpoint/2010/main" val="4285236378"/>
              </p:ext>
            </p:extLst>
          </p:nvPr>
        </p:nvGraphicFramePr>
        <p:xfrm>
          <a:off x="180182" y="1045933"/>
          <a:ext cx="11160920" cy="508911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139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3295819365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 algn="ctr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085971"/>
                  </a:ext>
                </a:extLst>
              </a:tr>
              <a:tr h="57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 algn="ctr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文字、深色底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淺色底、螢光筆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lang="en-US" altLang="zh-TW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 row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顏色一</a:t>
                      </a:r>
                      <a:r>
                        <a:rPr lang="en-US" altLang="zh-TW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(blue)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#3b82f6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bfdbfe</a:t>
                      </a:r>
                      <a:endParaRPr lang="en-US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93c5fd</a:t>
                      </a:r>
                      <a:endParaRPr lang="en-US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#60a5fa</a:t>
                      </a:r>
                      <a:endParaRPr lang="zh-TW" altLang="en-US" sz="12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#2563eb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#1d4ed8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顏色二</a:t>
                      </a:r>
                      <a:r>
                        <a:rPr lang="en-US" altLang="zh-TW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(violet)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B5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#8b5cf6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#ddd6fe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#c4b5fd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#a78bfa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#7c3aed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#6d28d9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顏色三</a:t>
                      </a:r>
                      <a:r>
                        <a:rPr lang="en-US" altLang="zh-TW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(rose)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A4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7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1C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1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#f43f5e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#fecdd3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#fda4af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#fb7185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#e11c48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#be123c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顏色四(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yellow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3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#f59e0b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#fde68a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#fcd34d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#fbbf24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#d97706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#b45309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功能顏色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無彩色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(zinc)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171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#71717a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#e4e4e7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#d4d4d8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#a1a1aa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#52525b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#3f3f46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(rose)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#f43f5e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fecdd3</a:t>
                      </a:r>
                      <a:endParaRPr lang="en-US" altLang="zh-TW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(yellow)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#eab308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#fef08a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綠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altLang="zh-TW" sz="1400">
                          <a:latin typeface="Microsoft JhengHei"/>
                          <a:ea typeface="Microsoft JhengHei"/>
                        </a:rPr>
                        <a:t>emerald)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#10b981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#a7f3d0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256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6107f9f4fa_0_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</a:t>
            </a:r>
            <a:r>
              <a:rPr lang="en-US" altLang="zh-TW">
                <a:solidFill>
                  <a:srgbClr val="212121"/>
                </a:solidFill>
              </a:rPr>
              <a:t> 2 </a:t>
            </a:r>
            <a:r>
              <a:rPr lang="zh-TW">
                <a:solidFill>
                  <a:srgbClr val="212121"/>
                </a:solidFill>
              </a:rPr>
              <a:t>說明</a:t>
            </a:r>
            <a:endParaRPr/>
          </a:p>
        </p:txBody>
      </p:sp>
      <p:graphicFrame>
        <p:nvGraphicFramePr>
          <p:cNvPr id="280" name="Google Shape;280;g26107f9f4fa_0_30"/>
          <p:cNvGraphicFramePr/>
          <p:nvPr>
            <p:extLst>
              <p:ext uri="{D42A27DB-BD31-4B8C-83A1-F6EECF244321}">
                <p14:modId xmlns:p14="http://schemas.microsoft.com/office/powerpoint/2010/main" val="4205781613"/>
              </p:ext>
            </p:extLst>
          </p:nvPr>
        </p:nvGraphicFramePr>
        <p:xfrm>
          <a:off x="5867999" y="724100"/>
          <a:ext cx="5472111" cy="268212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2724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#B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FDBFE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3B82F6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DDD6FE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6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8B5CF6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FECDD3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F43F5E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3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FDE68A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F59E0B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1" name="Google Shape;281;g26107f9f4fa_0_30"/>
          <p:cNvPicPr preferRelativeResize="0"/>
          <p:nvPr/>
        </p:nvPicPr>
        <p:blipFill rotWithShape="1">
          <a:blip r:embed="rId3">
            <a:alphaModFix/>
          </a:blip>
          <a:srcRect l="50661" t="-11141" b="-11153"/>
          <a:stretch/>
        </p:blipFill>
        <p:spPr>
          <a:xfrm>
            <a:off x="5868988" y="3519919"/>
            <a:ext cx="3382521" cy="2599894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2" name="Google Shape;282;g26107f9f4fa_0_30"/>
          <p:cNvSpPr/>
          <p:nvPr/>
        </p:nvSpPr>
        <p:spPr>
          <a:xfrm>
            <a:off x="11088110" y="753388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➊</a:t>
            </a:r>
            <a:endParaRPr sz="12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3" name="Google Shape;283;g26107f9f4fa_0_30"/>
          <p:cNvSpPr/>
          <p:nvPr/>
        </p:nvSpPr>
        <p:spPr>
          <a:xfrm>
            <a:off x="5869001" y="3519919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altLang="en-US" sz="12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➋</a:t>
            </a:r>
            <a:endParaRPr sz="1200">
              <a:solidFill>
                <a:srgbClr val="3B82F6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/>
            </a:endParaRPr>
          </a:p>
        </p:txBody>
      </p:sp>
      <p:sp>
        <p:nvSpPr>
          <p:cNvPr id="8" name="Google Shape;279;g26107f9f4fa_0_30">
            <a:extLst>
              <a:ext uri="{FF2B5EF4-FFF2-40B4-BE49-F238E27FC236}">
                <a16:creationId xmlns:a16="http://schemas.microsoft.com/office/drawing/2014/main" id="{07925DAC-EC49-174F-9A30-A20FC8AF259F}"/>
              </a:ext>
            </a:extLst>
          </p:cNvPr>
          <p:cNvSpPr txBox="1">
            <a:spLocks/>
          </p:cNvSpPr>
          <p:nvPr/>
        </p:nvSpPr>
        <p:spPr>
          <a:xfrm>
            <a:off x="179388" y="719138"/>
            <a:ext cx="5472112" cy="2997449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150" tIns="44050" rIns="88150" bIns="4405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2000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單頁有彩色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非灰階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≤ 3 </a:t>
            </a: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種</a:t>
            </a:r>
          </a:p>
          <a:p>
            <a:pPr marL="252000" indent="-216000">
              <a:spcBef>
                <a:spcPts val="600"/>
              </a:spcBef>
              <a:buClr>
                <a:srgbClr val="49A4FF"/>
              </a:buClr>
              <a:buSzPts val="1800"/>
              <a:buFont typeface="Arial"/>
              <a:buChar char="○"/>
            </a:pPr>
            <a:r>
              <a:rPr lang="zh-TW" altLang="en-US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超連結</a:t>
            </a:r>
            <a:r>
              <a:rPr lang="en-US" altLang="zh-TW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藍</a:t>
            </a:r>
            <a:r>
              <a:rPr lang="en-US" altLang="zh-TW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#3B82F6</a:t>
            </a:r>
            <a:endParaRPr lang="en" sz="1600">
              <a:solidFill>
                <a:srgbClr val="3B82F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indent="-216000">
              <a:spcBef>
                <a:spcPts val="600"/>
              </a:spcBef>
              <a:buClr>
                <a:srgbClr val="FF006E"/>
              </a:buClr>
              <a:buSzPts val="1800"/>
              <a:buFont typeface="Arial"/>
              <a:buChar char="○"/>
            </a:pPr>
            <a:r>
              <a:rPr lang="zh-TW" altLang="en-US" sz="1600">
                <a:solidFill>
                  <a:srgbClr val="F43F5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強調文字</a:t>
            </a:r>
            <a:r>
              <a:rPr lang="en-US" altLang="zh-TW" sz="1600">
                <a:solidFill>
                  <a:srgbClr val="F43F5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rgbClr val="F43F5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</a:t>
            </a:r>
            <a:r>
              <a:rPr lang="en-US" altLang="zh-TW" sz="1600">
                <a:solidFill>
                  <a:srgbClr val="F43F5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</a:t>
            </a:r>
            <a:r>
              <a:rPr lang="en" altLang="zh-TW" sz="1600">
                <a:solidFill>
                  <a:srgbClr val="F43F5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F43</a:t>
            </a:r>
            <a:r>
              <a:rPr lang="en-US" altLang="zh-TW" sz="1600">
                <a:solidFill>
                  <a:srgbClr val="F43F5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</a:t>
            </a:r>
            <a:r>
              <a:rPr lang="en" altLang="zh-TW" sz="1600">
                <a:solidFill>
                  <a:srgbClr val="F43F5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5E</a:t>
            </a:r>
            <a:endParaRPr lang="en" sz="1600">
              <a:solidFill>
                <a:srgbClr val="F43F5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indent="-216000">
              <a:spcBef>
                <a:spcPts val="600"/>
              </a:spcBef>
              <a:buSzPts val="1600"/>
              <a:buFont typeface="Arial"/>
              <a:buChar char="○"/>
            </a:pPr>
            <a:r>
              <a:rPr lang="zh-TW" altLang="en-US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螢光筆</a:t>
            </a:r>
            <a:r>
              <a:rPr lang="en-US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</a:t>
            </a:r>
            <a:r>
              <a:rPr lang="en-US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</a:t>
            </a:r>
            <a:r>
              <a:rPr lang="en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FE</a:t>
            </a:r>
            <a:r>
              <a:rPr lang="en-US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F08A</a:t>
            </a:r>
          </a:p>
          <a:p>
            <a:pPr marL="252000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色塊 </a:t>
            </a:r>
            <a:r>
              <a:rPr lang="zh-TW" altLang="en-US" sz="12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➊</a:t>
            </a:r>
            <a:endParaRPr lang="zh-TW" altLang="en-US" sz="1100">
              <a:solidFill>
                <a:srgbClr val="3B82F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04000" lvl="1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大面積以淺色底為主</a:t>
            </a:r>
          </a:p>
          <a:p>
            <a:pPr marL="504000" lvl="1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單頁深色區域 ≤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20% </a:t>
            </a:r>
            <a:endParaRPr lang="zh-TW" altLang="en-US" sz="1600"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  <a:sym typeface="Microsoft JhengHei"/>
            </a:endParaRPr>
          </a:p>
          <a:p>
            <a:pPr marL="252000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圖標 </a:t>
            </a:r>
            <a:r>
              <a:rPr lang="zh-TW" altLang="en-US" sz="12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➋</a:t>
            </a:r>
          </a:p>
          <a:p>
            <a:pPr marL="504000" lvl="1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預設位於圖片左上角，除非擋住重要資訊</a:t>
            </a:r>
          </a:p>
        </p:txBody>
      </p:sp>
    </p:spTree>
    <p:extLst>
      <p:ext uri="{BB962C8B-B14F-4D97-AF65-F5344CB8AC3E}">
        <p14:creationId xmlns:p14="http://schemas.microsoft.com/office/powerpoint/2010/main" val="4191026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04CB9F0-19FE-A6AE-4FA4-C2271F91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配色範例</a:t>
            </a:r>
            <a:r>
              <a:rPr lang="zh-TW" altLang="en-US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 </a:t>
            </a:r>
            <a:r>
              <a:rPr lang="en-US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1</a:t>
            </a:r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A7EF03-6B72-4DD0-986B-278EA9791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61109"/>
              </p:ext>
            </p:extLst>
          </p:nvPr>
        </p:nvGraphicFramePr>
        <p:xfrm>
          <a:off x="179388" y="719138"/>
          <a:ext cx="11159172" cy="4968240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5448526">
                  <a:extLst>
                    <a:ext uri="{9D8B030D-6E8A-4147-A177-3AD203B41FA5}">
                      <a16:colId xmlns:a16="http://schemas.microsoft.com/office/drawing/2014/main" val="2781051510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3209406711"/>
                    </a:ext>
                  </a:extLst>
                </a:gridCol>
                <a:gridCol w="4894217">
                  <a:extLst>
                    <a:ext uri="{9D8B030D-6E8A-4147-A177-3AD203B41FA5}">
                      <a16:colId xmlns:a16="http://schemas.microsoft.com/office/drawing/2014/main" val="82766312"/>
                    </a:ext>
                  </a:extLst>
                </a:gridCol>
              </a:tblGrid>
              <a:tr h="3314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重點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TW" altLang="en-US" sz="1600" b="0" i="0" u="none" strike="noStrike" cap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u="none" strike="noStrike" cap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觀點</a:t>
                      </a:r>
                      <a:endParaRPr lang="zh-TW" altLang="en-US" sz="1200">
                        <a:highlight>
                          <a:srgbClr val="FFFF00"/>
                        </a:highlight>
                        <a:latin typeface="微軟正黑體"/>
                        <a:ea typeface="微軟正黑體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5563900"/>
                  </a:ext>
                </a:extLst>
              </a:tr>
              <a:tr h="223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第一戰</a:t>
                      </a:r>
                      <a:endParaRPr lang="en-US" altLang="zh-TW" sz="14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</a:rPr>
                        <a:t>比誰的司機多，九萬小黃運將「被各平台捧在手上」</a:t>
                      </a:r>
                      <a:endParaRPr lang="en-US" altLang="zh-TW" sz="1200">
                        <a:solidFill>
                          <a:srgbClr val="71717A"/>
                        </a:solidFill>
                        <a:latin typeface="微軟正黑體"/>
                        <a:ea typeface="微軟正黑體"/>
                      </a:endParaRPr>
                    </a:p>
                  </a:txBody>
                  <a:tcPr marL="9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獲客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68A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195" indent="0" algn="l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None/>
                      </a:pPr>
                      <a:r>
                        <a:rPr lang="zh-TW" altLang="en-US" sz="16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第一戰</a:t>
                      </a:r>
                      <a:endParaRPr lang="en-US" altLang="zh-TW" sz="16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  <a:p>
                      <a:pPr marL="0" marR="0" lvl="1" indent="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None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透過高頻低價商品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例如：信用卡、初期大戶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蒐集足夠且有價值的資料，串聯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拉抬低頻高價商品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例如：財管、房信貸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195" indent="0" algn="l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None/>
                      </a:pPr>
                      <a:r>
                        <a:rPr lang="zh-TW" altLang="en-US" sz="16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第二戰～第四戰</a:t>
                      </a:r>
                      <a:endParaRPr lang="en-US" altLang="zh-TW" sz="16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皆為取得資料後運用的能力，場域不同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但技術可能類似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第二戰：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內部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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內部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，透過內部資料，讓內部既有的服務變得更好、更個人化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第三戰：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流量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 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廣告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，傳統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金融業內可能沒有賣廣告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賣客戶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賣資料這樣的業務，但延伸業務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例如：豐雲學堂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是否有機會？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第四戰：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內部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✕ 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F43F5E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外部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，外部同業、異業合作共推業務，</a:t>
                      </a:r>
                      <a:r>
                        <a:rPr lang="zh-TW" altLang="en-US" kern="1200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尋找合作夥伴會是挑戰。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可以分為兩個面向：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504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透過內部資料提升外部服務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  <a:p>
                      <a:pPr marL="504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透過外部資料提升內部服務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75405"/>
                  </a:ext>
                </a:extLst>
              </a:tr>
              <a:tr h="709122">
                <a:tc>
                  <a:txBody>
                    <a:bodyPr/>
                    <a:lstStyle/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台灣大車隊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: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 入隊獎勵金，每周累積趟數額外提供獎金</a:t>
                      </a:r>
                      <a:endParaRPr lang="en-US" altLang="zh-TW" sz="1100" b="0" i="0" u="none" strike="noStrike" kern="1200" cap="none">
                        <a:solidFill>
                          <a:prstClr val="black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en-US" altLang="zh-TW" sz="1100" b="0" i="0" u="none" strike="noStrike" kern="1200" cap="none" err="1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yoxi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: 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前 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500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 名入車隊終身免年費</a:t>
                      </a:r>
                      <a:endParaRPr lang="en-US" altLang="zh-TW" sz="1100" b="0" i="0" u="none" strike="noStrike" kern="1200" cap="none">
                        <a:solidFill>
                          <a:prstClr val="black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Uber: 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車行推薦司機獲取傭金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marR="0" lvl="1" indent="-177800" algn="just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endParaRPr lang="zh-TW" altLang="en-US" sz="1100" b="0" i="0" u="none" strike="noStrike" kern="1200" cap="none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428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第二戰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比誰更能留住人，「數據分析、解讀能力定勝負！」</a:t>
                      </a:r>
                      <a:endParaRPr lang="en-US" altLang="zh-TW" sz="1200" b="0" i="0" u="none" strike="noStrike" cap="none">
                        <a:solidFill>
                          <a:srgbClr val="71717A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活客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留客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68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TW" altLang="en-US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238464"/>
                  </a:ext>
                </a:extLst>
              </a:tr>
              <a:tr h="477294">
                <a:tc>
                  <a:txBody>
                    <a:bodyPr/>
                    <a:lstStyle/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比如一名司機離乘客只有一百公尺，但這名司機正在橋上，而乘客在他後方</a:t>
                      </a:r>
                      <a:endParaRPr lang="en-US" altLang="zh-TW" sz="1100" b="0" i="0" u="none" strike="noStrike" kern="1200" cap="none">
                        <a:solidFill>
                          <a:prstClr val="black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根據每輛車每秒回傳的 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GPS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 數據，算出每輛車行進的方向，並納入派遺的依據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lvl="1" indent="-177800" algn="just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endParaRPr lang="zh-TW" altLang="en-US"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589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第三戰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如何讓數據變現，它的廣告商機「是數位時代的金杯」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流量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變現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68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zh-TW" altLang="en-US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1402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根據乘客喜好，於計程車後座螢幕投放客製化廣告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marR="0" lvl="1" indent="-1778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endParaRPr lang="zh-TW" altLang="en-US" sz="1100" b="0" i="0" u="none" strike="noStrike" kern="1200" cap="none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140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第四戰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打造生態系、維持利潤，「不買車時代」得串聯高低頻產品 </a:t>
                      </a:r>
                      <a:endParaRPr lang="zh-TW" altLang="en-US" sz="1200" b="0" i="0" u="none" strike="noStrike" cap="none" noProof="0">
                        <a:solidFill>
                          <a:srgbClr val="71717A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b="0" i="0" u="none" strike="noStrike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生態圈</a:t>
                      </a:r>
                      <a:endParaRPr lang="en-US" altLang="zh-TW" sz="1400" b="0" i="0" u="none" strike="noStrike" cap="none" noProof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400" b="0" i="0" u="none" strike="noStrike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經營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68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zh-TW" sz="1400" b="0" i="0" u="none" strike="noStrike" cap="none" noProof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158613"/>
                  </a:ext>
                </a:extLst>
              </a:tr>
              <a:tr h="1131868">
                <a:tc>
                  <a:txBody>
                    <a:bodyPr/>
                    <a:lstStyle/>
                    <a:p>
                      <a:pPr marL="252000" lvl="1" indent="-216000" algn="just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假設一個人每天晚上十點，從不同的高檔餐廳搭計程車回家，演算法就會推測，他是一名常應酬的白領工作者，就能透過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APP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推薦的高檔轎車共享服務，還可以和廣告商合作，推播保肝藥廣告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</a:rPr>
                        <a:t> </a:t>
                      </a:r>
                      <a:endParaRPr lang="zh-TW" altLang="en-US" sz="1100" b="0" i="0" u="none" strike="noStrike" kern="1200" cap="none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2000" lvl="1" indent="-216000" algn="just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一名住在新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</a:rPr>
                        <a:t>竹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的用戶，每天搭計程車往返竹科，偶爾也會搭計程車去機場，代表他可能是一名商務人士，系統會推算，他下次可能何時出國，然後在他出國前，主動推薦機場接送服務</a:t>
                      </a:r>
                      <a:endParaRPr lang="zh-TW" altLang="en-US" sz="1100">
                        <a:latin typeface="微軟正黑體"/>
                        <a:ea typeface="微軟正黑體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lvl="1" indent="-177800" algn="just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endParaRPr lang="zh-TW" altLang="en-US"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0A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4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620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1DECF0-4495-CD5E-CFE3-59CDD4B695F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79387" y="719142"/>
            <a:ext cx="11161711" cy="5401034"/>
          </a:xfrm>
          <a:prstGeom prst="rect">
            <a:avLst/>
          </a:prstGeom>
        </p:spPr>
        <p:txBody>
          <a:bodyPr/>
          <a:lstStyle/>
          <a:p>
            <a:pPr marL="252000" lvl="1" indent="-216000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目標：預測所有客戶成長傾向，讓模型專注於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EF08A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找出有潛力「</a:t>
            </a:r>
            <a:r>
              <a:rPr lang="zh-TW" altLang="en-US" sz="1600" kern="1200">
                <a:solidFill>
                  <a:schemeClr val="tx1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EF08A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成長」客戶名單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highlight>
                <a:srgbClr val="FEF08A"/>
              </a:highlight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252000" marR="0" lvl="1" indent="-216000" algn="l" defTabSz="881542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標準系統字體"/>
              <a:buChar char="○"/>
              <a:tabLst/>
              <a:defRPr/>
            </a:pPr>
            <a:r>
              <a:rPr lang="zh-TW" altLang="en-US" sz="1600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模型資料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：</a:t>
            </a:r>
            <a:endParaRPr lang="en-US" altLang="zh-TW" sz="1600" kern="120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04000" lvl="2" indent="-216000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使用客戶主檔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(x)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，預測客戶投資理財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含保險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 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 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lang="en-US" altLang="zh-TW" kern="1200">
                <a:solidFill>
                  <a:srgbClr val="3B82F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link</a:t>
            </a:r>
            <a:endParaRPr lang="en-US" altLang="zh-TW" kern="120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04000" lvl="2" indent="-216000" defTabSz="881542" eaLnBrk="1" fontAlgn="base" latinLnBrk="0" hangingPunct="1">
              <a:spcBef>
                <a:spcPts val="600"/>
              </a:spcBef>
              <a:buClrTx/>
              <a:buSzTx/>
              <a:buFont typeface="標準系統字體"/>
              <a:buChar char="○"/>
              <a:tabLst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訓練資料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x: 2022.01, y: 2022.03 ~ 2023.02</a:t>
            </a:r>
          </a:p>
          <a:p>
            <a:pPr marL="504000" lvl="2" indent="-216000" defTabSz="881542" eaLnBrk="1" fontAlgn="base" latinLnBrk="0" hangingPunct="1">
              <a:spcBef>
                <a:spcPts val="600"/>
              </a:spcBef>
              <a:buClrTx/>
              <a:buSzTx/>
              <a:buFont typeface="標準系統字體"/>
              <a:buChar char="○"/>
              <a:tabLst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測試資料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x: 2023.02, y: 2023.04 ~ 2024.03</a:t>
            </a:r>
          </a:p>
          <a:p>
            <a:pPr marL="0" lvl="1" indent="-187325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sz="1600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成效比較 (</a:t>
            </a:r>
            <a:r>
              <a:rPr lang="zh-TW" altLang="en-US" sz="1600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全部方法皆相同</a:t>
            </a:r>
            <a:r>
              <a:rPr lang="zh-TW" altLang="en-US" sz="1600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：</a:t>
            </a:r>
            <a:endParaRPr lang="en-US" altLang="zh-TW" sz="1600" kern="120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04000" lvl="2" indent="-216000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 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5,000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10,000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15,000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50,000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100,000</a:t>
            </a:r>
          </a:p>
          <a:p>
            <a:pPr marL="504000" lvl="2" indent="-216000" defTabSz="881542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計算 </a:t>
            </a:r>
            <a:r>
              <a:rPr 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AP</a:t>
            </a: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 總和 </a:t>
            </a:r>
            <a:r>
              <a:rPr 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 之差距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 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∆AP (∑ap2023.04 ~ 2024.03 – ∑ap2022.03 ~ 2023.02)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4F41831-0771-92A3-F62C-382E63A1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配色範例</a:t>
            </a:r>
            <a:r>
              <a:rPr lang="zh-TW" altLang="en-US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 </a:t>
            </a:r>
            <a:r>
              <a:rPr lang="en-US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2</a:t>
            </a:r>
            <a:endParaRPr lang="zh-TW" altLang="en-US"/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6C1215BD-C189-9F2D-831F-BB5DC24B3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187007"/>
              </p:ext>
            </p:extLst>
          </p:nvPr>
        </p:nvGraphicFramePr>
        <p:xfrm>
          <a:off x="179388" y="3240088"/>
          <a:ext cx="11163521" cy="2880360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2048193">
                  <a:extLst>
                    <a:ext uri="{9D8B030D-6E8A-4147-A177-3AD203B41FA5}">
                      <a16:colId xmlns:a16="http://schemas.microsoft.com/office/drawing/2014/main" val="1485252582"/>
                    </a:ext>
                  </a:extLst>
                </a:gridCol>
                <a:gridCol w="7464524">
                  <a:extLst>
                    <a:ext uri="{9D8B030D-6E8A-4147-A177-3AD203B41FA5}">
                      <a16:colId xmlns:a16="http://schemas.microsoft.com/office/drawing/2014/main" val="1127041606"/>
                    </a:ext>
                  </a:extLst>
                </a:gridCol>
                <a:gridCol w="1650804">
                  <a:extLst>
                    <a:ext uri="{9D8B030D-6E8A-4147-A177-3AD203B41FA5}">
                      <a16:colId xmlns:a16="http://schemas.microsoft.com/office/drawing/2014/main" val="1663082361"/>
                    </a:ext>
                  </a:extLst>
                </a:gridCol>
              </a:tblGrid>
              <a:tr h="29156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6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ctr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None/>
                        <a:defRPr/>
                      </a:pPr>
                      <a:r>
                        <a:rPr lang="zh-TW" altLang="en-US" sz="1400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6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ctr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None/>
                        <a:defRPr/>
                      </a:pPr>
                      <a:r>
                        <a:rPr lang="en-US" altLang="zh-TW" sz="1400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Top K </a:t>
                      </a:r>
                      <a:r>
                        <a:rPr lang="zh-TW" altLang="en-US" sz="1400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選擇方式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011424"/>
                  </a:ext>
                </a:extLst>
              </a:tr>
              <a:tr h="1122523">
                <a:tc>
                  <a:txBody>
                    <a:bodyPr/>
                    <a:lstStyle/>
                    <a:p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方法 </a:t>
                      </a:r>
                      <a:r>
                        <a:rPr lang="zh-TW" altLang="en-US" sz="1400">
                          <a:solidFill>
                            <a:srgbClr val="8B5CF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➊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  <a:p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成長分眾模型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學習目標：最大化「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提升總和」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N (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客戶數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) × A (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單一客戶 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AP 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提升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) × P (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預測精準度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基本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門檻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1,500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2,500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4,500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8,500…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低於門檻採絕對成長；高於採相對成長</a:t>
                      </a:r>
                    </a:p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絕對成長：表示 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AP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 提升金額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各門檻金額不同</a:t>
                      </a:r>
                    </a:p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相對成長：表示 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AP 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提升比例，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5%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、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10%…</a:t>
                      </a:r>
                      <a:endParaRPr lang="zh-TW" altLang="en-US" sz="1400" kern="1200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None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取 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pr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 值最大之前 </a:t>
                      </a:r>
                      <a:r>
                        <a:rPr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k</a:t>
                      </a:r>
                      <a:r>
                        <a:rPr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 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名客戶</a:t>
                      </a:r>
                      <a:endParaRPr lang="zh-TW" altLang="en-US" sz="1400" kern="1200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9107"/>
                  </a:ext>
                </a:extLst>
              </a:tr>
              <a:tr h="845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方法 </a:t>
                      </a:r>
                      <a:r>
                        <a:rPr lang="zh-TW" altLang="en-US" sz="1400" b="0" i="0" u="none" strike="noStrike" cap="none">
                          <a:solidFill>
                            <a:srgbClr val="8B5CF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➋</a:t>
                      </a:r>
                      <a:endParaRPr lang="en-US" altLang="zh-TW" sz="1400" b="0" i="0" u="none" strike="noStrike" cap="none">
                        <a:solidFill>
                          <a:srgbClr val="8B5CF6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預測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值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2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學習目標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：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最小化單一客戶 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AP 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預測值及實際值的誤差 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準確預測客戶未來 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AP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 數值</a:t>
                      </a:r>
                      <a:endParaRPr kumimoji="0" lang="en-US" altLang="zh-TW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Wingdings" panose="05000000000000000000" pitchFamily="2" charset="2"/>
                      </a:endParaRPr>
                    </a:p>
                    <a:p>
                      <a:pPr marL="504000" lvl="2" indent="-216000" eaLnBrk="1" fontAlgn="base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Tx/>
                        <a:buFont typeface="標準系統字體,Sans-Serif"/>
                        <a:buChar char="○"/>
                      </a:pPr>
                      <a:r>
                        <a:rPr 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訓練資料</a:t>
                      </a: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 x: 2022.01, y: 2022.03 ~ 2023.02 </a:t>
                      </a:r>
                      <a:r>
                        <a:rPr lang="en-US" sz="1400" b="0" i="0" u="none" strike="noStrike" kern="1200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(∑ap</a:t>
                      </a:r>
                      <a:r>
                        <a:rPr lang="en-US" sz="1400" b="0" i="0" u="none" strike="noStrike" kern="1200" cap="none" baseline="-250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2022.03 ~ 2023.02</a:t>
                      </a:r>
                      <a:r>
                        <a:rPr lang="en-US" sz="1400" b="0" i="0" u="none" strike="noStrike" kern="1200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504000" lvl="2" indent="-216000" defTabSz="881542">
                        <a:spcBef>
                          <a:spcPts val="600"/>
                        </a:spcBef>
                        <a:buClr>
                          <a:srgbClr val="000000"/>
                        </a:buClr>
                        <a:buSzTx/>
                        <a:buFont typeface="標準系統字體,Sans-Serif"/>
                        <a:buChar char="○"/>
                        <a:tabLst/>
                        <a:defRPr/>
                      </a:pPr>
                      <a:r>
                        <a:rPr 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測試資料</a:t>
                      </a: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 x: 2023.02, y: 2023.04 ~ 2024.03 </a:t>
                      </a:r>
                      <a:r>
                        <a:rPr lang="en-US" alt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(∑ap</a:t>
                      </a:r>
                      <a:r>
                        <a:rPr lang="en-US" altLang="zh-TW" sz="1400" b="0" i="0" u="none" strike="noStrike" kern="1200" baseline="-250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2023.04 ~ 2024.03</a:t>
                      </a:r>
                      <a:r>
                        <a:rPr lang="en-US" alt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None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值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最大之前 </a:t>
                      </a:r>
                      <a:r>
                        <a:rPr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k</a:t>
                      </a:r>
                      <a:r>
                        <a:rPr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 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名客戶</a:t>
                      </a:r>
                      <a:endParaRPr kumimoji="0" lang="zh-TW" alt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71075"/>
                  </a:ext>
                </a:extLst>
              </a:tr>
              <a:tr h="4956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方法</a:t>
                      </a:r>
                      <a:r>
                        <a:rPr lang="zh-TW" altLang="en-US" sz="1400" b="0" i="0" u="none" strike="noStrike" cap="none">
                          <a:solidFill>
                            <a:srgbClr val="3B82F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>
                          <a:solidFill>
                            <a:srgbClr val="8B5CF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➌</a:t>
                      </a:r>
                      <a:endParaRPr lang="en-US" altLang="zh-TW" sz="1400" b="0" i="0" u="none" strike="noStrike" cap="none">
                        <a:solidFill>
                          <a:srgbClr val="8B5CF6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前一年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作為預測值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2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簡易方法，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Baseline</a:t>
                      </a:r>
                      <a:endParaRPr kumimoji="0" lang="zh-TW" alt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None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取前一年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值最大之前 k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名客戶</a:t>
                      </a:r>
                      <a:endParaRPr kumimoji="0" lang="zh-TW" alt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C4B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451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007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3bcfb68efc_1_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</a:t>
            </a:r>
            <a:r>
              <a:rPr lang="zh-TW" altLang="en-US">
                <a:solidFill>
                  <a:srgbClr val="212121"/>
                </a:solidFill>
              </a:rPr>
              <a:t> </a:t>
            </a:r>
            <a:r>
              <a:rPr lang="en-US" altLang="zh-TW">
                <a:solidFill>
                  <a:srgbClr val="212121"/>
                </a:solidFill>
              </a:rPr>
              <a:t>3</a:t>
            </a:r>
            <a:endParaRPr/>
          </a:p>
        </p:txBody>
      </p:sp>
      <p:sp>
        <p:nvSpPr>
          <p:cNvPr id="272" name="Google Shape;272;g23bcfb68efc_1_45"/>
          <p:cNvSpPr txBox="1"/>
          <p:nvPr/>
        </p:nvSpPr>
        <p:spPr>
          <a:xfrm>
            <a:off x="179387" y="719138"/>
            <a:ext cx="11161711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1998" marR="0" lvl="0" indent="-2160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使用「滴管」工具選取顏色，或輸入＃開頭之國際色碼</a:t>
            </a:r>
            <a:endParaRPr sz="16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73" name="Google Shape;273;g23bcfb68efc_1_45"/>
          <p:cNvGraphicFramePr/>
          <p:nvPr>
            <p:extLst>
              <p:ext uri="{D42A27DB-BD31-4B8C-83A1-F6EECF244321}">
                <p14:modId xmlns:p14="http://schemas.microsoft.com/office/powerpoint/2010/main" val="3332645958"/>
              </p:ext>
            </p:extLst>
          </p:nvPr>
        </p:nvGraphicFramePr>
        <p:xfrm>
          <a:off x="180182" y="1045933"/>
          <a:ext cx="11160920" cy="5089107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139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3295819365"/>
                    </a:ext>
                  </a:extLst>
                </a:gridCol>
                <a:gridCol w="13951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 algn="ctr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085971"/>
                  </a:ext>
                </a:extLst>
              </a:tr>
              <a:tr h="57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編號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文字、深色底</a:t>
                      </a: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淺色底、螢光筆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lang="en-US" altLang="zh-TW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邊框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</a:p>
                  </a:txBody>
                  <a:tcPr marL="91425" marR="91425" marT="9000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000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26">
                <a:tc row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顏色一</a:t>
                      </a:r>
                      <a:r>
                        <a:rPr lang="en-US" altLang="zh-TW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(blue)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#3b82f6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bfdbfe</a:t>
                      </a:r>
                      <a:endParaRPr lang="en-US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93c5fd</a:t>
                      </a:r>
                      <a:endParaRPr lang="en-US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#60a5fa</a:t>
                      </a:r>
                      <a:endParaRPr lang="zh-TW" altLang="en-US" sz="120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#2563eb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#1d4ed8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72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顏色二</a:t>
                      </a:r>
                      <a:r>
                        <a:rPr lang="en-US" altLang="zh-TW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(orange)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D7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#f97316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#fed7aa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#fdba74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#fb923c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#ea580c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</a:rPr>
                        <a:t>c2410c</a:t>
                      </a:r>
                      <a:endParaRPr lang="en-US" altLang="zh-TW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49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顏色三</a:t>
                      </a:r>
                      <a:r>
                        <a:rPr lang="en-US" altLang="zh-TW" sz="1400" b="0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(pink)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A8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277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E18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#ec4899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#fbcfe8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#f9a8d4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#f472b6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#db2777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#be185d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顏色四(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teal</a:t>
                      </a: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#14b8a6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#99f6e4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#5eead4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#2dd4bf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#0d9488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#0f766e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B2B2B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18000" marB="180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功能顏色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無彩色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(zinc)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171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1A1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#71717a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#e4e4e7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#d4d4d8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#a1a1aa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#52525b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#3f3f46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(rose)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CD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#f43f5e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lang="en" altLang="zh-TW" sz="1200">
                          <a:latin typeface="Consolas" panose="020B0609020204030204" pitchFamily="49" charset="0"/>
                          <a:ea typeface="Microsoft JhengHei" panose="020B0604030504040204" pitchFamily="34" charset="-120"/>
                          <a:cs typeface="Consolas" panose="020B0609020204030204" pitchFamily="49" charset="0"/>
                        </a:rPr>
                        <a:t>fecdd3</a:t>
                      </a:r>
                      <a:endParaRPr lang="en-US" altLang="zh-TW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(yellow)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#eab308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#fef08a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綠</a:t>
                      </a:r>
                      <a:r>
                        <a:rPr lang="en-US" alt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(emerald)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2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#10b981</a:t>
                      </a: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#a7f3d0</a:t>
                      </a: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0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33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6107f9f4fa_0_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>
                <a:solidFill>
                  <a:srgbClr val="212121"/>
                </a:solidFill>
              </a:rPr>
              <a:t>配色</a:t>
            </a:r>
            <a:r>
              <a:rPr lang="en-US" altLang="zh-TW">
                <a:solidFill>
                  <a:srgbClr val="212121"/>
                </a:solidFill>
              </a:rPr>
              <a:t> 3 </a:t>
            </a:r>
            <a:r>
              <a:rPr lang="zh-TW">
                <a:solidFill>
                  <a:srgbClr val="212121"/>
                </a:solidFill>
              </a:rPr>
              <a:t>說明</a:t>
            </a:r>
            <a:endParaRPr/>
          </a:p>
        </p:txBody>
      </p:sp>
      <p:graphicFrame>
        <p:nvGraphicFramePr>
          <p:cNvPr id="280" name="Google Shape;280;g26107f9f4fa_0_30"/>
          <p:cNvGraphicFramePr/>
          <p:nvPr>
            <p:extLst>
              <p:ext uri="{D42A27DB-BD31-4B8C-83A1-F6EECF244321}">
                <p14:modId xmlns:p14="http://schemas.microsoft.com/office/powerpoint/2010/main" val="327233557"/>
              </p:ext>
            </p:extLst>
          </p:nvPr>
        </p:nvGraphicFramePr>
        <p:xfrm>
          <a:off x="5867999" y="724100"/>
          <a:ext cx="5472111" cy="2682120"/>
        </p:xfrm>
        <a:graphic>
          <a:graphicData uri="http://schemas.openxmlformats.org/drawingml/2006/table">
            <a:tbl>
              <a:tblPr>
                <a:noFill/>
                <a:tableStyleId>{C7E2D07F-EAD9-47BB-8D15-AB9D181D91B3}</a:tableStyleId>
              </a:tblPr>
              <a:tblGrid>
                <a:gridCol w="2724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#B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FDBFE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3B82F6</a:t>
                      </a:r>
                      <a:endParaRPr sz="16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FED7AA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D7A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F97316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FBCFE8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EC4899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4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淺色底文字 #000000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淺色底 #</a:t>
                      </a:r>
                      <a:r>
                        <a:rPr lang="en-US" altLang="zh-TW" sz="16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99F6E4</a:t>
                      </a:r>
                      <a:endParaRPr sz="16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深色底文字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FFFFFF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深色底 #</a:t>
                      </a:r>
                      <a:r>
                        <a:rPr lang="en-US" altLang="zh-TW" sz="16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14B8A6</a:t>
                      </a:r>
                      <a:endParaRPr sz="16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B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1" name="Google Shape;281;g26107f9f4fa_0_30"/>
          <p:cNvPicPr preferRelativeResize="0"/>
          <p:nvPr/>
        </p:nvPicPr>
        <p:blipFill rotWithShape="1">
          <a:blip r:embed="rId3">
            <a:alphaModFix/>
          </a:blip>
          <a:srcRect l="50661" t="-11141" b="-11153"/>
          <a:stretch/>
        </p:blipFill>
        <p:spPr>
          <a:xfrm>
            <a:off x="5868988" y="3519919"/>
            <a:ext cx="3382521" cy="2599894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2" name="Google Shape;282;g26107f9f4fa_0_30"/>
          <p:cNvSpPr/>
          <p:nvPr/>
        </p:nvSpPr>
        <p:spPr>
          <a:xfrm>
            <a:off x="11088110" y="753388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2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➊</a:t>
            </a:r>
            <a:endParaRPr sz="12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3" name="Google Shape;283;g26107f9f4fa_0_30"/>
          <p:cNvSpPr/>
          <p:nvPr/>
        </p:nvSpPr>
        <p:spPr>
          <a:xfrm>
            <a:off x="5869001" y="3519919"/>
            <a:ext cx="25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altLang="en-US" sz="12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Microsoft JhengHei"/>
              </a:rPr>
              <a:t>➋</a:t>
            </a:r>
            <a:endParaRPr sz="1200">
              <a:solidFill>
                <a:srgbClr val="3B82F6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Microsoft JhengHei"/>
            </a:endParaRPr>
          </a:p>
        </p:txBody>
      </p:sp>
      <p:sp>
        <p:nvSpPr>
          <p:cNvPr id="8" name="Google Shape;279;g26107f9f4fa_0_30">
            <a:extLst>
              <a:ext uri="{FF2B5EF4-FFF2-40B4-BE49-F238E27FC236}">
                <a16:creationId xmlns:a16="http://schemas.microsoft.com/office/drawing/2014/main" id="{07925DAC-EC49-174F-9A30-A20FC8AF259F}"/>
              </a:ext>
            </a:extLst>
          </p:cNvPr>
          <p:cNvSpPr txBox="1">
            <a:spLocks/>
          </p:cNvSpPr>
          <p:nvPr/>
        </p:nvSpPr>
        <p:spPr>
          <a:xfrm>
            <a:off x="179388" y="719138"/>
            <a:ext cx="5472112" cy="2997449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150" tIns="44050" rIns="88150" bIns="4405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2000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單頁有彩色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非灰階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≤ 3 </a:t>
            </a: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種</a:t>
            </a:r>
          </a:p>
          <a:p>
            <a:pPr marL="252000" indent="-216000">
              <a:spcBef>
                <a:spcPts val="600"/>
              </a:spcBef>
              <a:buClr>
                <a:srgbClr val="49A4FF"/>
              </a:buClr>
              <a:buSzPts val="1800"/>
              <a:buFont typeface="Arial"/>
              <a:buChar char="○"/>
            </a:pPr>
            <a:r>
              <a:rPr lang="zh-TW" altLang="en-US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超連結</a:t>
            </a:r>
            <a:r>
              <a:rPr lang="en-US" altLang="zh-TW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藍</a:t>
            </a:r>
            <a:r>
              <a:rPr lang="en-US" altLang="zh-TW" sz="16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#3B82F6</a:t>
            </a:r>
            <a:endParaRPr lang="en" sz="1600">
              <a:solidFill>
                <a:srgbClr val="3B82F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indent="-216000">
              <a:spcBef>
                <a:spcPts val="600"/>
              </a:spcBef>
              <a:buClr>
                <a:srgbClr val="FF006E"/>
              </a:buClr>
              <a:buSzPts val="1800"/>
              <a:buFont typeface="Arial"/>
              <a:buChar char="○"/>
            </a:pPr>
            <a:r>
              <a:rPr lang="zh-TW" altLang="en-US" sz="1600">
                <a:solidFill>
                  <a:srgbClr val="EC489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強調文字</a:t>
            </a:r>
            <a:r>
              <a:rPr lang="en-US" altLang="zh-TW" sz="1600">
                <a:solidFill>
                  <a:srgbClr val="EC489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rgbClr val="EC489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</a:t>
            </a:r>
            <a:r>
              <a:rPr lang="en-US" altLang="zh-TW" sz="1600">
                <a:solidFill>
                  <a:srgbClr val="EC489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#EC4899</a:t>
            </a:r>
            <a:endParaRPr lang="en" sz="1600">
              <a:solidFill>
                <a:srgbClr val="EC4899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52000" indent="-216000">
              <a:spcBef>
                <a:spcPts val="600"/>
              </a:spcBef>
              <a:buSzPts val="1600"/>
              <a:buFont typeface="Arial"/>
              <a:buChar char="○"/>
            </a:pPr>
            <a:r>
              <a:rPr lang="zh-TW" altLang="en-US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螢光筆</a:t>
            </a:r>
            <a:r>
              <a:rPr lang="en-US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</a:t>
            </a:r>
            <a:r>
              <a:rPr lang="en-US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#</a:t>
            </a:r>
            <a:r>
              <a:rPr lang="en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FE</a:t>
            </a:r>
            <a:r>
              <a:rPr lang="en-US" altLang="zh-TW" sz="1600">
                <a:solidFill>
                  <a:schemeClr val="tx1"/>
                </a:solidFill>
                <a:highlight>
                  <a:srgbClr val="FEF08A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F08A</a:t>
            </a:r>
          </a:p>
          <a:p>
            <a:pPr marL="252000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色塊 </a:t>
            </a:r>
            <a:r>
              <a:rPr lang="zh-TW" altLang="en-US" sz="12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➊</a:t>
            </a:r>
            <a:endParaRPr lang="zh-TW" altLang="en-US" sz="1100">
              <a:solidFill>
                <a:srgbClr val="3B82F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504000" lvl="1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大面積以淺色底為主</a:t>
            </a:r>
          </a:p>
          <a:p>
            <a:pPr marL="504000" lvl="1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單頁深色區域 ≤</a:t>
            </a:r>
            <a:r>
              <a:rPr lang="en-US" altLang="zh-TW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20% </a:t>
            </a:r>
            <a:endParaRPr lang="zh-TW" altLang="en-US" sz="1600"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  <a:sym typeface="Microsoft JhengHei"/>
            </a:endParaRPr>
          </a:p>
          <a:p>
            <a:pPr marL="252000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圖標 </a:t>
            </a:r>
            <a:r>
              <a:rPr lang="zh-TW" altLang="en-US" sz="1200">
                <a:solidFill>
                  <a:srgbClr val="3B82F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➋</a:t>
            </a:r>
          </a:p>
          <a:p>
            <a:pPr marL="504000" lvl="1" indent="-216000">
              <a:spcBef>
                <a:spcPts val="600"/>
              </a:spcBef>
              <a:buSzPts val="1800"/>
              <a:buFont typeface="Arial"/>
              <a:buChar char="○"/>
            </a:pPr>
            <a:r>
              <a:rPr lang="zh-TW" altLang="en-US" sz="1600"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  <a:sym typeface="Microsoft JhengHei"/>
              </a:rPr>
              <a:t>預設位於圖片左上角，除非擋住重要資訊</a:t>
            </a:r>
          </a:p>
        </p:txBody>
      </p:sp>
    </p:spTree>
    <p:extLst>
      <p:ext uri="{BB962C8B-B14F-4D97-AF65-F5344CB8AC3E}">
        <p14:creationId xmlns:p14="http://schemas.microsoft.com/office/powerpoint/2010/main" val="2544379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04CB9F0-19FE-A6AE-4FA4-C2271F91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配色範例</a:t>
            </a:r>
            <a:r>
              <a:rPr lang="zh-TW" altLang="en-US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 </a:t>
            </a:r>
            <a:r>
              <a:rPr lang="en-US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1</a:t>
            </a:r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A7EF03-6B72-4DD0-986B-278EA9791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084619"/>
              </p:ext>
            </p:extLst>
          </p:nvPr>
        </p:nvGraphicFramePr>
        <p:xfrm>
          <a:off x="179388" y="719138"/>
          <a:ext cx="11159172" cy="4968240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5448526">
                  <a:extLst>
                    <a:ext uri="{9D8B030D-6E8A-4147-A177-3AD203B41FA5}">
                      <a16:colId xmlns:a16="http://schemas.microsoft.com/office/drawing/2014/main" val="2781051510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3209406711"/>
                    </a:ext>
                  </a:extLst>
                </a:gridCol>
                <a:gridCol w="4894217">
                  <a:extLst>
                    <a:ext uri="{9D8B030D-6E8A-4147-A177-3AD203B41FA5}">
                      <a16:colId xmlns:a16="http://schemas.microsoft.com/office/drawing/2014/main" val="82766312"/>
                    </a:ext>
                  </a:extLst>
                </a:gridCol>
              </a:tblGrid>
              <a:tr h="3314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重點</a:t>
                      </a:r>
                    </a:p>
                  </a:txBody>
                  <a:tcPr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TW" altLang="en-US" sz="1600" b="0" i="0" u="none" strike="noStrike" cap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u="none" strike="noStrike" cap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觀點</a:t>
                      </a:r>
                      <a:endParaRPr lang="zh-TW" altLang="en-US" sz="1200">
                        <a:highlight>
                          <a:srgbClr val="FFFF00"/>
                        </a:highlight>
                        <a:latin typeface="微軟正黑體"/>
                        <a:ea typeface="微軟正黑體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5563900"/>
                  </a:ext>
                </a:extLst>
              </a:tr>
              <a:tr h="2239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第一戰</a:t>
                      </a:r>
                      <a:endParaRPr lang="en-US" altLang="zh-TW" sz="14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</a:rPr>
                        <a:t>比誰的司機多，九萬小黃運將「被各平台捧在手上」</a:t>
                      </a:r>
                      <a:endParaRPr lang="en-US" altLang="zh-TW" sz="1200">
                        <a:solidFill>
                          <a:srgbClr val="71717A"/>
                        </a:solidFill>
                        <a:latin typeface="微軟正黑體"/>
                        <a:ea typeface="微軟正黑體"/>
                      </a:endParaRPr>
                    </a:p>
                  </a:txBody>
                  <a:tcPr marL="9000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獲客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7AA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195" indent="0" algn="l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None/>
                      </a:pPr>
                      <a:r>
                        <a:rPr lang="zh-TW" altLang="en-US" sz="16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第一戰</a:t>
                      </a:r>
                      <a:endParaRPr lang="en-US" altLang="zh-TW" sz="16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  <a:p>
                      <a:pPr marL="0" marR="0" lvl="1" indent="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None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透過高頻低價商品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例如：信用卡、初期大戶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蒐集足夠且有價值的資料，串聯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拉抬低頻高價商品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例如：財管、房信貸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195" indent="0" algn="l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None/>
                      </a:pPr>
                      <a:r>
                        <a:rPr lang="zh-TW" altLang="en-US" sz="16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第二戰～第四戰</a:t>
                      </a:r>
                      <a:endParaRPr lang="en-US" altLang="zh-TW" sz="16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皆為取得資料後運用的能力，場域不同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但技術可能類似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第二戰：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內部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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內部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，透過內部資料，讓內部既有的服務變得更好、更個人化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第三戰：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流量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 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廣告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Wingdings" pitchFamily="2" charset="2"/>
                        </a:rPr>
                        <a:t>，傳統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金融業內可能沒有賣廣告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賣客戶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賣資料這樣的業務，但延伸業務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例如：豐雲學堂</a:t>
                      </a:r>
                      <a:r>
                        <a:rPr lang="en-US" altLang="zh-TW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是否有機會？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2000" marR="0" lvl="1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第四戰：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內部</a:t>
                      </a:r>
                      <a:r>
                        <a:rPr lang="en-US" altLang="zh-TW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✕ </a:t>
                      </a:r>
                      <a:r>
                        <a:rPr lang="zh-TW" altLang="en-US" sz="1400" b="0" i="0" u="none" strike="noStrike" kern="1200" cap="none">
                          <a:solidFill>
                            <a:srgbClr val="EC4899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外部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，外部同業、異業合作共推業務，</a:t>
                      </a:r>
                      <a:r>
                        <a:rPr lang="zh-TW" altLang="en-US" kern="1200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尋找合作夥伴會是挑戰。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可以分為兩個面向：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504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透過內部資料提升外部服務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  <a:p>
                      <a:pPr marL="504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Microsoft JhengHei"/>
                          <a:ea typeface="Microsoft JhengHei"/>
                          <a:cs typeface="Arial"/>
                          <a:sym typeface="Arial"/>
                        </a:rPr>
                        <a:t>透過外部資料提升內部服務</a:t>
                      </a:r>
                      <a:endParaRPr lang="en-US" altLang="zh-TW" sz="1400" b="0" i="0" u="none" strike="noStrike" kern="1200" cap="none">
                        <a:solidFill>
                          <a:prstClr val="black"/>
                        </a:solidFill>
                        <a:latin typeface="Microsoft JhengHei"/>
                        <a:ea typeface="Microsoft JhengHei"/>
                        <a:cs typeface="Arial"/>
                        <a:sym typeface="Arial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75405"/>
                  </a:ext>
                </a:extLst>
              </a:tr>
              <a:tr h="709122">
                <a:tc>
                  <a:txBody>
                    <a:bodyPr/>
                    <a:lstStyle/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台灣大車隊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: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 入隊獎勵金，每周累積趟數額外提供獎金</a:t>
                      </a:r>
                      <a:endParaRPr lang="en-US" altLang="zh-TW" sz="1100" b="0" i="0" u="none" strike="noStrike" kern="1200" cap="none">
                        <a:solidFill>
                          <a:prstClr val="black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en-US" altLang="zh-TW" sz="1100" b="0" i="0" u="none" strike="noStrike" kern="1200" cap="none" err="1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yoxi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: 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前 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500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 名入車隊終身免年費</a:t>
                      </a:r>
                      <a:endParaRPr lang="en-US" altLang="zh-TW" sz="1100" b="0" i="0" u="none" strike="noStrike" kern="1200" cap="none">
                        <a:solidFill>
                          <a:prstClr val="black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Uber: 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車行推薦司機獲取傭金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marR="0" lvl="1" indent="-177800" algn="just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標準系統字體"/>
                        <a:buChar char="○"/>
                      </a:pPr>
                      <a:endParaRPr lang="zh-TW" altLang="en-US" sz="1100" b="0" i="0" u="none" strike="noStrike" kern="1200" cap="none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428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第二戰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比誰更能留住人，「數據分析、解讀能力定勝負！」</a:t>
                      </a:r>
                      <a:endParaRPr lang="en-US" altLang="zh-TW" sz="1200" b="0" i="0" u="none" strike="noStrike" cap="none">
                        <a:solidFill>
                          <a:srgbClr val="71717A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活客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留客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7A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TW" altLang="en-US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238464"/>
                  </a:ext>
                </a:extLst>
              </a:tr>
              <a:tr h="477294">
                <a:tc>
                  <a:txBody>
                    <a:bodyPr/>
                    <a:lstStyle/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比如一名司機離乘客只有一百公尺，但這名司機正在橋上，而乘客在他後方</a:t>
                      </a:r>
                      <a:endParaRPr lang="en-US" altLang="zh-TW" sz="1100" b="0" i="0" u="none" strike="noStrike" kern="1200" cap="none">
                        <a:solidFill>
                          <a:prstClr val="black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根據每輛車每秒回傳的 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GPS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 數據，算出每輛車行進的方向，並納入派遺的依據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lvl="1" indent="-177800" algn="just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endParaRPr lang="zh-TW" altLang="en-US"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589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第三戰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如何讓數據變現，它的廣告商機「是數位時代的金杯」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流量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algn="ctr"/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變現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7A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zh-TW" altLang="en-US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1402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252000" marR="0" lvl="1" indent="-2160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根據乘客喜好，於計程車後座螢幕投放客製化廣告</a:t>
                      </a: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marR="0" lvl="1" indent="-177800" algn="just" defTabSz="881542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tabLst/>
                        <a:defRPr/>
                      </a:pPr>
                      <a:endParaRPr lang="zh-TW" altLang="en-US" sz="1100" b="0" i="0" u="none" strike="noStrike" kern="1200" cap="none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140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zh-TW" altLang="en-US" sz="1400" b="0" i="0" u="none" strike="noStrike" cap="none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第四戰</a:t>
                      </a:r>
                      <a:endParaRPr lang="en-US" altLang="zh-TW" sz="1400" b="0" i="0" u="none" strike="noStrike" cap="none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打造生態系、維持利潤，「不買車時代」得串聯高低頻產品 </a:t>
                      </a:r>
                      <a:endParaRPr lang="zh-TW" altLang="en-US" sz="1200" b="0" i="0" u="none" strike="noStrike" cap="none" noProof="0">
                        <a:solidFill>
                          <a:srgbClr val="71717A"/>
                        </a:solidFill>
                        <a:latin typeface="微軟正黑體"/>
                        <a:ea typeface="微軟正黑體"/>
                        <a:cs typeface="Arial"/>
                        <a:sym typeface="Arial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400" b="0" i="0" u="none" strike="noStrike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生態圈</a:t>
                      </a:r>
                      <a:endParaRPr lang="en-US" altLang="zh-TW" sz="1400" b="0" i="0" u="none" strike="noStrike" cap="none" noProof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400" b="0" i="0" u="none" strike="noStrike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經營</a:t>
                      </a:r>
                      <a:endParaRPr lang="zh-TW" altLang="en-US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7A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endParaRPr lang="zh-TW" sz="1400" b="0" i="0" u="none" strike="noStrike" cap="none" noProof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158613"/>
                  </a:ext>
                </a:extLst>
              </a:tr>
              <a:tr h="1131868">
                <a:tc>
                  <a:txBody>
                    <a:bodyPr/>
                    <a:lstStyle/>
                    <a:p>
                      <a:pPr marL="252000" lvl="1" indent="-216000" algn="just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假設一個人每天晚上十點，從不同的高檔餐廳搭計程車回家，演算法就會推測，他是一名常應酬的白領工作者，就能透過</a:t>
                      </a:r>
                      <a:r>
                        <a:rPr lang="en-US" altLang="zh-TW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APP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推薦的高檔轎車共享服務，還可以和廣告商合作，推播保肝藥廣告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</a:rPr>
                        <a:t> </a:t>
                      </a:r>
                      <a:endParaRPr lang="zh-TW" altLang="en-US" sz="1100" b="0" i="0" u="none" strike="noStrike" kern="1200" cap="none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pPr marL="252000" lvl="1" indent="-216000" algn="just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一名住在新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</a:rPr>
                        <a:t>竹</a:t>
                      </a:r>
                      <a:r>
                        <a:rPr lang="zh-TW" altLang="en-US" sz="1100" b="0" i="0" u="none" strike="noStrike" kern="1200" cap="none">
                          <a:solidFill>
                            <a:prstClr val="black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的用戶，每天搭計程車往返竹科，偶爾也會搭計程車去機場，代表他可能是一名商務人士，系統會推算，他下次可能何時出國，然後在他出國前，主動推薦機場接送服務</a:t>
                      </a:r>
                      <a:endParaRPr lang="zh-TW" altLang="en-US" sz="1100">
                        <a:latin typeface="微軟正黑體"/>
                        <a:ea typeface="微軟正黑體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66700" lvl="1" indent="-177800" algn="just" defTabSz="881542" fontAlgn="base">
                        <a:spcBef>
                          <a:spcPts val="600"/>
                        </a:spcBef>
                        <a:buClrTx/>
                        <a:buFont typeface="標準系統字體"/>
                        <a:buChar char="○"/>
                      </a:pPr>
                      <a:endParaRPr lang="zh-TW" altLang="en-US" sz="11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0A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4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43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1DECF0-4495-CD5E-CFE3-59CDD4B695F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79387" y="719142"/>
            <a:ext cx="11161711" cy="5401034"/>
          </a:xfrm>
          <a:prstGeom prst="rect">
            <a:avLst/>
          </a:prstGeom>
        </p:spPr>
        <p:txBody>
          <a:bodyPr/>
          <a:lstStyle/>
          <a:p>
            <a:pPr marL="252000" lvl="1" indent="-216000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目標：預測所有客戶成長傾向，讓模型專注於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EF08A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找出有潛力「</a:t>
            </a:r>
            <a:r>
              <a:rPr lang="zh-TW" altLang="en-US" sz="1600" kern="1200">
                <a:solidFill>
                  <a:schemeClr val="tx1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EF08A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成長」客戶名單</a:t>
            </a:r>
            <a:endParaRPr kumimoji="0" lang="en-US" altLang="zh-TW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highlight>
                <a:srgbClr val="FEF08A"/>
              </a:highlight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252000" marR="0" lvl="1" indent="-216000" algn="l" defTabSz="881542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標準系統字體"/>
              <a:buChar char="○"/>
              <a:tabLst/>
              <a:defRPr/>
            </a:pPr>
            <a:r>
              <a:rPr lang="zh-TW" altLang="en-US" sz="1600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模型資料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：</a:t>
            </a:r>
            <a:endParaRPr lang="en-US" altLang="zh-TW" sz="1600" kern="120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04000" lvl="2" indent="-216000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使用客戶主檔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(x)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，預測客戶投資理財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含保險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 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 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lang="en-US" altLang="zh-TW" kern="1200">
                <a:solidFill>
                  <a:srgbClr val="3B82F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link</a:t>
            </a:r>
          </a:p>
          <a:p>
            <a:pPr marL="504000" lvl="2" indent="-216000" defTabSz="881542" eaLnBrk="1" fontAlgn="base" latinLnBrk="0" hangingPunct="1">
              <a:spcBef>
                <a:spcPts val="600"/>
              </a:spcBef>
              <a:buClrTx/>
              <a:buSzTx/>
              <a:buFont typeface="標準系統字體"/>
              <a:buChar char="○"/>
              <a:tabLst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訓練資料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x: 2022.01, y: 2022.03 ~ 2023.02</a:t>
            </a:r>
          </a:p>
          <a:p>
            <a:pPr marL="504000" lvl="2" indent="-216000" defTabSz="881542" eaLnBrk="1" fontAlgn="base" latinLnBrk="0" hangingPunct="1">
              <a:spcBef>
                <a:spcPts val="600"/>
              </a:spcBef>
              <a:buClrTx/>
              <a:buSzTx/>
              <a:buFont typeface="標準系統字體"/>
              <a:buChar char="○"/>
              <a:tabLst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測試資料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x: 2023.02, y: 2023.04 ~ 2024.03</a:t>
            </a:r>
          </a:p>
          <a:p>
            <a:pPr marL="0" lvl="1" indent="-187325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sz="1600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成效比較 (</a:t>
            </a:r>
            <a:r>
              <a:rPr lang="zh-TW" altLang="en-US" sz="1600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全部方法皆相同</a:t>
            </a:r>
            <a:r>
              <a:rPr lang="zh-TW" altLang="en-US" sz="1600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kumimoji="0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：</a:t>
            </a:r>
            <a:endParaRPr lang="en-US" altLang="zh-TW" sz="1600" kern="120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04000" lvl="2" indent="-216000" defTabSz="881542" fontAlgn="base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 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5,000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10,000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15,000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50,000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 100,000</a:t>
            </a:r>
          </a:p>
          <a:p>
            <a:pPr marL="504000" lvl="2" indent="-216000" defTabSz="881542">
              <a:spcBef>
                <a:spcPts val="600"/>
              </a:spcBef>
              <a:buClrTx/>
              <a:buSzTx/>
              <a:buFont typeface="標準系統字體"/>
              <a:buChar char="○"/>
              <a:defRPr/>
            </a:pP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計算 </a:t>
            </a:r>
            <a:r>
              <a:rPr 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AP</a:t>
            </a: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 總和 </a:t>
            </a:r>
            <a:r>
              <a:rPr 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kern="1200">
                <a:solidFill>
                  <a:prstClr val="black"/>
                </a:solidFill>
                <a:highlight>
                  <a:srgbClr val="FEF08A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 之差距</a:t>
            </a:r>
            <a:r>
              <a:rPr lang="zh-TW" altLang="en-US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 </a:t>
            </a:r>
            <a:r>
              <a:rPr lang="en-US" altLang="zh-TW" kern="12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∆AP (∑ap2023.04 ~ 2024.03 – ∑ap2022.03 ~ 2023.02)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4F41831-0771-92A3-F62C-382E63A1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配色範例</a:t>
            </a:r>
            <a:r>
              <a:rPr lang="zh-TW" altLang="en-US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 </a:t>
            </a:r>
            <a:r>
              <a:rPr lang="en-US" altLang="zh-TW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Roboto"/>
                <a:sym typeface="Roboto"/>
              </a:rPr>
              <a:t>2</a:t>
            </a:r>
            <a:endParaRPr lang="zh-TW" altLang="en-US"/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6C1215BD-C189-9F2D-831F-BB5DC24B3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587459"/>
              </p:ext>
            </p:extLst>
          </p:nvPr>
        </p:nvGraphicFramePr>
        <p:xfrm>
          <a:off x="179388" y="3240088"/>
          <a:ext cx="11163521" cy="2880360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2048193">
                  <a:extLst>
                    <a:ext uri="{9D8B030D-6E8A-4147-A177-3AD203B41FA5}">
                      <a16:colId xmlns:a16="http://schemas.microsoft.com/office/drawing/2014/main" val="1485252582"/>
                    </a:ext>
                  </a:extLst>
                </a:gridCol>
                <a:gridCol w="7464524">
                  <a:extLst>
                    <a:ext uri="{9D8B030D-6E8A-4147-A177-3AD203B41FA5}">
                      <a16:colId xmlns:a16="http://schemas.microsoft.com/office/drawing/2014/main" val="1127041606"/>
                    </a:ext>
                  </a:extLst>
                </a:gridCol>
                <a:gridCol w="1650804">
                  <a:extLst>
                    <a:ext uri="{9D8B030D-6E8A-4147-A177-3AD203B41FA5}">
                      <a16:colId xmlns:a16="http://schemas.microsoft.com/office/drawing/2014/main" val="1663082361"/>
                    </a:ext>
                  </a:extLst>
                </a:gridCol>
              </a:tblGrid>
              <a:tr h="29156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ctr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None/>
                        <a:defRPr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ctr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None/>
                        <a:defRPr/>
                      </a:pP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Top K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選擇方式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011424"/>
                  </a:ext>
                </a:extLst>
              </a:tr>
              <a:tr h="1122523">
                <a:tc>
                  <a:txBody>
                    <a:bodyPr/>
                    <a:lstStyle/>
                    <a:p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方法 </a:t>
                      </a:r>
                      <a:r>
                        <a:rPr lang="zh-TW" altLang="en-US" sz="1400">
                          <a:solidFill>
                            <a:srgbClr val="14B8A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➊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  <a:p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成長分眾模型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學習目標：最大化「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提升總和」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N (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客戶數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) × A (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單一客戶 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AP 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提升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) × P (</a:t>
                      </a:r>
                      <a:r>
                        <a:rPr lang="zh-TW" altLang="en-US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預測精準度</a:t>
                      </a:r>
                      <a:r>
                        <a:rPr lang="en-US" altLang="zh-TW" sz="1000" b="0" i="0" u="none" strike="noStrike" cap="none">
                          <a:solidFill>
                            <a:srgbClr val="71717A"/>
                          </a:solidFill>
                          <a:latin typeface="微軟正黑體"/>
                          <a:ea typeface="微軟正黑體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基本</a:t>
                      </a:r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門檻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1,500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2,500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4,500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8,500…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低於門檻採絕對成長；高於採相對成長</a:t>
                      </a:r>
                    </a:p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絕對成長：表示 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AP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 提升金額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各門檻金額不同</a:t>
                      </a:r>
                    </a:p>
                    <a:p>
                      <a:pPr marL="252000" lvl="2" indent="-216000" defTabSz="881542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相對成長：表示 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AP 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提升比例，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5%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、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10%…</a:t>
                      </a:r>
                      <a:endParaRPr lang="zh-TW" altLang="en-US" sz="1400" kern="1200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fontAlgn="base">
                        <a:spcBef>
                          <a:spcPts val="600"/>
                        </a:spcBef>
                        <a:buClrTx/>
                        <a:buSzTx/>
                        <a:buFont typeface="標準系統字體"/>
                        <a:buNone/>
                      </a:pP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取 </a:t>
                      </a: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pr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 值最大之前 </a:t>
                      </a:r>
                      <a:r>
                        <a:rPr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k</a:t>
                      </a:r>
                      <a:r>
                        <a:rPr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 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名客戶</a:t>
                      </a:r>
                      <a:endParaRPr lang="zh-TW" altLang="en-US" sz="1400" kern="1200">
                        <a:solidFill>
                          <a:prstClr val="black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9107"/>
                  </a:ext>
                </a:extLst>
              </a:tr>
              <a:tr h="845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方法 </a:t>
                      </a:r>
                      <a:r>
                        <a:rPr lang="zh-TW" altLang="en-US" sz="1400">
                          <a:solidFill>
                            <a:srgbClr val="14B8A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➋</a:t>
                      </a:r>
                      <a:endParaRPr lang="en-US" altLang="zh-TW" sz="1400" kern="1200">
                        <a:solidFill>
                          <a:srgbClr val="14B8A6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預測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值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2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學習目標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Arial"/>
                        </a:rPr>
                        <a:t>：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最小化單一客戶 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AP 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預測值及實際值的誤差 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準確預測客戶未來 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AP</a:t>
                      </a: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Wingdings" panose="05000000000000000000" pitchFamily="2" charset="2"/>
                        </a:rPr>
                        <a:t> 數值</a:t>
                      </a:r>
                      <a:endParaRPr kumimoji="0" lang="en-US" altLang="zh-TW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Wingdings" panose="05000000000000000000" pitchFamily="2" charset="2"/>
                      </a:endParaRPr>
                    </a:p>
                    <a:p>
                      <a:pPr marL="504000" lvl="2" indent="-216000" eaLnBrk="1" fontAlgn="base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Tx/>
                        <a:buFont typeface="標準系統字體,Sans-Serif"/>
                        <a:buChar char="○"/>
                      </a:pPr>
                      <a:r>
                        <a:rPr 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訓練資料</a:t>
                      </a: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 x: 2022.01, y: 2022.03 ~ 2023.02 </a:t>
                      </a:r>
                      <a:r>
                        <a:rPr lang="en-US" sz="1400" b="0" i="0" u="none" strike="noStrike" kern="1200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(∑ap</a:t>
                      </a:r>
                      <a:r>
                        <a:rPr lang="en-US" sz="1400" b="0" i="0" u="none" strike="noStrike" kern="1200" cap="none" baseline="-250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2022.03 ~ 2023.02</a:t>
                      </a:r>
                      <a:r>
                        <a:rPr lang="en-US" sz="1400" b="0" i="0" u="none" strike="noStrike" kern="1200" cap="none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504000" lvl="2" indent="-216000" defTabSz="881542">
                        <a:spcBef>
                          <a:spcPts val="600"/>
                        </a:spcBef>
                        <a:buClr>
                          <a:srgbClr val="000000"/>
                        </a:buClr>
                        <a:buSzTx/>
                        <a:buFont typeface="標準系統字體,Sans-Serif"/>
                        <a:buChar char="○"/>
                        <a:tabLst/>
                        <a:defRPr/>
                      </a:pPr>
                      <a:r>
                        <a:rPr 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測試資料</a:t>
                      </a: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 x: 2023.02, y: 2023.04 ~ 2024.03 </a:t>
                      </a:r>
                      <a:r>
                        <a:rPr lang="en-US" alt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(∑ap</a:t>
                      </a:r>
                      <a:r>
                        <a:rPr lang="en-US" altLang="zh-TW" sz="1400" b="0" i="0" u="none" strike="noStrike" kern="1200" baseline="-250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2023.04 ~ 2024.03</a:t>
                      </a:r>
                      <a:r>
                        <a:rPr lang="en-US" altLang="zh-TW" sz="1400" b="0" i="0" u="none" strike="noStrike" kern="1200" noProof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None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值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最大之前 </a:t>
                      </a:r>
                      <a:r>
                        <a:rPr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k</a:t>
                      </a:r>
                      <a:r>
                        <a:rPr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</a:rPr>
                        <a:t> </a:t>
                      </a:r>
                      <a:r>
                        <a:rPr kumimoji="0" lang="zh-TW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名客戶</a:t>
                      </a:r>
                      <a:endParaRPr kumimoji="0" lang="zh-TW" alt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71075"/>
                  </a:ext>
                </a:extLst>
              </a:tr>
              <a:tr h="495659">
                <a:tc>
                  <a:txBody>
                    <a:bodyPr/>
                    <a:lstStyle/>
                    <a:p>
                      <a:r>
                        <a:rPr lang="zh-TW" altLang="en-US" sz="1400" b="0" i="0" u="none" strike="noStrike" kern="1200" cap="none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方法</a:t>
                      </a:r>
                      <a:r>
                        <a:rPr lang="zh-TW" altLang="en-US" sz="1400" b="0" i="0" u="none" strike="noStrike" cap="none">
                          <a:solidFill>
                            <a:srgbClr val="3B82F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>
                          <a:solidFill>
                            <a:srgbClr val="14B8A6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➌</a:t>
                      </a:r>
                      <a:endParaRPr lang="en-US" altLang="zh-TW" sz="1400" b="0" i="0" u="none" strike="noStrike" cap="none">
                        <a:solidFill>
                          <a:srgbClr val="14B8A6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  <a:p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前一年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作為預測值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2000" marR="0" lvl="2" indent="-216000" algn="l" defTabSz="881542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Char char="○"/>
                        <a:defRPr/>
                      </a:pPr>
                      <a:r>
                        <a:rPr kumimoji="0" lang="zh-TW" alt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簡易方法，</a:t>
                      </a:r>
                      <a:r>
                        <a:rPr kumimoji="0" lang="en-US" altLang="zh-TW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/>
                          <a:sym typeface="Arial"/>
                        </a:rPr>
                        <a:t>Baseline</a:t>
                      </a:r>
                      <a:endParaRPr kumimoji="0" lang="zh-TW" alt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 fontAlgn="base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標準系統字體"/>
                        <a:buNone/>
                      </a:pP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取前一年 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 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值最大之前 k</a:t>
                      </a:r>
                      <a:r>
                        <a:rPr lang="en-US" altLang="zh-TW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r>
                        <a:rPr lang="zh-TW" altLang="en-US" sz="1400" kern="1200">
                          <a:solidFill>
                            <a:prstClr val="black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名客戶</a:t>
                      </a:r>
                      <a:endParaRPr kumimoji="0" lang="zh-TW" alt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5EE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451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71982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3946E7-66F8-4182-AA38-CFC406C59F4E}"/>
</file>

<file path=customXml/itemProps2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7911</Words>
  <Application>Microsoft Office PowerPoint</Application>
  <PresentationFormat>自訂</PresentationFormat>
  <Paragraphs>1522</Paragraphs>
  <Slides>38</Slides>
  <Notes>34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9" baseType="lpstr">
      <vt:lpstr>Microsoft JhengHei Light</vt:lpstr>
      <vt:lpstr>Microsoft JhengHei</vt:lpstr>
      <vt:lpstr>Microsoft JhengHei</vt:lpstr>
      <vt:lpstr>標準系統字體</vt:lpstr>
      <vt:lpstr>標準系統字體,Sans-Serif</vt:lpstr>
      <vt:lpstr>Arial</vt:lpstr>
      <vt:lpstr>Century Gothic</vt:lpstr>
      <vt:lpstr>Consolas</vt:lpstr>
      <vt:lpstr>Roboto</vt:lpstr>
      <vt:lpstr>Times New Roman</vt:lpstr>
      <vt:lpstr>數科處範本</vt:lpstr>
      <vt:lpstr>封面標題(36 pt)</vt:lpstr>
      <vt:lpstr>使用方式</vt:lpstr>
      <vt:lpstr>文字</vt:lpstr>
      <vt:lpstr>文字設定說明</vt:lpstr>
      <vt:lpstr>表格設定說明</vt:lpstr>
      <vt:lpstr>內文 18 back</vt:lpstr>
      <vt:lpstr>內文 16 back</vt:lpstr>
      <vt:lpstr>內文 14 back</vt:lpstr>
      <vt:lpstr>[主標 32]永豐 AI 關鍵佈局 [副標 20]樂學好開心</vt:lpstr>
      <vt:lpstr>配色</vt:lpstr>
      <vt:lpstr>配色表 tailwind</vt:lpstr>
      <vt:lpstr>配色 1 非 tailwind</vt:lpstr>
      <vt:lpstr>配色 2 blue-yellow-violet-rose-500-200</vt:lpstr>
      <vt:lpstr>配色 3 blue-orange-pink-teal-500-200</vt:lpstr>
      <vt:lpstr>輔助線</vt:lpstr>
      <vt:lpstr>輔助線</vt:lpstr>
      <vt:lpstr>輔助線範例 2 欄</vt:lpstr>
      <vt:lpstr>輔助線範例 3 欄</vt:lpstr>
      <vt:lpstr>輔助線範例 1</vt:lpstr>
      <vt:lpstr>輔助線範例 1</vt:lpstr>
      <vt:lpstr>輔助線範例 2</vt:lpstr>
      <vt:lpstr>輔助線範例 2</vt:lpstr>
      <vt:lpstr>輔助線範例 3</vt:lpstr>
      <vt:lpstr>輔助線範例 3</vt:lpstr>
      <vt:lpstr>附錄</vt:lpstr>
      <vt:lpstr>配色 1</vt:lpstr>
      <vt:lpstr>配色 1 說明</vt:lpstr>
      <vt:lpstr>配色範例 1</vt:lpstr>
      <vt:lpstr>配色範例 2</vt:lpstr>
      <vt:lpstr>配色範例 3</vt:lpstr>
      <vt:lpstr>配色 2</vt:lpstr>
      <vt:lpstr>配色 2 說明</vt:lpstr>
      <vt:lpstr>配色範例 1</vt:lpstr>
      <vt:lpstr>配色範例 2</vt:lpstr>
      <vt:lpstr>配色 3</vt:lpstr>
      <vt:lpstr>配色 3 說明</vt:lpstr>
      <vt:lpstr>配色範例 1</vt:lpstr>
      <vt:lpstr>配色範例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傅安-數位金融處-永豐銀行</cp:lastModifiedBy>
  <cp:revision>1</cp:revision>
  <dcterms:modified xsi:type="dcterms:W3CDTF">2025-10-31T09:22:23Z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