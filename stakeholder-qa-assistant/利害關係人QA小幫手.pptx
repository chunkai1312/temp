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2cf1c81b32402e" /><Relationship Type="http://schemas.openxmlformats.org/officeDocument/2006/relationships/extended-properties" Target="/docProps/app.xml" Id="R3024e9381343407a" /><Relationship Type="http://schemas.openxmlformats.org/officeDocument/2006/relationships/officeDocument" Target="/ppt/presentation.xml" Id="Raab4927331bf4c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ce1c7ccf3a4844"/>
  </p:sldMasterIdLst>
  <p:notesMasterIdLst>
    <p:notesMasterId xmlns:r="http://schemas.openxmlformats.org/officeDocument/2006/relationships" r:id="Rca2e262ed9ae4208"/>
  </p:notesMasterIdLst>
  <p:sldIdLst>
    <p:sldId xmlns:r="http://schemas.openxmlformats.org/officeDocument/2006/relationships" id="256" r:id="R3106847af10c41b8"/>
    <p:sldId xmlns:r="http://schemas.openxmlformats.org/officeDocument/2006/relationships" id="257" r:id="Reb6271cf11d84ac6"/>
    <p:sldId xmlns:r="http://schemas.openxmlformats.org/officeDocument/2006/relationships" id="258" r:id="R01ebb43924124fd7"/>
    <p:sldId xmlns:r="http://schemas.openxmlformats.org/officeDocument/2006/relationships" id="259" r:id="R79ff829702b74914"/>
    <p:sldId xmlns:r="http://schemas.openxmlformats.org/officeDocument/2006/relationships" id="260" r:id="R63cd098def8b430b"/>
    <p:sldId xmlns:r="http://schemas.openxmlformats.org/officeDocument/2006/relationships" id="261" r:id="Ra9c210ec3b6f4939"/>
    <p:sldId xmlns:r="http://schemas.openxmlformats.org/officeDocument/2006/relationships" id="262" r:id="Rc7d6719aa9074195"/>
    <p:sldId xmlns:r="http://schemas.openxmlformats.org/officeDocument/2006/relationships" id="263" r:id="R863889e9de6743de"/>
    <p:sldId xmlns:r="http://schemas.openxmlformats.org/officeDocument/2006/relationships" id="264" r:id="Rdc70e05f827e4223"/>
    <p:sldId xmlns:r="http://schemas.openxmlformats.org/officeDocument/2006/relationships" id="265" r:id="Rd9db1575bc874dd6"/>
    <p:sldId xmlns:r="http://schemas.openxmlformats.org/officeDocument/2006/relationships" id="266" r:id="R66eda84463674a53"/>
  </p:sldIdLst>
  <p:sldSz cx="11520488" cy="6480175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authors.xml><?xml version="1.0" encoding="utf-8"?>
<p188:authorLst xmlns:p188="http://schemas.microsoft.com/office/powerpoint/2018/8/main">
  <p188:author id="{210BB80E-A4FD-B3AE-4392-5E68415B0732}" name="黃泳晞-數位金融處-永豐銀行" initials="黃泳晞-數位金融處-永豐銀行" userId="S::kelseahuang@sinopac.com::d24483b1-7db0-4584-b824-353502d8b450" providerId="AD"/>
  <p188:author id="{C65AFA41-CD7E-2B06-21DA-0B5DDA46C4CD}" name="王雋凱-數位金融處-永豐銀行" initials="數王" userId="S::chunkaiwang@sinopac.com::f78494d6-bac0-4c9e-94cd-0b5e029c0856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91DB7C30-2B5D-4D34-8F22-85940E495A18}">
  <a:tblStyle styleId="{91DB7C30-2B5D-4D34-8F22-85940E495A1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8D87DB6-C1B6-446D-86CF-44D372F8A8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7E2D07F-EAD9-47BB-8D15-AB9D181D91B3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706507dac74482" /><Relationship Type="http://schemas.openxmlformats.org/officeDocument/2006/relationships/slideMaster" Target="/ppt/slideMasters/slideMaster1.xml" Id="R9ace1c7ccf3a4844" /><Relationship Type="http://schemas.openxmlformats.org/officeDocument/2006/relationships/notesMaster" Target="/ppt/notesMasters/notesMaster1.xml" Id="Rca2e262ed9ae4208" /><Relationship Type="http://schemas.openxmlformats.org/officeDocument/2006/relationships/presProps" Target="/ppt/presProps.xml" Id="R0a9f36980e9943ca" /><Relationship Type="http://schemas.openxmlformats.org/officeDocument/2006/relationships/viewProps" Target="/ppt/viewProps.xml" Id="R2ba642efb6b94de9" /><Relationship Type="http://schemas.openxmlformats.org/officeDocument/2006/relationships/tableStyles" Target="/ppt/tableStyles.xml" Id="Rb44e3a1db0054b4f" /><Relationship Type="http://schemas.microsoft.com/office/2018/10/relationships/authors" Target="/ppt/authors.xml" Id="R6aa9ecc5a99b48d5" /><Relationship Type="http://schemas.openxmlformats.org/officeDocument/2006/relationships/slide" Target="/ppt/slides/slide1.xml" Id="R3106847af10c41b8" /><Relationship Type="http://schemas.openxmlformats.org/officeDocument/2006/relationships/slide" Target="/ppt/slides/slide2.xml" Id="Reb6271cf11d84ac6" /><Relationship Type="http://schemas.openxmlformats.org/officeDocument/2006/relationships/slide" Target="/ppt/slides/slide3.xml" Id="R01ebb43924124fd7" /><Relationship Type="http://schemas.openxmlformats.org/officeDocument/2006/relationships/slide" Target="/ppt/slides/slide4.xml" Id="R79ff829702b74914" /><Relationship Type="http://schemas.openxmlformats.org/officeDocument/2006/relationships/slide" Target="/ppt/slides/slide5.xml" Id="R63cd098def8b430b" /><Relationship Type="http://schemas.openxmlformats.org/officeDocument/2006/relationships/slide" Target="/ppt/slides/slide6.xml" Id="Ra9c210ec3b6f4939" /><Relationship Type="http://schemas.openxmlformats.org/officeDocument/2006/relationships/slide" Target="/ppt/slides/slide7.xml" Id="Rc7d6719aa9074195" /><Relationship Type="http://schemas.openxmlformats.org/officeDocument/2006/relationships/slide" Target="/ppt/slides/slide8.xml" Id="R863889e9de6743de" /><Relationship Type="http://schemas.openxmlformats.org/officeDocument/2006/relationships/slide" Target="/ppt/slides/slide9.xml" Id="Rdc70e05f827e4223" /><Relationship Type="http://schemas.openxmlformats.org/officeDocument/2006/relationships/slide" Target="/ppt/slides/slide10.xml" Id="Rd9db1575bc874dd6" /><Relationship Type="http://schemas.openxmlformats.org/officeDocument/2006/relationships/slide" Target="/ppt/slides/slide11.xml" Id="R66eda84463674a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821af8671c49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數科處範本">
  <a:themeElements>
    <a:clrScheme name="blue-yellow-violet-rose">
      <a:dk1>
        <a:srgbClr val="000000"/>
      </a:dk1>
      <a:lt1>
        <a:srgbClr val="FFFFFF"/>
      </a:lt1>
      <a:dk2>
        <a:srgbClr val="717179"/>
      </a:dk2>
      <a:lt2>
        <a:srgbClr val="E3E3E7"/>
      </a:lt2>
      <a:accent1>
        <a:srgbClr val="3B82F6"/>
      </a:accent1>
      <a:accent2>
        <a:srgbClr val="EAB308"/>
      </a:accent2>
      <a:accent3>
        <a:srgbClr val="8B5CF6"/>
      </a:accent3>
      <a:accent4>
        <a:srgbClr val="F33F5E"/>
      </a:accent4>
      <a:accent5>
        <a:srgbClr val="10B981"/>
      </a:accent5>
      <a:accent6>
        <a:srgbClr val="FFFFFF"/>
      </a:accent6>
      <a:hlink>
        <a:srgbClr val="3B82F6"/>
      </a:hlink>
      <a:folHlink>
        <a:srgbClr val="8B5C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lue-yellow-violet-ro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e60a6cb02c49fe" /><Relationship Type="http://schemas.openxmlformats.org/officeDocument/2006/relationships/notesMaster" Target="/ppt/notesMasters/notesMaster1.xml" Id="R51d5d1d6de124a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54660a84b54c3f" /><Relationship Type="http://schemas.openxmlformats.org/officeDocument/2006/relationships/notesMaster" Target="/ppt/notesMasters/notesMaster1.xml" Id="R8bbb6f31969d4d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cd090b21264aa5" /><Relationship Type="http://schemas.openxmlformats.org/officeDocument/2006/relationships/notesMaster" Target="/ppt/notesMasters/notesMaster1.xml" Id="R83d68de905114d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25585db35c41c9" /><Relationship Type="http://schemas.openxmlformats.org/officeDocument/2006/relationships/notesMaster" Target="/ppt/notesMasters/notesMaster1.xml" Id="Rc56d62e49b6a48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3c9ae77d6e494d" /><Relationship Type="http://schemas.openxmlformats.org/officeDocument/2006/relationships/notesMaster" Target="/ppt/notesMasters/notesMaster1.xml" Id="Ra22cf604dc4d4a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0132a6bd00438e" /><Relationship Type="http://schemas.openxmlformats.org/officeDocument/2006/relationships/notesMaster" Target="/ppt/notesMasters/notesMaster1.xml" Id="R9fd7b8f461054a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1ddf1e61ad441c" /><Relationship Type="http://schemas.openxmlformats.org/officeDocument/2006/relationships/notesMaster" Target="/ppt/notesMasters/notesMaster1.xml" Id="R400be2560bc645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9c57260b5144bd" /><Relationship Type="http://schemas.openxmlformats.org/officeDocument/2006/relationships/notesMaster" Target="/ppt/notesMasters/notesMaster1.xml" Id="Rc1aed4d1f5cd4c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ed2e5e380a426b" /><Relationship Type="http://schemas.openxmlformats.org/officeDocument/2006/relationships/notesMaster" Target="/ppt/notesMasters/notesMaster1.xml" Id="Rfb03d7a3f8e245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f74715eb9e4cd7" /><Relationship Type="http://schemas.openxmlformats.org/officeDocument/2006/relationships/notesMaster" Target="/ppt/notesMasters/notesMaster1.xml" Id="R007bf50e419040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16950c569f45b9" /><Relationship Type="http://schemas.openxmlformats.org/officeDocument/2006/relationships/notesMaster" Target="/ppt/notesMasters/notesMaster1.xml" Id="R986a4a0a51fb4b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內容依據：</a:t>
            </a:r>
          </a:p>
          <a:p xmlns:a="http://schemas.openxmlformats.org/drawingml/2006/main">
            <a:r>
              <a:t>/Users/ckwang/Projects/work/temp/stakeholder-qa-assistant/POC/stakeholders QA assistant/rag_optimized_output/retrieval_profiles.json</a:t>
            </a:r>
          </a:p>
          <a:p xmlns:a="http://schemas.openxmlformats.org/drawingml/2006/main">
            <a:r>
              <a:t>/Users/ckwang/Projects/work/temp/stakeholder-qa-assistant/POC/stakeholders QA assistant/rag_optimized_output/retrieval_strategy.md</a:t>
            </a:r>
          </a:p>
          <a:p xmlns:a="http://schemas.openxmlformats.org/drawingml/2006/main">
            <a:r>
              <a:t>/Users/ckwang/Projects/work/temp/stakeholder-qa-assistant/POC/stakeholders QA assistant/HANDOVER.md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內容依據：</a:t>
            </a:r>
          </a:p>
          <a:p xmlns:a="http://schemas.openxmlformats.org/drawingml/2006/main">
            <a:r>
              <a:t>/Users/ckwang/Projects/work/temp/stakeholder-qa-assistant/stakeholder-qa-assistant-plugin/skills/stakeholder-qa-assistant/SKILL.md</a:t>
            </a:r>
          </a:p>
          <a:p xmlns:a="http://schemas.openxmlformats.org/drawingml/2006/main">
            <a:r>
              <a:t>/Users/ckwang/Projects/work/temp/stakeholder-qa-assistant/stakeholder-qa-assistant-plugin/skills/stakeholder-qa-assistant/references/source-index.md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cc78cf07cc45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47945152ce40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c8239a05db4e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bc64bdb8ee4f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2011aeafe243dd" /></Relationships>
</file>

<file path=ppt/slideLayouts/slideLayout1.xml><?xml version="1.0" encoding="utf-8"?>
<p:sldLayout xmlns:p="http://schemas.openxmlformats.org/presentationml/2006/main" matchingName="標題及物件" userDrawn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34">
            <a:extLst xmlns:a="http://schemas.openxmlformats.org/drawingml/2006/main">
              <a:ext uri="{FF2B5EF4-FFF2-40B4-BE49-F238E27FC236}">
                <a16:creationId xmlns:a16="http://schemas.microsoft.com/office/drawing/2014/main" id="{7A3FFD0B-4623-4FA5-AD2D-8858F7F9D7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388" y="72000"/>
            <a:ext cx="11161712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8150" tIns="44050" rIns="88150" bIns="4405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34">
            <a:extLst xmlns:a="http://schemas.openxmlformats.org/drawingml/2006/main">
              <a:ext uri="{FF2B5EF4-FFF2-40B4-BE49-F238E27FC236}">
                <a16:creationId xmlns:a16="http://schemas.microsoft.com/office/drawing/2014/main" id="{693DA252-15DC-4588-BDE4-1806B53BBCED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79388" y="719138"/>
            <a:ext cx="11161712" cy="540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8150" tIns="44050" rIns="88150" bIns="44050" anchor="t">
            <a:noAutofit/>
          </a:bodyPr>
          <a:lstStyle xmlns:a="http://schemas.openxmlformats.org/drawingml/2006/main">
            <a:lvl1pPr marL="252000" marR="0" indent="-21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600" b="0" i="0" u="none" strike="noStrike" cap="none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defRPr>
            </a:lvl1pPr>
            <a:lvl2pPr marL="504000" marR="0" indent="-21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400" b="0" i="0" u="none" strike="noStrike" cap="none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defRPr>
            </a:lvl2pPr>
            <a:lvl3pPr marL="756000" marR="0" indent="-21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200" b="0" i="0" u="none" strike="noStrike" cap="none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defRPr>
            </a:lvl3pPr>
            <a:lvl4pPr marL="1008000" marR="0" indent="-21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000" b="0" i="0" u="none" strike="noStrike" cap="none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defRPr>
            </a:lvl4pPr>
            <a:lvl5pPr marL="1260000" marR="0" indent="-21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800" b="0" i="0" u="none" strike="noStrike" cap="none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defRPr>
            </a:lvl5pPr>
            <a:lvl6pPr marL="1512000" marR="0" indent="-21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/>
              <a:buChar char="o"/>
              <a:defRPr sz="1600" b="0" i="0" u="none" strike="noStrike" cap="none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defRPr>
            </a:lvl6pPr>
            <a:lvl7pPr marL="3200400" marR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</a:defRPr>
            </a:lvl7pPr>
            <a:lvl8pPr marL="3657600" marR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</a:defRPr>
            </a:lvl8pPr>
            <a:lvl9pPr marL="4114800" marR="0" indent="-355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lvl="0">
              <a:buNone/>
            </a:pPr>
            <a:r>
              <a:t>第一層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  <a:endParaRPr/>
          </a:p>
        </p:txBody>
      </p:sp>
      <p:cxnSp>
        <p:nvCxnSpPr>
          <p:cNvPr id="20" name="Google Shape;20;p34">
            <a:extLst xmlns:a="http://schemas.openxmlformats.org/drawingml/2006/main">
              <a:ext uri="{FF2B5EF4-FFF2-40B4-BE49-F238E27FC236}">
                <a16:creationId xmlns:a16="http://schemas.microsoft.com/office/drawing/2014/main" id="{F65E4486-FB54-4016-A9FA-323D58741BD7}"/>
              </a:ext>
            </a:extLst>
          </p:cNvPr>
          <p:cNvCxnSpPr/>
          <p:nvPr/>
        </p:nvCxnSpPr>
        <p:spPr>
          <a:xfrm xmlns:a="http://schemas.openxmlformats.org/drawingml/2006/main">
            <a:off x="179388" y="612000"/>
            <a:ext cx="11161712" cy="0"/>
          </a:xfrm>
          <a:prstGeom xmlns:a="http://schemas.openxmlformats.org/drawingml/2006/main" prst="straightConnector1">
            <a:avLst/>
          </a:prstGeom>
          <a:ln xmlns:a="http://schemas.openxmlformats.org/drawingml/2006/main" w="15875" cap="flat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</p:sldLayout>
</file>

<file path=ppt/slideLayouts/slideLayout2.xml><?xml version="1.0" encoding="utf-8"?>
<p:sldLayout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" name="Google Shape;9;p32">
            <a:extLst xmlns:a="http://schemas.openxmlformats.org/drawingml/2006/main">
              <a:ext uri="{FF2B5EF4-FFF2-40B4-BE49-F238E27FC236}">
                <a16:creationId xmlns:a16="http://schemas.microsoft.com/office/drawing/2014/main" id="{536249B9-A852-49AE-9731-B778F0C998E6}"/>
              </a:ext>
            </a:extLst>
          </p:cNvPr>
          <p:cNvCxnSpPr/>
          <p:nvPr/>
        </p:nvCxnSpPr>
        <p:spPr>
          <a:xfrm xmlns:a="http://schemas.openxmlformats.org/drawingml/2006/main">
            <a:off x="1440000" y="2880000"/>
            <a:ext cx="5760000" cy="0"/>
          </a:xfrm>
          <a:prstGeom xmlns:a="http://schemas.openxmlformats.org/drawingml/2006/main" prst="straightConnector1">
            <a:avLst/>
          </a:prstGeom>
          <a:ln xmlns:a="http://schemas.openxmlformats.org/drawingml/2006/main" w="15875" cap="flat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10;p32">
            <a:extLst xmlns:a="http://schemas.openxmlformats.org/drawingml/2006/main">
              <a:ext uri="{FF2B5EF4-FFF2-40B4-BE49-F238E27FC236}">
                <a16:creationId xmlns:a16="http://schemas.microsoft.com/office/drawing/2014/main" id="{7B925996-2FA7-4A3F-652D-7B1D8634C9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40000" y="2160000"/>
            <a:ext cx="576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90000" tIns="46800" rIns="90000" bIns="468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標題投影片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Google Shape;9;p32">
            <a:extLst xmlns:a="http://schemas.openxmlformats.org/drawingml/2006/main">
              <a:ext uri="{FF2B5EF4-FFF2-40B4-BE49-F238E27FC236}">
                <a16:creationId xmlns:a16="http://schemas.microsoft.com/office/drawing/2014/main" id="{5A0BA4B6-ED63-49EE-8F36-E24A7B548628}"/>
              </a:ext>
            </a:extLst>
          </p:cNvPr>
          <p:cNvCxnSpPr/>
          <p:nvPr/>
        </p:nvCxnSpPr>
        <p:spPr>
          <a:xfrm xmlns:a="http://schemas.openxmlformats.org/drawingml/2006/main">
            <a:off x="1440000" y="2880000"/>
            <a:ext cx="8640000" cy="0"/>
          </a:xfrm>
          <a:prstGeom xmlns:a="http://schemas.openxmlformats.org/drawingml/2006/main" prst="straightConnector1">
            <a:avLst/>
          </a:prstGeom>
          <a:ln xmlns:a="http://schemas.openxmlformats.org/drawingml/2006/main" w="15875" cap="flat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10;p32">
            <a:extLst xmlns:a="http://schemas.openxmlformats.org/drawingml/2006/main">
              <a:ext uri="{FF2B5EF4-FFF2-40B4-BE49-F238E27FC236}">
                <a16:creationId xmlns:a16="http://schemas.microsoft.com/office/drawing/2014/main" id="{8F060F78-8B21-4579-B52E-D24BC5C538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40000" y="2160000"/>
            <a:ext cx="86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6800" rIns="90000" bIns="468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32">
            <a:extLst xmlns:a="http://schemas.openxmlformats.org/drawingml/2006/main">
              <a:ext uri="{FF2B5EF4-FFF2-40B4-BE49-F238E27FC236}">
                <a16:creationId xmlns:a16="http://schemas.microsoft.com/office/drawing/2014/main" id="{B8586506-E4DB-4252-9B72-F474BC4D41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40000" y="4320000"/>
            <a:ext cx="86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6800" rIns="90000" bIns="46800" anchor="ctr">
            <a:noAutofit/>
          </a:bodyPr>
          <a:lstStyle xmlns:a="http://schemas.openxmlformats.org/drawingml/2006/main">
            <a:lvl1pPr marL="457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  <a:defRPr sz="28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32">
            <a:extLst xmlns:a="http://schemas.openxmlformats.org/drawingml/2006/main">
              <a:ext uri="{FF2B5EF4-FFF2-40B4-BE49-F238E27FC236}">
                <a16:creationId xmlns:a16="http://schemas.microsoft.com/office/drawing/2014/main" id="{D7333480-A213-4695-A734-DA47B93DF8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440000" y="5040000"/>
            <a:ext cx="86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6800" rIns="90000" bIns="46800" anchor="ctr">
            <a:noAutofit/>
          </a:bodyPr>
          <a:lstStyle xmlns:a="http://schemas.openxmlformats.org/drawingml/2006/main">
            <a:lvl1pPr marL="457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None/>
              <a:defRPr sz="1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版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字方塊 1">
            <a:extLst xmlns:a="http://schemas.openxmlformats.org/drawingml/2006/main">
              <a:ext uri="{FF2B5EF4-FFF2-40B4-BE49-F238E27FC236}">
                <a16:creationId xmlns:a16="http://schemas.microsoft.com/office/drawing/2014/main" id="{64E9B3DD-FAA0-DF43-8AE4-2105CE51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26" y="608597"/>
            <a:ext cx="10310836" cy="52629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0">
                <a:latin typeface="Microsoft JhengHei"/>
                <a:ea typeface="Microsoft JhengHei"/>
                <a:cs typeface="Microsoft JhengHei"/>
              </a:rPr>
              <a:t>Template Version</a:t>
            </a:r>
          </a:p>
          <a:p xmlns:a="http://schemas.openxmlformats.org/drawingml/2006/main">
            <a:pPr algn="ctr">
              <a:buNone/>
            </a:pPr>
            <a:r>
              <a:rPr sz="24000">
                <a:latin typeface="Microsoft JhengHei"/>
                <a:ea typeface="Microsoft JhengHei"/>
                <a:cs typeface="Microsoft JhengHei"/>
              </a:rPr>
              <a:t>v7.1</a:t>
            </a:r>
            <a:endParaRPr sz="24000">
              <a:latin typeface="Microsoft JhengHei"/>
              <a:ea typeface="Microsoft JhengHei"/>
              <a:cs typeface="Microsoft JhengHei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8a66d8762bb64342" /><Relationship Type="http://schemas.openxmlformats.org/officeDocument/2006/relationships/image" Target="/ppt/media/image2.png" Id="R28321ff4e78347f1" /><Relationship Type="http://schemas.openxmlformats.org/officeDocument/2006/relationships/theme" Target="/ppt/slideMasters/theme/theme2.xml" Id="Rbba904866f6b480a" /><Relationship Type="http://schemas.openxmlformats.org/officeDocument/2006/relationships/slideLayout" Target="/ppt/slideLayouts/slideLayout1.xml" Id="R4d5864e59eb3474a" /><Relationship Type="http://schemas.openxmlformats.org/officeDocument/2006/relationships/slideLayout" Target="/ppt/slideLayouts/slideLayout2.xml" Id="Rdb49892ded064ece" /><Relationship Type="http://schemas.openxmlformats.org/officeDocument/2006/relationships/slideLayout" Target="/ppt/slideLayouts/slideLayout3.xml" Id="Rea1c95679ad14050" /><Relationship Type="http://schemas.openxmlformats.org/officeDocument/2006/relationships/slideLayout" Target="/ppt/slideLayouts/slideLayout4.xml" Id="Raf496f7dfd9048eb" /><Relationship Type="http://schemas.openxmlformats.org/officeDocument/2006/relationships/slideLayout" Target="/ppt/slideLayouts/slideLayout5.xml" Id="R09cb805ef0214d5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圖片 2">
            <a:extLst xmlns:a="http://schemas.openxmlformats.org/drawingml/2006/main">
              <a:ext uri="{FF2B5EF4-FFF2-40B4-BE49-F238E27FC236}">
                <a16:creationId xmlns:a16="http://schemas.microsoft.com/office/drawing/2014/main" id="{A580B2E6-DDD3-45F2-B0EB-2A059D0237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6d8762bb643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994000"/>
            <a:ext cx="4406303" cy="705606"/>
          </a:xfrm>
          <a:prstGeom xmlns:a="http://schemas.openxmlformats.org/drawingml/2006/main" prst="rect">
            <a:avLst/>
          </a:prstGeom>
        </p:spPr>
      </p:pic>
      <p:sp>
        <p:nvSpPr>
          <p:cNvPr id="6" name="Google Shape;6;p31">
            <a:extLst xmlns:a="http://schemas.openxmlformats.org/drawingml/2006/main">
              <a:ext uri="{FF2B5EF4-FFF2-40B4-BE49-F238E27FC236}">
                <a16:creationId xmlns:a16="http://schemas.microsoft.com/office/drawing/2014/main" id="{50C17C97-AFC1-4654-8395-1FC75B17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7968"/>
            <a:ext cx="381603" cy="2422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88150" tIns="44050" rIns="88150" bIns="44050" anchor="b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4" name="圖片 3">
            <a:extLst xmlns:a="http://schemas.openxmlformats.org/drawingml/2006/main">
              <a:ext uri="{FF2B5EF4-FFF2-40B4-BE49-F238E27FC236}">
                <a16:creationId xmlns:a16="http://schemas.microsoft.com/office/drawing/2014/main" id="{2747BA94-38B9-4DB9-9805-B32B614F44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21ff4e78347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00000" y="6156000"/>
            <a:ext cx="2462731" cy="291229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2DBFD30-7CBC-FF44-A3CD-E1370C8D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000" y="6228000"/>
            <a:ext cx="1636426" cy="206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86400" tIns="43200" rIns="86400" bIns="43200" anchor="ctr">
            <a:spAutoFit/>
          </a:bodyPr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sz="40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sz="40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sz="40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sz="40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sz="40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algn="l" defTabSz="914400">
              <a:buNone/>
              <a:defRPr sz="40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algn="l" defTabSz="914400">
              <a:buNone/>
              <a:defRPr sz="40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algn="l" defTabSz="914400">
              <a:buNone/>
              <a:defRPr sz="40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algn="l" defTabSz="914400">
              <a:buNone/>
              <a:defRPr sz="40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ts val="964"/>
              </a:lnSpc>
              <a:buNone/>
            </a:pPr>
            <a:r>
              <a:rPr sz="800" b="0">
                <a:solidFill>
                  <a:srgbClr val="B2B2B2"/>
                </a:solidFill>
                <a:latin typeface="微軟正黑體"/>
                <a:ea typeface="微軟正黑體"/>
                <a:cs typeface="微軟正黑體"/>
              </a:rPr>
              <a:t>機密資料僅限永豐金控內部使用 </a:t>
            </a:r>
            <a:endParaRPr sz="800" b="0">
              <a:solidFill>
                <a:srgbClr val="B2B2B2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5864e59eb3474a"/>
    <p:sldLayoutId xmlns:r="http://schemas.openxmlformats.org/officeDocument/2006/relationships" id="2147483650" r:id="Rdb49892ded064ece"/>
    <p:sldLayoutId xmlns:r="http://schemas.openxmlformats.org/officeDocument/2006/relationships" id="2147483651" r:id="Rea1c95679ad14050"/>
    <p:sldLayoutId xmlns:r="http://schemas.openxmlformats.org/officeDocument/2006/relationships" id="2147483652" r:id="Raf496f7dfd9048eb"/>
    <p:sldLayoutId xmlns:r="http://schemas.openxmlformats.org/officeDocument/2006/relationships" id="2147483653" r:id="R09cb805ef0214d5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1" userDrawn="1">
          <p15:clr>
            <a:srgbClr xmlns:a="http://schemas.openxmlformats.org/drawingml/2006/main" val="F26B43"/>
          </p15:clr>
        </p15:guide>
        <p15:guide id="2" pos="3697" userDrawn="1">
          <p15:clr>
            <a:srgbClr xmlns:a="http://schemas.openxmlformats.org/drawingml/2006/main" val="A4A3A4"/>
          </p15:clr>
        </p15:guide>
        <p15:guide id="3" pos="7144" userDrawn="1">
          <p15:clr>
            <a:srgbClr xmlns:a="http://schemas.openxmlformats.org/drawingml/2006/main" val="A4A3A4"/>
          </p15:clr>
        </p15:guide>
        <p15:guide id="4" pos="113" userDrawn="1">
          <p15:clr>
            <a:srgbClr xmlns:a="http://schemas.openxmlformats.org/drawingml/2006/main" val="A4A3A4"/>
          </p15:clr>
        </p15:guide>
        <p15:guide id="5" orient="horz" pos="3855" userDrawn="1">
          <p15:clr>
            <a:srgbClr xmlns:a="http://schemas.openxmlformats.org/drawingml/2006/main" val="A4A3A4"/>
          </p15:clr>
        </p15:guide>
        <p15:guide id="6" orient="horz" pos="45" userDrawn="1">
          <p15:clr>
            <a:srgbClr xmlns:a="http://schemas.openxmlformats.org/drawingml/2006/main" val="A4A3A4"/>
          </p15:clr>
        </p15:guide>
        <p15:guide id="11" pos="3629" userDrawn="1">
          <p15:clr>
            <a:srgbClr xmlns:a="http://schemas.openxmlformats.org/drawingml/2006/main" val="F26B43"/>
          </p15:clr>
        </p15:guide>
        <p15:guide id="12" pos="3560" userDrawn="1">
          <p15:clr>
            <a:srgbClr xmlns:a="http://schemas.openxmlformats.org/drawingml/2006/main" val="A4A3A4"/>
          </p15:clr>
        </p15:guide>
        <p15:guide id="13" pos="2495" userDrawn="1">
          <p15:clr>
            <a:srgbClr xmlns:a="http://schemas.openxmlformats.org/drawingml/2006/main" val="A4A3A4"/>
          </p15:clr>
        </p15:guide>
        <p15:guide id="14" pos="2381" userDrawn="1">
          <p15:clr>
            <a:srgbClr xmlns:a="http://schemas.openxmlformats.org/drawingml/2006/main" val="A4A3A4"/>
          </p15:clr>
        </p15:guide>
        <p15:guide id="15" pos="4762" userDrawn="1">
          <p15:clr>
            <a:srgbClr xmlns:a="http://schemas.openxmlformats.org/drawingml/2006/main" val="A4A3A4"/>
          </p15:clr>
        </p15:guide>
        <p15:guide id="16" pos="4876" userDrawn="1">
          <p15:clr>
            <a:srgbClr xmlns:a="http://schemas.openxmlformats.org/drawingml/2006/main" val="A4A3A4"/>
          </p15:clr>
        </p15:guide>
        <p15:guide id="18" orient="horz" pos="385" userDrawn="1">
          <p15:clr>
            <a:srgbClr xmlns:a="http://schemas.openxmlformats.org/drawingml/2006/main" val="A4A3A4"/>
          </p15:clr>
        </p15:guide>
        <p15:guide id="19" orient="horz" pos="453" userDrawn="1">
          <p15:clr>
            <a:srgbClr xmlns:a="http://schemas.openxmlformats.org/drawingml/2006/main" val="A4A3A4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數科處範本">
  <a:themeElements>
    <a:clrScheme name="blue-yellow-violet-rose">
      <a:dk1>
        <a:srgbClr val="000000"/>
      </a:dk1>
      <a:lt1>
        <a:srgbClr val="FFFFFF"/>
      </a:lt1>
      <a:dk2>
        <a:srgbClr val="717179"/>
      </a:dk2>
      <a:lt2>
        <a:srgbClr val="E3E3E7"/>
      </a:lt2>
      <a:accent1>
        <a:srgbClr val="3B82F6"/>
      </a:accent1>
      <a:accent2>
        <a:srgbClr val="EAB308"/>
      </a:accent2>
      <a:accent3>
        <a:srgbClr val="8B5CF6"/>
      </a:accent3>
      <a:accent4>
        <a:srgbClr val="F33F5E"/>
      </a:accent4>
      <a:accent5>
        <a:srgbClr val="10B981"/>
      </a:accent5>
      <a:accent6>
        <a:srgbClr val="FFFFFF"/>
      </a:accent6>
      <a:hlink>
        <a:srgbClr val="3B82F6"/>
      </a:hlink>
      <a:folHlink>
        <a:srgbClr val="8B5C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lue-yellow-violet-ro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2c9e7ed9e1d4caa" /><Relationship Type="http://schemas.openxmlformats.org/officeDocument/2006/relationships/notesSlide" Target="/ppt/notesSlides/notesSlide1.xml" Id="R9c1cde624bee44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48ee3366940af" /><Relationship Type="http://schemas.openxmlformats.org/officeDocument/2006/relationships/notesSlide" Target="/ppt/notesSlides/notesSlide2.xml" Id="R3a0c51c9906742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5baae71374c0c" /><Relationship Type="http://schemas.openxmlformats.org/officeDocument/2006/relationships/notesSlide" Target="/ppt/notesSlides/notesSlide3.xml" Id="Rf84ec10f0c0848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f365836cf4a05" /><Relationship Type="http://schemas.openxmlformats.org/officeDocument/2006/relationships/image" Target="/ppt/media/image3.png" Id="Rcbd56705b3aa448d" /><Relationship Type="http://schemas.openxmlformats.org/officeDocument/2006/relationships/image" Target="/ppt/media/image4.png" Id="R222495dc6b504dd7" /><Relationship Type="http://schemas.openxmlformats.org/officeDocument/2006/relationships/notesSlide" Target="/ppt/notesSlides/notesSlide4.xml" Id="R647335541dd241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a20440921435f" /><Relationship Type="http://schemas.openxmlformats.org/officeDocument/2006/relationships/image" Target="/ppt/media/image5.png" Id="R6ff95469954a4c6d" /><Relationship Type="http://schemas.openxmlformats.org/officeDocument/2006/relationships/notesSlide" Target="/ppt/notesSlides/notesSlide5.xml" Id="R868a1d5c829643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db30fc3b545d8" /><Relationship Type="http://schemas.openxmlformats.org/officeDocument/2006/relationships/image" Target="/ppt/media/image6.png" Id="Rfd560695732f4c19" /><Relationship Type="http://schemas.openxmlformats.org/officeDocument/2006/relationships/notesSlide" Target="/ppt/notesSlides/notesSlide6.xml" Id="Rfb394ec27cca47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b860219224c38" /><Relationship Type="http://schemas.openxmlformats.org/officeDocument/2006/relationships/image" Target="/ppt/media/image7.png" Id="Rc35a6bff05bb420a" /><Relationship Type="http://schemas.openxmlformats.org/officeDocument/2006/relationships/image" Target="/ppt/media/image8.png" Id="R9c953f3210e34a2b" /><Relationship Type="http://schemas.openxmlformats.org/officeDocument/2006/relationships/notesSlide" Target="/ppt/notesSlides/notesSlide7.xml" Id="R8869bb2b238446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adb726c824f2b" /><Relationship Type="http://schemas.openxmlformats.org/officeDocument/2006/relationships/image" Target="/ppt/media/image9.png" Id="R0e5e9254b39c44a4" /><Relationship Type="http://schemas.openxmlformats.org/officeDocument/2006/relationships/notesSlide" Target="/ppt/notesSlides/notesSlide8.xml" Id="Rdb5ea2001ecd43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357ac1dc44744" /><Relationship Type="http://schemas.openxmlformats.org/officeDocument/2006/relationships/image" Target="/ppt/media/image10.png" Id="Rd517e0dc036e4f26" /><Relationship Type="http://schemas.openxmlformats.org/officeDocument/2006/relationships/notesSlide" Target="/ppt/notesSlides/notesSlide9.xml" Id="R27f5a6e9724a4a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85cc04be242b6" /><Relationship Type="http://schemas.openxmlformats.org/officeDocument/2006/relationships/image" Target="/ppt/media/image11.png" Id="R4bdac4ff362c4372" /><Relationship Type="http://schemas.openxmlformats.org/officeDocument/2006/relationships/notesSlide" Target="/ppt/notesSlides/notesSlide10.xml" Id="R500d4b9ae63248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0c83fecbf4473" /><Relationship Type="http://schemas.openxmlformats.org/officeDocument/2006/relationships/image" Target="/ppt/media/image12.png" Id="Rf8fbc10fe13148f8" /><Relationship Type="http://schemas.openxmlformats.org/officeDocument/2006/relationships/notesSlide" Target="/ppt/notesSlides/notesSlide11.xml" Id="R4feb31377d5246b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1">
            <a:extLst xmlns:a="http://schemas.openxmlformats.org/drawingml/2006/main">
              <a:ext uri="{FF2B5EF4-FFF2-40B4-BE49-F238E27FC236}">
                <a16:creationId xmlns:a16="http://schemas.microsoft.com/office/drawing/2014/main" id="{E26B7A76-9622-4C8B-BD76-110513BD19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40000" y="2160174"/>
            <a:ext cx="86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8150" tIns="44050" rIns="88150" bIns="4405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b="1"/>
              <a:t>利害關係人</a:t>
            </a:r>
            <a:r>
              <a:rPr b="1"/>
              <a:t>QA</a:t>
            </a:r>
            <a:r>
              <a:rPr b="1"/>
              <a:t>小幫手</a:t>
            </a:r>
            <a:endParaRPr b="1"/>
          </a:p>
        </p:txBody>
      </p:sp>
      <p:sp>
        <p:nvSpPr>
          <p:cNvPr id="37" name="Google Shape;37;p1">
            <a:extLst xmlns:a="http://schemas.openxmlformats.org/drawingml/2006/main">
              <a:ext uri="{FF2B5EF4-FFF2-40B4-BE49-F238E27FC236}">
                <a16:creationId xmlns:a16="http://schemas.microsoft.com/office/drawing/2014/main" id="{A0DB63EC-E526-4730-9666-112A4D9EF2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8150" tIns="44050" rIns="88150" bIns="440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sz="2800" b="0"/>
              <a:t>數位科技處</a:t>
            </a:r>
            <a:endParaRPr sz="2800" b="0"/>
          </a:p>
        </p:txBody>
      </p:sp>
      <p:sp>
        <p:nvSpPr>
          <p:cNvPr id="38" name="Google Shape;38;p1">
            <a:extLst xmlns:a="http://schemas.openxmlformats.org/drawingml/2006/main">
              <a:ext uri="{FF2B5EF4-FFF2-40B4-BE49-F238E27FC236}">
                <a16:creationId xmlns:a16="http://schemas.microsoft.com/office/drawing/2014/main" id="{E045215E-2318-45D5-8C67-3CD60D56B38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8150" tIns="44050" rIns="88150" bIns="440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600" b="0"/>
              <a:t>2026</a:t>
            </a:r>
            <a:r>
              <a:rPr sz="1600" b="0"/>
              <a:t>.</a:t>
            </a:r>
            <a:r>
              <a:rPr sz="1600" b="0"/>
              <a:t>10.27</a:t>
            </a:r>
            <a:endParaRPr sz="1600" b="0"/>
          </a:p>
        </p:txBody>
      </p:sp>
      <p:sp>
        <p:nvSpPr>
          <p:cNvPr id="2" name="Google Shape;36;p1">
            <a:extLst xmlns:a="http://schemas.openxmlformats.org/drawingml/2006/main">
              <a:ext uri="{FF2B5EF4-FFF2-40B4-BE49-F238E27FC236}">
                <a16:creationId xmlns:a16="http://schemas.microsoft.com/office/drawing/2014/main" id="{EB9937E1-DB27-243F-2FAC-F0CF4099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000" y="2970261"/>
            <a:ext cx="86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8150" tIns="44050" rIns="88150" bIns="44050" anchor="ctr">
            <a:noAutofit/>
          </a:bodyPr>
          <a:lstStyle xmlns:a="http://schemas.openxmlformats.org/drawingml/2006/main">
            <a:defPPr algn="l"/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rPr sz="3200" b="1"/>
              <a:t>Skill </a:t>
            </a:r>
            <a:r>
              <a:rPr sz="3200" b="1"/>
              <a:t>使用說明</a:t>
            </a:r>
            <a:endParaRPr sz="3200" b="1"/>
          </a:p>
        </p:txBody>
      </p:sp>
    </p:spTree>
    <p:extLst>
      <p:ext uri="{BB962C8B-B14F-4D97-AF65-F5344CB8AC3E}">
        <p14:creationId xmlns:p14="http://schemas.microsoft.com/office/powerpoint/2010/main" val="21362574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urrent-state-title">
            <a:extLst xmlns:a="http://schemas.openxmlformats.org/drawingml/2006/main">
              <a:ext uri="{FF2B5EF4-FFF2-40B4-BE49-F238E27FC236}">
                <a16:creationId xmlns:a16="http://schemas.microsoft.com/office/drawing/2014/main" id="{BC38336E-1B19-472B-AD27-200CF1FD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6" y="72009"/>
            <a:ext cx="11161681" cy="539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88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8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8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8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8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8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8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8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8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8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88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8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現況與改善重點</a:t>
            </a:r>
          </a:p>
        </p:txBody>
      </p:sp>
      <p:sp>
        <p:nvSpPr>
          <p:cNvPr id="2" name="current-state-summary">
            <a:extLst xmlns:a="http://schemas.openxmlformats.org/drawingml/2006/main">
              <a:ext uri="{FF2B5EF4-FFF2-40B4-BE49-F238E27FC236}">
                <a16:creationId xmlns:a16="http://schemas.microsoft.com/office/drawing/2014/main" id="{83D37C55-4DCE-4E53-AAD2-5D254F10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81050"/>
            <a:ext cx="10429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rPr>
              <a:t>既有 POC 已驗證 RAG 與文件檢索的可行性，實際使用仍需補強查詢精準度與來源追溯。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88049-C96A-4EA7-B4AD-C1634A24F0A3}"/>
              </a:ext>
            </a:extLst>
          </p:cNvPr>
          <p:cNvGraphicFramePr/>
          <p:nvPr/>
        </p:nvGraphicFramePr>
        <p:xfrm>
          <a:off xmlns:a="http://schemas.openxmlformats.org/drawingml/2006/main" x="542925" y="1543050"/>
          <a:ext xmlns:a="http://schemas.openxmlformats.org/drawingml/2006/main" cx="10429875" cy="3124200"/>
        </p:xfrm>
        <a:graphic xmlns:a="http://schemas.openxmlformats.org/drawingml/2006/main">
          <a:graphicData uri="http://schemas.openxmlformats.org/drawingml/2006/table">
            <a:tbl>
              <a:tblPr firstRow="0" firstCol="0" lastRow="0" lastCol="0" bandRow="0" bandCol="0"/>
              <a:tblGrid>
                <a:gridCol w="3286125"/>
                <a:gridCol w="7143750"/>
              </a:tblGrid>
              <a:tr h="4000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現況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可能影響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60012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問題路由依賴關鍵字</a:t>
                      </a:r>
                    </a:p>
                  </a:txBody>
                  <a:tcPr marL="114300" marR="114300" marT="66675" marB="6667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D3D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混合意圖的問題可能只命中部分內容</a:t>
                      </a:r>
                    </a:p>
                  </a:txBody>
                  <a:tcPr marL="114300" marR="114300" marT="66675" marB="6667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文件採切片檢索</a:t>
                      </a:r>
                    </a:p>
                  </a:txBody>
                  <a:tcPr marL="114300" marR="114300" marT="66675" marB="6667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D3D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主規定、例外條件及適用範圍可能分散於不同片段</a:t>
                      </a:r>
                    </a:p>
                  </a:txBody>
                  <a:tcPr marL="114300" marR="114300" marT="66675" marB="6667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FAQ 與正式規範共同召回</a:t>
                      </a:r>
                    </a:p>
                  </a:txBody>
                  <a:tcPr marL="114300" marR="114300" marT="66675" marB="6667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D3D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相似案例的條件不同，仍可能被直接套用</a:t>
                      </a:r>
                    </a:p>
                  </a:txBody>
                  <a:tcPr marL="114300" marR="114300" marT="66675" marB="6667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交易必要條件未先檢查</a:t>
                      </a:r>
                    </a:p>
                  </a:txBody>
                  <a:tcPr marL="114300" marR="114300" marT="66675" marB="6667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D3D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缺少主體、對象、金額或日期時，回答可能過度推論</a:t>
                      </a:r>
                    </a:p>
                  </a:txBody>
                  <a:tcPr marL="114300" marR="114300" marT="66675" marB="6667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多種衍生資料並存</a:t>
                      </a:r>
                    </a:p>
                  </a:txBody>
                  <a:tcPr marL="114300" marR="114300" marT="66675" marB="66675"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3D3D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回答需要額外比對原始文件及版本</a:t>
                      </a:r>
                    </a:p>
                  </a:txBody>
                  <a:tcPr marL="114300" marR="114300" marT="66675" marB="66675" anchor="ctr">
                    <a:lnR w="9525">
                      <a:solidFill>
                        <a:srgbClr val="D9D9D9"/>
                      </a:solidFill>
                      <a:prstDash val="solid"/>
                    </a:lnR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improvement-focus">
            <a:extLst xmlns:a="http://schemas.openxmlformats.org/drawingml/2006/main">
              <a:ext uri="{FF2B5EF4-FFF2-40B4-BE49-F238E27FC236}">
                <a16:creationId xmlns:a16="http://schemas.microsoft.com/office/drawing/2014/main" id="{5E044DE7-7FA4-4159-81BA-0AEF062D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876800"/>
            <a:ext cx="10429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improvement-focus-accent">
            <a:extLst xmlns:a="http://schemas.openxmlformats.org/drawingml/2006/main">
              <a:ext uri="{FF2B5EF4-FFF2-40B4-BE49-F238E27FC236}">
                <a16:creationId xmlns:a16="http://schemas.microsoft.com/office/drawing/2014/main" id="{69F3BDF5-2886-41C1-B25B-37B11023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876800"/>
            <a:ext cx="4572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mprovement-focus-title">
            <a:extLst xmlns:a="http://schemas.openxmlformats.org/drawingml/2006/main">
              <a:ext uri="{FF2B5EF4-FFF2-40B4-BE49-F238E27FC236}">
                <a16:creationId xmlns:a16="http://schemas.microsoft.com/office/drawing/2014/main" id="{19AFC0DE-BE30-4455-BA88-648AD4E4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0062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改善重點</a:t>
            </a:r>
          </a:p>
        </p:txBody>
      </p:sp>
      <p:sp>
        <p:nvSpPr>
          <p:cNvPr id="7" name="improvement-focus-copy">
            <a:extLst xmlns:a="http://schemas.openxmlformats.org/drawingml/2006/main">
              <a:ext uri="{FF2B5EF4-FFF2-40B4-BE49-F238E27FC236}">
                <a16:creationId xmlns:a16="http://schemas.microsoft.com/office/drawing/2014/main" id="{F5854559-3420-461D-9EF1-7605757C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00625"/>
            <a:ext cx="852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3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3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3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3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3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3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3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3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3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3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rPr>
              <a:t>先確認問題類型與必要條件，再選擇適用來源，回答同時標示原始依據。</a:t>
            </a:r>
          </a:p>
        </p:txBody>
      </p:sp>
    </p:spTree>
    <p:extLst>
      <p:ext uri="{BB962C8B-B14F-4D97-AF65-F5344CB8AC3E}">
        <p14:creationId xmlns:p14="http://schemas.microsoft.com/office/powerpoint/2010/main" val="12505429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olution-overview-title">
            <a:extLst xmlns:a="http://schemas.openxmlformats.org/drawingml/2006/main">
              <a:ext uri="{FF2B5EF4-FFF2-40B4-BE49-F238E27FC236}">
                <a16:creationId xmlns:a16="http://schemas.microsoft.com/office/drawing/2014/main" id="{ABFA8724-A690-45F5-B309-3145F113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56" y="72009"/>
            <a:ext cx="11161681" cy="539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88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88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88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88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88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88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88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88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88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88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88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8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改善方案與運作方式</a:t>
            </a:r>
          </a:p>
        </p:txBody>
      </p:sp>
      <p:sp>
        <p:nvSpPr>
          <p:cNvPr id="2" name="solution-summary">
            <a:extLst xmlns:a="http://schemas.openxmlformats.org/drawingml/2006/main">
              <a:ext uri="{FF2B5EF4-FFF2-40B4-BE49-F238E27FC236}">
                <a16:creationId xmlns:a16="http://schemas.microsoft.com/office/drawing/2014/main" id="{3502F70D-6D5C-4E99-8BB2-8F63B287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76300"/>
            <a:ext cx="10429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0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0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rPr>
              <a:t>整合 11 份外規、內規、操作手冊與問答集，建立標準化 Agent Skill，</a:t>
            </a:r>
          </a:p>
          <a:p xmlns:a="http://schemas.openxmlformats.org/drawingml/2006/main">
            <a:pPr algn="l">
              <a:buNone/>
              <a:defRPr sz="20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rPr>
              <a:t>供使用者在 Spade 查詢，並回溯原始依據。</a:t>
            </a:r>
          </a:p>
        </p:txBody>
      </p:sp>
      <p:sp>
        <p:nvSpPr>
          <p:cNvPr id="3" name="process-baseline">
            <a:extLst xmlns:a="http://schemas.openxmlformats.org/drawingml/2006/main">
              <a:ext uri="{FF2B5EF4-FFF2-40B4-BE49-F238E27FC236}">
                <a16:creationId xmlns:a16="http://schemas.microsoft.com/office/drawing/2014/main" id="{5E307C1F-6E48-4D90-A448-09AE0BD2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24100"/>
            <a:ext cx="969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D9"/>
            </a:solidFill>
            <a:prstDash val="solid"/>
          </a:ln>
        </p:spPr>
      </p:sp>
      <p:sp>
        <p:nvSpPr>
          <p:cNvPr id="4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1F6AA7B0-F759-4258-BACC-CD8ED00B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0859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12"/>
          </a:solidFill>
          <a:ln xmlns:a="http://schemas.openxmlformats.org/drawingml/2006/main" w="0">
            <a:solidFill>
              <a:srgbClr val="E6001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2EDB0A91-1D1A-4F95-9E37-A9FC6697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原始文件</a:t>
            </a:r>
          </a:p>
        </p:txBody>
      </p:sp>
      <p:sp>
        <p:nvSpPr>
          <p:cNvPr id="6" name="stage-01-description">
            <a:extLst xmlns:a="http://schemas.openxmlformats.org/drawingml/2006/main">
              <a:ext uri="{FF2B5EF4-FFF2-40B4-BE49-F238E27FC236}">
                <a16:creationId xmlns:a16="http://schemas.microsoft.com/office/drawing/2014/main" id="{A4B224CB-6A8E-4AB8-A96F-47FC8133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3372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外規、內規、操作手冊</a:t>
            </a:r>
          </a:p>
          <a:p xmlns:a="http://schemas.openxmlformats.org/drawingml/2006/main">
            <a: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與問答集，共 11 份</a:t>
            </a:r>
          </a:p>
        </p:txBody>
      </p:sp>
      <p:sp>
        <p:nvSpPr>
          <p:cNvPr id="7" name="stage-02-number">
            <a:extLst xmlns:a="http://schemas.openxmlformats.org/drawingml/2006/main">
              <a:ext uri="{FF2B5EF4-FFF2-40B4-BE49-F238E27FC236}">
                <a16:creationId xmlns:a16="http://schemas.microsoft.com/office/drawing/2014/main" id="{BE8A7AC4-D1CE-49FC-B9E6-A4DEA5B5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0859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12"/>
          </a:solidFill>
          <a:ln xmlns:a="http://schemas.openxmlformats.org/drawingml/2006/main" w="0">
            <a:solidFill>
              <a:srgbClr val="E6001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stage-02-title">
            <a:extLst xmlns:a="http://schemas.openxmlformats.org/drawingml/2006/main">
              <a:ext uri="{FF2B5EF4-FFF2-40B4-BE49-F238E27FC236}">
                <a16:creationId xmlns:a16="http://schemas.microsoft.com/office/drawing/2014/main" id="{CD664053-356C-4A4C-86A6-1D19BBA3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24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知識整理</a:t>
            </a:r>
          </a:p>
        </p:txBody>
      </p:sp>
      <p:sp>
        <p:nvSpPr>
          <p:cNvPr id="9" name="stage-02-description">
            <a:extLst xmlns:a="http://schemas.openxmlformats.org/drawingml/2006/main">
              <a:ext uri="{FF2B5EF4-FFF2-40B4-BE49-F238E27FC236}">
                <a16:creationId xmlns:a16="http://schemas.microsoft.com/office/drawing/2014/main" id="{9CE87F94-5F8F-46FA-9935-D911F6A5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3372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一對一轉換，保留頁碼、</a:t>
            </a:r>
          </a:p>
          <a:p xmlns:a="http://schemas.openxmlformats.org/drawingml/2006/main">
            <a: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條次與 FAQ 題號</a:t>
            </a:r>
          </a:p>
        </p:txBody>
      </p:sp>
      <p:sp>
        <p:nvSpPr>
          <p:cNvPr id="10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ECB3D622-3DCD-42FC-836B-266D8D36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0859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12"/>
          </a:solidFill>
          <a:ln xmlns:a="http://schemas.openxmlformats.org/drawingml/2006/main" w="0">
            <a:solidFill>
              <a:srgbClr val="E6001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1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869BF088-07CB-435D-BCE6-75DF287A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Agent Skill</a:t>
            </a:r>
          </a:p>
        </p:txBody>
      </p:sp>
      <p:sp>
        <p:nvSpPr>
          <p:cNvPr id="12" name="stage-03-description">
            <a:extLst xmlns:a="http://schemas.openxmlformats.org/drawingml/2006/main">
              <a:ext uri="{FF2B5EF4-FFF2-40B4-BE49-F238E27FC236}">
                <a16:creationId xmlns:a16="http://schemas.microsoft.com/office/drawing/2014/main" id="{9CAE8848-DAD5-4E7B-8778-F7141CA6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3372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依問題選擇來源，</a:t>
            </a:r>
          </a:p>
          <a:p xmlns:a="http://schemas.openxmlformats.org/drawingml/2006/main">
            <a: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資訊不足時保守回答</a:t>
            </a:r>
          </a:p>
        </p:txBody>
      </p:sp>
      <p:sp>
        <p:nvSpPr>
          <p:cNvPr id="13" name="stage-04-number">
            <a:extLst xmlns:a="http://schemas.openxmlformats.org/drawingml/2006/main">
              <a:ext uri="{FF2B5EF4-FFF2-40B4-BE49-F238E27FC236}">
                <a16:creationId xmlns:a16="http://schemas.microsoft.com/office/drawing/2014/main" id="{4EF52C6F-3E11-426E-9492-EAD2E18C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0859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12"/>
          </a:solidFill>
          <a:ln xmlns:a="http://schemas.openxmlformats.org/drawingml/2006/main" w="0">
            <a:solidFill>
              <a:srgbClr val="E6001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4" name="stage-04-title">
            <a:extLst xmlns:a="http://schemas.openxmlformats.org/drawingml/2006/main">
              <a:ext uri="{FF2B5EF4-FFF2-40B4-BE49-F238E27FC236}">
                <a16:creationId xmlns:a16="http://schemas.microsoft.com/office/drawing/2014/main" id="{E01E6A03-7D97-4890-A1A5-56BDCB81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Spade 問答</a:t>
            </a:r>
          </a:p>
        </p:txBody>
      </p:sp>
      <p:sp>
        <p:nvSpPr>
          <p:cNvPr id="15" name="stage-04-description">
            <a:extLst xmlns:a="http://schemas.openxmlformats.org/drawingml/2006/main">
              <a:ext uri="{FF2B5EF4-FFF2-40B4-BE49-F238E27FC236}">
                <a16:creationId xmlns:a16="http://schemas.microsoft.com/office/drawing/2014/main" id="{11FB8FC1-40B2-407D-AEF0-4677A713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3372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以自然語言提問，</a:t>
            </a:r>
          </a:p>
          <a:p xmlns:a="http://schemas.openxmlformats.org/drawingml/2006/main">
            <a:pPr algn="ctr">
              <a:buNone/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回覆標示來源依據</a:t>
            </a:r>
          </a:p>
        </p:txBody>
      </p:sp>
      <p:sp>
        <p:nvSpPr>
          <p:cNvPr id="16" name="usage-boundary">
            <a:extLst xmlns:a="http://schemas.openxmlformats.org/drawingml/2006/main">
              <a:ext uri="{FF2B5EF4-FFF2-40B4-BE49-F238E27FC236}">
                <a16:creationId xmlns:a16="http://schemas.microsoft.com/office/drawing/2014/main" id="{628AD405-96E0-4556-9246-BFD79DDF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267200"/>
            <a:ext cx="10429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usage-boundary-accent">
            <a:extLst xmlns:a="http://schemas.openxmlformats.org/drawingml/2006/main">
              <a:ext uri="{FF2B5EF4-FFF2-40B4-BE49-F238E27FC236}">
                <a16:creationId xmlns:a16="http://schemas.microsoft.com/office/drawing/2014/main" id="{8D76493C-9729-4FD8-AA6C-B7CFCF78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267200"/>
            <a:ext cx="4572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usage-boundary-title">
            <a:extLst xmlns:a="http://schemas.openxmlformats.org/drawingml/2006/main">
              <a:ext uri="{FF2B5EF4-FFF2-40B4-BE49-F238E27FC236}">
                <a16:creationId xmlns:a16="http://schemas.microsoft.com/office/drawing/2014/main" id="{2400FF8B-4D32-49C0-BC92-99A492E7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4817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使用邊界</a:t>
            </a:r>
          </a:p>
        </p:txBody>
      </p:sp>
      <p:sp>
        <p:nvSpPr>
          <p:cNvPr id="19" name="usage-boundary-copy">
            <a:extLst xmlns:a="http://schemas.openxmlformats.org/drawingml/2006/main">
              <a:ext uri="{FF2B5EF4-FFF2-40B4-BE49-F238E27FC236}">
                <a16:creationId xmlns:a16="http://schemas.microsoft.com/office/drawing/2014/main" id="{CEF4D24F-8702-4373-AE50-68DE7D0D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48175"/>
            <a:ext cx="852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3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3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3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3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3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3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3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3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3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3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rPr>
              <a:t>回答以目前納入的 11 份知識文件為限，法規效力及個案判斷仍由權責單位確認。</a:t>
            </a:r>
          </a:p>
        </p:txBody>
      </p:sp>
    </p:spTree>
    <p:extLst>
      <p:ext uri="{BB962C8B-B14F-4D97-AF65-F5344CB8AC3E}">
        <p14:creationId xmlns:p14="http://schemas.microsoft.com/office/powerpoint/2010/main" val="7539586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圖片 5">
            <a:extLst xmlns:a="http://schemas.openxmlformats.org/drawingml/2006/main">
              <a:ext uri="{FF2B5EF4-FFF2-40B4-BE49-F238E27FC236}">
                <a16:creationId xmlns:a16="http://schemas.microsoft.com/office/drawing/2014/main" id="{A637D926-9F11-4F37-80A7-B43B795B9A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56705b3aa44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0000" y="1260000"/>
            <a:ext cx="5849166" cy="4315427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2"/>
            </a:solidFill>
          </a:ln>
        </p:spPr>
      </p:pic>
      <p:pic>
        <p:nvPicPr>
          <p:cNvPr id="11" name="圖片 10">
            <a:extLst xmlns:a="http://schemas.openxmlformats.org/drawingml/2006/main">
              <a:ext uri="{FF2B5EF4-FFF2-40B4-BE49-F238E27FC236}">
                <a16:creationId xmlns:a16="http://schemas.microsoft.com/office/drawing/2014/main" id="{CBDD647B-1F82-4947-95B6-6C0DA9C441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495dc6b504d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26500" y="1532368"/>
            <a:ext cx="5849166" cy="4315427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2"/>
            </a:solidFill>
          </a:ln>
        </p:spPr>
      </p:pic>
      <p:sp>
        <p:nvSpPr>
          <p:cNvPr id="5" name="標題 4">
            <a:extLst xmlns:a="http://schemas.openxmlformats.org/drawingml/2006/main">
              <a:ext uri="{FF2B5EF4-FFF2-40B4-BE49-F238E27FC236}">
                <a16:creationId xmlns:a16="http://schemas.microsoft.com/office/drawing/2014/main" id="{FD2F69B4-FADC-55E6-94D3-D1857529D4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Step 0</a:t>
            </a:r>
            <a:r>
              <a:rPr b="1"/>
              <a:t>：解壓縮附件</a:t>
            </a:r>
          </a:p>
        </p:txBody>
      </p:sp>
      <p:sp>
        <p:nvSpPr>
          <p:cNvPr id="9" name="文字版面配置區 8">
            <a:extLst xmlns:a="http://schemas.openxmlformats.org/drawingml/2006/main">
              <a:ext uri="{FF2B5EF4-FFF2-40B4-BE49-F238E27FC236}">
                <a16:creationId xmlns:a16="http://schemas.microsoft.com/office/drawing/2014/main" id="{6E976DE2-AA8E-F3EE-CD2B-0500C6ADD7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將附件檔案「</a:t>
            </a:r>
            <a:r>
              <a:t>stakeholder-qa-assistant-plugin.zip</a:t>
            </a:r>
            <a:r>
              <a:t>」解壓縮。</a:t>
            </a:r>
          </a:p>
        </p:txBody>
      </p:sp>
      <p:sp>
        <p:nvSpPr>
          <p:cNvPr id="19" name="文字方塊 18">
            <a:extLst xmlns:a="http://schemas.openxmlformats.org/drawingml/2006/main">
              <a:ext uri="{FF2B5EF4-FFF2-40B4-BE49-F238E27FC236}">
                <a16:creationId xmlns:a16="http://schemas.microsoft.com/office/drawing/2014/main" id="{F1DB8A0D-B309-65C1-F4C1-E7B2E80F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916" y="3898798"/>
            <a:ext cx="8280000" cy="5847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rPr>
              <a:t>Windows </a:t>
            </a:r>
            <a:r>
              <a:rPr sz="160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rPr>
              <a:t>預設會在解壓縮路徑加入同名的「</a:t>
            </a:r>
            <a:r>
              <a:rPr sz="160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rPr>
              <a:t>stakeholder-qa-assistant-plugin.zip</a:t>
            </a:r>
            <a:r>
              <a:rPr sz="160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rPr>
              <a:t>」目錄，</a:t>
            </a:r>
            <a:endParaRPr sz="1600">
              <a:solidFill>
                <a:schemeClr val="accent4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r>
              <a:rPr sz="1600">
                <a:solidFill>
                  <a:schemeClr val="accent4"/>
                </a:solidFill>
                <a:latin typeface="微軟正黑體"/>
                <a:ea typeface="微軟正黑體"/>
                <a:cs typeface="微軟正黑體"/>
              </a:rPr>
              <a:t>建議先移除，避免解壓縮後出現兩層同名資料夾。</a:t>
            </a:r>
          </a:p>
        </p:txBody>
      </p:sp>
    </p:spTree>
    <p:extLst>
      <p:ext uri="{BB962C8B-B14F-4D97-AF65-F5344CB8AC3E}">
        <p14:creationId xmlns:p14="http://schemas.microsoft.com/office/powerpoint/2010/main" val="2670591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標題 4">
            <a:extLst xmlns:a="http://schemas.openxmlformats.org/drawingml/2006/main">
              <a:ext uri="{FF2B5EF4-FFF2-40B4-BE49-F238E27FC236}">
                <a16:creationId xmlns:a16="http://schemas.microsoft.com/office/drawing/2014/main" id="{59D2C47F-F8DE-43CB-B46D-D6A6AF8334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Step 1</a:t>
            </a:r>
            <a:r>
              <a:rPr b="1"/>
              <a:t>：開啟 </a:t>
            </a:r>
            <a:r>
              <a:rPr b="1"/>
              <a:t>Spade</a:t>
            </a:r>
            <a:r>
              <a:rPr b="1"/>
              <a:t> 設定</a:t>
            </a:r>
          </a:p>
        </p:txBody>
      </p:sp>
      <p:sp>
        <p:nvSpPr>
          <p:cNvPr id="9" name="文字版面配置區 8">
            <a:extLst xmlns:a="http://schemas.openxmlformats.org/drawingml/2006/main">
              <a:ext uri="{FF2B5EF4-FFF2-40B4-BE49-F238E27FC236}">
                <a16:creationId xmlns:a16="http://schemas.microsoft.com/office/drawing/2014/main" id="{58ACEC35-D589-65EE-39E1-F2EC8573A2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開啟 </a:t>
            </a:r>
            <a:r>
              <a:t>Spade</a:t>
            </a:r>
            <a:r>
              <a:t>，點選左下角的「設定」。</a:t>
            </a:r>
          </a:p>
        </p:txBody>
      </p:sp>
      <p:pic>
        <p:nvPicPr>
          <p:cNvPr id="4" name="圖片 3">
            <a:extLst xmlns:a="http://schemas.openxmlformats.org/drawingml/2006/main">
              <a:ext uri="{FF2B5EF4-FFF2-40B4-BE49-F238E27FC236}">
                <a16:creationId xmlns:a16="http://schemas.microsoft.com/office/drawing/2014/main" id="{CB6D4495-DD88-456B-A1E2-52D1033D53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95469954a4c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999" y="1261037"/>
            <a:ext cx="8537501" cy="45000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2"/>
            </a:solidFill>
          </a:ln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4F8B46C-90E9-7C98-BFAC-634E0D96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" y="4924425"/>
            <a:ext cx="393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05861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標題 4">
            <a:extLst xmlns:a="http://schemas.openxmlformats.org/drawingml/2006/main">
              <a:ext uri="{FF2B5EF4-FFF2-40B4-BE49-F238E27FC236}">
                <a16:creationId xmlns:a16="http://schemas.microsoft.com/office/drawing/2014/main" id="{88807C12-2FDA-96F0-4528-5F2C1D5E7B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Step 2</a:t>
            </a:r>
            <a:r>
              <a:rPr b="1"/>
              <a:t>：進入 </a:t>
            </a:r>
            <a:r>
              <a:rPr b="1"/>
              <a:t>Skills </a:t>
            </a:r>
            <a:r>
              <a:rPr b="1"/>
              <a:t>設定頁</a:t>
            </a:r>
          </a:p>
        </p:txBody>
      </p:sp>
      <p:sp>
        <p:nvSpPr>
          <p:cNvPr id="9" name="文字版面配置區 8">
            <a:extLst xmlns:a="http://schemas.openxmlformats.org/drawingml/2006/main">
              <a:ext uri="{FF2B5EF4-FFF2-40B4-BE49-F238E27FC236}">
                <a16:creationId xmlns:a16="http://schemas.microsoft.com/office/drawing/2014/main" id="{CA8F0274-6952-11EC-B26B-0AFCCB0C98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進入設定頁後，點選左側選單的「</a:t>
            </a:r>
            <a:r>
              <a:t>Skills</a:t>
            </a:r>
            <a:r>
              <a:t>」。</a:t>
            </a:r>
          </a:p>
        </p:txBody>
      </p:sp>
      <p:pic>
        <p:nvPicPr>
          <p:cNvPr id="4" name="圖片 3">
            <a:extLst xmlns:a="http://schemas.openxmlformats.org/drawingml/2006/main">
              <a:ext uri="{FF2B5EF4-FFF2-40B4-BE49-F238E27FC236}">
                <a16:creationId xmlns:a16="http://schemas.microsoft.com/office/drawing/2014/main" id="{1D706D6A-0236-4883-B7F0-C28C8FE93B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60695732f4c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0000" y="1261037"/>
            <a:ext cx="8537501" cy="45000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2"/>
            </a:solidFill>
          </a:ln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0832927-4450-5278-6E72-37933D2B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06" y="2928937"/>
            <a:ext cx="438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03386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圖片 13">
            <a:extLst xmlns:a="http://schemas.openxmlformats.org/drawingml/2006/main">
              <a:ext uri="{FF2B5EF4-FFF2-40B4-BE49-F238E27FC236}">
                <a16:creationId xmlns:a16="http://schemas.microsoft.com/office/drawing/2014/main" id="{E023B98E-DE07-47D1-8432-55F26DCC81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a6bff05bb42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0000" y="1261037"/>
            <a:ext cx="8537501" cy="45000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2"/>
            </a:solidFill>
          </a:ln>
        </p:spPr>
      </p:pic>
      <p:sp>
        <p:nvSpPr>
          <p:cNvPr id="5" name="標題 4">
            <a:extLst xmlns:a="http://schemas.openxmlformats.org/drawingml/2006/main">
              <a:ext uri="{FF2B5EF4-FFF2-40B4-BE49-F238E27FC236}">
                <a16:creationId xmlns:a16="http://schemas.microsoft.com/office/drawing/2014/main" id="{D1E18108-FFF0-AEA3-B4CF-FBD6F46CB7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Step 3</a:t>
            </a:r>
            <a:r>
              <a:rPr b="1"/>
              <a:t>：安裝 </a:t>
            </a:r>
            <a:r>
              <a:rPr b="1"/>
              <a:t>Skill</a:t>
            </a:r>
            <a:endParaRPr b="1"/>
          </a:p>
        </p:txBody>
      </p:sp>
      <p:sp>
        <p:nvSpPr>
          <p:cNvPr id="9" name="文字版面配置區 8">
            <a:extLst xmlns:a="http://schemas.openxmlformats.org/drawingml/2006/main">
              <a:ext uri="{FF2B5EF4-FFF2-40B4-BE49-F238E27FC236}">
                <a16:creationId xmlns:a16="http://schemas.microsoft.com/office/drawing/2014/main" id="{C9E77AAF-0C4B-48B5-EDB5-E351137C2A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點選「本機 </a:t>
            </a:r>
            <a:r>
              <a:t>Skills</a:t>
            </a:r>
            <a:r>
              <a:t>」旁的資料夾圖示。將附件解壓縮後，把 </a:t>
            </a:r>
            <a:r>
              <a:t>stakeholder-</a:t>
            </a:r>
            <a:r>
              <a:t>qa</a:t>
            </a:r>
            <a:r>
              <a:t>-assistant-plugin</a:t>
            </a:r>
            <a:r>
              <a:t> 資料夾複製至開啟的目錄。</a:t>
            </a:r>
          </a:p>
        </p:txBody>
      </p:sp>
      <p:pic>
        <p:nvPicPr>
          <p:cNvPr id="11" name="圖片 10">
            <a:extLst xmlns:a="http://schemas.openxmlformats.org/drawingml/2006/main">
              <a:ext uri="{FF2B5EF4-FFF2-40B4-BE49-F238E27FC236}">
                <a16:creationId xmlns:a16="http://schemas.microsoft.com/office/drawing/2014/main" id="{26E08C5C-F2CA-4E04-AC75-0F616170D4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53f3210e34a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6865" y="1711037"/>
            <a:ext cx="5153623" cy="36000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2"/>
            </a:solidFill>
          </a:ln>
        </p:spPr>
      </p:pic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6BAFDEC-5E98-68AC-A4A1-54AC75E2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987" y="1838325"/>
            <a:ext cx="17575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78744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標題 4">
            <a:extLst xmlns:a="http://schemas.openxmlformats.org/drawingml/2006/main">
              <a:ext uri="{FF2B5EF4-FFF2-40B4-BE49-F238E27FC236}">
                <a16:creationId xmlns:a16="http://schemas.microsoft.com/office/drawing/2014/main" id="{DEA8317B-50F0-AD0A-AD0A-B13EB2623E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Step 4</a:t>
            </a:r>
            <a:r>
              <a:rPr b="1"/>
              <a:t>：確認 </a:t>
            </a:r>
            <a:r>
              <a:rPr b="1"/>
              <a:t>Skill </a:t>
            </a:r>
            <a:r>
              <a:rPr b="1"/>
              <a:t>已安裝</a:t>
            </a:r>
          </a:p>
        </p:txBody>
      </p:sp>
      <p:sp>
        <p:nvSpPr>
          <p:cNvPr id="9" name="文字版面配置區 8">
            <a:extLst xmlns:a="http://schemas.openxmlformats.org/drawingml/2006/main">
              <a:ext uri="{FF2B5EF4-FFF2-40B4-BE49-F238E27FC236}">
                <a16:creationId xmlns:a16="http://schemas.microsoft.com/office/drawing/2014/main" id="{6DCB8EF6-CBA1-1A36-44D4-10A37B518A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重新進入 </a:t>
            </a:r>
            <a:r>
              <a:t>Skills </a:t>
            </a:r>
            <a:r>
              <a:t>頁面。若安裝成功，「本機 </a:t>
            </a:r>
            <a:r>
              <a:t>Skills</a:t>
            </a:r>
            <a:r>
              <a:t>」清單中會出現「</a:t>
            </a:r>
            <a:r>
              <a:t>stakeholder-</a:t>
            </a:r>
            <a:r>
              <a:t>qa</a:t>
            </a:r>
            <a:r>
              <a:t>-assistant</a:t>
            </a:r>
            <a:r>
              <a:t>」。</a:t>
            </a:r>
          </a:p>
        </p:txBody>
      </p:sp>
      <p:pic>
        <p:nvPicPr>
          <p:cNvPr id="10" name="圖片 9">
            <a:extLst xmlns:a="http://schemas.openxmlformats.org/drawingml/2006/main">
              <a:ext uri="{FF2B5EF4-FFF2-40B4-BE49-F238E27FC236}">
                <a16:creationId xmlns:a16="http://schemas.microsoft.com/office/drawing/2014/main" id="{E8EF3A5C-A95F-4292-88F7-CB82888D27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e9254b39c44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0000" y="1261037"/>
            <a:ext cx="8537501" cy="45000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2"/>
            </a:solidFill>
          </a:ln>
        </p:spPr>
      </p:pic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753A91C-309B-8D5F-2D10-2541F523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550" y="2019935"/>
            <a:ext cx="1624330" cy="164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80523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標題 4">
            <a:extLst xmlns:a="http://schemas.openxmlformats.org/drawingml/2006/main">
              <a:ext uri="{FF2B5EF4-FFF2-40B4-BE49-F238E27FC236}">
                <a16:creationId xmlns:a16="http://schemas.microsoft.com/office/drawing/2014/main" id="{5BC76255-F83B-AAE1-B28E-2300DBFABD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Step 5</a:t>
            </a:r>
            <a:r>
              <a:rPr b="1"/>
              <a:t>：在新聊天載入 </a:t>
            </a:r>
            <a:r>
              <a:rPr b="1"/>
              <a:t>Skill</a:t>
            </a:r>
            <a:endParaRPr b="1"/>
          </a:p>
        </p:txBody>
      </p:sp>
      <p:sp>
        <p:nvSpPr>
          <p:cNvPr id="9" name="文字版面配置區 8">
            <a:extLst xmlns:a="http://schemas.openxmlformats.org/drawingml/2006/main">
              <a:ext uri="{FF2B5EF4-FFF2-40B4-BE49-F238E27FC236}">
                <a16:creationId xmlns:a16="http://schemas.microsoft.com/office/drawing/2014/main" id="{DBC71EAF-00A2-F47A-50DB-741888C8CA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回到聊天頁面並開啟新聊天。在輸入框輸入「</a:t>
            </a:r>
            <a:r>
              <a:t>/stakeholder…</a:t>
            </a:r>
            <a:r>
              <a:t>」，再從建議清單選擇「</a:t>
            </a:r>
            <a:r>
              <a:t>/stakeholder-</a:t>
            </a:r>
            <a:r>
              <a:t>qa</a:t>
            </a:r>
            <a:r>
              <a:t>-assistant</a:t>
            </a:r>
            <a:r>
              <a:t>」。</a:t>
            </a:r>
          </a:p>
          <a:p xmlns:a="http://schemas.openxmlformats.org/drawingml/2006/main">
            <a:endParaRPr/>
          </a:p>
        </p:txBody>
      </p:sp>
      <p:pic>
        <p:nvPicPr>
          <p:cNvPr id="6" name="圖片 5">
            <a:extLst xmlns:a="http://schemas.openxmlformats.org/drawingml/2006/main">
              <a:ext uri="{FF2B5EF4-FFF2-40B4-BE49-F238E27FC236}">
                <a16:creationId xmlns:a16="http://schemas.microsoft.com/office/drawing/2014/main" id="{62102415-97EE-4D87-9857-88F1606758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7e0dc036e4f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999" y="1261037"/>
            <a:ext cx="8537501" cy="45000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2"/>
            </a:solidFill>
          </a:ln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53A9301-1818-277B-A085-82A88A66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799" y="3187700"/>
            <a:ext cx="455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37645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標題 4">
            <a:extLst xmlns:a="http://schemas.openxmlformats.org/drawingml/2006/main">
              <a:ext uri="{FF2B5EF4-FFF2-40B4-BE49-F238E27FC236}">
                <a16:creationId xmlns:a16="http://schemas.microsoft.com/office/drawing/2014/main" id="{FBC7DBEA-9053-154F-527B-AC1E90539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Step 6</a:t>
            </a:r>
            <a:r>
              <a:rPr b="1"/>
              <a:t>：輸入問題</a:t>
            </a:r>
          </a:p>
        </p:txBody>
      </p:sp>
      <p:sp>
        <p:nvSpPr>
          <p:cNvPr id="9" name="文字版面配置區 8">
            <a:extLst xmlns:a="http://schemas.openxmlformats.org/drawingml/2006/main">
              <a:ext uri="{FF2B5EF4-FFF2-40B4-BE49-F238E27FC236}">
                <a16:creationId xmlns:a16="http://schemas.microsoft.com/office/drawing/2014/main" id="{3DC76F82-7160-4216-1571-5B8FA2A55D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帶入「</a:t>
            </a:r>
            <a:r>
              <a:t>/stakeholder-</a:t>
            </a:r>
            <a:r>
              <a:t>qa</a:t>
            </a:r>
            <a:r>
              <a:t>-assistant</a:t>
            </a:r>
            <a:r>
              <a:t>」指令後，在同一個輸入框接續輸入問題並送出。</a:t>
            </a:r>
          </a:p>
          <a:p xmlns:a="http://schemas.openxmlformats.org/drawingml/2006/main">
            <a:endParaRPr/>
          </a:p>
        </p:txBody>
      </p:sp>
      <p:pic>
        <p:nvPicPr>
          <p:cNvPr id="6" name="圖片 5">
            <a:extLst xmlns:a="http://schemas.openxmlformats.org/drawingml/2006/main">
              <a:ext uri="{FF2B5EF4-FFF2-40B4-BE49-F238E27FC236}">
                <a16:creationId xmlns:a16="http://schemas.microsoft.com/office/drawing/2014/main" id="{D8743447-9BEA-439D-85C5-33B2B69778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dac4ff362c43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999" y="1261037"/>
            <a:ext cx="8537501" cy="45000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2"/>
            </a:solidFill>
          </a:ln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C6758C7-CB93-1666-632E-8BBBDDCD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225" y="3709671"/>
            <a:ext cx="288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481059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標題 4">
            <a:extLst xmlns:a="http://schemas.openxmlformats.org/drawingml/2006/main">
              <a:ext uri="{FF2B5EF4-FFF2-40B4-BE49-F238E27FC236}">
                <a16:creationId xmlns:a16="http://schemas.microsoft.com/office/drawing/2014/main" id="{8FE65D57-299E-D553-6D3F-C95777727E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Step 7</a:t>
            </a:r>
            <a:r>
              <a:rPr b="1"/>
              <a:t>：檢視回覆</a:t>
            </a:r>
          </a:p>
        </p:txBody>
      </p:sp>
      <p:sp>
        <p:nvSpPr>
          <p:cNvPr id="9" name="文字版面配置區 8">
            <a:extLst xmlns:a="http://schemas.openxmlformats.org/drawingml/2006/main">
              <a:ext uri="{FF2B5EF4-FFF2-40B4-BE49-F238E27FC236}">
                <a16:creationId xmlns:a16="http://schemas.microsoft.com/office/drawing/2014/main" id="{C64D3029-A6B2-1594-41E9-320D3AAC5A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系統完成處理後，回覆會顯示在聊天畫面中。</a:t>
            </a:r>
          </a:p>
        </p:txBody>
      </p:sp>
      <p:pic>
        <p:nvPicPr>
          <p:cNvPr id="10" name="圖片 9">
            <a:extLst xmlns:a="http://schemas.openxmlformats.org/drawingml/2006/main">
              <a:ext uri="{FF2B5EF4-FFF2-40B4-BE49-F238E27FC236}">
                <a16:creationId xmlns:a16="http://schemas.microsoft.com/office/drawing/2014/main" id="{6A4416FD-6E21-4B0A-9C69-3014B0C032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bc10fe13148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999" y="1261037"/>
            <a:ext cx="8537501" cy="45000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2"/>
            </a:solidFill>
          </a:ln>
        </p:spPr>
      </p:pic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910A0C0-790E-6130-6022-40CA3330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33600"/>
            <a:ext cx="6972300" cy="2613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9209297"/>
      </p:ext>
    </p:extLst>
  </p:cSld>
</p:sld>
</file>

<file path=ppt/theme/theme1.xml><?xml version="1.0" encoding="utf-8"?>
<a:theme xmlns:a="http://schemas.openxmlformats.org/drawingml/2006/main" name="數科處範本">
  <a:themeElements>
    <a:clrScheme name="blue-yellow-violet-rose">
      <a:dk1>
        <a:srgbClr val="000000"/>
      </a:dk1>
      <a:lt1>
        <a:srgbClr val="FFFFFF"/>
      </a:lt1>
      <a:dk2>
        <a:srgbClr val="717179"/>
      </a:dk2>
      <a:lt2>
        <a:srgbClr val="E3E3E7"/>
      </a:lt2>
      <a:accent1>
        <a:srgbClr val="3B82F6"/>
      </a:accent1>
      <a:accent2>
        <a:srgbClr val="EAB308"/>
      </a:accent2>
      <a:accent3>
        <a:srgbClr val="8B5CF6"/>
      </a:accent3>
      <a:accent4>
        <a:srgbClr val="F33F5E"/>
      </a:accent4>
      <a:accent5>
        <a:srgbClr val="10B981"/>
      </a:accent5>
      <a:accent6>
        <a:srgbClr val="FFFFFF"/>
      </a:accent6>
      <a:hlink>
        <a:srgbClr val="3B82F6"/>
      </a:hlink>
      <a:folHlink>
        <a:srgbClr val="8B5C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lue-yellow-violet-ro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2026-10-27T07:04:51.5310000Z</dcterms:created>
  <dcterms:modified xsi:type="dcterms:W3CDTF">2026-10-27T07:04:51.5310000Z</dcterms:modified>
</coreProperties>
</file>