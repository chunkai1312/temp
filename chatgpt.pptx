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1520488" cy="6480175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DB7C30-2B5D-4D34-8F22-85940E495A18}">
  <a:tblStyle styleId="{91DB7C30-2B5D-4D34-8F22-85940E495A1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88D87DB6-C1B6-446D-86CF-44D372F8A82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7E2D07F-EAD9-47BB-8D15-AB9D181D91B3}" styleName="Table_2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淺色樣式 1 - 輔色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66370"/>
  </p:normalViewPr>
  <p:slideViewPr>
    <p:cSldViewPr snapToGrid="0">
      <p:cViewPr varScale="1">
        <p:scale>
          <a:sx n="72" d="100"/>
          <a:sy n="72" d="100"/>
        </p:scale>
        <p:origin x="2464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SzPts val="1400"/>
              <a:buNone/>
            </a:pPr>
            <a:r>
              <a:rPr dirty="0" err="1"/>
              <a:t>大家好</a:t>
            </a:r>
            <a:r>
              <a:rPr dirty="0"/>
              <a:t>。</a:t>
            </a:r>
          </a:p>
          <a:p>
            <a:pPr marL="0" lvl="0" indent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SzPts val="1400"/>
              <a:buNone/>
            </a:pPr>
            <a:endParaRPr dirty="0"/>
          </a:p>
          <a:p>
            <a:pPr marL="0" lvl="0" indent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SzPts val="1400"/>
              <a:buNone/>
            </a:pPr>
            <a:r>
              <a:rPr dirty="0" err="1"/>
              <a:t>今天要用幾分鐘介紹</a:t>
            </a:r>
            <a:r>
              <a:rPr dirty="0"/>
              <a:t> ChatGPT </a:t>
            </a:r>
            <a:r>
              <a:rPr dirty="0" err="1"/>
              <a:t>桌面版。重點不只是多了一個桌面</a:t>
            </a:r>
            <a:r>
              <a:rPr dirty="0"/>
              <a:t> </a:t>
            </a:r>
            <a:r>
              <a:rPr dirty="0" err="1"/>
              <a:t>App，而是</a:t>
            </a:r>
            <a:r>
              <a:rPr dirty="0"/>
              <a:t> ChatGPT </a:t>
            </a:r>
            <a:r>
              <a:rPr dirty="0" err="1"/>
              <a:t>開始能理解資料、使用工具，並協助我們完成工作</a:t>
            </a:r>
            <a:r>
              <a:rPr dirty="0"/>
              <a:t>。</a:t>
            </a:r>
          </a:p>
          <a:p>
            <a:pPr marL="0" lvl="0" indent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SzPts val="1400"/>
              <a:buNone/>
            </a:pPr>
            <a:endParaRPr dirty="0"/>
          </a:p>
          <a:p>
            <a:pPr marL="0" lvl="0" indent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SzPts val="1400"/>
              <a:buNone/>
            </a:pPr>
            <a:r>
              <a:rPr dirty="0" err="1"/>
              <a:t>接下來會介紹</a:t>
            </a:r>
            <a:r>
              <a:rPr dirty="0"/>
              <a:t> </a:t>
            </a:r>
            <a:r>
              <a:rPr dirty="0" err="1"/>
              <a:t>Chat、Work、Codex</a:t>
            </a:r>
            <a:r>
              <a:rPr dirty="0"/>
              <a:t> </a:t>
            </a:r>
            <a:r>
              <a:rPr dirty="0" err="1"/>
              <a:t>三種模式，以及它們各自適合的工作情境</a:t>
            </a:r>
            <a:r>
              <a:rPr dirty="0"/>
              <a:t>。</a:t>
            </a:r>
          </a:p>
          <a:p>
            <a:pPr marL="0" lvl="0" indent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SzPts val="1400"/>
              <a:buNone/>
            </a:pPr>
            <a:endParaRPr dirty="0"/>
          </a:p>
          <a:p>
            <a:pPr marL="0" lvl="0" indent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SzPts val="1400"/>
              <a:buNone/>
            </a:pPr>
            <a:r>
              <a:rPr dirty="0"/>
              <a:t>[Sources]</a:t>
            </a:r>
          </a:p>
          <a:p>
            <a:pPr marL="0" lvl="0" indent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SzPts val="1400"/>
              <a:buNone/>
            </a:pPr>
            <a:r>
              <a:rPr dirty="0"/>
              <a:t>- https://</a:t>
            </a:r>
            <a:r>
              <a:rPr dirty="0" err="1"/>
              <a:t>help.openai.com</a:t>
            </a:r>
            <a:r>
              <a:rPr dirty="0"/>
              <a:t>/</a:t>
            </a:r>
            <a:r>
              <a:rPr dirty="0" err="1"/>
              <a:t>en</a:t>
            </a:r>
            <a:r>
              <a:rPr dirty="0"/>
              <a:t>/articles/20001275-chatgpt-work-and-codex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t>簡單來說，ChatGPT 桌面版就是把 AI 帶進實際的工作環境。</a:t>
            </a:r>
          </a:p>
          <a:p>
            <a:pPr marL="158750" indent="0">
              <a:buNone/>
            </a:pPr>
            <a:endParaRPr/>
          </a:p>
          <a:p>
            <a:pPr marL="158750" indent="0">
              <a:buNone/>
            </a:pPr>
            <a:r>
              <a:t>取得授權之後，它可以讀取相關檔案、資料夾和專案，了解我們正在處理的事情。</a:t>
            </a:r>
          </a:p>
          <a:p>
            <a:pPr marL="158750" indent="0">
              <a:buNone/>
            </a:pPr>
            <a:endParaRPr/>
          </a:p>
          <a:p>
            <a:pPr marL="158750" indent="0">
              <a:buNone/>
            </a:pPr>
            <a:r>
              <a:t>它也能瀏覽網站、操作應用程式，或連接外部工具。</a:t>
            </a:r>
          </a:p>
          <a:p>
            <a:pPr marL="158750" indent="0">
              <a:buNone/>
            </a:pPr>
            <a:endParaRPr/>
          </a:p>
          <a:p>
            <a:pPr marL="158750" indent="0">
              <a:buNone/>
            </a:pPr>
            <a:r>
              <a:t>最後，還可以把結果整理成文件、簡報、報告、網站或程式碼。</a:t>
            </a:r>
          </a:p>
          <a:p>
            <a:pPr marL="158750" indent="0">
              <a:buNone/>
            </a:pPr>
            <a:endParaRPr/>
          </a:p>
          <a:p>
            <a:pPr marL="158750" indent="0">
              <a:buNone/>
            </a:pPr>
            <a:r>
              <a:t>所以它和一般聊天工具最大的差別，就是不只提供答案，也能協助我們把事情做完。</a:t>
            </a:r>
          </a:p>
          <a:p>
            <a:pPr marL="158750" indent="0">
              <a:buNone/>
            </a:pPr>
            <a:endParaRPr/>
          </a:p>
          <a:p>
            <a:pPr marL="158750" indent="0">
              <a:buNone/>
            </a:pPr>
            <a:r>
              <a:t>[Sources]</a:t>
            </a:r>
          </a:p>
          <a:p>
            <a:pPr marL="158750" indent="0">
              <a:buNone/>
            </a:pPr>
            <a:r>
              <a:t>- https://help.openai.com/en/articles/20001275-chatgpt-work-and-codex</a:t>
            </a:r>
          </a:p>
          <a:p>
            <a:pPr marL="158750" indent="0">
              <a:buNone/>
            </a:pPr>
            <a:r>
              <a:t>- https://learn.chatgpt.com/docs/app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Font typeface="Arial" panose="020B0604020202020204" pitchFamily="34" charset="0"/>
              <a:buNone/>
            </a:pPr>
            <a:r>
              <a:rPr dirty="0" err="1"/>
              <a:t>桌面版主要有三種工作模式</a:t>
            </a:r>
            <a:r>
              <a:rPr dirty="0"/>
              <a:t>。</a:t>
            </a:r>
          </a:p>
          <a:p>
            <a:pPr marL="158750" indent="0">
              <a:buFont typeface="Arial" panose="020B0604020202020204" pitchFamily="34" charset="0"/>
              <a:buNone/>
            </a:pPr>
            <a:endParaRPr dirty="0"/>
          </a:p>
          <a:p>
            <a:pPr marL="158750" indent="0">
              <a:buFont typeface="Arial" panose="020B0604020202020204" pitchFamily="34" charset="0"/>
              <a:buNone/>
            </a:pPr>
            <a:r>
              <a:rPr dirty="0"/>
              <a:t>Chat </a:t>
            </a:r>
            <a:r>
              <a:rPr dirty="0" err="1"/>
              <a:t>適合快速問答，例如搜尋、摘要、腦力激盪或撰寫初稿</a:t>
            </a:r>
            <a:r>
              <a:rPr dirty="0"/>
              <a:t>。</a:t>
            </a:r>
          </a:p>
          <a:p>
            <a:pPr marL="158750" indent="0">
              <a:buFont typeface="Arial" panose="020B0604020202020204" pitchFamily="34" charset="0"/>
              <a:buNone/>
            </a:pPr>
            <a:endParaRPr dirty="0"/>
          </a:p>
          <a:p>
            <a:pPr marL="158750" indent="0">
              <a:buFont typeface="Arial" panose="020B0604020202020204" pitchFamily="34" charset="0"/>
              <a:buNone/>
            </a:pPr>
            <a:r>
              <a:rPr dirty="0"/>
              <a:t>Work </a:t>
            </a:r>
            <a:r>
              <a:rPr dirty="0" err="1"/>
              <a:t>適合比較完整的任務。它可以整理多份資料、執行多個步驟，最後產出文件、簡報或報告</a:t>
            </a:r>
            <a:r>
              <a:rPr dirty="0"/>
              <a:t>。</a:t>
            </a:r>
          </a:p>
          <a:p>
            <a:pPr marL="158750" indent="0">
              <a:buFont typeface="Arial" panose="020B0604020202020204" pitchFamily="34" charset="0"/>
              <a:buNone/>
            </a:pPr>
            <a:endParaRPr dirty="0"/>
          </a:p>
          <a:p>
            <a:pPr marL="158750" indent="0">
              <a:buFont typeface="Arial" panose="020B0604020202020204" pitchFamily="34" charset="0"/>
              <a:buNone/>
            </a:pPr>
            <a:r>
              <a:rPr dirty="0"/>
              <a:t>Codex </a:t>
            </a:r>
            <a:r>
              <a:rPr dirty="0" err="1"/>
              <a:t>則是給軟體開發使用。它可以讀程式碼、修改檔案、執行測試，並整理程式變更</a:t>
            </a:r>
            <a:r>
              <a:rPr dirty="0"/>
              <a:t>。</a:t>
            </a:r>
          </a:p>
          <a:p>
            <a:pPr marL="158750" indent="0">
              <a:buFont typeface="Arial" panose="020B0604020202020204" pitchFamily="34" charset="0"/>
              <a:buNone/>
            </a:pPr>
            <a:endParaRPr dirty="0"/>
          </a:p>
          <a:p>
            <a:pPr marL="158750" indent="0">
              <a:buFont typeface="Arial" panose="020B0604020202020204" pitchFamily="34" charset="0"/>
              <a:buNone/>
            </a:pPr>
            <a:r>
              <a:rPr dirty="0" err="1"/>
              <a:t>簡單記就是：要答案，用</a:t>
            </a:r>
            <a:r>
              <a:rPr dirty="0"/>
              <a:t> </a:t>
            </a:r>
            <a:r>
              <a:rPr dirty="0" err="1"/>
              <a:t>Chat；要成果，用</a:t>
            </a:r>
            <a:r>
              <a:rPr dirty="0"/>
              <a:t> </a:t>
            </a:r>
            <a:r>
              <a:rPr dirty="0" err="1"/>
              <a:t>Work；要改程式，用</a:t>
            </a:r>
            <a:r>
              <a:rPr dirty="0"/>
              <a:t> Codex。</a:t>
            </a:r>
          </a:p>
          <a:p>
            <a:pPr marL="158750" indent="0">
              <a:buFont typeface="Arial" panose="020B0604020202020204" pitchFamily="34" charset="0"/>
              <a:buNone/>
            </a:pPr>
            <a:endParaRPr dirty="0"/>
          </a:p>
          <a:p>
            <a:pPr marL="158750" indent="0">
              <a:buFont typeface="Arial" panose="020B0604020202020204" pitchFamily="34" charset="0"/>
              <a:buNone/>
            </a:pPr>
            <a:r>
              <a:rPr dirty="0"/>
              <a:t>[Sources]</a:t>
            </a:r>
          </a:p>
          <a:p>
            <a:pPr marL="158750" indent="0">
              <a:buFont typeface="Arial" panose="020B0604020202020204" pitchFamily="34" charset="0"/>
              <a:buNone/>
            </a:pPr>
            <a:r>
              <a:rPr dirty="0"/>
              <a:t>- https://</a:t>
            </a:r>
            <a:r>
              <a:rPr dirty="0" err="1"/>
              <a:t>help.openai.com</a:t>
            </a:r>
            <a:r>
              <a:rPr dirty="0"/>
              <a:t>/</a:t>
            </a:r>
            <a:r>
              <a:rPr dirty="0" err="1"/>
              <a:t>en</a:t>
            </a:r>
            <a:r>
              <a:rPr dirty="0"/>
              <a:t>/articles/20001275-chatgpt-work-and-codex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dirty="0" err="1"/>
              <a:t>這是</a:t>
            </a:r>
            <a:r>
              <a:rPr dirty="0"/>
              <a:t> Chat </a:t>
            </a:r>
            <a:r>
              <a:rPr dirty="0" err="1"/>
              <a:t>的使用畫面</a:t>
            </a:r>
            <a:r>
              <a:rPr dirty="0"/>
              <a:t>。</a:t>
            </a:r>
          </a:p>
          <a:p>
            <a:pPr marL="0" indent="0">
              <a:buFont typeface="Arial" panose="020B0604020202020204" pitchFamily="34" charset="0"/>
              <a:buNone/>
            </a:pPr>
            <a:endParaRPr dirty="0"/>
          </a:p>
          <a:p>
            <a:pPr marL="0" indent="0">
              <a:buFont typeface="Arial" panose="020B0604020202020204" pitchFamily="34" charset="0"/>
              <a:buNone/>
            </a:pPr>
            <a:r>
              <a:rPr dirty="0" err="1"/>
              <a:t>使用者想準備晚餐，但不想出門買菜，所以請</a:t>
            </a:r>
            <a:r>
              <a:rPr dirty="0"/>
              <a:t> Chat </a:t>
            </a:r>
            <a:r>
              <a:rPr dirty="0" err="1"/>
              <a:t>根據冰箱裡的食材提供建議</a:t>
            </a:r>
            <a:r>
              <a:rPr dirty="0"/>
              <a:t>。</a:t>
            </a:r>
          </a:p>
          <a:p>
            <a:pPr marL="0" indent="0">
              <a:buFont typeface="Arial" panose="020B0604020202020204" pitchFamily="34" charset="0"/>
              <a:buNone/>
            </a:pPr>
            <a:endParaRPr dirty="0"/>
          </a:p>
          <a:p>
            <a:pPr marL="0" indent="0">
              <a:buFont typeface="Arial" panose="020B0604020202020204" pitchFamily="34" charset="0"/>
              <a:buNone/>
            </a:pPr>
            <a:r>
              <a:rPr dirty="0"/>
              <a:t>Chat </a:t>
            </a:r>
            <a:r>
              <a:rPr dirty="0" err="1"/>
              <a:t>會先確認有哪些食材，也可以請使用者直接拍照，再快速整理出幾個選項</a:t>
            </a:r>
            <a:r>
              <a:rPr dirty="0"/>
              <a:t>。</a:t>
            </a:r>
          </a:p>
          <a:p>
            <a:pPr marL="0" indent="0">
              <a:buFont typeface="Arial" panose="020B0604020202020204" pitchFamily="34" charset="0"/>
              <a:buNone/>
            </a:pPr>
            <a:endParaRPr dirty="0"/>
          </a:p>
          <a:p>
            <a:pPr marL="0" indent="0">
              <a:buFont typeface="Arial" panose="020B0604020202020204" pitchFamily="34" charset="0"/>
              <a:buNone/>
            </a:pPr>
            <a:r>
              <a:rPr dirty="0" err="1"/>
              <a:t>這類問題範圍明確，也不需要執行複雜任務，很適合直接使用</a:t>
            </a:r>
            <a:r>
              <a:rPr dirty="0"/>
              <a:t> Chat。</a:t>
            </a:r>
          </a:p>
          <a:p>
            <a:pPr marL="0" indent="0">
              <a:buFont typeface="Arial" panose="020B0604020202020204" pitchFamily="34" charset="0"/>
              <a:buNone/>
            </a:pPr>
            <a:endParaRPr dirty="0"/>
          </a:p>
          <a:p>
            <a:pPr marL="0" indent="0">
              <a:buFont typeface="Arial" panose="020B0604020202020204" pitchFamily="34" charset="0"/>
              <a:buNone/>
            </a:pPr>
            <a:r>
              <a:rPr dirty="0"/>
              <a:t>[Sources]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dirty="0"/>
              <a:t>- https://</a:t>
            </a:r>
            <a:r>
              <a:rPr dirty="0" err="1"/>
              <a:t>help.openai.com</a:t>
            </a:r>
            <a:r>
              <a:rPr dirty="0"/>
              <a:t>/</a:t>
            </a:r>
            <a:r>
              <a:rPr dirty="0" err="1"/>
              <a:t>en</a:t>
            </a:r>
            <a:r>
              <a:rPr dirty="0"/>
              <a:t>/articles/20001275-chatgpt-work-and-codex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這是 Work 的使用畫面。</a:t>
            </a:r>
          </a:p>
          <a:p>
            <a:endParaRPr/>
          </a:p>
          <a:p>
            <a:r>
              <a:t>使用者提供品牌素材，請 Work 整理成一份主管簡報。</a:t>
            </a:r>
          </a:p>
          <a:p>
            <a:endParaRPr/>
          </a:p>
          <a:p>
            <a:r>
              <a:t>Work 會分析素材、安排內容，再直接產生可以預覽和下載的 PowerPoint。</a:t>
            </a:r>
          </a:p>
          <a:p>
            <a:endParaRPr/>
          </a:p>
          <a:p>
            <a:r>
              <a:t>這就是 Chat 和 Work 的主要差別。</a:t>
            </a:r>
          </a:p>
          <a:p>
            <a:endParaRPr/>
          </a:p>
          <a:p>
            <a:r>
              <a:t>Chat 通常告訴我們可以怎麼做；Work 則會把多個步驟做完，直接交付一份可以使用的成果。</a:t>
            </a:r>
          </a:p>
          <a:p>
            <a:endParaRPr/>
          </a:p>
          <a:p>
            <a:r>
              <a:t>[Sources]</a:t>
            </a:r>
          </a:p>
          <a:p>
            <a:r>
              <a:t>- https://help.openai.com/en/articles/20001275-chatgpt-work-and-codex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這是 Codex 的使用畫面。</a:t>
            </a:r>
          </a:p>
          <a:p>
            <a:endParaRPr/>
          </a:p>
          <a:p>
            <a:r>
              <a:t>這個案例要修正儀表板的載入問題。Codex 先閱讀專案，找出問題，再修改相關程式。</a:t>
            </a:r>
          </a:p>
          <a:p>
            <a:endParaRPr/>
          </a:p>
          <a:p>
            <a:r>
              <a:t>修改完成後，它也會執行測試或開發環境，確認載入中、有資料和沒有資料的畫面都能正確顯示。</a:t>
            </a:r>
          </a:p>
          <a:p>
            <a:endParaRPr/>
          </a:p>
          <a:p>
            <a:r>
              <a:t>右邊可以直接檢查修改前後的差異，也就是 diff。</a:t>
            </a:r>
          </a:p>
          <a:p>
            <a:endParaRPr/>
          </a:p>
          <a:p>
            <a:r>
              <a:t>所以 Codex 不只是幫忙寫程式，而是能從理解問題、修改程式，一路做到測試與審查。</a:t>
            </a:r>
          </a:p>
          <a:p>
            <a:endParaRPr/>
          </a:p>
          <a:p>
            <a:r>
              <a:t>[Sources]</a:t>
            </a:r>
          </a:p>
          <a:p>
            <a:r>
              <a:t>- https://help.openai.com/en/articles/11369540/</a:t>
            </a:r>
          </a:p>
          <a:p>
            <a:r>
              <a:t>- https://learn.chatgpt.com/docs/code-review?surface=app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dirty="0" err="1"/>
              <a:t>從產品發展來看，可以把它理解成從</a:t>
            </a:r>
            <a:r>
              <a:rPr dirty="0"/>
              <a:t> Codex </a:t>
            </a:r>
            <a:r>
              <a:rPr dirty="0" err="1"/>
              <a:t>CLI、Codex</a:t>
            </a:r>
            <a:r>
              <a:rPr dirty="0"/>
              <a:t> </a:t>
            </a:r>
            <a:r>
              <a:rPr dirty="0" err="1"/>
              <a:t>App，再延伸到現在的</a:t>
            </a:r>
            <a:r>
              <a:rPr dirty="0"/>
              <a:t> ChatGPT </a:t>
            </a:r>
            <a:r>
              <a:rPr dirty="0" err="1"/>
              <a:t>桌面版</a:t>
            </a:r>
            <a:r>
              <a:rPr dirty="0"/>
              <a:t>。</a:t>
            </a:r>
          </a:p>
          <a:p>
            <a:pPr marL="158750" indent="0">
              <a:buNone/>
            </a:pPr>
            <a:endParaRPr dirty="0"/>
          </a:p>
          <a:p>
            <a:pPr marL="158750" indent="0">
              <a:buNone/>
            </a:pPr>
            <a:r>
              <a:rPr dirty="0" err="1"/>
              <a:t>原本比較偏向終端機裡的程式開發，現在則把對話、研究、瀏覽器操作和桌面自動化放進同一個環境</a:t>
            </a:r>
            <a:r>
              <a:rPr dirty="0"/>
              <a:t>。</a:t>
            </a:r>
          </a:p>
          <a:p>
            <a:pPr marL="158750" indent="0">
              <a:buNone/>
            </a:pPr>
            <a:endParaRPr dirty="0"/>
          </a:p>
          <a:p>
            <a:pPr marL="158750" indent="0">
              <a:buNone/>
            </a:pPr>
            <a:r>
              <a:rPr dirty="0" err="1"/>
              <a:t>開發者仍然可以使用</a:t>
            </a:r>
            <a:r>
              <a:rPr dirty="0"/>
              <a:t> </a:t>
            </a:r>
            <a:r>
              <a:rPr dirty="0" err="1"/>
              <a:t>CLI、Visual</a:t>
            </a:r>
            <a:r>
              <a:rPr dirty="0"/>
              <a:t> Studio </a:t>
            </a:r>
            <a:r>
              <a:rPr dirty="0" err="1"/>
              <a:t>Code、GitHub</a:t>
            </a:r>
            <a:r>
              <a:rPr dirty="0"/>
              <a:t> </a:t>
            </a:r>
            <a:r>
              <a:rPr dirty="0" err="1"/>
              <a:t>和雲端環境，也可以從其他裝置派發任務、查看進度</a:t>
            </a:r>
            <a:r>
              <a:rPr dirty="0"/>
              <a:t>。</a:t>
            </a:r>
          </a:p>
          <a:p>
            <a:pPr marL="158750" indent="0">
              <a:buNone/>
            </a:pPr>
            <a:endParaRPr dirty="0"/>
          </a:p>
          <a:p>
            <a:pPr marL="158750" indent="0">
              <a:buNone/>
            </a:pPr>
            <a:r>
              <a:rPr dirty="0" err="1"/>
              <a:t>內建瀏覽器可以協助預覽和測試網站；Computer</a:t>
            </a:r>
            <a:r>
              <a:rPr dirty="0"/>
              <a:t> Use </a:t>
            </a:r>
            <a:r>
              <a:rPr dirty="0" err="1"/>
              <a:t>可以操作桌面應用程式</a:t>
            </a:r>
            <a:r>
              <a:rPr dirty="0"/>
              <a:t>。</a:t>
            </a:r>
          </a:p>
          <a:p>
            <a:pPr marL="158750" indent="0">
              <a:buNone/>
            </a:pPr>
            <a:endParaRPr dirty="0"/>
          </a:p>
          <a:p>
            <a:pPr marL="158750" indent="0">
              <a:buNone/>
            </a:pPr>
            <a:r>
              <a:rPr dirty="0"/>
              <a:t>MCP </a:t>
            </a:r>
            <a:r>
              <a:rPr dirty="0" err="1"/>
              <a:t>和</a:t>
            </a:r>
            <a:r>
              <a:rPr dirty="0"/>
              <a:t> Skills </a:t>
            </a:r>
            <a:r>
              <a:rPr dirty="0" err="1"/>
              <a:t>則可以連接外部工具，或把常用流程整理成固定做法</a:t>
            </a:r>
            <a:r>
              <a:rPr dirty="0"/>
              <a:t>。</a:t>
            </a:r>
          </a:p>
          <a:p>
            <a:pPr marL="158750" indent="0">
              <a:buNone/>
            </a:pPr>
            <a:endParaRPr dirty="0"/>
          </a:p>
          <a:p>
            <a:pPr marL="158750" indent="0">
              <a:buNone/>
            </a:pPr>
            <a:r>
              <a:rPr dirty="0" err="1"/>
              <a:t>任務比較大時，也能拆給多個</a:t>
            </a:r>
            <a:r>
              <a:rPr dirty="0"/>
              <a:t> Agent </a:t>
            </a:r>
            <a:r>
              <a:rPr dirty="0" err="1"/>
              <a:t>同時處理</a:t>
            </a:r>
            <a:r>
              <a:rPr dirty="0"/>
              <a:t>。</a:t>
            </a:r>
          </a:p>
          <a:p>
            <a:pPr marL="158750" indent="0">
              <a:buNone/>
            </a:pPr>
            <a:endParaRPr dirty="0"/>
          </a:p>
          <a:p>
            <a:pPr marL="158750" indent="0">
              <a:buNone/>
            </a:pPr>
            <a:r>
              <a:rPr dirty="0" err="1"/>
              <a:t>不過，能操作的工具愈多，權限管理就愈重要。因此還需要透過</a:t>
            </a:r>
            <a:r>
              <a:rPr dirty="0"/>
              <a:t> </a:t>
            </a:r>
            <a:r>
              <a:rPr dirty="0" err="1"/>
              <a:t>Sandbox，限制檔案和網路的存取範圍</a:t>
            </a:r>
            <a:r>
              <a:rPr dirty="0"/>
              <a:t>。</a:t>
            </a:r>
          </a:p>
          <a:p>
            <a:pPr marL="158750" indent="0">
              <a:buNone/>
            </a:pPr>
            <a:endParaRPr dirty="0"/>
          </a:p>
          <a:p>
            <a:pPr marL="158750" indent="0">
              <a:buNone/>
            </a:pPr>
            <a:r>
              <a:rPr dirty="0" err="1"/>
              <a:t>整體來說，它已經不只是開發工具，而是一個跨環境的</a:t>
            </a:r>
            <a:r>
              <a:rPr dirty="0"/>
              <a:t> AI </a:t>
            </a:r>
            <a:r>
              <a:rPr dirty="0" err="1"/>
              <a:t>工作平台</a:t>
            </a:r>
            <a:r>
              <a:rPr dirty="0"/>
              <a:t>。</a:t>
            </a:r>
          </a:p>
          <a:p>
            <a:pPr marL="158750" indent="0">
              <a:buNone/>
            </a:pPr>
            <a:endParaRPr dirty="0"/>
          </a:p>
          <a:p>
            <a:pPr marL="158750" indent="0">
              <a:buNone/>
            </a:pPr>
            <a:r>
              <a:rPr dirty="0"/>
              <a:t>[Sources]</a:t>
            </a:r>
          </a:p>
          <a:p>
            <a:pPr marL="158750" indent="0">
              <a:buNone/>
            </a:pPr>
            <a:r>
              <a:rPr dirty="0"/>
              <a:t>- https://</a:t>
            </a:r>
            <a:r>
              <a:rPr dirty="0" err="1"/>
              <a:t>help.openai.com</a:t>
            </a:r>
            <a:r>
              <a:rPr dirty="0"/>
              <a:t>/</a:t>
            </a:r>
            <a:r>
              <a:rPr dirty="0" err="1"/>
              <a:t>en</a:t>
            </a:r>
            <a:r>
              <a:rPr dirty="0"/>
              <a:t>/articles/20001275-chatgpt-work-and-codex</a:t>
            </a:r>
          </a:p>
          <a:p>
            <a:pPr marL="158750" indent="0">
              <a:buNone/>
            </a:pPr>
            <a:r>
              <a:rPr dirty="0"/>
              <a:t>- https://</a:t>
            </a:r>
            <a:r>
              <a:rPr dirty="0" err="1"/>
              <a:t>learn.chatgpt.com</a:t>
            </a:r>
            <a:r>
              <a:rPr dirty="0"/>
              <a:t>/docs/app</a:t>
            </a:r>
          </a:p>
          <a:p>
            <a:pPr marL="158750" indent="0">
              <a:buNone/>
            </a:pPr>
            <a:r>
              <a:rPr dirty="0"/>
              <a:t>- https://</a:t>
            </a:r>
            <a:r>
              <a:rPr dirty="0" err="1"/>
              <a:t>help.openai.com</a:t>
            </a:r>
            <a:r>
              <a:rPr dirty="0"/>
              <a:t>/</a:t>
            </a:r>
            <a:r>
              <a:rPr dirty="0" err="1"/>
              <a:t>en</a:t>
            </a:r>
            <a:r>
              <a:rPr dirty="0"/>
              <a:t>/articles/11369540/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dirty="0" err="1"/>
              <a:t>最後簡單比較</a:t>
            </a:r>
            <a:r>
              <a:rPr dirty="0"/>
              <a:t> ChatGPT </a:t>
            </a:r>
            <a:r>
              <a:rPr dirty="0" err="1"/>
              <a:t>桌面版和</a:t>
            </a:r>
            <a:r>
              <a:rPr dirty="0"/>
              <a:t> Claude Desktop。</a:t>
            </a:r>
          </a:p>
          <a:p>
            <a:pPr marL="158750" indent="0">
              <a:buNone/>
            </a:pPr>
            <a:endParaRPr dirty="0"/>
          </a:p>
          <a:p>
            <a:pPr marL="158750" indent="0">
              <a:buNone/>
            </a:pPr>
            <a:r>
              <a:rPr dirty="0" err="1"/>
              <a:t>兩者的功能愈來愈接近，都可以聊天、執行任務、操作桌面，也都有程式開發工具</a:t>
            </a:r>
            <a:r>
              <a:rPr dirty="0"/>
              <a:t>。</a:t>
            </a:r>
          </a:p>
          <a:p>
            <a:pPr marL="158750" indent="0">
              <a:buNone/>
            </a:pPr>
            <a:endParaRPr dirty="0"/>
          </a:p>
          <a:p>
            <a:pPr marL="158750" indent="0">
              <a:buNone/>
            </a:pPr>
            <a:r>
              <a:rPr dirty="0" err="1"/>
              <a:t>主要差別在整合方式</a:t>
            </a:r>
            <a:r>
              <a:rPr dirty="0"/>
              <a:t>。</a:t>
            </a:r>
          </a:p>
          <a:p>
            <a:pPr marL="158750" indent="0">
              <a:buNone/>
            </a:pPr>
            <a:endParaRPr dirty="0"/>
          </a:p>
          <a:p>
            <a:pPr marL="158750" indent="0">
              <a:buNone/>
            </a:pPr>
            <a:r>
              <a:rPr dirty="0"/>
              <a:t>ChatGPT </a:t>
            </a:r>
            <a:r>
              <a:rPr dirty="0" err="1"/>
              <a:t>透過</a:t>
            </a:r>
            <a:r>
              <a:rPr dirty="0"/>
              <a:t> </a:t>
            </a:r>
            <a:r>
              <a:rPr dirty="0" err="1"/>
              <a:t>Chat、Work</a:t>
            </a:r>
            <a:r>
              <a:rPr dirty="0"/>
              <a:t> </a:t>
            </a:r>
            <a:r>
              <a:rPr dirty="0" err="1"/>
              <a:t>和</a:t>
            </a:r>
            <a:r>
              <a:rPr dirty="0"/>
              <a:t> </a:t>
            </a:r>
            <a:r>
              <a:rPr dirty="0" err="1"/>
              <a:t>Codex，把問答、內容產出與軟體開發放在同一個桌面環境</a:t>
            </a:r>
            <a:r>
              <a:rPr dirty="0"/>
              <a:t>。</a:t>
            </a:r>
          </a:p>
          <a:p>
            <a:pPr marL="158750" indent="0">
              <a:buNone/>
            </a:pPr>
            <a:endParaRPr dirty="0"/>
          </a:p>
          <a:p>
            <a:pPr marL="158750" indent="0">
              <a:buNone/>
            </a:pPr>
            <a:r>
              <a:rPr dirty="0"/>
              <a:t>Claude Desktop </a:t>
            </a:r>
            <a:r>
              <a:rPr dirty="0" err="1"/>
              <a:t>則透過</a:t>
            </a:r>
            <a:r>
              <a:rPr dirty="0"/>
              <a:t> </a:t>
            </a:r>
            <a:r>
              <a:rPr dirty="0" err="1"/>
              <a:t>Cowork、Claude</a:t>
            </a:r>
            <a:r>
              <a:rPr dirty="0"/>
              <a:t> </a:t>
            </a:r>
            <a:r>
              <a:rPr dirty="0" err="1"/>
              <a:t>Code、Connectors</a:t>
            </a:r>
            <a:r>
              <a:rPr dirty="0"/>
              <a:t> </a:t>
            </a:r>
            <a:r>
              <a:rPr dirty="0" err="1"/>
              <a:t>和</a:t>
            </a:r>
            <a:r>
              <a:rPr dirty="0"/>
              <a:t> </a:t>
            </a:r>
            <a:r>
              <a:rPr dirty="0" err="1"/>
              <a:t>Artifacts，深入既有工具與工作流程</a:t>
            </a:r>
            <a:r>
              <a:rPr dirty="0"/>
              <a:t>。</a:t>
            </a:r>
          </a:p>
          <a:p>
            <a:pPr marL="158750" indent="0">
              <a:buNone/>
            </a:pPr>
            <a:endParaRPr dirty="0"/>
          </a:p>
          <a:p>
            <a:pPr marL="158750" indent="0">
              <a:buNone/>
            </a:pPr>
            <a:r>
              <a:rPr dirty="0" err="1"/>
              <a:t>所以這裡不是要判斷哪一個一定比較好，而是要看團隊需要什麼</a:t>
            </a:r>
            <a:r>
              <a:rPr dirty="0"/>
              <a:t>。</a:t>
            </a:r>
          </a:p>
          <a:p>
            <a:pPr marL="158750" indent="0">
              <a:buNone/>
            </a:pPr>
            <a:endParaRPr dirty="0"/>
          </a:p>
          <a:p>
            <a:pPr marL="158750" indent="0">
              <a:buNone/>
            </a:pPr>
            <a:r>
              <a:rPr dirty="0" err="1"/>
              <a:t>如果希望從問答、研究、文件產出，一路連接到軟體開發，ChatGPT</a:t>
            </a:r>
            <a:r>
              <a:rPr dirty="0"/>
              <a:t> </a:t>
            </a:r>
            <a:r>
              <a:rPr dirty="0" err="1"/>
              <a:t>桌面版比較像完整的工作平台</a:t>
            </a:r>
            <a:r>
              <a:rPr dirty="0"/>
              <a:t>。</a:t>
            </a:r>
          </a:p>
          <a:p>
            <a:pPr marL="158750" indent="0">
              <a:buNone/>
            </a:pPr>
            <a:endParaRPr dirty="0"/>
          </a:p>
          <a:p>
            <a:pPr marL="158750" indent="0">
              <a:buNone/>
            </a:pPr>
            <a:r>
              <a:rPr dirty="0" err="1"/>
              <a:t>回到今天的重點，ChatGPT</a:t>
            </a:r>
            <a:r>
              <a:rPr dirty="0"/>
              <a:t> </a:t>
            </a:r>
            <a:r>
              <a:rPr dirty="0" err="1"/>
              <a:t>桌面版的價值，就是讓</a:t>
            </a:r>
            <a:r>
              <a:rPr dirty="0"/>
              <a:t> AI </a:t>
            </a:r>
            <a:r>
              <a:rPr dirty="0" err="1"/>
              <a:t>從「回答問題</a:t>
            </a:r>
            <a:r>
              <a:rPr dirty="0"/>
              <a:t>」，</a:t>
            </a:r>
            <a:r>
              <a:rPr dirty="0" err="1"/>
              <a:t>進一步變成「參與完成工作</a:t>
            </a:r>
            <a:r>
              <a:rPr dirty="0"/>
              <a:t>」。</a:t>
            </a:r>
          </a:p>
          <a:p>
            <a:pPr marL="158750" indent="0">
              <a:buNone/>
            </a:pPr>
            <a:endParaRPr dirty="0"/>
          </a:p>
          <a:p>
            <a:pPr marL="158750" indent="0">
              <a:buNone/>
            </a:pPr>
            <a:r>
              <a:rPr dirty="0" err="1"/>
              <a:t>以上是今天的介紹，謝謝大家</a:t>
            </a:r>
            <a:r>
              <a:rPr dirty="0"/>
              <a:t>。</a:t>
            </a:r>
          </a:p>
          <a:p>
            <a:pPr marL="158750" indent="0">
              <a:buNone/>
            </a:pPr>
            <a:endParaRPr dirty="0"/>
          </a:p>
          <a:p>
            <a:pPr marL="158750" indent="0">
              <a:buNone/>
            </a:pPr>
            <a:r>
              <a:rPr dirty="0"/>
              <a:t>[Sources]</a:t>
            </a:r>
          </a:p>
          <a:p>
            <a:pPr marL="158750" indent="0">
              <a:buNone/>
            </a:pPr>
            <a:r>
              <a:rPr dirty="0"/>
              <a:t>- https://</a:t>
            </a:r>
            <a:r>
              <a:rPr dirty="0" err="1"/>
              <a:t>help.openai.com</a:t>
            </a:r>
            <a:r>
              <a:rPr dirty="0"/>
              <a:t>/</a:t>
            </a:r>
            <a:r>
              <a:rPr dirty="0" err="1"/>
              <a:t>en</a:t>
            </a:r>
            <a:r>
              <a:rPr dirty="0"/>
              <a:t>/articles/20001275-chatgpt-work-and-codex</a:t>
            </a:r>
          </a:p>
          <a:p>
            <a:pPr marL="158750" indent="0">
              <a:buNone/>
            </a:pPr>
            <a:r>
              <a:rPr dirty="0"/>
              <a:t>- https://</a:t>
            </a:r>
            <a:r>
              <a:rPr dirty="0" err="1"/>
              <a:t>support.anthropic.com</a:t>
            </a:r>
            <a:r>
              <a:rPr dirty="0"/>
              <a:t>/</a:t>
            </a:r>
            <a:r>
              <a:rPr dirty="0" err="1"/>
              <a:t>en</a:t>
            </a:r>
            <a:r>
              <a:rPr dirty="0"/>
              <a:t>/articles/11725091-when-to-use-desktop-and-web-connectors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userDrawn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4">
            <a:extLst>
              <a:ext uri="{FF2B5EF4-FFF2-40B4-BE49-F238E27FC236}">
                <a16:creationId xmlns:a16="http://schemas.microsoft.com/office/drawing/2014/main" id="{C8517C05-06FF-4794-96F9-F3D1F5CF82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388" y="72000"/>
            <a:ext cx="11161712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>
            <a:noAutofit/>
          </a:bodyPr>
          <a:lstStyle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endParaRPr/>
          </a:p>
        </p:txBody>
      </p:sp>
      <p:sp>
        <p:nvSpPr>
          <p:cNvPr id="19" name="Google Shape;19;p34">
            <a:extLst>
              <a:ext uri="{FF2B5EF4-FFF2-40B4-BE49-F238E27FC236}">
                <a16:creationId xmlns:a16="http://schemas.microsoft.com/office/drawing/2014/main" id="{10647FDC-03D3-4FA5-84E3-70CA9BFBE1D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79388" y="719138"/>
            <a:ext cx="11161712" cy="5401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t">
            <a:noAutofit/>
          </a:bodyPr>
          <a:lstStyle>
            <a:lvl1pPr marL="252000" marR="0" indent="-21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600" b="0" i="0" u="none" cap="none">
                <a:solidFill>
                  <a:schemeClr val="tx1"/>
                </a:solidFill>
                <a:latin typeface="微軟正黑體"/>
                <a:ea typeface="微軟正黑體"/>
                <a:cs typeface="微軟正黑體"/>
              </a:defRPr>
            </a:lvl1pPr>
            <a:lvl2pPr marL="504000" marR="0" indent="-21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400" b="0" i="0" u="none" cap="none">
                <a:solidFill>
                  <a:schemeClr val="tx1"/>
                </a:solidFill>
                <a:latin typeface="微軟正黑體"/>
                <a:ea typeface="微軟正黑體"/>
                <a:cs typeface="微軟正黑體"/>
              </a:defRPr>
            </a:lvl2pPr>
            <a:lvl3pPr marL="756000" marR="0" indent="-21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200" b="0" i="0" u="none" cap="none">
                <a:solidFill>
                  <a:schemeClr val="tx1"/>
                </a:solidFill>
                <a:latin typeface="微軟正黑體"/>
                <a:ea typeface="微軟正黑體"/>
                <a:cs typeface="微軟正黑體"/>
              </a:defRPr>
            </a:lvl3pPr>
            <a:lvl4pPr marL="1008000" marR="0" indent="-21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000" b="0" i="0" u="none" cap="none">
                <a:solidFill>
                  <a:schemeClr val="tx1"/>
                </a:solidFill>
                <a:latin typeface="微軟正黑體"/>
                <a:ea typeface="微軟正黑體"/>
                <a:cs typeface="微軟正黑體"/>
              </a:defRPr>
            </a:lvl4pPr>
            <a:lvl5pPr marL="1260000" marR="0" indent="-21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800" b="0" i="0" u="none" cap="none">
                <a:solidFill>
                  <a:schemeClr val="tx1"/>
                </a:solidFill>
                <a:latin typeface="微軟正黑體"/>
                <a:ea typeface="微軟正黑體"/>
                <a:cs typeface="微軟正黑體"/>
              </a:defRPr>
            </a:lvl5pPr>
            <a:lvl6pPr marL="1512000" marR="0" indent="-21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Microsoft JhengHei Light"/>
              <a:buChar char="o"/>
              <a:defRPr sz="1600" b="0" i="0" u="none" cap="none">
                <a:solidFill>
                  <a:schemeClr val="tx1"/>
                </a:solidFill>
                <a:latin typeface="微軟正黑體"/>
                <a:ea typeface="微軟正黑體"/>
                <a:cs typeface="微軟正黑體"/>
              </a:defRPr>
            </a:lvl6pPr>
            <a:lvl7pPr marL="3200400" marR="0" indent="-355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cap="none">
                <a:solidFill>
                  <a:srgbClr val="5489A3"/>
                </a:solidFill>
                <a:latin typeface="Roboto"/>
                <a:ea typeface="Roboto"/>
                <a:cs typeface="Roboto"/>
              </a:defRPr>
            </a:lvl7pPr>
            <a:lvl8pPr marL="3657600" marR="0" indent="-355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cap="none">
                <a:solidFill>
                  <a:srgbClr val="5489A3"/>
                </a:solidFill>
                <a:latin typeface="Roboto"/>
                <a:ea typeface="Roboto"/>
                <a:cs typeface="Roboto"/>
              </a:defRPr>
            </a:lvl8pPr>
            <a:lvl9pPr marL="4114800" marR="0" indent="-35560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cap="none">
                <a:solidFill>
                  <a:srgbClr val="5489A3"/>
                </a:solidFill>
                <a:latin typeface="Roboto"/>
                <a:ea typeface="Roboto"/>
                <a:cs typeface="Roboto"/>
              </a:defRPr>
            </a:lvl9pPr>
          </a:lstStyle>
          <a:p>
            <a:pPr lvl="0">
              <a:buNone/>
            </a:pPr>
            <a:r>
              <a:t>第一層</a:t>
            </a:r>
          </a:p>
          <a:p>
            <a:pPr lvl="1">
              <a:buNone/>
            </a:pPr>
            <a:r>
              <a:t>第二層</a:t>
            </a:r>
          </a:p>
          <a:p>
            <a:pPr lvl="2">
              <a:buNone/>
            </a:pPr>
            <a:r>
              <a:t>第三層</a:t>
            </a:r>
          </a:p>
          <a:p>
            <a:pPr lvl="3">
              <a:buNone/>
            </a:pPr>
            <a:r>
              <a:t>第四層</a:t>
            </a:r>
          </a:p>
          <a:p>
            <a:pPr lvl="4">
              <a:buNone/>
            </a:pPr>
            <a:r>
              <a:t>第五層</a:t>
            </a:r>
          </a:p>
        </p:txBody>
      </p:sp>
      <p:cxnSp>
        <p:nvCxnSpPr>
          <p:cNvPr id="26" name="Google Shape;20;p34"/>
          <p:cNvCxnSpPr/>
          <p:nvPr/>
        </p:nvCxnSpPr>
        <p:spPr>
          <a:xfrm>
            <a:off x="179388" y="612000"/>
            <a:ext cx="11161712" cy="0"/>
          </a:xfrm>
          <a:prstGeom prst="straightConnector1">
            <a:avLst/>
          </a:prstGeom>
          <a:ln w="15875" cap="flat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Google Shape;9;p32"/>
          <p:cNvCxnSpPr/>
          <p:nvPr/>
        </p:nvCxnSpPr>
        <p:spPr>
          <a:xfrm>
            <a:off x="1440000" y="2880000"/>
            <a:ext cx="5760000" cy="0"/>
          </a:xfrm>
          <a:prstGeom prst="straightConnector1">
            <a:avLst/>
          </a:prstGeom>
          <a:ln w="15875" cap="flat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" name="Google Shape;10;p32">
            <a:extLst>
              <a:ext uri="{FF2B5EF4-FFF2-40B4-BE49-F238E27FC236}">
                <a16:creationId xmlns:a16="http://schemas.microsoft.com/office/drawing/2014/main" id="{7B925996-2FA7-4A3F-652D-7B1D8634C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0000" y="2160000"/>
            <a:ext cx="576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0000" tIns="46800" rIns="90000" bIns="46800" anchor="ctr">
            <a:noAutofit/>
          </a:bodyPr>
          <a:lstStyle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3600" i="0" u="non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cap="none">
                <a:solidFill>
                  <a:schemeClr val="dk2"/>
                </a:solidFill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cap="none">
                <a:solidFill>
                  <a:schemeClr val="dk2"/>
                </a:solidFill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cap="none">
                <a:solidFill>
                  <a:schemeClr val="dk2"/>
                </a:solidFill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cap="none">
                <a:solidFill>
                  <a:schemeClr val="dk2"/>
                </a:solidFill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cap="none">
                <a:solidFill>
                  <a:schemeClr val="dk2"/>
                </a:solidFill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cap="none">
                <a:solidFill>
                  <a:schemeClr val="dk2"/>
                </a:solidFill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cap="none">
                <a:solidFill>
                  <a:schemeClr val="dk2"/>
                </a:solidFill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Google Shape;9;p32"/>
          <p:cNvCxnSpPr/>
          <p:nvPr/>
        </p:nvCxnSpPr>
        <p:spPr>
          <a:xfrm>
            <a:off x="1440000" y="2880000"/>
            <a:ext cx="8640000" cy="0"/>
          </a:xfrm>
          <a:prstGeom prst="straightConnector1">
            <a:avLst/>
          </a:prstGeom>
          <a:ln w="15875" cap="flat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10;p32">
            <a:extLst>
              <a:ext uri="{FF2B5EF4-FFF2-40B4-BE49-F238E27FC236}">
                <a16:creationId xmlns:a16="http://schemas.microsoft.com/office/drawing/2014/main" id="{C7D812B6-8826-4A65-83D2-E3EF1A8BC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0000" y="2160000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>
            <a:noAutofit/>
          </a:bodyPr>
          <a:lstStyle>
            <a:lvl1pPr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3600" i="0" u="non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cap="none">
                <a:solidFill>
                  <a:schemeClr val="dk2"/>
                </a:solidFill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cap="none">
                <a:solidFill>
                  <a:schemeClr val="dk2"/>
                </a:solidFill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cap="none">
                <a:solidFill>
                  <a:schemeClr val="dk2"/>
                </a:solidFill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cap="none">
                <a:solidFill>
                  <a:schemeClr val="dk2"/>
                </a:solidFill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cap="none">
                <a:solidFill>
                  <a:schemeClr val="dk2"/>
                </a:solidFill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cap="none">
                <a:solidFill>
                  <a:schemeClr val="dk2"/>
                </a:solidFill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cap="none">
                <a:solidFill>
                  <a:schemeClr val="dk2"/>
                </a:solidFill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32">
            <a:extLst>
              <a:ext uri="{FF2B5EF4-FFF2-40B4-BE49-F238E27FC236}">
                <a16:creationId xmlns:a16="http://schemas.microsoft.com/office/drawing/2014/main" id="{4EF20780-8AF8-447B-9B6F-D31D63FBE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40000" y="4320000"/>
            <a:ext cx="8640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>
            <a:noAutofit/>
          </a:bodyPr>
          <a:lstStyle>
            <a:lvl1pPr marL="457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JhengHei"/>
              <a:buNone/>
              <a:defRPr sz="2800" i="0" u="non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defRPr>
            </a:lvl1pPr>
            <a:lvl2pPr marL="9144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200" b="0" i="0" u="non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2pPr>
            <a:lvl3pPr marL="13716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1000" b="0" i="0" u="non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3pPr>
            <a:lvl4pPr marL="18288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  <a:defRPr sz="900" b="0" i="0" u="non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4pPr>
            <a:lvl5pPr marL="22860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5pPr>
            <a:lvl6pPr marL="27432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6pPr>
            <a:lvl7pPr marL="32004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7pPr>
            <a:lvl8pPr marL="36576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8pPr>
            <a:lvl9pPr marL="41148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>
            <a:endParaRPr/>
          </a:p>
        </p:txBody>
      </p:sp>
      <p:sp>
        <p:nvSpPr>
          <p:cNvPr id="12" name="Google Shape;12;p32">
            <a:extLst>
              <a:ext uri="{FF2B5EF4-FFF2-40B4-BE49-F238E27FC236}">
                <a16:creationId xmlns:a16="http://schemas.microsoft.com/office/drawing/2014/main" id="{526B4D59-9C11-41A1-BB89-35D278E2746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440000" y="5040000"/>
            <a:ext cx="8640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>
            <a:noAutofit/>
          </a:bodyPr>
          <a:lstStyle>
            <a:lvl1pPr marL="457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Microsoft JhengHei"/>
              <a:buNone/>
              <a:defRPr sz="1600" i="0" u="non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defRPr>
            </a:lvl1pPr>
            <a:lvl2pPr marL="9144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200" b="0" i="0" u="non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2pPr>
            <a:lvl3pPr marL="13716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1000" b="0" i="0" u="non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3pPr>
            <a:lvl4pPr marL="18288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  <a:defRPr sz="900" b="0" i="0" u="non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4pPr>
            <a:lvl5pPr marL="22860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5pPr>
            <a:lvl6pPr marL="27432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6pPr>
            <a:lvl7pPr marL="32004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7pPr>
            <a:lvl8pPr marL="36576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8pPr>
            <a:lvl9pPr marL="41148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版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64E9B3DD-FAA0-DF43-8AE4-2105CE51701D}"/>
              </a:ext>
            </a:extLst>
          </p:cNvPr>
          <p:cNvSpPr>
            <a:spLocks noGrp="1"/>
          </p:cNvSpPr>
          <p:nvPr/>
        </p:nvSpPr>
        <p:spPr>
          <a:xfrm>
            <a:off x="604826" y="608597"/>
            <a:ext cx="10310836" cy="52629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buNone/>
            </a:pPr>
            <a:r>
              <a:rPr sz="9600">
                <a:latin typeface="Microsoft JhengHei"/>
                <a:ea typeface="Microsoft JhengHei"/>
                <a:cs typeface="Microsoft JhengHei"/>
              </a:rPr>
              <a:t>Template Version</a:t>
            </a:r>
          </a:p>
          <a:p>
            <a:pPr algn="ctr">
              <a:buNone/>
            </a:pPr>
            <a:r>
              <a:rPr sz="24000">
                <a:latin typeface="Microsoft JhengHei"/>
                <a:ea typeface="Microsoft JhengHei"/>
                <a:cs typeface="Microsoft JhengHei"/>
              </a:rPr>
              <a:t>v7.1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5994000"/>
            <a:ext cx="4406303" cy="705606"/>
          </a:xfrm>
          <a:prstGeom prst="rect">
            <a:avLst/>
          </a:prstGeom>
        </p:spPr>
      </p:pic>
      <p:sp>
        <p:nvSpPr>
          <p:cNvPr id="6" name="Google Shape;6;p31">
            <a:extLst>
              <a:ext uri="{FF2B5EF4-FFF2-40B4-BE49-F238E27FC236}">
                <a16:creationId xmlns:a16="http://schemas.microsoft.com/office/drawing/2014/main" id="{D8385310-67F7-4465-A8A6-16899B98E6BB}"/>
              </a:ext>
            </a:extLst>
          </p:cNvPr>
          <p:cNvSpPr>
            <a:spLocks noGrp="1"/>
          </p:cNvSpPr>
          <p:nvPr/>
        </p:nvSpPr>
        <p:spPr>
          <a:xfrm>
            <a:off x="0" y="6237968"/>
            <a:ext cx="381603" cy="242207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88150" tIns="44050" rIns="88150" bIns="44050" anchor="b">
            <a:spAutoFit/>
          </a:bodyPr>
          <a:lstStyle/>
          <a:p>
            <a:pPr marL="0" marR="0" lvl="0" indent="0" algn="ctr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sz="1200" b="0" i="0" u="non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‹#›</a:t>
            </a:fld>
            <a:endParaRPr sz="1200" b="0" i="0" u="none" cap="none">
              <a:solidFill>
                <a:schemeClr val="dk1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pic>
        <p:nvPicPr>
          <p:cNvPr id="11" name="圖片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00000" y="6156000"/>
            <a:ext cx="2462731" cy="291229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F2DBFD30-7CBC-FF44-A3CD-E1370C8D3C26}"/>
              </a:ext>
            </a:extLst>
          </p:cNvPr>
          <p:cNvSpPr>
            <a:spLocks noGrp="1"/>
          </p:cNvSpPr>
          <p:nvPr/>
        </p:nvSpPr>
        <p:spPr>
          <a:xfrm>
            <a:off x="7362000" y="6228000"/>
            <a:ext cx="1636426" cy="206957"/>
          </a:xfrm>
          <a:prstGeom prst="rect">
            <a:avLst/>
          </a:prstGeom>
          <a:noFill/>
          <a:ln>
            <a:noFill/>
          </a:ln>
        </p:spPr>
        <p:txBody>
          <a:bodyPr wrap="none" lIns="86400" tIns="43200" rIns="86400" bIns="43200" anchor="ctr">
            <a:spAutoFit/>
          </a:bodyPr>
          <a:lstStyle>
            <a:lvl1pPr algn="l">
              <a:spcBef>
                <a:spcPct val="0"/>
              </a:spcBef>
              <a:spcAft>
                <a:spcPct val="0"/>
              </a:spcAft>
              <a:buNone/>
              <a:defRPr sz="4000" b="1" kern="12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457200" algn="l">
              <a:spcBef>
                <a:spcPct val="0"/>
              </a:spcBef>
              <a:spcAft>
                <a:spcPct val="0"/>
              </a:spcAft>
              <a:buNone/>
              <a:defRPr sz="4000" b="1" kern="12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914400" algn="l">
              <a:spcBef>
                <a:spcPct val="0"/>
              </a:spcBef>
              <a:spcAft>
                <a:spcPct val="0"/>
              </a:spcAft>
              <a:buNone/>
              <a:defRPr sz="4000" b="1" kern="12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371600" algn="l">
              <a:spcBef>
                <a:spcPct val="0"/>
              </a:spcBef>
              <a:spcAft>
                <a:spcPct val="0"/>
              </a:spcAft>
              <a:buNone/>
              <a:defRPr sz="4000" b="1" kern="12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1828800" algn="l">
              <a:spcBef>
                <a:spcPct val="0"/>
              </a:spcBef>
              <a:spcAft>
                <a:spcPct val="0"/>
              </a:spcAft>
              <a:buNone/>
              <a:defRPr sz="4000" b="1" kern="12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286000" algn="l" defTabSz="914400">
              <a:buNone/>
              <a:defRPr sz="4000" b="1" kern="12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743200" algn="l" defTabSz="914400">
              <a:buNone/>
              <a:defRPr sz="4000" b="1" kern="12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200400" algn="l" defTabSz="914400">
              <a:buNone/>
              <a:defRPr sz="4000" b="1" kern="12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657600" algn="l" defTabSz="914400">
              <a:buNone/>
              <a:defRPr sz="4000" b="1" kern="12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lnSpc>
                <a:spcPts val="964"/>
              </a:lnSpc>
              <a:buNone/>
            </a:pPr>
            <a:r>
              <a:rPr sz="800" b="0">
                <a:solidFill>
                  <a:srgbClr val="B2B2B2"/>
                </a:solidFill>
                <a:latin typeface="微軟正黑體"/>
                <a:ea typeface="微軟正黑體"/>
                <a:cs typeface="微軟正黑體"/>
              </a:rPr>
              <a:t>機密資料僅限永豐金控內部使用 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97" userDrawn="1">
          <p15:clr>
            <a:srgbClr val="A4A3A4"/>
          </p15:clr>
        </p15:guide>
        <p15:guide id="3" pos="7144" userDrawn="1">
          <p15:clr>
            <a:srgbClr val="A4A3A4"/>
          </p15:clr>
        </p15:guide>
        <p15:guide id="4" pos="113" userDrawn="1">
          <p15:clr>
            <a:srgbClr val="A4A3A4"/>
          </p15:clr>
        </p15:guide>
        <p15:guide id="5" orient="horz" pos="3855" userDrawn="1">
          <p15:clr>
            <a:srgbClr val="A4A3A4"/>
          </p15:clr>
        </p15:guide>
        <p15:guide id="6" orient="horz" pos="45" userDrawn="1">
          <p15:clr>
            <a:srgbClr val="A4A3A4"/>
          </p15:clr>
        </p15:guide>
        <p15:guide id="11" pos="3629" userDrawn="1">
          <p15:clr>
            <a:srgbClr val="F26B43"/>
          </p15:clr>
        </p15:guide>
        <p15:guide id="12" pos="3560" userDrawn="1">
          <p15:clr>
            <a:srgbClr val="A4A3A4"/>
          </p15:clr>
        </p15:guide>
        <p15:guide id="13" pos="2495" userDrawn="1">
          <p15:clr>
            <a:srgbClr val="A4A3A4"/>
          </p15:clr>
        </p15:guide>
        <p15:guide id="14" pos="2381" userDrawn="1">
          <p15:clr>
            <a:srgbClr val="A4A3A4"/>
          </p15:clr>
        </p15:guide>
        <p15:guide id="15" pos="4762" userDrawn="1">
          <p15:clr>
            <a:srgbClr val="A4A3A4"/>
          </p15:clr>
        </p15:guide>
        <p15:guide id="16" pos="4876" userDrawn="1">
          <p15:clr>
            <a:srgbClr val="A4A3A4"/>
          </p15:clr>
        </p15:guide>
        <p15:guide id="18" orient="horz" pos="385" userDrawn="1">
          <p15:clr>
            <a:srgbClr val="A4A3A4"/>
          </p15:clr>
        </p15:guide>
        <p15:guide id="19" orient="horz" pos="453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">
            <a:extLst>
              <a:ext uri="{FF2B5EF4-FFF2-40B4-BE49-F238E27FC236}">
                <a16:creationId xmlns:a16="http://schemas.microsoft.com/office/drawing/2014/main" id="{5B171F3D-7F5D-41D5-BACA-20946ABC1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0000" y="2070261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>
            <a:noAutofit/>
          </a:bodyPr>
          <a:lstStyle/>
          <a:p>
            <a:r>
              <a:rPr b="1"/>
              <a:t>ChatGPT 桌面版</a:t>
            </a:r>
          </a:p>
        </p:txBody>
      </p:sp>
      <p:sp>
        <p:nvSpPr>
          <p:cNvPr id="37" name="Google Shape;37;p1">
            <a:extLst>
              <a:ext uri="{FF2B5EF4-FFF2-40B4-BE49-F238E27FC236}">
                <a16:creationId xmlns:a16="http://schemas.microsoft.com/office/drawing/2014/main" id="{B86EB1AA-F08F-4AE7-85FD-EBAB67799E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>
            <a:noAutofit/>
          </a:bodyPr>
          <a:lstStyle/>
          <a:p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JhengHei"/>
              <a:buNone/>
            </a:pPr>
            <a:r>
              <a:rPr sz="2800" b="0"/>
              <a:t>數位科技處</a:t>
            </a:r>
          </a:p>
        </p:txBody>
      </p:sp>
      <p:sp>
        <p:nvSpPr>
          <p:cNvPr id="38" name="Google Shape;38;p1">
            <a:extLst>
              <a:ext uri="{FF2B5EF4-FFF2-40B4-BE49-F238E27FC236}">
                <a16:creationId xmlns:a16="http://schemas.microsoft.com/office/drawing/2014/main" id="{0B9DBE64-9212-4607-9515-06BE0C55794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>
            <a:noAutofit/>
          </a:bodyPr>
          <a:lstStyle/>
          <a:p>
            <a:pPr marL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600" b="0"/>
              <a:t>2026.07.28</a:t>
            </a:r>
          </a:p>
        </p:txBody>
      </p:sp>
      <p:sp>
        <p:nvSpPr>
          <p:cNvPr id="2" name="Google Shape;36;p1">
            <a:extLst>
              <a:ext uri="{FF2B5EF4-FFF2-40B4-BE49-F238E27FC236}">
                <a16:creationId xmlns:a16="http://schemas.microsoft.com/office/drawing/2014/main" id="{54650CD5-C1B9-D7DB-46A1-AE5D76D77848}"/>
              </a:ext>
            </a:extLst>
          </p:cNvPr>
          <p:cNvSpPr>
            <a:spLocks noGrp="1"/>
          </p:cNvSpPr>
          <p:nvPr/>
        </p:nvSpPr>
        <p:spPr>
          <a:xfrm>
            <a:off x="1440000" y="2970261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>
            <a:noAutofit/>
          </a:bodyPr>
          <a:lstStyle>
            <a:lvl1pPr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3600" b="0" i="0" u="non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sz="3200" b="1"/>
              <a:t>從聊天工具到工作代理平台</a:t>
            </a:r>
          </a:p>
        </p:txBody>
      </p:sp>
    </p:spTree>
    <p:extLst>
      <p:ext uri="{BB962C8B-B14F-4D97-AF65-F5344CB8AC3E}">
        <p14:creationId xmlns:p14="http://schemas.microsoft.com/office/powerpoint/2010/main" val="365929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03A3DC44-6476-2D0C-1819-8EF9F34D7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什麼是 ChatGPT 桌面版？</a:t>
            </a: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9E7E28CF-26BD-7025-3D1D-88C15B4068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/>
              <a:t>ChatGPT 桌面版是一個能在電腦上協助理解資訊、執行任務並產出成果的 AI 工作平台。</a:t>
            </a:r>
          </a:p>
          <a:p>
            <a:endParaRPr sz="1800"/>
          </a:p>
        </p:txBody>
      </p:sp>
      <p:sp>
        <p:nvSpPr>
          <p:cNvPr id="58" name="positioning-panel-1">
            <a:extLst>
              <a:ext uri="{FF2B5EF4-FFF2-40B4-BE49-F238E27FC236}">
                <a16:creationId xmlns:a16="http://schemas.microsoft.com/office/drawing/2014/main" id="{D525953F-534D-E19D-90AC-930CBC06CFB6}"/>
              </a:ext>
            </a:extLst>
          </p:cNvPr>
          <p:cNvSpPr>
            <a:spLocks noGrp="1"/>
          </p:cNvSpPr>
          <p:nvPr/>
        </p:nvSpPr>
        <p:spPr>
          <a:xfrm>
            <a:off x="536635" y="1448882"/>
            <a:ext cx="4140000" cy="1260000"/>
          </a:xfrm>
          <a:prstGeom prst="rect">
            <a:avLst/>
          </a:prstGeom>
          <a:solidFill>
            <a:srgbClr val="F1F3F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positioning-number-1">
            <a:extLst>
              <a:ext uri="{FF2B5EF4-FFF2-40B4-BE49-F238E27FC236}">
                <a16:creationId xmlns:a16="http://schemas.microsoft.com/office/drawing/2014/main" id="{23312A25-CB96-209C-C4CE-584DF303AF96}"/>
              </a:ext>
            </a:extLst>
          </p:cNvPr>
          <p:cNvSpPr>
            <a:spLocks noGrp="1"/>
          </p:cNvSpPr>
          <p:nvPr/>
        </p:nvSpPr>
        <p:spPr>
          <a:xfrm>
            <a:off x="784284" y="1667957"/>
            <a:ext cx="507826" cy="2842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2F76D2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2F76D2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60" name="positioning-label-1">
            <a:extLst>
              <a:ext uri="{FF2B5EF4-FFF2-40B4-BE49-F238E27FC236}">
                <a16:creationId xmlns:a16="http://schemas.microsoft.com/office/drawing/2014/main" id="{AC587C86-A390-4CA9-E38B-AF92198F596D}"/>
              </a:ext>
            </a:extLst>
          </p:cNvPr>
          <p:cNvSpPr>
            <a:spLocks noGrp="1"/>
          </p:cNvSpPr>
          <p:nvPr/>
        </p:nvSpPr>
        <p:spPr>
          <a:xfrm>
            <a:off x="1070626" y="1630053"/>
            <a:ext cx="2811180" cy="36007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r>
              <a:rPr sz="1800" b="1"/>
              <a:t>理解工作情境</a:t>
            </a:r>
          </a:p>
        </p:txBody>
      </p:sp>
      <p:sp>
        <p:nvSpPr>
          <p:cNvPr id="61" name="positioning-copy-1">
            <a:extLst>
              <a:ext uri="{FF2B5EF4-FFF2-40B4-BE49-F238E27FC236}">
                <a16:creationId xmlns:a16="http://schemas.microsoft.com/office/drawing/2014/main" id="{48321288-A29D-79F8-418D-57BF127706BC}"/>
              </a:ext>
            </a:extLst>
          </p:cNvPr>
          <p:cNvSpPr>
            <a:spLocks noGrp="1"/>
          </p:cNvSpPr>
          <p:nvPr/>
        </p:nvSpPr>
        <p:spPr>
          <a:xfrm>
            <a:off x="1073431" y="2005944"/>
            <a:ext cx="3421296" cy="59988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5D6B78"/>
                </a:solidFill>
                <a:latin typeface="PingFang TC"/>
                <a:ea typeface="PingFang TC"/>
                <a:cs typeface="PingFang TC"/>
              </a:defRPr>
            </a:pPr>
            <a:r>
              <a:rPr b="0">
                <a:solidFill>
                  <a:srgbClr val="5D6B78"/>
                </a:solidFill>
                <a:latin typeface="PingFang TC"/>
                <a:ea typeface="PingFang TC"/>
                <a:cs typeface="PingFang TC"/>
              </a:rPr>
              <a:t>使用經授權的檔案、資料夾與專案內容，掌握任務所需的背景資訊。</a:t>
            </a:r>
          </a:p>
        </p:txBody>
      </p:sp>
      <p:sp>
        <p:nvSpPr>
          <p:cNvPr id="62" name="positioning-panel-2">
            <a:extLst>
              <a:ext uri="{FF2B5EF4-FFF2-40B4-BE49-F238E27FC236}">
                <a16:creationId xmlns:a16="http://schemas.microsoft.com/office/drawing/2014/main" id="{4A4F42D9-3180-3E9A-37F7-03143D1165A8}"/>
              </a:ext>
            </a:extLst>
          </p:cNvPr>
          <p:cNvSpPr>
            <a:spLocks noGrp="1"/>
          </p:cNvSpPr>
          <p:nvPr/>
        </p:nvSpPr>
        <p:spPr>
          <a:xfrm>
            <a:off x="536635" y="2991193"/>
            <a:ext cx="4140000" cy="1260000"/>
          </a:xfrm>
          <a:prstGeom prst="rect">
            <a:avLst/>
          </a:prstGeom>
          <a:solidFill>
            <a:srgbClr val="EAF4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positioning-number-2">
            <a:extLst>
              <a:ext uri="{FF2B5EF4-FFF2-40B4-BE49-F238E27FC236}">
                <a16:creationId xmlns:a16="http://schemas.microsoft.com/office/drawing/2014/main" id="{45480102-DFA1-9250-62DA-A958B8486745}"/>
              </a:ext>
            </a:extLst>
          </p:cNvPr>
          <p:cNvSpPr>
            <a:spLocks noGrp="1"/>
          </p:cNvSpPr>
          <p:nvPr/>
        </p:nvSpPr>
        <p:spPr>
          <a:xfrm>
            <a:off x="784285" y="3210268"/>
            <a:ext cx="507826" cy="2842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2F76D2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2F76D2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64" name="positioning-label-2">
            <a:extLst>
              <a:ext uri="{FF2B5EF4-FFF2-40B4-BE49-F238E27FC236}">
                <a16:creationId xmlns:a16="http://schemas.microsoft.com/office/drawing/2014/main" id="{A7957DA6-EFC3-F89C-39D0-ED521614C08C}"/>
              </a:ext>
            </a:extLst>
          </p:cNvPr>
          <p:cNvSpPr>
            <a:spLocks noGrp="1"/>
          </p:cNvSpPr>
          <p:nvPr/>
        </p:nvSpPr>
        <p:spPr>
          <a:xfrm>
            <a:off x="1038198" y="3173009"/>
            <a:ext cx="2811180" cy="36007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r>
              <a:rPr sz="1800" b="1"/>
              <a:t>協助執行工作</a:t>
            </a:r>
          </a:p>
        </p:txBody>
      </p:sp>
      <p:sp>
        <p:nvSpPr>
          <p:cNvPr id="65" name="positioning-copy-2">
            <a:extLst>
              <a:ext uri="{FF2B5EF4-FFF2-40B4-BE49-F238E27FC236}">
                <a16:creationId xmlns:a16="http://schemas.microsoft.com/office/drawing/2014/main" id="{39CC375E-1AEC-0BFD-56CF-C577BDF67217}"/>
              </a:ext>
            </a:extLst>
          </p:cNvPr>
          <p:cNvSpPr>
            <a:spLocks noGrp="1"/>
          </p:cNvSpPr>
          <p:nvPr/>
        </p:nvSpPr>
        <p:spPr>
          <a:xfrm>
            <a:off x="1038197" y="3558435"/>
            <a:ext cx="3421296" cy="63729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5D6B78"/>
                </a:solidFill>
                <a:latin typeface="PingFang TC"/>
                <a:ea typeface="PingFang TC"/>
                <a:cs typeface="PingFang TC"/>
              </a:defRPr>
            </a:pPr>
            <a:r>
              <a:rPr b="0">
                <a:solidFill>
                  <a:srgbClr val="5D6B78"/>
                </a:solidFill>
                <a:latin typeface="PingFang TC"/>
                <a:ea typeface="PingFang TC"/>
                <a:cs typeface="PingFang TC"/>
              </a:rPr>
              <a:t>瀏覽網站、操作應用程式，並串接外部工具與資料來源。</a:t>
            </a:r>
          </a:p>
        </p:txBody>
      </p:sp>
      <p:sp>
        <p:nvSpPr>
          <p:cNvPr id="66" name="positioning-panel-3">
            <a:extLst>
              <a:ext uri="{FF2B5EF4-FFF2-40B4-BE49-F238E27FC236}">
                <a16:creationId xmlns:a16="http://schemas.microsoft.com/office/drawing/2014/main" id="{08D3CFE1-B653-7976-69E6-AB7B239576EB}"/>
              </a:ext>
            </a:extLst>
          </p:cNvPr>
          <p:cNvSpPr>
            <a:spLocks noGrp="1"/>
          </p:cNvSpPr>
          <p:nvPr/>
        </p:nvSpPr>
        <p:spPr>
          <a:xfrm>
            <a:off x="571868" y="4527945"/>
            <a:ext cx="4140000" cy="1260000"/>
          </a:xfrm>
          <a:prstGeom prst="rect">
            <a:avLst/>
          </a:prstGeom>
          <a:solidFill>
            <a:srgbClr val="F1F3F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positioning-number-3">
            <a:extLst>
              <a:ext uri="{FF2B5EF4-FFF2-40B4-BE49-F238E27FC236}">
                <a16:creationId xmlns:a16="http://schemas.microsoft.com/office/drawing/2014/main" id="{C0628471-DB13-A5B5-2CAC-1B45EDE6D76D}"/>
              </a:ext>
            </a:extLst>
          </p:cNvPr>
          <p:cNvSpPr>
            <a:spLocks noGrp="1"/>
          </p:cNvSpPr>
          <p:nvPr/>
        </p:nvSpPr>
        <p:spPr>
          <a:xfrm>
            <a:off x="819518" y="4747020"/>
            <a:ext cx="507826" cy="2842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2F76D2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2F76D2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68" name="positioning-label-3">
            <a:extLst>
              <a:ext uri="{FF2B5EF4-FFF2-40B4-BE49-F238E27FC236}">
                <a16:creationId xmlns:a16="http://schemas.microsoft.com/office/drawing/2014/main" id="{1D7FAC25-3A2E-4388-4757-56C62990FA87}"/>
              </a:ext>
            </a:extLst>
          </p:cNvPr>
          <p:cNvSpPr>
            <a:spLocks noGrp="1"/>
          </p:cNvSpPr>
          <p:nvPr/>
        </p:nvSpPr>
        <p:spPr>
          <a:xfrm>
            <a:off x="1073431" y="4709115"/>
            <a:ext cx="2811180" cy="36007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r>
              <a:rPr sz="1800" b="1"/>
              <a:t>產出完整成果</a:t>
            </a:r>
          </a:p>
        </p:txBody>
      </p:sp>
      <p:sp>
        <p:nvSpPr>
          <p:cNvPr id="69" name="positioning-copy-3">
            <a:extLst>
              <a:ext uri="{FF2B5EF4-FFF2-40B4-BE49-F238E27FC236}">
                <a16:creationId xmlns:a16="http://schemas.microsoft.com/office/drawing/2014/main" id="{52FF09D4-64B4-6B34-52A9-CBC9A3B5F70A}"/>
              </a:ext>
            </a:extLst>
          </p:cNvPr>
          <p:cNvSpPr>
            <a:spLocks noGrp="1"/>
          </p:cNvSpPr>
          <p:nvPr/>
        </p:nvSpPr>
        <p:spPr>
          <a:xfrm>
            <a:off x="1073431" y="5107100"/>
            <a:ext cx="3421296" cy="65393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5D6B78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5D6B78"/>
                </a:solidFill>
                <a:latin typeface="PingFang TC"/>
                <a:ea typeface="PingFang TC"/>
                <a:cs typeface="PingFang TC"/>
              </a:rPr>
              <a:t>將蒐集與分析結果整理成文件、簡報、報告、網站或程式碼。</a:t>
            </a:r>
          </a:p>
        </p:txBody>
      </p:sp>
      <p:pic>
        <p:nvPicPr>
          <p:cNvPr id="85" name="圖片 7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3882" y="1461254"/>
            <a:ext cx="6076531" cy="3607940"/>
          </a:xfrm>
          <a:prstGeom prst="rect">
            <a:avLst/>
          </a:prstGeom>
          <a:ln>
            <a:solidFill>
              <a:schemeClr val="bg2"/>
            </a:solidFill>
          </a:ln>
        </p:spPr>
      </p:pic>
    </p:spTree>
    <p:extLst>
      <p:ext uri="{BB962C8B-B14F-4D97-AF65-F5344CB8AC3E}">
        <p14:creationId xmlns:p14="http://schemas.microsoft.com/office/powerpoint/2010/main" val="42904274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ACB2E688-8DCB-BF70-B25B-9A6CE95FF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Chat、Work 與 Codex：三種工作模式</a:t>
            </a:r>
          </a:p>
        </p:txBody>
      </p:sp>
      <p:sp>
        <p:nvSpPr>
          <p:cNvPr id="4" name="positioning-panel-1">
            <a:extLst>
              <a:ext uri="{FF2B5EF4-FFF2-40B4-BE49-F238E27FC236}">
                <a16:creationId xmlns:a16="http://schemas.microsoft.com/office/drawing/2014/main" id="{A94F4E10-8E17-6B86-56A0-3888C92E1BBD}"/>
              </a:ext>
            </a:extLst>
          </p:cNvPr>
          <p:cNvSpPr>
            <a:spLocks noGrp="1"/>
          </p:cNvSpPr>
          <p:nvPr/>
        </p:nvSpPr>
        <p:spPr>
          <a:xfrm>
            <a:off x="509433" y="811875"/>
            <a:ext cx="3309938" cy="2065718"/>
          </a:xfrm>
          <a:prstGeom prst="rect">
            <a:avLst/>
          </a:prstGeom>
          <a:solidFill>
            <a:srgbClr val="F1F3F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positioning-number-1">
            <a:extLst>
              <a:ext uri="{FF2B5EF4-FFF2-40B4-BE49-F238E27FC236}">
                <a16:creationId xmlns:a16="http://schemas.microsoft.com/office/drawing/2014/main" id="{75532D33-2CD9-79FF-7B8F-72A807A537F8}"/>
              </a:ext>
            </a:extLst>
          </p:cNvPr>
          <p:cNvSpPr>
            <a:spLocks noGrp="1"/>
          </p:cNvSpPr>
          <p:nvPr/>
        </p:nvSpPr>
        <p:spPr>
          <a:xfrm>
            <a:off x="757081" y="2512334"/>
            <a:ext cx="2811179" cy="28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2F76D2"/>
                </a:solidFill>
                <a:latin typeface="PingFang TC"/>
                <a:ea typeface="PingFang TC"/>
                <a:cs typeface="PingFang TC"/>
              </a:defRPr>
            </a:pPr>
            <a:r>
              <a:rPr sz="1300" b="1">
                <a:solidFill>
                  <a:srgbClr val="2F76D2"/>
                </a:solidFill>
                <a:latin typeface="PingFang TC"/>
                <a:ea typeface="PingFang TC"/>
                <a:cs typeface="PingFang TC"/>
              </a:rPr>
              <a:t>答案、摘要、草稿</a:t>
            </a:r>
          </a:p>
        </p:txBody>
      </p:sp>
      <p:sp>
        <p:nvSpPr>
          <p:cNvPr id="9" name="positioning-copy-1">
            <a:extLst>
              <a:ext uri="{FF2B5EF4-FFF2-40B4-BE49-F238E27FC236}">
                <a16:creationId xmlns:a16="http://schemas.microsoft.com/office/drawing/2014/main" id="{320FC435-2478-EB75-F9FA-5BA77F927149}"/>
              </a:ext>
            </a:extLst>
          </p:cNvPr>
          <p:cNvSpPr>
            <a:spLocks noGrp="1"/>
          </p:cNvSpPr>
          <p:nvPr/>
        </p:nvSpPr>
        <p:spPr>
          <a:xfrm>
            <a:off x="757082" y="1467490"/>
            <a:ext cx="2811180" cy="83886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600"/>
              </a:spcAft>
              <a:buNone/>
              <a:defRPr sz="1500" b="0">
                <a:solidFill>
                  <a:srgbClr val="5D6B78"/>
                </a:solidFill>
                <a:latin typeface="PingFang TC"/>
                <a:ea typeface="PingFang TC"/>
                <a:cs typeface="PingFang TC"/>
              </a:defRPr>
            </a:pPr>
            <a:r>
              <a:rPr b="0">
                <a:solidFill>
                  <a:srgbClr val="5D6B78"/>
                </a:solidFill>
                <a:latin typeface="PingFang TC"/>
                <a:ea typeface="PingFang TC"/>
                <a:cs typeface="PingFang TC"/>
              </a:rPr>
              <a:t>搜尋與摘要</a:t>
            </a:r>
          </a:p>
          <a:p>
            <a:pPr algn="l">
              <a:spcAft>
                <a:spcPts val="600"/>
              </a:spcAft>
              <a:buNone/>
              <a:defRPr sz="1500" b="0">
                <a:solidFill>
                  <a:srgbClr val="5D6B78"/>
                </a:solidFill>
                <a:latin typeface="PingFang TC"/>
                <a:ea typeface="PingFang TC"/>
                <a:cs typeface="PingFang TC"/>
              </a:defRPr>
            </a:pPr>
            <a:r>
              <a:rPr b="0">
                <a:solidFill>
                  <a:srgbClr val="5D6B78"/>
                </a:solidFill>
                <a:latin typeface="PingFang TC"/>
                <a:ea typeface="PingFang TC"/>
                <a:cs typeface="PingFang TC"/>
              </a:rPr>
              <a:t>腦力激盪</a:t>
            </a:r>
          </a:p>
          <a:p>
            <a:pPr algn="l">
              <a:spcAft>
                <a:spcPts val="600"/>
              </a:spcAft>
              <a:buNone/>
              <a:defRPr sz="1500" b="0">
                <a:solidFill>
                  <a:srgbClr val="5D6B78"/>
                </a:solidFill>
                <a:latin typeface="PingFang TC"/>
                <a:ea typeface="PingFang TC"/>
                <a:cs typeface="PingFang TC"/>
              </a:defRPr>
            </a:pPr>
            <a:r>
              <a:rPr b="0">
                <a:solidFill>
                  <a:srgbClr val="5D6B78"/>
                </a:solidFill>
                <a:latin typeface="PingFang TC"/>
                <a:ea typeface="PingFang TC"/>
                <a:cs typeface="PingFang TC"/>
              </a:rPr>
              <a:t>日常問題與內容草擬</a:t>
            </a:r>
          </a:p>
        </p:txBody>
      </p:sp>
      <p:sp>
        <p:nvSpPr>
          <p:cNvPr id="10" name="positioning-panel-2">
            <a:extLst>
              <a:ext uri="{FF2B5EF4-FFF2-40B4-BE49-F238E27FC236}">
                <a16:creationId xmlns:a16="http://schemas.microsoft.com/office/drawing/2014/main" id="{D57459FA-0785-1F4D-7411-520F02934D53}"/>
              </a:ext>
            </a:extLst>
          </p:cNvPr>
          <p:cNvSpPr>
            <a:spLocks noGrp="1"/>
          </p:cNvSpPr>
          <p:nvPr/>
        </p:nvSpPr>
        <p:spPr>
          <a:xfrm>
            <a:off x="4110501" y="819790"/>
            <a:ext cx="3309938" cy="2065718"/>
          </a:xfrm>
          <a:prstGeom prst="rect">
            <a:avLst/>
          </a:prstGeom>
          <a:solidFill>
            <a:srgbClr val="EAF4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positioning-number-2">
            <a:extLst>
              <a:ext uri="{FF2B5EF4-FFF2-40B4-BE49-F238E27FC236}">
                <a16:creationId xmlns:a16="http://schemas.microsoft.com/office/drawing/2014/main" id="{BC1E0592-2407-6B84-9CAF-8E8E36BF4230}"/>
              </a:ext>
            </a:extLst>
          </p:cNvPr>
          <p:cNvSpPr>
            <a:spLocks noGrp="1"/>
          </p:cNvSpPr>
          <p:nvPr/>
        </p:nvSpPr>
        <p:spPr>
          <a:xfrm>
            <a:off x="4358150" y="2506102"/>
            <a:ext cx="2811600" cy="2842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2F76D2"/>
                </a:solidFill>
                <a:latin typeface="PingFang TC"/>
                <a:ea typeface="PingFang TC"/>
                <a:cs typeface="PingFang TC"/>
              </a:defRPr>
            </a:pPr>
            <a:r>
              <a:rPr sz="1300" b="1">
                <a:solidFill>
                  <a:srgbClr val="2F76D2"/>
                </a:solidFill>
                <a:latin typeface="PingFang TC"/>
                <a:ea typeface="PingFang TC"/>
                <a:cs typeface="PingFang TC"/>
              </a:rPr>
              <a:t>文件、簡報、報告與網站</a:t>
            </a:r>
          </a:p>
        </p:txBody>
      </p:sp>
      <p:sp>
        <p:nvSpPr>
          <p:cNvPr id="12" name="positioning-label-2">
            <a:extLst>
              <a:ext uri="{FF2B5EF4-FFF2-40B4-BE49-F238E27FC236}">
                <a16:creationId xmlns:a16="http://schemas.microsoft.com/office/drawing/2014/main" id="{F21072E0-F707-AEEA-70A1-058A65A65BE5}"/>
              </a:ext>
            </a:extLst>
          </p:cNvPr>
          <p:cNvSpPr>
            <a:spLocks noGrp="1"/>
          </p:cNvSpPr>
          <p:nvPr/>
        </p:nvSpPr>
        <p:spPr>
          <a:xfrm>
            <a:off x="4358150" y="1038865"/>
            <a:ext cx="2811180" cy="36007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r>
              <a:rPr sz="1800" b="1"/>
              <a:t>Work｜研究與交付</a:t>
            </a:r>
          </a:p>
        </p:txBody>
      </p:sp>
      <p:sp>
        <p:nvSpPr>
          <p:cNvPr id="13" name="positioning-copy-2">
            <a:extLst>
              <a:ext uri="{FF2B5EF4-FFF2-40B4-BE49-F238E27FC236}">
                <a16:creationId xmlns:a16="http://schemas.microsoft.com/office/drawing/2014/main" id="{3B4B6739-6ED0-4260-7135-DB619B9B4C94}"/>
              </a:ext>
            </a:extLst>
          </p:cNvPr>
          <p:cNvSpPr>
            <a:spLocks noGrp="1"/>
          </p:cNvSpPr>
          <p:nvPr/>
        </p:nvSpPr>
        <p:spPr>
          <a:xfrm>
            <a:off x="4358150" y="1467488"/>
            <a:ext cx="2811180" cy="83886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600"/>
              </a:spcAft>
              <a:buNone/>
              <a:defRPr sz="1500" b="0">
                <a:solidFill>
                  <a:srgbClr val="5D6B78"/>
                </a:solidFill>
                <a:latin typeface="PingFang TC"/>
                <a:ea typeface="PingFang TC"/>
                <a:cs typeface="PingFang TC"/>
              </a:defRPr>
            </a:pPr>
            <a:r>
              <a:rPr b="0">
                <a:solidFill>
                  <a:srgbClr val="5D6B78"/>
                </a:solidFill>
                <a:latin typeface="PingFang TC"/>
                <a:ea typeface="PingFang TC"/>
                <a:cs typeface="PingFang TC"/>
              </a:rPr>
              <a:t>分析多項資訊</a:t>
            </a:r>
          </a:p>
          <a:p>
            <a:pPr algn="l">
              <a:spcAft>
                <a:spcPts val="600"/>
              </a:spcAft>
              <a:buNone/>
              <a:defRPr sz="1500" b="0">
                <a:solidFill>
                  <a:srgbClr val="5D6B78"/>
                </a:solidFill>
                <a:latin typeface="PingFang TC"/>
                <a:ea typeface="PingFang TC"/>
                <a:cs typeface="PingFang TC"/>
              </a:defRPr>
            </a:pPr>
            <a:r>
              <a:rPr b="0">
                <a:solidFill>
                  <a:srgbClr val="5D6B78"/>
                </a:solidFill>
                <a:latin typeface="PingFang TC"/>
                <a:ea typeface="PingFang TC"/>
                <a:cs typeface="PingFang TC"/>
              </a:rPr>
              <a:t>處理多步驟任務</a:t>
            </a:r>
          </a:p>
          <a:p>
            <a:pPr algn="l">
              <a:spcAft>
                <a:spcPts val="600"/>
              </a:spcAft>
              <a:buNone/>
              <a:defRPr sz="1500" b="0">
                <a:solidFill>
                  <a:srgbClr val="5D6B78"/>
                </a:solidFill>
                <a:latin typeface="PingFang TC"/>
                <a:ea typeface="PingFang TC"/>
                <a:cs typeface="PingFang TC"/>
              </a:defRPr>
            </a:pPr>
            <a:r>
              <a:rPr b="0">
                <a:solidFill>
                  <a:srgbClr val="5D6B78"/>
                </a:solidFill>
                <a:latin typeface="PingFang TC"/>
                <a:ea typeface="PingFang TC"/>
                <a:cs typeface="PingFang TC"/>
              </a:rPr>
              <a:t>使用經授權的檔案與工具</a:t>
            </a:r>
          </a:p>
        </p:txBody>
      </p:sp>
      <p:sp>
        <p:nvSpPr>
          <p:cNvPr id="14" name="positioning-panel-3">
            <a:extLst>
              <a:ext uri="{FF2B5EF4-FFF2-40B4-BE49-F238E27FC236}">
                <a16:creationId xmlns:a16="http://schemas.microsoft.com/office/drawing/2014/main" id="{09F0D9C0-9B5B-2847-2DB0-4F9ACB8B70FE}"/>
              </a:ext>
            </a:extLst>
          </p:cNvPr>
          <p:cNvSpPr>
            <a:spLocks noGrp="1"/>
          </p:cNvSpPr>
          <p:nvPr/>
        </p:nvSpPr>
        <p:spPr>
          <a:xfrm>
            <a:off x="7780491" y="819790"/>
            <a:ext cx="3309938" cy="2065718"/>
          </a:xfrm>
          <a:prstGeom prst="rect">
            <a:avLst/>
          </a:prstGeom>
          <a:solidFill>
            <a:srgbClr val="F1F3F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positioning-number-3">
            <a:extLst>
              <a:ext uri="{FF2B5EF4-FFF2-40B4-BE49-F238E27FC236}">
                <a16:creationId xmlns:a16="http://schemas.microsoft.com/office/drawing/2014/main" id="{1F9A6811-1B0A-1FD4-E50A-BEC4B0F8FB76}"/>
              </a:ext>
            </a:extLst>
          </p:cNvPr>
          <p:cNvSpPr>
            <a:spLocks noGrp="1"/>
          </p:cNvSpPr>
          <p:nvPr/>
        </p:nvSpPr>
        <p:spPr>
          <a:xfrm>
            <a:off x="8028140" y="2506101"/>
            <a:ext cx="2811600" cy="2842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2F76D2"/>
                </a:solidFill>
                <a:latin typeface="PingFang TC"/>
                <a:ea typeface="PingFang TC"/>
                <a:cs typeface="PingFang TC"/>
              </a:defRPr>
            </a:pPr>
            <a:r>
              <a:rPr sz="1300" b="1">
                <a:solidFill>
                  <a:srgbClr val="2F76D2"/>
                </a:solidFill>
                <a:latin typeface="PingFang TC"/>
                <a:ea typeface="PingFang TC"/>
                <a:cs typeface="PingFang TC"/>
              </a:rPr>
              <a:t>程式碼變更與測試結果</a:t>
            </a:r>
          </a:p>
        </p:txBody>
      </p:sp>
      <p:sp>
        <p:nvSpPr>
          <p:cNvPr id="16" name="positioning-label-3">
            <a:extLst>
              <a:ext uri="{FF2B5EF4-FFF2-40B4-BE49-F238E27FC236}">
                <a16:creationId xmlns:a16="http://schemas.microsoft.com/office/drawing/2014/main" id="{FD0C3D85-CFEF-109F-32A1-D3DCF4190F6F}"/>
              </a:ext>
            </a:extLst>
          </p:cNvPr>
          <p:cNvSpPr>
            <a:spLocks noGrp="1"/>
          </p:cNvSpPr>
          <p:nvPr/>
        </p:nvSpPr>
        <p:spPr>
          <a:xfrm>
            <a:off x="8028140" y="1038865"/>
            <a:ext cx="2811180" cy="36007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r>
              <a:rPr sz="1800" b="1"/>
              <a:t>Codex｜軟體開發</a:t>
            </a:r>
          </a:p>
        </p:txBody>
      </p:sp>
      <p:sp>
        <p:nvSpPr>
          <p:cNvPr id="17" name="positioning-copy-3">
            <a:extLst>
              <a:ext uri="{FF2B5EF4-FFF2-40B4-BE49-F238E27FC236}">
                <a16:creationId xmlns:a16="http://schemas.microsoft.com/office/drawing/2014/main" id="{45CE3CD5-8F93-0548-F81B-7540C90006EE}"/>
              </a:ext>
            </a:extLst>
          </p:cNvPr>
          <p:cNvSpPr>
            <a:spLocks noGrp="1"/>
          </p:cNvSpPr>
          <p:nvPr/>
        </p:nvSpPr>
        <p:spPr>
          <a:xfrm>
            <a:off x="8028140" y="1467489"/>
            <a:ext cx="2811180" cy="83886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600"/>
              </a:spcAft>
              <a:buNone/>
              <a:defRPr sz="1500" b="0">
                <a:solidFill>
                  <a:srgbClr val="5D6B78"/>
                </a:solidFill>
                <a:latin typeface="PingFang TC"/>
                <a:ea typeface="PingFang TC"/>
                <a:cs typeface="PingFang TC"/>
              </a:defRPr>
            </a:pPr>
            <a:r>
              <a:rPr b="0">
                <a:solidFill>
                  <a:srgbClr val="5D6B78"/>
                </a:solidFill>
                <a:latin typeface="PingFang TC"/>
                <a:ea typeface="PingFang TC"/>
                <a:cs typeface="PingFang TC"/>
              </a:rPr>
              <a:t>理解程式碼與專案結構</a:t>
            </a:r>
          </a:p>
          <a:p>
            <a:pPr algn="l">
              <a:spcAft>
                <a:spcPts val="600"/>
              </a:spcAft>
              <a:buNone/>
              <a:defRPr sz="1500" b="0">
                <a:solidFill>
                  <a:srgbClr val="5D6B78"/>
                </a:solidFill>
                <a:latin typeface="PingFang TC"/>
                <a:ea typeface="PingFang TC"/>
                <a:cs typeface="PingFang TC"/>
              </a:defRPr>
            </a:pPr>
            <a:r>
              <a:rPr b="0">
                <a:solidFill>
                  <a:srgbClr val="5D6B78"/>
                </a:solidFill>
                <a:latin typeface="PingFang TC"/>
                <a:ea typeface="PingFang TC"/>
                <a:cs typeface="PingFang TC"/>
              </a:rPr>
              <a:t>執行測試與開發指令</a:t>
            </a:r>
          </a:p>
          <a:p>
            <a:pPr algn="l">
              <a:spcAft>
                <a:spcPts val="600"/>
              </a:spcAft>
              <a:buNone/>
              <a:defRPr sz="1500" b="0">
                <a:solidFill>
                  <a:srgbClr val="5D6B78"/>
                </a:solidFill>
                <a:latin typeface="PingFang TC"/>
                <a:ea typeface="PingFang TC"/>
                <a:cs typeface="PingFang TC"/>
              </a:defRPr>
            </a:pPr>
            <a:r>
              <a:rPr b="0">
                <a:solidFill>
                  <a:srgbClr val="5D6B78"/>
                </a:solidFill>
                <a:latin typeface="PingFang TC"/>
                <a:ea typeface="PingFang TC"/>
                <a:cs typeface="PingFang TC"/>
              </a:rPr>
              <a:t>提出並實作程式碼變更</a:t>
            </a:r>
          </a:p>
        </p:txBody>
      </p:sp>
      <p:sp>
        <p:nvSpPr>
          <p:cNvPr id="18" name="positioning-label-1">
            <a:extLst>
              <a:ext uri="{FF2B5EF4-FFF2-40B4-BE49-F238E27FC236}">
                <a16:creationId xmlns:a16="http://schemas.microsoft.com/office/drawing/2014/main" id="{F079DE3B-0961-8FDE-8E2D-6047E532CCEB}"/>
              </a:ext>
            </a:extLst>
          </p:cNvPr>
          <p:cNvSpPr>
            <a:spLocks noGrp="1"/>
          </p:cNvSpPr>
          <p:nvPr/>
        </p:nvSpPr>
        <p:spPr>
          <a:xfrm>
            <a:off x="757082" y="1038865"/>
            <a:ext cx="2811180" cy="36007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r>
              <a:rPr sz="1800" b="1"/>
              <a:t>Chat｜快速問答</a:t>
            </a:r>
          </a:p>
        </p:txBody>
      </p:sp>
      <p:pic>
        <p:nvPicPr>
          <p:cNvPr id="33" name="圖片 2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044" y="2912307"/>
            <a:ext cx="7772400" cy="3407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3922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3BE02D6C-DE67-543C-F7E4-709B72237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Chat：快速問答</a:t>
            </a:r>
          </a:p>
        </p:txBody>
      </p:sp>
      <p:pic>
        <p:nvPicPr>
          <p:cNvPr id="8" name="圖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044" y="928800"/>
            <a:ext cx="7772400" cy="488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450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C9E9F8BF-B591-E1C9-6DBF-42F2D7ECF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Work：研究與交付</a:t>
            </a:r>
          </a:p>
        </p:txBody>
      </p:sp>
      <p:pic>
        <p:nvPicPr>
          <p:cNvPr id="8" name="圖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044" y="930054"/>
            <a:ext cx="7772400" cy="4979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8072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CA46BDF1-A8BF-0D3C-DBF8-1F84FD075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Codex：軟體開發</a:t>
            </a:r>
          </a:p>
        </p:txBody>
      </p:sp>
      <p:pic>
        <p:nvPicPr>
          <p:cNvPr id="8" name="圖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044" y="930054"/>
            <a:ext cx="7772400" cy="4979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5925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04CD3F-FB78-5B71-0235-EDF41379D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ChatGPT 桌面版：從 Codex CLI 到跨環境 AI 工作平台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C28D80B-026F-A38E-1569-A14AA6D076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 b="1"/>
              <a:t>Codex CLI → Codex App → ChatGPT 桌面版</a:t>
            </a:r>
          </a:p>
          <a:p>
            <a:pPr marL="288000" lvl="1" indent="0">
              <a:buNone/>
            </a:pPr>
            <a:r>
              <a:rPr sz="1600"/>
              <a:t>將對話、研究、程式開發、瀏覽器操作及桌面自動化集中於同一個工作環境。</a:t>
            </a:r>
          </a:p>
        </p:txBody>
      </p:sp>
      <p:graphicFrame>
        <p:nvGraphicFramePr>
          <p:cNvPr id="7" name="表格 3"/>
          <p:cNvGraphicFramePr/>
          <p:nvPr/>
        </p:nvGraphicFramePr>
        <p:xfrm>
          <a:off x="539835" y="1618693"/>
          <a:ext cx="10440818" cy="4318467"/>
        </p:xfrm>
        <a:graphic>
          <a:graphicData uri="http://schemas.openxmlformats.org/drawingml/2006/table">
            <a:tbl>
              <a:tblPr firstRow="1" bandRow="1">
                <a:tableStyleId>{91DB7C30-2B5D-4D34-8F22-85940E495A18}</a:tableStyleId>
              </a:tblPr>
              <a:tblGrid>
                <a:gridCol w="22226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18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7363"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r>
                        <a:rPr sz="1600" b="1"/>
                        <a:t>多環境開發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r>
                        <a:rPr sz="1600"/>
                        <a:t>支援 Codex CLI、Codex App、Visual Studio Code 等 IDE 延伸模組，並可透過 GitHub 與 Codex Cloud 進行協作。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7363"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r>
                        <a:rPr sz="1600" b="1"/>
                        <a:t>遠端連線與任務派發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r>
                        <a:rPr sz="1600"/>
                        <a:t>可透過 ChatGPT App 遠端連接本機 Codex，在外部裝置派發任務、補充指示並查看開發進度。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4289"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r>
                        <a:rPr sz="1600" b="1"/>
                        <a:t>內建瀏覽器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r>
                        <a:rPr sz="1600"/>
                        <a:t>可直接開啟及檢查網站，自動連接後端服務，進行前端預覽、功能測試與問題除錯。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7363"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r>
                        <a:rPr sz="1600" b="1"/>
                        <a:t>Computer Use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r>
                        <a:rPr sz="1600"/>
                        <a:t>除了網頁之外，也能操作本機桌面應用程式，執行跨應用流程與圖形介面的自動化測試。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7363"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r>
                        <a:rPr sz="1600" b="1"/>
                        <a:t>支援 MCP 與 Skills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r>
                        <a:rPr sz="1600"/>
                        <a:t>MCP 可連接外部資料與工具；Skills 可將操作步驟整理為標準流程，讓 Agent 以一致方式完成重複任務。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7363"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r>
                        <a:rPr sz="1600" b="1"/>
                        <a:t>Sandbox 安全隔離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r>
                        <a:rPr sz="1600"/>
                        <a:t>透過平台原生沙盒限制檔案與網路存取範圍，原則上只允許操作專案內的授權內容，降低誤刪或誤改其他資料的風險。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7363"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r>
                        <a:rPr sz="1600" b="1"/>
                        <a:t>多 Agent 平行處理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r>
                        <a:rPr sz="1600"/>
                        <a:t>可將任務拆分給多個 Agent 同時執行，再彙整各自成果；也能配置專責 Agent，降低單一 Agent 處理多項任務時的上下文混亂與相互干擾。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65775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464EA2-2423-AD5D-64C2-7A846A111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ChatGPT 桌面版 vs. Claude Desktop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36558BD-4F01-649D-933A-5CEC95596B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/>
              <a:t>兩者的功能逐漸接近，但 ChatGPT 將更多工作階段整合在同一個桌面環境。</a:t>
            </a:r>
          </a:p>
          <a:p>
            <a:endParaRPr sz="1800"/>
          </a:p>
          <a:p>
            <a:endParaRPr sz="1800"/>
          </a:p>
          <a:p>
            <a:endParaRPr sz="1800"/>
          </a:p>
          <a:p>
            <a:endParaRPr sz="1800"/>
          </a:p>
          <a:p>
            <a:endParaRPr sz="1800"/>
          </a:p>
          <a:p>
            <a:endParaRPr sz="1800"/>
          </a:p>
          <a:p>
            <a:endParaRPr sz="1800"/>
          </a:p>
          <a:p>
            <a:endParaRPr sz="1800"/>
          </a:p>
          <a:p>
            <a:endParaRPr sz="1800"/>
          </a:p>
          <a:p>
            <a:endParaRPr sz="1800"/>
          </a:p>
          <a:p>
            <a:endParaRPr sz="1800"/>
          </a:p>
          <a:p>
            <a:endParaRPr sz="1800"/>
          </a:p>
          <a:p>
            <a:endParaRPr sz="1800"/>
          </a:p>
          <a:p>
            <a:pPr lvl="1">
              <a:buNone/>
            </a:pPr>
            <a:r>
              <a:rPr sz="1600"/>
              <a:t>ChatGPT 桌面版更像完整的工作平台；Claude Desktop 更像深入既有工具的工作代理。</a:t>
            </a:r>
          </a:p>
          <a:p>
            <a:pPr marL="36000" indent="0">
              <a:buNone/>
            </a:pPr>
            <a:endParaRPr sz="1600"/>
          </a:p>
          <a:p>
            <a:pPr marL="36000" indent="0">
              <a:buNone/>
            </a:pPr>
            <a:endParaRPr sz="1600"/>
          </a:p>
        </p:txBody>
      </p:sp>
      <p:graphicFrame>
        <p:nvGraphicFramePr>
          <p:cNvPr id="7" name="表格 4"/>
          <p:cNvGraphicFramePr/>
          <p:nvPr/>
        </p:nvGraphicFramePr>
        <p:xfrm>
          <a:off x="540244" y="1349652"/>
          <a:ext cx="10440000" cy="4139997"/>
        </p:xfrm>
        <a:graphic>
          <a:graphicData uri="http://schemas.openxmlformats.org/drawingml/2006/table">
            <a:tbl>
              <a:tblPr>
                <a:tableStyleId>{91DB7C30-2B5D-4D34-8F22-85940E495A18}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426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00" b="1"/>
                        <a:t>ChatGPT 桌面版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00" b="1"/>
                        <a:t>Claude Desktop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22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00" b="1"/>
                        <a:t>工作模式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600" b="0"/>
                        <a:t>Chat / Work / Codex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600" b="0"/>
                        <a:t>Chat / Cowork / Claude Code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22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00" b="1"/>
                        <a:t>理解情境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600" b="0"/>
                        <a:t>Projects、檔案與本機資料夾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600" b="0"/>
                        <a:t>Projects、Cowork 與連接資料夾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22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00" b="1"/>
                        <a:t>蒐集資訊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600" b="0"/>
                        <a:t>網路搜尋、內建共享瀏覽器與 Chrome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600" b="0"/>
                        <a:t>網路搜尋與 Claude in Chrome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22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00" b="1"/>
                        <a:t>執行任務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600" b="0"/>
                        <a:t>Work、Computer Use、Plugins 與 Apps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600" b="0"/>
                        <a:t>Cowork、Computer Use 與 Connectors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22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00" b="1"/>
                        <a:t>產出成果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600" b="0"/>
                        <a:t>文件、簡報、試算表、Sites 與視覺化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600" b="0"/>
                        <a:t>文件、Artifacts 與 Live Artifacts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22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00" b="1"/>
                        <a:t>軟體開發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600" b="0"/>
                        <a:t>Codex、終端機、Git、本機與雲端環境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600" b="0"/>
                        <a:t>Claude Code、終端機、Chrome 與遠端任務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22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00" b="1"/>
                        <a:t>延續工作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600" b="0"/>
                        <a:t>Remote、行動裝置與遠端主機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600" b="0"/>
                        <a:t>遠端 Cowork、行動裝置與 Dispatch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3010534"/>
      </p:ext>
    </p:extLst>
  </p:cSld>
  <p:clrMapOvr>
    <a:masterClrMapping/>
  </p:clrMapOvr>
</p:sld>
</file>

<file path=ppt/theme/theme1.xml><?xml version="1.0" encoding="utf-8"?>
<a:theme xmlns:a="http://schemas.openxmlformats.org/drawingml/2006/main" name="數科處範本">
  <a:themeElements>
    <a:clrScheme name="blue-yellow-violet-rose">
      <a:dk1>
        <a:srgbClr val="000000"/>
      </a:dk1>
      <a:lt1>
        <a:srgbClr val="FFFFFF"/>
      </a:lt1>
      <a:dk2>
        <a:srgbClr val="717179"/>
      </a:dk2>
      <a:lt2>
        <a:srgbClr val="E3E3E7"/>
      </a:lt2>
      <a:accent1>
        <a:srgbClr val="3B82F6"/>
      </a:accent1>
      <a:accent2>
        <a:srgbClr val="EAB308"/>
      </a:accent2>
      <a:accent3>
        <a:srgbClr val="8B5CF6"/>
      </a:accent3>
      <a:accent4>
        <a:srgbClr val="F33F5E"/>
      </a:accent4>
      <a:accent5>
        <a:srgbClr val="10B981"/>
      </a:accent5>
      <a:accent6>
        <a:srgbClr val="FFFFFF"/>
      </a:accent6>
      <a:hlink>
        <a:srgbClr val="3B82F6"/>
      </a:hlink>
      <a:folHlink>
        <a:srgbClr val="8B5CF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lue-yellow-violet-ros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數科處範本">
  <a:themeElements>
    <a:clrScheme name="blue-yellow-violet-rose">
      <a:dk1>
        <a:srgbClr val="000000"/>
      </a:dk1>
      <a:lt1>
        <a:srgbClr val="FFFFFF"/>
      </a:lt1>
      <a:dk2>
        <a:srgbClr val="717179"/>
      </a:dk2>
      <a:lt2>
        <a:srgbClr val="E3E3E7"/>
      </a:lt2>
      <a:accent1>
        <a:srgbClr val="3B82F6"/>
      </a:accent1>
      <a:accent2>
        <a:srgbClr val="EAB308"/>
      </a:accent2>
      <a:accent3>
        <a:srgbClr val="8B5CF6"/>
      </a:accent3>
      <a:accent4>
        <a:srgbClr val="F33F5E"/>
      </a:accent4>
      <a:accent5>
        <a:srgbClr val="10B981"/>
      </a:accent5>
      <a:accent6>
        <a:srgbClr val="FFFFFF"/>
      </a:accent6>
      <a:hlink>
        <a:srgbClr val="3B82F6"/>
      </a:hlink>
      <a:folHlink>
        <a:srgbClr val="8B5CF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lue-yellow-violet-ros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871</Words>
  <Application>Microsoft Macintosh PowerPoint</Application>
  <DocSecurity>0</DocSecurity>
  <PresentationFormat>自訂</PresentationFormat>
  <Paragraphs>199</Paragraphs>
  <Slides>8</Slides>
  <Notes>8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7" baseType="lpstr">
      <vt:lpstr>微軟正黑體</vt:lpstr>
      <vt:lpstr>微軟正黑體</vt:lpstr>
      <vt:lpstr>標準系統字體</vt:lpstr>
      <vt:lpstr>Microsoft JhengHei Light</vt:lpstr>
      <vt:lpstr>PingFang TC</vt:lpstr>
      <vt:lpstr>Arial</vt:lpstr>
      <vt:lpstr>Roboto</vt:lpstr>
      <vt:lpstr>Times New Roman</vt:lpstr>
      <vt:lpstr>數科處範本</vt:lpstr>
      <vt:lpstr>ChatGPT 桌面版</vt:lpstr>
      <vt:lpstr>什麼是 ChatGPT 桌面版？</vt:lpstr>
      <vt:lpstr>Chat、Work 與 Codex：三種工作模式</vt:lpstr>
      <vt:lpstr>Chat：快速問答</vt:lpstr>
      <vt:lpstr>Work：研究與交付</vt:lpstr>
      <vt:lpstr>Codex：軟體開發</vt:lpstr>
      <vt:lpstr>ChatGPT 桌面版：從 Codex CLI 到跨環境 AI 工作平台</vt:lpstr>
      <vt:lpstr>ChatGPT 桌面版 vs. Claude Desktop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雋凱 王</cp:lastModifiedBy>
  <cp:revision>1</cp:revision>
  <dcterms:created xsi:type="dcterms:W3CDTF">2026-07-27T01:19:45Z</dcterms:created>
  <dcterms:modified xsi:type="dcterms:W3CDTF">2026-07-27T01:33:27Z</dcterms:modified>
</cp:coreProperties>
</file>