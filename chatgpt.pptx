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13"/>
  </p:notesMasterIdLst>
  <p:sldIdLst>
    <p:sldId id="256" r:id="rId5"/>
    <p:sldId id="2147471238" r:id="rId6"/>
    <p:sldId id="2147471239" r:id="rId7"/>
    <p:sldId id="2147471240" r:id="rId8"/>
    <p:sldId id="2147471241" r:id="rId9"/>
    <p:sldId id="2147471242" r:id="rId10"/>
    <p:sldId id="2147471243" r:id="rId11"/>
    <p:sldId id="2147471245" r:id="rId12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2" roundtripDataSignature="AMtx7mhqKJAzFugGzrpaCdpbPJOL8Owfd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32"/>
    <p:restoredTop sz="75342"/>
  </p:normalViewPr>
  <p:slideViewPr>
    <p:cSldViewPr snapToGrid="0">
      <p:cViewPr varScale="1">
        <p:scale>
          <a:sx n="85" d="100"/>
          <a:sy n="85" d="100"/>
        </p:scale>
        <p:origin x="154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6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  <pc:spChg chg="del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2" creationId="{C8E2D793-753F-D8E0-6C96-C3E4A92D305F}"/>
          </ac:spMkLst>
        </pc:spChg>
        <pc:spChg chg="add mod ord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3" creationId="{4720BA31-8393-D7D0-C165-7006096CE23F}"/>
          </ac:spMkLst>
        </pc:spChg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 sz="1400" dirty="0"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先簡單定義什麼是 </a:t>
            </a:r>
            <a:r>
              <a:rPr lang="en" altLang="zh-TW" dirty="0"/>
              <a:t>ChatGPT </a:t>
            </a:r>
            <a:r>
              <a:rPr lang="zh-TW" altLang="en-US" dirty="0"/>
              <a:t>桌面版。</a:t>
            </a:r>
          </a:p>
          <a:p>
            <a:pPr marL="158750" indent="0">
              <a:buNone/>
            </a:pPr>
            <a:r>
              <a:rPr lang="zh-TW" altLang="en-US" dirty="0"/>
              <a:t>它是一個能在電腦上協助理解資訊、執行任務並產出成果的 </a:t>
            </a:r>
            <a:r>
              <a:rPr lang="en" altLang="zh-TW" dirty="0"/>
              <a:t>AI </a:t>
            </a:r>
            <a:r>
              <a:rPr lang="zh-TW" altLang="en-US" dirty="0"/>
              <a:t>工作平台。</a:t>
            </a:r>
          </a:p>
          <a:p>
            <a:pPr marL="158750" indent="0">
              <a:buNone/>
            </a:pPr>
            <a:r>
              <a:rPr lang="zh-TW" altLang="en-US" dirty="0"/>
              <a:t>第一，它可以在取得授權後，讀取任務相關的檔案、資料夾與專案內容，掌握我們正在處理的工作情境。</a:t>
            </a:r>
          </a:p>
          <a:p>
            <a:pPr marL="158750" indent="0">
              <a:buNone/>
            </a:pPr>
            <a:r>
              <a:rPr lang="zh-TW" altLang="en-US" dirty="0"/>
              <a:t>第二，它不只回答問題，也可以瀏覽網站、操作應用程式，或串接外部工具與資料來源。</a:t>
            </a:r>
          </a:p>
          <a:p>
            <a:pPr marL="158750" indent="0">
              <a:buNone/>
            </a:pPr>
            <a:r>
              <a:rPr lang="zh-TW" altLang="en-US" dirty="0"/>
              <a:t>第三，它可以把蒐集和分析的結果整理成文件、簡報、報告、網站，甚至是程式碼。</a:t>
            </a:r>
          </a:p>
          <a:p>
            <a:pPr marL="158750" indent="0">
              <a:buNone/>
            </a:pPr>
            <a:r>
              <a:rPr lang="zh-TW" altLang="en-US" dirty="0"/>
              <a:t>所以桌面版的重點，不是把網頁版搬到電腦上，而是讓 </a:t>
            </a:r>
            <a:r>
              <a:rPr lang="en" altLang="zh-TW" dirty="0"/>
              <a:t>AI </a:t>
            </a:r>
            <a:r>
              <a:rPr lang="zh-TW" altLang="en-US" dirty="0"/>
              <a:t>更靠近真實的工作流程。</a:t>
            </a:r>
          </a:p>
          <a:p>
            <a:pPr marL="15875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6557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" altLang="zh-TW" dirty="0"/>
              <a:t>ChatGPT </a:t>
            </a:r>
            <a:r>
              <a:rPr lang="zh-TW" altLang="en-US" dirty="0"/>
              <a:t>桌面版可以用三種模式理解。</a:t>
            </a:r>
          </a:p>
          <a:p>
            <a:pPr marL="158750" indent="0">
              <a:buNone/>
            </a:pPr>
            <a:r>
              <a:rPr lang="zh-TW" altLang="en-US" dirty="0"/>
              <a:t>第一個是 </a:t>
            </a:r>
            <a:r>
              <a:rPr lang="en" altLang="zh-TW" dirty="0"/>
              <a:t>Chat</a:t>
            </a:r>
            <a:r>
              <a:rPr lang="zh-TW" altLang="en" dirty="0"/>
              <a:t>，</a:t>
            </a:r>
            <a:r>
              <a:rPr lang="zh-TW" altLang="en-US" dirty="0"/>
              <a:t>適合搜尋、摘要、腦力激盪，以及日常問題和內容草擬，預期產出通常是答案、摘要或初稿。</a:t>
            </a:r>
          </a:p>
          <a:p>
            <a:pPr marL="158750" indent="0">
              <a:buNone/>
            </a:pPr>
            <a:r>
              <a:rPr lang="zh-TW" altLang="en-US" dirty="0"/>
              <a:t>第二個是 </a:t>
            </a:r>
            <a:r>
              <a:rPr lang="en" altLang="zh-TW" dirty="0"/>
              <a:t>Work</a:t>
            </a:r>
            <a:r>
              <a:rPr lang="zh-TW" altLang="en" dirty="0"/>
              <a:t>，</a:t>
            </a:r>
            <a:r>
              <a:rPr lang="zh-TW" altLang="en-US" dirty="0"/>
              <a:t>適合分析多項資訊、處理多步驟任務，並使用經授權的檔案與工具；最後交付的是文件、簡報、報告或網站。</a:t>
            </a:r>
          </a:p>
          <a:p>
            <a:pPr marL="158750" indent="0">
              <a:buNone/>
            </a:pPr>
            <a:r>
              <a:rPr lang="zh-TW" altLang="en-US" dirty="0"/>
              <a:t>第三個是 </a:t>
            </a:r>
            <a:r>
              <a:rPr lang="en" altLang="zh-TW" dirty="0"/>
              <a:t>Codex</a:t>
            </a:r>
            <a:r>
              <a:rPr lang="zh-TW" altLang="en" dirty="0"/>
              <a:t>，</a:t>
            </a:r>
            <a:r>
              <a:rPr lang="zh-TW" altLang="en-US" dirty="0"/>
              <a:t>專注軟體開發。它會理解程式碼和專案結構、執行測試與開發指令，並提出或實作程式碼變更。</a:t>
            </a:r>
          </a:p>
          <a:p>
            <a:pPr marL="158750" indent="0">
              <a:buNone/>
            </a:pPr>
            <a:r>
              <a:rPr lang="zh-TW" altLang="en-US" dirty="0"/>
              <a:t>最簡單的判斷方式是：需要快速回答時用 </a:t>
            </a:r>
            <a:r>
              <a:rPr lang="en" altLang="zh-TW" dirty="0"/>
              <a:t>Chat</a:t>
            </a:r>
            <a:r>
              <a:rPr lang="zh-TW" altLang="en" dirty="0"/>
              <a:t>；</a:t>
            </a:r>
            <a:r>
              <a:rPr lang="zh-TW" altLang="en-US" dirty="0"/>
              <a:t>需要完成一份成果時用 </a:t>
            </a:r>
            <a:r>
              <a:rPr lang="en" altLang="zh-TW" dirty="0"/>
              <a:t>Work</a:t>
            </a:r>
            <a:r>
              <a:rPr lang="zh-TW" altLang="en" dirty="0"/>
              <a:t>；</a:t>
            </a:r>
            <a:r>
              <a:rPr lang="zh-TW" altLang="en-US" dirty="0"/>
              <a:t>需要修改與驗證軟體專案時用 </a:t>
            </a:r>
            <a:r>
              <a:rPr lang="en" altLang="zh-TW" dirty="0"/>
              <a:t>Codex</a:t>
            </a:r>
            <a:r>
              <a:rPr lang="zh-TW" altLang="en" dirty="0"/>
              <a:t>。</a:t>
            </a:r>
          </a:p>
          <a:p>
            <a:pPr marL="158750" indent="0">
              <a:buNone/>
            </a:pPr>
            <a:r>
              <a:rPr lang="zh-TW" altLang="en-US" dirty="0"/>
              <a:t>接下來，我們分別看三種模式的實際畫面。</a:t>
            </a:r>
          </a:p>
        </p:txBody>
      </p:sp>
    </p:spTree>
    <p:extLst>
      <p:ext uri="{BB962C8B-B14F-4D97-AF65-F5344CB8AC3E}">
        <p14:creationId xmlns:p14="http://schemas.microsoft.com/office/powerpoint/2010/main" val="2465466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如果從產品發展來看，可以把它理解成從 </a:t>
            </a:r>
            <a:r>
              <a:rPr lang="en" altLang="zh-TW" dirty="0"/>
              <a:t>Codex CLI</a:t>
            </a:r>
            <a:r>
              <a:rPr lang="zh-TW" altLang="en" dirty="0"/>
              <a:t>、</a:t>
            </a:r>
            <a:r>
              <a:rPr lang="en" altLang="zh-TW" dirty="0"/>
              <a:t>Codex App</a:t>
            </a:r>
            <a:r>
              <a:rPr lang="zh-TW" altLang="en" dirty="0"/>
              <a:t>，</a:t>
            </a:r>
            <a:r>
              <a:rPr lang="zh-TW" altLang="en-US" dirty="0"/>
              <a:t>逐步延伸到 </a:t>
            </a:r>
            <a:r>
              <a:rPr lang="en" altLang="zh-TW" dirty="0"/>
              <a:t>ChatGPT </a:t>
            </a:r>
            <a:r>
              <a:rPr lang="zh-TW" altLang="en-US" dirty="0"/>
              <a:t>桌面版。</a:t>
            </a:r>
          </a:p>
          <a:p>
            <a:pPr marL="158750" indent="0">
              <a:buNone/>
            </a:pPr>
            <a:r>
              <a:rPr lang="zh-TW" altLang="en-US" dirty="0"/>
              <a:t>重點不是取代命令列，而是把對話、研究、程式開發、瀏覽器操作和桌面自動化，集中在同一個工作環境。</a:t>
            </a:r>
          </a:p>
          <a:p>
            <a:pPr marL="158750" indent="0">
              <a:buNone/>
            </a:pPr>
            <a:r>
              <a:rPr lang="zh-TW" altLang="en-US" dirty="0"/>
              <a:t>開發者仍然可以使用 </a:t>
            </a:r>
            <a:r>
              <a:rPr lang="en" altLang="zh-TW" dirty="0"/>
              <a:t>Codex CLI</a:t>
            </a:r>
            <a:r>
              <a:rPr lang="zh-TW" altLang="en" dirty="0"/>
              <a:t>、</a:t>
            </a:r>
            <a:r>
              <a:rPr lang="en" altLang="zh-TW" dirty="0"/>
              <a:t>Codex App</a:t>
            </a:r>
            <a:r>
              <a:rPr lang="zh-TW" altLang="en" dirty="0"/>
              <a:t>、</a:t>
            </a:r>
            <a:r>
              <a:rPr lang="en" altLang="zh-TW" dirty="0"/>
              <a:t>Visual Studio Code </a:t>
            </a:r>
            <a:r>
              <a:rPr lang="zh-TW" altLang="en-US" dirty="0"/>
              <a:t>等 </a:t>
            </a:r>
            <a:r>
              <a:rPr lang="en" altLang="zh-TW" dirty="0"/>
              <a:t>IDE </a:t>
            </a:r>
            <a:r>
              <a:rPr lang="zh-TW" altLang="en-US" dirty="0"/>
              <a:t>延伸模組，也能結合 </a:t>
            </a:r>
            <a:r>
              <a:rPr lang="en" altLang="zh-TW" dirty="0"/>
              <a:t>GitHub </a:t>
            </a:r>
            <a:r>
              <a:rPr lang="zh-TW" altLang="en-US" dirty="0"/>
              <a:t>與 </a:t>
            </a:r>
            <a:r>
              <a:rPr lang="en" altLang="zh-TW" dirty="0"/>
              <a:t>Codex Cloud </a:t>
            </a:r>
            <a:r>
              <a:rPr lang="zh-TW" altLang="en-US" dirty="0"/>
              <a:t>進行協作。</a:t>
            </a:r>
          </a:p>
          <a:p>
            <a:pPr marL="158750" indent="0">
              <a:buNone/>
            </a:pPr>
            <a:r>
              <a:rPr lang="zh-TW" altLang="en-US" dirty="0"/>
              <a:t>透過遠端連線，可以從外部裝置派發任務、補充指示，並查看開發進度。</a:t>
            </a:r>
          </a:p>
          <a:p>
            <a:pPr marL="158750" indent="0">
              <a:buNone/>
            </a:pPr>
            <a:r>
              <a:rPr lang="zh-TW" altLang="en-US" dirty="0"/>
              <a:t>內建瀏覽器可以協助預覽網站、執行功能測試和問題除錯；</a:t>
            </a:r>
            <a:r>
              <a:rPr lang="en" altLang="zh-TW" dirty="0"/>
              <a:t>Computer Use </a:t>
            </a:r>
            <a:r>
              <a:rPr lang="zh-TW" altLang="en-US" dirty="0"/>
              <a:t>則把能力延伸到桌面應用程式，以及跨應用的操作流程。</a:t>
            </a:r>
          </a:p>
          <a:p>
            <a:pPr marL="158750" indent="0">
              <a:buNone/>
            </a:pPr>
            <a:r>
              <a:rPr lang="zh-TW" altLang="en-US" dirty="0"/>
              <a:t>在擴充能力方面，</a:t>
            </a:r>
            <a:r>
              <a:rPr lang="en" altLang="zh-TW" dirty="0"/>
              <a:t>MCP </a:t>
            </a:r>
            <a:r>
              <a:rPr lang="zh-TW" altLang="en-US" dirty="0"/>
              <a:t>可以連接外部資料和工具；</a:t>
            </a:r>
            <a:r>
              <a:rPr lang="en" altLang="zh-TW" dirty="0"/>
              <a:t>Skills </a:t>
            </a:r>
            <a:r>
              <a:rPr lang="zh-TW" altLang="en-US" dirty="0"/>
              <a:t>可以把操作方式整理成可重複使用的標準流程，讓 </a:t>
            </a:r>
            <a:r>
              <a:rPr lang="en" altLang="zh-TW" dirty="0"/>
              <a:t>Agent </a:t>
            </a:r>
            <a:r>
              <a:rPr lang="zh-TW" altLang="en-US" dirty="0"/>
              <a:t>以一致的方法完成任務。</a:t>
            </a:r>
          </a:p>
          <a:p>
            <a:pPr marL="158750" indent="0">
              <a:buNone/>
            </a:pPr>
            <a:r>
              <a:rPr lang="zh-TW" altLang="en-US" dirty="0"/>
              <a:t>另一方面，</a:t>
            </a:r>
            <a:r>
              <a:rPr lang="en" altLang="zh-TW" dirty="0"/>
              <a:t>Sandbox </a:t>
            </a:r>
            <a:r>
              <a:rPr lang="zh-TW" altLang="en-US" dirty="0"/>
              <a:t>會限制檔案與網路的存取範圍，原則上只允許操作授權內容，降低誤刪或誤改其他資料的風險。</a:t>
            </a:r>
          </a:p>
          <a:p>
            <a:pPr marL="158750" indent="0">
              <a:buNone/>
            </a:pPr>
            <a:r>
              <a:rPr lang="zh-TW" altLang="en-US" dirty="0"/>
              <a:t>當任務規模比較大時，也可以把工作拆分給多個 </a:t>
            </a:r>
            <a:r>
              <a:rPr lang="en" altLang="zh-TW" dirty="0"/>
              <a:t>Agent </a:t>
            </a:r>
            <a:r>
              <a:rPr lang="zh-TW" altLang="en-US" dirty="0"/>
              <a:t>平行處理，再彙整各自的成果。透過專責 </a:t>
            </a:r>
            <a:r>
              <a:rPr lang="en" altLang="zh-TW" dirty="0"/>
              <a:t>Agent</a:t>
            </a:r>
            <a:r>
              <a:rPr lang="zh-TW" altLang="en" dirty="0"/>
              <a:t>，</a:t>
            </a:r>
            <a:r>
              <a:rPr lang="zh-TW" altLang="en-US" dirty="0"/>
              <a:t>也能降低單一 </a:t>
            </a:r>
            <a:r>
              <a:rPr lang="en" altLang="zh-TW" dirty="0"/>
              <a:t>Agent </a:t>
            </a:r>
            <a:r>
              <a:rPr lang="zh-TW" altLang="en-US" dirty="0"/>
              <a:t>同時處理太多工作時，產生的上下文混亂與相互干擾。</a:t>
            </a:r>
          </a:p>
          <a:p>
            <a:pPr marL="158750" indent="0">
              <a:buNone/>
            </a:pPr>
            <a:r>
              <a:rPr lang="zh-TW" altLang="en-US" dirty="0"/>
              <a:t>整體來說，它已經從單一開發工具，逐步形成跨環境、可擴充、可治理的 </a:t>
            </a:r>
            <a:r>
              <a:rPr lang="en" altLang="zh-TW" dirty="0"/>
              <a:t>AI </a:t>
            </a:r>
            <a:r>
              <a:rPr lang="zh-TW" altLang="en-US" dirty="0"/>
              <a:t>工作平台。</a:t>
            </a:r>
          </a:p>
        </p:txBody>
      </p:sp>
    </p:spTree>
    <p:extLst>
      <p:ext uri="{BB962C8B-B14F-4D97-AF65-F5344CB8AC3E}">
        <p14:creationId xmlns:p14="http://schemas.microsoft.com/office/powerpoint/2010/main" val="2221260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2FE89-E6BC-B00F-D3D6-AD696625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4A6998A-37D5-A672-9047-01090CEE2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E5B0FA6-36B2-0358-4B2E-AD25EAEB8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最後簡單比較 </a:t>
            </a:r>
            <a:r>
              <a:rPr lang="en" altLang="zh-TW" dirty="0"/>
              <a:t>ChatGPT </a:t>
            </a:r>
            <a:r>
              <a:rPr lang="zh-TW" altLang="en-US" dirty="0"/>
              <a:t>桌面版與 </a:t>
            </a:r>
            <a:r>
              <a:rPr lang="en" altLang="zh-TW" dirty="0"/>
              <a:t>Claude Desktop</a:t>
            </a:r>
            <a:r>
              <a:rPr lang="zh-TW" altLang="en" dirty="0"/>
              <a:t>。</a:t>
            </a:r>
          </a:p>
          <a:p>
            <a:pPr marL="158750" indent="0">
              <a:buNone/>
            </a:pPr>
            <a:r>
              <a:rPr lang="zh-TW" altLang="en-US" dirty="0"/>
              <a:t>兩者的功能逐漸接近，也都具備對話、任務執行、桌面操作與開發能力；差異主要在整合方式。</a:t>
            </a:r>
          </a:p>
          <a:p>
            <a:pPr marL="158750" indent="0">
              <a:buNone/>
            </a:pPr>
            <a:r>
              <a:rPr lang="en" altLang="zh-TW" dirty="0"/>
              <a:t>ChatGPT </a:t>
            </a:r>
            <a:r>
              <a:rPr lang="zh-TW" altLang="en-US" dirty="0"/>
              <a:t>以 </a:t>
            </a:r>
            <a:r>
              <a:rPr lang="en" altLang="zh-TW" dirty="0"/>
              <a:t>Chat</a:t>
            </a:r>
            <a:r>
              <a:rPr lang="zh-TW" altLang="en" dirty="0"/>
              <a:t>、</a:t>
            </a:r>
            <a:r>
              <a:rPr lang="en" altLang="zh-TW" dirty="0"/>
              <a:t>Work </a:t>
            </a:r>
            <a:r>
              <a:rPr lang="zh-TW" altLang="en-US" dirty="0"/>
              <a:t>和 </a:t>
            </a:r>
            <a:r>
              <a:rPr lang="en" altLang="zh-TW" dirty="0"/>
              <a:t>Codex </a:t>
            </a:r>
            <a:r>
              <a:rPr lang="zh-TW" altLang="en-US" dirty="0"/>
              <a:t>區分工作模式，從 </a:t>
            </a:r>
            <a:r>
              <a:rPr lang="en" altLang="zh-TW" dirty="0"/>
              <a:t>Projects</a:t>
            </a:r>
            <a:r>
              <a:rPr lang="zh-TW" altLang="en" dirty="0"/>
              <a:t>、</a:t>
            </a:r>
            <a:r>
              <a:rPr lang="zh-TW" altLang="en-US" dirty="0"/>
              <a:t>檔案與資料夾取得工作情境，再透過網路搜尋、瀏覽器、</a:t>
            </a:r>
            <a:r>
              <a:rPr lang="en" altLang="zh-TW" dirty="0"/>
              <a:t>Computer Use</a:t>
            </a:r>
            <a:r>
              <a:rPr lang="zh-TW" altLang="en" dirty="0"/>
              <a:t>、</a:t>
            </a:r>
            <a:r>
              <a:rPr lang="en" altLang="zh-TW" dirty="0"/>
              <a:t>Plugins </a:t>
            </a:r>
            <a:r>
              <a:rPr lang="zh-TW" altLang="en-US" dirty="0"/>
              <a:t>與 </a:t>
            </a:r>
            <a:r>
              <a:rPr lang="en" altLang="zh-TW" dirty="0"/>
              <a:t>Apps </a:t>
            </a:r>
            <a:r>
              <a:rPr lang="zh-TW" altLang="en-US" dirty="0"/>
              <a:t>執行任務。</a:t>
            </a:r>
          </a:p>
          <a:p>
            <a:pPr marL="158750" indent="0">
              <a:buNone/>
            </a:pPr>
            <a:r>
              <a:rPr lang="zh-TW" altLang="en-US" dirty="0"/>
              <a:t>在成果方面，可以產出文件、簡報、試算表、</a:t>
            </a:r>
            <a:r>
              <a:rPr lang="en" altLang="zh-TW" dirty="0"/>
              <a:t>Sites </a:t>
            </a:r>
            <a:r>
              <a:rPr lang="zh-TW" altLang="en-US" dirty="0"/>
              <a:t>或視覺化內容；軟體開發則由 </a:t>
            </a:r>
            <a:r>
              <a:rPr lang="en" altLang="zh-TW" dirty="0"/>
              <a:t>Codex </a:t>
            </a:r>
            <a:r>
              <a:rPr lang="zh-TW" altLang="en-US" dirty="0"/>
              <a:t>串接終端機、</a:t>
            </a:r>
            <a:r>
              <a:rPr lang="en" altLang="zh-TW" dirty="0"/>
              <a:t>Git</a:t>
            </a:r>
            <a:r>
              <a:rPr lang="zh-TW" altLang="en" dirty="0"/>
              <a:t>、</a:t>
            </a:r>
            <a:r>
              <a:rPr lang="zh-TW" altLang="en-US" dirty="0"/>
              <a:t>本機與雲端環境。</a:t>
            </a:r>
          </a:p>
          <a:p>
            <a:pPr marL="158750" indent="0">
              <a:buNone/>
            </a:pPr>
            <a:r>
              <a:rPr lang="en" altLang="zh-TW" dirty="0"/>
              <a:t>Claude Desktop </a:t>
            </a:r>
            <a:r>
              <a:rPr lang="zh-TW" altLang="en-US" dirty="0"/>
              <a:t>則以 </a:t>
            </a:r>
            <a:r>
              <a:rPr lang="en" altLang="zh-TW" dirty="0"/>
              <a:t>Chat</a:t>
            </a:r>
            <a:r>
              <a:rPr lang="zh-TW" altLang="en" dirty="0"/>
              <a:t>、</a:t>
            </a:r>
            <a:r>
              <a:rPr lang="en" altLang="zh-TW" dirty="0" err="1"/>
              <a:t>Cowork</a:t>
            </a:r>
            <a:r>
              <a:rPr lang="en" altLang="zh-TW" dirty="0"/>
              <a:t> </a:t>
            </a:r>
            <a:r>
              <a:rPr lang="zh-TW" altLang="en-US" dirty="0"/>
              <a:t>與 </a:t>
            </a:r>
            <a:r>
              <a:rPr lang="en" altLang="zh-TW" dirty="0"/>
              <a:t>Claude Code </a:t>
            </a:r>
            <a:r>
              <a:rPr lang="zh-TW" altLang="en-US" dirty="0"/>
              <a:t>為主，搭配 </a:t>
            </a:r>
            <a:r>
              <a:rPr lang="en" altLang="zh-TW" dirty="0"/>
              <a:t>Connectors</a:t>
            </a:r>
            <a:r>
              <a:rPr lang="zh-TW" altLang="en" dirty="0"/>
              <a:t>、</a:t>
            </a:r>
            <a:r>
              <a:rPr lang="en" altLang="zh-TW" dirty="0"/>
              <a:t>Artifacts</a:t>
            </a:r>
            <a:r>
              <a:rPr lang="zh-TW" altLang="en" dirty="0"/>
              <a:t>、</a:t>
            </a:r>
            <a:r>
              <a:rPr lang="en" altLang="zh-TW" dirty="0"/>
              <a:t>Chrome </a:t>
            </a:r>
            <a:r>
              <a:rPr lang="zh-TW" altLang="en-US" dirty="0"/>
              <a:t>和遠端任務，更深入既有工具與工作環境。</a:t>
            </a:r>
          </a:p>
          <a:p>
            <a:pPr marL="158750" indent="0">
              <a:buNone/>
            </a:pPr>
            <a:r>
              <a:rPr lang="zh-TW" altLang="en-US" dirty="0"/>
              <a:t>因此，這裡不是要判斷哪一個產品一定比較好，而是要看團隊需要的是完整的一站式工作平台，還是深入既有工具鏈的工作代理。</a:t>
            </a:r>
          </a:p>
          <a:p>
            <a:pPr marL="158750" indent="0">
              <a:buNone/>
            </a:pPr>
            <a:r>
              <a:rPr lang="zh-TW" altLang="en-US" dirty="0"/>
              <a:t>如果團隊希望從一般問答、研究整理、文件產出，一路銜接到程式開發與遠端任務，</a:t>
            </a:r>
            <a:r>
              <a:rPr lang="en" altLang="zh-TW" dirty="0"/>
              <a:t>ChatGPT </a:t>
            </a:r>
            <a:r>
              <a:rPr lang="zh-TW" altLang="en-US" dirty="0"/>
              <a:t>桌面版提供的是比較完整的一站式體驗。</a:t>
            </a:r>
          </a:p>
          <a:p>
            <a:pPr marL="158750" indent="0">
              <a:buNone/>
            </a:pPr>
            <a:r>
              <a:rPr lang="zh-TW" altLang="en-US" dirty="0"/>
              <a:t>回到今天的重點，</a:t>
            </a:r>
            <a:r>
              <a:rPr lang="en" altLang="zh-TW" dirty="0"/>
              <a:t>ChatGPT </a:t>
            </a:r>
            <a:r>
              <a:rPr lang="zh-TW" altLang="en-US" dirty="0"/>
              <a:t>桌面版的核心價值，就是讓 </a:t>
            </a:r>
            <a:r>
              <a:rPr lang="en" altLang="zh-TW" dirty="0"/>
              <a:t>AI </a:t>
            </a:r>
            <a:r>
              <a:rPr lang="zh-TW" altLang="en-US" dirty="0"/>
              <a:t>從回答問題，進一步參與並完成實際工作。未來導入時，我們要思考的不只是「</a:t>
            </a:r>
            <a:r>
              <a:rPr lang="en" altLang="zh-TW" dirty="0"/>
              <a:t>AI </a:t>
            </a:r>
            <a:r>
              <a:rPr lang="zh-TW" altLang="en-US" dirty="0"/>
              <a:t>能回答什麼」，而是「哪些工作可以在明確的權限、流程與人工確認之下，交由 </a:t>
            </a:r>
            <a:r>
              <a:rPr lang="en" altLang="zh-TW" dirty="0"/>
              <a:t>AI </a:t>
            </a:r>
            <a:r>
              <a:rPr lang="zh-TW" altLang="en-US" dirty="0"/>
              <a:t>協助完成」。</a:t>
            </a:r>
          </a:p>
          <a:p>
            <a:pPr marL="158750" indent="0">
              <a:buNone/>
            </a:pPr>
            <a:r>
              <a:rPr lang="zh-TW" altLang="en-US" dirty="0"/>
              <a:t>以上是今天的介紹，謝謝大家。</a:t>
            </a:r>
          </a:p>
          <a:p>
            <a:pPr marL="15875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2346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7" r:id="rId3"/>
    <p:sldLayoutId id="2147483649" r:id="rId4"/>
    <p:sldLayoutId id="214748365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0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r>
              <a:rPr lang="en-US" altLang="zh-TW" b="1" dirty="0"/>
              <a:t>ChatGPT </a:t>
            </a:r>
            <a:r>
              <a:rPr lang="zh-TW" altLang="en-US" b="1" dirty="0"/>
              <a:t>桌面版</a:t>
            </a:r>
            <a:endParaRPr lang="zh-TW" altLang="en-US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altLang="en-US" sz="2800" b="0" dirty="0"/>
              <a:t>數位科技處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2026.07.28</a:t>
            </a:r>
            <a:endParaRPr lang="en-US" sz="1600" b="0" dirty="0"/>
          </a:p>
        </p:txBody>
      </p:sp>
      <p:sp>
        <p:nvSpPr>
          <p:cNvPr id="2" name="Google Shape;36;p1">
            <a:extLst>
              <a:ext uri="{FF2B5EF4-FFF2-40B4-BE49-F238E27FC236}">
                <a16:creationId xmlns:a16="http://schemas.microsoft.com/office/drawing/2014/main" id="{54650CD5-C1B9-D7DB-46A1-AE5D76D77848}"/>
              </a:ext>
            </a:extLst>
          </p:cNvPr>
          <p:cNvSpPr txBox="1">
            <a:spLocks/>
          </p:cNvSpPr>
          <p:nvPr/>
        </p:nvSpPr>
        <p:spPr>
          <a:xfrm>
            <a:off x="1440000" y="29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b="1" dirty="0" err="1"/>
              <a:t>從聊天工具到工作代理平台</a:t>
            </a:r>
            <a:endParaRPr 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3A3DC44-6476-2D0C-1819-8EF9F34D7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什麼是 </a:t>
            </a:r>
            <a:r>
              <a:rPr lang="en" altLang="zh-TW" b="1" dirty="0"/>
              <a:t>ChatGPT </a:t>
            </a:r>
            <a:r>
              <a:rPr lang="zh-TW" altLang="en-US" b="1" dirty="0"/>
              <a:t>桌面版？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9E7E28CF-26BD-7025-3D1D-88C15B406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800" dirty="0"/>
              <a:t>ChatGPT </a:t>
            </a:r>
            <a:r>
              <a:rPr lang="zh-TW" altLang="en-US" sz="1800" dirty="0"/>
              <a:t>桌面版是一個能在電腦上協助理解資訊、執行任務並產出成果的 </a:t>
            </a:r>
            <a:r>
              <a:rPr lang="en" altLang="zh-TW" sz="1800" dirty="0"/>
              <a:t>AI </a:t>
            </a:r>
            <a:r>
              <a:rPr lang="zh-TW" altLang="en-US" sz="1800" dirty="0"/>
              <a:t>工作平台。</a:t>
            </a:r>
            <a:endParaRPr lang="en-US" altLang="zh-TW" sz="1800" dirty="0"/>
          </a:p>
          <a:p>
            <a:endParaRPr lang="zh-TW" altLang="en-US" sz="1800" dirty="0"/>
          </a:p>
        </p:txBody>
      </p:sp>
      <p:sp>
        <p:nvSpPr>
          <p:cNvPr id="58" name="positioning-panel-1">
            <a:extLst>
              <a:ext uri="{FF2B5EF4-FFF2-40B4-BE49-F238E27FC236}">
                <a16:creationId xmlns:a16="http://schemas.microsoft.com/office/drawing/2014/main" id="{D525953F-534D-E19D-90AC-930CBC06CFB6}"/>
              </a:ext>
            </a:extLst>
          </p:cNvPr>
          <p:cNvSpPr>
            <a:spLocks noGrp="1"/>
          </p:cNvSpPr>
          <p:nvPr/>
        </p:nvSpPr>
        <p:spPr>
          <a:xfrm>
            <a:off x="536635" y="1448882"/>
            <a:ext cx="4140000" cy="12600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positioning-number-1">
            <a:extLst>
              <a:ext uri="{FF2B5EF4-FFF2-40B4-BE49-F238E27FC236}">
                <a16:creationId xmlns:a16="http://schemas.microsoft.com/office/drawing/2014/main" id="{23312A25-CB96-209C-C4CE-584DF303AF96}"/>
              </a:ext>
            </a:extLst>
          </p:cNvPr>
          <p:cNvSpPr>
            <a:spLocks noGrp="1"/>
          </p:cNvSpPr>
          <p:nvPr/>
        </p:nvSpPr>
        <p:spPr>
          <a:xfrm>
            <a:off x="784284" y="1667957"/>
            <a:ext cx="507826" cy="2842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F76D2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 dirty="0">
                <a:solidFill>
                  <a:srgbClr val="2F76D2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0" name="positioning-label-1">
            <a:extLst>
              <a:ext uri="{FF2B5EF4-FFF2-40B4-BE49-F238E27FC236}">
                <a16:creationId xmlns:a16="http://schemas.microsoft.com/office/drawing/2014/main" id="{AC587C86-A390-4CA9-E38B-AF92198F596D}"/>
              </a:ext>
            </a:extLst>
          </p:cNvPr>
          <p:cNvSpPr>
            <a:spLocks noGrp="1"/>
          </p:cNvSpPr>
          <p:nvPr/>
        </p:nvSpPr>
        <p:spPr>
          <a:xfrm>
            <a:off x="1070626" y="1630053"/>
            <a:ext cx="2811180" cy="3600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zh-TW" altLang="en-US" sz="1800" b="1" dirty="0"/>
              <a:t>理解工作情境</a:t>
            </a:r>
          </a:p>
        </p:txBody>
      </p:sp>
      <p:sp>
        <p:nvSpPr>
          <p:cNvPr id="61" name="positioning-copy-1">
            <a:extLst>
              <a:ext uri="{FF2B5EF4-FFF2-40B4-BE49-F238E27FC236}">
                <a16:creationId xmlns:a16="http://schemas.microsoft.com/office/drawing/2014/main" id="{48321288-A29D-79F8-418D-57BF127706BC}"/>
              </a:ext>
            </a:extLst>
          </p:cNvPr>
          <p:cNvSpPr>
            <a:spLocks noGrp="1"/>
          </p:cNvSpPr>
          <p:nvPr/>
        </p:nvSpPr>
        <p:spPr>
          <a:xfrm>
            <a:off x="1073431" y="2005944"/>
            <a:ext cx="3421296" cy="5998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使用經授權的檔案、資料夾與專案內容，掌握任務所需的背景資訊。</a:t>
            </a:r>
            <a:endParaRPr b="0" dirty="0">
              <a:solidFill>
                <a:srgbClr val="5D6B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2" name="positioning-panel-2">
            <a:extLst>
              <a:ext uri="{FF2B5EF4-FFF2-40B4-BE49-F238E27FC236}">
                <a16:creationId xmlns:a16="http://schemas.microsoft.com/office/drawing/2014/main" id="{4A4F42D9-3180-3E9A-37F7-03143D1165A8}"/>
              </a:ext>
            </a:extLst>
          </p:cNvPr>
          <p:cNvSpPr>
            <a:spLocks noGrp="1"/>
          </p:cNvSpPr>
          <p:nvPr/>
        </p:nvSpPr>
        <p:spPr>
          <a:xfrm>
            <a:off x="536635" y="2991193"/>
            <a:ext cx="4140000" cy="12600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positioning-number-2">
            <a:extLst>
              <a:ext uri="{FF2B5EF4-FFF2-40B4-BE49-F238E27FC236}">
                <a16:creationId xmlns:a16="http://schemas.microsoft.com/office/drawing/2014/main" id="{45480102-DFA1-9250-62DA-A958B8486745}"/>
              </a:ext>
            </a:extLst>
          </p:cNvPr>
          <p:cNvSpPr>
            <a:spLocks noGrp="1"/>
          </p:cNvSpPr>
          <p:nvPr/>
        </p:nvSpPr>
        <p:spPr>
          <a:xfrm>
            <a:off x="784285" y="3210268"/>
            <a:ext cx="507826" cy="2842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F76D2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 dirty="0">
                <a:solidFill>
                  <a:srgbClr val="2F76D2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64" name="positioning-label-2">
            <a:extLst>
              <a:ext uri="{FF2B5EF4-FFF2-40B4-BE49-F238E27FC236}">
                <a16:creationId xmlns:a16="http://schemas.microsoft.com/office/drawing/2014/main" id="{A7957DA6-EFC3-F89C-39D0-ED521614C08C}"/>
              </a:ext>
            </a:extLst>
          </p:cNvPr>
          <p:cNvSpPr>
            <a:spLocks noGrp="1"/>
          </p:cNvSpPr>
          <p:nvPr/>
        </p:nvSpPr>
        <p:spPr>
          <a:xfrm>
            <a:off x="1038198" y="3173009"/>
            <a:ext cx="2811180" cy="3600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zh-TW" altLang="en-US" sz="1800" b="1" dirty="0"/>
              <a:t>協助執行工作</a:t>
            </a:r>
          </a:p>
        </p:txBody>
      </p:sp>
      <p:sp>
        <p:nvSpPr>
          <p:cNvPr id="65" name="positioning-copy-2">
            <a:extLst>
              <a:ext uri="{FF2B5EF4-FFF2-40B4-BE49-F238E27FC236}">
                <a16:creationId xmlns:a16="http://schemas.microsoft.com/office/drawing/2014/main" id="{39CC375E-1AEC-0BFD-56CF-C577BDF67217}"/>
              </a:ext>
            </a:extLst>
          </p:cNvPr>
          <p:cNvSpPr>
            <a:spLocks noGrp="1"/>
          </p:cNvSpPr>
          <p:nvPr/>
        </p:nvSpPr>
        <p:spPr>
          <a:xfrm>
            <a:off x="1038197" y="3558435"/>
            <a:ext cx="3421296" cy="6372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瀏覽網站、操作應用程式，並串接外部工具與資料來源。</a:t>
            </a:r>
            <a:endParaRPr b="0" dirty="0">
              <a:solidFill>
                <a:srgbClr val="5D6B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6" name="positioning-panel-3">
            <a:extLst>
              <a:ext uri="{FF2B5EF4-FFF2-40B4-BE49-F238E27FC236}">
                <a16:creationId xmlns:a16="http://schemas.microsoft.com/office/drawing/2014/main" id="{08D3CFE1-B653-7976-69E6-AB7B239576EB}"/>
              </a:ext>
            </a:extLst>
          </p:cNvPr>
          <p:cNvSpPr>
            <a:spLocks noGrp="1"/>
          </p:cNvSpPr>
          <p:nvPr/>
        </p:nvSpPr>
        <p:spPr>
          <a:xfrm>
            <a:off x="571868" y="4527945"/>
            <a:ext cx="4140000" cy="12600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positioning-number-3">
            <a:extLst>
              <a:ext uri="{FF2B5EF4-FFF2-40B4-BE49-F238E27FC236}">
                <a16:creationId xmlns:a16="http://schemas.microsoft.com/office/drawing/2014/main" id="{C0628471-DB13-A5B5-2CAC-1B45EDE6D76D}"/>
              </a:ext>
            </a:extLst>
          </p:cNvPr>
          <p:cNvSpPr>
            <a:spLocks noGrp="1"/>
          </p:cNvSpPr>
          <p:nvPr/>
        </p:nvSpPr>
        <p:spPr>
          <a:xfrm>
            <a:off x="819518" y="4747020"/>
            <a:ext cx="507826" cy="2842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F76D2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F76D2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68" name="positioning-label-3">
            <a:extLst>
              <a:ext uri="{FF2B5EF4-FFF2-40B4-BE49-F238E27FC236}">
                <a16:creationId xmlns:a16="http://schemas.microsoft.com/office/drawing/2014/main" id="{1D7FAC25-3A2E-4388-4757-56C62990FA87}"/>
              </a:ext>
            </a:extLst>
          </p:cNvPr>
          <p:cNvSpPr>
            <a:spLocks noGrp="1"/>
          </p:cNvSpPr>
          <p:nvPr/>
        </p:nvSpPr>
        <p:spPr>
          <a:xfrm>
            <a:off x="1073431" y="4709115"/>
            <a:ext cx="2811180" cy="3600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zh-TW" altLang="en-US" sz="1800" b="1" dirty="0"/>
              <a:t>產出完整成果</a:t>
            </a:r>
          </a:p>
        </p:txBody>
      </p:sp>
      <p:sp>
        <p:nvSpPr>
          <p:cNvPr id="69" name="positioning-copy-3">
            <a:extLst>
              <a:ext uri="{FF2B5EF4-FFF2-40B4-BE49-F238E27FC236}">
                <a16:creationId xmlns:a16="http://schemas.microsoft.com/office/drawing/2014/main" id="{52FF09D4-64B4-6B34-52A9-CBC9A3B5F70A}"/>
              </a:ext>
            </a:extLst>
          </p:cNvPr>
          <p:cNvSpPr>
            <a:spLocks noGrp="1"/>
          </p:cNvSpPr>
          <p:nvPr/>
        </p:nvSpPr>
        <p:spPr>
          <a:xfrm>
            <a:off x="1073431" y="5107100"/>
            <a:ext cx="3421296" cy="6539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500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將蒐集與分析結果整理成文件、簡報、報告、網站或程式碼。</a:t>
            </a:r>
            <a:endParaRPr sz="1500" b="0" dirty="0">
              <a:solidFill>
                <a:srgbClr val="5D6B78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74" name="圖片 73" descr="一張含有 文字, 螢幕擷取畫面, 字型, 軟體 的圖片&#10;&#10;AI 產生的內容可能不正確。">
            <a:extLst>
              <a:ext uri="{FF2B5EF4-FFF2-40B4-BE49-F238E27FC236}">
                <a16:creationId xmlns:a16="http://schemas.microsoft.com/office/drawing/2014/main" id="{147F4ABD-3234-8948-25A2-4C13DF7CF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882" y="1461254"/>
            <a:ext cx="6076531" cy="360794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4290427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A242-D058-B8B4-6EA7-707CD99A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CB2E688-8DCB-BF70-B25B-9A6CE95F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/>
              <a:t>Chat</a:t>
            </a:r>
            <a:r>
              <a:rPr lang="zh-TW" altLang="en" b="1" dirty="0"/>
              <a:t>、</a:t>
            </a:r>
            <a:r>
              <a:rPr lang="en" altLang="zh-TW" b="1" dirty="0"/>
              <a:t>Work </a:t>
            </a:r>
            <a:r>
              <a:rPr lang="zh-TW" altLang="en-US" b="1" dirty="0"/>
              <a:t>與 </a:t>
            </a:r>
            <a:r>
              <a:rPr lang="en" altLang="zh-TW" b="1" dirty="0"/>
              <a:t>Codex</a:t>
            </a:r>
            <a:r>
              <a:rPr lang="zh-TW" altLang="en" b="1" dirty="0"/>
              <a:t>：</a:t>
            </a:r>
            <a:r>
              <a:rPr lang="zh-TW" altLang="en-US" b="1" dirty="0"/>
              <a:t>三種工作模式</a:t>
            </a:r>
            <a:endParaRPr lang="zh-TW" altLang="en-US" dirty="0"/>
          </a:p>
        </p:txBody>
      </p:sp>
      <p:sp>
        <p:nvSpPr>
          <p:cNvPr id="4" name="positioning-panel-1">
            <a:extLst>
              <a:ext uri="{FF2B5EF4-FFF2-40B4-BE49-F238E27FC236}">
                <a16:creationId xmlns:a16="http://schemas.microsoft.com/office/drawing/2014/main" id="{A94F4E10-8E17-6B86-56A0-3888C92E1BBD}"/>
              </a:ext>
            </a:extLst>
          </p:cNvPr>
          <p:cNvSpPr>
            <a:spLocks noGrp="1"/>
          </p:cNvSpPr>
          <p:nvPr/>
        </p:nvSpPr>
        <p:spPr>
          <a:xfrm>
            <a:off x="509433" y="811875"/>
            <a:ext cx="3309938" cy="2065718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positioning-number-1">
            <a:extLst>
              <a:ext uri="{FF2B5EF4-FFF2-40B4-BE49-F238E27FC236}">
                <a16:creationId xmlns:a16="http://schemas.microsoft.com/office/drawing/2014/main" id="{75532D33-2CD9-79FF-7B8F-72A807A537F8}"/>
              </a:ext>
            </a:extLst>
          </p:cNvPr>
          <p:cNvSpPr>
            <a:spLocks noGrp="1"/>
          </p:cNvSpPr>
          <p:nvPr/>
        </p:nvSpPr>
        <p:spPr>
          <a:xfrm>
            <a:off x="757081" y="2512334"/>
            <a:ext cx="2811179" cy="28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F76D2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300" b="1" dirty="0">
                <a:solidFill>
                  <a:srgbClr val="2F76D2"/>
                </a:solidFill>
                <a:latin typeface="PingFang TC"/>
                <a:ea typeface="PingFang TC"/>
                <a:cs typeface="PingFang TC"/>
              </a:rPr>
              <a:t>答案、摘要、草稿</a:t>
            </a:r>
            <a:endParaRPr sz="1300" b="1" dirty="0">
              <a:solidFill>
                <a:srgbClr val="2F76D2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9" name="positioning-copy-1">
            <a:extLst>
              <a:ext uri="{FF2B5EF4-FFF2-40B4-BE49-F238E27FC236}">
                <a16:creationId xmlns:a16="http://schemas.microsoft.com/office/drawing/2014/main" id="{320FC435-2478-EB75-F9FA-5BA77F927149}"/>
              </a:ext>
            </a:extLst>
          </p:cNvPr>
          <p:cNvSpPr>
            <a:spLocks noGrp="1"/>
          </p:cNvSpPr>
          <p:nvPr/>
        </p:nvSpPr>
        <p:spPr>
          <a:xfrm>
            <a:off x="757082" y="1467490"/>
            <a:ext cx="2811180" cy="8388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搜尋與摘要</a:t>
            </a:r>
            <a:endParaRPr lang="en-US" altLang="zh-TW" b="0" dirty="0">
              <a:solidFill>
                <a:srgbClr val="5D6B78"/>
              </a:solidFill>
              <a:latin typeface="PingFang TC"/>
              <a:ea typeface="PingFang TC"/>
              <a:cs typeface="PingFang TC"/>
            </a:endParaRPr>
          </a:p>
          <a:p>
            <a:pPr algn="l">
              <a:spcAft>
                <a:spcPts val="600"/>
              </a:spcAft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腦力激盪</a:t>
            </a:r>
            <a:endParaRPr lang="en-US" altLang="zh-TW" b="0" dirty="0">
              <a:solidFill>
                <a:srgbClr val="5D6B78"/>
              </a:solidFill>
              <a:latin typeface="PingFang TC"/>
              <a:ea typeface="PingFang TC"/>
              <a:cs typeface="PingFang TC"/>
            </a:endParaRPr>
          </a:p>
          <a:p>
            <a:pPr algn="l">
              <a:spcAft>
                <a:spcPts val="600"/>
              </a:spcAft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日常問題與內容草擬</a:t>
            </a:r>
          </a:p>
        </p:txBody>
      </p:sp>
      <p:sp>
        <p:nvSpPr>
          <p:cNvPr id="10" name="positioning-panel-2">
            <a:extLst>
              <a:ext uri="{FF2B5EF4-FFF2-40B4-BE49-F238E27FC236}">
                <a16:creationId xmlns:a16="http://schemas.microsoft.com/office/drawing/2014/main" id="{D57459FA-0785-1F4D-7411-520F02934D53}"/>
              </a:ext>
            </a:extLst>
          </p:cNvPr>
          <p:cNvSpPr>
            <a:spLocks noGrp="1"/>
          </p:cNvSpPr>
          <p:nvPr/>
        </p:nvSpPr>
        <p:spPr>
          <a:xfrm>
            <a:off x="4110501" y="819790"/>
            <a:ext cx="3309938" cy="2065718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positioning-number-2">
            <a:extLst>
              <a:ext uri="{FF2B5EF4-FFF2-40B4-BE49-F238E27FC236}">
                <a16:creationId xmlns:a16="http://schemas.microsoft.com/office/drawing/2014/main" id="{BC1E0592-2407-6B84-9CAF-8E8E36BF4230}"/>
              </a:ext>
            </a:extLst>
          </p:cNvPr>
          <p:cNvSpPr>
            <a:spLocks noGrp="1"/>
          </p:cNvSpPr>
          <p:nvPr/>
        </p:nvSpPr>
        <p:spPr>
          <a:xfrm>
            <a:off x="4358150" y="2506102"/>
            <a:ext cx="2811600" cy="2842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F76D2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300" b="1" dirty="0">
                <a:solidFill>
                  <a:srgbClr val="2F76D2"/>
                </a:solidFill>
                <a:latin typeface="PingFang TC"/>
                <a:ea typeface="PingFang TC"/>
                <a:cs typeface="PingFang TC"/>
              </a:rPr>
              <a:t>文件、簡報、報告與網站</a:t>
            </a:r>
            <a:endParaRPr sz="1300" b="1" dirty="0">
              <a:solidFill>
                <a:srgbClr val="2F76D2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2" name="positioning-label-2">
            <a:extLst>
              <a:ext uri="{FF2B5EF4-FFF2-40B4-BE49-F238E27FC236}">
                <a16:creationId xmlns:a16="http://schemas.microsoft.com/office/drawing/2014/main" id="{F21072E0-F707-AEEA-70A1-058A65A65BE5}"/>
              </a:ext>
            </a:extLst>
          </p:cNvPr>
          <p:cNvSpPr>
            <a:spLocks noGrp="1"/>
          </p:cNvSpPr>
          <p:nvPr/>
        </p:nvSpPr>
        <p:spPr>
          <a:xfrm>
            <a:off x="4358150" y="1038865"/>
            <a:ext cx="2811180" cy="3600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" altLang="zh-TW" sz="1800" b="1" dirty="0"/>
              <a:t>Work</a:t>
            </a:r>
            <a:r>
              <a:rPr lang="zh-TW" altLang="en" sz="1800" b="1" dirty="0"/>
              <a:t>｜</a:t>
            </a:r>
            <a:r>
              <a:rPr lang="zh-TW" altLang="en-US" sz="1800" b="1" dirty="0"/>
              <a:t>研究與交付</a:t>
            </a:r>
          </a:p>
        </p:txBody>
      </p:sp>
      <p:sp>
        <p:nvSpPr>
          <p:cNvPr id="13" name="positioning-copy-2">
            <a:extLst>
              <a:ext uri="{FF2B5EF4-FFF2-40B4-BE49-F238E27FC236}">
                <a16:creationId xmlns:a16="http://schemas.microsoft.com/office/drawing/2014/main" id="{3B4B6739-6ED0-4260-7135-DB619B9B4C94}"/>
              </a:ext>
            </a:extLst>
          </p:cNvPr>
          <p:cNvSpPr>
            <a:spLocks noGrp="1"/>
          </p:cNvSpPr>
          <p:nvPr/>
        </p:nvSpPr>
        <p:spPr>
          <a:xfrm>
            <a:off x="4358150" y="1467488"/>
            <a:ext cx="2811180" cy="8388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分析多項資訊</a:t>
            </a:r>
            <a:endParaRPr lang="en-US" altLang="zh-TW" b="0" dirty="0">
              <a:solidFill>
                <a:srgbClr val="5D6B78"/>
              </a:solidFill>
              <a:latin typeface="PingFang TC"/>
              <a:ea typeface="PingFang TC"/>
              <a:cs typeface="PingFang TC"/>
            </a:endParaRPr>
          </a:p>
          <a:p>
            <a:pPr algn="l">
              <a:spcAft>
                <a:spcPts val="600"/>
              </a:spcAft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處理多步驟任務</a:t>
            </a:r>
            <a:endParaRPr lang="en-US" altLang="zh-TW" b="0" dirty="0">
              <a:solidFill>
                <a:srgbClr val="5D6B78"/>
              </a:solidFill>
              <a:latin typeface="PingFang TC"/>
              <a:ea typeface="PingFang TC"/>
              <a:cs typeface="PingFang TC"/>
            </a:endParaRPr>
          </a:p>
          <a:p>
            <a:pPr algn="l">
              <a:spcAft>
                <a:spcPts val="600"/>
              </a:spcAft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使用經授權的檔案與工具</a:t>
            </a:r>
            <a:endParaRPr b="0" dirty="0">
              <a:solidFill>
                <a:srgbClr val="5D6B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4" name="positioning-panel-3">
            <a:extLst>
              <a:ext uri="{FF2B5EF4-FFF2-40B4-BE49-F238E27FC236}">
                <a16:creationId xmlns:a16="http://schemas.microsoft.com/office/drawing/2014/main" id="{09F0D9C0-9B5B-2847-2DB0-4F9ACB8B70FE}"/>
              </a:ext>
            </a:extLst>
          </p:cNvPr>
          <p:cNvSpPr>
            <a:spLocks noGrp="1"/>
          </p:cNvSpPr>
          <p:nvPr/>
        </p:nvSpPr>
        <p:spPr>
          <a:xfrm>
            <a:off x="7780491" y="819790"/>
            <a:ext cx="3309938" cy="2065718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positioning-number-3">
            <a:extLst>
              <a:ext uri="{FF2B5EF4-FFF2-40B4-BE49-F238E27FC236}">
                <a16:creationId xmlns:a16="http://schemas.microsoft.com/office/drawing/2014/main" id="{1F9A6811-1B0A-1FD4-E50A-BEC4B0F8FB76}"/>
              </a:ext>
            </a:extLst>
          </p:cNvPr>
          <p:cNvSpPr>
            <a:spLocks noGrp="1"/>
          </p:cNvSpPr>
          <p:nvPr/>
        </p:nvSpPr>
        <p:spPr>
          <a:xfrm>
            <a:off x="8028140" y="2506101"/>
            <a:ext cx="2811600" cy="2842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F76D2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300" b="1" dirty="0">
                <a:solidFill>
                  <a:srgbClr val="2F76D2"/>
                </a:solidFill>
                <a:latin typeface="PingFang TC"/>
                <a:ea typeface="PingFang TC"/>
                <a:cs typeface="PingFang TC"/>
              </a:rPr>
              <a:t>程式碼變更與測試結果</a:t>
            </a:r>
            <a:endParaRPr sz="1300" b="1" dirty="0">
              <a:solidFill>
                <a:srgbClr val="2F76D2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positioning-label-3">
            <a:extLst>
              <a:ext uri="{FF2B5EF4-FFF2-40B4-BE49-F238E27FC236}">
                <a16:creationId xmlns:a16="http://schemas.microsoft.com/office/drawing/2014/main" id="{FD0C3D85-CFEF-109F-32A1-D3DCF4190F6F}"/>
              </a:ext>
            </a:extLst>
          </p:cNvPr>
          <p:cNvSpPr>
            <a:spLocks noGrp="1"/>
          </p:cNvSpPr>
          <p:nvPr/>
        </p:nvSpPr>
        <p:spPr>
          <a:xfrm>
            <a:off x="8028140" y="1038865"/>
            <a:ext cx="2811180" cy="3600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" altLang="zh-TW" sz="1800" b="1" dirty="0"/>
              <a:t>Codex</a:t>
            </a:r>
            <a:r>
              <a:rPr lang="zh-TW" altLang="en" sz="1800" b="1" dirty="0"/>
              <a:t>｜</a:t>
            </a:r>
            <a:r>
              <a:rPr lang="zh-TW" altLang="en-US" sz="1800" b="1" dirty="0"/>
              <a:t>軟體開發</a:t>
            </a:r>
          </a:p>
        </p:txBody>
      </p:sp>
      <p:sp>
        <p:nvSpPr>
          <p:cNvPr id="17" name="positioning-copy-3">
            <a:extLst>
              <a:ext uri="{FF2B5EF4-FFF2-40B4-BE49-F238E27FC236}">
                <a16:creationId xmlns:a16="http://schemas.microsoft.com/office/drawing/2014/main" id="{45CE3CD5-8F93-0548-F81B-7540C90006EE}"/>
              </a:ext>
            </a:extLst>
          </p:cNvPr>
          <p:cNvSpPr>
            <a:spLocks noGrp="1"/>
          </p:cNvSpPr>
          <p:nvPr/>
        </p:nvSpPr>
        <p:spPr>
          <a:xfrm>
            <a:off x="8028140" y="1467489"/>
            <a:ext cx="2811180" cy="8388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理解程式碼與專案結構</a:t>
            </a:r>
            <a:endParaRPr lang="en-US" altLang="zh-TW" b="0" dirty="0">
              <a:solidFill>
                <a:srgbClr val="5D6B78"/>
              </a:solidFill>
              <a:latin typeface="PingFang TC"/>
              <a:ea typeface="PingFang TC"/>
              <a:cs typeface="PingFang TC"/>
            </a:endParaRPr>
          </a:p>
          <a:p>
            <a:pPr algn="l">
              <a:spcAft>
                <a:spcPts val="600"/>
              </a:spcAft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執行測試與開發指令</a:t>
            </a:r>
            <a:endParaRPr lang="en-US" altLang="zh-TW" b="0" dirty="0">
              <a:solidFill>
                <a:srgbClr val="5D6B78"/>
              </a:solidFill>
              <a:latin typeface="PingFang TC"/>
              <a:ea typeface="PingFang TC"/>
              <a:cs typeface="PingFang TC"/>
            </a:endParaRPr>
          </a:p>
          <a:p>
            <a:pPr algn="l">
              <a:spcAft>
                <a:spcPts val="600"/>
              </a:spcAft>
              <a:defRPr sz="1500" b="0">
                <a:solidFill>
                  <a:srgbClr val="5D6B7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0" dirty="0">
                <a:solidFill>
                  <a:srgbClr val="5D6B78"/>
                </a:solidFill>
                <a:latin typeface="PingFang TC"/>
                <a:ea typeface="PingFang TC"/>
                <a:cs typeface="PingFang TC"/>
              </a:rPr>
              <a:t>提出並實作程式碼變更</a:t>
            </a:r>
            <a:endParaRPr b="0" dirty="0">
              <a:solidFill>
                <a:srgbClr val="5D6B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positioning-label-1">
            <a:extLst>
              <a:ext uri="{FF2B5EF4-FFF2-40B4-BE49-F238E27FC236}">
                <a16:creationId xmlns:a16="http://schemas.microsoft.com/office/drawing/2014/main" id="{F079DE3B-0961-8FDE-8E2D-6047E532CCEB}"/>
              </a:ext>
            </a:extLst>
          </p:cNvPr>
          <p:cNvSpPr>
            <a:spLocks noGrp="1"/>
          </p:cNvSpPr>
          <p:nvPr/>
        </p:nvSpPr>
        <p:spPr>
          <a:xfrm>
            <a:off x="757082" y="1038865"/>
            <a:ext cx="2811180" cy="3600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-US" altLang="zh-TW" sz="1800" b="1" dirty="0"/>
              <a:t>Chat</a:t>
            </a:r>
            <a:r>
              <a:rPr lang="zh-TW" altLang="en-US" sz="1800" b="1" dirty="0"/>
              <a:t>｜快速問答</a:t>
            </a:r>
          </a:p>
        </p:txBody>
      </p:sp>
      <p:pic>
        <p:nvPicPr>
          <p:cNvPr id="28" name="圖片 27" descr="一張含有 螢幕擷取畫面, 文字, 軟體 的圖片&#10;&#10;AI 產生的內容可能不正確。">
            <a:extLst>
              <a:ext uri="{FF2B5EF4-FFF2-40B4-BE49-F238E27FC236}">
                <a16:creationId xmlns:a16="http://schemas.microsoft.com/office/drawing/2014/main" id="{40AA2577-F616-3C2C-DE45-5D780B09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044" y="2912307"/>
            <a:ext cx="7772400" cy="340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92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6AFFF-3A49-4125-3A27-BAFCC3C9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BE02D6C-DE67-543C-F7E4-709B72237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Chat</a:t>
            </a:r>
            <a:r>
              <a:rPr lang="zh-TW" altLang="en-US" b="1" dirty="0"/>
              <a:t>：快速問答</a:t>
            </a:r>
          </a:p>
        </p:txBody>
      </p:sp>
      <p:pic>
        <p:nvPicPr>
          <p:cNvPr id="9" name="圖片 8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DC05A6AB-B869-8B64-EBD4-F0AD188B4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44" y="928800"/>
            <a:ext cx="7772400" cy="488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44D34-89D2-62A1-580E-A153F192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9E9F8BF-B591-E1C9-6DBF-42F2D7EC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Work</a:t>
            </a:r>
            <a:r>
              <a:rPr lang="zh-TW" altLang="en-US" b="1" dirty="0"/>
              <a:t>：研究與交付</a:t>
            </a:r>
          </a:p>
        </p:txBody>
      </p:sp>
      <p:pic>
        <p:nvPicPr>
          <p:cNvPr id="4" name="圖片 3" descr="一張含有 文字, 網站, 網頁, 軟體 的圖片&#10;&#10;AI 產生的內容可能不正確。">
            <a:extLst>
              <a:ext uri="{FF2B5EF4-FFF2-40B4-BE49-F238E27FC236}">
                <a16:creationId xmlns:a16="http://schemas.microsoft.com/office/drawing/2014/main" id="{B78BF702-DEF5-9FEF-10FC-14CAB437A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44" y="930054"/>
            <a:ext cx="7772400" cy="497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07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382C2-DF29-EBA1-FE78-39903749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A46BDF1-A8BF-0D3C-DBF8-1F84FD07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Codex</a:t>
            </a:r>
            <a:r>
              <a:rPr lang="zh-TW" altLang="en-US" b="1" dirty="0"/>
              <a:t>：軟體開發</a:t>
            </a:r>
          </a:p>
        </p:txBody>
      </p:sp>
      <p:pic>
        <p:nvPicPr>
          <p:cNvPr id="3" name="圖片 2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30A18EB0-F199-76F2-4AC1-FB1C138AD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44" y="930054"/>
            <a:ext cx="7772400" cy="497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92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4CD3F-FB78-5B71-0235-EDF41379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/>
              <a:t>ChatGPT </a:t>
            </a:r>
            <a:r>
              <a:rPr lang="zh-TW" altLang="en-US" b="1" dirty="0"/>
              <a:t>桌面版：從 </a:t>
            </a:r>
            <a:r>
              <a:rPr lang="en" altLang="zh-TW" b="1" dirty="0"/>
              <a:t>Codex CLI </a:t>
            </a:r>
            <a:r>
              <a:rPr lang="zh-TW" altLang="en-US" b="1" dirty="0"/>
              <a:t>到跨環境 </a:t>
            </a:r>
            <a:r>
              <a:rPr lang="en" altLang="zh-TW" b="1" dirty="0"/>
              <a:t>AI </a:t>
            </a:r>
            <a:r>
              <a:rPr lang="zh-TW" altLang="en-US" b="1" dirty="0"/>
              <a:t>工作平台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28D80B-026F-A38E-1569-A14AA6D07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800" b="1" dirty="0"/>
              <a:t>Codex CLI → Codex App → ChatGPT </a:t>
            </a:r>
            <a:r>
              <a:rPr lang="zh-TW" altLang="en-US" sz="1800" b="1" dirty="0"/>
              <a:t>桌面版</a:t>
            </a:r>
            <a:endParaRPr lang="en-US" altLang="zh-TW" sz="1800" b="1" dirty="0"/>
          </a:p>
          <a:p>
            <a:pPr marL="288000" lvl="1" indent="0">
              <a:buNone/>
            </a:pPr>
            <a:r>
              <a:rPr lang="zh-TW" altLang="en-US" sz="1600" dirty="0"/>
              <a:t>將對話、研究、程式開發、瀏覽器操作及桌面自動化集中於同一個工作環境。</a:t>
            </a:r>
            <a:endParaRPr lang="en-US" altLang="zh-TW" sz="16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B7EA340-E15C-5122-E3D5-67263DFF8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088328"/>
              </p:ext>
            </p:extLst>
          </p:nvPr>
        </p:nvGraphicFramePr>
        <p:xfrm>
          <a:off x="539835" y="1618693"/>
          <a:ext cx="10440818" cy="4318467"/>
        </p:xfrm>
        <a:graphic>
          <a:graphicData uri="http://schemas.openxmlformats.org/drawingml/2006/table">
            <a:tbl>
              <a:tblPr firstRow="1" bandRow="1">
                <a:tableStyleId>{91DB7C30-2B5D-4D34-8F22-85940E495A18}</a:tableStyleId>
              </a:tblPr>
              <a:tblGrid>
                <a:gridCol w="2222634">
                  <a:extLst>
                    <a:ext uri="{9D8B030D-6E8A-4147-A177-3AD203B41FA5}">
                      <a16:colId xmlns:a16="http://schemas.microsoft.com/office/drawing/2014/main" val="1274782218"/>
                    </a:ext>
                  </a:extLst>
                </a:gridCol>
                <a:gridCol w="8218184">
                  <a:extLst>
                    <a:ext uri="{9D8B030D-6E8A-4147-A177-3AD203B41FA5}">
                      <a16:colId xmlns:a16="http://schemas.microsoft.com/office/drawing/2014/main" val="2968795291"/>
                    </a:ext>
                  </a:extLst>
                </a:gridCol>
              </a:tblGrid>
              <a:tr h="6173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1" dirty="0"/>
                        <a:t>多環境開發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支援 </a:t>
                      </a:r>
                      <a:r>
                        <a:rPr lang="en" altLang="zh-TW" sz="1600" dirty="0"/>
                        <a:t>Codex CLI</a:t>
                      </a:r>
                      <a:r>
                        <a:rPr lang="zh-TW" altLang="en" sz="1600" dirty="0"/>
                        <a:t>、</a:t>
                      </a:r>
                      <a:r>
                        <a:rPr lang="en" altLang="zh-TW" sz="1600" dirty="0"/>
                        <a:t>Codex App</a:t>
                      </a:r>
                      <a:r>
                        <a:rPr lang="zh-TW" altLang="en" sz="1600" dirty="0"/>
                        <a:t>、</a:t>
                      </a:r>
                      <a:r>
                        <a:rPr lang="en" altLang="zh-TW" sz="1600" dirty="0"/>
                        <a:t>Visual Studio Code </a:t>
                      </a:r>
                      <a:r>
                        <a:rPr lang="zh-TW" altLang="en-US" sz="1600" dirty="0"/>
                        <a:t>等 </a:t>
                      </a:r>
                      <a:r>
                        <a:rPr lang="en" altLang="zh-TW" sz="1600" dirty="0"/>
                        <a:t>IDE </a:t>
                      </a:r>
                      <a:r>
                        <a:rPr lang="zh-TW" altLang="en-US" sz="1600" dirty="0"/>
                        <a:t>延伸模組，並可透過 </a:t>
                      </a:r>
                      <a:r>
                        <a:rPr lang="en" altLang="zh-TW" sz="1600" dirty="0"/>
                        <a:t>GitHub </a:t>
                      </a:r>
                      <a:r>
                        <a:rPr lang="zh-TW" altLang="en-US" sz="1600" dirty="0"/>
                        <a:t>與 </a:t>
                      </a:r>
                      <a:r>
                        <a:rPr lang="en" altLang="zh-TW" sz="1600" dirty="0"/>
                        <a:t>Codex Cloud </a:t>
                      </a:r>
                      <a:r>
                        <a:rPr lang="zh-TW" altLang="en-US" sz="1600" dirty="0"/>
                        <a:t>進行協作。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061040"/>
                  </a:ext>
                </a:extLst>
              </a:tr>
              <a:tr h="6173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1" dirty="0"/>
                        <a:t>遠端連線與任務派發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可透過 </a:t>
                      </a:r>
                      <a:r>
                        <a:rPr lang="en" altLang="zh-TW" sz="1600" dirty="0"/>
                        <a:t>ChatGPT App </a:t>
                      </a:r>
                      <a:r>
                        <a:rPr lang="zh-TW" altLang="en-US" sz="1600" dirty="0"/>
                        <a:t>遠端連接本機 </a:t>
                      </a:r>
                      <a:r>
                        <a:rPr lang="en" altLang="zh-TW" sz="1600" dirty="0"/>
                        <a:t>Codex</a:t>
                      </a:r>
                      <a:r>
                        <a:rPr lang="zh-TW" altLang="en" sz="1600" dirty="0"/>
                        <a:t>，</a:t>
                      </a:r>
                      <a:r>
                        <a:rPr lang="zh-TW" altLang="en-US" sz="1600" dirty="0"/>
                        <a:t>在外部裝置派發任務、補充指示並查看開發進度。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086184"/>
                  </a:ext>
                </a:extLst>
              </a:tr>
              <a:tr h="6142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1" dirty="0"/>
                        <a:t>內建瀏覽器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可直接開啟及檢查網站，自動連接後端服務，進行前端預覽、功能測試與問題除錯。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246638"/>
                  </a:ext>
                </a:extLst>
              </a:tr>
              <a:tr h="6173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b="1" dirty="0"/>
                        <a:t>Computer Use</a:t>
                      </a:r>
                      <a:endParaRPr lang="en" altLang="zh-TW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除了網頁之外，也能操作本機桌面應用程式，執行跨應用流程與圖形介面的自動化測試。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4733592"/>
                  </a:ext>
                </a:extLst>
              </a:tr>
              <a:tr h="6173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1" dirty="0"/>
                        <a:t>支援 </a:t>
                      </a:r>
                      <a:r>
                        <a:rPr lang="en" altLang="zh-TW" sz="1600" b="1" dirty="0"/>
                        <a:t>MCP </a:t>
                      </a:r>
                      <a:r>
                        <a:rPr lang="zh-TW" altLang="en-US" sz="1600" b="1" dirty="0"/>
                        <a:t>與 </a:t>
                      </a:r>
                      <a:r>
                        <a:rPr lang="en" altLang="zh-TW" sz="1600" b="1" dirty="0"/>
                        <a:t>Skills</a:t>
                      </a:r>
                      <a:endParaRPr lang="en" altLang="zh-TW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/>
                        <a:t>MCP </a:t>
                      </a:r>
                      <a:r>
                        <a:rPr lang="zh-TW" altLang="en-US" sz="1600" dirty="0"/>
                        <a:t>可連接外部資料與工具；</a:t>
                      </a:r>
                      <a:r>
                        <a:rPr lang="en" altLang="zh-TW" sz="1600" dirty="0"/>
                        <a:t>Skills </a:t>
                      </a:r>
                      <a:r>
                        <a:rPr lang="zh-TW" altLang="en-US" sz="1600" dirty="0"/>
                        <a:t>可將操作步驟整理為標準流程，讓 </a:t>
                      </a:r>
                      <a:r>
                        <a:rPr lang="en" altLang="zh-TW" sz="1600" dirty="0"/>
                        <a:t>Agent </a:t>
                      </a:r>
                      <a:r>
                        <a:rPr lang="zh-TW" altLang="en-US" sz="1600" dirty="0"/>
                        <a:t>以一致方式完成重複任務。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566233"/>
                  </a:ext>
                </a:extLst>
              </a:tr>
              <a:tr h="6173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b="1" dirty="0"/>
                        <a:t>Sandbox </a:t>
                      </a:r>
                      <a:r>
                        <a:rPr lang="zh-TW" altLang="en-US" sz="1600" b="1" dirty="0"/>
                        <a:t>安全隔離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透過平台原生沙盒限制檔案與網路存取範圍，原則上只允許操作專案內的授權內容，降低誤刪或誤改其他資料的風險。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797810"/>
                  </a:ext>
                </a:extLst>
              </a:tr>
              <a:tr h="6173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1" dirty="0"/>
                        <a:t>多 </a:t>
                      </a:r>
                      <a:r>
                        <a:rPr lang="en" altLang="zh-TW" sz="1600" b="1" dirty="0"/>
                        <a:t>Agent </a:t>
                      </a:r>
                      <a:r>
                        <a:rPr lang="zh-TW" altLang="en-US" sz="1600" b="1" dirty="0"/>
                        <a:t>平行處理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可將任務拆分給多個 </a:t>
                      </a:r>
                      <a:r>
                        <a:rPr lang="en" altLang="zh-TW" sz="1600" dirty="0"/>
                        <a:t>Agent </a:t>
                      </a:r>
                      <a:r>
                        <a:rPr lang="zh-TW" altLang="en-US" sz="1600" dirty="0"/>
                        <a:t>同時執行，再彙整各自成果；也能配置專責 </a:t>
                      </a:r>
                      <a:r>
                        <a:rPr lang="en" altLang="zh-TW" sz="1600" dirty="0"/>
                        <a:t>Agent</a:t>
                      </a:r>
                      <a:r>
                        <a:rPr lang="zh-TW" altLang="en" sz="1600" dirty="0"/>
                        <a:t>，</a:t>
                      </a:r>
                      <a:r>
                        <a:rPr lang="zh-TW" altLang="en-US" sz="1600" dirty="0"/>
                        <a:t>降低單一 </a:t>
                      </a:r>
                      <a:r>
                        <a:rPr lang="en" altLang="zh-TW" sz="1600" dirty="0"/>
                        <a:t>Agent </a:t>
                      </a:r>
                      <a:r>
                        <a:rPr lang="zh-TW" altLang="en-US" sz="1600" dirty="0"/>
                        <a:t>處理多項任務時的上下文混亂與相互干擾。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928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577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3E99-5B8C-8F93-6D79-21A16C942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464EA2-2423-AD5D-64C2-7A846A11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/>
              <a:t>ChatGPT </a:t>
            </a:r>
            <a:r>
              <a:rPr lang="zh-TW" altLang="en-US" b="1" dirty="0"/>
              <a:t>桌面版 </a:t>
            </a:r>
            <a:r>
              <a:rPr lang="en-US" altLang="zh-TW" b="1" dirty="0"/>
              <a:t>vs.</a:t>
            </a:r>
            <a:r>
              <a:rPr lang="zh-TW" altLang="en-US" b="1" dirty="0"/>
              <a:t> </a:t>
            </a:r>
            <a:r>
              <a:rPr lang="en" altLang="zh-TW" b="1" dirty="0"/>
              <a:t>Claude Desktop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6558BD-4F01-649D-933A-5CEC95596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dirty="0"/>
              <a:t>兩者的功能逐漸接近，但 </a:t>
            </a:r>
            <a:r>
              <a:rPr lang="en" altLang="zh-TW" sz="1800" dirty="0"/>
              <a:t>ChatGPT </a:t>
            </a:r>
            <a:r>
              <a:rPr lang="zh-TW" altLang="en-US" sz="1800" dirty="0"/>
              <a:t>將更多工作階段整合在同一個桌面環境。</a:t>
            </a:r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pPr lvl="1"/>
            <a:r>
              <a:rPr lang="en" altLang="zh-TW" sz="1600" dirty="0"/>
              <a:t>ChatGPT </a:t>
            </a:r>
            <a:r>
              <a:rPr lang="zh-TW" altLang="en-US" sz="1600" dirty="0"/>
              <a:t>桌面版更像完整的工作平台；</a:t>
            </a:r>
            <a:r>
              <a:rPr lang="en" altLang="zh-TW" sz="1600" dirty="0"/>
              <a:t>Claude Desktop </a:t>
            </a:r>
            <a:r>
              <a:rPr lang="zh-TW" altLang="en-US" sz="1600" dirty="0"/>
              <a:t>更像深入既有工具的工作代理。</a:t>
            </a:r>
          </a:p>
          <a:p>
            <a:pPr marL="36000" indent="0">
              <a:buNone/>
            </a:pPr>
            <a:endParaRPr lang="zh-TW" altLang="en-US" sz="1800" dirty="0"/>
          </a:p>
          <a:p>
            <a:pPr marL="36000" indent="0">
              <a:buNone/>
            </a:pP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C46A11A-DD50-D8DE-AF40-D2808D284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81649"/>
              </p:ext>
            </p:extLst>
          </p:nvPr>
        </p:nvGraphicFramePr>
        <p:xfrm>
          <a:off x="540244" y="1349652"/>
          <a:ext cx="10440000" cy="4139997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117617968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423198192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585458256"/>
                    </a:ext>
                  </a:extLst>
                </a:gridCol>
              </a:tblGrid>
              <a:tr h="3442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600" b="1" dirty="0"/>
                        <a:t>ChatGPT </a:t>
                      </a:r>
                      <a:r>
                        <a:rPr lang="zh-TW" altLang="en-US" sz="1600" b="1" dirty="0"/>
                        <a:t>桌面版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600" b="1" dirty="0"/>
                        <a:t>Claude Desktop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545269"/>
                  </a:ext>
                </a:extLst>
              </a:tr>
              <a:tr h="5422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工作模式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0" dirty="0"/>
                        <a:t>Chat / Work / Codex</a:t>
                      </a:r>
                      <a:endParaRPr lang="zh-TW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0" dirty="0"/>
                        <a:t>Chat / </a:t>
                      </a:r>
                      <a:r>
                        <a:rPr lang="en" sz="1600" b="0" dirty="0" err="1"/>
                        <a:t>Cowork</a:t>
                      </a:r>
                      <a:r>
                        <a:rPr lang="en" sz="1600" b="0" dirty="0"/>
                        <a:t> / Claude Code</a:t>
                      </a:r>
                      <a:endParaRPr lang="zh-TW" alt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225268"/>
                  </a:ext>
                </a:extLst>
              </a:tr>
              <a:tr h="5422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理解情境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0" dirty="0"/>
                        <a:t>Projects、</a:t>
                      </a:r>
                      <a:r>
                        <a:rPr lang="zh-TW" altLang="en-US" sz="1600" b="0" dirty="0"/>
                        <a:t>檔案與本機資料夾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0" dirty="0" err="1"/>
                        <a:t>Projects、Cowork</a:t>
                      </a:r>
                      <a:r>
                        <a:rPr lang="en" sz="1600" b="0" dirty="0"/>
                        <a:t> </a:t>
                      </a:r>
                      <a:r>
                        <a:rPr lang="zh-TW" altLang="en-US" sz="1600" b="0" dirty="0"/>
                        <a:t>與連接資料夾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186510"/>
                  </a:ext>
                </a:extLst>
              </a:tr>
              <a:tr h="5422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蒐集資訊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網路搜尋、內建共享瀏覽器與 </a:t>
                      </a:r>
                      <a:r>
                        <a:rPr lang="en" sz="1600" b="0" dirty="0"/>
                        <a:t>Chrome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網路搜尋與 </a:t>
                      </a:r>
                      <a:r>
                        <a:rPr lang="en" sz="1600" b="0" dirty="0"/>
                        <a:t>Claude in Chrome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519672"/>
                  </a:ext>
                </a:extLst>
              </a:tr>
              <a:tr h="5422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執行任務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0" dirty="0" err="1"/>
                        <a:t>Work、Computer</a:t>
                      </a:r>
                      <a:r>
                        <a:rPr lang="en" sz="1600" b="0" dirty="0"/>
                        <a:t> </a:t>
                      </a:r>
                      <a:r>
                        <a:rPr lang="en" sz="1600" b="0" dirty="0" err="1"/>
                        <a:t>Use、Plugins</a:t>
                      </a:r>
                      <a:r>
                        <a:rPr lang="en" sz="1600" b="0" dirty="0"/>
                        <a:t> </a:t>
                      </a:r>
                      <a:r>
                        <a:rPr lang="zh-TW" altLang="en-US" sz="1600" b="0" dirty="0"/>
                        <a:t>與 </a:t>
                      </a:r>
                      <a:r>
                        <a:rPr lang="en" sz="1600" b="0" dirty="0"/>
                        <a:t>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0" dirty="0" err="1"/>
                        <a:t>Cowork、Computer</a:t>
                      </a:r>
                      <a:r>
                        <a:rPr lang="en" sz="1600" b="0" dirty="0"/>
                        <a:t> Use </a:t>
                      </a:r>
                      <a:r>
                        <a:rPr lang="zh-TW" altLang="en-US" sz="1600" b="0" dirty="0"/>
                        <a:t>與 </a:t>
                      </a:r>
                      <a:r>
                        <a:rPr lang="en" sz="1600" b="0" dirty="0"/>
                        <a:t>Connectors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044798"/>
                  </a:ext>
                </a:extLst>
              </a:tr>
              <a:tr h="5422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產出成果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文件、簡報、試算表、</a:t>
                      </a:r>
                      <a:r>
                        <a:rPr lang="en" sz="1600" b="0" dirty="0"/>
                        <a:t>Sites </a:t>
                      </a:r>
                      <a:r>
                        <a:rPr lang="zh-TW" altLang="en-US" sz="1600" b="0" dirty="0"/>
                        <a:t>與視覺化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文件、</a:t>
                      </a:r>
                      <a:r>
                        <a:rPr lang="en" sz="1600" b="0" dirty="0"/>
                        <a:t>Artifacts </a:t>
                      </a:r>
                      <a:r>
                        <a:rPr lang="zh-TW" altLang="en-US" sz="1600" b="0" dirty="0"/>
                        <a:t>與 </a:t>
                      </a:r>
                      <a:r>
                        <a:rPr lang="en" sz="1600" b="0" dirty="0"/>
                        <a:t>Live Artifacts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120456"/>
                  </a:ext>
                </a:extLst>
              </a:tr>
              <a:tr h="5422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軟體開發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0"/>
                        <a:t>Codex、</a:t>
                      </a:r>
                      <a:r>
                        <a:rPr lang="zh-TW" altLang="en-US" sz="1600" b="0"/>
                        <a:t>終端機、</a:t>
                      </a:r>
                      <a:r>
                        <a:rPr lang="en" sz="1600" b="0"/>
                        <a:t>Git、</a:t>
                      </a:r>
                      <a:r>
                        <a:rPr lang="zh-TW" altLang="en-US" sz="1600" b="0"/>
                        <a:t>本機與雲端環境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0" dirty="0"/>
                        <a:t>Claude Code、</a:t>
                      </a:r>
                      <a:r>
                        <a:rPr lang="zh-TW" altLang="en-US" sz="1600" b="0" dirty="0"/>
                        <a:t>終端機、</a:t>
                      </a:r>
                      <a:r>
                        <a:rPr lang="en" sz="1600" b="0" dirty="0"/>
                        <a:t>Chrome </a:t>
                      </a:r>
                      <a:r>
                        <a:rPr lang="zh-TW" altLang="en-US" sz="1600" b="0" dirty="0"/>
                        <a:t>與遠端任務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416684"/>
                  </a:ext>
                </a:extLst>
              </a:tr>
              <a:tr h="5422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延續工作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0" dirty="0"/>
                        <a:t>Remote、</a:t>
                      </a:r>
                      <a:r>
                        <a:rPr lang="zh-TW" altLang="en-US" sz="1600" b="0" dirty="0"/>
                        <a:t>行動裝置與遠端主機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遠端 </a:t>
                      </a:r>
                      <a:r>
                        <a:rPr lang="en" sz="1600" b="0" dirty="0" err="1"/>
                        <a:t>Cowork</a:t>
                      </a:r>
                      <a:r>
                        <a:rPr lang="en" sz="1600" b="0" dirty="0"/>
                        <a:t>、</a:t>
                      </a:r>
                      <a:r>
                        <a:rPr lang="zh-TW" altLang="en-US" sz="1600" b="0" dirty="0"/>
                        <a:t>行動裝置與 </a:t>
                      </a:r>
                      <a:r>
                        <a:rPr lang="en" sz="1600" b="0" dirty="0"/>
                        <a:t>Dispatch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054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010534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3946E7-66F8-4182-AA38-CFC406C59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ac0686-f0c7-4236-b000-d7b90732a875"/>
    <ds:schemaRef ds:uri="9bfc64f2-d580-4df8-9fa4-4631ad6ac4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D5D526-59E0-46BD-B75A-4A393253F249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9bfc64f2-d580-4df8-9fa4-4631ad6ac43d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7cac0686-f0c7-4236-b000-d7b90732a87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8481</TotalTime>
  <Words>1477</Words>
  <Application>Microsoft Macintosh PowerPoint</Application>
  <PresentationFormat>自訂</PresentationFormat>
  <Paragraphs>120</Paragraphs>
  <Slides>8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7" baseType="lpstr">
      <vt:lpstr>微軟正黑體</vt:lpstr>
      <vt:lpstr>微軟正黑體</vt:lpstr>
      <vt:lpstr>標準系統字體</vt:lpstr>
      <vt:lpstr>Microsoft JhengHei Light</vt:lpstr>
      <vt:lpstr>PingFang TC</vt:lpstr>
      <vt:lpstr>Arial</vt:lpstr>
      <vt:lpstr>Roboto</vt:lpstr>
      <vt:lpstr>Times New Roman</vt:lpstr>
      <vt:lpstr>數科處範本</vt:lpstr>
      <vt:lpstr>ChatGPT 桌面版</vt:lpstr>
      <vt:lpstr>什麼是 ChatGPT 桌面版？</vt:lpstr>
      <vt:lpstr>Chat、Work 與 Codex：三種工作模式</vt:lpstr>
      <vt:lpstr>Chat：快速問答</vt:lpstr>
      <vt:lpstr>Work：研究與交付</vt:lpstr>
      <vt:lpstr>Codex：軟體開發</vt:lpstr>
      <vt:lpstr>ChatGPT 桌面版：從 Codex CLI 到跨環境 AI 工作平台</vt:lpstr>
      <vt:lpstr>ChatGPT 桌面版 vs. Claude Desktop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雋凱 王</cp:lastModifiedBy>
  <cp:revision>251</cp:revision>
  <dcterms:modified xsi:type="dcterms:W3CDTF">2026-07-26T17:36:31Z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