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docProps/custom.xml" ContentType="application/vnd.openxmlformats-officedocument.custom-propertie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6"/>
  </p:notesMasterIdLst>
  <p:handoutMasterIdLst>
    <p:handoutMasterId r:id="rId7"/>
  </p:handoutMasterIdLst>
  <p:sldIdLst>
    <p:sldId id="2289" r:id="rId2"/>
    <p:sldId id="2293" r:id="rId3"/>
    <p:sldId id="2291" r:id="rId4"/>
    <p:sldId id="2290" r:id="rId5"/>
  </p:sldIdLst>
  <p:sldSz cx="8961438" cy="6721475"/>
  <p:notesSz cx="7104063" cy="10234613"/>
  <p:custDataLst>
    <p:tags r:id="rId8"/>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66">
          <p15:clr>
            <a:srgbClr val="A4A3A4"/>
          </p15:clr>
        </p15:guide>
        <p15:guide id="2" pos="182">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E9EFF7"/>
    <a:srgbClr val="FFFFCC"/>
    <a:srgbClr val="FFFFE7"/>
    <a:srgbClr val="FFFFFB"/>
    <a:srgbClr val="3333FF"/>
    <a:srgbClr val="FFFF99"/>
    <a:srgbClr val="FF0000"/>
    <a:srgbClr val="FFCC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8" autoAdjust="0"/>
    <p:restoredTop sz="94513" autoAdjust="0"/>
  </p:normalViewPr>
  <p:slideViewPr>
    <p:cSldViewPr snapToGrid="0">
      <p:cViewPr varScale="1">
        <p:scale>
          <a:sx n="67" d="100"/>
          <a:sy n="67" d="100"/>
        </p:scale>
        <p:origin x="1584" y="48"/>
      </p:cViewPr>
      <p:guideLst>
        <p:guide orient="horz" pos="2166"/>
        <p:guide pos="1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80861" cy="512222"/>
          </a:xfrm>
          <a:prstGeom prst="rect">
            <a:avLst/>
          </a:prstGeom>
          <a:noFill/>
          <a:ln w="9525">
            <a:noFill/>
            <a:miter lim="800000"/>
            <a:headEnd/>
            <a:tailEnd/>
          </a:ln>
          <a:effectLst/>
        </p:spPr>
        <p:txBody>
          <a:bodyPr vert="horz" wrap="square" lIns="102556" tIns="51277" rIns="102556" bIns="51277" numCol="1" anchor="t" anchorCtr="0" compatLnSpc="1">
            <a:prstTxWarp prst="textNoShape">
              <a:avLst/>
            </a:prstTxWarp>
          </a:bodyPr>
          <a:lstStyle>
            <a:lvl1pPr defTabSz="1025211">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4023203" y="0"/>
            <a:ext cx="3080860" cy="512222"/>
          </a:xfrm>
          <a:prstGeom prst="rect">
            <a:avLst/>
          </a:prstGeom>
          <a:noFill/>
          <a:ln w="9525">
            <a:noFill/>
            <a:miter lim="800000"/>
            <a:headEnd/>
            <a:tailEnd/>
          </a:ln>
          <a:effectLst/>
        </p:spPr>
        <p:txBody>
          <a:bodyPr vert="horz" wrap="square" lIns="102556" tIns="51277" rIns="102556" bIns="51277" numCol="1" anchor="t" anchorCtr="0" compatLnSpc="1">
            <a:prstTxWarp prst="textNoShape">
              <a:avLst/>
            </a:prstTxWarp>
          </a:bodyPr>
          <a:lstStyle>
            <a:lvl1pPr algn="r" defTabSz="1025211">
              <a:defRPr sz="1200" b="0">
                <a:latin typeface="Times New Roman" charset="0"/>
                <a:ea typeface="新細明體" pitchFamily="18" charset="-120"/>
              </a:defRPr>
            </a:lvl1pPr>
          </a:lstStyle>
          <a:p>
            <a:pPr>
              <a:defRPr/>
            </a:pPr>
            <a:fld id="{04B70A20-5809-4A0E-97C8-3EE8D191E898}" type="datetime1">
              <a:rPr lang="zh-TW" altLang="en-US"/>
              <a:pPr>
                <a:defRPr/>
              </a:pPr>
              <a:t>2025/6/15</a:t>
            </a:fld>
            <a:endParaRPr lang="en-US" altLang="zh-TW"/>
          </a:p>
        </p:txBody>
      </p:sp>
      <p:sp>
        <p:nvSpPr>
          <p:cNvPr id="7172" name="Rectangle 4"/>
          <p:cNvSpPr>
            <a:spLocks noGrp="1" noChangeArrowheads="1"/>
          </p:cNvSpPr>
          <p:nvPr>
            <p:ph type="ftr" sz="quarter" idx="2"/>
          </p:nvPr>
        </p:nvSpPr>
        <p:spPr bwMode="auto">
          <a:xfrm>
            <a:off x="0" y="9722392"/>
            <a:ext cx="3080861" cy="512221"/>
          </a:xfrm>
          <a:prstGeom prst="rect">
            <a:avLst/>
          </a:prstGeom>
          <a:noFill/>
          <a:ln w="9525">
            <a:noFill/>
            <a:miter lim="800000"/>
            <a:headEnd/>
            <a:tailEnd/>
          </a:ln>
          <a:effectLst/>
        </p:spPr>
        <p:txBody>
          <a:bodyPr vert="horz" wrap="square" lIns="102556" tIns="51277" rIns="102556" bIns="51277" numCol="1" anchor="b" anchorCtr="0" compatLnSpc="1">
            <a:prstTxWarp prst="textNoShape">
              <a:avLst/>
            </a:prstTxWarp>
          </a:bodyPr>
          <a:lstStyle>
            <a:lvl1pPr defTabSz="1025211">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4023203" y="9722392"/>
            <a:ext cx="3080860" cy="512221"/>
          </a:xfrm>
          <a:prstGeom prst="rect">
            <a:avLst/>
          </a:prstGeom>
          <a:noFill/>
          <a:ln w="9525">
            <a:noFill/>
            <a:miter lim="800000"/>
            <a:headEnd/>
            <a:tailEnd/>
          </a:ln>
          <a:effectLst/>
        </p:spPr>
        <p:txBody>
          <a:bodyPr vert="horz" wrap="square" lIns="102556" tIns="51277" rIns="102556" bIns="51277" numCol="1" anchor="b" anchorCtr="0" compatLnSpc="1">
            <a:prstTxWarp prst="textNoShape">
              <a:avLst/>
            </a:prstTxWarp>
          </a:bodyPr>
          <a:lstStyle>
            <a:lvl1pPr algn="r" defTabSz="1025211">
              <a:defRPr sz="1200" b="0">
                <a:latin typeface="Times New Roman" charset="0"/>
                <a:ea typeface="新細明體" pitchFamily="18" charset="-120"/>
              </a:defRPr>
            </a:lvl1pPr>
          </a:lstStyle>
          <a:p>
            <a:pPr>
              <a:defRPr/>
            </a:pPr>
            <a:fld id="{52856B61-0438-490F-B9F0-EA012300887E}" type="slidenum">
              <a:rPr lang="zh-TW" altLang="en-US"/>
              <a:pPr>
                <a:defRPr/>
              </a:pPr>
              <a:t>‹#›</a:t>
            </a:fld>
            <a:endParaRPr lang="en-US" altLang="zh-TW"/>
          </a:p>
        </p:txBody>
      </p:sp>
    </p:spTree>
    <p:extLst>
      <p:ext uri="{BB962C8B-B14F-4D97-AF65-F5344CB8AC3E}">
        <p14:creationId xmlns:p14="http://schemas.microsoft.com/office/powerpoint/2010/main" val="809108616"/>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2300288" y="1319213"/>
            <a:ext cx="11657013" cy="874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51094" y="378030"/>
            <a:ext cx="5899591" cy="33875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6085338" y="119090"/>
            <a:ext cx="804708"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1025211">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324309" y="9841855"/>
            <a:ext cx="565737" cy="189833"/>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1025211">
              <a:defRPr sz="1200" b="0">
                <a:latin typeface="Arial" charset="0"/>
                <a:ea typeface="新細明體" pitchFamily="18" charset="-120"/>
              </a:defRPr>
            </a:lvl1pPr>
          </a:lstStyle>
          <a:p>
            <a:pPr>
              <a:defRPr/>
            </a:pPr>
            <a:fld id="{8DB9B0F9-46F1-4C96-8331-76C1EAD9FAA1}" type="slidenum">
              <a:rPr lang="zh-TW" altLang="en-US"/>
              <a:pPr>
                <a:defRPr/>
              </a:pPr>
              <a:t>‹#›</a:t>
            </a:fld>
            <a:endParaRPr lang="en-US" altLang="zh-TW"/>
          </a:p>
        </p:txBody>
      </p:sp>
      <p:sp>
        <p:nvSpPr>
          <p:cNvPr id="2" name="McK Separator" hidden="1"/>
          <p:cNvSpPr>
            <a:spLocks noChangeShapeType="1"/>
          </p:cNvSpPr>
          <p:nvPr/>
        </p:nvSpPr>
        <p:spPr bwMode="auto">
          <a:xfrm>
            <a:off x="851095" y="1556303"/>
            <a:ext cx="54317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4787" tIns="47393" rIns="94787" bIns="47393"/>
          <a:lstStyle/>
          <a:p>
            <a:endParaRPr lang="zh-TW" altLang="en-US"/>
          </a:p>
        </p:txBody>
      </p:sp>
    </p:spTree>
    <p:extLst>
      <p:ext uri="{BB962C8B-B14F-4D97-AF65-F5344CB8AC3E}">
        <p14:creationId xmlns:p14="http://schemas.microsoft.com/office/powerpoint/2010/main" val="4129563048"/>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2640013" y="2139950"/>
            <a:ext cx="5027612" cy="4510088"/>
            <a:chOff x="1663" y="1348"/>
            <a:chExt cx="3167" cy="2841"/>
          </a:xfrm>
        </p:grpSpPr>
        <p:sp>
          <p:nvSpPr>
            <p:cNvPr id="6" name="McK Confidential" hidden="1"/>
            <p:cNvSpPr txBox="1">
              <a:spLocks noChangeArrowheads="1"/>
            </p:cNvSpPr>
            <p:nvPr userDrawn="1"/>
          </p:nvSpPr>
          <p:spPr bwMode="auto">
            <a:xfrm>
              <a:off x="1663" y="1348"/>
              <a:ext cx="9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9"/>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759"/>
              <a:ext cx="2303"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833438" y="2970213"/>
            <a:ext cx="7372350"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5" name="標題 1"/>
          <p:cNvSpPr>
            <a:spLocks noGrp="1"/>
          </p:cNvSpPr>
          <p:nvPr>
            <p:ph type="title"/>
          </p:nvPr>
        </p:nvSpPr>
        <p:spPr>
          <a:xfrm>
            <a:off x="1559858" y="2259106"/>
            <a:ext cx="5997388" cy="703262"/>
          </a:xfrm>
          <a:prstGeom prst="rect">
            <a:avLst/>
          </a:prstGeom>
        </p:spPr>
        <p:txBody>
          <a:bodyPr anchor="ctr"/>
          <a:lstStyle>
            <a:lvl1pPr algn="ctr">
              <a:defRPr sz="3600">
                <a:solidFill>
                  <a:schemeClr val="tx1"/>
                </a:solidFill>
                <a:latin typeface="+mn-ea"/>
                <a:ea typeface="+mn-ea"/>
              </a:defRPr>
            </a:lvl1pPr>
          </a:lstStyle>
          <a:p>
            <a:r>
              <a:rPr lang="zh-TW" altLang="en-US" dirty="0"/>
              <a:t>按一下以編輯母片標題樣式</a:t>
            </a:r>
          </a:p>
        </p:txBody>
      </p:sp>
      <p:sp>
        <p:nvSpPr>
          <p:cNvPr id="19" name="文字版面配置區 3"/>
          <p:cNvSpPr>
            <a:spLocks noGrp="1"/>
          </p:cNvSpPr>
          <p:nvPr>
            <p:ph type="body" sz="half" idx="2"/>
          </p:nvPr>
        </p:nvSpPr>
        <p:spPr>
          <a:xfrm>
            <a:off x="2299448" y="4400365"/>
            <a:ext cx="4779402" cy="548154"/>
          </a:xfrm>
          <a:prstGeom prst="rect">
            <a:avLst/>
          </a:prstGeom>
        </p:spPr>
        <p:txBody>
          <a:bodyPr anchor="ctr"/>
          <a:lstStyle>
            <a:lvl1pPr marL="0" indent="0" algn="ctr">
              <a:buNone/>
              <a:defRPr sz="28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2783543" y="5472954"/>
            <a:ext cx="3765176" cy="406681"/>
          </a:xfrm>
          <a:prstGeom prst="rect">
            <a:avLst/>
          </a:prstGeom>
        </p:spPr>
        <p:txBody>
          <a:bodyPr anchor="ctr"/>
          <a:lstStyle>
            <a:lvl1pPr marL="0" indent="0" algn="ctr">
              <a:buNone/>
              <a:defRPr sz="1600" b="1">
                <a:latin typeface="+mj-ea"/>
                <a:ea typeface="+mj-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63900FC4-A44C-4DB8-AEA9-03C8311620C2}"/>
              </a:ext>
            </a:extLst>
          </p:cNvPr>
          <p:cNvSpPr>
            <a:spLocks noChangeArrowheads="1"/>
          </p:cNvSpPr>
          <p:nvPr userDrawn="1"/>
        </p:nvSpPr>
        <p:spPr bwMode="auto">
          <a:xfrm>
            <a:off x="12700" y="6473825"/>
            <a:ext cx="390525"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82817D3D-5402-4F50-BAC5-FFA3F1E65388}"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13" name="圖片 12">
            <a:extLst>
              <a:ext uri="{FF2B5EF4-FFF2-40B4-BE49-F238E27FC236}">
                <a16:creationId xmlns:a16="http://schemas.microsoft.com/office/drawing/2014/main" id="{79DC6E4F-4F95-4994-9DF0-6C14A17FF4D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6517" y="293094"/>
            <a:ext cx="1785770" cy="556780"/>
          </a:xfrm>
          <a:prstGeom prst="rect">
            <a:avLst/>
          </a:prstGeom>
        </p:spPr>
      </p:pic>
    </p:spTree>
    <p:extLst>
      <p:ext uri="{BB962C8B-B14F-4D97-AF65-F5344CB8AC3E}">
        <p14:creationId xmlns:p14="http://schemas.microsoft.com/office/powerpoint/2010/main" val="420736086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268942" y="147918"/>
            <a:ext cx="8337176" cy="622580"/>
          </a:xfrm>
          <a:prstGeom prst="rect">
            <a:avLst/>
          </a:prstGeom>
        </p:spPr>
        <p:txBody>
          <a:bodyPr anchor="ctr"/>
          <a:lstStyle>
            <a:lvl1pPr algn="l">
              <a:defRPr sz="3200" b="0">
                <a:solidFill>
                  <a:schemeClr val="tx1"/>
                </a:solidFill>
                <a:latin typeface="+mn-ea"/>
                <a:ea typeface="+mn-ea"/>
              </a:defRPr>
            </a:lvl1pPr>
          </a:lstStyle>
          <a:p>
            <a:r>
              <a:rPr lang="zh-TW" altLang="en-US" dirty="0"/>
              <a:t>按一下以編輯母片標題樣式</a:t>
            </a:r>
          </a:p>
        </p:txBody>
      </p:sp>
    </p:spTree>
    <p:extLst>
      <p:ext uri="{BB962C8B-B14F-4D97-AF65-F5344CB8AC3E}">
        <p14:creationId xmlns:p14="http://schemas.microsoft.com/office/powerpoint/2010/main" val="124889315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268942" y="147918"/>
            <a:ext cx="8337176" cy="622580"/>
          </a:xfrm>
          <a:prstGeom prst="rect">
            <a:avLst/>
          </a:prstGeom>
        </p:spPr>
        <p:txBody>
          <a:bodyPr anchor="ctr"/>
          <a:lstStyle>
            <a:lvl1pPr algn="l">
              <a:defRPr sz="3200" b="0">
                <a:solidFill>
                  <a:schemeClr val="tx1"/>
                </a:solidFill>
                <a:latin typeface="+mn-ea"/>
                <a:ea typeface="+mn-ea"/>
              </a:defRPr>
            </a:lvl1pPr>
          </a:lstStyle>
          <a:p>
            <a:r>
              <a:rPr lang="zh-TW" altLang="en-US" dirty="0"/>
              <a:t>按一下以編輯母片標題樣式</a:t>
            </a:r>
          </a:p>
        </p:txBody>
      </p:sp>
      <p:sp>
        <p:nvSpPr>
          <p:cNvPr id="3" name="內容版面配置區 2"/>
          <p:cNvSpPr>
            <a:spLocks noGrp="1"/>
          </p:cNvSpPr>
          <p:nvPr>
            <p:ph sz="quarter" idx="10"/>
          </p:nvPr>
        </p:nvSpPr>
        <p:spPr>
          <a:xfrm>
            <a:off x="298450" y="889000"/>
            <a:ext cx="8332788" cy="5365750"/>
          </a:xfrm>
          <a:prstGeom prst="rect">
            <a:avLst/>
          </a:prstGeom>
        </p:spPr>
        <p:txBody>
          <a:bodyPr/>
          <a:lstStyle>
            <a:lvl1pPr>
              <a:spcBef>
                <a:spcPts val="0"/>
              </a:spcBef>
              <a:spcAft>
                <a:spcPts val="600"/>
              </a:spcAft>
              <a:defRPr sz="2400">
                <a:latin typeface="Arial" panose="020B0604020202020204" pitchFamily="34" charset="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Arial" panose="020B0604020202020204" pitchFamily="34" charset="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Arial" panose="020B0604020202020204" pitchFamily="34" charset="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Arial" panose="020B0604020202020204" pitchFamily="34" charset="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Arial" panose="020B0604020202020204" pitchFamily="34" charset="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011417118"/>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5C42182-EDE1-4A31-A641-B977C877BBE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018" y="6123088"/>
            <a:ext cx="4570242" cy="731880"/>
          </a:xfrm>
          <a:prstGeom prst="rect">
            <a:avLst/>
          </a:prstGeom>
        </p:spPr>
      </p:pic>
      <p:sp>
        <p:nvSpPr>
          <p:cNvPr id="1026" name="Line 197"/>
          <p:cNvSpPr>
            <a:spLocks noChangeShapeType="1"/>
          </p:cNvSpPr>
          <p:nvPr userDrawn="1"/>
        </p:nvSpPr>
        <p:spPr bwMode="auto">
          <a:xfrm>
            <a:off x="228600" y="792163"/>
            <a:ext cx="843597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027" name="矩形 9"/>
          <p:cNvSpPr>
            <a:spLocks noChangeArrowheads="1"/>
          </p:cNvSpPr>
          <p:nvPr userDrawn="1"/>
        </p:nvSpPr>
        <p:spPr bwMode="auto">
          <a:xfrm>
            <a:off x="0" y="6398521"/>
            <a:ext cx="390525"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82817D3D-5402-4F50-BAC5-FFA3F1E65388}"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6" name="圖片 5">
            <a:extLst>
              <a:ext uri="{FF2B5EF4-FFF2-40B4-BE49-F238E27FC236}">
                <a16:creationId xmlns:a16="http://schemas.microsoft.com/office/drawing/2014/main" id="{3F32C851-A9AA-418C-8F1D-F75AD5D0443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325495" y="6333498"/>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 id="2147483701" r:id="rId2"/>
    <p:sldLayoutId id="2147483702" r:id="rId3"/>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2CC3CF-C35A-CCE8-99BA-C1610955851C}"/>
              </a:ext>
            </a:extLst>
          </p:cNvPr>
          <p:cNvSpPr>
            <a:spLocks noGrp="1"/>
          </p:cNvSpPr>
          <p:nvPr>
            <p:ph type="title"/>
          </p:nvPr>
        </p:nvSpPr>
        <p:spPr/>
        <p:txBody>
          <a:bodyPr/>
          <a:lstStyle/>
          <a:p>
            <a:r>
              <a:rPr lang="zh-TW" altLang="en-US" sz="2800" dirty="0">
                <a:latin typeface="微軟正黑體" panose="020B0604030504040204" pitchFamily="34" charset="-120"/>
                <a:ea typeface="微軟正黑體" panose="020B0604030504040204" pitchFamily="34" charset="-120"/>
              </a:rPr>
              <a:t>系統隱形成本揭露</a:t>
            </a:r>
          </a:p>
        </p:txBody>
      </p:sp>
      <p:graphicFrame>
        <p:nvGraphicFramePr>
          <p:cNvPr id="4" name="表格 3">
            <a:extLst>
              <a:ext uri="{FF2B5EF4-FFF2-40B4-BE49-F238E27FC236}">
                <a16:creationId xmlns:a16="http://schemas.microsoft.com/office/drawing/2014/main" id="{76B0B281-3BBB-F5E2-7E68-428C2B1C06B9}"/>
              </a:ext>
            </a:extLst>
          </p:cNvPr>
          <p:cNvGraphicFramePr>
            <a:graphicFrameLocks noGrp="1"/>
          </p:cNvGraphicFramePr>
          <p:nvPr>
            <p:extLst>
              <p:ext uri="{D42A27DB-BD31-4B8C-83A1-F6EECF244321}">
                <p14:modId xmlns:p14="http://schemas.microsoft.com/office/powerpoint/2010/main" val="1906680943"/>
              </p:ext>
            </p:extLst>
          </p:nvPr>
        </p:nvGraphicFramePr>
        <p:xfrm>
          <a:off x="583972" y="2034408"/>
          <a:ext cx="7962913" cy="3680596"/>
        </p:xfrm>
        <a:graphic>
          <a:graphicData uri="http://schemas.openxmlformats.org/drawingml/2006/table">
            <a:tbl>
              <a:tblPr firstRow="1" bandRow="1">
                <a:tableStyleId>{5C22544A-7EE6-4342-B048-85BDC9FD1C3A}</a:tableStyleId>
              </a:tblPr>
              <a:tblGrid>
                <a:gridCol w="1254034">
                  <a:extLst>
                    <a:ext uri="{9D8B030D-6E8A-4147-A177-3AD203B41FA5}">
                      <a16:colId xmlns:a16="http://schemas.microsoft.com/office/drawing/2014/main" val="3424903512"/>
                    </a:ext>
                  </a:extLst>
                </a:gridCol>
                <a:gridCol w="4311972">
                  <a:extLst>
                    <a:ext uri="{9D8B030D-6E8A-4147-A177-3AD203B41FA5}">
                      <a16:colId xmlns:a16="http://schemas.microsoft.com/office/drawing/2014/main" val="1956526871"/>
                    </a:ext>
                  </a:extLst>
                </a:gridCol>
                <a:gridCol w="1183137">
                  <a:extLst>
                    <a:ext uri="{9D8B030D-6E8A-4147-A177-3AD203B41FA5}">
                      <a16:colId xmlns:a16="http://schemas.microsoft.com/office/drawing/2014/main" val="998222031"/>
                    </a:ext>
                  </a:extLst>
                </a:gridCol>
                <a:gridCol w="1213770">
                  <a:extLst>
                    <a:ext uri="{9D8B030D-6E8A-4147-A177-3AD203B41FA5}">
                      <a16:colId xmlns:a16="http://schemas.microsoft.com/office/drawing/2014/main" val="1372042385"/>
                    </a:ext>
                  </a:extLst>
                </a:gridCol>
              </a:tblGrid>
              <a:tr h="625148">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大項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品項</a:t>
                      </a: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單位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單價</a:t>
                      </a:r>
                      <a:endParaRPr lang="en-US" altLang="zh-TW" sz="1400" dirty="0">
                        <a:solidFill>
                          <a:schemeClr val="bg1"/>
                        </a:solidFill>
                        <a:latin typeface="微軟正黑體" panose="020B0604030504040204" pitchFamily="34" charset="-120"/>
                        <a:ea typeface="微軟正黑體" panose="020B0604030504040204" pitchFamily="34" charset="-120"/>
                      </a:endParaRPr>
                    </a:p>
                    <a:p>
                      <a:pPr algn="ct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新台幣萬元</a:t>
                      </a:r>
                      <a:r>
                        <a:rPr lang="en-US" altLang="zh-TW" sz="1400" dirty="0">
                          <a:solidFill>
                            <a:schemeClr val="bg1"/>
                          </a:solidFill>
                          <a:latin typeface="微軟正黑體" panose="020B0604030504040204" pitchFamily="34" charset="-120"/>
                          <a:ea typeface="微軟正黑體" panose="020B0604030504040204" pitchFamily="34" charset="-120"/>
                        </a:rPr>
                        <a:t>)</a:t>
                      </a:r>
                      <a:endParaRPr lang="zh-TW" altLang="en-US" sz="1400" dirty="0">
                        <a:solidFill>
                          <a:schemeClr val="bg1"/>
                        </a:solidFill>
                        <a:latin typeface="微軟正黑體" panose="020B0604030504040204" pitchFamily="34" charset="-120"/>
                        <a:ea typeface="微軟正黑體" panose="020B0604030504040204" pitchFamily="34"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必要性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400936685"/>
                  </a:ext>
                </a:extLst>
              </a:tr>
              <a:tr h="381931">
                <a:tc>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虛擬主機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latin typeface="微軟正黑體" panose="020B0604030504040204" pitchFamily="34" charset="-120"/>
                          <a:ea typeface="微軟正黑體" panose="020B0604030504040204" pitchFamily="34" charset="-120"/>
                        </a:rPr>
                        <a:t>VM 2core/4G</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依</a:t>
                      </a:r>
                      <a:r>
                        <a:rPr lang="en-US" altLang="zh-TW" sz="1400" dirty="0">
                          <a:solidFill>
                            <a:schemeClr val="tx1"/>
                          </a:solidFill>
                          <a:latin typeface="微軟正黑體" panose="020B0604030504040204" pitchFamily="34" charset="-120"/>
                          <a:ea typeface="微軟正黑體" panose="020B0604030504040204" pitchFamily="34" charset="-120"/>
                        </a:rPr>
                        <a:t>CPU</a:t>
                      </a:r>
                      <a:r>
                        <a:rPr lang="zh-TW" altLang="en-US" sz="1400" dirty="0">
                          <a:solidFill>
                            <a:schemeClr val="tx1"/>
                          </a:solidFill>
                          <a:latin typeface="微軟正黑體" panose="020B0604030504040204" pitchFamily="34" charset="-120"/>
                          <a:ea typeface="微軟正黑體" panose="020B0604030504040204" pitchFamily="34" charset="-120"/>
                        </a:rPr>
                        <a:t>或</a:t>
                      </a:r>
                      <a:r>
                        <a:rPr lang="en-US" altLang="zh-TW" sz="1400" dirty="0">
                          <a:solidFill>
                            <a:schemeClr val="tx1"/>
                          </a:solidFill>
                          <a:latin typeface="微軟正黑體" panose="020B0604030504040204" pitchFamily="34" charset="-120"/>
                          <a:ea typeface="微軟正黑體" panose="020B0604030504040204" pitchFamily="34" charset="-120"/>
                        </a:rPr>
                        <a:t>RAM</a:t>
                      </a:r>
                      <a:r>
                        <a:rPr lang="zh-TW" altLang="en-US" sz="1400" dirty="0">
                          <a:solidFill>
                            <a:schemeClr val="tx1"/>
                          </a:solidFill>
                          <a:latin typeface="微軟正黑體" panose="020B0604030504040204" pitchFamily="34" charset="-120"/>
                          <a:ea typeface="微軟正黑體" panose="020B0604030504040204" pitchFamily="34" charset="-120"/>
                        </a:rPr>
                        <a:t>之倍數取大者類推</a:t>
                      </a:r>
                      <a:r>
                        <a:rPr lang="en-US" altLang="zh-TW" sz="1400" dirty="0">
                          <a:solidFill>
                            <a:schemeClr val="tx1"/>
                          </a:solidFill>
                          <a:latin typeface="微軟正黑體" panose="020B0604030504040204" pitchFamily="34" charset="-120"/>
                          <a:ea typeface="微軟正黑體" panose="020B0604030504040204" pitchFamily="34" charset="-120"/>
                        </a:rPr>
                        <a:t>)</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3.5</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TW" altLang="en-US" sz="1400" dirty="0">
                          <a:solidFill>
                            <a:schemeClr val="tx1"/>
                          </a:solidFill>
                          <a:latin typeface="微軟正黑體" panose="020B0604030504040204" pitchFamily="34" charset="-120"/>
                          <a:ea typeface="微軟正黑體" panose="020B0604030504040204" pitchFamily="34" charset="-120"/>
                        </a:rPr>
                        <a:t>主要</a:t>
                      </a:r>
                      <a:r>
                        <a:rPr lang="en-US" altLang="zh-TW" sz="1400" dirty="0">
                          <a:solidFill>
                            <a:schemeClr val="tx1"/>
                          </a:solidFill>
                          <a:latin typeface="微軟正黑體" panose="020B0604030504040204" pitchFamily="34" charset="-120"/>
                          <a:ea typeface="微軟正黑體" panose="020B0604030504040204" pitchFamily="34" charset="-120"/>
                        </a:rPr>
                        <a:t>VM</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8789830"/>
                  </a:ext>
                </a:extLst>
              </a:tr>
              <a:tr h="381931">
                <a:tc rowSpan="3">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作業系統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effectLst/>
                          <a:latin typeface="微軟正黑體" panose="020B0604030504040204" pitchFamily="34" charset="-120"/>
                          <a:ea typeface="微軟正黑體" panose="020B0604030504040204" pitchFamily="34" charset="-120"/>
                        </a:rPr>
                        <a:t>Windows</a:t>
                      </a:r>
                      <a:r>
                        <a:rPr lang="zh-TW" altLang="en-US" sz="1400" b="0" dirty="0">
                          <a:solidFill>
                            <a:schemeClr val="tx1"/>
                          </a:solidFill>
                          <a:effectLst/>
                          <a:latin typeface="微軟正黑體" panose="020B0604030504040204" pitchFamily="34" charset="-120"/>
                          <a:ea typeface="微軟正黑體" panose="020B0604030504040204" pitchFamily="34" charset="-120"/>
                        </a:rPr>
                        <a:t> </a:t>
                      </a:r>
                      <a:r>
                        <a:rPr lang="en-US" altLang="zh-TW" sz="1400" b="0" dirty="0">
                          <a:solidFill>
                            <a:schemeClr val="tx1"/>
                          </a:solidFill>
                          <a:effectLst/>
                          <a:latin typeface="微軟正黑體" panose="020B0604030504040204" pitchFamily="34" charset="-120"/>
                          <a:ea typeface="微軟正黑體" panose="020B0604030504040204" pitchFamily="34" charset="-120"/>
                        </a:rPr>
                        <a:t>VM</a:t>
                      </a:r>
                      <a:r>
                        <a:rPr lang="zh-TW" altLang="en-US" sz="1400" b="0" dirty="0">
                          <a:solidFill>
                            <a:schemeClr val="tx1"/>
                          </a:solidFill>
                          <a:effectLst/>
                          <a:latin typeface="微軟正黑體" panose="020B0604030504040204" pitchFamily="34" charset="-120"/>
                          <a:ea typeface="微軟正黑體" panose="020B0604030504040204" pitchFamily="34" charset="-120"/>
                        </a:rPr>
                        <a:t> </a:t>
                      </a:r>
                      <a:r>
                        <a:rPr lang="en-US" altLang="zh-TW" sz="1400" b="0" dirty="0">
                          <a:solidFill>
                            <a:schemeClr val="tx1"/>
                          </a:solidFill>
                          <a:effectLst/>
                          <a:latin typeface="微軟正黑體" panose="020B0604030504040204" pitchFamily="34" charset="-120"/>
                          <a:ea typeface="微軟正黑體" panose="020B0604030504040204" pitchFamily="34" charset="-120"/>
                        </a:rPr>
                        <a:t>OS</a:t>
                      </a:r>
                      <a:r>
                        <a:rPr lang="zh-TW" altLang="en-US" sz="1400" b="0" dirty="0">
                          <a:solidFill>
                            <a:schemeClr val="tx1"/>
                          </a:solidFill>
                          <a:effectLst/>
                          <a:latin typeface="微軟正黑體" panose="020B0604030504040204" pitchFamily="34" charset="-120"/>
                          <a:ea typeface="微軟正黑體" panose="020B0604030504040204" pitchFamily="34" charset="-120"/>
                        </a:rPr>
                        <a:t> </a:t>
                      </a:r>
                      <a:r>
                        <a:rPr lang="en-US" altLang="zh-TW" sz="1400" b="0" dirty="0">
                          <a:solidFill>
                            <a:schemeClr val="tx1"/>
                          </a:solidFill>
                          <a:effectLst/>
                          <a:latin typeface="微軟正黑體" panose="020B0604030504040204" pitchFamily="34" charset="-120"/>
                          <a:ea typeface="微軟正黑體" panose="020B0604030504040204" pitchFamily="34" charset="-120"/>
                        </a:rPr>
                        <a:t>License/</a:t>
                      </a:r>
                      <a:r>
                        <a:rPr lang="zh-TW" altLang="en-US" sz="1400" b="0" dirty="0">
                          <a:solidFill>
                            <a:schemeClr val="tx1"/>
                          </a:solidFill>
                          <a:effectLst/>
                          <a:latin typeface="微軟正黑體" panose="020B0604030504040204" pitchFamily="34" charset="-120"/>
                          <a:ea typeface="微軟正黑體" panose="020B0604030504040204" pitchFamily="34" charset="-120"/>
                        </a:rPr>
                        <a:t>套</a:t>
                      </a:r>
                      <a:endParaRPr lang="zh-TW"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kern="100" dirty="0">
                          <a:solidFill>
                            <a:schemeClr val="tx1"/>
                          </a:solidFill>
                          <a:effectLst/>
                          <a:latin typeface="微軟正黑體" panose="020B0604030504040204" pitchFamily="34" charset="-120"/>
                          <a:ea typeface="微軟正黑體" panose="020B0604030504040204" pitchFamily="34" charset="-120"/>
                        </a:rPr>
                        <a:t>3.2</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zh-TW" altLang="en-US"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三者</a:t>
                      </a:r>
                      <a:endPar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zh-TW" altLang="en-US"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擇一搭配</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6665172"/>
                  </a:ext>
                </a:extLst>
              </a:tr>
              <a:tr h="381931">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400" b="0" dirty="0">
                          <a:solidFill>
                            <a:schemeClr val="tx1"/>
                          </a:solidFill>
                          <a:effectLst/>
                          <a:latin typeface="微軟正黑體" panose="020B0604030504040204" pitchFamily="34" charset="-120"/>
                          <a:ea typeface="微軟正黑體" panose="020B0604030504040204" pitchFamily="34" charset="-120"/>
                        </a:rPr>
                        <a:t> </a:t>
                      </a:r>
                      <a:r>
                        <a:rPr lang="en-US" altLang="zh-TW" sz="14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r>
                        <a:rPr lang="en-US" altLang="zh-TW"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(7</a:t>
                      </a:r>
                      <a:r>
                        <a:rPr lang="zh-TW" altLang="en-US"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24)</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400" b="0" dirty="0">
                          <a:solidFill>
                            <a:schemeClr val="tx1"/>
                          </a:solidFill>
                          <a:effectLst/>
                          <a:latin typeface="微軟正黑體" panose="020B0604030504040204" pitchFamily="34" charset="-120"/>
                          <a:ea typeface="微軟正黑體" panose="020B0604030504040204" pitchFamily="34" charset="-120"/>
                        </a:rPr>
                        <a:t>套</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TW" sz="17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2185961"/>
                  </a:ext>
                </a:extLst>
              </a:tr>
              <a:tr h="381931">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4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en-US" altLang="zh-TW"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1400" b="0" kern="100" dirty="0">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8)</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400" b="0" dirty="0">
                          <a:solidFill>
                            <a:schemeClr val="tx1"/>
                          </a:solidFill>
                          <a:effectLst/>
                          <a:latin typeface="微軟正黑體" panose="020B0604030504040204" pitchFamily="34" charset="-120"/>
                          <a:ea typeface="微軟正黑體" panose="020B0604030504040204" pitchFamily="34" charset="-120"/>
                        </a:rPr>
                        <a:t>套</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TW" sz="17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62184"/>
                  </a:ext>
                </a:extLst>
              </a:tr>
              <a:tr h="381931">
                <a:tc rowSpan="2">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儲存空間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kern="100" dirty="0">
                          <a:solidFill>
                            <a:schemeClr val="tx1"/>
                          </a:solidFill>
                          <a:effectLst/>
                          <a:latin typeface="微軟正黑體" panose="020B0604030504040204" pitchFamily="34" charset="-120"/>
                          <a:ea typeface="微軟正黑體" panose="020B0604030504040204" pitchFamily="34" charset="-120"/>
                        </a:rPr>
                        <a:t>Unity SSD</a:t>
                      </a:r>
                      <a:r>
                        <a:rPr lang="zh-TW" altLang="zh-TW" sz="1400" b="0" kern="100" dirty="0">
                          <a:solidFill>
                            <a:schemeClr val="tx1"/>
                          </a:solidFill>
                          <a:effectLst/>
                          <a:latin typeface="微軟正黑體" panose="020B0604030504040204" pitchFamily="34" charset="-120"/>
                          <a:ea typeface="微軟正黑體" panose="020B0604030504040204" pitchFamily="34" charset="-120"/>
                        </a:rPr>
                        <a:t>快速磁碟</a:t>
                      </a:r>
                      <a:r>
                        <a:rPr lang="en-US" altLang="zh-TW" sz="1400" b="0" kern="100" dirty="0">
                          <a:solidFill>
                            <a:schemeClr val="tx1"/>
                          </a:solidFill>
                          <a:effectLst/>
                          <a:latin typeface="微軟正黑體" panose="020B0604030504040204" pitchFamily="34" charset="-120"/>
                          <a:ea typeface="微軟正黑體" panose="020B0604030504040204" pitchFamily="34" charset="-120"/>
                        </a:rPr>
                        <a:t> 1TB</a:t>
                      </a:r>
                      <a:endParaRPr lang="zh-TW"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16</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latin typeface="微軟正黑體" panose="020B0604030504040204" pitchFamily="34" charset="-120"/>
                          <a:ea typeface="微軟正黑體" panose="020B0604030504040204" pitchFamily="34" charset="-120"/>
                        </a:rPr>
                        <a:t>必要搭配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443901"/>
                  </a:ext>
                </a:extLst>
              </a:tr>
              <a:tr h="381931">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kern="100" dirty="0">
                          <a:solidFill>
                            <a:schemeClr val="tx1"/>
                          </a:solidFill>
                          <a:effectLst/>
                          <a:latin typeface="微軟正黑體" panose="020B0604030504040204" pitchFamily="34" charset="-120"/>
                          <a:ea typeface="微軟正黑體" panose="020B0604030504040204" pitchFamily="34" charset="-120"/>
                        </a:rPr>
                        <a:t>DD</a:t>
                      </a:r>
                      <a:r>
                        <a:rPr lang="zh-TW" altLang="zh-TW" sz="1400" b="0" kern="100" dirty="0">
                          <a:solidFill>
                            <a:schemeClr val="tx1"/>
                          </a:solidFill>
                          <a:effectLst/>
                          <a:latin typeface="微軟正黑體" panose="020B0604030504040204" pitchFamily="34" charset="-120"/>
                          <a:ea typeface="微軟正黑體" panose="020B0604030504040204" pitchFamily="34" charset="-120"/>
                        </a:rPr>
                        <a:t>備份空間</a:t>
                      </a:r>
                      <a:r>
                        <a:rPr lang="en-US" altLang="zh-TW" sz="1400" b="0" kern="100" dirty="0">
                          <a:solidFill>
                            <a:schemeClr val="tx1"/>
                          </a:solidFill>
                          <a:effectLst/>
                          <a:latin typeface="微軟正黑體" panose="020B0604030504040204" pitchFamily="34" charset="-120"/>
                          <a:ea typeface="微軟正黑體" panose="020B0604030504040204" pitchFamily="34" charset="-120"/>
                        </a:rPr>
                        <a:t> 1TB</a:t>
                      </a:r>
                      <a:r>
                        <a:rPr lang="zh-TW" altLang="en-US" sz="1400" b="0" kern="100" dirty="0">
                          <a:solidFill>
                            <a:schemeClr val="tx1"/>
                          </a:solidFill>
                          <a:effectLst/>
                          <a:latin typeface="微軟正黑體" panose="020B0604030504040204" pitchFamily="34" charset="-120"/>
                          <a:ea typeface="微軟正黑體" panose="020B0604030504040204" pitchFamily="34" charset="-120"/>
                        </a:rPr>
                        <a:t> </a:t>
                      </a:r>
                      <a:r>
                        <a:rPr lang="en-US" altLang="zh-TW" sz="1400" b="0" kern="100" dirty="0">
                          <a:solidFill>
                            <a:schemeClr val="tx1"/>
                          </a:solidFill>
                          <a:effectLst/>
                          <a:latin typeface="微軟正黑體" panose="020B0604030504040204" pitchFamily="34" charset="-120"/>
                          <a:ea typeface="微軟正黑體" panose="020B0604030504040204" pitchFamily="34" charset="-120"/>
                        </a:rPr>
                        <a:t>(DD</a:t>
                      </a:r>
                      <a:r>
                        <a:rPr lang="zh-TW" altLang="en-US" sz="1400" b="0" kern="100" dirty="0">
                          <a:solidFill>
                            <a:schemeClr val="tx1"/>
                          </a:solidFill>
                          <a:effectLst/>
                          <a:latin typeface="微軟正黑體" panose="020B0604030504040204" pitchFamily="34" charset="-120"/>
                          <a:ea typeface="微軟正黑體" panose="020B0604030504040204" pitchFamily="34" charset="-120"/>
                        </a:rPr>
                        <a:t>與使用空間</a:t>
                      </a:r>
                      <a:r>
                        <a:rPr lang="en-US" altLang="zh-TW" sz="1400" b="0" kern="100" dirty="0">
                          <a:solidFill>
                            <a:schemeClr val="tx1"/>
                          </a:solidFill>
                          <a:effectLst/>
                          <a:latin typeface="微軟正黑體" panose="020B0604030504040204" pitchFamily="34" charset="-120"/>
                          <a:ea typeface="微軟正黑體" panose="020B0604030504040204" pitchFamily="34" charset="-120"/>
                        </a:rPr>
                        <a:t>1:1)</a:t>
                      </a:r>
                      <a:endParaRPr lang="zh-TW"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14.5</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solidFill>
                            <a:schemeClr val="tx1"/>
                          </a:solidFill>
                          <a:latin typeface="微軟正黑體" panose="020B0604030504040204" pitchFamily="34" charset="-120"/>
                          <a:ea typeface="微軟正黑體" panose="020B0604030504040204" pitchFamily="34" charset="-120"/>
                        </a:rPr>
                        <a:t>必要搭配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702817"/>
                  </a:ext>
                </a:extLst>
              </a:tr>
              <a:tr h="381931">
                <a:tc rowSpan="2">
                  <a:txBody>
                    <a:bodyPr/>
                    <a:lstStyle/>
                    <a:p>
                      <a:pPr algn="ct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加購授權</a:t>
                      </a:r>
                      <a:endParaRPr lang="en-US" altLang="zh-TW" sz="14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4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4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TW" altLang="en-US"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視個案需求</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1228533"/>
                  </a:ext>
                </a:extLst>
              </a:tr>
              <a:tr h="381931">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4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4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endParaRPr lang="zh-TW"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1.9</a:t>
                      </a:r>
                      <a:endParaRPr 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視個案需求</a:t>
                      </a:r>
                      <a:endParaRPr lang="zh-TW" altLang="zh-TW" sz="14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7684"/>
                  </a:ext>
                </a:extLst>
              </a:tr>
            </a:tbl>
          </a:graphicData>
        </a:graphic>
      </p:graphicFrame>
      <p:sp>
        <p:nvSpPr>
          <p:cNvPr id="6" name="文字方塊 5">
            <a:extLst>
              <a:ext uri="{FF2B5EF4-FFF2-40B4-BE49-F238E27FC236}">
                <a16:creationId xmlns:a16="http://schemas.microsoft.com/office/drawing/2014/main" id="{14D8C272-9F08-DFC3-4259-85250BF53298}"/>
              </a:ext>
            </a:extLst>
          </p:cNvPr>
          <p:cNvSpPr txBox="1"/>
          <p:nvPr/>
        </p:nvSpPr>
        <p:spPr>
          <a:xfrm>
            <a:off x="209710" y="863844"/>
            <a:ext cx="8337175" cy="1077218"/>
          </a:xfrm>
          <a:prstGeom prst="rect">
            <a:avLst/>
          </a:prstGeom>
          <a:noFill/>
        </p:spPr>
        <p:txBody>
          <a:bodyPr wrap="square" rtlCol="0">
            <a:spAutoFit/>
          </a:bodyPr>
          <a:lstStyle/>
          <a:p>
            <a:pPr marL="269875" indent="-269875">
              <a:spcBef>
                <a:spcPts val="600"/>
              </a:spcBef>
              <a:spcAft>
                <a:spcPts val="600"/>
              </a:spcAft>
              <a:buFont typeface="Arial" panose="020B0604020202020204" pitchFamily="34" charset="0"/>
              <a:buChar char="•"/>
            </a:pPr>
            <a:r>
              <a:rPr lang="zh-TW" altLang="en-US" sz="1800" b="0" dirty="0">
                <a:latin typeface="微軟正黑體" panose="020B0604030504040204" pitchFamily="34" charset="-120"/>
                <a:ea typeface="微軟正黑體" panose="020B0604030504040204" pitchFamily="34" charset="-120"/>
              </a:rPr>
              <a:t>專案採用既有系統軟硬體設備者，應於架構審議報告中揭露隱形成本，如：伺服器、系統</a:t>
            </a:r>
            <a:r>
              <a:rPr lang="en-US" altLang="zh-TW" sz="1800" b="0" dirty="0">
                <a:latin typeface="微軟正黑體" panose="020B0604030504040204" pitchFamily="34" charset="-120"/>
                <a:ea typeface="微軟正黑體" panose="020B0604030504040204" pitchFamily="34" charset="-120"/>
              </a:rPr>
              <a:t>/</a:t>
            </a:r>
            <a:r>
              <a:rPr lang="zh-TW" altLang="en-US" sz="1800" b="0" dirty="0">
                <a:latin typeface="微軟正黑體" panose="020B0604030504040204" pitchFamily="34" charset="-120"/>
                <a:ea typeface="微軟正黑體" panose="020B0604030504040204" pitchFamily="34" charset="-120"/>
              </a:rPr>
              <a:t>資料庫授權、磁碟空間等 </a:t>
            </a:r>
            <a:endParaRPr lang="en-US" altLang="zh-TW" sz="1800" b="0" dirty="0">
              <a:latin typeface="微軟正黑體" panose="020B0604030504040204" pitchFamily="34" charset="-120"/>
              <a:ea typeface="微軟正黑體" panose="020B0604030504040204" pitchFamily="34" charset="-120"/>
            </a:endParaRPr>
          </a:p>
          <a:p>
            <a:pPr marL="269875" indent="-269875">
              <a:spcBef>
                <a:spcPts val="600"/>
              </a:spcBef>
              <a:spcAft>
                <a:spcPts val="600"/>
              </a:spcAft>
              <a:buFont typeface="Arial" panose="020B0604020202020204" pitchFamily="34" charset="0"/>
              <a:buChar char="•"/>
            </a:pPr>
            <a:r>
              <a:rPr lang="zh-TW" altLang="en-US" sz="1800" b="0" dirty="0">
                <a:latin typeface="微軟正黑體" panose="020B0604030504040204" pitchFamily="34" charset="-120"/>
                <a:ea typeface="微軟正黑體" panose="020B0604030504040204" pitchFamily="34" charset="-120"/>
              </a:rPr>
              <a:t>各品項計價請參考下表，儲存空間需含</a:t>
            </a:r>
            <a:r>
              <a:rPr lang="en-US" altLang="zh-TW" sz="1800" b="0" dirty="0">
                <a:latin typeface="微軟正黑體" panose="020B0604030504040204" pitchFamily="34" charset="-120"/>
                <a:ea typeface="微軟正黑體" panose="020B0604030504040204" pitchFamily="34" charset="-120"/>
              </a:rPr>
              <a:t>DD</a:t>
            </a:r>
            <a:r>
              <a:rPr lang="zh-TW" altLang="en-US" sz="1800" b="0" dirty="0">
                <a:latin typeface="微軟正黑體" panose="020B0604030504040204" pitchFamily="34" charset="-120"/>
                <a:ea typeface="微軟正黑體" panose="020B0604030504040204" pitchFamily="34" charset="-120"/>
              </a:rPr>
              <a:t>備份</a:t>
            </a:r>
            <a:endParaRPr lang="en-US" altLang="zh-TW" sz="1800" b="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9EB03AB9-CAEF-F1AE-CCE1-4F4597175C32}"/>
              </a:ext>
            </a:extLst>
          </p:cNvPr>
          <p:cNvSpPr txBox="1"/>
          <p:nvPr/>
        </p:nvSpPr>
        <p:spPr>
          <a:xfrm>
            <a:off x="416883" y="5808350"/>
            <a:ext cx="8041294" cy="307777"/>
          </a:xfrm>
          <a:prstGeom prst="rect">
            <a:avLst/>
          </a:prstGeom>
          <a:noFill/>
        </p:spPr>
        <p:txBody>
          <a:bodyPr wrap="square" rtlCol="0">
            <a:spAutoFit/>
          </a:bodyPr>
          <a:lstStyle/>
          <a:p>
            <a:pPr>
              <a:spcAft>
                <a:spcPts val="1200"/>
              </a:spcAft>
            </a:pPr>
            <a:r>
              <a:rPr lang="en-US" altLang="zh-TW" sz="1400" b="0" dirty="0">
                <a:latin typeface="微軟正黑體" panose="020B0604030504040204" pitchFamily="34" charset="-120"/>
                <a:ea typeface="微軟正黑體" panose="020B0604030504040204" pitchFamily="34" charset="-120"/>
              </a:rPr>
              <a:t>※</a:t>
            </a:r>
            <a:r>
              <a:rPr lang="zh-TW" altLang="en-US" sz="1400" b="0" dirty="0">
                <a:latin typeface="微軟正黑體" panose="020B0604030504040204" pitchFamily="34" charset="-120"/>
                <a:ea typeface="微軟正黑體" panose="020B0604030504040204" pitchFamily="34" charset="-120"/>
              </a:rPr>
              <a:t>測試環境之微軟</a:t>
            </a:r>
            <a:r>
              <a:rPr lang="en-US" altLang="zh-TW" sz="1400" b="0" dirty="0">
                <a:latin typeface="微軟正黑體" panose="020B0604030504040204" pitchFamily="34" charset="-120"/>
                <a:ea typeface="微軟正黑體" panose="020B0604030504040204" pitchFamily="34" charset="-120"/>
              </a:rPr>
              <a:t>OS</a:t>
            </a:r>
            <a:r>
              <a:rPr lang="zh-TW" altLang="en-US" sz="1400" b="0" dirty="0">
                <a:latin typeface="微軟正黑體" panose="020B0604030504040204" pitchFamily="34" charset="-120"/>
                <a:ea typeface="微軟正黑體" panose="020B0604030504040204" pitchFamily="34" charset="-120"/>
              </a:rPr>
              <a:t>及資料庫版權，已包含於資訊處購買</a:t>
            </a:r>
            <a:r>
              <a:rPr lang="en-US" altLang="zh-TW" sz="1400" b="0" dirty="0">
                <a:latin typeface="微軟正黑體" panose="020B0604030504040204" pitchFamily="34" charset="-120"/>
                <a:ea typeface="微軟正黑體" panose="020B0604030504040204" pitchFamily="34" charset="-120"/>
              </a:rPr>
              <a:t>MSDN</a:t>
            </a:r>
            <a:r>
              <a:rPr lang="zh-TW" altLang="en-US" sz="1400" b="0" dirty="0">
                <a:latin typeface="微軟正黑體" panose="020B0604030504040204" pitchFamily="34" charset="-120"/>
                <a:ea typeface="微軟正黑體" panose="020B0604030504040204" pitchFamily="34" charset="-120"/>
              </a:rPr>
              <a:t>，可不納入系統隱形成本計算</a:t>
            </a:r>
            <a:endParaRPr lang="en-US" altLang="zh-TW" sz="1400" b="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2367780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2CC3CF-C35A-CCE8-99BA-C1610955851C}"/>
              </a:ext>
            </a:extLst>
          </p:cNvPr>
          <p:cNvSpPr>
            <a:spLocks noGrp="1"/>
          </p:cNvSpPr>
          <p:nvPr>
            <p:ph type="title"/>
          </p:nvPr>
        </p:nvSpPr>
        <p:spPr>
          <a:xfrm>
            <a:off x="230629" y="147918"/>
            <a:ext cx="8166479" cy="622580"/>
          </a:xfrm>
        </p:spPr>
        <p:txBody>
          <a:bodyPr/>
          <a:lstStyle/>
          <a:p>
            <a:r>
              <a:rPr lang="zh-TW" altLang="zh-TW" sz="2800" dirty="0">
                <a:solidFill>
                  <a:srgbClr val="071320"/>
                </a:solidFill>
                <a:effectLst/>
                <a:latin typeface="微軟正黑體" panose="020B0604030504040204" pitchFamily="34" charset="-120"/>
                <a:ea typeface="微軟正黑體" panose="020B0604030504040204" pitchFamily="34" charset="-120"/>
                <a:cs typeface="新細明體" panose="02020500000000000000" pitchFamily="18" charset="-120"/>
              </a:rPr>
              <a:t>使用既有設備</a:t>
            </a:r>
            <a:r>
              <a:rPr lang="zh-TW" altLang="en-US" sz="2800" dirty="0">
                <a:solidFill>
                  <a:srgbClr val="071320"/>
                </a:solidFill>
                <a:effectLst/>
                <a:latin typeface="微軟正黑體" panose="020B0604030504040204" pitchFamily="34" charset="-120"/>
                <a:ea typeface="微軟正黑體" panose="020B0604030504040204" pitchFamily="34" charset="-120"/>
                <a:cs typeface="新細明體" panose="02020500000000000000" pitchFamily="18" charset="-120"/>
              </a:rPr>
              <a:t> </a:t>
            </a:r>
            <a:r>
              <a:rPr lang="en-US" altLang="zh-TW" sz="2800" dirty="0">
                <a:solidFill>
                  <a:srgbClr val="071320"/>
                </a:solidFill>
                <a:latin typeface="微軟正黑體" panose="020B0604030504040204" pitchFamily="34" charset="-120"/>
                <a:ea typeface="微軟正黑體" panose="020B0604030504040204" pitchFamily="34" charset="-120"/>
                <a:cs typeface="新細明體" panose="02020500000000000000" pitchFamily="18" charset="-120"/>
              </a:rPr>
              <a:t>vs</a:t>
            </a:r>
            <a:r>
              <a:rPr lang="zh-TW" altLang="en-US" sz="2800" dirty="0">
                <a:solidFill>
                  <a:srgbClr val="071320"/>
                </a:solidFill>
                <a:latin typeface="微軟正黑體" panose="020B0604030504040204" pitchFamily="34" charset="-120"/>
                <a:ea typeface="微軟正黑體" panose="020B0604030504040204" pitchFamily="34" charset="-120"/>
                <a:cs typeface="新細明體" panose="02020500000000000000" pitchFamily="18" charset="-120"/>
              </a:rPr>
              <a:t> 自行提簽</a:t>
            </a:r>
            <a:endParaRPr lang="zh-TW" altLang="en-US" sz="28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14D8B6F1-411B-B429-A445-D659C837A2D9}"/>
              </a:ext>
            </a:extLst>
          </p:cNvPr>
          <p:cNvSpPr txBox="1"/>
          <p:nvPr/>
        </p:nvSpPr>
        <p:spPr>
          <a:xfrm>
            <a:off x="230629" y="1006246"/>
            <a:ext cx="8470457" cy="470898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使用既有設備</a:t>
            </a:r>
            <a:endParaRPr lang="en-US" altLang="zh-TW" sz="2000" dirty="0">
              <a:latin typeface="微軟正黑體" panose="020B0604030504040204" pitchFamily="34" charset="-120"/>
              <a:ea typeface="微軟正黑體" panose="020B0604030504040204" pitchFamily="34" charset="-120"/>
            </a:endParaRP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虛擬化環境需求：</a:t>
            </a:r>
            <a:r>
              <a:rPr lang="en-US" altLang="zh-TW" sz="2000" b="0" dirty="0">
                <a:solidFill>
                  <a:srgbClr val="FF0000"/>
                </a:solidFill>
                <a:latin typeface="微軟正黑體" panose="020B0604030504040204" pitchFamily="34" charset="-120"/>
                <a:ea typeface="微軟正黑體" panose="020B0604030504040204" pitchFamily="34" charset="-120"/>
              </a:rPr>
              <a:t>CPU &lt;=</a:t>
            </a:r>
            <a:r>
              <a:rPr lang="zh-TW" altLang="en-US" sz="2000" b="0" dirty="0">
                <a:solidFill>
                  <a:srgbClr val="FF0000"/>
                </a:solidFill>
                <a:latin typeface="微軟正黑體" panose="020B0604030504040204" pitchFamily="34" charset="-120"/>
                <a:ea typeface="微軟正黑體" panose="020B0604030504040204" pitchFamily="34" charset="-120"/>
              </a:rPr>
              <a:t> </a:t>
            </a:r>
            <a:r>
              <a:rPr lang="en-US" altLang="zh-TW" sz="2000" b="0" dirty="0">
                <a:solidFill>
                  <a:srgbClr val="FF0000"/>
                </a:solidFill>
                <a:latin typeface="微軟正黑體" panose="020B0604030504040204" pitchFamily="34" charset="-120"/>
                <a:ea typeface="微軟正黑體" panose="020B0604030504040204" pitchFamily="34" charset="-120"/>
              </a:rPr>
              <a:t>16core</a:t>
            </a:r>
            <a:r>
              <a:rPr lang="zh-TW" altLang="en-US" sz="2000" b="0" dirty="0">
                <a:solidFill>
                  <a:srgbClr val="FF0000"/>
                </a:solidFill>
                <a:latin typeface="微軟正黑體" panose="020B0604030504040204" pitchFamily="34" charset="-120"/>
                <a:ea typeface="微軟正黑體" panose="020B0604030504040204" pitchFamily="34" charset="-120"/>
              </a:rPr>
              <a:t>、</a:t>
            </a:r>
            <a:r>
              <a:rPr lang="en-US" altLang="zh-TW" sz="2000" b="0" dirty="0">
                <a:solidFill>
                  <a:srgbClr val="FF0000"/>
                </a:solidFill>
                <a:latin typeface="微軟正黑體" panose="020B0604030504040204" pitchFamily="34" charset="-120"/>
                <a:ea typeface="微軟正黑體" panose="020B0604030504040204" pitchFamily="34" charset="-120"/>
              </a:rPr>
              <a:t>RAM &lt;= 48G</a:t>
            </a: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儲存空間需求總量不超過 </a:t>
            </a:r>
            <a:r>
              <a:rPr lang="en-US" altLang="zh-TW" sz="2000" b="0" dirty="0">
                <a:solidFill>
                  <a:srgbClr val="FF0000"/>
                </a:solidFill>
                <a:latin typeface="微軟正黑體" panose="020B0604030504040204" pitchFamily="34" charset="-120"/>
                <a:ea typeface="微軟正黑體" panose="020B0604030504040204" pitchFamily="34" charset="-120"/>
              </a:rPr>
              <a:t>4</a:t>
            </a:r>
            <a:r>
              <a:rPr lang="en-US" altLang="zh-TW" sz="2000" b="0" dirty="0">
                <a:latin typeface="微軟正黑體" panose="020B0604030504040204" pitchFamily="34" charset="-120"/>
                <a:ea typeface="微軟正黑體" panose="020B0604030504040204" pitchFamily="34" charset="-120"/>
              </a:rPr>
              <a:t>TB</a:t>
            </a:r>
            <a:r>
              <a:rPr lang="zh-TW" altLang="en-US" sz="2000" b="0" dirty="0">
                <a:latin typeface="微軟正黑體" panose="020B0604030504040204" pitchFamily="34" charset="-120"/>
                <a:ea typeface="微軟正黑體" panose="020B0604030504040204" pitchFamily="34" charset="-120"/>
              </a:rPr>
              <a:t> </a:t>
            </a:r>
            <a:r>
              <a:rPr lang="en-US" altLang="zh-TW" sz="2000" b="0" dirty="0">
                <a:latin typeface="微軟正黑體" panose="020B0604030504040204" pitchFamily="34" charset="-120"/>
                <a:ea typeface="微軟正黑體" panose="020B0604030504040204" pitchFamily="34" charset="-120"/>
              </a:rPr>
              <a:t>(</a:t>
            </a:r>
            <a:r>
              <a:rPr lang="zh-TW" altLang="en-US" sz="2000" b="0" dirty="0">
                <a:latin typeface="微軟正黑體" panose="020B0604030504040204" pitchFamily="34" charset="-120"/>
                <a:ea typeface="微軟正黑體" panose="020B0604030504040204" pitchFamily="34" charset="-120"/>
              </a:rPr>
              <a:t>正式</a:t>
            </a:r>
            <a:r>
              <a:rPr lang="en-US" altLang="zh-TW" sz="2000" b="0" dirty="0">
                <a:solidFill>
                  <a:srgbClr val="FF0000"/>
                </a:solidFill>
                <a:latin typeface="微軟正黑體" panose="020B0604030504040204" pitchFamily="34" charset="-120"/>
                <a:ea typeface="微軟正黑體" panose="020B0604030504040204" pitchFamily="34" charset="-120"/>
              </a:rPr>
              <a:t>2</a:t>
            </a:r>
            <a:r>
              <a:rPr lang="en-US" altLang="zh-TW" sz="2000" b="0" dirty="0">
                <a:latin typeface="微軟正黑體" panose="020B0604030504040204" pitchFamily="34" charset="-120"/>
                <a:ea typeface="微軟正黑體" panose="020B0604030504040204" pitchFamily="34" charset="-120"/>
              </a:rPr>
              <a:t>TB+</a:t>
            </a:r>
            <a:r>
              <a:rPr lang="zh-TW" altLang="en-US" sz="2000" b="0" dirty="0">
                <a:latin typeface="微軟正黑體" panose="020B0604030504040204" pitchFamily="34" charset="-120"/>
                <a:ea typeface="微軟正黑體" panose="020B0604030504040204" pitchFamily="34" charset="-120"/>
              </a:rPr>
              <a:t>備份</a:t>
            </a:r>
            <a:r>
              <a:rPr lang="en-US" altLang="zh-TW" sz="2000" b="0" dirty="0">
                <a:solidFill>
                  <a:srgbClr val="FF0000"/>
                </a:solidFill>
                <a:latin typeface="微軟正黑體" panose="020B0604030504040204" pitchFamily="34" charset="-120"/>
                <a:ea typeface="微軟正黑體" panose="020B0604030504040204" pitchFamily="34" charset="-120"/>
              </a:rPr>
              <a:t>2</a:t>
            </a:r>
            <a:r>
              <a:rPr lang="en-US" altLang="zh-TW" sz="2000" b="0" dirty="0">
                <a:latin typeface="微軟正黑體" panose="020B0604030504040204" pitchFamily="34" charset="-120"/>
                <a:ea typeface="微軟正黑體" panose="020B0604030504040204" pitchFamily="34" charset="-120"/>
              </a:rPr>
              <a:t>TB)</a:t>
            </a: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軟體版權屬年度統籌採購範圍：虛擬主機環境之作業系統</a:t>
            </a:r>
            <a:r>
              <a:rPr lang="en-US" altLang="zh-TW" sz="2000" b="0" dirty="0">
                <a:latin typeface="微軟正黑體" panose="020B0604030504040204" pitchFamily="34" charset="-120"/>
                <a:ea typeface="微軟正黑體" panose="020B0604030504040204" pitchFamily="34" charset="-120"/>
              </a:rPr>
              <a:t>(</a:t>
            </a:r>
            <a:r>
              <a:rPr lang="zh-TW" altLang="en-US" sz="2000" b="0" dirty="0">
                <a:latin typeface="微軟正黑體" panose="020B0604030504040204" pitchFamily="34" charset="-120"/>
                <a:ea typeface="微軟正黑體" panose="020B0604030504040204" pitchFamily="34" charset="-120"/>
              </a:rPr>
              <a:t>微軟、</a:t>
            </a:r>
            <a:r>
              <a:rPr lang="en-US" altLang="zh-TW" sz="2000" b="0" dirty="0">
                <a:latin typeface="微軟正黑體" panose="020B0604030504040204" pitchFamily="34" charset="-120"/>
                <a:ea typeface="微軟正黑體" panose="020B0604030504040204" pitchFamily="34" charset="-120"/>
              </a:rPr>
              <a:t>RedHat)</a:t>
            </a:r>
            <a:r>
              <a:rPr lang="zh-TW" altLang="en-US" sz="2000" b="0" dirty="0">
                <a:latin typeface="微軟正黑體" panose="020B0604030504040204" pitchFamily="34" charset="-120"/>
                <a:ea typeface="微軟正黑體" panose="020B0604030504040204" pitchFamily="34" charset="-120"/>
              </a:rPr>
              <a:t>、資料庫軟體</a:t>
            </a:r>
            <a:r>
              <a:rPr lang="en-US" altLang="zh-TW" sz="2000" b="0" dirty="0">
                <a:latin typeface="微軟正黑體" panose="020B0604030504040204" pitchFamily="34" charset="-120"/>
                <a:ea typeface="微軟正黑體" panose="020B0604030504040204" pitchFamily="34" charset="-120"/>
              </a:rPr>
              <a:t>(SQL</a:t>
            </a:r>
            <a:r>
              <a:rPr lang="zh-TW" altLang="en-US" sz="2000" b="0" dirty="0">
                <a:latin typeface="微軟正黑體" panose="020B0604030504040204" pitchFamily="34" charset="-120"/>
                <a:ea typeface="微軟正黑體" panose="020B0604030504040204" pitchFamily="34" charset="-120"/>
              </a:rPr>
              <a:t>、</a:t>
            </a:r>
            <a:r>
              <a:rPr lang="en-US" altLang="zh-TW" sz="2000" b="0" dirty="0">
                <a:latin typeface="微軟正黑體" panose="020B0604030504040204" pitchFamily="34" charset="-120"/>
                <a:ea typeface="微軟正黑體" panose="020B0604030504040204" pitchFamily="34" charset="-120"/>
              </a:rPr>
              <a:t>MongoDB)</a:t>
            </a:r>
            <a:r>
              <a:rPr lang="zh-TW" altLang="en-US" sz="2000" b="0" dirty="0">
                <a:latin typeface="微軟正黑體" panose="020B0604030504040204" pitchFamily="34" charset="-120"/>
                <a:ea typeface="微軟正黑體" panose="020B0604030504040204" pitchFamily="34" charset="-120"/>
              </a:rPr>
              <a:t>、</a:t>
            </a:r>
            <a:r>
              <a:rPr lang="en-US" altLang="zh-TW" sz="2000" b="0" dirty="0" err="1">
                <a:latin typeface="微軟正黑體" panose="020B0604030504040204" pitchFamily="34" charset="-120"/>
                <a:ea typeface="微軟正黑體" panose="020B0604030504040204" pitchFamily="34" charset="-120"/>
              </a:rPr>
              <a:t>Jboss</a:t>
            </a:r>
            <a:r>
              <a:rPr lang="zh-TW" altLang="en-US" sz="2000" b="0" dirty="0">
                <a:latin typeface="微軟正黑體" panose="020B0604030504040204" pitchFamily="34" charset="-120"/>
                <a:ea typeface="微軟正黑體" panose="020B0604030504040204" pitchFamily="34" charset="-120"/>
              </a:rPr>
              <a:t>、</a:t>
            </a:r>
            <a:r>
              <a:rPr lang="en-US" altLang="zh-TW" sz="2000" b="0" dirty="0">
                <a:latin typeface="微軟正黑體" panose="020B0604030504040204" pitchFamily="34" charset="-120"/>
                <a:ea typeface="微軟正黑體" panose="020B0604030504040204" pitchFamily="34" charset="-120"/>
              </a:rPr>
              <a:t>VMWare</a:t>
            </a:r>
            <a:r>
              <a:rPr lang="zh-TW" altLang="en-US" sz="2000" b="0" dirty="0">
                <a:latin typeface="微軟正黑體" panose="020B0604030504040204" pitchFamily="34" charset="-120"/>
                <a:ea typeface="微軟正黑體" panose="020B0604030504040204" pitchFamily="34" charset="-120"/>
              </a:rPr>
              <a:t> 等</a:t>
            </a:r>
            <a:endParaRPr lang="en-US" altLang="zh-TW" sz="2000" b="0" dirty="0">
              <a:latin typeface="微軟正黑體" panose="020B0604030504040204" pitchFamily="34" charset="-120"/>
              <a:ea typeface="微軟正黑體" panose="020B0604030504040204" pitchFamily="34" charset="-120"/>
            </a:endParaRP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測試環境微軟作業系統、資料庫等版權</a:t>
            </a:r>
            <a:r>
              <a:rPr lang="en-US" altLang="zh-TW" sz="2000" b="0" dirty="0">
                <a:latin typeface="微軟正黑體" panose="020B0604030504040204" pitchFamily="34" charset="-120"/>
                <a:ea typeface="微軟正黑體" panose="020B0604030504040204" pitchFamily="34" charset="-120"/>
              </a:rPr>
              <a:t>(</a:t>
            </a:r>
            <a:r>
              <a:rPr lang="zh-TW" altLang="en-US" sz="2000" b="0" dirty="0">
                <a:latin typeface="微軟正黑體" panose="020B0604030504040204" pitchFamily="34" charset="-120"/>
                <a:ea typeface="微軟正黑體" panose="020B0604030504040204" pitchFamily="34" charset="-120"/>
              </a:rPr>
              <a:t>使用</a:t>
            </a:r>
            <a:r>
              <a:rPr lang="en-US" altLang="zh-TW" sz="2000" b="0" dirty="0">
                <a:latin typeface="微軟正黑體" panose="020B0604030504040204" pitchFamily="34" charset="-120"/>
                <a:ea typeface="微軟正黑體" panose="020B0604030504040204" pitchFamily="34" charset="-120"/>
              </a:rPr>
              <a:t>MSDN)</a:t>
            </a:r>
          </a:p>
          <a:p>
            <a:pPr marL="342900" indent="-342900">
              <a:spcBef>
                <a:spcPts val="600"/>
              </a:spcBef>
              <a:spcAft>
                <a:spcPts val="6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自行提簽呈請購</a:t>
            </a:r>
            <a:endParaRPr lang="en-US" altLang="zh-TW" sz="2000" dirty="0">
              <a:latin typeface="微軟正黑體" panose="020B0604030504040204" pitchFamily="34" charset="-120"/>
              <a:ea typeface="微軟正黑體" panose="020B0604030504040204" pitchFamily="34" charset="-120"/>
            </a:endParaRP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新應用系統專案</a:t>
            </a:r>
            <a:r>
              <a:rPr lang="en-US" altLang="zh-TW" sz="2000" b="0" dirty="0">
                <a:latin typeface="微軟正黑體" panose="020B0604030504040204" pitchFamily="34" charset="-120"/>
                <a:ea typeface="微軟正黑體" panose="020B0604030504040204" pitchFamily="34" charset="-120"/>
              </a:rPr>
              <a:t>(</a:t>
            </a:r>
            <a:r>
              <a:rPr lang="zh-TW" altLang="en-US" sz="2000" b="0" dirty="0">
                <a:latin typeface="微軟正黑體" panose="020B0604030504040204" pitchFamily="34" charset="-120"/>
                <a:ea typeface="微軟正黑體" panose="020B0604030504040204" pitchFamily="34" charset="-120"/>
              </a:rPr>
              <a:t>包含伺服器、儲存設備、作業系統、資料庫等</a:t>
            </a:r>
            <a:r>
              <a:rPr lang="en-US" altLang="zh-TW" sz="2000" b="0" dirty="0">
                <a:latin typeface="微軟正黑體" panose="020B0604030504040204" pitchFamily="34" charset="-120"/>
                <a:ea typeface="微軟正黑體" panose="020B0604030504040204" pitchFamily="34" charset="-120"/>
              </a:rPr>
              <a:t>)</a:t>
            </a: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既有應用系統之硬體資源不足需擴增</a:t>
            </a:r>
            <a:endParaRPr lang="en-US" altLang="zh-TW" sz="2000" b="0" dirty="0">
              <a:latin typeface="微軟正黑體" panose="020B0604030504040204" pitchFamily="34" charset="-120"/>
              <a:ea typeface="微軟正黑體" panose="020B0604030504040204" pitchFamily="34" charset="-120"/>
            </a:endParaRPr>
          </a:p>
          <a:p>
            <a:pPr marL="627063" indent="-274638">
              <a:spcBef>
                <a:spcPts val="600"/>
              </a:spcBef>
              <a:spcAft>
                <a:spcPts val="600"/>
              </a:spcAft>
              <a:buFont typeface="+mj-lt"/>
              <a:buAutoNum type="arabicPeriod"/>
            </a:pPr>
            <a:r>
              <a:rPr lang="zh-TW" altLang="en-US" sz="2000" b="0" dirty="0">
                <a:latin typeface="微軟正黑體" panose="020B0604030504040204" pitchFamily="34" charset="-120"/>
                <a:ea typeface="微軟正黑體" panose="020B0604030504040204" pitchFamily="34" charset="-120"/>
              </a:rPr>
              <a:t>虛擬化資源需求過大</a:t>
            </a:r>
            <a:r>
              <a:rPr lang="en-US" altLang="zh-TW" sz="2000" b="0" dirty="0">
                <a:solidFill>
                  <a:srgbClr val="FF0000"/>
                </a:solidFill>
                <a:latin typeface="微軟正黑體" panose="020B0604030504040204" pitchFamily="34" charset="-120"/>
                <a:ea typeface="微軟正黑體" panose="020B0604030504040204" pitchFamily="34" charset="-120"/>
              </a:rPr>
              <a:t>(CPU</a:t>
            </a:r>
            <a:r>
              <a:rPr lang="zh-TW" altLang="en-US" sz="2000" b="0" dirty="0">
                <a:solidFill>
                  <a:srgbClr val="FF0000"/>
                </a:solidFill>
                <a:latin typeface="微軟正黑體" panose="020B0604030504040204" pitchFamily="34" charset="-120"/>
                <a:ea typeface="微軟正黑體" panose="020B0604030504040204" pitchFamily="34" charset="-120"/>
              </a:rPr>
              <a:t> </a:t>
            </a:r>
            <a:r>
              <a:rPr lang="en-US" altLang="zh-TW" sz="2000" b="0" dirty="0">
                <a:solidFill>
                  <a:srgbClr val="FF0000"/>
                </a:solidFill>
                <a:latin typeface="微軟正黑體" panose="020B0604030504040204" pitchFamily="34" charset="-120"/>
                <a:ea typeface="微軟正黑體" panose="020B0604030504040204" pitchFamily="34" charset="-120"/>
              </a:rPr>
              <a:t>&gt;16core</a:t>
            </a:r>
            <a:r>
              <a:rPr lang="zh-TW" altLang="en-US" sz="2000" b="0" dirty="0">
                <a:solidFill>
                  <a:srgbClr val="FF0000"/>
                </a:solidFill>
                <a:latin typeface="微軟正黑體" panose="020B0604030504040204" pitchFamily="34" charset="-120"/>
                <a:ea typeface="微軟正黑體" panose="020B0604030504040204" pitchFamily="34" charset="-120"/>
              </a:rPr>
              <a:t>、</a:t>
            </a:r>
            <a:r>
              <a:rPr lang="en-US" altLang="zh-TW" sz="2000" b="0" dirty="0">
                <a:solidFill>
                  <a:srgbClr val="FF0000"/>
                </a:solidFill>
                <a:latin typeface="微軟正黑體" panose="020B0604030504040204" pitchFamily="34" charset="-120"/>
                <a:ea typeface="微軟正黑體" panose="020B0604030504040204" pitchFamily="34" charset="-120"/>
              </a:rPr>
              <a:t>RAM</a:t>
            </a:r>
            <a:r>
              <a:rPr lang="zh-TW" altLang="en-US" sz="2000" b="0" dirty="0">
                <a:solidFill>
                  <a:srgbClr val="FF0000"/>
                </a:solidFill>
                <a:latin typeface="微軟正黑體" panose="020B0604030504040204" pitchFamily="34" charset="-120"/>
                <a:ea typeface="微軟正黑體" panose="020B0604030504040204" pitchFamily="34" charset="-120"/>
              </a:rPr>
              <a:t> </a:t>
            </a:r>
            <a:r>
              <a:rPr lang="en-US" altLang="zh-TW" sz="2000" b="0" dirty="0">
                <a:solidFill>
                  <a:srgbClr val="FF0000"/>
                </a:solidFill>
                <a:latin typeface="微軟正黑體" panose="020B0604030504040204" pitchFamily="34" charset="-120"/>
                <a:ea typeface="微軟正黑體" panose="020B0604030504040204" pitchFamily="34" charset="-120"/>
              </a:rPr>
              <a:t>&gt;</a:t>
            </a:r>
            <a:r>
              <a:rPr lang="zh-TW" altLang="en-US" sz="2000" b="0" dirty="0">
                <a:solidFill>
                  <a:srgbClr val="FF0000"/>
                </a:solidFill>
                <a:latin typeface="微軟正黑體" panose="020B0604030504040204" pitchFamily="34" charset="-120"/>
                <a:ea typeface="微軟正黑體" panose="020B0604030504040204" pitchFamily="34" charset="-120"/>
              </a:rPr>
              <a:t> </a:t>
            </a:r>
            <a:r>
              <a:rPr lang="en-US" altLang="zh-TW" sz="2000" b="0" dirty="0">
                <a:solidFill>
                  <a:srgbClr val="FF0000"/>
                </a:solidFill>
                <a:latin typeface="微軟正黑體" panose="020B0604030504040204" pitchFamily="34" charset="-120"/>
                <a:ea typeface="微軟正黑體" panose="020B0604030504040204" pitchFamily="34" charset="-120"/>
              </a:rPr>
              <a:t>48G)</a:t>
            </a:r>
            <a:r>
              <a:rPr lang="zh-TW" altLang="en-US" sz="2000" b="0" dirty="0">
                <a:latin typeface="微軟正黑體" panose="020B0604030504040204" pitchFamily="34" charset="-120"/>
                <a:ea typeface="微軟正黑體" panose="020B0604030504040204" pitchFamily="34" charset="-120"/>
              </a:rPr>
              <a:t>，不適合虛擬化，應採購實體機器</a:t>
            </a:r>
          </a:p>
        </p:txBody>
      </p:sp>
    </p:spTree>
    <p:extLst>
      <p:ext uri="{BB962C8B-B14F-4D97-AF65-F5344CB8AC3E}">
        <p14:creationId xmlns:p14="http://schemas.microsoft.com/office/powerpoint/2010/main" val="32247008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2CC3CF-C35A-CCE8-99BA-C1610955851C}"/>
              </a:ext>
            </a:extLst>
          </p:cNvPr>
          <p:cNvSpPr>
            <a:spLocks noGrp="1"/>
          </p:cNvSpPr>
          <p:nvPr>
            <p:ph type="title"/>
          </p:nvPr>
        </p:nvSpPr>
        <p:spPr>
          <a:xfrm>
            <a:off x="230629" y="147918"/>
            <a:ext cx="8166479" cy="622580"/>
          </a:xfrm>
        </p:spPr>
        <p:txBody>
          <a:bodyPr/>
          <a:lstStyle/>
          <a:p>
            <a:r>
              <a:rPr lang="zh-TW" altLang="en-US" sz="2800" dirty="0">
                <a:latin typeface="微軟正黑體" panose="020B0604030504040204" pitchFamily="34" charset="-120"/>
                <a:ea typeface="微軟正黑體" panose="020B0604030504040204" pitchFamily="34" charset="-120"/>
              </a:rPr>
              <a:t>架構審議報告檢附系統隱形成本 </a:t>
            </a:r>
            <a:r>
              <a:rPr lang="en-US" altLang="zh-TW" sz="2800" dirty="0">
                <a:highlight>
                  <a:srgbClr val="FFFF00"/>
                </a:highlight>
                <a:latin typeface="微軟正黑體" panose="020B0604030504040204" pitchFamily="34" charset="-120"/>
                <a:ea typeface="微軟正黑體" panose="020B0604030504040204" pitchFamily="34" charset="-120"/>
              </a:rPr>
              <a:t>[</a:t>
            </a:r>
            <a:r>
              <a:rPr lang="zh-TW" altLang="en-US" sz="2800" dirty="0">
                <a:highlight>
                  <a:srgbClr val="FFFF00"/>
                </a:highlight>
                <a:latin typeface="微軟正黑體" panose="020B0604030504040204" pitchFamily="34" charset="-120"/>
                <a:ea typeface="微軟正黑體" panose="020B0604030504040204" pitchFamily="34" charset="-120"/>
              </a:rPr>
              <a:t>表格範本</a:t>
            </a:r>
            <a:r>
              <a:rPr lang="en-US" altLang="zh-TW" sz="2800" dirty="0">
                <a:highlight>
                  <a:srgbClr val="FFFF00"/>
                </a:highlight>
                <a:latin typeface="微軟正黑體" panose="020B0604030504040204" pitchFamily="34" charset="-120"/>
                <a:ea typeface="微軟正黑體" panose="020B0604030504040204" pitchFamily="34" charset="-120"/>
              </a:rPr>
              <a:t>]</a:t>
            </a:r>
            <a:endParaRPr lang="zh-TW" altLang="en-US" sz="2800" dirty="0">
              <a:highlight>
                <a:srgbClr val="FFFF00"/>
              </a:highlight>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33EFD04F-C60D-D72F-C1C3-BA0395F3A71F}"/>
              </a:ext>
            </a:extLst>
          </p:cNvPr>
          <p:cNvGraphicFramePr>
            <a:graphicFrameLocks noGrp="1"/>
          </p:cNvGraphicFramePr>
          <p:nvPr>
            <p:extLst>
              <p:ext uri="{D42A27DB-BD31-4B8C-83A1-F6EECF244321}">
                <p14:modId xmlns:p14="http://schemas.microsoft.com/office/powerpoint/2010/main" val="2812231522"/>
              </p:ext>
            </p:extLst>
          </p:nvPr>
        </p:nvGraphicFramePr>
        <p:xfrm>
          <a:off x="364738" y="1611151"/>
          <a:ext cx="8336195" cy="4202730"/>
        </p:xfrm>
        <a:graphic>
          <a:graphicData uri="http://schemas.openxmlformats.org/drawingml/2006/table">
            <a:tbl>
              <a:tblPr firstRow="1" bandRow="1">
                <a:tableStyleId>{5C22544A-7EE6-4342-B048-85BDC9FD1C3A}</a:tableStyleId>
              </a:tblPr>
              <a:tblGrid>
                <a:gridCol w="1139679">
                  <a:extLst>
                    <a:ext uri="{9D8B030D-6E8A-4147-A177-3AD203B41FA5}">
                      <a16:colId xmlns:a16="http://schemas.microsoft.com/office/drawing/2014/main" val="3424903512"/>
                    </a:ext>
                  </a:extLst>
                </a:gridCol>
                <a:gridCol w="3860677">
                  <a:extLst>
                    <a:ext uri="{9D8B030D-6E8A-4147-A177-3AD203B41FA5}">
                      <a16:colId xmlns:a16="http://schemas.microsoft.com/office/drawing/2014/main" val="1956526871"/>
                    </a:ext>
                  </a:extLst>
                </a:gridCol>
                <a:gridCol w="1165320">
                  <a:extLst>
                    <a:ext uri="{9D8B030D-6E8A-4147-A177-3AD203B41FA5}">
                      <a16:colId xmlns:a16="http://schemas.microsoft.com/office/drawing/2014/main" val="998222031"/>
                    </a:ext>
                  </a:extLst>
                </a:gridCol>
                <a:gridCol w="956236">
                  <a:extLst>
                    <a:ext uri="{9D8B030D-6E8A-4147-A177-3AD203B41FA5}">
                      <a16:colId xmlns:a16="http://schemas.microsoft.com/office/drawing/2014/main" val="2167803055"/>
                    </a:ext>
                  </a:extLst>
                </a:gridCol>
                <a:gridCol w="1214283">
                  <a:extLst>
                    <a:ext uri="{9D8B030D-6E8A-4147-A177-3AD203B41FA5}">
                      <a16:colId xmlns:a16="http://schemas.microsoft.com/office/drawing/2014/main" val="1372042385"/>
                    </a:ext>
                  </a:extLst>
                </a:gridCol>
              </a:tblGrid>
              <a:tr h="538836">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大項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品項</a:t>
                      </a: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單位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單價</a:t>
                      </a:r>
                      <a:endParaRPr lang="en-US" altLang="zh-TW" sz="1400" dirty="0">
                        <a:solidFill>
                          <a:schemeClr val="bg1"/>
                        </a:solidFill>
                        <a:latin typeface="微軟正黑體" panose="020B0604030504040204" pitchFamily="34" charset="-120"/>
                        <a:ea typeface="微軟正黑體" panose="020B0604030504040204" pitchFamily="34" charset="-120"/>
                      </a:endParaRPr>
                    </a:p>
                    <a:p>
                      <a:pPr algn="ct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新台幣萬元</a:t>
                      </a:r>
                      <a:r>
                        <a:rPr lang="en-US" altLang="zh-TW" sz="1400" dirty="0">
                          <a:solidFill>
                            <a:schemeClr val="bg1"/>
                          </a:solidFill>
                          <a:latin typeface="微軟正黑體" panose="020B0604030504040204" pitchFamily="34" charset="-120"/>
                          <a:ea typeface="微軟正黑體" panose="020B0604030504040204" pitchFamily="34" charset="-120"/>
                        </a:rPr>
                        <a:t>)</a:t>
                      </a:r>
                      <a:endParaRPr lang="zh-TW" altLang="en-US" sz="1400"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申請</a:t>
                      </a:r>
                      <a:endParaRPr lang="en-US" altLang="zh-TW" sz="1400" dirty="0">
                        <a:solidFill>
                          <a:schemeClr val="bg1"/>
                        </a:solidFill>
                        <a:latin typeface="微軟正黑體" panose="020B0604030504040204" pitchFamily="34" charset="-120"/>
                        <a:ea typeface="微軟正黑體" panose="020B0604030504040204" pitchFamily="34" charset="-120"/>
                      </a:endParaRPr>
                    </a:p>
                    <a:p>
                      <a:pPr algn="ctr"/>
                      <a:r>
                        <a:rPr lang="zh-TW" altLang="en-US" sz="1400" dirty="0">
                          <a:solidFill>
                            <a:schemeClr val="bg1"/>
                          </a:solidFill>
                          <a:latin typeface="微軟正黑體" panose="020B0604030504040204" pitchFamily="34" charset="-120"/>
                          <a:ea typeface="微軟正黑體" panose="020B0604030504040204" pitchFamily="34" charset="-120"/>
                        </a:rPr>
                        <a:t>單位數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400" dirty="0">
                          <a:solidFill>
                            <a:schemeClr val="bg1"/>
                          </a:solidFill>
                          <a:latin typeface="微軟正黑體" panose="020B0604030504040204" pitchFamily="34" charset="-120"/>
                          <a:ea typeface="微軟正黑體" panose="020B0604030504040204" pitchFamily="34" charset="-120"/>
                        </a:rPr>
                        <a:t>金額</a:t>
                      </a:r>
                      <a:endParaRPr lang="en-US" altLang="zh-TW" sz="1400" dirty="0">
                        <a:solidFill>
                          <a:schemeClr val="bg1"/>
                        </a:solidFill>
                        <a:latin typeface="微軟正黑體" panose="020B0604030504040204" pitchFamily="34" charset="-120"/>
                        <a:ea typeface="微軟正黑體" panose="020B0604030504040204" pitchFamily="34" charset="-120"/>
                      </a:endParaRPr>
                    </a:p>
                    <a:p>
                      <a:pPr algn="ct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新台幣萬元</a:t>
                      </a:r>
                      <a:r>
                        <a:rPr lang="en-US" altLang="zh-TW" sz="1400" dirty="0">
                          <a:solidFill>
                            <a:schemeClr val="bg1"/>
                          </a:solidFill>
                          <a:latin typeface="微軟正黑體" panose="020B0604030504040204" pitchFamily="34" charset="-120"/>
                          <a:ea typeface="微軟正黑體" panose="020B0604030504040204" pitchFamily="34" charset="-120"/>
                        </a:rPr>
                        <a:t>)</a:t>
                      </a:r>
                      <a:endParaRPr lang="zh-TW" altLang="en-US" sz="1400"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400936685"/>
                  </a:ext>
                </a:extLst>
              </a:tr>
              <a:tr h="505426">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a:t>
                      </a:r>
                      <a:r>
                        <a:rPr lang="zh-TW" altLang="en-US" sz="1300" dirty="0">
                          <a:solidFill>
                            <a:schemeClr val="tx1"/>
                          </a:solidFill>
                          <a:latin typeface="微軟正黑體" panose="020B0604030504040204" pitchFamily="34" charset="-120"/>
                          <a:ea typeface="微軟正黑體" panose="020B0604030504040204" pitchFamily="34" charset="-120"/>
                        </a:rPr>
                        <a:t>虛擬主機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dirty="0">
                          <a:solidFill>
                            <a:schemeClr val="tx1"/>
                          </a:solidFill>
                          <a:latin typeface="微軟正黑體" panose="020B0604030504040204" pitchFamily="34" charset="-120"/>
                          <a:ea typeface="微軟正黑體" panose="020B0604030504040204" pitchFamily="34" charset="-120"/>
                        </a:rPr>
                        <a:t>VM 2core/4G</a:t>
                      </a:r>
                      <a:r>
                        <a:rPr lang="zh-TW" altLang="en-US" sz="1300" dirty="0">
                          <a:solidFill>
                            <a:schemeClr val="tx1"/>
                          </a:solidFill>
                          <a:latin typeface="微軟正黑體" panose="020B0604030504040204" pitchFamily="34" charset="-120"/>
                          <a:ea typeface="微軟正黑體" panose="020B0604030504040204" pitchFamily="34" charset="-120"/>
                        </a:rPr>
                        <a:t> </a:t>
                      </a:r>
                      <a:r>
                        <a:rPr lang="en-US" altLang="zh-TW" sz="1300" dirty="0">
                          <a:solidFill>
                            <a:schemeClr val="tx1"/>
                          </a:solidFill>
                          <a:latin typeface="微軟正黑體" panose="020B0604030504040204" pitchFamily="34" charset="-120"/>
                          <a:ea typeface="微軟正黑體" panose="020B0604030504040204" pitchFamily="34" charset="-120"/>
                        </a:rPr>
                        <a:t>(</a:t>
                      </a:r>
                      <a:r>
                        <a:rPr lang="zh-TW" altLang="en-US" sz="1300" dirty="0">
                          <a:solidFill>
                            <a:schemeClr val="tx1"/>
                          </a:solidFill>
                          <a:latin typeface="微軟正黑體" panose="020B0604030504040204" pitchFamily="34" charset="-120"/>
                          <a:ea typeface="微軟正黑體" panose="020B0604030504040204" pitchFamily="34" charset="-120"/>
                        </a:rPr>
                        <a:t>依</a:t>
                      </a:r>
                      <a:r>
                        <a:rPr lang="en-US" altLang="zh-TW" sz="1300" dirty="0">
                          <a:solidFill>
                            <a:schemeClr val="tx1"/>
                          </a:solidFill>
                          <a:latin typeface="微軟正黑體" panose="020B0604030504040204" pitchFamily="34" charset="-120"/>
                          <a:ea typeface="微軟正黑體" panose="020B0604030504040204" pitchFamily="34" charset="-120"/>
                        </a:rPr>
                        <a:t>CPU</a:t>
                      </a:r>
                      <a:r>
                        <a:rPr lang="zh-TW" altLang="en-US" sz="1300" dirty="0">
                          <a:solidFill>
                            <a:schemeClr val="tx1"/>
                          </a:solidFill>
                          <a:latin typeface="微軟正黑體" panose="020B0604030504040204" pitchFamily="34" charset="-120"/>
                          <a:ea typeface="微軟正黑體" panose="020B0604030504040204" pitchFamily="34" charset="-120"/>
                        </a:rPr>
                        <a:t>或</a:t>
                      </a:r>
                      <a:r>
                        <a:rPr lang="en-US" altLang="zh-TW" sz="1300" dirty="0">
                          <a:solidFill>
                            <a:schemeClr val="tx1"/>
                          </a:solidFill>
                          <a:latin typeface="微軟正黑體" panose="020B0604030504040204" pitchFamily="34" charset="-120"/>
                          <a:ea typeface="微軟正黑體" panose="020B0604030504040204" pitchFamily="34" charset="-120"/>
                        </a:rPr>
                        <a:t>RAM</a:t>
                      </a:r>
                      <a:r>
                        <a:rPr lang="zh-TW" altLang="en-US" sz="1300" dirty="0">
                          <a:solidFill>
                            <a:schemeClr val="tx1"/>
                          </a:solidFill>
                          <a:latin typeface="微軟正黑體" panose="020B0604030504040204" pitchFamily="34" charset="-120"/>
                          <a:ea typeface="微軟正黑體" panose="020B0604030504040204" pitchFamily="34" charset="-120"/>
                        </a:rPr>
                        <a:t>之倍數取大者類推</a:t>
                      </a:r>
                      <a:r>
                        <a:rPr lang="en-US" altLang="zh-TW" sz="1300" dirty="0">
                          <a:solidFill>
                            <a:schemeClr val="tx1"/>
                          </a:solidFill>
                          <a:latin typeface="微軟正黑體" panose="020B0604030504040204" pitchFamily="34" charset="-120"/>
                          <a:ea typeface="微軟正黑體" panose="020B0604030504040204" pitchFamily="34" charset="-120"/>
                        </a:rPr>
                        <a:t>)</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3.5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2</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7</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3768789830"/>
                  </a:ext>
                </a:extLst>
              </a:tr>
              <a:tr h="385637">
                <a:tc rowSpan="3">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2.</a:t>
                      </a:r>
                      <a:r>
                        <a:rPr lang="zh-TW" altLang="en-US" sz="1300" dirty="0">
                          <a:solidFill>
                            <a:schemeClr val="tx1"/>
                          </a:solidFill>
                          <a:latin typeface="微軟正黑體" panose="020B0604030504040204" pitchFamily="34" charset="-120"/>
                          <a:ea typeface="微軟正黑體" panose="020B0604030504040204" pitchFamily="34" charset="-120"/>
                        </a:rPr>
                        <a:t>作業系統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dirty="0">
                          <a:solidFill>
                            <a:schemeClr val="tx1"/>
                          </a:solidFill>
                          <a:effectLst/>
                          <a:latin typeface="微軟正黑體" panose="020B0604030504040204" pitchFamily="34" charset="-120"/>
                          <a:ea typeface="微軟正黑體" panose="020B0604030504040204" pitchFamily="34" charset="-120"/>
                        </a:rPr>
                        <a:t>Windows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VM</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OS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rPr>
                        <a:t>3.2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646665172"/>
                  </a:ext>
                </a:extLst>
              </a:tr>
              <a:tr h="385637">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062185961"/>
                  </a:ext>
                </a:extLst>
              </a:tr>
              <a:tr h="385637">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707062184"/>
                  </a:ext>
                </a:extLst>
              </a:tr>
              <a:tr h="385637">
                <a:tc rowSpan="2">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3.</a:t>
                      </a:r>
                      <a:r>
                        <a:rPr lang="zh-TW" altLang="en-US" sz="1300" dirty="0">
                          <a:solidFill>
                            <a:schemeClr val="tx1"/>
                          </a:solidFill>
                          <a:latin typeface="微軟正黑體" panose="020B0604030504040204" pitchFamily="34" charset="-120"/>
                          <a:ea typeface="微軟正黑體" panose="020B0604030504040204" pitchFamily="34" charset="-120"/>
                        </a:rPr>
                        <a:t>儲存空間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rPr>
                        <a:t>Unity SSD</a:t>
                      </a:r>
                      <a:r>
                        <a:rPr lang="zh-TW" altLang="zh-TW" sz="1300" b="0" kern="100" dirty="0">
                          <a:solidFill>
                            <a:schemeClr val="tx1"/>
                          </a:solidFill>
                          <a:effectLst/>
                          <a:latin typeface="微軟正黑體" panose="020B0604030504040204" pitchFamily="34" charset="-120"/>
                          <a:ea typeface="微軟正黑體" panose="020B0604030504040204" pitchFamily="34" charset="-120"/>
                        </a:rPr>
                        <a:t>快速磁碟</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 1TB</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16</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2</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32</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831443901"/>
                  </a:ext>
                </a:extLst>
              </a:tr>
              <a:tr h="385637">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rPr>
                        <a:t>DD</a:t>
                      </a:r>
                      <a:r>
                        <a:rPr lang="zh-TW" altLang="zh-TW" sz="1300" b="0" kern="100" dirty="0">
                          <a:solidFill>
                            <a:schemeClr val="tx1"/>
                          </a:solidFill>
                          <a:effectLst/>
                          <a:latin typeface="微軟正黑體" panose="020B0604030504040204" pitchFamily="34" charset="-120"/>
                          <a:ea typeface="微軟正黑體" panose="020B0604030504040204" pitchFamily="34" charset="-120"/>
                        </a:rPr>
                        <a:t>備份空間</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 1TB</a:t>
                      </a:r>
                      <a:r>
                        <a:rPr lang="zh-TW" altLang="en-US" sz="1300" b="0" kern="100" dirty="0">
                          <a:solidFill>
                            <a:schemeClr val="tx1"/>
                          </a:solidFill>
                          <a:effectLst/>
                          <a:latin typeface="微軟正黑體" panose="020B0604030504040204" pitchFamily="34" charset="-120"/>
                          <a:ea typeface="微軟正黑體" panose="020B0604030504040204" pitchFamily="34" charset="-120"/>
                        </a:rPr>
                        <a:t> </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(DD</a:t>
                      </a:r>
                      <a:r>
                        <a:rPr lang="zh-TW" altLang="en-US" sz="1300" b="0" kern="100" dirty="0">
                          <a:solidFill>
                            <a:schemeClr val="tx1"/>
                          </a:solidFill>
                          <a:effectLst/>
                          <a:latin typeface="微軟正黑體" panose="020B0604030504040204" pitchFamily="34" charset="-120"/>
                          <a:ea typeface="微軟正黑體" panose="020B0604030504040204" pitchFamily="34" charset="-120"/>
                        </a:rPr>
                        <a:t>與使用空間</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1:1)</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14.5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2</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29</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108702817"/>
                  </a:ext>
                </a:extLst>
              </a:tr>
              <a:tr h="385637">
                <a:tc rowSpan="2">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4.</a:t>
                      </a:r>
                      <a:r>
                        <a:rPr lang="zh-TW" altLang="en-US" sz="1300" dirty="0">
                          <a:solidFill>
                            <a:schemeClr val="tx1"/>
                          </a:solidFill>
                          <a:latin typeface="微軟正黑體" panose="020B0604030504040204" pitchFamily="34" charset="-120"/>
                          <a:ea typeface="微軟正黑體" panose="020B0604030504040204" pitchFamily="34" charset="-120"/>
                        </a:rPr>
                        <a:t>其他授權</a:t>
                      </a:r>
                      <a:endParaRPr lang="en-US" altLang="zh-TW" sz="13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2101228533"/>
                  </a:ext>
                </a:extLst>
              </a:tr>
              <a:tr h="385637">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1.9</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6667684"/>
                  </a:ext>
                </a:extLst>
              </a:tr>
              <a:tr h="459009">
                <a:tc gridSpan="3">
                  <a:txBody>
                    <a:bodyPr/>
                    <a:lstStyle/>
                    <a:p>
                      <a:pPr algn="ctr"/>
                      <a:r>
                        <a:rPr lang="zh-TW" altLang="en-US" sz="1400" b="1" dirty="0">
                          <a:solidFill>
                            <a:schemeClr val="tx1"/>
                          </a:solidFill>
                          <a:latin typeface="微軟正黑體" panose="020B0604030504040204" pitchFamily="34" charset="-120"/>
                          <a:ea typeface="微軟正黑體" panose="020B0604030504040204" pitchFamily="34" charset="-120"/>
                        </a:rPr>
                        <a:t>隱形成本總金額</a:t>
                      </a:r>
                      <a:r>
                        <a:rPr lang="en-US" altLang="zh-TW" sz="1400" b="1" dirty="0">
                          <a:solidFill>
                            <a:schemeClr val="tx1"/>
                          </a:solidFill>
                          <a:latin typeface="微軟正黑體" panose="020B0604030504040204" pitchFamily="34" charset="-120"/>
                          <a:ea typeface="微軟正黑體" panose="020B0604030504040204" pitchFamily="34" charset="-120"/>
                        </a:rPr>
                        <a:t>(</a:t>
                      </a:r>
                      <a:r>
                        <a:rPr lang="zh-TW" altLang="en-US" sz="1400" b="1" dirty="0">
                          <a:solidFill>
                            <a:schemeClr val="tx1"/>
                          </a:solidFill>
                          <a:latin typeface="微軟正黑體" panose="020B0604030504040204" pitchFamily="34" charset="-120"/>
                          <a:ea typeface="微軟正黑體" panose="020B0604030504040204" pitchFamily="34" charset="-120"/>
                        </a:rPr>
                        <a:t>萬元</a:t>
                      </a:r>
                      <a:r>
                        <a:rPr lang="en-US" altLang="zh-TW" sz="1400" b="1" dirty="0">
                          <a:solidFill>
                            <a:schemeClr val="tx1"/>
                          </a:solidFill>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TW" sz="12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1"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71.2</a:t>
                      </a:r>
                      <a:endParaRPr lang="zh-TW" altLang="zh-TW" sz="1300" b="1"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946243"/>
                  </a:ext>
                </a:extLst>
              </a:tr>
            </a:tbl>
          </a:graphicData>
        </a:graphic>
      </p:graphicFrame>
      <p:sp>
        <p:nvSpPr>
          <p:cNvPr id="4" name="文字方塊 3">
            <a:extLst>
              <a:ext uri="{FF2B5EF4-FFF2-40B4-BE49-F238E27FC236}">
                <a16:creationId xmlns:a16="http://schemas.microsoft.com/office/drawing/2014/main" id="{91E91E92-8496-D1EC-D817-FD405EDFBF6D}"/>
              </a:ext>
            </a:extLst>
          </p:cNvPr>
          <p:cNvSpPr txBox="1"/>
          <p:nvPr/>
        </p:nvSpPr>
        <p:spPr>
          <a:xfrm>
            <a:off x="312622" y="5856747"/>
            <a:ext cx="8336193" cy="338554"/>
          </a:xfrm>
          <a:prstGeom prst="rect">
            <a:avLst/>
          </a:prstGeom>
          <a:noFill/>
        </p:spPr>
        <p:txBody>
          <a:bodyPr wrap="square" rtlCol="0">
            <a:spAutoFit/>
          </a:bodyPr>
          <a:lstStyle/>
          <a:p>
            <a:pPr>
              <a:spcAft>
                <a:spcPts val="1200"/>
              </a:spcAft>
            </a:pPr>
            <a:r>
              <a:rPr lang="zh-TW" altLang="en-US" sz="1600" b="0" dirty="0">
                <a:latin typeface="微軟正黑體" panose="020B0604030504040204" pitchFamily="34" charset="-120"/>
                <a:ea typeface="微軟正黑體" panose="020B0604030504040204" pitchFamily="34" charset="-120"/>
              </a:rPr>
              <a:t>註：未揭露系統隱形成本專案，應於專案成本內包含系統軟硬體設備</a:t>
            </a:r>
            <a:r>
              <a:rPr lang="en-US" altLang="zh-TW" sz="1600" b="0" dirty="0">
                <a:latin typeface="微軟正黑體" panose="020B0604030504040204" pitchFamily="34" charset="-120"/>
                <a:ea typeface="微軟正黑體" panose="020B0604030504040204" pitchFamily="34" charset="-120"/>
              </a:rPr>
              <a:t>(</a:t>
            </a:r>
            <a:r>
              <a:rPr lang="zh-TW" altLang="en-US" sz="1600" b="0" dirty="0">
                <a:latin typeface="微軟正黑體" panose="020B0604030504040204" pitchFamily="34" charset="-120"/>
                <a:ea typeface="微軟正黑體" panose="020B0604030504040204" pitchFamily="34" charset="-120"/>
              </a:rPr>
              <a:t>含各項授權</a:t>
            </a:r>
            <a:r>
              <a:rPr lang="en-US" altLang="zh-TW" sz="1600" b="0" dirty="0">
                <a:latin typeface="微軟正黑體" panose="020B0604030504040204" pitchFamily="34" charset="-120"/>
                <a:ea typeface="微軟正黑體" panose="020B0604030504040204" pitchFamily="34" charset="-120"/>
              </a:rPr>
              <a:t>)</a:t>
            </a:r>
          </a:p>
        </p:txBody>
      </p:sp>
      <p:sp>
        <p:nvSpPr>
          <p:cNvPr id="5" name="文字方塊 4">
            <a:extLst>
              <a:ext uri="{FF2B5EF4-FFF2-40B4-BE49-F238E27FC236}">
                <a16:creationId xmlns:a16="http://schemas.microsoft.com/office/drawing/2014/main" id="{14D8B6F1-411B-B429-A445-D659C837A2D9}"/>
              </a:ext>
            </a:extLst>
          </p:cNvPr>
          <p:cNvSpPr txBox="1"/>
          <p:nvPr/>
        </p:nvSpPr>
        <p:spPr>
          <a:xfrm>
            <a:off x="230630" y="864728"/>
            <a:ext cx="8470457" cy="707886"/>
          </a:xfrm>
          <a:prstGeom prst="rect">
            <a:avLst/>
          </a:prstGeom>
          <a:noFill/>
        </p:spPr>
        <p:txBody>
          <a:bodyPr wrap="square" rtlCol="0">
            <a:spAutoFit/>
          </a:bodyPr>
          <a:lstStyle/>
          <a:p>
            <a:pPr marL="269875" indent="-269875">
              <a:spcAft>
                <a:spcPts val="1200"/>
              </a:spcAft>
              <a:buFont typeface="Arial" panose="020B0604020202020204" pitchFamily="34" charset="0"/>
              <a:buChar char="•"/>
            </a:pPr>
            <a:r>
              <a:rPr lang="zh-TW" altLang="en-US" sz="2000" b="0" dirty="0">
                <a:latin typeface="微軟正黑體" panose="020B0604030504040204" pitchFamily="34" charset="-120"/>
                <a:ea typeface="微軟正黑體" panose="020B0604030504040204" pitchFamily="34" charset="-120"/>
              </a:rPr>
              <a:t>使用既有設備請評估所需品項</a:t>
            </a:r>
            <a:r>
              <a:rPr lang="en-US" altLang="zh-TW" sz="2000" b="0" dirty="0">
                <a:latin typeface="微軟正黑體" panose="020B0604030504040204" pitchFamily="34" charset="-120"/>
                <a:ea typeface="微軟正黑體" panose="020B0604030504040204" pitchFamily="34" charset="-120"/>
              </a:rPr>
              <a:t>/</a:t>
            </a:r>
            <a:r>
              <a:rPr lang="zh-TW" altLang="en-US" sz="2000" b="0" dirty="0">
                <a:latin typeface="微軟正黑體" panose="020B0604030504040204" pitchFamily="34" charset="-120"/>
                <a:ea typeface="微軟正黑體" panose="020B0604030504040204" pitchFamily="34" charset="-120"/>
              </a:rPr>
              <a:t>單位，依以下表格填寫「申請單位數」並試算金額，請務必於</a:t>
            </a:r>
            <a:r>
              <a:rPr lang="zh-TW" altLang="en-US" sz="2000" b="0" dirty="0">
                <a:highlight>
                  <a:srgbClr val="FFFF00"/>
                </a:highlight>
                <a:latin typeface="微軟正黑體" panose="020B0604030504040204" pitchFamily="34" charset="-120"/>
                <a:ea typeface="微軟正黑體" panose="020B0604030504040204" pitchFamily="34" charset="-120"/>
              </a:rPr>
              <a:t>架構審議報告內檢附</a:t>
            </a:r>
            <a:endParaRPr lang="en-US" altLang="zh-TW" sz="2000" b="0" dirty="0">
              <a:highlight>
                <a:srgbClr val="FFFF00"/>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9240391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2CC3CF-C35A-CCE8-99BA-C1610955851C}"/>
              </a:ext>
            </a:extLst>
          </p:cNvPr>
          <p:cNvSpPr>
            <a:spLocks noGrp="1"/>
          </p:cNvSpPr>
          <p:nvPr>
            <p:ph type="title"/>
          </p:nvPr>
        </p:nvSpPr>
        <p:spPr>
          <a:xfrm>
            <a:off x="165457" y="147918"/>
            <a:ext cx="8231650" cy="622580"/>
          </a:xfrm>
        </p:spPr>
        <p:txBody>
          <a:bodyPr/>
          <a:lstStyle/>
          <a:p>
            <a:r>
              <a:rPr lang="zh-TW" altLang="en-US" sz="2800" dirty="0">
                <a:latin typeface="微軟正黑體" panose="020B0604030504040204" pitchFamily="34" charset="-120"/>
                <a:ea typeface="微軟正黑體" panose="020B0604030504040204" pitchFamily="34" charset="-120"/>
              </a:rPr>
              <a:t>附錄</a:t>
            </a:r>
            <a:r>
              <a:rPr lang="en-US" altLang="zh-TW" sz="2800" dirty="0">
                <a:latin typeface="微軟正黑體" panose="020B0604030504040204" pitchFamily="34" charset="-120"/>
                <a:ea typeface="微軟正黑體" panose="020B0604030504040204" pitchFamily="34" charset="-120"/>
              </a:rPr>
              <a:t>1</a:t>
            </a:r>
            <a:r>
              <a:rPr lang="zh-TW" altLang="en-US" sz="2800" dirty="0">
                <a:latin typeface="微軟正黑體" panose="020B0604030504040204" pitchFamily="34" charset="-120"/>
                <a:ea typeface="微軟正黑體" panose="020B0604030504040204" pitchFamily="34" charset="-120"/>
              </a:rPr>
              <a:t>：自行採購之系統軟硬體價格參考</a:t>
            </a:r>
          </a:p>
        </p:txBody>
      </p:sp>
      <p:graphicFrame>
        <p:nvGraphicFramePr>
          <p:cNvPr id="3" name="表格 2">
            <a:extLst>
              <a:ext uri="{FF2B5EF4-FFF2-40B4-BE49-F238E27FC236}">
                <a16:creationId xmlns:a16="http://schemas.microsoft.com/office/drawing/2014/main" id="{E7356468-F22B-6550-F5C5-BF4736C21A01}"/>
              </a:ext>
            </a:extLst>
          </p:cNvPr>
          <p:cNvGraphicFramePr>
            <a:graphicFrameLocks noGrp="1"/>
          </p:cNvGraphicFramePr>
          <p:nvPr>
            <p:extLst>
              <p:ext uri="{D42A27DB-BD31-4B8C-83A1-F6EECF244321}">
                <p14:modId xmlns:p14="http://schemas.microsoft.com/office/powerpoint/2010/main" val="8148883"/>
              </p:ext>
            </p:extLst>
          </p:nvPr>
        </p:nvGraphicFramePr>
        <p:xfrm>
          <a:off x="322214" y="1563293"/>
          <a:ext cx="7889966" cy="3748941"/>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1956526871"/>
                    </a:ext>
                  </a:extLst>
                </a:gridCol>
                <a:gridCol w="1489166">
                  <a:extLst>
                    <a:ext uri="{9D8B030D-6E8A-4147-A177-3AD203B41FA5}">
                      <a16:colId xmlns:a16="http://schemas.microsoft.com/office/drawing/2014/main" val="998222031"/>
                    </a:ext>
                  </a:extLst>
                </a:gridCol>
              </a:tblGrid>
              <a:tr h="600480">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品項</a:t>
                      </a:r>
                      <a:r>
                        <a:rPr lang="en-US" altLang="zh-TW" sz="1600" dirty="0">
                          <a:solidFill>
                            <a:schemeClr val="bg1"/>
                          </a:solidFill>
                          <a:latin typeface="微軟正黑體" panose="020B0604030504040204" pitchFamily="34" charset="-120"/>
                          <a:ea typeface="微軟正黑體" panose="020B0604030504040204" pitchFamily="34" charset="-120"/>
                        </a:rPr>
                        <a:t>/</a:t>
                      </a:r>
                      <a:r>
                        <a:rPr lang="zh-TW" altLang="en-US" sz="1600" dirty="0">
                          <a:solidFill>
                            <a:schemeClr val="bg1"/>
                          </a:solidFill>
                          <a:latin typeface="微軟正黑體" panose="020B0604030504040204" pitchFamily="34" charset="-120"/>
                          <a:ea typeface="微軟正黑體" panose="020B0604030504040204" pitchFamily="34" charset="-120"/>
                        </a:rPr>
                        <a:t>單位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單價參考</a:t>
                      </a:r>
                      <a:endParaRPr lang="en-US" altLang="zh-TW" sz="1600" dirty="0">
                        <a:solidFill>
                          <a:schemeClr val="bg1"/>
                        </a:solidFill>
                        <a:latin typeface="微軟正黑體" panose="020B0604030504040204" pitchFamily="34" charset="-120"/>
                        <a:ea typeface="微軟正黑體" panose="020B0604030504040204" pitchFamily="34" charset="-120"/>
                      </a:endParaRPr>
                    </a:p>
                    <a:p>
                      <a:pPr algn="ctr"/>
                      <a:r>
                        <a:rPr lang="en-US" altLang="zh-TW" sz="1600" dirty="0">
                          <a:solidFill>
                            <a:schemeClr val="bg1"/>
                          </a:solidFill>
                          <a:latin typeface="微軟正黑體" panose="020B0604030504040204" pitchFamily="34" charset="-120"/>
                          <a:ea typeface="微軟正黑體" panose="020B0604030504040204" pitchFamily="34" charset="-120"/>
                        </a:rPr>
                        <a:t>(</a:t>
                      </a:r>
                      <a:r>
                        <a:rPr lang="zh-TW" altLang="en-US" sz="1600" dirty="0">
                          <a:solidFill>
                            <a:schemeClr val="bg1"/>
                          </a:solidFill>
                          <a:latin typeface="微軟正黑體" panose="020B0604030504040204" pitchFamily="34" charset="-120"/>
                          <a:ea typeface="微軟正黑體" panose="020B0604030504040204" pitchFamily="34" charset="-120"/>
                        </a:rPr>
                        <a:t>新台幣萬元</a:t>
                      </a:r>
                      <a:r>
                        <a:rPr lang="en-US" altLang="zh-TW" sz="1600" dirty="0">
                          <a:solidFill>
                            <a:schemeClr val="bg1"/>
                          </a:solidFill>
                          <a:latin typeface="微軟正黑體" panose="020B0604030504040204" pitchFamily="34" charset="-120"/>
                          <a:ea typeface="微軟正黑體" panose="020B0604030504040204" pitchFamily="34" charset="-120"/>
                        </a:rPr>
                        <a:t>)</a:t>
                      </a:r>
                      <a:endParaRPr lang="zh-TW" altLang="en-US" sz="1600"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400936685"/>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2022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含</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年維護</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(VM</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需加購維護</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最低消費為</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 core)</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17.1</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8789830"/>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2022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實體機</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10</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6665172"/>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2022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ENT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含</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年維護</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(VM</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需加購維護</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66</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2185961"/>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2022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ENT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實體機</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38</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62184"/>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2022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套</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需搭配加購</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User</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CAL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個</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2.5</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443901"/>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SQL</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Server User</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CAL</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0.6</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702817"/>
                  </a:ext>
                </a:extLst>
              </a:tr>
              <a:tr h="349829">
                <a:tc>
                  <a:txBody>
                    <a:bodyPr/>
                    <a:lstStyle/>
                    <a:p>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Win 2025 Server STD 2 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實體機</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0.37</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1228533"/>
                  </a:ext>
                </a:extLst>
              </a:tr>
              <a:tr h="3498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Win 2025 Server </a:t>
                      </a:r>
                      <a:r>
                        <a:rPr lang="en-US" altLang="zh-TW" sz="16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DataCenter</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2 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實體機</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2.1</a:t>
                      </a:r>
                      <a:endParaRPr 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7684"/>
                  </a:ext>
                </a:extLst>
              </a:tr>
              <a:tr h="3498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Unity NLSAS</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慢速硬碟</a:t>
                      </a:r>
                      <a:r>
                        <a:rPr 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1TB</a:t>
                      </a:r>
                      <a:endPar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2.4</a:t>
                      </a:r>
                      <a:endPar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8704897"/>
                  </a:ext>
                </a:extLst>
              </a:tr>
            </a:tbl>
          </a:graphicData>
        </a:graphic>
      </p:graphicFrame>
      <p:sp>
        <p:nvSpPr>
          <p:cNvPr id="4" name="文字方塊 3">
            <a:extLst>
              <a:ext uri="{FF2B5EF4-FFF2-40B4-BE49-F238E27FC236}">
                <a16:creationId xmlns:a16="http://schemas.microsoft.com/office/drawing/2014/main" id="{55DDCF54-6112-6031-65C7-23E38D2B4248}"/>
              </a:ext>
            </a:extLst>
          </p:cNvPr>
          <p:cNvSpPr txBox="1"/>
          <p:nvPr/>
        </p:nvSpPr>
        <p:spPr>
          <a:xfrm>
            <a:off x="322214" y="5370794"/>
            <a:ext cx="8231650" cy="938719"/>
          </a:xfrm>
          <a:prstGeom prst="rect">
            <a:avLst/>
          </a:prstGeom>
          <a:noFill/>
        </p:spPr>
        <p:txBody>
          <a:bodyPr wrap="square" rtlCol="0">
            <a:spAutoFit/>
          </a:bodyPr>
          <a:lstStyle/>
          <a:p>
            <a:pPr>
              <a:spcAft>
                <a:spcPts val="600"/>
              </a:spcAft>
            </a:pPr>
            <a:r>
              <a:rPr lang="zh-TW" altLang="en-US" sz="1500" b="0" kern="100" dirty="0">
                <a:latin typeface="微軟正黑體" panose="020B0604030504040204" pitchFamily="34" charset="-120"/>
                <a:ea typeface="微軟正黑體" panose="020B0604030504040204" pitchFamily="34" charset="-120"/>
                <a:cs typeface="Times New Roman" panose="02020603050405020304" pitchFamily="18" charset="0"/>
              </a:rPr>
              <a:t>備註：</a:t>
            </a:r>
            <a:endParaRPr lang="en-US" altLang="zh-TW" sz="1500" b="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a:spcAft>
                <a:spcPts val="600"/>
              </a:spcAft>
            </a:pPr>
            <a:r>
              <a:rPr lang="en-US" altLang="zh-TW" sz="1500" b="0" kern="1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1500" b="0" kern="100" dirty="0">
                <a:latin typeface="微軟正黑體" panose="020B0604030504040204" pitchFamily="34" charset="-120"/>
                <a:ea typeface="微軟正黑體" panose="020B0604030504040204" pitchFamily="34" charset="-120"/>
                <a:cs typeface="Times New Roman" panose="02020603050405020304" pitchFamily="18" charset="0"/>
              </a:rPr>
              <a:t>實際價格依系統管理科洽廠商報價為主</a:t>
            </a:r>
            <a:endParaRPr lang="en-US" altLang="zh-TW" sz="1500" b="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a:spcAft>
                <a:spcPts val="600"/>
              </a:spcAft>
            </a:pPr>
            <a:r>
              <a:rPr lang="en-US" altLang="zh-TW" sz="1500" b="0" kern="100" dirty="0">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1500" b="0" dirty="0">
                <a:latin typeface="微軟正黑體" panose="020B0604030504040204" pitchFamily="34" charset="-120"/>
                <a:ea typeface="微軟正黑體" panose="020B0604030504040204" pitchFamily="34" charset="-120"/>
              </a:rPr>
              <a:t>實體機的作業系統需配合機器一同採購，故不在系統隱形成本計算範疇中</a:t>
            </a:r>
            <a:endParaRPr lang="en-US" altLang="zh-TW" sz="1500" b="0"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C16846B3-EA10-3A7C-AB54-42C9AC8D72B4}"/>
              </a:ext>
            </a:extLst>
          </p:cNvPr>
          <p:cNvSpPr txBox="1"/>
          <p:nvPr/>
        </p:nvSpPr>
        <p:spPr>
          <a:xfrm>
            <a:off x="212335" y="910052"/>
            <a:ext cx="8231650" cy="584775"/>
          </a:xfrm>
          <a:prstGeom prst="rect">
            <a:avLst/>
          </a:prstGeom>
          <a:noFill/>
        </p:spPr>
        <p:txBody>
          <a:bodyPr wrap="square" rtlCol="0">
            <a:spAutoFit/>
          </a:bodyPr>
          <a:lstStyle/>
          <a:p>
            <a:pPr>
              <a:spcAft>
                <a:spcPts val="1200"/>
              </a:spcAft>
            </a:pPr>
            <a:r>
              <a:rPr lang="zh-TW" altLang="en-US" sz="1600" b="0" dirty="0">
                <a:latin typeface="微軟正黑體" panose="020B0604030504040204" pitchFamily="34" charset="-120"/>
                <a:ea typeface="微軟正黑體" panose="020B0604030504040204" pitchFamily="34" charset="-120"/>
              </a:rPr>
              <a:t>計算方式參考：如請購實體機</a:t>
            </a:r>
            <a:r>
              <a:rPr lang="en-US" altLang="zh-TW" sz="1600" b="0" dirty="0">
                <a:latin typeface="微軟正黑體" panose="020B0604030504040204" pitchFamily="34" charset="-120"/>
                <a:ea typeface="微軟正黑體" panose="020B0604030504040204" pitchFamily="34" charset="-120"/>
              </a:rPr>
              <a:t>2</a:t>
            </a:r>
            <a:r>
              <a:rPr lang="zh-TW" altLang="en-US" sz="1600" b="0" dirty="0">
                <a:latin typeface="微軟正黑體" panose="020B0604030504040204" pitchFamily="34" charset="-120"/>
                <a:ea typeface="微軟正黑體" panose="020B0604030504040204" pitchFamily="34" charset="-120"/>
              </a:rPr>
              <a:t>顆</a:t>
            </a:r>
            <a:r>
              <a:rPr lang="en-US" altLang="zh-TW" sz="1600" b="0" dirty="0">
                <a:latin typeface="微軟正黑體" panose="020B0604030504040204" pitchFamily="34" charset="-120"/>
                <a:ea typeface="微軟正黑體" panose="020B0604030504040204" pitchFamily="34" charset="-120"/>
              </a:rPr>
              <a:t>CPU(</a:t>
            </a:r>
            <a:r>
              <a:rPr lang="zh-TW" altLang="en-US" sz="1600" b="0" dirty="0">
                <a:latin typeface="微軟正黑體" panose="020B0604030504040204" pitchFamily="34" charset="-120"/>
                <a:ea typeface="微軟正黑體" panose="020B0604030504040204" pitchFamily="34" charset="-120"/>
              </a:rPr>
              <a:t>每顆</a:t>
            </a:r>
            <a:r>
              <a:rPr lang="en-US" altLang="zh-TW" sz="1600" b="0" dirty="0">
                <a:latin typeface="微軟正黑體" panose="020B0604030504040204" pitchFamily="34" charset="-120"/>
                <a:ea typeface="微軟正黑體" panose="020B0604030504040204" pitchFamily="34" charset="-120"/>
              </a:rPr>
              <a:t>16 core )</a:t>
            </a:r>
            <a:r>
              <a:rPr lang="zh-TW" altLang="en-US" sz="1600" b="0" dirty="0">
                <a:latin typeface="微軟正黑體" panose="020B0604030504040204" pitchFamily="34" charset="-120"/>
                <a:ea typeface="微軟正黑體" panose="020B0604030504040204" pitchFamily="34" charset="-120"/>
              </a:rPr>
              <a:t>，合計</a:t>
            </a:r>
            <a:r>
              <a:rPr lang="en-US" altLang="zh-TW" sz="1600" b="0" dirty="0">
                <a:latin typeface="微軟正黑體" panose="020B0604030504040204" pitchFamily="34" charset="-120"/>
                <a:ea typeface="微軟正黑體" panose="020B0604030504040204" pitchFamily="34" charset="-120"/>
              </a:rPr>
              <a:t>32 core</a:t>
            </a:r>
            <a:r>
              <a:rPr lang="zh-TW" altLang="en-US" sz="1600" b="0" dirty="0">
                <a:latin typeface="微軟正黑體" panose="020B0604030504040204" pitchFamily="34" charset="-120"/>
                <a:ea typeface="微軟正黑體" panose="020B0604030504040204" pitchFamily="34" charset="-120"/>
              </a:rPr>
              <a:t>，且係採用</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Win 2025 Server STD 2 core(</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實體機</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b="0" kern="100" dirty="0">
                <a:latin typeface="微軟正黑體" panose="020B0604030504040204" pitchFamily="34" charset="-120"/>
                <a:ea typeface="微軟正黑體" panose="020B0604030504040204" pitchFamily="34" charset="-120"/>
                <a:cs typeface="Times New Roman" panose="02020603050405020304" pitchFamily="18" charset="0"/>
              </a:rPr>
              <a:t>則請購</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金額</a:t>
            </a:r>
            <a:r>
              <a:rPr lang="zh-TW" altLang="en-US" sz="1600" b="0" kern="100" dirty="0">
                <a:latin typeface="微軟正黑體" panose="020B0604030504040204" pitchFamily="34" charset="-120"/>
                <a:ea typeface="微軟正黑體" panose="020B0604030504040204" pitchFamily="34" charset="-120"/>
                <a:cs typeface="Times New Roman" panose="02020603050405020304" pitchFamily="18" charset="0"/>
              </a:rPr>
              <a:t>為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0.37</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萬元</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 16</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5.92</a:t>
            </a:r>
            <a:r>
              <a:rPr lang="zh-TW" altLang="en-US"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萬元</a:t>
            </a:r>
            <a:endParaRPr lang="en-US" altLang="zh-TW" sz="16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079626859"/>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件" ma:contentTypeID="0x0101003259A0A14F75594CB856133A4244302C" ma:contentTypeVersion="13" ma:contentTypeDescription="建立新的文件。" ma:contentTypeScope="" ma:versionID="2f759545ad648a507d1288b888671dd9">
  <xsd:schema xmlns:xsd="http://www.w3.org/2001/XMLSchema" xmlns:xs="http://www.w3.org/2001/XMLSchema" xmlns:p="http://schemas.microsoft.com/office/2006/metadata/properties" xmlns:ns2="8c347b5b-664f-4082-9567-437cbd15a340" targetNamespace="http://schemas.microsoft.com/office/2006/metadata/properties" ma:root="true" ma:fieldsID="da269bf44e8ec91b1882c3ddd8c3dd6c" ns2:_="">
    <xsd:import namespace="8c347b5b-664f-4082-9567-437cbd15a3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347b5b-664f-4082-9567-437cbd15a3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影像標籤" ma:readOnly="false" ma:fieldId="{5cf76f15-5ced-4ddc-b409-7134ff3c332f}" ma:taxonomyMulti="true" ma:sspId="b6f1147d-4a84-4851-ac23-a90e0e54e3b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347b5b-664f-4082-9567-437cbd15a34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D329261-C440-4C79-BC11-B80154B0CBA3}"/>
</file>

<file path=customXml/itemProps2.xml><?xml version="1.0" encoding="utf-8"?>
<ds:datastoreItem xmlns:ds="http://schemas.openxmlformats.org/officeDocument/2006/customXml" ds:itemID="{81B1CB9F-ECAA-478C-BA1E-EAAC6A4FBEF3}"/>
</file>

<file path=customXml/itemProps3.xml><?xml version="1.0" encoding="utf-8"?>
<ds:datastoreItem xmlns:ds="http://schemas.openxmlformats.org/officeDocument/2006/customXml" ds:itemID="{C10B9A09-3CB0-410E-A08C-95651E8B22C9}"/>
</file>

<file path=docProps/app.xml><?xml version="1.0" encoding="utf-8"?>
<Properties xmlns="http://schemas.openxmlformats.org/officeDocument/2006/extended-properties" xmlns:vt="http://schemas.openxmlformats.org/officeDocument/2006/docPropsVTypes">
  <Template>Universal Template</Template>
  <TotalTime>22626</TotalTime>
  <Words>757</Words>
  <Application>Microsoft Office PowerPoint</Application>
  <PresentationFormat>自訂</PresentationFormat>
  <Paragraphs>117</Paragraphs>
  <Slides>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vt:i4>
      </vt:variant>
    </vt:vector>
  </HeadingPairs>
  <TitlesOfParts>
    <vt:vector size="10" baseType="lpstr">
      <vt:lpstr>微軟正黑體</vt:lpstr>
      <vt:lpstr>新細明體</vt:lpstr>
      <vt:lpstr>Arial</vt:lpstr>
      <vt:lpstr>Times New Roman</vt:lpstr>
      <vt:lpstr>Wingdings</vt:lpstr>
      <vt:lpstr>Universal Template</vt:lpstr>
      <vt:lpstr>系統隱形成本揭露</vt:lpstr>
      <vt:lpstr>使用既有設備 vs 自行提簽</vt:lpstr>
      <vt:lpstr>架構審議報告檢附系統隱形成本 [表格範本]</vt:lpstr>
      <vt:lpstr>附錄1：自行採購之系統軟硬體價格參考</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劉宜依Tracy Liou-資訊管理部-永豐銀行</cp:lastModifiedBy>
  <cp:revision>1593</cp:revision>
  <cp:lastPrinted>2005-12-20T16:28:07Z</cp:lastPrinted>
  <dcterms:created xsi:type="dcterms:W3CDTF">2005-10-04T01:34:02Z</dcterms:created>
  <dcterms:modified xsi:type="dcterms:W3CDTF">2025-06-15T03:31:06Z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y fmtid="{D5CDD505-2E9C-101B-9397-08002B2CF9AE}" pid="14" name="MSIP_Label_5529e158-bf84-4518-9353-5cc8200d84fd_Enabled">
    <vt:lpwstr>true</vt:lpwstr>
  </property>
  <property fmtid="{D5CDD505-2E9C-101B-9397-08002B2CF9AE}" pid="15" name="MSIP_Label_5529e158-bf84-4518-9353-5cc8200d84fd_SetDate">
    <vt:lpwstr>2022-10-05T03:09:18Z</vt:lpwstr>
  </property>
  <property fmtid="{D5CDD505-2E9C-101B-9397-08002B2CF9AE}" pid="16" name="MSIP_Label_5529e158-bf84-4518-9353-5cc8200d84fd_Method">
    <vt:lpwstr>Standard</vt:lpwstr>
  </property>
  <property fmtid="{D5CDD505-2E9C-101B-9397-08002B2CF9AE}" pid="17" name="MSIP_Label_5529e158-bf84-4518-9353-5cc8200d84fd_Name">
    <vt:lpwstr>5529e158-bf84-4518-9353-5cc8200d84fd</vt:lpwstr>
  </property>
  <property fmtid="{D5CDD505-2E9C-101B-9397-08002B2CF9AE}" pid="18" name="MSIP_Label_5529e158-bf84-4518-9353-5cc8200d84fd_SiteId">
    <vt:lpwstr>217a5a3d-163a-4e8b-af1b-58fd7f92894f</vt:lpwstr>
  </property>
  <property fmtid="{D5CDD505-2E9C-101B-9397-08002B2CF9AE}" pid="19" name="MSIP_Label_5529e158-bf84-4518-9353-5cc8200d84fd_ActionId">
    <vt:lpwstr>006359a4-2bb7-40fd-86eb-b2a35a8024e2</vt:lpwstr>
  </property>
  <property fmtid="{D5CDD505-2E9C-101B-9397-08002B2CF9AE}" pid="20" name="MSIP_Label_5529e158-bf84-4518-9353-5cc8200d84fd_ContentBits">
    <vt:lpwstr>0</vt:lpwstr>
  </property>
  <property fmtid="{D5CDD505-2E9C-101B-9397-08002B2CF9AE}" pid="21" name="ContentTypeId">
    <vt:lpwstr>0x0101003259A0A14F75594CB856133A4244302C</vt:lpwstr>
  </property>
</Properties>
</file>