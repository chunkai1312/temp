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4"/>
  </p:sldMasterIdLst>
  <p:notesMasterIdLst>
    <p:notesMasterId r:id="rId17"/>
  </p:notesMasterIdLst>
  <p:sldIdLst>
    <p:sldId id="256" r:id="rId5"/>
    <p:sldId id="2147471201" r:id="rId6"/>
    <p:sldId id="2147471188" r:id="rId7"/>
    <p:sldId id="2147471191" r:id="rId8"/>
    <p:sldId id="2147471190" r:id="rId9"/>
    <p:sldId id="2147471193" r:id="rId10"/>
    <p:sldId id="2147471192" r:id="rId11"/>
    <p:sldId id="2147471195" r:id="rId12"/>
    <p:sldId id="2147471197" r:id="rId13"/>
    <p:sldId id="2147471198" r:id="rId14"/>
    <p:sldId id="2147471199" r:id="rId15"/>
    <p:sldId id="2147471202" r:id="rId16"/>
  </p:sldIdLst>
  <p:sldSz cx="11520488" cy="64801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hqKJAzFugGzrpaCdpbPJOL8Owfd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周立筠-數位金融部-證券" initials="MSOffice" lastIdx="1" clrIdx="0">
    <p:extLst>
      <p:ext uri="{19B8F6BF-5375-455C-9EA6-DF929625EA0E}">
        <p15:presenceInfo xmlns:p15="http://schemas.microsoft.com/office/powerpoint/2012/main" userId="周立筠-數位金融部-證券" providerId="None"/>
      </p:ext>
    </p:extLst>
  </p:cmAuthor>
  <p:cmAuthor id="2" name="吳憲驊-人力資源處-永豐銀行" initials="吳憲驊-人力資源處-永豐銀行" lastIdx="1" clrIdx="1">
    <p:extLst>
      <p:ext uri="{19B8F6BF-5375-455C-9EA6-DF929625EA0E}">
        <p15:presenceInfo xmlns:p15="http://schemas.microsoft.com/office/powerpoint/2012/main" userId="S::simonwu@sinopac.com::c372d5aa-c765-4280-a5c9-548c4152a5d4" providerId="AD"/>
      </p:ext>
    </p:extLst>
  </p:cmAuthor>
  <p:cmAuthor id="3" name="張天豪-數位金融處-永豐銀行" initials="張天豪-數位金融處-永豐銀行" lastIdx="1" clrIdx="2">
    <p:extLst>
      <p:ext uri="{19B8F6BF-5375-455C-9EA6-DF929625EA0E}">
        <p15:presenceInfo xmlns:p15="http://schemas.microsoft.com/office/powerpoint/2012/main" userId="S::darby@sinopac.com::0d835702-99c9-4ef6-82d8-3ca86d4ccc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2006"/>
    <a:srgbClr val="713F12"/>
    <a:srgbClr val="854D0E"/>
    <a:srgbClr val="A16207"/>
    <a:srgbClr val="CA8A04"/>
    <a:srgbClr val="EAB308"/>
    <a:srgbClr val="FACC15"/>
    <a:srgbClr val="FDE047"/>
    <a:srgbClr val="FEF08A"/>
    <a:srgbClr val="FEF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DB7C30-2B5D-4D34-8F22-85940E495A18}">
  <a:tblStyle styleId="{91DB7C30-2B5D-4D34-8F22-85940E495A1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8D87DB6-C1B6-446D-86CF-44D372F8A8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E2D07F-EAD9-47BB-8D15-AB9D181D91B3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2"/>
    <p:restoredTop sz="78802"/>
  </p:normalViewPr>
  <p:slideViewPr>
    <p:cSldViewPr snapToGrid="0">
      <p:cViewPr>
        <p:scale>
          <a:sx n="100" d="100"/>
          <a:sy n="100" d="100"/>
        </p:scale>
        <p:origin x="121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3" Type="http://schemas.openxmlformats.org/officeDocument/2006/relationships/commentAuthors" Target="commentAuthors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52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6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鄧昱辰-數位金融處-永豐銀行" userId="S::abnerden@sinopac.com::bac69c27-d65c-4a8e-9604-5b752fd98276" providerId="AD" clId="Web-{BD436DF0-F36C-3C10-2DF2-C064A6340344}"/>
    <pc:docChg chg="modSld">
      <pc:chgData name="鄧昱辰-數位金融處-永豐銀行" userId="S::abnerden@sinopac.com::bac69c27-d65c-4a8e-9604-5b752fd98276" providerId="AD" clId="Web-{BD436DF0-F36C-3C10-2DF2-C064A6340344}" dt="2025-07-02T08:48:48.862" v="4" actId="20577"/>
      <pc:docMkLst>
        <pc:docMk/>
      </pc:docMkLst>
      <pc:sldChg chg="modSp">
        <pc:chgData name="鄧昱辰-數位金融處-永豐銀行" userId="S::abnerden@sinopac.com::bac69c27-d65c-4a8e-9604-5b752fd98276" providerId="AD" clId="Web-{BD436DF0-F36C-3C10-2DF2-C064A6340344}" dt="2025-07-02T08:48:48.862" v="4" actId="20577"/>
        <pc:sldMkLst>
          <pc:docMk/>
          <pc:sldMk cId="4060586183" sldId="2147471188"/>
        </pc:sldMkLst>
      </pc:sldChg>
    </pc:docChg>
  </pc:docChgLst>
  <pc:docChgLst>
    <pc:chgData name="周立筠-數據應用部-永豐金證券" userId="ee349c15-f274-43a3-b0c9-48d528d95247" providerId="ADAL" clId="{60EF727E-7560-4199-9548-178954D6DF8E}"/>
    <pc:docChg chg="undo custSel modSld">
      <pc:chgData name="周立筠-數據應用部-永豐金證券" userId="ee349c15-f274-43a3-b0c9-48d528d95247" providerId="ADAL" clId="{60EF727E-7560-4199-9548-178954D6DF8E}" dt="2024-08-23T09:45:13.775" v="159" actId="14100"/>
      <pc:docMkLst>
        <pc:docMk/>
      </pc:docMkLst>
      <pc:sldChg chg="modSp addCm modCm">
        <pc:chgData name="周立筠-數據應用部-永豐金證券" userId="ee349c15-f274-43a3-b0c9-48d528d95247" providerId="ADAL" clId="{60EF727E-7560-4199-9548-178954D6DF8E}" dt="2024-08-23T09:28:50.074" v="151" actId="14100"/>
        <pc:sldMkLst>
          <pc:docMk/>
          <pc:sldMk cId="3262633635" sldId="297"/>
        </pc:sldMkLst>
      </pc:sldChg>
      <pc:sldChg chg="addSp delSp modSp">
        <pc:chgData name="周立筠-數據應用部-永豐金證券" userId="ee349c15-f274-43a3-b0c9-48d528d95247" providerId="ADAL" clId="{60EF727E-7560-4199-9548-178954D6DF8E}" dt="2024-08-23T09:45:13.775" v="159" actId="14100"/>
        <pc:sldMkLst>
          <pc:docMk/>
          <pc:sldMk cId="2826782116" sldId="298"/>
        </pc:sldMkLst>
      </pc:sldChg>
    </pc:docChg>
  </pc:docChgLst>
  <pc:docChgLst>
    <pc:chgData name="周立筠-數據應用部-永豐金證券" userId="ee349c15-f274-43a3-b0c9-48d528d95247" providerId="ADAL" clId="{3FB2CB3A-96A0-4538-BF95-B43B96849497}"/>
    <pc:docChg chg="undo custSel addSld modSld sldOrd">
      <pc:chgData name="周立筠-數據應用部-永豐金證券" userId="ee349c15-f274-43a3-b0c9-48d528d95247" providerId="ADAL" clId="{3FB2CB3A-96A0-4538-BF95-B43B96849497}" dt="2024-09-06T07:42:04.870" v="136" actId="20577"/>
      <pc:docMkLst>
        <pc:docMk/>
      </pc:docMkLst>
      <pc:sldChg chg="modSp ord">
        <pc:chgData name="周立筠-數據應用部-永豐金證券" userId="ee349c15-f274-43a3-b0c9-48d528d95247" providerId="ADAL" clId="{3FB2CB3A-96A0-4538-BF95-B43B96849497}" dt="2024-09-06T07:32:13.670" v="14" actId="20577"/>
        <pc:sldMkLst>
          <pc:docMk/>
          <pc:sldMk cId="2022153893" sldId="295"/>
        </pc:sldMkLst>
      </pc:sldChg>
      <pc:sldChg chg="ord">
        <pc:chgData name="周立筠-數據應用部-永豐金證券" userId="ee349c15-f274-43a3-b0c9-48d528d95247" providerId="ADAL" clId="{3FB2CB3A-96A0-4538-BF95-B43B96849497}" dt="2024-09-06T07:29:51.430" v="5" actId="20577"/>
        <pc:sldMkLst>
          <pc:docMk/>
          <pc:sldMk cId="4245503187" sldId="2147471171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31:40.591" v="11" actId="14734"/>
        <pc:sldMkLst>
          <pc:docMk/>
          <pc:sldMk cId="1504610650" sldId="2147471172"/>
        </pc:sldMkLst>
      </pc:sldChg>
      <pc:sldChg chg="addSp delSp modSp add">
        <pc:chgData name="周立筠-數據應用部-永豐金證券" userId="ee349c15-f274-43a3-b0c9-48d528d95247" providerId="ADAL" clId="{3FB2CB3A-96A0-4538-BF95-B43B96849497}" dt="2024-09-06T07:42:04.870" v="136" actId="20577"/>
        <pc:sldMkLst>
          <pc:docMk/>
          <pc:sldMk cId="3155411272" sldId="2147471173"/>
        </pc:sldMkLst>
      </pc:sldChg>
    </pc:docChg>
  </pc:docChgLst>
  <pc:docChgLst>
    <pc:chgData name="陳韋樺-數位科技處-永豐金控" userId="701130e9-61c9-4993-9d2b-72f9303521e5" providerId="ADAL" clId="{80DAA328-AAE6-42A8-AA4F-C352BC19A94D}"/>
    <pc:docChg chg="undo custSel modSld">
      <pc:chgData name="陳韋樺-數位科技處-永豐金控" userId="701130e9-61c9-4993-9d2b-72f9303521e5" providerId="ADAL" clId="{80DAA328-AAE6-42A8-AA4F-C352BC19A94D}" dt="2025-07-08T01:43:26.008" v="4" actId="20577"/>
      <pc:docMkLst>
        <pc:docMk/>
      </pc:docMkLst>
      <pc:sldChg chg="modSp mod">
        <pc:chgData name="陳韋樺-數位科技處-永豐金控" userId="701130e9-61c9-4993-9d2b-72f9303521e5" providerId="ADAL" clId="{80DAA328-AAE6-42A8-AA4F-C352BC19A94D}" dt="2025-07-08T01:43:26.008" v="4" actId="20577"/>
        <pc:sldMkLst>
          <pc:docMk/>
          <pc:sldMk cId="0" sldId="256"/>
        </pc:sldMkLst>
      </pc:sldChg>
    </pc:docChg>
  </pc:docChgLst>
  <pc:docChgLst>
    <pc:chgData name="張天豪-數位金融處-永豐銀行" userId="0d835702-99c9-4ef6-82d8-3ca86d4ccc15" providerId="ADAL" clId="{D2AF67AB-EFE6-5583-B6E8-67F78036965D}"/>
    <pc:docChg chg="custSel addSld delSld modSld modSection">
      <pc:chgData name="張天豪-數位金融處-永豐銀行" userId="0d835702-99c9-4ef6-82d8-3ca86d4ccc15" providerId="ADAL" clId="{D2AF67AB-EFE6-5583-B6E8-67F78036965D}" dt="2025-09-15T05:42:40.118" v="2" actId="2696"/>
      <pc:docMkLst>
        <pc:docMk/>
      </pc:docMkLst>
      <pc:sldChg chg="addSp delSp modSp new del mod chgLayout">
        <pc:chgData name="張天豪-數位金融處-永豐銀行" userId="0d835702-99c9-4ef6-82d8-3ca86d4ccc15" providerId="ADAL" clId="{D2AF67AB-EFE6-5583-B6E8-67F78036965D}" dt="2025-09-15T05:42:40.118" v="2" actId="2696"/>
        <pc:sldMkLst>
          <pc:docMk/>
          <pc:sldMk cId="4260387952" sldId="2147471190"/>
        </pc:sldMkLst>
        <pc:spChg chg="del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2" creationId="{C8E2D793-753F-D8E0-6C96-C3E4A92D305F}"/>
          </ac:spMkLst>
        </pc:spChg>
        <pc:spChg chg="add mod ord">
          <ac:chgData name="張天豪-數位金融處-永豐銀行" userId="0d835702-99c9-4ef6-82d8-3ca86d4ccc15" providerId="ADAL" clId="{D2AF67AB-EFE6-5583-B6E8-67F78036965D}" dt="2025-09-15T05:42:00.447" v="1" actId="700"/>
          <ac:spMkLst>
            <pc:docMk/>
            <pc:sldMk cId="4260387952" sldId="2147471190"/>
            <ac:spMk id="3" creationId="{4720BA31-8393-D7D0-C165-7006096CE23F}"/>
          </ac:spMkLst>
        </pc:spChg>
      </pc:sldChg>
    </pc:docChg>
  </pc:docChgLst>
  <pc:docChgLst>
    <pc:chgData name="張天豪-數位金融處-永豐銀行" userId="0d835702-99c9-4ef6-82d8-3ca86d4ccc15" providerId="ADAL" clId="{3535DB18-1BBF-46AC-A302-CA4DEF9EDE65}"/>
    <pc:docChg chg="undo custSel modSld modMainMaster">
      <pc:chgData name="張天豪-數位金融處-永豐銀行" userId="0d835702-99c9-4ef6-82d8-3ca86d4ccc15" providerId="ADAL" clId="{3535DB18-1BBF-46AC-A302-CA4DEF9EDE65}" dt="2024-08-27T06:35:43.088" v="30" actId="478"/>
      <pc:docMkLst>
        <pc:docMk/>
      </pc:docMkLst>
      <pc:sldChg chg="modSp mod addCm">
        <pc:chgData name="張天豪-數位金融處-永豐銀行" userId="0d835702-99c9-4ef6-82d8-3ca86d4ccc15" providerId="ADAL" clId="{3535DB18-1BBF-46AC-A302-CA4DEF9EDE65}" dt="2024-08-27T06:35:05.491" v="23" actId="15"/>
        <pc:sldMkLst>
          <pc:docMk/>
          <pc:sldMk cId="0" sldId="258"/>
        </pc:sldMkLst>
      </pc:sldChg>
      <pc:sldMasterChg chg="modSldLayout">
        <pc:chgData name="張天豪-數位金融處-永豐銀行" userId="0d835702-99c9-4ef6-82d8-3ca86d4ccc15" providerId="ADAL" clId="{3535DB18-1BBF-46AC-A302-CA4DEF9EDE65}" dt="2024-08-27T06:35:43.088" v="30" actId="478"/>
        <pc:sldMasterMkLst>
          <pc:docMk/>
          <pc:sldMasterMk cId="0" sldId="2147483648"/>
        </pc:sldMasterMkLst>
        <pc:sldLayoutChg chg="addSp delSp modSp mod">
          <pc:chgData name="張天豪-數位金融處-永豐銀行" userId="0d835702-99c9-4ef6-82d8-3ca86d4ccc15" providerId="ADAL" clId="{3535DB18-1BBF-46AC-A302-CA4DEF9EDE65}" dt="2024-08-27T06:35:43.088" v="30" actId="478"/>
          <pc:sldLayoutMkLst>
            <pc:docMk/>
            <pc:sldMasterMk cId="0" sldId="2147483648"/>
            <pc:sldLayoutMk cId="0" sldId="2147483652"/>
          </pc:sldLayoutMkLst>
        </pc:sldLayoutChg>
      </pc:sldMasterChg>
    </pc:docChg>
  </pc:docChgLst>
  <pc:docChgLst>
    <pc:chgData name="傅安-數位金融處-永豐銀行" userId="c8345a55-179c-4faf-b159-cca2c6631c14" providerId="ADAL" clId="{E1FFCD7C-0205-415A-938E-C70C935D38B7}"/>
    <pc:docChg chg="undo custSel addSld delSld modSection">
      <pc:chgData name="傅安-數位金融處-永豐銀行" userId="c8345a55-179c-4faf-b159-cca2c6631c14" providerId="ADAL" clId="{E1FFCD7C-0205-415A-938E-C70C935D38B7}" dt="2025-10-31T09:22:15.910" v="1" actId="47"/>
      <pc:docMkLst>
        <pc:docMk/>
      </pc:docMkLst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7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8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59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0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1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0" sldId="264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2406361714" sldId="292"/>
        </pc:sldMkLst>
      </pc:sldChg>
      <pc:sldChg chg="add del">
        <pc:chgData name="傅安-數位金融處-永豐銀行" userId="c8345a55-179c-4faf-b159-cca2c6631c14" providerId="ADAL" clId="{E1FFCD7C-0205-415A-938E-C70C935D38B7}" dt="2025-10-31T09:22:15.910" v="1" actId="47"/>
        <pc:sldMkLst>
          <pc:docMk/>
          <pc:sldMk cId="3467411777" sldId="2147471189"/>
        </pc:sldMkLst>
      </pc:sldChg>
    </pc:docChg>
  </pc:docChgLst>
  <pc:docChgLst>
    <pc:chgData name="張天豪-數位金融處-永豐銀行" userId="0d835702-99c9-4ef6-82d8-3ca86d4ccc15" providerId="ADAL" clId="{13649D83-BEB4-0446-824D-B84D0069EC2E}"/>
    <pc:docChg chg="undo custSel addSld modSld sldOrd modSection">
      <pc:chgData name="張天豪-數位金融處-永豐銀行" userId="0d835702-99c9-4ef6-82d8-3ca86d4ccc15" providerId="ADAL" clId="{13649D83-BEB4-0446-824D-B84D0069EC2E}" dt="2024-09-30T06:06:32.388" v="718" actId="404"/>
      <pc:docMkLst>
        <pc:docMk/>
      </pc:docMkLst>
      <pc:sldChg chg="modSp mod">
        <pc:chgData name="張天豪-數位金融處-永豐銀行" userId="0d835702-99c9-4ef6-82d8-3ca86d4ccc15" providerId="ADAL" clId="{13649D83-BEB4-0446-824D-B84D0069EC2E}" dt="2024-09-30T06:05:54.645" v="708" actId="6549"/>
        <pc:sldMkLst>
          <pc:docMk/>
          <pc:sldMk cId="0" sldId="258"/>
        </pc:sldMkLst>
      </pc:sldChg>
      <pc:sldChg chg="modSp mod">
        <pc:chgData name="張天豪-數位金融處-永豐銀行" userId="0d835702-99c9-4ef6-82d8-3ca86d4ccc15" providerId="ADAL" clId="{13649D83-BEB4-0446-824D-B84D0069EC2E}" dt="2024-09-22T01:12:10.917" v="128" actId="14734"/>
        <pc:sldMkLst>
          <pc:docMk/>
          <pc:sldMk cId="0" sldId="262"/>
        </pc:sldMkLst>
      </pc:sldChg>
      <pc:sldChg chg="modSp mod">
        <pc:chgData name="張天豪-數位金融處-永豐銀行" userId="0d835702-99c9-4ef6-82d8-3ca86d4ccc15" providerId="ADAL" clId="{13649D83-BEB4-0446-824D-B84D0069EC2E}" dt="2024-09-22T01:05:29.023" v="3" actId="15"/>
        <pc:sldMkLst>
          <pc:docMk/>
          <pc:sldMk cId="4191026547" sldId="299"/>
        </pc:sldMkLst>
      </pc:sldChg>
      <pc:sldChg chg="modSp mod">
        <pc:chgData name="張天豪-數位金融處-永豐銀行" userId="0d835702-99c9-4ef6-82d8-3ca86d4ccc15" providerId="ADAL" clId="{13649D83-BEB4-0446-824D-B84D0069EC2E}" dt="2024-09-22T01:16:48.728" v="140" actId="20577"/>
        <pc:sldMkLst>
          <pc:docMk/>
          <pc:sldMk cId="393315683" sldId="2147471185"/>
        </pc:sldMkLst>
      </pc:sldChg>
      <pc:sldChg chg="addSp delSp modSp new mod modClrScheme chgLayout">
        <pc:chgData name="張天豪-數位金融處-永豐銀行" userId="0d835702-99c9-4ef6-82d8-3ca86d4ccc15" providerId="ADAL" clId="{13649D83-BEB4-0446-824D-B84D0069EC2E}" dt="2024-09-30T06:06:32.388" v="718" actId="404"/>
        <pc:sldMkLst>
          <pc:docMk/>
          <pc:sldMk cId="4060586183" sldId="2147471188"/>
        </pc:sldMkLst>
      </pc:sldChg>
      <pc:sldChg chg="modSp mod">
        <pc:chgData name="張天豪-數位金融處-永豐銀行" userId="0d835702-99c9-4ef6-82d8-3ca86d4ccc15" providerId="ADAL" clId="{13649D83-BEB4-0446-824D-B84D0069EC2E}" dt="2024-09-30T06:05:26.038" v="680" actId="255"/>
        <pc:sldMkLst>
          <pc:docMk/>
          <pc:sldMk cId="3467411777" sldId="2147471189"/>
        </pc:sldMkLst>
      </pc:sldChg>
    </pc:docChg>
  </pc:docChgLst>
  <pc:docChgLst>
    <pc:chgData name="吳憲驊-人力資源處-永豐銀行" userId="S::simonwu@sinopac.com::c372d5aa-c765-4280-a5c9-548c4152a5d4" providerId="AD" clId="Web-{566E13FB-08C0-32D8-F6D2-084C6563C8D8}"/>
    <pc:docChg chg="modSld">
      <pc:chgData name="吳憲驊-人力資源處-永豐銀行" userId="S::simonwu@sinopac.com::c372d5aa-c765-4280-a5c9-548c4152a5d4" providerId="AD" clId="Web-{566E13FB-08C0-32D8-F6D2-084C6563C8D8}" dt="2024-08-29T09:14:57.922" v="14" actId="20577"/>
      <pc:docMkLst>
        <pc:docMk/>
      </pc:docMkLst>
      <pc:sldChg chg="modSp">
        <pc:chgData name="吳憲驊-人力資源處-永豐銀行" userId="S::simonwu@sinopac.com::c372d5aa-c765-4280-a5c9-548c4152a5d4" providerId="AD" clId="Web-{566E13FB-08C0-32D8-F6D2-084C6563C8D8}" dt="2024-08-29T09:14:57.922" v="14" actId="20577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EBE3A055-FF26-45CD-9847-CB698884E610}"/>
    <pc:docChg chg="undo redo custSel addSld delSld modSld sldOrd modMainMaster addSection delSection modSection">
      <pc:chgData name="吳憲驊-人力資源處-永豐銀行" userId="c372d5aa-c765-4280-a5c9-548c4152a5d4" providerId="ADAL" clId="{EBE3A055-FF26-45CD-9847-CB698884E610}" dt="2024-09-30T06:05:20.298" v="4408" actId="404"/>
      <pc:docMkLst>
        <pc:docMk/>
      </pc:docMkLst>
      <pc:sldChg chg="modSp mod">
        <pc:chgData name="吳憲驊-人力資源處-永豐銀行" userId="c372d5aa-c765-4280-a5c9-548c4152a5d4" providerId="ADAL" clId="{EBE3A055-FF26-45CD-9847-CB698884E610}" dt="2024-09-06T01:52:09.293" v="932" actId="948"/>
        <pc:sldMkLst>
          <pc:docMk/>
          <pc:sldMk cId="0" sldId="256"/>
        </pc:sldMkLst>
      </pc:sldChg>
      <pc:sldChg chg="addSp delSp modSp mod modClrScheme delCm chgLayout">
        <pc:chgData name="吳憲驊-人力資源處-永豐銀行" userId="c372d5aa-c765-4280-a5c9-548c4152a5d4" providerId="ADAL" clId="{EBE3A055-FF26-45CD-9847-CB698884E610}" dt="2024-09-30T03:54:33.357" v="4288" actId="700"/>
        <pc:sldMkLst>
          <pc:docMk/>
          <pc:sldMk cId="0" sldId="258"/>
        </pc:sldMkLst>
      </pc:sldChg>
      <pc:sldChg chg="modSp mod">
        <pc:chgData name="吳憲驊-人力資源處-永豐銀行" userId="c372d5aa-c765-4280-a5c9-548c4152a5d4" providerId="ADAL" clId="{EBE3A055-FF26-45CD-9847-CB698884E610}" dt="2024-09-30T03:30:19.007" v="3758" actId="207"/>
        <pc:sldMkLst>
          <pc:docMk/>
          <pc:sldMk cId="0" sldId="259"/>
        </pc:sldMkLst>
      </pc:sldChg>
      <pc:sldChg chg="modSp mod">
        <pc:chgData name="吳憲驊-人力資源處-永豐銀行" userId="c372d5aa-c765-4280-a5c9-548c4152a5d4" providerId="ADAL" clId="{EBE3A055-FF26-45CD-9847-CB698884E610}" dt="2024-09-30T03:30:24.098" v="3760" actId="404"/>
        <pc:sldMkLst>
          <pc:docMk/>
          <pc:sldMk cId="0" sldId="260"/>
        </pc:sldMkLst>
      </pc:sldChg>
      <pc:sldChg chg="modSp mod">
        <pc:chgData name="吳憲驊-人力資源處-永豐銀行" userId="c372d5aa-c765-4280-a5c9-548c4152a5d4" providerId="ADAL" clId="{EBE3A055-FF26-45CD-9847-CB698884E610}" dt="2024-09-30T03:30:26.553" v="3762" actId="404"/>
        <pc:sldMkLst>
          <pc:docMk/>
          <pc:sldMk cId="0" sldId="261"/>
        </pc:sldMkLst>
      </pc:sldChg>
      <pc:sldChg chg="modSp mod">
        <pc:chgData name="吳憲驊-人力資源處-永豐銀行" userId="c372d5aa-c765-4280-a5c9-548c4152a5d4" providerId="ADAL" clId="{EBE3A055-FF26-45CD-9847-CB698884E610}" dt="2024-09-30T03:16:45.585" v="3597" actId="404"/>
        <pc:sldMkLst>
          <pc:docMk/>
          <pc:sldMk cId="0" sldId="262"/>
        </pc:sldMkLst>
      </pc:sldChg>
      <pc:sldChg chg="modSp del mod">
        <pc:chgData name="吳憲驊-人力資源處-永豐銀行" userId="c372d5aa-c765-4280-a5c9-548c4152a5d4" providerId="ADAL" clId="{EBE3A055-FF26-45CD-9847-CB698884E610}" dt="2024-09-06T10:03:19.657" v="2377" actId="47"/>
        <pc:sldMkLst>
          <pc:docMk/>
          <pc:sldMk cId="0" sldId="263"/>
        </pc:sldMkLst>
      </pc:sldChg>
      <pc:sldChg chg="ord">
        <pc:chgData name="吳憲驊-人力資源處-永豐銀行" userId="c372d5aa-c765-4280-a5c9-548c4152a5d4" providerId="ADAL" clId="{EBE3A055-FF26-45CD-9847-CB698884E610}" dt="2024-09-06T10:05:31.351" v="2385" actId="404"/>
        <pc:sldMkLst>
          <pc:docMk/>
          <pc:sldMk cId="0" sldId="264"/>
        </pc:sldMkLst>
      </pc:sldChg>
      <pc:sldChg chg="modSp del mod ord">
        <pc:chgData name="吳憲驊-人力資源處-永豐銀行" userId="c372d5aa-c765-4280-a5c9-548c4152a5d4" providerId="ADAL" clId="{EBE3A055-FF26-45CD-9847-CB698884E610}" dt="2024-09-06T10:08:06.584" v="2435" actId="47"/>
        <pc:sldMkLst>
          <pc:docMk/>
          <pc:sldMk cId="0" sldId="265"/>
        </pc:sldMkLst>
      </pc:sldChg>
      <pc:sldChg chg="modSp mod">
        <pc:chgData name="吳憲驊-人力資源處-永豐銀行" userId="c372d5aa-c765-4280-a5c9-548c4152a5d4" providerId="ADAL" clId="{EBE3A055-FF26-45CD-9847-CB698884E610}" dt="2024-09-06T02:41:12.502" v="1440" actId="404"/>
        <pc:sldMkLst>
          <pc:docMk/>
          <pc:sldMk cId="0" sldId="266"/>
        </pc:sldMkLst>
      </pc:sldChg>
      <pc:sldChg chg="modSp mod">
        <pc:chgData name="吳憲驊-人力資源處-永豐銀行" userId="c372d5aa-c765-4280-a5c9-548c4152a5d4" providerId="ADAL" clId="{EBE3A055-FF26-45CD-9847-CB698884E610}" dt="2024-09-06T09:10:15.245" v="1774" actId="108"/>
        <pc:sldMkLst>
          <pc:docMk/>
          <pc:sldMk cId="0" sldId="267"/>
        </pc:sldMkLst>
      </pc:sldChg>
      <pc:sldChg chg="modSp mod">
        <pc:chgData name="吳憲驊-人力資源處-永豐銀行" userId="c372d5aa-c765-4280-a5c9-548c4152a5d4" providerId="ADAL" clId="{EBE3A055-FF26-45CD-9847-CB698884E610}" dt="2024-09-06T02:17:10.131" v="1114" actId="20577"/>
        <pc:sldMkLst>
          <pc:docMk/>
          <pc:sldMk cId="0" sldId="268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0.576" v="1639" actId="47"/>
        <pc:sldMkLst>
          <pc:docMk/>
          <pc:sldMk cId="0" sldId="269"/>
        </pc:sldMkLst>
      </pc:sldChg>
      <pc:sldChg chg="modSp del mod">
        <pc:chgData name="吳憲驊-人力資源處-永豐銀行" userId="c372d5aa-c765-4280-a5c9-548c4152a5d4" providerId="ADAL" clId="{EBE3A055-FF26-45CD-9847-CB698884E610}" dt="2024-09-06T03:13:47.944" v="1640" actId="47"/>
        <pc:sldMkLst>
          <pc:docMk/>
          <pc:sldMk cId="0" sldId="270"/>
        </pc:sldMkLst>
      </pc:sldChg>
      <pc:sldChg chg="modSp mod">
        <pc:chgData name="吳憲驊-人力資源處-永豐銀行" userId="c372d5aa-c765-4280-a5c9-548c4152a5d4" providerId="ADAL" clId="{EBE3A055-FF26-45CD-9847-CB698884E610}" dt="2024-09-30T03:34:57.167" v="3786" actId="207"/>
        <pc:sldMkLst>
          <pc:docMk/>
          <pc:sldMk cId="0" sldId="271"/>
        </pc:sldMkLst>
      </pc:sldChg>
      <pc:sldChg chg="del">
        <pc:chgData name="吳憲驊-人力資源處-永豐銀行" userId="c372d5aa-c765-4280-a5c9-548c4152a5d4" providerId="ADAL" clId="{EBE3A055-FF26-45CD-9847-CB698884E610}" dt="2024-09-06T02:06:21.412" v="959" actId="47"/>
        <pc:sldMkLst>
          <pc:docMk/>
          <pc:sldMk cId="0" sldId="272"/>
        </pc:sldMkLst>
      </pc:sldChg>
      <pc:sldChg chg="del">
        <pc:chgData name="吳憲驊-人力資源處-永豐銀行" userId="c372d5aa-c765-4280-a5c9-548c4152a5d4" providerId="ADAL" clId="{EBE3A055-FF26-45CD-9847-CB698884E610}" dt="2024-09-06T02:06:22.515" v="960" actId="47"/>
        <pc:sldMkLst>
          <pc:docMk/>
          <pc:sldMk cId="0" sldId="273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4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5"/>
        </pc:sldMkLst>
      </pc:sldChg>
      <pc:sldChg chg="modSp del mod">
        <pc:chgData name="吳憲驊-人力資源處-永豐銀行" userId="c372d5aa-c765-4280-a5c9-548c4152a5d4" providerId="ADAL" clId="{EBE3A055-FF26-45CD-9847-CB698884E610}" dt="2024-09-06T03:18:08.973" v="1664" actId="47"/>
        <pc:sldMkLst>
          <pc:docMk/>
          <pc:sldMk cId="0" sldId="276"/>
        </pc:sldMkLst>
      </pc:sldChg>
      <pc:sldChg chg="modSp del mod ord">
        <pc:chgData name="吳憲驊-人力資源處-永豐銀行" userId="c372d5aa-c765-4280-a5c9-548c4152a5d4" providerId="ADAL" clId="{EBE3A055-FF26-45CD-9847-CB698884E610}" dt="2024-09-06T03:23:38.051" v="1729" actId="47"/>
        <pc:sldMkLst>
          <pc:docMk/>
          <pc:sldMk cId="0" sldId="277"/>
        </pc:sldMkLst>
      </pc:sldChg>
      <pc:sldChg chg="modSp del mod">
        <pc:chgData name="吳憲驊-人力資源處-永豐銀行" userId="c372d5aa-c765-4280-a5c9-548c4152a5d4" providerId="ADAL" clId="{EBE3A055-FF26-45CD-9847-CB698884E610}" dt="2024-09-06T02:06:25.232" v="961" actId="47"/>
        <pc:sldMkLst>
          <pc:docMk/>
          <pc:sldMk cId="0" sldId="278"/>
        </pc:sldMkLst>
      </pc:sldChg>
      <pc:sldChg chg="del">
        <pc:chgData name="吳憲驊-人力資源處-永豐銀行" userId="c372d5aa-c765-4280-a5c9-548c4152a5d4" providerId="ADAL" clId="{EBE3A055-FF26-45CD-9847-CB698884E610}" dt="2024-09-06T02:06:26.187" v="962" actId="47"/>
        <pc:sldMkLst>
          <pc:docMk/>
          <pc:sldMk cId="0" sldId="279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17.105" v="4374" actId="14100"/>
        <pc:sldMkLst>
          <pc:docMk/>
          <pc:sldMk cId="0" sldId="281"/>
        </pc:sldMkLst>
      </pc:sldChg>
      <pc:sldChg chg="modSp mod">
        <pc:chgData name="吳憲驊-人力資源處-永豐銀行" userId="c372d5aa-c765-4280-a5c9-548c4152a5d4" providerId="ADAL" clId="{EBE3A055-FF26-45CD-9847-CB698884E610}" dt="2024-09-24T01:16:46.073" v="2669" actId="1076"/>
        <pc:sldMkLst>
          <pc:docMk/>
          <pc:sldMk cId="0" sldId="282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20.298" v="4408" actId="404"/>
        <pc:sldMkLst>
          <pc:docMk/>
          <pc:sldMk cId="0" sldId="286"/>
        </pc:sldMkLst>
      </pc:sldChg>
      <pc:sldChg chg="modSp mod">
        <pc:chgData name="吳憲驊-人力資源處-永豐銀行" userId="c372d5aa-c765-4280-a5c9-548c4152a5d4" providerId="ADAL" clId="{EBE3A055-FF26-45CD-9847-CB698884E610}" dt="2024-09-30T03:32:58.465" v="3765" actId="20577"/>
        <pc:sldMkLst>
          <pc:docMk/>
          <pc:sldMk cId="0" sldId="287"/>
        </pc:sldMkLst>
      </pc:sldChg>
      <pc:sldChg chg="modSp mod">
        <pc:chgData name="吳憲驊-人力資源處-永豐銀行" userId="c372d5aa-c765-4280-a5c9-548c4152a5d4" providerId="ADAL" clId="{EBE3A055-FF26-45CD-9847-CB698884E610}" dt="2024-09-30T03:33:00.811" v="3766" actId="20577"/>
        <pc:sldMkLst>
          <pc:docMk/>
          <pc:sldMk cId="0" sldId="288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5:17.629" v="4406" actId="700"/>
        <pc:sldMkLst>
          <pc:docMk/>
          <pc:sldMk cId="0" sldId="289"/>
        </pc:sldMkLst>
      </pc:sldChg>
      <pc:sldChg chg="modSp mod">
        <pc:chgData name="吳憲驊-人力資源處-永豐銀行" userId="c372d5aa-c765-4280-a5c9-548c4152a5d4" providerId="ADAL" clId="{EBE3A055-FF26-45CD-9847-CB698884E610}" dt="2024-09-30T03:33:17.758" v="3768" actId="20577"/>
        <pc:sldMkLst>
          <pc:docMk/>
          <pc:sldMk cId="0" sldId="290"/>
        </pc:sldMkLst>
      </pc:sldChg>
      <pc:sldChg chg="addSp delSp modSp mod modClrScheme chgLayout">
        <pc:chgData name="吳憲驊-人力資源處-永豐銀行" userId="c372d5aa-c765-4280-a5c9-548c4152a5d4" providerId="ADAL" clId="{EBE3A055-FF26-45CD-9847-CB698884E610}" dt="2024-09-30T06:03:53.989" v="4385" actId="404"/>
        <pc:sldMkLst>
          <pc:docMk/>
          <pc:sldMk cId="2697488364" sldId="291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30T03:15:33.795" v="3578" actId="14100"/>
        <pc:sldMkLst>
          <pc:docMk/>
          <pc:sldMk cId="2406361714" sldId="292"/>
        </pc:sldMkLst>
      </pc:sldChg>
      <pc:sldChg chg="modSp del mod ord modShow">
        <pc:chgData name="吳憲驊-人力資源處-永豐銀行" userId="c372d5aa-c765-4280-a5c9-548c4152a5d4" providerId="ADAL" clId="{EBE3A055-FF26-45CD-9847-CB698884E610}" dt="2024-09-24T01:14:51.710" v="2665" actId="47"/>
        <pc:sldMkLst>
          <pc:docMk/>
          <pc:sldMk cId="3121629751" sldId="293"/>
        </pc:sldMkLst>
      </pc:sldChg>
      <pc:sldChg chg="addSp modSp del mod ord delCm">
        <pc:chgData name="吳憲驊-人力資源處-永豐銀行" userId="c372d5aa-c765-4280-a5c9-548c4152a5d4" providerId="ADAL" clId="{EBE3A055-FF26-45CD-9847-CB698884E610}" dt="2024-09-06T09:30:19.344" v="1945" actId="47"/>
        <pc:sldMkLst>
          <pc:docMk/>
          <pc:sldMk cId="673018660" sldId="294"/>
        </pc:sldMkLst>
      </pc:sldChg>
      <pc:sldChg chg="modSp mod ord">
        <pc:chgData name="吳憲驊-人力資源處-永豐銀行" userId="c372d5aa-c765-4280-a5c9-548c4152a5d4" providerId="ADAL" clId="{EBE3A055-FF26-45CD-9847-CB698884E610}" dt="2024-09-24T01:08:40.626" v="2664" actId="207"/>
        <pc:sldMkLst>
          <pc:docMk/>
          <pc:sldMk cId="2022153893" sldId="295"/>
        </pc:sldMkLst>
      </pc:sldChg>
      <pc:sldChg chg="modSp mod delCm">
        <pc:chgData name="吳憲驊-人力資源處-永豐銀行" userId="c372d5aa-c765-4280-a5c9-548c4152a5d4" providerId="ADAL" clId="{EBE3A055-FF26-45CD-9847-CB698884E610}" dt="2024-09-20T06:02:24.677" v="2612" actId="207"/>
        <pc:sldMkLst>
          <pc:docMk/>
          <pc:sldMk cId="3262633635" sldId="297"/>
        </pc:sldMkLst>
      </pc:sldChg>
      <pc:sldChg chg="modSp del mod">
        <pc:chgData name="吳憲驊-人力資源處-永豐銀行" userId="c372d5aa-c765-4280-a5c9-548c4152a5d4" providerId="ADAL" clId="{EBE3A055-FF26-45CD-9847-CB698884E610}" dt="2024-09-06T08:56:06.116" v="1731" actId="47"/>
        <pc:sldMkLst>
          <pc:docMk/>
          <pc:sldMk cId="2826782116" sldId="298"/>
        </pc:sldMkLst>
      </pc:sldChg>
      <pc:sldChg chg="modSp new del mod">
        <pc:chgData name="吳憲驊-人力資源處-永豐銀行" userId="c372d5aa-c765-4280-a5c9-548c4152a5d4" providerId="ADAL" clId="{EBE3A055-FF26-45CD-9847-CB698884E610}" dt="2024-09-06T01:58:53.780" v="953" actId="47"/>
        <pc:sldMkLst>
          <pc:docMk/>
          <pc:sldMk cId="535572816" sldId="299"/>
        </pc:sldMkLst>
      </pc:sldChg>
      <pc:sldChg chg="addSp delSp modSp add del mod">
        <pc:chgData name="吳憲驊-人力資源處-永豐銀行" userId="c372d5aa-c765-4280-a5c9-548c4152a5d4" providerId="ADAL" clId="{EBE3A055-FF26-45CD-9847-CB698884E610}" dt="2024-09-06T01:27:07.721" v="125" actId="47"/>
        <pc:sldMkLst>
          <pc:docMk/>
          <pc:sldMk cId="3368370710" sldId="299"/>
        </pc:sldMkLst>
      </pc:sldChg>
      <pc:sldChg chg="new del">
        <pc:chgData name="吳憲驊-人力資源處-永豐銀行" userId="c372d5aa-c765-4280-a5c9-548c4152a5d4" providerId="ADAL" clId="{EBE3A055-FF26-45CD-9847-CB698884E610}" dt="2024-09-06T01:58:30.280" v="941" actId="47"/>
        <pc:sldMkLst>
          <pc:docMk/>
          <pc:sldMk cId="3690986561" sldId="299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06T09:11:00.817" v="1779" actId="20577"/>
        <pc:sldMkLst>
          <pc:docMk/>
          <pc:sldMk cId="4191026547" sldId="29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06T01:33:49.871" v="194" actId="47"/>
        <pc:sldMkLst>
          <pc:docMk/>
          <pc:sldMk cId="4200769607" sldId="299"/>
        </pc:sldMkLst>
      </pc:sldChg>
      <pc:sldChg chg="addSp modSp add mod">
        <pc:chgData name="吳憲驊-人力資源處-永豐銀行" userId="c372d5aa-c765-4280-a5c9-548c4152a5d4" providerId="ADAL" clId="{EBE3A055-FF26-45CD-9847-CB698884E610}" dt="2024-09-30T03:34:38.001" v="3780" actId="404"/>
        <pc:sldMkLst>
          <pc:docMk/>
          <pc:sldMk cId="2718007652" sldId="2132739904"/>
        </pc:sldMkLst>
      </pc:sldChg>
      <pc:sldChg chg="modSp add mod">
        <pc:chgData name="吳憲驊-人力資源處-永豐銀行" userId="c372d5aa-c765-4280-a5c9-548c4152a5d4" providerId="ADAL" clId="{EBE3A055-FF26-45CD-9847-CB698884E610}" dt="2024-09-20T05:57:23.821" v="2582" actId="20577"/>
        <pc:sldMkLst>
          <pc:docMk/>
          <pc:sldMk cId="1087620128" sldId="2132739928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06T02:52:14.102" v="1487" actId="47"/>
        <pc:sldMkLst>
          <pc:docMk/>
          <pc:sldMk cId="2991285827" sldId="2147471015"/>
        </pc:sldMkLst>
      </pc:sldChg>
      <pc:sldChg chg="delSp modSp add del mod">
        <pc:chgData name="吳憲驊-人力資源處-永豐銀行" userId="c372d5aa-c765-4280-a5c9-548c4152a5d4" providerId="ADAL" clId="{EBE3A055-FF26-45CD-9847-CB698884E610}" dt="2024-09-20T05:57:21.476" v="2580" actId="47"/>
        <pc:sldMkLst>
          <pc:docMk/>
          <pc:sldMk cId="3906953588" sldId="2147471163"/>
        </pc:sldMkLst>
      </pc:sldChg>
      <pc:sldChg chg="modSp add del mod">
        <pc:chgData name="吳憲驊-人力資源處-永豐銀行" userId="c372d5aa-c765-4280-a5c9-548c4152a5d4" providerId="ADAL" clId="{EBE3A055-FF26-45CD-9847-CB698884E610}" dt="2024-09-20T05:57:12.814" v="2577" actId="47"/>
        <pc:sldMkLst>
          <pc:docMk/>
          <pc:sldMk cId="4245503187" sldId="2147471171"/>
        </pc:sldMkLst>
      </pc:sldChg>
      <pc:sldChg chg="del">
        <pc:chgData name="吳憲驊-人力資源處-永豐銀行" userId="c372d5aa-c765-4280-a5c9-548c4152a5d4" providerId="ADAL" clId="{EBE3A055-FF26-45CD-9847-CB698884E610}" dt="2024-09-06T08:56:02.319" v="1730" actId="47"/>
        <pc:sldMkLst>
          <pc:docMk/>
          <pc:sldMk cId="1504610650" sldId="2147471172"/>
        </pc:sldMkLst>
      </pc:sldChg>
      <pc:sldChg chg="addSp delSp modSp mod ord">
        <pc:chgData name="吳憲驊-人力資源處-永豐銀行" userId="c372d5aa-c765-4280-a5c9-548c4152a5d4" providerId="ADAL" clId="{EBE3A055-FF26-45CD-9847-CB698884E610}" dt="2024-09-06T10:09:00.513" v="2486" actId="255"/>
        <pc:sldMkLst>
          <pc:docMk/>
          <pc:sldMk cId="3155411272" sldId="2147471173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16.230" v="2585" actId="47"/>
        <pc:sldMkLst>
          <pc:docMk/>
          <pc:sldMk cId="2528477559" sldId="2147471174"/>
        </pc:sldMkLst>
      </pc:sldChg>
      <pc:sldChg chg="modSp add mod ord">
        <pc:chgData name="吳憲驊-人力資源處-永豐銀行" userId="c372d5aa-c765-4280-a5c9-548c4152a5d4" providerId="ADAL" clId="{EBE3A055-FF26-45CD-9847-CB698884E610}" dt="2024-09-30T03:34:34.474" v="3778" actId="207"/>
        <pc:sldMkLst>
          <pc:docMk/>
          <pc:sldMk cId="269871982" sldId="2147471175"/>
        </pc:sldMkLst>
      </pc:sldChg>
      <pc:sldChg chg="modSp add mod">
        <pc:chgData name="吳憲驊-人力資源處-永豐銀行" userId="c372d5aa-c765-4280-a5c9-548c4152a5d4" providerId="ADAL" clId="{EBE3A055-FF26-45CD-9847-CB698884E610}" dt="2024-09-06T09:24:26.987" v="1875" actId="20577"/>
        <pc:sldMkLst>
          <pc:docMk/>
          <pc:sldMk cId="2495256314" sldId="2147471176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2092506589" sldId="2147471177"/>
        </pc:sldMkLst>
      </pc:sldChg>
      <pc:sldChg chg="modSp add del mod ord">
        <pc:chgData name="吳憲驊-人力資源處-永豐銀行" userId="c372d5aa-c765-4280-a5c9-548c4152a5d4" providerId="ADAL" clId="{EBE3A055-FF26-45CD-9847-CB698884E610}" dt="2024-09-20T05:58:26.422" v="2590" actId="47"/>
        <pc:sldMkLst>
          <pc:docMk/>
          <pc:sldMk cId="1671451404" sldId="2147471178"/>
        </pc:sldMkLst>
      </pc:sldChg>
      <pc:sldChg chg="modSp add del mod ord replI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500988513" sldId="2147471179"/>
        </pc:sldMkLst>
      </pc:sldChg>
      <pc:sldChg chg="modSp add mod ord">
        <pc:chgData name="吳憲驊-人力資源處-永豐銀行" userId="c372d5aa-c765-4280-a5c9-548c4152a5d4" providerId="ADAL" clId="{EBE3A055-FF26-45CD-9847-CB698884E610}" dt="2024-09-20T06:18:12.897" v="2644" actId="207"/>
        <pc:sldMkLst>
          <pc:docMk/>
          <pc:sldMk cId="399943788" sldId="2147471180"/>
        </pc:sldMkLst>
      </pc:sldChg>
      <pc:sldChg chg="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642251706" sldId="2147471181"/>
        </pc:sldMkLst>
      </pc:sldChg>
      <pc:sldChg chg="addSp delSp modSp add mod ord">
        <pc:chgData name="吳憲驊-人力資源處-永豐銀行" userId="c372d5aa-c765-4280-a5c9-548c4152a5d4" providerId="ADAL" clId="{EBE3A055-FF26-45CD-9847-CB698884E610}" dt="2024-09-26T09:46:19.715" v="2812" actId="2711"/>
        <pc:sldMkLst>
          <pc:docMk/>
          <pc:sldMk cId="2544379920" sldId="2147471182"/>
        </pc:sldMkLst>
      </pc:sldChg>
      <pc:sldChg chg="addSp delSp modSp add del mod ord">
        <pc:chgData name="吳憲驊-人力資源處-永豐銀行" userId="c372d5aa-c765-4280-a5c9-548c4152a5d4" providerId="ADAL" clId="{EBE3A055-FF26-45CD-9847-CB698884E610}" dt="2024-09-06T09:52:34.002" v="2252" actId="47"/>
        <pc:sldMkLst>
          <pc:docMk/>
          <pc:sldMk cId="2234440729" sldId="2147471183"/>
        </pc:sldMkLst>
      </pc:sldChg>
      <pc:sldChg chg="addSp delSp modSp add del mod ord modShow">
        <pc:chgData name="吳憲驊-人力資源處-永豐銀行" userId="c372d5aa-c765-4280-a5c9-548c4152a5d4" providerId="ADAL" clId="{EBE3A055-FF26-45CD-9847-CB698884E610}" dt="2024-09-24T01:14:55.133" v="2666" actId="47"/>
        <pc:sldMkLst>
          <pc:docMk/>
          <pc:sldMk cId="1008557657" sldId="2147471184"/>
        </pc:sldMkLst>
      </pc:sldChg>
      <pc:sldChg chg="modSp add mod ord">
        <pc:chgData name="吳憲驊-人力資源處-永豐銀行" userId="c372d5aa-c765-4280-a5c9-548c4152a5d4" providerId="ADAL" clId="{EBE3A055-FF26-45CD-9847-CB698884E610}" dt="2024-09-06T10:05:42.743" v="2410" actId="20577"/>
        <pc:sldMkLst>
          <pc:docMk/>
          <pc:sldMk cId="393315683" sldId="2147471185"/>
        </pc:sldMkLst>
      </pc:sldChg>
      <pc:sldChg chg="addSp delSp modSp add mod ord modClrScheme chgLayout">
        <pc:chgData name="吳憲驊-人力資源處-永豐銀行" userId="c372d5aa-c765-4280-a5c9-548c4152a5d4" providerId="ADAL" clId="{EBE3A055-FF26-45CD-9847-CB698884E610}" dt="2024-09-30T06:02:59.666" v="4368" actId="404"/>
        <pc:sldMkLst>
          <pc:docMk/>
          <pc:sldMk cId="2193386975" sldId="2147471186"/>
        </pc:sldMkLst>
      </pc:sldChg>
      <pc:sldChg chg="add">
        <pc:chgData name="吳憲驊-人力資源處-永豐銀行" userId="c372d5aa-c765-4280-a5c9-548c4152a5d4" providerId="ADAL" clId="{EBE3A055-FF26-45CD-9847-CB698884E610}" dt="2024-09-06T10:08:14.157" v="2436" actId="2890"/>
        <pc:sldMkLst>
          <pc:docMk/>
          <pc:sldMk cId="3424880807" sldId="2147471187"/>
        </pc:sldMkLst>
      </pc:sldChg>
      <pc:sldChg chg="add del">
        <pc:chgData name="吳憲驊-人力資源處-永豐銀行" userId="c372d5aa-c765-4280-a5c9-548c4152a5d4" providerId="ADAL" clId="{EBE3A055-FF26-45CD-9847-CB698884E610}" dt="2024-09-09T03:56:36.297" v="2491" actId="47"/>
        <pc:sldMkLst>
          <pc:docMk/>
          <pc:sldMk cId="922226238" sldId="2147471188"/>
        </pc:sldMkLst>
      </pc:sldChg>
      <pc:sldChg chg="modSp mod chgLayout">
        <pc:chgData name="吳憲驊-人力資源處-永豐銀行" userId="c372d5aa-c765-4280-a5c9-548c4152a5d4" providerId="ADAL" clId="{EBE3A055-FF26-45CD-9847-CB698884E610}" dt="2024-09-30T05:56:19.372" v="4291" actId="404"/>
        <pc:sldMkLst>
          <pc:docMk/>
          <pc:sldMk cId="4060586183" sldId="2147471188"/>
        </pc:sldMkLst>
      </pc:sldChg>
      <pc:sldChg chg="add del">
        <pc:chgData name="吳憲驊-人力資源處-永豐銀行" userId="c372d5aa-c765-4280-a5c9-548c4152a5d4" providerId="ADAL" clId="{EBE3A055-FF26-45CD-9847-CB698884E610}" dt="2024-09-26T09:48:05.353" v="2814" actId="2890"/>
        <pc:sldMkLst>
          <pc:docMk/>
          <pc:sldMk cId="2913165393" sldId="2147471189"/>
        </pc:sldMkLst>
      </pc:sldChg>
      <pc:sldChg chg="addSp delSp modSp new del mod modClrScheme chgLayout">
        <pc:chgData name="吳憲驊-人力資源處-永豐銀行" userId="c372d5aa-c765-4280-a5c9-548c4152a5d4" providerId="ADAL" clId="{EBE3A055-FF26-45CD-9847-CB698884E610}" dt="2024-09-26T09:49:09.602" v="2876" actId="47"/>
        <pc:sldMkLst>
          <pc:docMk/>
          <pc:sldMk cId="3105233477" sldId="2147471189"/>
        </pc:sldMkLst>
      </pc:sldChg>
      <pc:sldChg chg="addSp delSp modSp add mod ord chgLayout">
        <pc:chgData name="吳憲驊-人力資源處-永豐銀行" userId="c372d5aa-c765-4280-a5c9-548c4152a5d4" providerId="ADAL" clId="{EBE3A055-FF26-45CD-9847-CB698884E610}" dt="2024-09-30T05:59:45.495" v="4317" actId="403"/>
        <pc:sldMkLst>
          <pc:docMk/>
          <pc:sldMk cId="3467411777" sldId="2147471189"/>
        </pc:sldMkLst>
      </pc:sldChg>
      <pc:sldMasterChg chg="addSp delSp modSp mod delSldLayout modSldLayout sldLayoutOrd">
        <pc:chgData name="吳憲驊-人力資源處-永豐銀行" userId="c372d5aa-c765-4280-a5c9-548c4152a5d4" providerId="ADAL" clId="{EBE3A055-FF26-45CD-9847-CB698884E610}" dt="2024-09-30T03:53:18.173" v="4266" actId="20577"/>
        <pc:sldMasterMkLst>
          <pc:docMk/>
          <pc:sldMasterMk cId="0" sldId="2147483648"/>
        </pc:sldMasterMkLst>
        <pc:sldLayoutChg chg="addSp delSp modSp mod ord">
          <pc:chgData name="吳憲驊-人力資源處-永豐銀行" userId="c372d5aa-c765-4280-a5c9-548c4152a5d4" providerId="ADAL" clId="{EBE3A055-FF26-45CD-9847-CB698884E610}" dt="2024-09-30T03:53:18.173" v="4266" actId="20577"/>
          <pc:sldLayoutMkLst>
            <pc:docMk/>
            <pc:sldMasterMk cId="0" sldId="2147483648"/>
            <pc:sldLayoutMk cId="0" sldId="2147483651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06T02:11:41.253" v="965" actId="6014"/>
          <pc:sldLayoutMkLst>
            <pc:docMk/>
            <pc:sldMasterMk cId="0" sldId="2147483648"/>
            <pc:sldLayoutMk cId="0" sldId="2147483652"/>
          </pc:sldLayoutMkLst>
        </pc:sldLayoutChg>
        <pc:sldLayoutChg chg="modSp mod">
          <pc:chgData name="吳憲驊-人力資源處-永豐銀行" userId="c372d5aa-c765-4280-a5c9-548c4152a5d4" providerId="ADAL" clId="{EBE3A055-FF26-45CD-9847-CB698884E610}" dt="2024-09-06T01:32:30.947" v="169" actId="20577"/>
          <pc:sldLayoutMkLst>
            <pc:docMk/>
            <pc:sldMasterMk cId="0" sldId="2147483648"/>
            <pc:sldLayoutMk cId="2989105902" sldId="2147483654"/>
          </pc:sldLayoutMkLst>
        </pc:sldLayoutChg>
        <pc:sldLayoutChg chg="addSp delSp modSp mod ord">
          <pc:chgData name="吳憲驊-人力資源處-永豐銀行" userId="c372d5aa-c765-4280-a5c9-548c4152a5d4" providerId="ADAL" clId="{EBE3A055-FF26-45CD-9847-CB698884E610}" dt="2024-09-30T03:52:53.479" v="4250" actId="20577"/>
          <pc:sldLayoutMkLst>
            <pc:docMk/>
            <pc:sldMasterMk cId="0" sldId="2147483648"/>
            <pc:sldLayoutMk cId="1016505608" sldId="2147483659"/>
          </pc:sldLayoutMkLst>
        </pc:sldLayoutChg>
        <pc:sldLayoutChg chg="addSp delSp modSp del mod">
          <pc:chgData name="吳憲驊-人力資源處-永豐銀行" userId="c372d5aa-c765-4280-a5c9-548c4152a5d4" providerId="ADAL" clId="{EBE3A055-FF26-45CD-9847-CB698884E610}" dt="2024-09-06T01:57:39.997" v="937" actId="2696"/>
          <pc:sldLayoutMkLst>
            <pc:docMk/>
            <pc:sldMasterMk cId="0" sldId="2147483648"/>
            <pc:sldLayoutMk cId="1397769940" sldId="2147483659"/>
          </pc:sldLayoutMkLst>
        </pc:sldLayoutChg>
      </pc:sldMasterChg>
    </pc:docChg>
  </pc:docChgLst>
  <pc:docChgLst>
    <pc:chgData name="李宣諭-數位金融處-永豐銀行" userId="6301128a-36be-4004-bf48-5b6edf7c200a" providerId="ADAL" clId="{5556FE67-40C6-4518-82D8-D031FD5835E3}"/>
    <pc:docChg chg="modMainMaster">
      <pc:chgData name="李宣諭-數位金融處-永豐銀行" userId="6301128a-36be-4004-bf48-5b6edf7c200a" providerId="ADAL" clId="{5556FE67-40C6-4518-82D8-D031FD5835E3}" dt="2025-04-09T03:20:37.614" v="0" actId="1076"/>
      <pc:docMkLst>
        <pc:docMk/>
      </pc:docMkLst>
      <pc:sldMasterChg chg="modSldLayout">
        <pc:chgData name="李宣諭-數位金融處-永豐銀行" userId="6301128a-36be-4004-bf48-5b6edf7c200a" providerId="ADAL" clId="{5556FE67-40C6-4518-82D8-D031FD5835E3}" dt="2025-04-09T03:20:37.614" v="0" actId="1076"/>
        <pc:sldMasterMkLst>
          <pc:docMk/>
          <pc:sldMasterMk cId="0" sldId="2147483648"/>
        </pc:sldMasterMkLst>
        <pc:sldLayoutChg chg="modSp mod">
          <pc:chgData name="李宣諭-數位金融處-永豐銀行" userId="6301128a-36be-4004-bf48-5b6edf7c200a" providerId="ADAL" clId="{5556FE67-40C6-4518-82D8-D031FD5835E3}" dt="2025-04-09T03:20:37.614" v="0" actId="107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周立筠-數據應用部-永豐金證券" userId="ee349c15-f274-43a3-b0c9-48d528d95247" providerId="ADAL" clId="{C906908C-602B-40BA-8197-1638BF03C79B}"/>
    <pc:docChg chg="modSld">
      <pc:chgData name="周立筠-數據應用部-永豐金證券" userId="ee349c15-f274-43a3-b0c9-48d528d95247" providerId="ADAL" clId="{C906908C-602B-40BA-8197-1638BF03C79B}" dt="2024-09-09T02:23:14.879" v="0" actId="14734"/>
      <pc:docMkLst>
        <pc:docMk/>
      </pc:docMkLst>
      <pc:sldChg chg="modSp mod">
        <pc:chgData name="周立筠-數據應用部-永豐金證券" userId="ee349c15-f274-43a3-b0c9-48d528d95247" providerId="ADAL" clId="{C906908C-602B-40BA-8197-1638BF03C79B}" dt="2024-09-09T02:23:14.879" v="0" actId="14734"/>
        <pc:sldMkLst>
          <pc:docMk/>
          <pc:sldMk cId="3155411272" sldId="2147471173"/>
        </pc:sldMkLst>
      </pc:sldChg>
    </pc:docChg>
  </pc:docChgLst>
  <pc:docChgLst>
    <pc:chgData name="周立筠-數據應用部-永豐金證券" userId="S::liyun0222.zhou@sinopac.com::ee349c15-f274-43a3-b0c9-48d528d95247" providerId="AD" clId="Web-{5A204781-D460-E2E0-652B-45D9DE8FA1C8}"/>
    <pc:docChg chg="modSld">
      <pc:chgData name="周立筠-數據應用部-永豐金證券" userId="S::liyun0222.zhou@sinopac.com::ee349c15-f274-43a3-b0c9-48d528d95247" providerId="AD" clId="Web-{5A204781-D460-E2E0-652B-45D9DE8FA1C8}" dt="2024-10-14T01:13:08.839" v="7"/>
      <pc:docMkLst>
        <pc:docMk/>
      </pc:docMkLst>
      <pc:sldChg chg="addSp delSp modSp">
        <pc:chgData name="周立筠-數據應用部-永豐金證券" userId="S::liyun0222.zhou@sinopac.com::ee349c15-f274-43a3-b0c9-48d528d95247" providerId="AD" clId="Web-{5A204781-D460-E2E0-652B-45D9DE8FA1C8}" dt="2024-10-14T01:13:08.839" v="7"/>
        <pc:sldMkLst>
          <pc:docMk/>
          <pc:sldMk cId="2022153893" sldId="295"/>
        </pc:sldMkLst>
      </pc:sldChg>
    </pc:docChg>
  </pc:docChgLst>
  <pc:docChgLst>
    <pc:chgData name="陳韋樺-數位科技處-永豐金控" userId="701130e9-61c9-4993-9d2b-72f9303521e5" providerId="ADAL" clId="{F94F54DA-E015-4898-AD0E-43B761B2E22F}"/>
    <pc:docChg chg="modSld modNotesMaster">
      <pc:chgData name="陳韋樺-數位科技處-永豐金控" userId="701130e9-61c9-4993-9d2b-72f9303521e5" providerId="ADAL" clId="{F94F54DA-E015-4898-AD0E-43B761B2E22F}" dt="2025-07-22T03:27:11.652" v="1" actId="1076"/>
      <pc:docMkLst>
        <pc:docMk/>
      </pc:docMkLst>
      <pc:sldChg chg="modSp mod">
        <pc:chgData name="陳韋樺-數位科技處-永豐金控" userId="701130e9-61c9-4993-9d2b-72f9303521e5" providerId="ADAL" clId="{F94F54DA-E015-4898-AD0E-43B761B2E22F}" dt="2025-07-22T03:26:40.854" v="0" actId="1076"/>
        <pc:sldMkLst>
          <pc:docMk/>
          <pc:sldMk cId="0" sldId="256"/>
        </pc:sldMkLst>
      </pc:sldChg>
    </pc:docChg>
  </pc:docChgLst>
  <pc:docChgLst>
    <pc:chgData name="周立筠-數據應用部-永豐金證券" userId="S::liyun0222.zhou@sinopac.com::ee349c15-f274-43a3-b0c9-48d528d95247" providerId="AD" clId="Web-{9C13AFE3-8240-BC94-48CC-0CB3BB172451}"/>
    <pc:docChg chg="modSld">
      <pc:chgData name="周立筠-數據應用部-永豐金證券" userId="S::liyun0222.zhou@sinopac.com::ee349c15-f274-43a3-b0c9-48d528d95247" providerId="AD" clId="Web-{9C13AFE3-8240-BC94-48CC-0CB3BB172451}" dt="2024-09-30T01:52:35.281" v="3" actId="20577"/>
      <pc:docMkLst>
        <pc:docMk/>
      </pc:docMkLst>
      <pc:sldChg chg="modSp">
        <pc:chgData name="周立筠-數據應用部-永豐金證券" userId="S::liyun0222.zhou@sinopac.com::ee349c15-f274-43a3-b0c9-48d528d95247" providerId="AD" clId="Web-{9C13AFE3-8240-BC94-48CC-0CB3BB172451}" dt="2024-09-30T01:52:35.281" v="3" actId="20577"/>
        <pc:sldMkLst>
          <pc:docMk/>
          <pc:sldMk cId="0" sldId="258"/>
        </pc:sldMkLst>
      </pc:sldChg>
    </pc:docChg>
  </pc:docChgLst>
  <pc:docChgLst>
    <pc:chgData name="周立筠-數據應用部-永豐金證券" userId="ee349c15-f274-43a3-b0c9-48d528d95247" providerId="ADAL" clId="{4E0ABDCF-1B67-4881-8BC6-D6262098E4C1}"/>
    <pc:docChg chg="addSld modSld">
      <pc:chgData name="周立筠-數據應用部-永豐金證券" userId="ee349c15-f274-43a3-b0c9-48d528d95247" providerId="ADAL" clId="{4E0ABDCF-1B67-4881-8BC6-D6262098E4C1}" dt="2024-10-11T06:03:24.106" v="27"/>
      <pc:docMkLst>
        <pc:docMk/>
      </pc:docMkLst>
      <pc:sldChg chg="addSp modSp add">
        <pc:chgData name="周立筠-數據應用部-永豐金證券" userId="ee349c15-f274-43a3-b0c9-48d528d95247" providerId="ADAL" clId="{4E0ABDCF-1B67-4881-8BC6-D6262098E4C1}" dt="2024-10-11T06:03:24.106" v="27"/>
        <pc:sldMkLst>
          <pc:docMk/>
          <pc:sldMk cId="3905871497" sldId="2147471190"/>
        </pc:sldMkLst>
      </pc:sldChg>
    </pc:docChg>
  </pc:docChgLst>
  <pc:docChgLst>
    <pc:chgData name="吳憲驊-人力資源處-永豐銀行" userId="S::simonwu@sinopac.com::c372d5aa-c765-4280-a5c9-548c4152a5d4" providerId="AD" clId="Web-{AD6359EA-AF55-13A8-8FC0-F1DDB072E1CC}"/>
    <pc:docChg chg="modSld">
      <pc:chgData name="吳憲驊-人力資源處-永豐銀行" userId="S::simonwu@sinopac.com::c372d5aa-c765-4280-a5c9-548c4152a5d4" providerId="AD" clId="Web-{AD6359EA-AF55-13A8-8FC0-F1DDB072E1CC}" dt="2024-10-11T06:24:11.220" v="1"/>
      <pc:docMkLst>
        <pc:docMk/>
      </pc:docMkLst>
      <pc:sldChg chg="modSp">
        <pc:chgData name="吳憲驊-人力資源處-永豐銀行" userId="S::simonwu@sinopac.com::c372d5aa-c765-4280-a5c9-548c4152a5d4" providerId="AD" clId="Web-{AD6359EA-AF55-13A8-8FC0-F1DDB072E1CC}" dt="2024-10-11T06:24:11.220" v="1"/>
        <pc:sldMkLst>
          <pc:docMk/>
          <pc:sldMk cId="2022153893" sldId="295"/>
        </pc:sldMkLst>
      </pc:sldChg>
    </pc:docChg>
  </pc:docChgLst>
  <pc:docChgLst>
    <pc:chgData name="吳憲驊-人力資源處-永豐銀行" userId="c372d5aa-c765-4280-a5c9-548c4152a5d4" providerId="ADAL" clId="{A5CB0424-1DCD-41DE-B858-D55378E4CD93}"/>
    <pc:docChg chg="custSel addSld delSld modSld modMainMaster modSection">
      <pc:chgData name="吳憲驊-人力資源處-永豐銀行" userId="c372d5aa-c765-4280-a5c9-548c4152a5d4" providerId="ADAL" clId="{A5CB0424-1DCD-41DE-B858-D55378E4CD93}" dt="2024-09-23T03:47:43.608" v="334" actId="6549"/>
      <pc:docMkLst>
        <pc:docMk/>
      </pc:docMkLst>
      <pc:sldChg chg="modSp mod">
        <pc:chgData name="吳憲驊-人力資源處-永豐銀行" userId="c372d5aa-c765-4280-a5c9-548c4152a5d4" providerId="ADAL" clId="{A5CB0424-1DCD-41DE-B858-D55378E4CD93}" dt="2024-09-23T03:47:43.608" v="334" actId="6549"/>
        <pc:sldMkLst>
          <pc:docMk/>
          <pc:sldMk cId="4060586183" sldId="2147471188"/>
        </pc:sldMkLst>
      </pc:sldChg>
      <pc:sldChg chg="addSp modSp new del mod modClrScheme chgLayout">
        <pc:chgData name="吳憲驊-人力資源處-永豐銀行" userId="c372d5aa-c765-4280-a5c9-548c4152a5d4" providerId="ADAL" clId="{A5CB0424-1DCD-41DE-B858-D55378E4CD93}" dt="2024-09-23T03:37:14.100" v="17" actId="47"/>
        <pc:sldMkLst>
          <pc:docMk/>
          <pc:sldMk cId="3271968025" sldId="2147471189"/>
        </pc:sldMkLst>
      </pc:sldChg>
      <pc:sldMasterChg chg="modSldLayout">
        <pc:chgData name="吳憲驊-人力資源處-永豐銀行" userId="c372d5aa-c765-4280-a5c9-548c4152a5d4" providerId="ADAL" clId="{A5CB0424-1DCD-41DE-B858-D55378E4CD93}" dt="2024-09-23T03:37:04.143" v="8" actId="1076"/>
        <pc:sldMasterMkLst>
          <pc:docMk/>
          <pc:sldMasterMk cId="0" sldId="2147483648"/>
        </pc:sldMasterMkLst>
        <pc:sldLayoutChg chg="addSp delSp modSp mod">
          <pc:chgData name="吳憲驊-人力資源處-永豐銀行" userId="c372d5aa-c765-4280-a5c9-548c4152a5d4" providerId="ADAL" clId="{A5CB0424-1DCD-41DE-B858-D55378E4CD93}" dt="2024-09-23T03:37:04.143" v="8" actId="1076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  <pc:docChgLst>
    <pc:chgData name="吳憲驊-人力資源處-永豐銀行" userId="S::simonwu@sinopac.com::c372d5aa-c765-4280-a5c9-548c4152a5d4" providerId="AD" clId="Web-{76B08719-CE9C-CA5C-98B8-63898D770A1E}"/>
    <pc:docChg chg="addSld delSld addSection modSection">
      <pc:chgData name="吳憲驊-人力資源處-永豐銀行" userId="S::simonwu@sinopac.com::c372d5aa-c765-4280-a5c9-548c4152a5d4" providerId="AD" clId="Web-{76B08719-CE9C-CA5C-98B8-63898D770A1E}" dt="2024-09-06T10:15:50.990" v="31"/>
      <pc:docMkLst>
        <pc:docMk/>
      </pc:docMkLst>
      <pc:sldChg chg="add del">
        <pc:chgData name="吳憲驊-人力資源處-永豐銀行" userId="S::simonwu@sinopac.com::c372d5aa-c765-4280-a5c9-548c4152a5d4" providerId="AD" clId="Web-{76B08719-CE9C-CA5C-98B8-63898D770A1E}" dt="2024-09-06T10:15:15.536" v="7"/>
        <pc:sldMkLst>
          <pc:docMk/>
          <pc:sldMk cId="0" sldId="256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67" v="8"/>
        <pc:sldMkLst>
          <pc:docMk/>
          <pc:sldMk cId="0" sldId="257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598" v="9"/>
        <pc:sldMkLst>
          <pc:docMk/>
          <pc:sldMk cId="0" sldId="258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677" v="10"/>
        <pc:sldMkLst>
          <pc:docMk/>
          <pc:sldMk cId="0" sldId="259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755" v="11"/>
        <pc:sldMkLst>
          <pc:docMk/>
          <pc:sldMk cId="0" sldId="260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833" v="12"/>
        <pc:sldMkLst>
          <pc:docMk/>
          <pc:sldMk cId="0" sldId="261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15.927" v="13"/>
        <pc:sldMkLst>
          <pc:docMk/>
          <pc:sldMk cId="0" sldId="26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36" v="22"/>
        <pc:sldMkLst>
          <pc:docMk/>
          <pc:sldMk cId="0" sldId="264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208" v="24"/>
        <pc:sldMkLst>
          <pc:docMk/>
          <pc:sldMk cId="2406361714" sldId="292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864" v="27"/>
        <pc:sldMkLst>
          <pc:docMk/>
          <pc:sldMk cId="3121629751" sldId="29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536" v="25"/>
        <pc:sldMkLst>
          <pc:docMk/>
          <pc:sldMk cId="2022153893" sldId="29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692" v="26"/>
        <pc:sldMkLst>
          <pc:docMk/>
          <pc:sldMk cId="3155411272" sldId="2147471173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30.020" v="28"/>
        <pc:sldMkLst>
          <pc:docMk/>
          <pc:sldMk cId="393315683" sldId="2147471185"/>
        </pc:sldMkLst>
      </pc:sldChg>
      <pc:sldChg chg="add del">
        <pc:chgData name="吳憲驊-人力資源處-永豐銀行" userId="S::simonwu@sinopac.com::c372d5aa-c765-4280-a5c9-548c4152a5d4" providerId="AD" clId="Web-{76B08719-CE9C-CA5C-98B8-63898D770A1E}" dt="2024-09-06T10:15:29.067" v="23"/>
        <pc:sldMkLst>
          <pc:docMk/>
          <pc:sldMk cId="2193386975" sldId="2147471186"/>
        </pc:sldMkLst>
      </pc:sldChg>
    </pc:docChg>
  </pc:docChgLst>
  <pc:docChgLst>
    <pc:chgData name="周立筠-數據應用部-永豐金證券" userId="S::liyun0222.zhou@sinopac.com::ee349c15-f274-43a3-b0c9-48d528d95247" providerId="AD" clId="Web-{FA426A10-BA6B-DDFE-201A-190FFCD3F55B}"/>
    <pc:docChg chg="addSld delSld modSld addSection modSection">
      <pc:chgData name="周立筠-數據應用部-永豐金證券" userId="S::liyun0222.zhou@sinopac.com::ee349c15-f274-43a3-b0c9-48d528d95247" providerId="AD" clId="Web-{FA426A10-BA6B-DDFE-201A-190FFCD3F55B}" dt="2024-08-23T09:16:34.093" v="83" actId="1076"/>
      <pc:docMkLst>
        <pc:docMk/>
      </pc:docMkLst>
      <pc:sldChg chg="modSp add replId">
        <pc:chgData name="周立筠-數據應用部-永豐金證券" userId="S::liyun0222.zhou@sinopac.com::ee349c15-f274-43a3-b0c9-48d528d95247" providerId="AD" clId="Web-{FA426A10-BA6B-DDFE-201A-190FFCD3F55B}" dt="2024-08-23T09:10:04.631" v="80" actId="1076"/>
        <pc:sldMkLst>
          <pc:docMk/>
          <pc:sldMk cId="3262633635" sldId="297"/>
        </pc:sldMkLst>
      </pc:sldChg>
      <pc:sldChg chg="addSp modSp new">
        <pc:chgData name="周立筠-數據應用部-永豐金證券" userId="S::liyun0222.zhou@sinopac.com::ee349c15-f274-43a3-b0c9-48d528d95247" providerId="AD" clId="Web-{FA426A10-BA6B-DDFE-201A-190FFCD3F55B}" dt="2024-08-23T09:16:34.093" v="83" actId="1076"/>
        <pc:sldMkLst>
          <pc:docMk/>
          <pc:sldMk cId="2826782116" sldId="298"/>
        </pc:sldMkLst>
      </pc:sldChg>
    </pc:docChg>
  </pc:docChgLst>
  <pc:docChgLst>
    <pc:chgData name="傅安-數位金融處-永豐銀行" userId="c8345a55-179c-4faf-b159-cca2c6631c14" providerId="ADAL" clId="{FC04D932-23C0-426C-B700-25BA7DA62966}"/>
    <pc:docChg chg="undo custSel addSld delSld modSld modSection">
      <pc:chgData name="傅安-數位金融處-永豐銀行" userId="c8345a55-179c-4faf-b159-cca2c6631c14" providerId="ADAL" clId="{FC04D932-23C0-426C-B700-25BA7DA62966}" dt="2025-07-14T08:12:18.285" v="70" actId="680"/>
      <pc:docMkLst>
        <pc:docMk/>
      </pc:docMkLst>
      <pc:sldChg chg="modSp mod">
        <pc:chgData name="傅安-數位金融處-永豐銀行" userId="c8345a55-179c-4faf-b159-cca2c6631c14" providerId="ADAL" clId="{FC04D932-23C0-426C-B700-25BA7DA62966}" dt="2025-07-14T08:12:17.924" v="69"/>
        <pc:sldMkLst>
          <pc:docMk/>
          <pc:sldMk cId="0" sldId="256"/>
        </pc:sldMkLst>
      </pc:sldChg>
      <pc:sldChg chg="new del">
        <pc:chgData name="傅安-數位金融處-永豐銀行" userId="c8345a55-179c-4faf-b159-cca2c6631c14" providerId="ADAL" clId="{FC04D932-23C0-426C-B700-25BA7DA62966}" dt="2025-07-14T08:12:18.285" v="70" actId="680"/>
        <pc:sldMkLst>
          <pc:docMk/>
          <pc:sldMk cId="3701876126" sldId="2147471190"/>
        </pc:sldMkLst>
      </pc:sldChg>
    </pc:docChg>
  </pc:docChgLst>
  <pc:docChgLst>
    <pc:chgData name="吳憲驊-人力資源處-永豐銀行" userId="c372d5aa-c765-4280-a5c9-548c4152a5d4" providerId="ADAL" clId="{898F72A5-CF0B-4BC5-833D-22D2B31FA266}"/>
    <pc:docChg chg="undo custSel delSld modSld modSection">
      <pc:chgData name="吳憲驊-人力資源處-永豐銀行" userId="c372d5aa-c765-4280-a5c9-548c4152a5d4" providerId="ADAL" clId="{898F72A5-CF0B-4BC5-833D-22D2B31FA266}" dt="2024-08-27T05:50:47.744" v="22" actId="2165"/>
      <pc:docMkLst>
        <pc:docMk/>
      </pc:docMkLst>
      <pc:sldChg chg="delSp mod">
        <pc:chgData name="吳憲驊-人力資源處-永豐銀行" userId="c372d5aa-c765-4280-a5c9-548c4152a5d4" providerId="ADAL" clId="{898F72A5-CF0B-4BC5-833D-22D2B31FA266}" dt="2024-08-23T08:22:23.087" v="1" actId="478"/>
        <pc:sldMkLst>
          <pc:docMk/>
          <pc:sldMk cId="3121629751" sldId="293"/>
        </pc:sldMkLst>
      </pc:sldChg>
      <pc:sldChg chg="modSp mod addCm modCm">
        <pc:chgData name="吳憲驊-人力資源處-永豐銀行" userId="c372d5aa-c765-4280-a5c9-548c4152a5d4" providerId="ADAL" clId="{898F72A5-CF0B-4BC5-833D-22D2B31FA266}" dt="2024-08-27T05:50:47.744" v="22" actId="2165"/>
        <pc:sldMkLst>
          <pc:docMk/>
          <pc:sldMk cId="673018660" sldId="294"/>
        </pc:sldMkLst>
      </pc:sldChg>
      <pc:sldChg chg="modSp mod">
        <pc:chgData name="吳憲驊-人力資源處-永豐銀行" userId="c372d5aa-c765-4280-a5c9-548c4152a5d4" providerId="ADAL" clId="{898F72A5-CF0B-4BC5-833D-22D2B31FA266}" dt="2024-08-23T10:03:46.763" v="16" actId="20577"/>
        <pc:sldMkLst>
          <pc:docMk/>
          <pc:sldMk cId="3262633635" sldId="297"/>
        </pc:sldMkLst>
      </pc:sldChg>
    </pc:docChg>
  </pc:docChgLst>
  <pc:docChgLst>
    <pc:chgData name="王雋凱-數位金融處-永豐銀行" userId="f78494d6-bac0-4c9e-94cd-0b5e029c0856" providerId="ADAL" clId="{9A569F61-9D88-48E2-A5EB-7100445BBAB5}"/>
    <pc:docChg chg="modSld sldOrd">
      <pc:chgData name="王雋凱-數位金融處-永豐銀行" userId="f78494d6-bac0-4c9e-94cd-0b5e029c0856" providerId="ADAL" clId="{9A569F61-9D88-48E2-A5EB-7100445BBAB5}" dt="2025-06-18T00:28:24.595" v="1"/>
      <pc:docMkLst>
        <pc:docMk/>
      </pc:docMkLst>
      <pc:sldChg chg="ord">
        <pc:chgData name="王雋凱-數位金融處-永豐銀行" userId="f78494d6-bac0-4c9e-94cd-0b5e029c0856" providerId="ADAL" clId="{9A569F61-9D88-48E2-A5EB-7100445BBAB5}" dt="2025-06-18T00:28:24.595" v="1"/>
        <pc:sldMkLst>
          <pc:docMk/>
          <pc:sldMk cId="0" sldId="258"/>
        </pc:sldMkLst>
      </pc:sldChg>
    </pc:docChg>
  </pc:docChgLst>
  <pc:docChgLst>
    <pc:chgData name="周立筠-數據應用部-永豐金證券" userId="S::liyun0222.zhou@sinopac.com::ee349c15-f274-43a3-b0c9-48d528d95247" providerId="AD" clId="Web-{A48564C8-421B-2203-E695-99D400D4424E}"/>
    <pc:docChg chg="modSld">
      <pc:chgData name="周立筠-數據應用部-永豐金證券" userId="S::liyun0222.zhou@sinopac.com::ee349c15-f274-43a3-b0c9-48d528d95247" providerId="AD" clId="Web-{A48564C8-421B-2203-E695-99D400D4424E}" dt="2024-08-23T09:42:27.791" v="49"/>
      <pc:docMkLst>
        <pc:docMk/>
      </pc:docMkLst>
      <pc:sldChg chg="modSp">
        <pc:chgData name="周立筠-數據應用部-永豐金證券" userId="S::liyun0222.zhou@sinopac.com::ee349c15-f274-43a3-b0c9-48d528d95247" providerId="AD" clId="Web-{A48564C8-421B-2203-E695-99D400D4424E}" dt="2024-08-23T09:42:27.791" v="49"/>
        <pc:sldMkLst>
          <pc:docMk/>
          <pc:sldMk cId="3262633635" sldId="297"/>
        </pc:sldMkLst>
      </pc:sldChg>
    </pc:docChg>
  </pc:docChgLst>
  <pc:docChgLst>
    <pc:chgData name="張天豪-數位金融處-永豐銀行" userId="0d835702-99c9-4ef6-82d8-3ca86d4ccc15" providerId="ADAL" clId="{05C68244-A0A4-5F4B-A227-C47B6FE62571}"/>
    <pc:docChg chg="undo custSel addSld delSld modSld modMainMaster modSection">
      <pc:chgData name="張天豪-數位金融處-永豐銀行" userId="0d835702-99c9-4ef6-82d8-3ca86d4ccc15" providerId="ADAL" clId="{05C68244-A0A4-5F4B-A227-C47B6FE62571}" dt="2024-11-23T00:59:06.402" v="223" actId="12"/>
      <pc:docMkLst>
        <pc:docMk/>
      </pc:docMkLst>
      <pc:sldChg chg="modSp mod">
        <pc:chgData name="張天豪-數位金融處-永豐銀行" userId="0d835702-99c9-4ef6-82d8-3ca86d4ccc15" providerId="ADAL" clId="{05C68244-A0A4-5F4B-A227-C47B6FE62571}" dt="2024-10-12T11:25:14.956" v="80" actId="20577"/>
        <pc:sldMkLst>
          <pc:docMk/>
          <pc:sldMk cId="2406361714" sldId="292"/>
        </pc:sldMkLst>
      </pc:sldChg>
      <pc:sldChg chg="modSp mod">
        <pc:chgData name="張天豪-數位金融處-永豐銀行" userId="0d835702-99c9-4ef6-82d8-3ca86d4ccc15" providerId="ADAL" clId="{05C68244-A0A4-5F4B-A227-C47B6FE62571}" dt="2024-10-13T02:59:04.551" v="212" actId="6549"/>
        <pc:sldMkLst>
          <pc:docMk/>
          <pc:sldMk cId="2022153893" sldId="295"/>
        </pc:sldMkLst>
      </pc:sldChg>
      <pc:sldChg chg="modSp mod">
        <pc:chgData name="張天豪-數位金融處-永豐銀行" userId="0d835702-99c9-4ef6-82d8-3ca86d4ccc15" providerId="ADAL" clId="{05C68244-A0A4-5F4B-A227-C47B6FE62571}" dt="2024-10-12T11:29:08.768" v="165"/>
        <pc:sldMkLst>
          <pc:docMk/>
          <pc:sldMk cId="3262633635" sldId="297"/>
        </pc:sldMkLst>
      </pc:sldChg>
      <pc:sldChg chg="modSp mod">
        <pc:chgData name="張天豪-數位金融處-永豐銀行" userId="0d835702-99c9-4ef6-82d8-3ca86d4ccc15" providerId="ADAL" clId="{05C68244-A0A4-5F4B-A227-C47B6FE62571}" dt="2024-10-12T11:25:27.938" v="88" actId="20577"/>
        <pc:sldMkLst>
          <pc:docMk/>
          <pc:sldMk cId="3155411272" sldId="2147471173"/>
        </pc:sldMkLst>
      </pc:sldChg>
      <pc:sldChg chg="modSp mod">
        <pc:chgData name="張天豪-數位金融處-永豐銀行" userId="0d835702-99c9-4ef6-82d8-3ca86d4ccc15" providerId="ADAL" clId="{05C68244-A0A4-5F4B-A227-C47B6FE62571}" dt="2024-10-12T11:28:12.213" v="152" actId="207"/>
        <pc:sldMkLst>
          <pc:docMk/>
          <pc:sldMk cId="2495256314" sldId="2147471176"/>
        </pc:sldMkLst>
      </pc:sldChg>
      <pc:sldChg chg="add del">
        <pc:chgData name="張天豪-數位金融處-永豐銀行" userId="0d835702-99c9-4ef6-82d8-3ca86d4ccc15" providerId="ADAL" clId="{05C68244-A0A4-5F4B-A227-C47B6FE62571}" dt="2024-10-12T11:29:13.617" v="166" actId="2696"/>
        <pc:sldMkLst>
          <pc:docMk/>
          <pc:sldMk cId="424210253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6:42.301" v="102" actId="2696"/>
        <pc:sldMkLst>
          <pc:docMk/>
          <pc:sldMk cId="717366664" sldId="2147471190"/>
        </pc:sldMkLst>
      </pc:sldChg>
      <pc:sldChg chg="add del">
        <pc:chgData name="張天豪-數位金融處-永豐銀行" userId="0d835702-99c9-4ef6-82d8-3ca86d4ccc15" providerId="ADAL" clId="{05C68244-A0A4-5F4B-A227-C47B6FE62571}" dt="2024-10-12T11:28:19.946" v="153" actId="2696"/>
        <pc:sldMkLst>
          <pc:docMk/>
          <pc:sldMk cId="750805866" sldId="2147471190"/>
        </pc:sldMkLst>
      </pc:sldChg>
      <pc:sldChg chg="del">
        <pc:chgData name="張天豪-數位金融處-永豐銀行" userId="0d835702-99c9-4ef6-82d8-3ca86d4ccc15" providerId="ADAL" clId="{05C68244-A0A4-5F4B-A227-C47B6FE62571}" dt="2024-10-12T11:23:56.255" v="44" actId="2696"/>
        <pc:sldMkLst>
          <pc:docMk/>
          <pc:sldMk cId="3905871497" sldId="2147471190"/>
        </pc:sldMkLst>
      </pc:sldChg>
      <pc:sldMasterChg chg="modSldLayout sldLayoutOrd">
        <pc:chgData name="張天豪-數位金融處-永豐銀行" userId="0d835702-99c9-4ef6-82d8-3ca86d4ccc15" providerId="ADAL" clId="{05C68244-A0A4-5F4B-A227-C47B6FE62571}" dt="2024-11-23T00:59:06.402" v="223" actId="12"/>
        <pc:sldMasterMkLst>
          <pc:docMk/>
          <pc:sldMasterMk cId="0" sldId="2147483648"/>
        </pc:sldMasterMkLst>
        <pc:sldLayoutChg chg="modSp">
          <pc:chgData name="張天豪-數位金融處-永豐銀行" userId="0d835702-99c9-4ef6-82d8-3ca86d4ccc15" providerId="ADAL" clId="{05C68244-A0A4-5F4B-A227-C47B6FE62571}" dt="2024-10-13T02:53:19.336" v="171" actId="12"/>
          <pc:sldLayoutMkLst>
            <pc:docMk/>
            <pc:sldMasterMk cId="0" sldId="2147483648"/>
            <pc:sldLayoutMk cId="0" sldId="2147483651"/>
          </pc:sldLayoutMkLst>
        </pc:sldLayoutChg>
        <pc:sldLayoutChg chg="ord">
          <pc:chgData name="張天豪-數位金融處-永豐銀行" userId="0d835702-99c9-4ef6-82d8-3ca86d4ccc15" providerId="ADAL" clId="{05C68244-A0A4-5F4B-A227-C47B6FE62571}" dt="2024-11-11T08:29:41.246" v="213" actId="20578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張天豪-數位金融處-永豐銀行" userId="0d835702-99c9-4ef6-82d8-3ca86d4ccc15" providerId="ADAL" clId="{05C68244-A0A4-5F4B-A227-C47B6FE62571}" dt="2024-11-23T00:59:06.402" v="223" actId="12"/>
          <pc:sldLayoutMkLst>
            <pc:docMk/>
            <pc:sldMasterMk cId="0" sldId="2147483648"/>
            <pc:sldLayoutMk cId="101650560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0962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:notes"/>
          <p:cNvSpPr txBox="1">
            <a:spLocks noGrp="1"/>
          </p:cNvSpPr>
          <p:nvPr>
            <p:ph type="body" idx="1"/>
          </p:nvPr>
        </p:nvSpPr>
        <p:spPr>
          <a:xfrm>
            <a:off x="821615" y="337747"/>
            <a:ext cx="56952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indent="0">
              <a:buNone/>
            </a:pPr>
            <a:r>
              <a:rPr lang="zh-TW" altLang="en-US" sz="1400" b="0" dirty="0"/>
              <a:t>大家好，今天要分享的主題是「淺談台股量化投資：大盤籌碼篇」。</a:t>
            </a:r>
            <a:endParaRPr lang="en-US" altLang="zh-TW" sz="1400" b="0" dirty="0"/>
          </a:p>
          <a:p>
            <a:pPr marL="158750" indent="0">
              <a:buNone/>
            </a:pPr>
            <a:endParaRPr lang="zh-TW" altLang="en-US" sz="1400" b="0" dirty="0"/>
          </a:p>
          <a:p>
            <a:pPr marL="158750" indent="0">
              <a:buNone/>
            </a:pPr>
            <a:r>
              <a:rPr lang="zh-TW" altLang="en-US" sz="1400" b="0" dirty="0"/>
              <a:t>本次分享主要會從籌碼面的角度，介紹幾個常見的大盤觀察指標。這些指標主要用來觀察市場資金流向與投資人行為，協助我們判斷 市場整體趨勢與風險狀況。</a:t>
            </a:r>
          </a:p>
          <a:p>
            <a:pPr marL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</a:pPr>
            <a:endParaRPr sz="1400" dirty="0"/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3536950" y="1177925"/>
            <a:ext cx="13887450" cy="7812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在投資市場中，常見的分析方法大致可以分為三個面向：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第一是基本面，主要分析公司的長期價值，例如營收、獲利、</a:t>
            </a:r>
            <a:r>
              <a:rPr lang="en" altLang="zh-TW" dirty="0"/>
              <a:t>EPS</a:t>
            </a:r>
            <a:r>
              <a:rPr lang="zh-TW" altLang="en" dirty="0"/>
              <a:t>、</a:t>
            </a:r>
            <a:r>
              <a:rPr lang="en" altLang="zh-TW" dirty="0"/>
              <a:t>ROE</a:t>
            </a:r>
            <a:r>
              <a:rPr lang="zh-TW" altLang="en" dirty="0"/>
              <a:t>，</a:t>
            </a:r>
            <a:r>
              <a:rPr lang="zh-TW" altLang="en-US" dirty="0"/>
              <a:t>以及產業發展。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第二是技術面，透過價格與成交量，搭配 </a:t>
            </a:r>
            <a:r>
              <a:rPr lang="en" altLang="zh-TW" dirty="0"/>
              <a:t>K </a:t>
            </a:r>
            <a:r>
              <a:rPr lang="zh-TW" altLang="en-US" dirty="0"/>
              <a:t>線、均線或 </a:t>
            </a:r>
            <a:r>
              <a:rPr lang="en" altLang="zh-TW" dirty="0"/>
              <a:t>RSI </a:t>
            </a:r>
            <a:r>
              <a:rPr lang="zh-TW" altLang="en-US" dirty="0"/>
              <a:t>等技術指標，來判斷市場趨勢。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第三是籌碼面，主要觀察市場資金流向，以及法人與散戶之間的行為變化。</a:t>
            </a:r>
          </a:p>
          <a:p>
            <a:pPr marL="158750" indent="0">
              <a:buNone/>
            </a:pP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因為量化投資涵蓋的範圍相當廣，今天的分享會聚焦在大盤的籌碼面，也就是透過不同的籌碼指標觀察 市場整體的資金動向，來幫助我們理解市場趨勢，並作為投資決策的參考。</a:t>
            </a:r>
          </a:p>
        </p:txBody>
      </p:sp>
    </p:spTree>
    <p:extLst>
      <p:ext uri="{BB962C8B-B14F-4D97-AF65-F5344CB8AC3E}">
        <p14:creationId xmlns:p14="http://schemas.microsoft.com/office/powerpoint/2010/main" val="2502281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dirty="0"/>
              <a:t>在投資市場裡，有一句很經典的話。這句話出自 安德烈・科斯托蘭尼的</a:t>
            </a:r>
            <a:r>
              <a:rPr lang="en-US" altLang="zh-TW" dirty="0"/>
              <a:t>《</a:t>
            </a:r>
            <a:r>
              <a:rPr lang="zh-TW" altLang="en-US" dirty="0"/>
              <a:t>一個投機者的告白</a:t>
            </a:r>
            <a:r>
              <a:rPr lang="en-US" altLang="zh-TW" dirty="0"/>
              <a:t>》</a:t>
            </a:r>
            <a:r>
              <a:rPr lang="zh-TW" altLang="en-US" dirty="0"/>
              <a:t>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他說：在指數上漲的時候，即使選股能力普通，也可能賺到一些錢；但在指數下跌時，即使選到好股票，也很難獲利。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這句話其實點出了一個很重要的概念，就是系統性風險。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大盤會受到政治、經濟，以及整體市場環境影響。當市場走弱時，很多股票往往會一起下跌。而這類風險屬於不可分散風險，也就是說，無法單靠分散投資來完全消除。因為覆巢之下無完卵。</a:t>
            </a:r>
            <a:endParaRPr lang="en-US" altLang="zh-TW" dirty="0"/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因此在投資分析上，採用「由上而下（</a:t>
            </a:r>
            <a:r>
              <a:rPr lang="en" altLang="zh-TW" dirty="0"/>
              <a:t>Top-down</a:t>
            </a:r>
            <a:r>
              <a:rPr lang="zh-TW" altLang="en" dirty="0"/>
              <a:t>）」</a:t>
            </a:r>
            <a:r>
              <a:rPr lang="zh-TW" altLang="en-US" dirty="0"/>
              <a:t>的分析方式是很常見的做法：先看大盤趨勢，再看產業強弱，最後才是個股選擇。</a:t>
            </a:r>
          </a:p>
          <a:p>
            <a:pPr marL="158750" indent="0">
              <a:buNone/>
            </a:pPr>
            <a:endParaRPr lang="zh-TW" altLang="en-US" dirty="0"/>
          </a:p>
          <a:p>
            <a:pPr marL="158750" indent="0">
              <a:buNone/>
            </a:pPr>
            <a:r>
              <a:rPr lang="zh-TW" altLang="en-US" dirty="0"/>
              <a:t>另外，其實現在也有越來越多人不再只專注於選股，而是直接透過 </a:t>
            </a:r>
            <a:r>
              <a:rPr lang="en" altLang="zh-TW" dirty="0"/>
              <a:t>ETF </a:t>
            </a:r>
            <a:r>
              <a:rPr lang="zh-TW" altLang="en-US" dirty="0"/>
              <a:t>投資大盤指數。即使不做個股選擇，理解整體市場的趨勢與方向，仍然非常重要。這也能幫助我們在投資時，更好地判斷何時加碼，或何時減碼。</a:t>
            </a:r>
          </a:p>
        </p:txBody>
      </p:sp>
    </p:spTree>
    <p:extLst>
      <p:ext uri="{BB962C8B-B14F-4D97-AF65-F5344CB8AC3E}">
        <p14:creationId xmlns:p14="http://schemas.microsoft.com/office/powerpoint/2010/main" val="1386155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0" dirty="0"/>
              <a:t>在觀察大盤整體表現時，最常使用的指標就是加權股價指數。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加權指數是台股集中市場最主要的市場指標，它是用 市值加權的方式來計算。也就是說，公司的市值越大，對指數的影響就越大。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例如 台積電，在台股指數中的權重非常高。有時候即使很多股票下跌，只要台積電上漲，指數仍然可能收紅。市場上常會把這種情況稱為「拉積盤」。</a:t>
            </a:r>
            <a:endParaRPr lang="en-US" altLang="zh-TW" b="0" dirty="0"/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r>
              <a:rPr lang="zh-TW" altLang="en-US" b="0" dirty="0"/>
              <a:t>因此，加權指數有時候不一定能完全反映整體市場的強弱。所以在分析大盤時，除了加權指數之外，我們也會搭配一些市場寬幅指標。例如：騰落指標（</a:t>
            </a:r>
            <a:r>
              <a:rPr lang="en" altLang="zh-TW" b="0" dirty="0"/>
              <a:t>ADL</a:t>
            </a:r>
            <a:r>
              <a:rPr lang="zh-TW" altLang="en" b="0" dirty="0"/>
              <a:t>）</a:t>
            </a:r>
            <a:r>
              <a:rPr lang="zh-TW" altLang="en-US" b="0" dirty="0"/>
              <a:t>、漲跌比率（</a:t>
            </a:r>
            <a:r>
              <a:rPr lang="en" altLang="zh-TW" b="0" dirty="0"/>
              <a:t>ADR</a:t>
            </a:r>
            <a:r>
              <a:rPr lang="zh-TW" altLang="en" b="0" dirty="0"/>
              <a:t>）</a:t>
            </a:r>
            <a:r>
              <a:rPr lang="zh-TW" altLang="en-US" b="0" dirty="0"/>
              <a:t>或是超買超賣指標（</a:t>
            </a:r>
            <a:r>
              <a:rPr lang="en" altLang="zh-TW" b="0" dirty="0"/>
              <a:t>OBOS</a:t>
            </a:r>
            <a:r>
              <a:rPr lang="zh-TW" altLang="en" b="0" dirty="0"/>
              <a:t>）</a:t>
            </a:r>
            <a:r>
              <a:rPr lang="zh-TW" altLang="en-US" b="0" dirty="0"/>
              <a:t>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這些指標主要是透過上漲家數與下跌家數的變化，來觀察整體市場的廣度與強弱。透過這些指標，我們可以更全面地理解市場整體的趨勢與結構。</a:t>
            </a:r>
          </a:p>
          <a:p>
            <a:pPr marL="158750" indent="0">
              <a:buNone/>
            </a:pPr>
            <a:endParaRPr kumimoji="1"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2940845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在台股市場中，有一個很重要的觀察指標，就是三大法人買賣超。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所謂三大法人，主要包括：外資、投信，以及自營商。外資指的是經政府核准的外國機構投資者；投信則是基金公司；而自營商是證券公司使用自有資金進行交易。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在這三者之中，外資的影響力通常是最大的。外資的資金規模相對龐大，在台股集中市場的交易金額通常占三成以上。而且外資的主要交易標的，多半是大型權值股，因此對指數的影響也特別明顯。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所以在觀察市場時，我們通常會特別留意外資的買賣超動向。</a:t>
            </a:r>
            <a:b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一般來說：如果外資連續買超，市場籌碼通常偏多，比較容易帶出一段上漲行情。相反地，如果外資連續賣超，市場籌碼就可能轉為偏空。而當外資的買賣方向出現轉折，有時也可能代表市場趨勢正在發生變化。</a:t>
            </a:r>
          </a:p>
        </p:txBody>
      </p:sp>
    </p:spTree>
    <p:extLst>
      <p:ext uri="{BB962C8B-B14F-4D97-AF65-F5344CB8AC3E}">
        <p14:creationId xmlns:p14="http://schemas.microsoft.com/office/powerpoint/2010/main" val="3022566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0" dirty="0"/>
              <a:t>接下來我們來看一個常被用來觀察散戶資金動向的指標，就是融資融券餘額。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融資融券屬於信用交易，這是投資人透過券商借入資金或股票來進行交易。其中：融資是向券商借錢買股票，也就是做多；而融券則是向券商借股票賣出，也就是做空。由於法人通常比較少使用信用交易，因此在市場上，融資融券常被視為散戶資金的代表指標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另外，融資交易還有一個重要機制，就是融資維持率。當融資維持率低於 </a:t>
            </a:r>
            <a:r>
              <a:rPr lang="en-US" altLang="zh-TW" b="0" dirty="0"/>
              <a:t>130%</a:t>
            </a:r>
            <a:r>
              <a:rPr lang="zh-TW" altLang="en-US" b="0" dirty="0"/>
              <a:t> 時，券商就會發出追繳通知</a:t>
            </a:r>
            <a:r>
              <a:rPr lang="zh-TW" altLang="en" b="0" dirty="0"/>
              <a:t>。</a:t>
            </a:r>
            <a:r>
              <a:rPr lang="zh-TW" altLang="en-US" b="0" dirty="0"/>
              <a:t>如果投資人沒有補足資金，券商就會強制賣出持股，也就是所謂的斷頭。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當市場震盪出現大量融資斷頭時，就可能形成多殺多的情況，進一步加速市場下跌。因此在觀察市場時，我們也會特別留意融資融券餘額的變化。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例如：如果融資餘額大幅增加，通常代表散戶情緒偏多，市場可能出現過熱情況。而如果融資餘額大幅下降，則可能代表多數散戶退場，可以視為市場短線上的止跌訊號。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dirty="0"/>
              <a:t>另外，如果融券餘額大幅增加，代表市場累積了較多空單部位。當市場開始上漲時，這些空單可能被迫回補，就可能形成所謂的「軋空行情」。</a:t>
            </a:r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endParaRPr kumimoji="1"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475608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0" dirty="0"/>
              <a:t>接下來我們來看期貨市場。期貨是一種衍生性金融商品，本質上是對未來價格的預期交易。而在台股市場中，最常觀察的是臺股期貨，它的交易標的就是加權股價指數。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在期貨市場裡，我們會特別觀察一個數據，叫做未平倉口數（</a:t>
            </a:r>
            <a:r>
              <a:rPr lang="en" altLang="zh-TW" b="0" dirty="0"/>
              <a:t>Open Interest</a:t>
            </a:r>
            <a:r>
              <a:rPr lang="zh-TW" altLang="en" b="0" dirty="0"/>
              <a:t>）。</a:t>
            </a:r>
            <a:r>
              <a:rPr lang="zh-TW" altLang="en-US" b="0" dirty="0"/>
              <a:t>所謂未平倉口數，就是目前市場上仍然持有、尚未平倉的期貨部位。如果把多單減去空單，就可以得到未平倉淨口數。</a:t>
            </a:r>
          </a:p>
          <a:p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由於外資在現貨市場往往持有大量股票部位，因此期貨常被用來避險或進行策略布局。如果外資的期貨部位是淨多單，</a:t>
            </a:r>
            <a:br>
              <a:rPr lang="zh-TW" altLang="en-US" b="0" dirty="0"/>
            </a:br>
            <a:r>
              <a:rPr lang="zh-TW" altLang="en-US" b="0" dirty="0"/>
              <a:t>通常代表外資對後市較為樂觀；如果是 淨空單，則可能反映外資對市場較為保守，或有避險需求。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因此在觀察台股時， 我們通常會特別留意外資在期貨市場的部位變化。外資在期貨市場的多空變化， 往往可以反映 對未來行情的看法。</a:t>
            </a:r>
          </a:p>
        </p:txBody>
      </p:sp>
    </p:spTree>
    <p:extLst>
      <p:ext uri="{BB962C8B-B14F-4D97-AF65-F5344CB8AC3E}">
        <p14:creationId xmlns:p14="http://schemas.microsoft.com/office/powerpoint/2010/main" val="3679724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0" dirty="0"/>
              <a:t>除了期貨之外，另一個重要的衍生性商品市場是選擇權。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en-US" dirty="0"/>
              <a:t>選擇權其實就是用不同方式表達對行情的看法。</a:t>
            </a:r>
            <a:r>
              <a:rPr lang="zh-TW" altLang="en-US" b="0" dirty="0"/>
              <a:t>如果覺得市場會大漲，可以買進買權（</a:t>
            </a:r>
            <a:r>
              <a:rPr lang="en" altLang="zh-TW" b="0" dirty="0"/>
              <a:t>Buy Call</a:t>
            </a:r>
            <a:r>
              <a:rPr lang="zh-TW" altLang="en" b="0" dirty="0"/>
              <a:t>）；</a:t>
            </a:r>
            <a:r>
              <a:rPr lang="zh-TW" altLang="en-US" b="0" dirty="0"/>
              <a:t>如果覺得市場不太會漲，可能會賣出買權（</a:t>
            </a:r>
            <a:r>
              <a:rPr lang="en" altLang="zh-TW" b="0" dirty="0"/>
              <a:t>Sell Call</a:t>
            </a:r>
            <a:r>
              <a:rPr lang="zh-TW" altLang="en" b="0" dirty="0"/>
              <a:t>）；</a:t>
            </a:r>
          </a:p>
          <a:p>
            <a:pPr marL="158750" indent="0">
              <a:buNone/>
            </a:pPr>
            <a:r>
              <a:rPr lang="zh-TW" altLang="en-US" b="0" dirty="0"/>
              <a:t>如果覺得市場可能大跌，可以買進賣權（</a:t>
            </a:r>
            <a:r>
              <a:rPr lang="en" altLang="zh-TW" b="0" dirty="0"/>
              <a:t>Buy Put</a:t>
            </a:r>
            <a:r>
              <a:rPr lang="zh-TW" altLang="en" b="0" dirty="0"/>
              <a:t>）；</a:t>
            </a:r>
            <a:r>
              <a:rPr lang="zh-TW" altLang="en-US" b="0" dirty="0"/>
              <a:t>如果覺得市場不太會跌，則可能會賣出賣權（</a:t>
            </a:r>
            <a:r>
              <a:rPr lang="en" altLang="zh-TW" b="0" dirty="0"/>
              <a:t>Sell Put</a:t>
            </a:r>
            <a:r>
              <a:rPr lang="zh-TW" altLang="en" b="0" dirty="0"/>
              <a:t>）。</a:t>
            </a:r>
            <a:endParaRPr lang="en-US" altLang="zh-TW" b="0" dirty="0"/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r>
              <a:rPr lang="zh-TW" altLang="en-US" b="0" dirty="0"/>
              <a:t>在分析選擇權時，我們通常會觀察未平倉部位的契約金額。因為選擇權不同履約價的權利金差異很大，如果只看口數，有時不容易反映實際資金規模。因此會透過契約金額加總，來觀察市場在買權與賣權上的資金配置。</a:t>
            </a:r>
            <a:endParaRPr lang="en-US" altLang="zh-TW" b="0" dirty="0"/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r>
              <a:rPr lang="zh-TW" altLang="en-US" b="0" dirty="0"/>
              <a:t>如果外資在選擇權市場整體呈現淨買權部位，通常代表對後市看法偏多；如果呈現淨賣權部位，則可能代表對後市看法較為保守。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當期貨與選擇權的訊號方向一致時，通常代表外資對市場的看法比較明確，訊號的可靠度也會相對提高。</a:t>
            </a:r>
          </a:p>
          <a:p>
            <a:pPr marL="158750" indent="0">
              <a:buNone/>
            </a:pPr>
            <a:endParaRPr kumimoji="1"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3702808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0" dirty="0"/>
              <a:t>在觀察法人籌碼時，除了期貨與選擇權之外，還有一個值得參考的指標，就是大額交易人未沖銷部位。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期交所會統計市場上交易口數最大的交易人，分為前五大或前十大交易人。這些大額交易人，又可以進一步區分為特定法人，例如外資、投信與自營商；以及非特定法人，也就是市場上的大型交易者或大戶。</a:t>
            </a:r>
            <a:endParaRPr lang="en-US" altLang="zh-TW" b="0" dirty="0"/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r>
              <a:rPr lang="zh-TW" altLang="en-US" b="0" dirty="0"/>
              <a:t>在分析時，我們通常會特別觀察遠月契約的部位變化。台指期貨每個月第三個星期三都會進行結算，因此越靠近結算日前，近月契約的部位通常會逐漸轉倉到遠月。所以如果在結算之前，看到遠月契約的多空部位出現明顯變化，有時也可能反映市場對未來行情的看法。</a:t>
            </a:r>
            <a:endParaRPr lang="en-US" altLang="zh-TW" b="0" dirty="0"/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r>
              <a:rPr lang="zh-TW" altLang="en-US" b="0" dirty="0"/>
              <a:t>例如，如果遠月淨多單增加，通常代表大型交易人看好未來台股走勢；如果 遠月淨空單增加，則可能反映對未來市場較為保守。</a:t>
            </a:r>
            <a:endParaRPr lang="en-US" altLang="zh-TW" b="0" dirty="0"/>
          </a:p>
          <a:p>
            <a:pPr marL="158750" indent="0">
              <a:buNone/>
            </a:pPr>
            <a:endParaRPr lang="zh-TW" altLang="en-US" b="0" dirty="0"/>
          </a:p>
          <a:p>
            <a:pPr marL="158750" indent="0">
              <a:buNone/>
            </a:pPr>
            <a:r>
              <a:rPr lang="zh-TW" altLang="en-US" b="0" dirty="0"/>
              <a:t>因此觀察大額交易人的部位變化，有時也能提供一些領先市場的參考訊號。</a:t>
            </a:r>
          </a:p>
        </p:txBody>
      </p:sp>
    </p:spTree>
    <p:extLst>
      <p:ext uri="{BB962C8B-B14F-4D97-AF65-F5344CB8AC3E}">
        <p14:creationId xmlns:p14="http://schemas.microsoft.com/office/powerpoint/2010/main" val="3363355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我們也可以從台股期貨市場觀察散戶的交易行為。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大台、小台與微台，其實都是以加權指數為標的的期貨合約，只是合約規模不同。一般來說，大台期貨比較常由法人或大型交易者參與，因為需要較高的原始保證金；而小台期貨與微台期貨交易門檻較低，因此比較常見於散戶交易。</a:t>
            </a:r>
            <a:b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透過觀察小台期貨的多空比，我們可以大致了解散戶在期貨市場的部位方向。所謂散戶多空比，就是散戶多單與空單的比例。這個數據是透過小台或微台期貨的交易口數，扣除法人與大戶部位後，來推估散戶整體的多空部位。</a:t>
            </a: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如果散戶多單比例偏高，代表散戶整體偏向看多；如果空單比例偏高，則代表散戶整體偏向看空。在市場觀察中，散戶的部位被視為一種反向參考指標。當散戶過度看多時，市場有時反而容易出現回檔；而當散戶普遍看空時，市場有時反而可能出現反彈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因此透過觀察法人、大戶與散戶在不同市場中的籌碼變化，可以幫助我們更全面地理解市場資金流向，以及整體盤勢變化。</a:t>
            </a:r>
          </a:p>
          <a:p>
            <a:pPr marL="158750" indent="0">
              <a:buNone/>
            </a:pPr>
            <a:endParaRPr kumimoji="1"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4287979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最後簡單做一個總結。在觀察大盤時，我們可以透過不同的籌碼指標，來理解市場資金的流向與整體盤勢。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例如從三大法人買賣超，可以觀察法人資金動向；透過期貨與選擇權未平倉部位，可以了解法人在衍生性商品市場的布局；而融資融券與小台期貨多空比，則可以幫助我們觀察散戶的交易行為。</a:t>
            </a:r>
          </a:p>
          <a:p>
            <a:pPr marL="158750" indent="0">
              <a:buNone/>
            </a:pPr>
            <a:endParaRPr lang="zh-TW" alt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透過法人、大戶與散戶在不同市場中的籌碼變化，我們就能更全面地理解市場資金的流向與大盤趨勢。</a:t>
            </a: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endParaRPr lang="en-US" altLang="zh-TW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zh-TW" alt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這些資訊雖然無法保證市場走勢，但可以作為投資決策的重要參考。</a:t>
            </a:r>
          </a:p>
          <a:p>
            <a:pPr marL="15875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5697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zh-TW" altLang="en-US" b="0" dirty="0"/>
              <a:t>最後簡單介紹一個我實作的工具。為了方便觀察剛剛提到的各種大盤籌碼指標，我實作了一個線上平台，叫做 </a:t>
            </a:r>
            <a:r>
              <a:rPr lang="en" altLang="zh-TW" b="0" dirty="0" err="1"/>
              <a:t>TaiBaro</a:t>
            </a:r>
            <a:r>
              <a:rPr lang="zh-TW" altLang="en" b="0" dirty="0"/>
              <a:t>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平台會整合例如 三大法人、融資融券、期貨與選擇權未平倉</a:t>
            </a:r>
            <a:r>
              <a:rPr lang="en-US" altLang="zh-TW" b="0" dirty="0"/>
              <a:t> </a:t>
            </a:r>
            <a:r>
              <a:rPr lang="zh-TW" altLang="en-US" b="0" dirty="0"/>
              <a:t>等市場資料，並透過 視覺化圖表 來呈現。</a:t>
            </a:r>
            <a:endParaRPr lang="en-US" altLang="zh-TW" b="0" dirty="0"/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另外平台也設計了一個「晴雨等級」的指標系統，分成 強多、偏多、中性、偏空、強空 </a:t>
            </a:r>
            <a:r>
              <a:rPr lang="en-US" altLang="zh-TW" b="0" dirty="0"/>
              <a:t>5 </a:t>
            </a:r>
            <a:r>
              <a:rPr lang="zh-TW" altLang="en-US" b="0" dirty="0"/>
              <a:t>個等級，讓 </a:t>
            </a:r>
            <a:r>
              <a:rPr lang="en-US" altLang="zh-TW" b="0" dirty="0"/>
              <a:t>AI </a:t>
            </a:r>
            <a:r>
              <a:rPr lang="zh-TW" altLang="en-US" b="0" dirty="0"/>
              <a:t>自動判讀目前市場的強弱狀態。</a:t>
            </a:r>
          </a:p>
          <a:p>
            <a:pPr marL="158750" indent="0">
              <a:buNone/>
            </a:pPr>
            <a:endParaRPr lang="en-US" altLang="zh-TW" b="0" dirty="0"/>
          </a:p>
          <a:p>
            <a:pPr marL="158750" indent="0">
              <a:buNone/>
            </a:pPr>
            <a:r>
              <a:rPr lang="zh-TW" altLang="en-US" b="0" dirty="0"/>
              <a:t>透過這些資訊，使用者可以更直觀地觀察市場資金動向與整體盤勢變化。如果有興趣的話，也歡迎到網站上實際看看。</a:t>
            </a:r>
          </a:p>
          <a:p>
            <a:pPr marL="158750" indent="0">
              <a:buNone/>
            </a:pPr>
            <a:endParaRPr kumimoji="1" lang="zh-TW" altLang="en-US" b="0" dirty="0"/>
          </a:p>
        </p:txBody>
      </p:sp>
    </p:spTree>
    <p:extLst>
      <p:ext uri="{BB962C8B-B14F-4D97-AF65-F5344CB8AC3E}">
        <p14:creationId xmlns:p14="http://schemas.microsoft.com/office/powerpoint/2010/main" val="303079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userDrawn="1">
  <p:cSld name="標題及物件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179388" y="72000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38"/>
            <a:ext cx="111617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cxnSp>
        <p:nvCxnSpPr>
          <p:cNvPr id="20" name="Google Shape;20;p34"/>
          <p:cNvCxnSpPr>
            <a:cxnSpLocks/>
          </p:cNvCxnSpPr>
          <p:nvPr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603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9;p32">
            <a:extLst>
              <a:ext uri="{FF2B5EF4-FFF2-40B4-BE49-F238E27FC236}">
                <a16:creationId xmlns:a16="http://schemas.microsoft.com/office/drawing/2014/main" id="{728D7485-3340-DD7C-9D2E-D9DE76FC1DDB}"/>
              </a:ext>
            </a:extLst>
          </p:cNvPr>
          <p:cNvCxnSpPr>
            <a:cxnSpLocks/>
          </p:cNvCxnSpPr>
          <p:nvPr userDrawn="1"/>
        </p:nvCxnSpPr>
        <p:spPr>
          <a:xfrm>
            <a:off x="1440000" y="2880000"/>
            <a:ext cx="576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0;p32">
            <a:extLst>
              <a:ext uri="{FF2B5EF4-FFF2-40B4-BE49-F238E27FC236}">
                <a16:creationId xmlns:a16="http://schemas.microsoft.com/office/drawing/2014/main" id="{7B925996-2FA7-4A3F-652D-7B1D8634C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576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0000" tIns="46800" rIns="90000" bIns="468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137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32"/>
          <p:cNvCxnSpPr>
            <a:cxnSpLocks/>
          </p:cNvCxnSpPr>
          <p:nvPr/>
        </p:nvCxnSpPr>
        <p:spPr>
          <a:xfrm>
            <a:off x="1440000" y="2880000"/>
            <a:ext cx="8640000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1440000" y="2160000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3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None/>
              <a:defRPr sz="180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1440000" y="4320000"/>
            <a:ext cx="864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28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body" idx="2"/>
          </p:nvPr>
        </p:nvSpPr>
        <p:spPr>
          <a:xfrm>
            <a:off x="1440000" y="5040000"/>
            <a:ext cx="864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>
            <a:lvl1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Microsoft JhengHei"/>
              <a:buNone/>
              <a:defRPr sz="160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imes New Roman"/>
              <a:buNone/>
              <a:defRPr sz="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兩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;p49">
            <a:extLst>
              <a:ext uri="{FF2B5EF4-FFF2-40B4-BE49-F238E27FC236}">
                <a16:creationId xmlns:a16="http://schemas.microsoft.com/office/drawing/2014/main" id="{4B1AA4F1-C32F-CE82-074E-09C516818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388" y="71438"/>
            <a:ext cx="11161712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6" name="Google Shape;30;p49">
            <a:extLst>
              <a:ext uri="{FF2B5EF4-FFF2-40B4-BE49-F238E27FC236}">
                <a16:creationId xmlns:a16="http://schemas.microsoft.com/office/drawing/2014/main" id="{29CA88E3-41D3-FF37-BF7E-B456D3066D29}"/>
              </a:ext>
            </a:extLst>
          </p:cNvPr>
          <p:cNvCxnSpPr>
            <a:cxnSpLocks/>
          </p:cNvCxnSpPr>
          <p:nvPr userDrawn="1"/>
        </p:nvCxnSpPr>
        <p:spPr>
          <a:xfrm>
            <a:off x="179388" y="612000"/>
            <a:ext cx="11161712" cy="0"/>
          </a:xfrm>
          <a:prstGeom prst="straightConnector1">
            <a:avLst/>
          </a:prstGeom>
          <a:noFill/>
          <a:ln w="158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9;p34">
            <a:extLst>
              <a:ext uri="{FF2B5EF4-FFF2-40B4-BE49-F238E27FC236}">
                <a16:creationId xmlns:a16="http://schemas.microsoft.com/office/drawing/2014/main" id="{E8E59DF3-723D-F8D2-F968-6FCDA67BCDDC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179388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4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2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10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sz="8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7" name="Google Shape;19;p34">
            <a:extLst>
              <a:ext uri="{FF2B5EF4-FFF2-40B4-BE49-F238E27FC236}">
                <a16:creationId xmlns:a16="http://schemas.microsoft.com/office/drawing/2014/main" id="{AB88F2E6-F0E1-9028-69C7-33CBCB9759A2}"/>
              </a:ext>
            </a:extLst>
          </p:cNvPr>
          <p:cNvSpPr txBox="1">
            <a:spLocks noGrp="1"/>
          </p:cNvSpPr>
          <p:nvPr>
            <p:ph type="body" idx="10" hasCustomPrompt="1"/>
          </p:nvPr>
        </p:nvSpPr>
        <p:spPr>
          <a:xfrm>
            <a:off x="5868990" y="719149"/>
            <a:ext cx="5472112" cy="5401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t" anchorCtr="0">
            <a:noAutofit/>
          </a:bodyPr>
          <a:lstStyle>
            <a:lvl1pPr marL="252000" marR="0" lvl="0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6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1pPr>
            <a:lvl2pPr marL="504000" marR="0" lvl="1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4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2pPr>
            <a:lvl3pPr marL="756000" marR="0" lvl="2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2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3pPr>
            <a:lvl4pPr marL="1008000" marR="0" lvl="3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zh-TW" altLang="en-US" sz="10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4pPr>
            <a:lvl5pPr marL="1260000" marR="0" lvl="4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標準系統字體"/>
              <a:buChar char="○"/>
              <a:defRPr lang="en-US" altLang="zh-TW" sz="800" b="0" i="0" u="none" strike="noStrike" cap="none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Microsoft JhengHei"/>
              </a:defRPr>
            </a:lvl5pPr>
            <a:lvl6pPr marL="1512000" marR="0" lvl="5" indent="-216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Microsoft JhengHei Light" panose="020B0304030504040204" pitchFamily="34" charset="-120"/>
              <a:buChar char="o"/>
              <a:defRPr sz="1600" b="0" i="0" u="none" strike="noStrike" cap="none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"/>
                <a:sym typeface="Robot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5489A3"/>
              </a:buClr>
              <a:buSzPts val="2000"/>
              <a:buFont typeface="Roboto"/>
              <a:buChar char="–"/>
              <a:defRPr sz="2000" b="0" i="0" u="none" strike="noStrike" cap="none">
                <a:solidFill>
                  <a:srgbClr val="5489A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/>
            <a:r>
              <a:rPr lang="zh-TW" altLang="en-US"/>
              <a:t>第一層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1650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4E9B3DD-FAA0-DF43-8AE4-2105CE51701D}"/>
              </a:ext>
            </a:extLst>
          </p:cNvPr>
          <p:cNvSpPr txBox="1"/>
          <p:nvPr userDrawn="1"/>
        </p:nvSpPr>
        <p:spPr>
          <a:xfrm>
            <a:off x="604826" y="608597"/>
            <a:ext cx="1031083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96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Template Version</a:t>
            </a:r>
          </a:p>
          <a:p>
            <a:pPr algn="ctr"/>
            <a:r>
              <a:rPr kumimoji="1" lang="en-US" altLang="zh-TW" sz="2400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v7.1</a:t>
            </a:r>
            <a:endParaRPr kumimoji="1" lang="zh-TW" altLang="en-US" sz="2400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910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31D3636-C8D9-A34B-A3BF-045464A9529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4000"/>
            <a:ext cx="4406303" cy="705606"/>
          </a:xfrm>
          <a:prstGeom prst="rect">
            <a:avLst/>
          </a:prstGeom>
        </p:spPr>
      </p:pic>
      <p:sp>
        <p:nvSpPr>
          <p:cNvPr id="6" name="Google Shape;6;p31"/>
          <p:cNvSpPr/>
          <p:nvPr/>
        </p:nvSpPr>
        <p:spPr>
          <a:xfrm>
            <a:off x="0" y="6237968"/>
            <a:ext cx="381603" cy="242207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88150" tIns="44050" rIns="88150" bIns="44050" anchor="b" anchorCtr="0">
            <a:spAutoFit/>
          </a:bodyPr>
          <a:lstStyle/>
          <a:p>
            <a:pPr marL="0" marR="0" lvl="0" indent="0" algn="ctr" rtl="0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Arial"/>
                <a:sym typeface="Arial"/>
              </a:rPr>
              <a:pPr marL="0" marR="0" lvl="0" indent="0" algn="ctr" rtl="0">
                <a:lnSpc>
                  <a:spcPct val="8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Arial"/>
              <a:sym typeface="Arial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D86D7F2-4668-134E-BDFC-68995583691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000" y="6156000"/>
            <a:ext cx="2462731" cy="2912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2DBFD30-7CBC-FF44-A3CD-E1370C8D3C2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62000" y="6228000"/>
            <a:ext cx="1636426" cy="20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4000" b="1" kern="120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+mn-cs"/>
              </a:defRPr>
            </a:lvl9pPr>
          </a:lstStyle>
          <a:p>
            <a:pPr algn="ctr" eaLnBrk="1" hangingPunct="1">
              <a:lnSpc>
                <a:spcPts val="964"/>
              </a:lnSpc>
              <a:defRPr/>
            </a:pPr>
            <a:r>
              <a:rPr lang="zh-TW" altLang="en-US" sz="800" b="0">
                <a:solidFill>
                  <a:srgbClr val="B2B2B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機密資料僅限永豐金控內部使用 </a:t>
            </a:r>
            <a:endParaRPr lang="en-US" altLang="zh-TW" sz="800" b="0">
              <a:solidFill>
                <a:srgbClr val="B2B2B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7" r:id="rId3"/>
    <p:sldLayoutId id="2147483649" r:id="rId4"/>
    <p:sldLayoutId id="2147483659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041" userDrawn="1">
          <p15:clr>
            <a:srgbClr val="F26B43"/>
          </p15:clr>
        </p15:guide>
        <p15:guide id="2" pos="3697" userDrawn="1">
          <p15:clr>
            <a:srgbClr val="A4A3A4"/>
          </p15:clr>
        </p15:guide>
        <p15:guide id="3" pos="7144" userDrawn="1">
          <p15:clr>
            <a:srgbClr val="A4A3A4"/>
          </p15:clr>
        </p15:guide>
        <p15:guide id="4" pos="113" userDrawn="1">
          <p15:clr>
            <a:srgbClr val="A4A3A4"/>
          </p15:clr>
        </p15:guide>
        <p15:guide id="5" orient="horz" pos="3855" userDrawn="1">
          <p15:clr>
            <a:srgbClr val="A4A3A4"/>
          </p15:clr>
        </p15:guide>
        <p15:guide id="6" orient="horz" pos="45" userDrawn="1">
          <p15:clr>
            <a:srgbClr val="A4A3A4"/>
          </p15:clr>
        </p15:guide>
        <p15:guide id="11" pos="3629" userDrawn="1">
          <p15:clr>
            <a:srgbClr val="F26B43"/>
          </p15:clr>
        </p15:guide>
        <p15:guide id="12" pos="3560" userDrawn="1">
          <p15:clr>
            <a:srgbClr val="A4A3A4"/>
          </p15:clr>
        </p15:guide>
        <p15:guide id="13" pos="2495" userDrawn="1">
          <p15:clr>
            <a:srgbClr val="A4A3A4"/>
          </p15:clr>
        </p15:guide>
        <p15:guide id="14" pos="2381" userDrawn="1">
          <p15:clr>
            <a:srgbClr val="A4A3A4"/>
          </p15:clr>
        </p15:guide>
        <p15:guide id="15" pos="4762" userDrawn="1">
          <p15:clr>
            <a:srgbClr val="A4A3A4"/>
          </p15:clr>
        </p15:guide>
        <p15:guide id="16" pos="4876" userDrawn="1">
          <p15:clr>
            <a:srgbClr val="A4A3A4"/>
          </p15:clr>
        </p15:guide>
        <p15:guide id="18" orient="horz" pos="385" userDrawn="1">
          <p15:clr>
            <a:srgbClr val="A4A3A4"/>
          </p15:clr>
        </p15:guide>
        <p15:guide id="19" orient="horz" pos="4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aibaro.chunkai.dev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 txBox="1">
            <a:spLocks noGrp="1"/>
          </p:cNvSpPr>
          <p:nvPr>
            <p:ph type="title"/>
          </p:nvPr>
        </p:nvSpPr>
        <p:spPr>
          <a:xfrm>
            <a:off x="1440000" y="20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sz="4400" b="1" dirty="0"/>
              <a:t>淺談台股量化投資</a:t>
            </a:r>
            <a:endParaRPr lang="en-US" sz="4400" b="1" dirty="0"/>
          </a:p>
        </p:txBody>
      </p:sp>
      <p:sp>
        <p:nvSpPr>
          <p:cNvPr id="37" name="Google Shape;3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altLang="en-US" sz="2800" b="0" dirty="0"/>
              <a:t>數位科技處 </a:t>
            </a:r>
            <a:r>
              <a:rPr lang="en-US" altLang="zh-TW" sz="2800" b="0" dirty="0"/>
              <a:t>– </a:t>
            </a:r>
            <a:r>
              <a:rPr lang="zh-TW" altLang="en-US" sz="2800" b="0" dirty="0"/>
              <a:t>數位科技發展組</a:t>
            </a:r>
            <a:endParaRPr sz="2800" b="0" dirty="0"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b="0" dirty="0"/>
              <a:t>2024.03.09</a:t>
            </a:r>
            <a:endParaRPr lang="en-US" sz="1600" b="0" dirty="0"/>
          </a:p>
        </p:txBody>
      </p:sp>
      <p:sp>
        <p:nvSpPr>
          <p:cNvPr id="2" name="Google Shape;36;p1">
            <a:extLst>
              <a:ext uri="{FF2B5EF4-FFF2-40B4-BE49-F238E27FC236}">
                <a16:creationId xmlns:a16="http://schemas.microsoft.com/office/drawing/2014/main" id="{54650CD5-C1B9-D7DB-46A1-AE5D76D77848}"/>
              </a:ext>
            </a:extLst>
          </p:cNvPr>
          <p:cNvSpPr txBox="1">
            <a:spLocks/>
          </p:cNvSpPr>
          <p:nvPr/>
        </p:nvSpPr>
        <p:spPr>
          <a:xfrm>
            <a:off x="1440000" y="2970261"/>
            <a:ext cx="86400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150" tIns="44050" rIns="88150" bIns="4405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 b="1" dirty="0"/>
              <a:t>大盤籌碼篇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1F63A5-F21D-3560-F0F7-125F4630F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投資分析的三個面向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DF7CAB-0405-1E13-8981-5652E964F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投資市場常見的分析方法，可從 </a:t>
            </a:r>
            <a:r>
              <a:rPr lang="zh-TW" altLang="en-US" b="1" dirty="0"/>
              <a:t>基本面</a:t>
            </a:r>
            <a:r>
              <a:rPr lang="zh-TW" altLang="en-US" dirty="0"/>
              <a:t>、</a:t>
            </a:r>
            <a:r>
              <a:rPr lang="zh-TW" altLang="en-US" b="1" dirty="0"/>
              <a:t>技術面 </a:t>
            </a:r>
            <a:r>
              <a:rPr lang="zh-TW" altLang="en-US" dirty="0"/>
              <a:t>與 </a:t>
            </a:r>
            <a:r>
              <a:rPr lang="zh-TW" altLang="en-US" b="1" dirty="0"/>
              <a:t>籌碼面</a:t>
            </a:r>
            <a:r>
              <a:rPr lang="zh-TW" altLang="en-US" dirty="0"/>
              <a:t> 三個面向觀察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b="1" dirty="0"/>
              <a:t>本篇聚焦：大盤籌碼分析 </a:t>
            </a:r>
            <a:r>
              <a:rPr lang="zh-TW" altLang="en-US" dirty="0"/>
              <a:t>→ 透過籌碼指標觀察市場資金動向與大盤趨勢</a:t>
            </a:r>
          </a:p>
          <a:p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AFD744E-F8D8-44BD-372B-3216A3537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281166"/>
              </p:ext>
            </p:extLst>
          </p:nvPr>
        </p:nvGraphicFramePr>
        <p:xfrm>
          <a:off x="540244" y="1328256"/>
          <a:ext cx="10440000" cy="2697206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561613303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3600502695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940150857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3541124933"/>
                    </a:ext>
                  </a:extLst>
                </a:gridCol>
              </a:tblGrid>
              <a:tr h="442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b="1" dirty="0"/>
                        <a:t>分析面向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分析重點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常見指標 </a:t>
                      </a:r>
                      <a:r>
                        <a:rPr lang="en-US" altLang="zh-TW" sz="1400" b="1" dirty="0"/>
                        <a:t>/ </a:t>
                      </a:r>
                      <a:r>
                        <a:rPr lang="zh-TW" altLang="en-US" sz="1400" b="1" dirty="0"/>
                        <a:t>工具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b="1" dirty="0"/>
                        <a:t>回答的問題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699097"/>
                  </a:ext>
                </a:extLst>
              </a:tr>
              <a:tr h="75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b="1" dirty="0"/>
                        <a:t>基本面</a:t>
                      </a:r>
                      <a:endParaRPr lang="e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分析公司或經濟的內在價值與</a:t>
                      </a:r>
                      <a:br>
                        <a:rPr lang="en-US" altLang="zh-TW" sz="1400" dirty="0"/>
                      </a:br>
                      <a:r>
                        <a:rPr lang="zh-TW" altLang="en-US" sz="1400" dirty="0"/>
                        <a:t>長期成長性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營收、獲利、</a:t>
                      </a:r>
                      <a:r>
                        <a:rPr lang="en" sz="1400" dirty="0"/>
                        <a:t>EPS、ROE、</a:t>
                      </a:r>
                      <a:br>
                        <a:rPr lang="en" sz="1400" dirty="0"/>
                      </a:br>
                      <a:r>
                        <a:rPr lang="zh-TW" altLang="en-US" sz="1400" dirty="0"/>
                        <a:t>產業景氣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公司長期價值如何？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310113"/>
                  </a:ext>
                </a:extLst>
              </a:tr>
              <a:tr h="75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b="1" dirty="0"/>
                        <a:t>技術面</a:t>
                      </a:r>
                      <a:endParaRPr lang="e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透過價格與成交量判斷市場趨勢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400" dirty="0"/>
                        <a:t>K</a:t>
                      </a:r>
                      <a:r>
                        <a:rPr lang="zh-TW" altLang="en-US" sz="1400" dirty="0"/>
                        <a:t>線型態、均線（</a:t>
                      </a:r>
                      <a:r>
                        <a:rPr lang="en" sz="1400" dirty="0"/>
                        <a:t>MA）、RSI、MACD、</a:t>
                      </a:r>
                      <a:r>
                        <a:rPr lang="zh-TW" altLang="en-US" sz="1400" dirty="0"/>
                        <a:t>成交量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價格趨勢往哪裡走？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14132"/>
                  </a:ext>
                </a:extLst>
              </a:tr>
              <a:tr h="7516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400" b="1" dirty="0"/>
                        <a:t>籌碼面</a:t>
                      </a:r>
                      <a:endParaRPr lang="e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觀察市場資金流向與投資人行為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三大法人買賣超、融資融券、</a:t>
                      </a:r>
                      <a:br>
                        <a:rPr lang="en-US" altLang="zh-TW" sz="1400" dirty="0"/>
                      </a:br>
                      <a:r>
                        <a:rPr lang="zh-TW" altLang="en-US" sz="1400" dirty="0"/>
                        <a:t>期貨與選擇權未平倉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400" dirty="0"/>
                        <a:t>市場資金正在往哪裡流動？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666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5151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9D2C47F-F8DE-43CB-B46D-D6A6AF833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為何投資要先看大盤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B0BEFF6-7576-F03B-6928-72A9AEB6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ts val="2400"/>
              </a:lnSpc>
              <a:spcAft>
                <a:spcPts val="600"/>
              </a:spcAft>
            </a:pPr>
            <a:r>
              <a:rPr lang="zh-TW" altLang="en-US" b="1" dirty="0"/>
              <a:t>安德烈 </a:t>
            </a:r>
            <a:r>
              <a:rPr lang="en-US" altLang="zh-TW" b="1" dirty="0"/>
              <a:t>·</a:t>
            </a:r>
            <a:r>
              <a:rPr lang="zh-TW" altLang="en-US" b="1" dirty="0"/>
              <a:t> 科斯托蘭尼（</a:t>
            </a:r>
            <a:r>
              <a:rPr lang="en" altLang="zh-TW" b="1" dirty="0"/>
              <a:t>André </a:t>
            </a:r>
            <a:r>
              <a:rPr lang="en" altLang="zh-TW" b="1" dirty="0" err="1"/>
              <a:t>Kostolany</a:t>
            </a:r>
            <a:r>
              <a:rPr lang="zh-TW" altLang="en" b="1" dirty="0"/>
              <a:t>）</a:t>
            </a:r>
            <a:r>
              <a:rPr lang="zh-TW" altLang="en-US" b="1" dirty="0"/>
              <a:t>：「在指數上漲過程中，即使是最差的投機人士也能賺到一些錢；而在指數下跌過程中，即使挑到好股票的人也賺不到錢。因此投資最看重的是普遍的趨勢，其次才是選股。」</a:t>
            </a:r>
            <a:r>
              <a:rPr lang="en-US" altLang="zh-TW" b="1" dirty="0"/>
              <a:t>《</a:t>
            </a:r>
            <a:r>
              <a:rPr lang="zh-TW" altLang="en-US" b="1" dirty="0"/>
              <a:t>一個投機者的告白</a:t>
            </a:r>
            <a:r>
              <a:rPr lang="en-US" altLang="zh-TW" b="1" dirty="0"/>
              <a:t>》</a:t>
            </a:r>
          </a:p>
          <a:p>
            <a:pPr marL="36000" indent="0">
              <a:buNone/>
            </a:pPr>
            <a:endParaRPr lang="en-US" altLang="zh-TW" sz="1400" b="1" dirty="0"/>
          </a:p>
          <a:p>
            <a:r>
              <a:rPr lang="zh-TW" altLang="en-US" b="1" dirty="0"/>
              <a:t>覆巢之下無完卵</a:t>
            </a:r>
            <a:endParaRPr lang="en-US" altLang="zh-TW" b="1" dirty="0"/>
          </a:p>
          <a:p>
            <a:pPr lvl="1"/>
            <a:r>
              <a:rPr lang="zh-TW" altLang="en-US" dirty="0"/>
              <a:t>大盤風險又稱 </a:t>
            </a:r>
            <a:r>
              <a:rPr lang="zh-TW" altLang="en-US" b="1" dirty="0">
                <a:solidFill>
                  <a:schemeClr val="accent4"/>
                </a:solidFill>
              </a:rPr>
              <a:t>系統性風險 </a:t>
            </a:r>
            <a:r>
              <a:rPr lang="zh-TW" altLang="en-US" b="1" dirty="0"/>
              <a:t>或 </a:t>
            </a:r>
            <a:r>
              <a:rPr lang="zh-TW" altLang="en-US" b="1" dirty="0">
                <a:solidFill>
                  <a:schemeClr val="accent4"/>
                </a:solidFill>
              </a:rPr>
              <a:t>市場風險</a:t>
            </a:r>
            <a:endParaRPr lang="zh-TW" altLang="en-US" dirty="0"/>
          </a:p>
          <a:p>
            <a:pPr lvl="1"/>
            <a:r>
              <a:rPr lang="zh-TW" altLang="en-US" dirty="0"/>
              <a:t>受政治、經濟等大環境因素影響</a:t>
            </a:r>
          </a:p>
          <a:p>
            <a:pPr lvl="1"/>
            <a:r>
              <a:rPr lang="zh-TW" altLang="en-US" dirty="0"/>
              <a:t>是 </a:t>
            </a:r>
            <a:r>
              <a:rPr lang="zh-TW" altLang="en-US" b="1" dirty="0">
                <a:solidFill>
                  <a:schemeClr val="accent4"/>
                </a:solidFill>
              </a:rPr>
              <a:t>不可分散風險</a:t>
            </a:r>
            <a:r>
              <a:rPr lang="zh-TW" altLang="en-US" dirty="0"/>
              <a:t>，無法靠分散投資消除</a:t>
            </a:r>
          </a:p>
          <a:p>
            <a:pPr lvl="1"/>
            <a:r>
              <a:rPr lang="zh-TW" altLang="en-US" dirty="0"/>
              <a:t>大盤不佳時，個股普遍皆下跌</a:t>
            </a:r>
          </a:p>
          <a:p>
            <a:endParaRPr lang="en-US" altLang="zh-TW" sz="1400" dirty="0"/>
          </a:p>
          <a:p>
            <a:r>
              <a:rPr lang="zh-TW" altLang="en-US" b="1" dirty="0"/>
              <a:t>由上而下投資策略</a:t>
            </a:r>
            <a:endParaRPr lang="en-US" altLang="zh-TW" dirty="0"/>
          </a:p>
          <a:p>
            <a:pPr lvl="1"/>
            <a:r>
              <a:rPr lang="zh-TW" altLang="en-US" dirty="0"/>
              <a:t>分析三個層次，由上而下依序確認：</a:t>
            </a:r>
            <a:endParaRPr lang="en-US" altLang="zh-TW" dirty="0"/>
          </a:p>
          <a:p>
            <a:pPr marL="288000" lvl="1" indent="0">
              <a:buNone/>
            </a:pPr>
            <a:r>
              <a:rPr lang="en-US" altLang="zh-TW" dirty="0"/>
              <a:t>        </a:t>
            </a:r>
            <a:r>
              <a:rPr lang="zh-TW" altLang="en-US" b="1" dirty="0"/>
              <a:t>大盤</a:t>
            </a:r>
            <a:r>
              <a:rPr lang="zh-TW" altLang="en-US" dirty="0"/>
              <a:t>（整體市場趨勢）</a:t>
            </a:r>
          </a:p>
          <a:p>
            <a:pPr marL="288000" lvl="1" indent="0">
              <a:buNone/>
            </a:pPr>
            <a:r>
              <a:rPr lang="zh-TW" altLang="en-US" dirty="0"/>
              <a:t> </a:t>
            </a:r>
            <a:r>
              <a:rPr lang="en-US" altLang="zh-TW" dirty="0"/>
              <a:t>        </a:t>
            </a:r>
            <a:r>
              <a:rPr lang="zh-TW" altLang="en-US" dirty="0"/>
              <a:t>└── </a:t>
            </a:r>
            <a:r>
              <a:rPr lang="zh-TW" altLang="en-US" b="1" dirty="0"/>
              <a:t>產業</a:t>
            </a:r>
            <a:r>
              <a:rPr lang="zh-TW" altLang="en-US" dirty="0"/>
              <a:t>（強勢產業篩選）</a:t>
            </a:r>
          </a:p>
          <a:p>
            <a:pPr marL="288000" lvl="1" indent="0">
              <a:buNone/>
            </a:pPr>
            <a:r>
              <a:rPr lang="zh-TW" altLang="en-US" dirty="0"/>
              <a:t>           </a:t>
            </a:r>
            <a:r>
              <a:rPr lang="en-US" altLang="zh-TW" dirty="0"/>
              <a:t>        </a:t>
            </a:r>
            <a:r>
              <a:rPr lang="zh-TW" altLang="en-US" dirty="0"/>
              <a:t>└── </a:t>
            </a:r>
            <a:r>
              <a:rPr lang="zh-TW" altLang="en-US" b="1" dirty="0"/>
              <a:t>個股</a:t>
            </a:r>
            <a:r>
              <a:rPr lang="zh-TW" altLang="en-US" dirty="0"/>
              <a:t>（理想標的選擇）</a:t>
            </a:r>
          </a:p>
          <a:p>
            <a:endParaRPr lang="zh-TW" altLang="en-US" sz="1400" dirty="0"/>
          </a:p>
          <a:p>
            <a:endParaRPr lang="en-US" altLang="zh-TW" sz="1400" dirty="0"/>
          </a:p>
          <a:p>
            <a:pPr marL="36000" indent="0">
              <a:buNone/>
            </a:pPr>
            <a:endParaRPr lang="en-US" altLang="zh-TW" sz="1400" dirty="0"/>
          </a:p>
          <a:p>
            <a:pPr marL="36000" indent="0">
              <a:buNone/>
            </a:pPr>
            <a:endParaRPr lang="en-US" altLang="zh-TW" sz="1400" dirty="0"/>
          </a:p>
          <a:p>
            <a:pPr marL="36000" indent="0">
              <a:buNone/>
            </a:pPr>
            <a:endParaRPr lang="zh-TW" altLang="en" sz="1400" dirty="0"/>
          </a:p>
          <a:p>
            <a:pPr marL="36000" indent="0">
              <a:buNone/>
            </a:pPr>
            <a:endParaRPr lang="zh-TW" altLang="en-US" sz="1400" dirty="0"/>
          </a:p>
          <a:p>
            <a:pPr marL="35560" indent="0">
              <a:spcBef>
                <a:spcPts val="600"/>
              </a:spcBef>
              <a:buNone/>
            </a:pPr>
            <a:endParaRPr lang="en-US" altLang="zh-TW" sz="1400" dirty="0">
              <a:latin typeface="微軟正黑體"/>
              <a:ea typeface="微軟正黑體"/>
            </a:endParaRPr>
          </a:p>
        </p:txBody>
      </p:sp>
      <p:pic>
        <p:nvPicPr>
          <p:cNvPr id="7" name="圖片 6" descr="一張含有 文字, 螢幕擷取畫面, 字型, 三角形 的圖片&#10;&#10;AI 產生的內容可能不正確。">
            <a:extLst>
              <a:ext uri="{FF2B5EF4-FFF2-40B4-BE49-F238E27FC236}">
                <a16:creationId xmlns:a16="http://schemas.microsoft.com/office/drawing/2014/main" id="{5D59AC63-ED6F-D4AA-5EFA-6B0144DA9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539" y="1991861"/>
            <a:ext cx="3707128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8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0AA20-0994-DDB0-AB69-E33B7861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DEE6245-B7A9-66D8-B4D2-82A4EC33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衡量大盤：加權指數與市場寬幅指標</a:t>
            </a: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556DB356-EB6A-ADA6-6E8E-A254C8630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加權指數</a:t>
            </a:r>
            <a:endParaRPr lang="zh-TW" altLang="en-US" dirty="0"/>
          </a:p>
          <a:p>
            <a:pPr lvl="1"/>
            <a:r>
              <a:rPr lang="zh-TW" altLang="en-US" b="1" dirty="0"/>
              <a:t>發行量加權股價指數</a:t>
            </a:r>
            <a:r>
              <a:rPr lang="zh-TW" altLang="en-US" dirty="0"/>
              <a:t>（加權指數）是衡量集中市場整體漲跌的主要指標</a:t>
            </a:r>
          </a:p>
          <a:p>
            <a:pPr lvl="1"/>
            <a:r>
              <a:rPr lang="zh-TW" altLang="en-US" dirty="0"/>
              <a:t>以股票的 </a:t>
            </a:r>
            <a:r>
              <a:rPr lang="zh-TW" altLang="en-US" b="1" dirty="0"/>
              <a:t>市值加權</a:t>
            </a:r>
            <a:r>
              <a:rPr lang="en-US" altLang="zh-TW" b="1" dirty="0"/>
              <a:t> </a:t>
            </a:r>
            <a:r>
              <a:rPr lang="zh-TW" altLang="en-US" dirty="0"/>
              <a:t>計算，市值越高的股票，對指數影響越大</a:t>
            </a:r>
          </a:p>
          <a:p>
            <a:pPr lvl="1"/>
            <a:r>
              <a:rPr lang="zh-TW" altLang="en-US" dirty="0"/>
              <a:t>台積電（</a:t>
            </a:r>
            <a:r>
              <a:rPr lang="en-US" altLang="zh-TW" dirty="0"/>
              <a:t>2330</a:t>
            </a:r>
            <a:r>
              <a:rPr lang="zh-TW" altLang="en-US" dirty="0"/>
              <a:t>）市值佔大盤比重高達 </a:t>
            </a:r>
            <a:r>
              <a:rPr lang="en-US" altLang="zh-TW" b="1" dirty="0">
                <a:solidFill>
                  <a:srgbClr val="FF0000"/>
                </a:solidFill>
              </a:rPr>
              <a:t>45%</a:t>
            </a:r>
            <a:r>
              <a:rPr lang="zh-TW" altLang="en-US" dirty="0"/>
              <a:t>（</a:t>
            </a:r>
            <a:r>
              <a:rPr lang="en-US" altLang="zh-TW" dirty="0"/>
              <a:t>2026 </a:t>
            </a:r>
            <a:r>
              <a:rPr lang="zh-TW" altLang="en-US" dirty="0"/>
              <a:t>年 </a:t>
            </a:r>
            <a:r>
              <a:rPr lang="en-US" altLang="zh-TW" dirty="0"/>
              <a:t>3 </a:t>
            </a:r>
            <a:r>
              <a:rPr lang="zh-TW" altLang="en-US" dirty="0"/>
              <a:t>月）</a:t>
            </a:r>
          </a:p>
          <a:p>
            <a:pPr lvl="1"/>
            <a:r>
              <a:rPr lang="zh-TW" altLang="en-US" dirty="0"/>
              <a:t>台積電獨漲、其他個股普遍下跌時，指數仍可能收紅 → 俗稱「</a:t>
            </a:r>
            <a:r>
              <a:rPr lang="zh-TW" altLang="en-US" b="1" dirty="0"/>
              <a:t>拉積盤</a:t>
            </a:r>
            <a:r>
              <a:rPr lang="zh-TW" altLang="en-US" dirty="0"/>
              <a:t>」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因此，加權指數有時 </a:t>
            </a:r>
            <a:r>
              <a:rPr lang="zh-TW" altLang="en-US" b="1" dirty="0"/>
              <a:t>無法真實反映整體市場</a:t>
            </a:r>
            <a:r>
              <a:rPr lang="en-US" altLang="zh-TW" b="1" dirty="0"/>
              <a:t> </a:t>
            </a:r>
            <a:r>
              <a:rPr lang="zh-TW" altLang="en-US" dirty="0"/>
              <a:t>的漲跌狀況</a:t>
            </a:r>
            <a:endParaRPr lang="en-US" altLang="zh-TW" dirty="0"/>
          </a:p>
          <a:p>
            <a:r>
              <a:rPr lang="zh-TW" altLang="en-US" b="1" dirty="0"/>
              <a:t>市場寬幅指標</a:t>
            </a:r>
            <a:endParaRPr lang="en-US" altLang="zh-TW" b="1" dirty="0"/>
          </a:p>
          <a:p>
            <a:pPr lvl="1"/>
            <a:r>
              <a:rPr lang="zh-TW" altLang="en-US" dirty="0"/>
              <a:t>以 </a:t>
            </a:r>
            <a:r>
              <a:rPr lang="zh-TW" altLang="en-US" b="1" dirty="0"/>
              <a:t>上漲家數</a:t>
            </a:r>
            <a:r>
              <a:rPr lang="zh-TW" altLang="en-US" dirty="0"/>
              <a:t> 與 </a:t>
            </a:r>
            <a:r>
              <a:rPr lang="zh-TW" altLang="en-US" b="1" dirty="0"/>
              <a:t>下跌家數</a:t>
            </a:r>
            <a:r>
              <a:rPr lang="zh-TW" altLang="en-US" dirty="0"/>
              <a:t> 補充加權指數的不足，更客觀衡量市場整體強弱</a:t>
            </a:r>
          </a:p>
          <a:p>
            <a:pPr marL="288000" lvl="1" indent="0">
              <a:buNone/>
            </a:pPr>
            <a:endParaRPr lang="en-US" altLang="zh-TW" b="1" dirty="0"/>
          </a:p>
          <a:p>
            <a:pPr lvl="1"/>
            <a:endParaRPr lang="zh-TW" altLang="en-US" dirty="0"/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E7401CD7-35C2-1B7E-1F92-515FD09FA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095888"/>
              </p:ext>
            </p:extLst>
          </p:nvPr>
        </p:nvGraphicFramePr>
        <p:xfrm>
          <a:off x="533786" y="3419650"/>
          <a:ext cx="6514118" cy="153072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905377">
                  <a:extLst>
                    <a:ext uri="{9D8B030D-6E8A-4147-A177-3AD203B41FA5}">
                      <a16:colId xmlns:a16="http://schemas.microsoft.com/office/drawing/2014/main" val="3363645600"/>
                    </a:ext>
                  </a:extLst>
                </a:gridCol>
                <a:gridCol w="2520222">
                  <a:extLst>
                    <a:ext uri="{9D8B030D-6E8A-4147-A177-3AD203B41FA5}">
                      <a16:colId xmlns:a16="http://schemas.microsoft.com/office/drawing/2014/main" val="4039004190"/>
                    </a:ext>
                  </a:extLst>
                </a:gridCol>
                <a:gridCol w="2088519">
                  <a:extLst>
                    <a:ext uri="{9D8B030D-6E8A-4147-A177-3AD203B41FA5}">
                      <a16:colId xmlns:a16="http://schemas.microsoft.com/office/drawing/2014/main" val="1784195735"/>
                    </a:ext>
                  </a:extLst>
                </a:gridCol>
              </a:tblGrid>
              <a:tr h="382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指標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計算方式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b="0">
                          <a:effectLst/>
                        </a:rPr>
                        <a:t>意義</a:t>
                      </a:r>
                      <a:endParaRPr lang="zh-TW" altLang="en-US" sz="1200" b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755899607"/>
                  </a:ext>
                </a:extLst>
              </a:tr>
              <a:tr h="38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騰落指標（</a:t>
                      </a:r>
                      <a:r>
                        <a:rPr lang="en" sz="1200" b="0" dirty="0">
                          <a:effectLst/>
                        </a:rPr>
                        <a:t>ADL）</a:t>
                      </a:r>
                      <a:endParaRPr lang="en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每日累積（上漲家數 </a:t>
                      </a:r>
                      <a:r>
                        <a:rPr lang="en-US" altLang="zh-TW" sz="1200" b="0" dirty="0">
                          <a:effectLst/>
                        </a:rPr>
                        <a:t>- </a:t>
                      </a:r>
                      <a:r>
                        <a:rPr lang="zh-TW" altLang="en-US" sz="1200" b="0" dirty="0">
                          <a:effectLst/>
                        </a:rPr>
                        <a:t>下跌家數）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市場趨勢的持續性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13552460"/>
                  </a:ext>
                </a:extLst>
              </a:tr>
              <a:tr h="38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漲跌比率（</a:t>
                      </a:r>
                      <a:r>
                        <a:rPr lang="en" sz="1200" b="0" dirty="0">
                          <a:effectLst/>
                        </a:rPr>
                        <a:t>ADR）</a:t>
                      </a:r>
                      <a:endParaRPr lang="en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上漲家數 </a:t>
                      </a:r>
                      <a:r>
                        <a:rPr lang="en-US" altLang="zh-TW" sz="1200" b="0" dirty="0">
                          <a:effectLst/>
                        </a:rPr>
                        <a:t>/ </a:t>
                      </a:r>
                      <a:r>
                        <a:rPr lang="zh-TW" altLang="en-US" sz="1200" b="0" dirty="0">
                          <a:effectLst/>
                        </a:rPr>
                        <a:t>下跌家數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市場強弱比率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177482184"/>
                  </a:ext>
                </a:extLst>
              </a:tr>
              <a:tr h="382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超買超賣指標（</a:t>
                      </a:r>
                      <a:r>
                        <a:rPr lang="en" sz="1200" b="0" dirty="0">
                          <a:effectLst/>
                        </a:rPr>
                        <a:t>OBOS）</a:t>
                      </a:r>
                      <a:endParaRPr lang="en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一段期間總上漲家數 </a:t>
                      </a:r>
                      <a:r>
                        <a:rPr lang="en-US" altLang="zh-TW" sz="1200" b="0" dirty="0">
                          <a:effectLst/>
                        </a:rPr>
                        <a:t>- </a:t>
                      </a:r>
                      <a:r>
                        <a:rPr lang="zh-TW" altLang="en-US" sz="1200" b="0" dirty="0">
                          <a:effectLst/>
                        </a:rPr>
                        <a:t>總下跌家數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短期超買或超賣訊號</a:t>
                      </a:r>
                      <a:endParaRPr lang="zh-TW" altLang="en-US" sz="1200" b="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72840155"/>
                  </a:ext>
                </a:extLst>
              </a:tr>
            </a:tbl>
          </a:graphicData>
        </a:graphic>
      </p:graphicFrame>
      <p:pic>
        <p:nvPicPr>
          <p:cNvPr id="3" name="圖片 2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2E0F3B18-732F-CAFD-47F6-E6DB88347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184" y="949730"/>
            <a:ext cx="3960000" cy="458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4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D990A-E6C3-1902-FBEF-0D93DF36F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48BA203-C31F-6C58-D082-348CB4AC2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法人主導市場：三大法人買賣超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3F9FAFD2-73AC-B236-73C4-CB39B3FAF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什麼是三大法人？</a:t>
            </a:r>
            <a:endParaRPr lang="en-US" altLang="zh-TW" b="1" dirty="0"/>
          </a:p>
          <a:p>
            <a:pPr lvl="1"/>
            <a:r>
              <a:rPr lang="zh-TW" altLang="en-US" b="1" dirty="0"/>
              <a:t>外資</a:t>
            </a:r>
            <a:r>
              <a:rPr lang="zh-TW" altLang="en-US" dirty="0"/>
              <a:t>：政府核准的外國機構投資者</a:t>
            </a:r>
          </a:p>
          <a:p>
            <a:pPr lvl="1"/>
            <a:r>
              <a:rPr lang="zh-TW" altLang="en-US" b="1" dirty="0"/>
              <a:t>投信</a:t>
            </a:r>
            <a:r>
              <a:rPr lang="zh-TW" altLang="en-US" dirty="0"/>
              <a:t>：證券投資信託公司（基金公司）</a:t>
            </a:r>
          </a:p>
          <a:p>
            <a:pPr lvl="1">
              <a:spcAft>
                <a:spcPts val="600"/>
              </a:spcAft>
            </a:pPr>
            <a:r>
              <a:rPr lang="zh-TW" altLang="en-US" b="1" dirty="0"/>
              <a:t>自營商</a:t>
            </a:r>
            <a:r>
              <a:rPr lang="zh-TW" altLang="en-US" dirty="0"/>
              <a:t>：使用自有資金操作的證券商（自行買賣 </a:t>
            </a:r>
            <a:r>
              <a:rPr lang="en-US" altLang="zh-TW" dirty="0"/>
              <a:t>/ </a:t>
            </a:r>
            <a:r>
              <a:rPr lang="zh-TW" altLang="en-US" dirty="0"/>
              <a:t>避險）</a:t>
            </a:r>
            <a:endParaRPr lang="en-US" altLang="zh-TW" dirty="0"/>
          </a:p>
          <a:p>
            <a:r>
              <a:rPr lang="zh-TW" altLang="en-US" b="1" dirty="0"/>
              <a:t>什麼是買賣超？</a:t>
            </a:r>
            <a:endParaRPr lang="en-US" altLang="zh-TW" b="1" dirty="0"/>
          </a:p>
          <a:p>
            <a:pPr lvl="1"/>
            <a:r>
              <a:rPr lang="zh-TW" altLang="en-US" b="1" dirty="0"/>
              <a:t>買超 </a:t>
            </a:r>
            <a:r>
              <a:rPr lang="zh-TW" altLang="en-US" dirty="0"/>
              <a:t>→ 買進金額 </a:t>
            </a:r>
            <a:r>
              <a:rPr lang="en-US" altLang="zh-TW" dirty="0"/>
              <a:t>&gt; </a:t>
            </a:r>
            <a:r>
              <a:rPr lang="zh-TW" altLang="en-US" dirty="0"/>
              <a:t>賣出金額</a:t>
            </a:r>
          </a:p>
          <a:p>
            <a:pPr lvl="1">
              <a:spcAft>
                <a:spcPts val="600"/>
              </a:spcAft>
            </a:pPr>
            <a:r>
              <a:rPr lang="zh-TW" altLang="en-US" b="1" dirty="0"/>
              <a:t>賣超 </a:t>
            </a:r>
            <a:r>
              <a:rPr lang="zh-TW" altLang="en-US" dirty="0"/>
              <a:t>→ 賣出金額 </a:t>
            </a:r>
            <a:r>
              <a:rPr lang="en-US" altLang="zh-TW" dirty="0"/>
              <a:t>&gt; </a:t>
            </a:r>
            <a:r>
              <a:rPr lang="zh-TW" altLang="en-US" dirty="0"/>
              <a:t>買進金額</a:t>
            </a:r>
            <a:endParaRPr lang="en-US" altLang="zh-TW" dirty="0"/>
          </a:p>
          <a:p>
            <a:r>
              <a:rPr lang="zh-TW" altLang="en-US" b="1" dirty="0"/>
              <a:t>外資買賣的影響</a:t>
            </a:r>
            <a:endParaRPr lang="zh-TW" altLang="en-US" dirty="0"/>
          </a:p>
          <a:p>
            <a:pPr lvl="1"/>
            <a:r>
              <a:rPr lang="zh-TW" altLang="en-US" dirty="0"/>
              <a:t>外資資金最雄厚，集中市場佔 </a:t>
            </a:r>
            <a:r>
              <a:rPr lang="en-US" altLang="zh-TW" b="1" dirty="0"/>
              <a:t>3</a:t>
            </a:r>
            <a:r>
              <a:rPr lang="zh-TW" altLang="en-US" b="1" dirty="0"/>
              <a:t>成以上</a:t>
            </a:r>
            <a:r>
              <a:rPr lang="zh-TW" altLang="en-US" dirty="0"/>
              <a:t> 買賣金額</a:t>
            </a:r>
          </a:p>
          <a:p>
            <a:pPr lvl="1"/>
            <a:r>
              <a:rPr lang="zh-TW" altLang="en-US" dirty="0"/>
              <a:t>主要買賣標的為 </a:t>
            </a:r>
            <a:r>
              <a:rPr lang="zh-TW" altLang="en-US" b="1" dirty="0"/>
              <a:t>大型權值股</a:t>
            </a:r>
            <a:r>
              <a:rPr lang="zh-TW" altLang="en-US" dirty="0"/>
              <a:t>，對指數影響力大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外資連續買超或賣超，容易帶出大盤波段走勢</a:t>
            </a:r>
            <a:endParaRPr lang="en-US" altLang="zh-TW" dirty="0"/>
          </a:p>
          <a:p>
            <a:r>
              <a:rPr lang="zh-TW" altLang="en-US" b="1" dirty="0"/>
              <a:t>觀察重點</a:t>
            </a:r>
            <a:endParaRPr lang="en-US" altLang="zh-TW" dirty="0"/>
          </a:p>
          <a:p>
            <a:pPr lvl="1"/>
            <a:endParaRPr lang="zh-TW" altLang="en-US" dirty="0"/>
          </a:p>
          <a:p>
            <a:pPr marL="36000" indent="0">
              <a:buNone/>
            </a:pPr>
            <a:endParaRPr lang="zh-TW" altLang="en-US" dirty="0"/>
          </a:p>
          <a:p>
            <a:endParaRPr lang="zh-TW" altLang="en-US" sz="1400" dirty="0"/>
          </a:p>
          <a:p>
            <a:pPr lvl="1"/>
            <a:endParaRPr lang="zh-TW" altLang="en-US" dirty="0"/>
          </a:p>
          <a:p>
            <a:pPr lvl="1"/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A9CFE11-0569-CAE9-5779-602516FC7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514071"/>
              </p:ext>
            </p:extLst>
          </p:nvPr>
        </p:nvGraphicFramePr>
        <p:xfrm>
          <a:off x="476661" y="4754618"/>
          <a:ext cx="5283584" cy="111252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584450">
                  <a:extLst>
                    <a:ext uri="{9D8B030D-6E8A-4147-A177-3AD203B41FA5}">
                      <a16:colId xmlns:a16="http://schemas.microsoft.com/office/drawing/2014/main" val="3804520602"/>
                    </a:ext>
                  </a:extLst>
                </a:gridCol>
                <a:gridCol w="2699134">
                  <a:extLst>
                    <a:ext uri="{9D8B030D-6E8A-4147-A177-3AD203B41FA5}">
                      <a16:colId xmlns:a16="http://schemas.microsoft.com/office/drawing/2014/main" val="1225753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情況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解讀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6815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外資連續買超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大盤籌碼偏多，易帶出波段上漲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61454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外資連續賣超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大盤籌碼偏空，易帶出波段下跌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330620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外資由連續買 </a:t>
                      </a:r>
                      <a:r>
                        <a:rPr lang="en-US" altLang="zh-TW" sz="1200" dirty="0">
                          <a:effectLst/>
                        </a:rPr>
                        <a:t>(</a:t>
                      </a:r>
                      <a:r>
                        <a:rPr lang="zh-TW" altLang="en-US" sz="1200" dirty="0">
                          <a:effectLst/>
                        </a:rPr>
                        <a:t>賣</a:t>
                      </a:r>
                      <a:r>
                        <a:rPr lang="en-US" altLang="zh-TW" sz="1200" dirty="0">
                          <a:effectLst/>
                        </a:rPr>
                        <a:t>) </a:t>
                      </a:r>
                      <a:r>
                        <a:rPr lang="zh-TW" altLang="en-US" sz="1200" dirty="0">
                          <a:effectLst/>
                        </a:rPr>
                        <a:t>超轉為買 </a:t>
                      </a:r>
                      <a:r>
                        <a:rPr lang="en-US" altLang="zh-TW" sz="1200" dirty="0">
                          <a:effectLst/>
                        </a:rPr>
                        <a:t>(</a:t>
                      </a:r>
                      <a:r>
                        <a:rPr lang="zh-TW" altLang="en-US" sz="1200" dirty="0">
                          <a:effectLst/>
                        </a:rPr>
                        <a:t>賣</a:t>
                      </a:r>
                      <a:r>
                        <a:rPr lang="en-US" altLang="zh-TW" sz="1200" dirty="0">
                          <a:effectLst/>
                        </a:rPr>
                        <a:t>)</a:t>
                      </a:r>
                      <a:r>
                        <a:rPr lang="zh-TW" altLang="en-US" sz="1200" dirty="0">
                          <a:effectLst/>
                        </a:rPr>
                        <a:t> 超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可能為趨勢反轉訊號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64880625"/>
                  </a:ext>
                </a:extLst>
              </a:tr>
            </a:tbl>
          </a:graphicData>
        </a:graphic>
      </p:graphicFrame>
      <p:pic>
        <p:nvPicPr>
          <p:cNvPr id="3" name="圖片 2" descr="一張含有 螢幕擷取畫面, 字型, 文字, 圖表 的圖片&#10;&#10;AI 產生的內容可能不正確。">
            <a:extLst>
              <a:ext uri="{FF2B5EF4-FFF2-40B4-BE49-F238E27FC236}">
                <a16:creationId xmlns:a16="http://schemas.microsoft.com/office/drawing/2014/main" id="{57A51D07-AFF6-2057-5BBB-79098BB81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244" y="1394727"/>
            <a:ext cx="5130000" cy="268430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23541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C181CA-D239-DA8C-AB48-4E4A9B7D7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b="1" dirty="0"/>
              <a:t>散戶指標：融資融券餘額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753BDB-DE91-E00F-6FBE-3702CB02E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什麼是信用交易？</a:t>
            </a:r>
            <a:endParaRPr lang="zh-TW" altLang="en-US" dirty="0"/>
          </a:p>
          <a:p>
            <a:pPr lvl="1"/>
            <a:r>
              <a:rPr lang="zh-TW" altLang="en-US" dirty="0"/>
              <a:t>投資人透過券商借入資金或股票進行交易</a:t>
            </a:r>
            <a:endParaRPr lang="en-US" altLang="zh-TW" dirty="0"/>
          </a:p>
          <a:p>
            <a:pPr lvl="1"/>
            <a:r>
              <a:rPr lang="zh-TW" altLang="en-US" b="1" dirty="0"/>
              <a:t>融資</a:t>
            </a:r>
            <a:r>
              <a:rPr lang="zh-TW" altLang="en-US" dirty="0"/>
              <a:t>：向券商借錢買股票 → </a:t>
            </a:r>
            <a:r>
              <a:rPr lang="zh-TW" altLang="en-US" b="1" dirty="0"/>
              <a:t>做多</a:t>
            </a:r>
            <a:endParaRPr lang="zh-TW" altLang="en-US" dirty="0"/>
          </a:p>
          <a:p>
            <a:pPr lvl="1"/>
            <a:r>
              <a:rPr lang="zh-TW" altLang="en-US" b="1" dirty="0"/>
              <a:t>融券</a:t>
            </a:r>
            <a:r>
              <a:rPr lang="zh-TW" altLang="en-US" dirty="0"/>
              <a:t>：向券商借股票賣出 → </a:t>
            </a:r>
            <a:r>
              <a:rPr lang="zh-TW" altLang="en-US" b="1" dirty="0"/>
              <a:t>做空</a:t>
            </a:r>
            <a:endParaRPr lang="zh-TW" altLang="en-US" dirty="0"/>
          </a:p>
          <a:p>
            <a:pPr lvl="1">
              <a:spcAft>
                <a:spcPts val="600"/>
              </a:spcAft>
            </a:pPr>
            <a:r>
              <a:rPr lang="zh-TW" altLang="en-US" dirty="0"/>
              <a:t>法人不能使用融資融券，故融資融券被視為 </a:t>
            </a:r>
            <a:r>
              <a:rPr lang="zh-TW" altLang="en-US" b="1" dirty="0"/>
              <a:t>散戶指標</a:t>
            </a:r>
            <a:endParaRPr lang="en-US" altLang="zh-TW" sz="1200" b="1" dirty="0"/>
          </a:p>
          <a:p>
            <a:r>
              <a:rPr lang="zh-TW" altLang="en-US" b="1" dirty="0"/>
              <a:t>融資維持率</a:t>
            </a:r>
          </a:p>
          <a:p>
            <a:pPr lvl="1"/>
            <a:r>
              <a:rPr lang="zh-TW" altLang="en-US" dirty="0"/>
              <a:t>融資交易需維持一定的 </a:t>
            </a:r>
            <a:r>
              <a:rPr lang="zh-TW" altLang="en-US" b="1" dirty="0"/>
              <a:t>融資維持率</a:t>
            </a:r>
            <a:r>
              <a:rPr lang="zh-TW" altLang="en-US" dirty="0"/>
              <a:t>（擔保比例）</a:t>
            </a:r>
            <a:endParaRPr lang="en-US" altLang="zh-TW" dirty="0"/>
          </a:p>
          <a:p>
            <a:pPr lvl="1"/>
            <a:r>
              <a:rPr lang="zh-TW" altLang="en-US" dirty="0"/>
              <a:t>融資維持率 </a:t>
            </a:r>
            <a:r>
              <a:rPr lang="en-US" altLang="zh-TW" dirty="0"/>
              <a:t>&lt; </a:t>
            </a:r>
            <a:r>
              <a:rPr lang="en-US" altLang="zh-TW" b="1" dirty="0">
                <a:solidFill>
                  <a:srgbClr val="FF0000"/>
                </a:solidFill>
              </a:rPr>
              <a:t>130%</a:t>
            </a:r>
            <a:r>
              <a:rPr lang="zh-TW" altLang="en-US" dirty="0">
                <a:solidFill>
                  <a:srgbClr val="FF0000"/>
                </a:solidFill>
              </a:rPr>
              <a:t> </a:t>
            </a:r>
            <a:r>
              <a:rPr lang="zh-TW" altLang="en-US" dirty="0"/>
              <a:t>→ 券商發出 </a:t>
            </a:r>
            <a:r>
              <a:rPr lang="zh-TW" altLang="en-US" b="1" dirty="0"/>
              <a:t>追繳通知</a:t>
            </a:r>
            <a:endParaRPr lang="en-US" altLang="zh-TW" b="1" dirty="0"/>
          </a:p>
          <a:p>
            <a:pPr lvl="1"/>
            <a:r>
              <a:rPr lang="zh-TW" altLang="en-US" dirty="0"/>
              <a:t>投資人需補繳資金或擔保品</a:t>
            </a:r>
            <a:endParaRPr lang="en-US" altLang="zh-TW" dirty="0"/>
          </a:p>
          <a:p>
            <a:pPr lvl="1"/>
            <a:r>
              <a:rPr lang="zh-TW" altLang="en-US" dirty="0"/>
              <a:t>未補足 → 券商強制賣出持股（</a:t>
            </a:r>
            <a:r>
              <a:rPr lang="zh-TW" altLang="en-US" b="1" dirty="0"/>
              <a:t>斷頭</a:t>
            </a:r>
            <a:r>
              <a:rPr lang="zh-TW" altLang="en-US" dirty="0"/>
              <a:t>）</a:t>
            </a:r>
            <a:endParaRPr lang="en-US" altLang="zh-TW" dirty="0"/>
          </a:p>
          <a:p>
            <a:pPr lvl="1">
              <a:spcAft>
                <a:spcPts val="600"/>
              </a:spcAft>
            </a:pPr>
            <a:r>
              <a:rPr lang="zh-TW" altLang="en-US" dirty="0"/>
              <a:t>大量斷頭 → 融資多殺多，加速市場下跌</a:t>
            </a:r>
            <a:endParaRPr lang="en-US" altLang="zh-TW" dirty="0"/>
          </a:p>
          <a:p>
            <a:r>
              <a:rPr lang="zh-TW" altLang="en-US" b="1" dirty="0"/>
              <a:t>觀察重點</a:t>
            </a:r>
            <a:endParaRPr lang="en-US" altLang="zh-TW" b="1" dirty="0"/>
          </a:p>
          <a:p>
            <a:pPr marL="36000" indent="0">
              <a:buNone/>
            </a:pPr>
            <a:endParaRPr lang="en-US" altLang="zh-TW" b="1" dirty="0"/>
          </a:p>
          <a:p>
            <a:pPr marL="36000" indent="0">
              <a:buNone/>
            </a:pPr>
            <a:endParaRPr lang="en-US" altLang="zh-TW" b="1" dirty="0"/>
          </a:p>
          <a:p>
            <a:pPr marL="36000" indent="0">
              <a:buNone/>
            </a:pPr>
            <a:endParaRPr lang="en-US" altLang="zh-TW" b="1" dirty="0"/>
          </a:p>
          <a:p>
            <a:pPr marL="36000" indent="0">
              <a:buNone/>
            </a:pPr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zh-TW" altLang="en-US" b="1" dirty="0"/>
          </a:p>
          <a:p>
            <a:endParaRPr lang="zh-TW" altLang="en-US" dirty="0"/>
          </a:p>
          <a:p>
            <a:endParaRPr kumimoji="1"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6F5BCCC-7C5A-55DF-AE30-C8FC3631E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690485"/>
              </p:ext>
            </p:extLst>
          </p:nvPr>
        </p:nvGraphicFramePr>
        <p:xfrm>
          <a:off x="540815" y="4624843"/>
          <a:ext cx="4749257" cy="111252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452563">
                  <a:extLst>
                    <a:ext uri="{9D8B030D-6E8A-4147-A177-3AD203B41FA5}">
                      <a16:colId xmlns:a16="http://schemas.microsoft.com/office/drawing/2014/main" val="1852687728"/>
                    </a:ext>
                  </a:extLst>
                </a:gridCol>
                <a:gridCol w="3296694">
                  <a:extLst>
                    <a:ext uri="{9D8B030D-6E8A-4147-A177-3AD203B41FA5}">
                      <a16:colId xmlns:a16="http://schemas.microsoft.com/office/drawing/2014/main" val="1491375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>
                          <a:effectLst/>
                        </a:rPr>
                        <a:t>情況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解讀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028649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融資餘額大幅增加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散戶看多，市場過熱、籌碼不穩定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500118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融資餘額大幅減少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散戶出場，籌碼沉澱，短線止跌訊號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3960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融券餘額大幅增加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散戶看空，未來可能形成回補買盤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62422363"/>
                  </a:ext>
                </a:extLst>
              </a:tr>
            </a:tbl>
          </a:graphicData>
        </a:graphic>
      </p:graphicFrame>
      <p:pic>
        <p:nvPicPr>
          <p:cNvPr id="6" name="圖片 5" descr="一張含有 螢幕擷取畫面, 繪圖, 行, 圖表 的圖片&#10;&#10;AI 產生的內容可能不正確。">
            <a:extLst>
              <a:ext uri="{FF2B5EF4-FFF2-40B4-BE49-F238E27FC236}">
                <a16:creationId xmlns:a16="http://schemas.microsoft.com/office/drawing/2014/main" id="{CB3C5603-F27B-6BD8-411E-47DBF096C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586" y="979622"/>
            <a:ext cx="4320000" cy="226046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圖片 7" descr="一張含有 螢幕擷取畫面, 繪圖, 圖表, 行 的圖片&#10;&#10;AI 產生的內容可能不正確。">
            <a:extLst>
              <a:ext uri="{FF2B5EF4-FFF2-40B4-BE49-F238E27FC236}">
                <a16:creationId xmlns:a16="http://schemas.microsoft.com/office/drawing/2014/main" id="{8C0F883B-C53B-5798-5DDE-76E9EDFA0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586" y="3500572"/>
            <a:ext cx="4320000" cy="226046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50564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9F5A-B7CC-22DD-1F5D-A43DDF5D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D5877DA-A83E-4E5F-F257-A6F724D8A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外資期貨動向：臺股期貨未平倉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B6E5252-D507-3D39-F715-31831B85A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期貨基本概念</a:t>
            </a:r>
            <a:endParaRPr lang="en-US" altLang="zh-TW" b="1" dirty="0"/>
          </a:p>
          <a:p>
            <a:pPr lvl="1"/>
            <a:r>
              <a:rPr lang="zh-TW" altLang="en-US" b="1" dirty="0"/>
              <a:t>期貨 </a:t>
            </a:r>
            <a:r>
              <a:rPr lang="zh-TW" altLang="en-US" dirty="0"/>
              <a:t>是衍生性金融商品，本質是 </a:t>
            </a:r>
            <a:r>
              <a:rPr lang="zh-TW" altLang="en-US" b="1" dirty="0"/>
              <a:t>預期未來價格</a:t>
            </a:r>
            <a:r>
              <a:rPr lang="zh-TW" altLang="en-US" dirty="0"/>
              <a:t> 的交易</a:t>
            </a:r>
          </a:p>
          <a:p>
            <a:pPr lvl="1"/>
            <a:r>
              <a:rPr lang="zh-TW" altLang="en-US" dirty="0"/>
              <a:t>臺股期貨（</a:t>
            </a:r>
            <a:r>
              <a:rPr lang="en" altLang="zh-TW" dirty="0"/>
              <a:t>TXF</a:t>
            </a:r>
            <a:r>
              <a:rPr lang="zh-TW" altLang="en" dirty="0"/>
              <a:t>）</a:t>
            </a:r>
            <a:r>
              <a:rPr lang="zh-TW" altLang="en-US" dirty="0"/>
              <a:t>交易標的：加權股價指數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交易單位：</a:t>
            </a:r>
            <a:r>
              <a:rPr lang="zh-TW" altLang="en-US" b="1" dirty="0"/>
              <a:t>口</a:t>
            </a:r>
            <a:r>
              <a:rPr lang="zh-TW" altLang="en-US" dirty="0"/>
              <a:t>，沒有籌碼流通限制</a:t>
            </a:r>
            <a:endParaRPr lang="en" altLang="zh-TW" dirty="0"/>
          </a:p>
          <a:p>
            <a:r>
              <a:rPr lang="zh-TW" altLang="en-US" b="1" dirty="0"/>
              <a:t>未平倉口數（</a:t>
            </a:r>
            <a:r>
              <a:rPr lang="en" altLang="zh-TW" b="1" dirty="0"/>
              <a:t>Open Interest</a:t>
            </a:r>
            <a:r>
              <a:rPr lang="zh-TW" altLang="en" b="1" dirty="0"/>
              <a:t>）</a:t>
            </a:r>
            <a:endParaRPr lang="en" altLang="zh-TW" dirty="0"/>
          </a:p>
          <a:p>
            <a:pPr lvl="1"/>
            <a:r>
              <a:rPr lang="zh-TW" altLang="en-US" dirty="0"/>
              <a:t>未平倉淨口數 </a:t>
            </a:r>
            <a:r>
              <a:rPr lang="en-US" altLang="zh-TW" dirty="0"/>
              <a:t>= </a:t>
            </a:r>
            <a:r>
              <a:rPr lang="zh-TW" altLang="en-US" dirty="0"/>
              <a:t>未平倉多方口數 </a:t>
            </a:r>
            <a:r>
              <a:rPr lang="en-US" altLang="zh-TW" dirty="0"/>
              <a:t>- </a:t>
            </a:r>
            <a:r>
              <a:rPr lang="zh-TW" altLang="en-US" dirty="0"/>
              <a:t>未平倉空方口數</a:t>
            </a:r>
          </a:p>
          <a:p>
            <a:pPr lvl="1"/>
            <a:r>
              <a:rPr lang="zh-TW" altLang="en-US" dirty="0"/>
              <a:t>淨多單（正數）→ 看多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淨空單（負數）→ 看空</a:t>
            </a:r>
            <a:endParaRPr lang="en-US" altLang="zh-TW" dirty="0"/>
          </a:p>
          <a:p>
            <a:r>
              <a:rPr lang="zh-TW" altLang="en-US" b="1" dirty="0"/>
              <a:t>外資臺股期貨的意義</a:t>
            </a:r>
            <a:endParaRPr lang="zh-TW" altLang="en-US" dirty="0"/>
          </a:p>
          <a:p>
            <a:pPr lvl="1"/>
            <a:r>
              <a:rPr lang="zh-TW" altLang="en-US" dirty="0"/>
              <a:t>法人持有現貨部位，期貨市場主要目的是 </a:t>
            </a:r>
            <a:r>
              <a:rPr lang="zh-TW" altLang="en-US" b="1" dirty="0"/>
              <a:t>避險</a:t>
            </a:r>
            <a:endParaRPr lang="zh-TW" altLang="en-US" dirty="0"/>
          </a:p>
          <a:p>
            <a:pPr lvl="1">
              <a:spcAft>
                <a:spcPts val="600"/>
              </a:spcAft>
            </a:pPr>
            <a:r>
              <a:rPr lang="zh-TW" altLang="en-US" dirty="0"/>
              <a:t>因此外資在期貨市場的佈局，透露出對台股後市的看法</a:t>
            </a:r>
          </a:p>
          <a:p>
            <a:r>
              <a:rPr lang="zh-TW" altLang="en-US" b="1" dirty="0"/>
              <a:t>觀察重點</a:t>
            </a:r>
            <a:endParaRPr lang="zh-TW" altLang="en-US" dirty="0"/>
          </a:p>
          <a:p>
            <a:endParaRPr lang="en-US" altLang="zh-TW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6E0089-DFDC-A0F9-18B8-F788BC805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45200"/>
              </p:ext>
            </p:extLst>
          </p:nvPr>
        </p:nvGraphicFramePr>
        <p:xfrm>
          <a:off x="508385" y="4734386"/>
          <a:ext cx="5029941" cy="111252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2331158072"/>
                    </a:ext>
                  </a:extLst>
                </a:gridCol>
                <a:gridCol w="2140691">
                  <a:extLst>
                    <a:ext uri="{9D8B030D-6E8A-4147-A177-3AD203B41FA5}">
                      <a16:colId xmlns:a16="http://schemas.microsoft.com/office/drawing/2014/main" val="915220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>
                          <a:effectLst/>
                        </a:rPr>
                        <a:t>情況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>
                          <a:effectLst/>
                        </a:rPr>
                        <a:t>解讀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07805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外資期貨淨多單持續增加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法人看多，籌碼面偏多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381303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外資期貨淨空單持續增加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法人看空，籌碼面偏空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102017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外資期貨由淨多 </a:t>
                      </a:r>
                      <a:r>
                        <a:rPr lang="en-US" altLang="zh-TW" sz="1200" dirty="0">
                          <a:effectLst/>
                        </a:rPr>
                        <a:t>(</a:t>
                      </a:r>
                      <a:r>
                        <a:rPr lang="zh-TW" altLang="en-US" sz="1200" dirty="0">
                          <a:effectLst/>
                        </a:rPr>
                        <a:t>空</a:t>
                      </a:r>
                      <a:r>
                        <a:rPr lang="en-US" altLang="zh-TW" sz="1200" dirty="0">
                          <a:effectLst/>
                        </a:rPr>
                        <a:t>)</a:t>
                      </a:r>
                      <a:r>
                        <a:rPr lang="zh-TW" altLang="en-US" sz="1200" dirty="0">
                          <a:effectLst/>
                        </a:rPr>
                        <a:t> 單轉為淨空</a:t>
                      </a:r>
                      <a:r>
                        <a:rPr lang="en-US" altLang="zh-TW" sz="1200" dirty="0">
                          <a:effectLst/>
                        </a:rPr>
                        <a:t> (</a:t>
                      </a:r>
                      <a:r>
                        <a:rPr lang="zh-TW" altLang="en-US" sz="1200" dirty="0">
                          <a:effectLst/>
                        </a:rPr>
                        <a:t>多</a:t>
                      </a:r>
                      <a:r>
                        <a:rPr lang="en-US" altLang="zh-TW" sz="1200" dirty="0">
                          <a:effectLst/>
                        </a:rPr>
                        <a:t>) </a:t>
                      </a:r>
                      <a:r>
                        <a:rPr lang="zh-TW" altLang="en-US" sz="1200" dirty="0">
                          <a:effectLst/>
                        </a:rPr>
                        <a:t>單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可能為趨勢轉折訊號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36477325"/>
                  </a:ext>
                </a:extLst>
              </a:tr>
            </a:tbl>
          </a:graphicData>
        </a:graphic>
      </p:graphicFrame>
      <p:pic>
        <p:nvPicPr>
          <p:cNvPr id="2" name="圖片 1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3556080D-F423-C6AF-2EA6-BFCB2C7DC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300" y="1178156"/>
            <a:ext cx="5130000" cy="268430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06767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0E6B7-9658-6426-089B-28F6302F8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3F06B1D-8973-513A-4183-61140915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外資動向再確認：臺指選擇權未平倉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6ACFEF62-A59C-9135-A683-85B217334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選擇權四種交易類型</a:t>
            </a:r>
            <a:endParaRPr lang="zh-TW" altLang="en-US" dirty="0"/>
          </a:p>
          <a:p>
            <a:pPr lvl="1"/>
            <a:r>
              <a:rPr lang="zh-TW" altLang="en-US" b="1" dirty="0"/>
              <a:t>買進買權（</a:t>
            </a:r>
            <a:r>
              <a:rPr lang="en" altLang="zh-TW" b="1" dirty="0"/>
              <a:t>Buy Call</a:t>
            </a:r>
            <a:r>
              <a:rPr lang="zh-TW" altLang="en" b="1" dirty="0"/>
              <a:t>） </a:t>
            </a:r>
            <a:r>
              <a:rPr lang="zh-TW" altLang="en-US" dirty="0"/>
              <a:t>→ 看大漲</a:t>
            </a:r>
          </a:p>
          <a:p>
            <a:pPr lvl="1"/>
            <a:r>
              <a:rPr lang="zh-TW" altLang="en-US" b="1" dirty="0"/>
              <a:t>賣出買權（</a:t>
            </a:r>
            <a:r>
              <a:rPr lang="en" altLang="zh-TW" b="1" dirty="0"/>
              <a:t>Sell Call</a:t>
            </a:r>
            <a:r>
              <a:rPr lang="zh-TW" altLang="en" b="1" dirty="0"/>
              <a:t>）</a:t>
            </a:r>
            <a:r>
              <a:rPr lang="zh-TW" altLang="en-US" b="1" dirty="0"/>
              <a:t> </a:t>
            </a:r>
            <a:r>
              <a:rPr lang="zh-TW" altLang="en-US" dirty="0"/>
              <a:t>→ 看不太漲</a:t>
            </a:r>
          </a:p>
          <a:p>
            <a:pPr lvl="1"/>
            <a:r>
              <a:rPr lang="zh-TW" altLang="en-US" b="1" dirty="0"/>
              <a:t>買進賣權（</a:t>
            </a:r>
            <a:r>
              <a:rPr lang="en" altLang="zh-TW" b="1" dirty="0"/>
              <a:t>Buy Put</a:t>
            </a:r>
            <a:r>
              <a:rPr lang="zh-TW" altLang="en" b="1" dirty="0"/>
              <a:t>）</a:t>
            </a:r>
            <a:r>
              <a:rPr lang="zh-TW" altLang="en-US" b="1" dirty="0"/>
              <a:t> </a:t>
            </a:r>
            <a:r>
              <a:rPr lang="zh-TW" altLang="en-US" dirty="0"/>
              <a:t>→ 看大跌</a:t>
            </a:r>
            <a:endParaRPr lang="en-US" altLang="zh-TW" dirty="0"/>
          </a:p>
          <a:p>
            <a:pPr lvl="1">
              <a:spcAft>
                <a:spcPts val="600"/>
              </a:spcAft>
            </a:pPr>
            <a:r>
              <a:rPr lang="zh-TW" altLang="en-US" b="1" dirty="0"/>
              <a:t>賣出賣權（</a:t>
            </a:r>
            <a:r>
              <a:rPr lang="en" altLang="zh-TW" b="1" dirty="0"/>
              <a:t>Sell Put</a:t>
            </a:r>
            <a:r>
              <a:rPr lang="zh-TW" altLang="en" b="1" dirty="0"/>
              <a:t>）</a:t>
            </a:r>
            <a:r>
              <a:rPr lang="zh-TW" altLang="en-US" b="1" dirty="0"/>
              <a:t> </a:t>
            </a:r>
            <a:r>
              <a:rPr lang="zh-TW" altLang="en-US" dirty="0"/>
              <a:t>→ 看不太跌</a:t>
            </a:r>
            <a:endParaRPr lang="en" altLang="zh-TW" dirty="0"/>
          </a:p>
          <a:p>
            <a:r>
              <a:rPr lang="zh-TW" altLang="en-US" b="1" dirty="0"/>
              <a:t>選擇權未平倉看契約金額</a:t>
            </a:r>
            <a:endParaRPr lang="zh-TW" altLang="en-US" dirty="0"/>
          </a:p>
          <a:p>
            <a:pPr lvl="1"/>
            <a:r>
              <a:rPr lang="zh-TW" altLang="en-US" dirty="0"/>
              <a:t>選擇權同一口契約，依履約價不同，</a:t>
            </a:r>
            <a:r>
              <a:rPr lang="zh-TW" altLang="en-US" b="1" dirty="0"/>
              <a:t>權利金差異極大</a:t>
            </a:r>
            <a:endParaRPr lang="en-US" altLang="zh-TW" dirty="0"/>
          </a:p>
          <a:p>
            <a:pPr lvl="1">
              <a:spcAft>
                <a:spcPts val="600"/>
              </a:spcAft>
            </a:pPr>
            <a:r>
              <a:rPr lang="zh-TW" altLang="en-US" dirty="0"/>
              <a:t>改用 </a:t>
            </a:r>
            <a:r>
              <a:rPr lang="zh-TW" altLang="en-US" b="1" dirty="0"/>
              <a:t>契約金額 </a:t>
            </a:r>
            <a:r>
              <a:rPr lang="zh-TW" altLang="en-US" dirty="0"/>
              <a:t>加總，才能反映實際資金部位規模</a:t>
            </a:r>
            <a:endParaRPr lang="en-US" altLang="zh-TW" dirty="0"/>
          </a:p>
          <a:p>
            <a:r>
              <a:rPr lang="zh-TW" altLang="en-US" b="1" dirty="0"/>
              <a:t>選擇權未平倉淨金額</a:t>
            </a:r>
            <a:r>
              <a:rPr lang="en-US" altLang="zh-TW" b="1" dirty="0"/>
              <a:t>	</a:t>
            </a:r>
            <a:endParaRPr lang="en-US" altLang="zh-TW" dirty="0"/>
          </a:p>
          <a:p>
            <a:pPr lvl="1"/>
            <a:r>
              <a:rPr lang="zh-TW" altLang="en-US" dirty="0"/>
              <a:t>買權未平倉淨金額 </a:t>
            </a:r>
            <a:r>
              <a:rPr lang="en-US" altLang="zh-TW" dirty="0"/>
              <a:t>= </a:t>
            </a:r>
            <a:r>
              <a:rPr lang="zh-TW" altLang="en-US" dirty="0"/>
              <a:t>買方契約金額 </a:t>
            </a:r>
            <a:r>
              <a:rPr lang="en-US" altLang="zh-TW" dirty="0"/>
              <a:t>- </a:t>
            </a:r>
            <a:r>
              <a:rPr lang="zh-TW" altLang="en-US" dirty="0"/>
              <a:t>賣方契約金額</a:t>
            </a:r>
          </a:p>
          <a:p>
            <a:pPr lvl="1"/>
            <a:r>
              <a:rPr lang="zh-TW" altLang="en-US" dirty="0"/>
              <a:t>賣權未平倉淨金額 </a:t>
            </a:r>
            <a:r>
              <a:rPr lang="en-US" altLang="zh-TW" dirty="0"/>
              <a:t>= </a:t>
            </a:r>
            <a:r>
              <a:rPr lang="zh-TW" altLang="en-US" dirty="0"/>
              <a:t>買方契約金額 </a:t>
            </a:r>
            <a:r>
              <a:rPr lang="en-US" altLang="zh-TW" dirty="0"/>
              <a:t>- </a:t>
            </a:r>
            <a:r>
              <a:rPr lang="zh-TW" altLang="en-US" dirty="0"/>
              <a:t>賣方契約金額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選擇權未平倉淨金額 </a:t>
            </a:r>
            <a:r>
              <a:rPr lang="en-US" altLang="zh-TW" dirty="0"/>
              <a:t>= </a:t>
            </a:r>
            <a:r>
              <a:rPr lang="zh-TW" altLang="en-US" dirty="0"/>
              <a:t>買權未平倉淨金額 </a:t>
            </a:r>
            <a:r>
              <a:rPr lang="en-US" altLang="zh-TW" dirty="0"/>
              <a:t>- </a:t>
            </a:r>
            <a:r>
              <a:rPr lang="zh-TW" altLang="en-US" dirty="0"/>
              <a:t>賣權未平倉淨金額</a:t>
            </a:r>
            <a:endParaRPr lang="en-US" altLang="zh-TW" dirty="0"/>
          </a:p>
          <a:p>
            <a:r>
              <a:rPr lang="zh-TW" altLang="en-US" b="1" dirty="0"/>
              <a:t>觀察重點</a:t>
            </a:r>
            <a:endParaRPr lang="zh-TW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3177341-7FF4-7FD0-C881-9A84313CA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204009"/>
              </p:ext>
            </p:extLst>
          </p:nvPr>
        </p:nvGraphicFramePr>
        <p:xfrm>
          <a:off x="514350" y="5007655"/>
          <a:ext cx="4888389" cy="111252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168525">
                  <a:extLst>
                    <a:ext uri="{9D8B030D-6E8A-4147-A177-3AD203B41FA5}">
                      <a16:colId xmlns:a16="http://schemas.microsoft.com/office/drawing/2014/main" val="120334196"/>
                    </a:ext>
                  </a:extLst>
                </a:gridCol>
                <a:gridCol w="2719864">
                  <a:extLst>
                    <a:ext uri="{9D8B030D-6E8A-4147-A177-3AD203B41FA5}">
                      <a16:colId xmlns:a16="http://schemas.microsoft.com/office/drawing/2014/main" val="2499618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情況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>
                          <a:effectLst/>
                        </a:rPr>
                        <a:t>解讀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81404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選擇權淨金額 </a:t>
                      </a:r>
                      <a:r>
                        <a:rPr lang="en-US" altLang="zh-TW" sz="1200" dirty="0">
                          <a:effectLst/>
                        </a:rPr>
                        <a:t>&gt; 0</a:t>
                      </a:r>
                      <a:r>
                        <a:rPr lang="zh-TW" altLang="en-US" sz="1200" dirty="0">
                          <a:effectLst/>
                        </a:rPr>
                        <a:t>（淨買權）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外資看漲後市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409471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選擇權淨金額 </a:t>
                      </a:r>
                      <a:r>
                        <a:rPr lang="en-US" altLang="zh-TW" sz="1200" dirty="0">
                          <a:effectLst/>
                        </a:rPr>
                        <a:t>&lt; 0</a:t>
                      </a:r>
                      <a:r>
                        <a:rPr lang="zh-TW" altLang="en-US" sz="1200" dirty="0">
                          <a:effectLst/>
                        </a:rPr>
                        <a:t>（淨賣權）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>
                          <a:effectLst/>
                        </a:rPr>
                        <a:t>外資看跌後市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441901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期貨與選擇權方向一致性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法人看法明確，訊號可靠度較高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269136940"/>
                  </a:ext>
                </a:extLst>
              </a:tr>
            </a:tbl>
          </a:graphicData>
        </a:graphic>
      </p:graphicFrame>
      <p:pic>
        <p:nvPicPr>
          <p:cNvPr id="8" name="圖片 7" descr="一張含有 螢幕擷取畫面, 繪圖, 圖表 的圖片&#10;&#10;AI 產生的內容可能不正確。">
            <a:extLst>
              <a:ext uri="{FF2B5EF4-FFF2-40B4-BE49-F238E27FC236}">
                <a16:creationId xmlns:a16="http://schemas.microsoft.com/office/drawing/2014/main" id="{A2B22103-3C51-2140-7B5B-F679D5FBF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44" y="979622"/>
            <a:ext cx="4320000" cy="226046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圖片 9" descr="一張含有 螢幕擷取畫面, 繪圖, 圖表, 繪圖軟體 的圖片&#10;&#10;AI 產生的內容可能不正確。">
            <a:extLst>
              <a:ext uri="{FF2B5EF4-FFF2-40B4-BE49-F238E27FC236}">
                <a16:creationId xmlns:a16="http://schemas.microsoft.com/office/drawing/2014/main" id="{D7FF3B62-0641-B4E9-4961-90BBFEFCA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44" y="3549893"/>
            <a:ext cx="4320000" cy="226046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451946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76DE3-9FAD-0F30-5C5F-33A8633F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887DF76-8F3E-C414-4D23-2F99233C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大戶指標：大額交易人未沖銷部位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C5E29B0-2B54-FB28-3FBA-7198DCB51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什麼是大額交易人？</a:t>
            </a:r>
            <a:endParaRPr lang="zh-TW" altLang="en-US" dirty="0"/>
          </a:p>
          <a:p>
            <a:pPr lvl="1"/>
            <a:r>
              <a:rPr lang="zh-TW" altLang="en-US" dirty="0"/>
              <a:t>期交所統計的 </a:t>
            </a:r>
            <a:r>
              <a:rPr lang="zh-TW" altLang="en-US" b="1" dirty="0"/>
              <a:t>交易口數最多的交易人，</a:t>
            </a:r>
            <a:r>
              <a:rPr lang="zh-TW" altLang="en-US" dirty="0"/>
              <a:t>分為 </a:t>
            </a:r>
            <a:r>
              <a:rPr lang="zh-TW" altLang="en-US" b="1" dirty="0"/>
              <a:t>前五大 </a:t>
            </a:r>
            <a:r>
              <a:rPr lang="zh-TW" altLang="en-US" dirty="0"/>
              <a:t>與 </a:t>
            </a:r>
            <a:r>
              <a:rPr lang="zh-TW" altLang="en-US" b="1" dirty="0"/>
              <a:t>前十大</a:t>
            </a:r>
            <a:endParaRPr lang="zh-TW" altLang="en-US" dirty="0"/>
          </a:p>
          <a:p>
            <a:pPr lvl="1">
              <a:spcAft>
                <a:spcPts val="600"/>
              </a:spcAft>
            </a:pPr>
            <a:r>
              <a:rPr lang="zh-TW" altLang="en-US" dirty="0"/>
              <a:t>進一步區分 </a:t>
            </a:r>
            <a:r>
              <a:rPr lang="zh-TW" altLang="en-US" b="1" dirty="0"/>
              <a:t>特定法人</a:t>
            </a:r>
            <a:r>
              <a:rPr lang="zh-TW" altLang="en-US" dirty="0"/>
              <a:t>（外資、投信、自營商等）與 </a:t>
            </a:r>
            <a:r>
              <a:rPr lang="zh-TW" altLang="en-US" b="1" dirty="0"/>
              <a:t>非特定法人 </a:t>
            </a:r>
            <a:r>
              <a:rPr lang="zh-TW" altLang="en-US" dirty="0"/>
              <a:t>（市場大戶）</a:t>
            </a:r>
            <a:endParaRPr lang="en-US" altLang="zh-TW" dirty="0"/>
          </a:p>
          <a:p>
            <a:r>
              <a:rPr lang="zh-TW" altLang="en-US" b="1" dirty="0"/>
              <a:t>遠月契約：領先指標</a:t>
            </a:r>
            <a:endParaRPr lang="zh-TW" altLang="en-US" dirty="0"/>
          </a:p>
          <a:p>
            <a:pPr lvl="1"/>
            <a:r>
              <a:rPr lang="zh-TW" altLang="en-US" dirty="0"/>
              <a:t>遠月契約淨部位 </a:t>
            </a:r>
            <a:r>
              <a:rPr lang="en-US" altLang="zh-TW" dirty="0"/>
              <a:t>= </a:t>
            </a:r>
            <a:r>
              <a:rPr lang="zh-TW" altLang="en-US" dirty="0"/>
              <a:t>（所有契約淨部位 </a:t>
            </a:r>
            <a:r>
              <a:rPr lang="en-US" altLang="zh-TW" dirty="0"/>
              <a:t>- </a:t>
            </a:r>
            <a:r>
              <a:rPr lang="zh-TW" altLang="en-US" dirty="0"/>
              <a:t>近月契約淨部位）</a:t>
            </a:r>
            <a:endParaRPr lang="en-US" altLang="zh-TW" dirty="0"/>
          </a:p>
          <a:p>
            <a:pPr lvl="1"/>
            <a:r>
              <a:rPr lang="zh-TW" altLang="en-US" b="1" dirty="0"/>
              <a:t>遠月契約淨多單</a:t>
            </a:r>
            <a:r>
              <a:rPr lang="zh-TW" altLang="en-US" dirty="0"/>
              <a:t> → 看好未來台股</a:t>
            </a:r>
          </a:p>
          <a:p>
            <a:pPr lvl="1"/>
            <a:r>
              <a:rPr lang="zh-TW" altLang="en-US" b="1" dirty="0"/>
              <a:t>遠月契約淨空單</a:t>
            </a:r>
            <a:r>
              <a:rPr lang="zh-TW" altLang="en-US" dirty="0"/>
              <a:t> → 看壞未來台股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結算日前後，觀察大額交易人近月與遠月部位消長，具 </a:t>
            </a:r>
            <a:r>
              <a:rPr lang="zh-TW" altLang="en-US" b="1" dirty="0"/>
              <a:t>領先意義</a:t>
            </a:r>
            <a:endParaRPr lang="zh-TW" altLang="en-US" dirty="0"/>
          </a:p>
          <a:p>
            <a:pPr marL="321310" indent="-285750"/>
            <a:r>
              <a:rPr lang="zh-TW" altLang="en-US" sz="1600" b="1" dirty="0">
                <a:latin typeface="微軟正黑體"/>
                <a:ea typeface="微軟正黑體"/>
              </a:rPr>
              <a:t>觀察重點</a:t>
            </a:r>
            <a:endParaRPr lang="en-US" altLang="zh-TW" sz="1600" b="1" dirty="0">
              <a:latin typeface="微軟正黑體"/>
              <a:ea typeface="微軟正黑體"/>
            </a:endParaRPr>
          </a:p>
          <a:p>
            <a:pPr marL="321310" indent="-285750"/>
            <a:endParaRPr lang="en-US" altLang="zh-TW" sz="1600" dirty="0">
              <a:latin typeface="微軟正黑體"/>
              <a:ea typeface="微軟正黑體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E9852FE-5268-A127-EDEB-D018007DC7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88989"/>
              </p:ext>
            </p:extLst>
          </p:nvPr>
        </p:nvGraphicFramePr>
        <p:xfrm>
          <a:off x="574993" y="3775710"/>
          <a:ext cx="5185251" cy="83439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008187">
                  <a:extLst>
                    <a:ext uri="{9D8B030D-6E8A-4147-A177-3AD203B41FA5}">
                      <a16:colId xmlns:a16="http://schemas.microsoft.com/office/drawing/2014/main" val="1976160028"/>
                    </a:ext>
                  </a:extLst>
                </a:gridCol>
                <a:gridCol w="3177064">
                  <a:extLst>
                    <a:ext uri="{9D8B030D-6E8A-4147-A177-3AD203B41FA5}">
                      <a16:colId xmlns:a16="http://schemas.microsoft.com/office/drawing/2014/main" val="766952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情況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>
                          <a:effectLst/>
                        </a:rPr>
                        <a:t>解讀</a:t>
                      </a:r>
                      <a:endParaRPr lang="zh-TW" altLang="en-US" sz="120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99736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十大特法遠月淨多單增加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法人看好未來台股，領先訊號偏多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918854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十大特法遠月淨空單增加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法人看壞未來台股，領先訊號偏空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438061771"/>
                  </a:ext>
                </a:extLst>
              </a:tr>
            </a:tbl>
          </a:graphicData>
        </a:graphic>
      </p:graphicFrame>
      <p:pic>
        <p:nvPicPr>
          <p:cNvPr id="4" name="圖片 3" descr="一張含有 螢幕擷取畫面, 繪圖 的圖片&#10;&#10;AI 產生的內容可能不正確。">
            <a:extLst>
              <a:ext uri="{FF2B5EF4-FFF2-40B4-BE49-F238E27FC236}">
                <a16:creationId xmlns:a16="http://schemas.microsoft.com/office/drawing/2014/main" id="{6AB0CFE1-4F4F-23FC-11BC-4AB678C44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849" y="2077500"/>
            <a:ext cx="5130000" cy="268430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24135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4BD7-7826-C4FD-1F0B-9CB92809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3443A5B-C535-B21F-36E9-4539585D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散戶期貨指標：小台散戶多空比</a:t>
            </a:r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8BD3DE62-39D6-C892-3F34-62ADCAD46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TW" altLang="en-US" b="1" dirty="0"/>
              <a:t>大台</a:t>
            </a:r>
            <a:r>
              <a:rPr lang="en-US" altLang="zh-TW" b="1" dirty="0"/>
              <a:t> vs </a:t>
            </a:r>
            <a:r>
              <a:rPr lang="zh-TW" altLang="en-US" b="1" dirty="0"/>
              <a:t>小台 </a:t>
            </a:r>
            <a:r>
              <a:rPr lang="en-US" altLang="zh-TW" b="1" dirty="0"/>
              <a:t>vs </a:t>
            </a:r>
            <a:r>
              <a:rPr lang="zh-TW" altLang="en-US" b="1" dirty="0"/>
              <a:t>微台</a:t>
            </a:r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endParaRPr lang="en-US" altLang="zh-TW" b="1" dirty="0"/>
          </a:p>
          <a:p>
            <a:pPr marL="288000" lvl="1" indent="0">
              <a:buNone/>
            </a:pPr>
            <a:endParaRPr lang="en-US" altLang="zh-TW" b="1" dirty="0"/>
          </a:p>
          <a:p>
            <a:r>
              <a:rPr lang="zh-TW" altLang="en-US" b="1" dirty="0"/>
              <a:t>散戶多空比計算</a:t>
            </a:r>
            <a:endParaRPr lang="en-US" altLang="zh-TW" dirty="0"/>
          </a:p>
          <a:p>
            <a:pPr lvl="1"/>
            <a:r>
              <a:rPr lang="zh-TW" altLang="en-US" dirty="0"/>
              <a:t>散戶多單 </a:t>
            </a:r>
            <a:r>
              <a:rPr lang="en-US" altLang="zh-TW" dirty="0"/>
              <a:t>= </a:t>
            </a:r>
            <a:r>
              <a:rPr lang="zh-TW" altLang="en-US" dirty="0"/>
              <a:t>小（微）台所有契約未沖銷量 </a:t>
            </a:r>
            <a:r>
              <a:rPr lang="en-US" altLang="zh-TW" dirty="0"/>
              <a:t>- </a:t>
            </a:r>
            <a:r>
              <a:rPr lang="zh-TW" altLang="en-US" dirty="0"/>
              <a:t>三大法人多方未平倉量</a:t>
            </a:r>
          </a:p>
          <a:p>
            <a:pPr lvl="1"/>
            <a:r>
              <a:rPr lang="zh-TW" altLang="en-US" dirty="0"/>
              <a:t>散戶空單 </a:t>
            </a:r>
            <a:r>
              <a:rPr lang="en-US" altLang="zh-TW" dirty="0"/>
              <a:t>= </a:t>
            </a:r>
            <a:r>
              <a:rPr lang="zh-TW" altLang="en-US" dirty="0"/>
              <a:t>小（微）台所有契約未沖銷量 </a:t>
            </a:r>
            <a:r>
              <a:rPr lang="en-US" altLang="zh-TW" dirty="0"/>
              <a:t>- </a:t>
            </a:r>
            <a:r>
              <a:rPr lang="zh-TW" altLang="en-US" dirty="0"/>
              <a:t>三大法人空方未平倉量</a:t>
            </a:r>
          </a:p>
          <a:p>
            <a:pPr lvl="1">
              <a:spcAft>
                <a:spcPts val="600"/>
              </a:spcAft>
            </a:pPr>
            <a:r>
              <a:rPr lang="zh-TW" altLang="en-US" dirty="0"/>
              <a:t>散戶多空比 </a:t>
            </a:r>
            <a:r>
              <a:rPr lang="en-US" altLang="zh-TW" dirty="0"/>
              <a:t>= (</a:t>
            </a:r>
            <a:r>
              <a:rPr lang="zh-TW" altLang="en-US" dirty="0"/>
              <a:t>散戶多單 </a:t>
            </a:r>
            <a:r>
              <a:rPr lang="en-US" altLang="zh-TW" dirty="0"/>
              <a:t>- </a:t>
            </a:r>
            <a:r>
              <a:rPr lang="zh-TW" altLang="en-US" dirty="0"/>
              <a:t>散戶空單</a:t>
            </a:r>
            <a:r>
              <a:rPr lang="en-US" altLang="zh-TW" dirty="0"/>
              <a:t>) / </a:t>
            </a:r>
            <a:r>
              <a:rPr lang="zh-TW" altLang="en-US" dirty="0"/>
              <a:t>小台未沖銷契約量 </a:t>
            </a:r>
            <a:r>
              <a:rPr lang="en-US" altLang="zh-TW" dirty="0"/>
              <a:t>× 100%</a:t>
            </a:r>
          </a:p>
          <a:p>
            <a:pPr>
              <a:spcAft>
                <a:spcPts val="600"/>
              </a:spcAft>
            </a:pPr>
            <a:r>
              <a:rPr lang="zh-TW" altLang="en-US" b="1" dirty="0"/>
              <a:t>觀察重點</a:t>
            </a:r>
          </a:p>
          <a:p>
            <a:pPr marL="288000" lvl="1" indent="0">
              <a:buNone/>
            </a:pPr>
            <a:endParaRPr lang="zh-TW" altLang="en-US" dirty="0"/>
          </a:p>
          <a:p>
            <a:pPr lvl="1"/>
            <a:endParaRPr lang="en-US" altLang="zh-TW" dirty="0"/>
          </a:p>
          <a:p>
            <a:pPr marL="288000" lvl="1" indent="0">
              <a:buNone/>
            </a:pPr>
            <a:br>
              <a:rPr lang="en-US" altLang="zh-TW" dirty="0"/>
            </a:br>
            <a:endParaRPr lang="en-US" altLang="zh-TW" dirty="0"/>
          </a:p>
          <a:p>
            <a:pPr marL="35560" indent="0">
              <a:spcBef>
                <a:spcPts val="600"/>
              </a:spcBef>
              <a:buNone/>
            </a:pPr>
            <a:endParaRPr lang="en-US" altLang="zh-TW" sz="1600" dirty="0">
              <a:latin typeface="微軟正黑體"/>
              <a:ea typeface="微軟正黑體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7EBFB5-4B7A-1AEA-B150-645AFABF64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626052"/>
              </p:ext>
            </p:extLst>
          </p:nvPr>
        </p:nvGraphicFramePr>
        <p:xfrm>
          <a:off x="507333" y="1230302"/>
          <a:ext cx="6817383" cy="123444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1123950">
                  <a:extLst>
                    <a:ext uri="{9D8B030D-6E8A-4147-A177-3AD203B41FA5}">
                      <a16:colId xmlns:a16="http://schemas.microsoft.com/office/drawing/2014/main" val="853472134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18987524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val="527578509"/>
                    </a:ext>
                  </a:extLst>
                </a:gridCol>
                <a:gridCol w="2023133">
                  <a:extLst>
                    <a:ext uri="{9D8B030D-6E8A-4147-A177-3AD203B41FA5}">
                      <a16:colId xmlns:a16="http://schemas.microsoft.com/office/drawing/2014/main" val="1949560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b="1" dirty="0">
                          <a:effectLst/>
                        </a:rPr>
                        <a:t>臺股期貨（大台）</a:t>
                      </a:r>
                      <a:endParaRPr lang="zh-TW" altLang="en-US" b="1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b="1" dirty="0">
                          <a:effectLst/>
                        </a:rPr>
                        <a:t>小型臺指期貨（小台）</a:t>
                      </a:r>
                      <a:endParaRPr lang="zh-TW" altLang="en-US" b="1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b="1" dirty="0"/>
                        <a:t>微型台指期貨（微台）</a:t>
                      </a:r>
                      <a:endParaRPr lang="en-US" altLang="zh-TW" b="1" dirty="0"/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62924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>
                          <a:effectLst/>
                        </a:rPr>
                        <a:t>契約價值</a:t>
                      </a:r>
                      <a:endParaRPr lang="zh-TW" altLang="en-US" b="1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effectLst/>
                        </a:rPr>
                        <a:t>1 </a:t>
                      </a:r>
                      <a:r>
                        <a:rPr lang="zh-TW" altLang="en-US" dirty="0">
                          <a:effectLst/>
                        </a:rPr>
                        <a:t>點 </a:t>
                      </a:r>
                      <a:r>
                        <a:rPr lang="en-US" altLang="zh-TW" dirty="0">
                          <a:effectLst/>
                        </a:rPr>
                        <a:t>= 200 </a:t>
                      </a:r>
                      <a:r>
                        <a:rPr lang="zh-TW" altLang="en-US" dirty="0">
                          <a:effectLst/>
                        </a:rPr>
                        <a:t>元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>
                          <a:effectLst/>
                        </a:rPr>
                        <a:t>1 </a:t>
                      </a:r>
                      <a:r>
                        <a:rPr lang="zh-TW" altLang="en-US" dirty="0">
                          <a:effectLst/>
                        </a:rPr>
                        <a:t>點 </a:t>
                      </a:r>
                      <a:r>
                        <a:rPr lang="en-US" altLang="zh-TW" dirty="0">
                          <a:effectLst/>
                        </a:rPr>
                        <a:t>= 50 </a:t>
                      </a:r>
                      <a:r>
                        <a:rPr lang="zh-TW" altLang="en-US" dirty="0">
                          <a:effectLst/>
                        </a:rPr>
                        <a:t>元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/>
                        <a:t>1</a:t>
                      </a:r>
                      <a:r>
                        <a:rPr lang="zh-TW" altLang="en-US" dirty="0"/>
                        <a:t>點 </a:t>
                      </a:r>
                      <a:r>
                        <a:rPr lang="en-US" altLang="zh-TW" dirty="0"/>
                        <a:t>= 10</a:t>
                      </a:r>
                      <a:r>
                        <a:rPr lang="zh-TW" altLang="en-US" dirty="0"/>
                        <a:t> 元</a:t>
                      </a:r>
                      <a:endParaRPr lang="en-US" altLang="zh-TW" dirty="0"/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162469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原始保證金</a:t>
                      </a:r>
                      <a:endParaRPr lang="zh-TW" altLang="en-US" b="1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</a:rPr>
                        <a:t>約 </a:t>
                      </a:r>
                      <a:r>
                        <a:rPr lang="en-US" altLang="zh-TW" dirty="0">
                          <a:effectLst/>
                        </a:rPr>
                        <a:t>412,000 </a:t>
                      </a:r>
                      <a:r>
                        <a:rPr lang="zh-TW" altLang="en-US" dirty="0">
                          <a:effectLst/>
                        </a:rPr>
                        <a:t>元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</a:rPr>
                        <a:t>約 </a:t>
                      </a:r>
                      <a:r>
                        <a:rPr lang="en-US" altLang="zh-TW" dirty="0">
                          <a:effectLst/>
                        </a:rPr>
                        <a:t>103,000 </a:t>
                      </a:r>
                      <a:r>
                        <a:rPr lang="zh-TW" altLang="en-US" dirty="0">
                          <a:effectLst/>
                        </a:rPr>
                        <a:t>元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/>
                        <a:t>約 </a:t>
                      </a:r>
                      <a:r>
                        <a:rPr lang="en-US" altLang="zh-TW" dirty="0"/>
                        <a:t>20,600</a:t>
                      </a:r>
                      <a:r>
                        <a:rPr lang="zh-TW" altLang="en-US" dirty="0"/>
                        <a:t> 元</a:t>
                      </a:r>
                      <a:endParaRPr lang="en-US" altLang="zh-TW" dirty="0"/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162929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b="1" dirty="0">
                          <a:effectLst/>
                        </a:rPr>
                        <a:t>主要交易者</a:t>
                      </a:r>
                      <a:endParaRPr lang="zh-TW" altLang="en-US" b="1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</a:rPr>
                        <a:t>機構法人、大戶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>
                          <a:effectLst/>
                        </a:rPr>
                        <a:t>大戶、散戶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dirty="0">
                          <a:effectLst/>
                        </a:rPr>
                        <a:t>散戶</a:t>
                      </a:r>
                      <a:endParaRPr lang="zh-TW" altLang="en-US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428374538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4B50E16-BE7D-C05F-EA97-637753CA5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605305"/>
              </p:ext>
            </p:extLst>
          </p:nvPr>
        </p:nvGraphicFramePr>
        <p:xfrm>
          <a:off x="507333" y="4415483"/>
          <a:ext cx="5063304" cy="834390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3921839774"/>
                    </a:ext>
                  </a:extLst>
                </a:gridCol>
                <a:gridCol w="2853504">
                  <a:extLst>
                    <a:ext uri="{9D8B030D-6E8A-4147-A177-3AD203B41FA5}">
                      <a16:colId xmlns:a16="http://schemas.microsoft.com/office/drawing/2014/main" val="1024381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情況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解讀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62464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散戶多空比偏高、淨多單增加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散戶大量看多，指數往往下跌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102550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散戶多空比偏低、淨空單增加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散戶大量看空，指數反而易上漲</a:t>
                      </a:r>
                      <a:endParaRPr lang="zh-TW" altLang="en-US" sz="1200" dirty="0"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147801339"/>
                  </a:ext>
                </a:extLst>
              </a:tr>
            </a:tbl>
          </a:graphicData>
        </a:graphic>
      </p:graphicFrame>
      <p:pic>
        <p:nvPicPr>
          <p:cNvPr id="9" name="圖片 8" descr="一張含有 螢幕擷取畫面, 圖表, 繪圖 的圖片&#10;&#10;AI 產生的內容可能不正確。">
            <a:extLst>
              <a:ext uri="{FF2B5EF4-FFF2-40B4-BE49-F238E27FC236}">
                <a16:creationId xmlns:a16="http://schemas.microsoft.com/office/drawing/2014/main" id="{9D4FEF01-6D51-4CE6-C18A-D15FDF91A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532" y="2674441"/>
            <a:ext cx="5125568" cy="268198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550189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8DF8915B-E7E6-6A55-A19F-3E745BE11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總結：大盤籌碼分析核心邏輯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A16732-D8C1-2302-C2A7-627E5D7E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800" b="1" dirty="0"/>
              <a:t>大盤趨勢判讀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確認整體市場方向，避免系統性風險</a:t>
            </a:r>
            <a:endParaRPr lang="en-US" altLang="zh-TW" sz="1600" dirty="0"/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順勢而為，再進行後續投資判斷</a:t>
            </a:r>
          </a:p>
          <a:p>
            <a:r>
              <a:rPr lang="zh-TW" altLang="en-US" sz="1800" b="1" dirty="0"/>
              <a:t>法人資金動向觀察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外資為台股最重要的市場力量</a:t>
            </a:r>
            <a:endParaRPr lang="en-US" altLang="zh-TW" sz="1600" dirty="0"/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連續買賣超常帶動大盤波段走勢</a:t>
            </a:r>
          </a:p>
          <a:p>
            <a:r>
              <a:rPr lang="zh-TW" altLang="en-US" sz="1800" b="1" dirty="0"/>
              <a:t>期貨與選擇權交叉確認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外資在衍生性商品市場的部位</a:t>
            </a:r>
            <a:endParaRPr lang="en-US" altLang="zh-TW" sz="1600" dirty="0"/>
          </a:p>
          <a:p>
            <a:pPr lvl="1">
              <a:spcAft>
                <a:spcPts val="600"/>
              </a:spcAft>
            </a:pPr>
            <a:r>
              <a:rPr lang="zh-TW" altLang="en-US" sz="1600" dirty="0"/>
              <a:t>觀察法人對未來行情的預期</a:t>
            </a:r>
          </a:p>
          <a:p>
            <a:r>
              <a:rPr lang="zh-TW" altLang="en-US" sz="1800" b="1" dirty="0"/>
              <a:t>市場情緒觀察</a:t>
            </a:r>
            <a:endParaRPr lang="en-US" altLang="zh-TW" sz="1800" b="1" dirty="0"/>
          </a:p>
          <a:p>
            <a:pPr lvl="1"/>
            <a:r>
              <a:rPr lang="zh-TW" altLang="en-US" sz="1600" dirty="0"/>
              <a:t>透過融資融券與散戶期貨部位</a:t>
            </a:r>
            <a:endParaRPr lang="en-US" altLang="zh-TW" sz="1600" dirty="0"/>
          </a:p>
          <a:p>
            <a:pPr lvl="1"/>
            <a:r>
              <a:rPr lang="zh-TW" altLang="en-US" sz="1600" dirty="0"/>
              <a:t>觀察散戶情緒與籌碼變化</a:t>
            </a:r>
          </a:p>
          <a:p>
            <a:pPr marL="36000" indent="0">
              <a:buNone/>
            </a:pPr>
            <a:endParaRPr lang="en-US" altLang="zh-TW" b="1" dirty="0"/>
          </a:p>
          <a:p>
            <a:endParaRPr lang="zh-TW" altLang="en-US" sz="1600" dirty="0"/>
          </a:p>
        </p:txBody>
      </p:sp>
      <p:pic>
        <p:nvPicPr>
          <p:cNvPr id="13" name="圖片 12" descr="一張含有 圖畫, 兒童藝術, 圖解, 藝術 的圖片&#10;&#10;AI 產生的內容可能不正確。">
            <a:extLst>
              <a:ext uri="{FF2B5EF4-FFF2-40B4-BE49-F238E27FC236}">
                <a16:creationId xmlns:a16="http://schemas.microsoft.com/office/drawing/2014/main" id="{CA815646-6F66-6ABC-C53C-E13B76B15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1" y="719138"/>
            <a:ext cx="5041899" cy="50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83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0268E-DEF1-72C7-7F65-112732367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/>
              <a:t>TaiBaro</a:t>
            </a:r>
            <a:r>
              <a:rPr lang="zh-TW" altLang="en-US" b="1" dirty="0"/>
              <a:t>：台股大盤籌碼分析平台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501EC1-F026-BB22-49AA-F99EEBD1F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zh-TW" altLang="en-US" b="1" dirty="0"/>
              <a:t>每日自動追蹤大盤籌碼指標，透過 </a:t>
            </a:r>
            <a:r>
              <a:rPr lang="en" altLang="zh-TW" b="1" dirty="0"/>
              <a:t>AI </a:t>
            </a:r>
            <a:r>
              <a:rPr lang="zh-TW" altLang="en-US" b="1" dirty="0"/>
              <a:t>解讀市場晴雨</a:t>
            </a:r>
            <a:endParaRPr lang="en-US" altLang="zh-TW" b="1" dirty="0"/>
          </a:p>
          <a:p>
            <a:r>
              <a:rPr lang="zh-TW" altLang="en-US" b="1" dirty="0"/>
              <a:t>核心功能</a:t>
            </a:r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pPr lvl="1"/>
            <a:endParaRPr lang="en-US" altLang="zh-TW" b="1" dirty="0"/>
          </a:p>
          <a:p>
            <a:r>
              <a:rPr lang="zh-TW" altLang="en-US" b="1" dirty="0"/>
              <a:t>晴雨等級系統</a:t>
            </a:r>
          </a:p>
          <a:p>
            <a:endParaRPr lang="zh-TW" altLang="en-US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D25BFA1-A4C1-AAD0-EB74-B1E94486FF01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048375" y="719138"/>
            <a:ext cx="5472113" cy="5400675"/>
          </a:xfrm>
          <a:prstGeom prst="rect">
            <a:avLst/>
          </a:prstGeom>
        </p:spPr>
        <p:txBody>
          <a:bodyPr/>
          <a:lstStyle/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288000" lvl="1" indent="0">
              <a:buNone/>
            </a:pPr>
            <a:r>
              <a:rPr lang="zh-TW" altLang="en-US" dirty="0"/>
              <a:t>平台連結：</a:t>
            </a:r>
            <a:r>
              <a:rPr lang="en-US" altLang="zh-TW" dirty="0">
                <a:hlinkClick r:id="rId3"/>
              </a:rPr>
              <a:t>https://taibaro.chunkai.dev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 descr="一張含有 文字, 螢幕擷取畫面, 多媒體軟體, 軟體 的圖片&#10;&#10;AI 產生的內容可能不正確。">
            <a:extLst>
              <a:ext uri="{FF2B5EF4-FFF2-40B4-BE49-F238E27FC236}">
                <a16:creationId xmlns:a16="http://schemas.microsoft.com/office/drawing/2014/main" id="{76249578-7FAC-E563-C164-FB66E23CA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988" y="1341811"/>
            <a:ext cx="5472112" cy="4075131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680F967-698B-D4F6-9D7C-D6D5FFBF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87887"/>
              </p:ext>
            </p:extLst>
          </p:nvPr>
        </p:nvGraphicFramePr>
        <p:xfrm>
          <a:off x="533195" y="1642017"/>
          <a:ext cx="5040000" cy="1737360"/>
        </p:xfrm>
        <a:graphic>
          <a:graphicData uri="http://schemas.openxmlformats.org/drawingml/2006/table">
            <a:tbl>
              <a:tblPr firstRow="1" bandRow="1">
                <a:tableStyleId>{91DB7C30-2B5D-4D34-8F22-85940E495A18}</a:tableStyleId>
              </a:tblPr>
              <a:tblGrid>
                <a:gridCol w="1394666">
                  <a:extLst>
                    <a:ext uri="{9D8B030D-6E8A-4147-A177-3AD203B41FA5}">
                      <a16:colId xmlns:a16="http://schemas.microsoft.com/office/drawing/2014/main" val="2496543962"/>
                    </a:ext>
                  </a:extLst>
                </a:gridCol>
                <a:gridCol w="3645334">
                  <a:extLst>
                    <a:ext uri="{9D8B030D-6E8A-4147-A177-3AD203B41FA5}">
                      <a16:colId xmlns:a16="http://schemas.microsoft.com/office/drawing/2014/main" val="3516668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每日自動收集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每天收盤後自動抓取加權指數、三大法人買賣超、融資融券、台指期未平倉、</a:t>
                      </a:r>
                      <a:r>
                        <a:rPr lang="en" altLang="zh-TW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Put/Call Ratio</a:t>
                      </a:r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等大盤籌碼數據</a:t>
                      </a:r>
                      <a:endParaRPr lang="zh-TW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2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" altLang="zh-TW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zh-TW" alt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晴雨分析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自動解讀各項籌碼指標之間的交互關係，每日產出五個等級的市場強弱判斷，並附上盤勢解說</a:t>
                      </a:r>
                      <a:endParaRPr lang="zh-TW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6685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儀表板總覽</a:t>
                      </a:r>
                      <a:endParaRPr lang="zh-TW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以直觀的卡片與圖表呈現當日晴雨判斷、</a:t>
                      </a:r>
                      <a:r>
                        <a:rPr lang="en" altLang="zh-TW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AI </a:t>
                      </a:r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摘要、多空廣度比例，以及各籌碼的歷史趨勢，支援日期切換與深</a:t>
                      </a:r>
                      <a:r>
                        <a:rPr lang="en-US" altLang="zh-TW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zh-TW" alt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淺色介面</a:t>
                      </a:r>
                      <a:endParaRPr lang="zh-TW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41096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8F58158-B4BD-3140-A98B-72518A837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780756"/>
              </p:ext>
            </p:extLst>
          </p:nvPr>
        </p:nvGraphicFramePr>
        <p:xfrm>
          <a:off x="533195" y="3979988"/>
          <a:ext cx="5040000" cy="1880074"/>
        </p:xfrm>
        <a:graphic>
          <a:graphicData uri="http://schemas.openxmlformats.org/drawingml/2006/table">
            <a:tbl>
              <a:tblPr>
                <a:tableStyleId>{91DB7C30-2B5D-4D34-8F22-85940E495A18}</a:tableStyleId>
              </a:tblPr>
              <a:tblGrid>
                <a:gridCol w="556937">
                  <a:extLst>
                    <a:ext uri="{9D8B030D-6E8A-4147-A177-3AD203B41FA5}">
                      <a16:colId xmlns:a16="http://schemas.microsoft.com/office/drawing/2014/main" val="44644415"/>
                    </a:ext>
                  </a:extLst>
                </a:gridCol>
                <a:gridCol w="556937">
                  <a:extLst>
                    <a:ext uri="{9D8B030D-6E8A-4147-A177-3AD203B41FA5}">
                      <a16:colId xmlns:a16="http://schemas.microsoft.com/office/drawing/2014/main" val="1648586126"/>
                    </a:ext>
                  </a:extLst>
                </a:gridCol>
                <a:gridCol w="3926126">
                  <a:extLst>
                    <a:ext uri="{9D8B030D-6E8A-4147-A177-3AD203B41FA5}">
                      <a16:colId xmlns:a16="http://schemas.microsoft.com/office/drawing/2014/main" val="2742080829"/>
                    </a:ext>
                  </a:extLst>
                </a:gridCol>
              </a:tblGrid>
              <a:tr h="106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圖示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等級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b="0" dirty="0">
                          <a:effectLst/>
                        </a:rPr>
                        <a:t>市場氛圍</a:t>
                      </a:r>
                    </a:p>
                  </a:txBody>
                  <a:tcPr marL="49737" marR="49737" marT="33158" marB="33158" anchor="ctr"/>
                </a:tc>
                <a:extLst>
                  <a:ext uri="{0D108BD9-81ED-4DB2-BD59-A6C34878D82A}">
                    <a16:rowId xmlns:a16="http://schemas.microsoft.com/office/drawing/2014/main" val="1773767735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>
                          <a:effectLst/>
                        </a:rPr>
                        <a:t>☀️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強多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多方力道強勁，籌碼明顯偏向買方，市場積極樂觀</a:t>
                      </a:r>
                    </a:p>
                  </a:txBody>
                  <a:tcPr marL="49737" marR="49737" marT="33158" marB="33158" anchor="ctr"/>
                </a:tc>
                <a:extLst>
                  <a:ext uri="{0D108BD9-81ED-4DB2-BD59-A6C34878D82A}">
                    <a16:rowId xmlns:a16="http://schemas.microsoft.com/office/drawing/2014/main" val="118885337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>
                          <a:effectLst/>
                        </a:rPr>
                        <a:t>🌤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偏多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多空略偏多方，整體偏向上漲，但仍有不確定性</a:t>
                      </a:r>
                    </a:p>
                  </a:txBody>
                  <a:tcPr marL="49737" marR="49737" marT="33158" marB="33158" anchor="ctr"/>
                </a:tc>
                <a:extLst>
                  <a:ext uri="{0D108BD9-81ED-4DB2-BD59-A6C34878D82A}">
                    <a16:rowId xmlns:a16="http://schemas.microsoft.com/office/drawing/2014/main" val="489636993"/>
                  </a:ext>
                </a:extLst>
              </a:tr>
              <a:tr h="263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>
                          <a:effectLst/>
                        </a:rPr>
                        <a:t>⛅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中性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多空力道相當，市場方向不明，觀望氣氛濃厚</a:t>
                      </a:r>
                    </a:p>
                  </a:txBody>
                  <a:tcPr marL="49737" marR="49737" marT="33158" marB="33158" anchor="ctr"/>
                </a:tc>
                <a:extLst>
                  <a:ext uri="{0D108BD9-81ED-4DB2-BD59-A6C34878D82A}">
                    <a16:rowId xmlns:a16="http://schemas.microsoft.com/office/drawing/2014/main" val="1742883067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>
                          <a:effectLst/>
                        </a:rPr>
                        <a:t>🌧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偏空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空方壓力漸增，籌碼有轉弱跡象，需留意下行風險</a:t>
                      </a:r>
                    </a:p>
                  </a:txBody>
                  <a:tcPr marL="49737" marR="49737" marT="33158" marB="33158" anchor="ctr"/>
                </a:tc>
                <a:extLst>
                  <a:ext uri="{0D108BD9-81ED-4DB2-BD59-A6C34878D82A}">
                    <a16:rowId xmlns:a16="http://schemas.microsoft.com/office/drawing/2014/main" val="2383459234"/>
                  </a:ext>
                </a:extLst>
              </a:tr>
              <a:tr h="3418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>
                          <a:effectLst/>
                        </a:rPr>
                        <a:t>⛈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強空</a:t>
                      </a:r>
                    </a:p>
                  </a:txBody>
                  <a:tcPr marL="49737" marR="49737" marT="33158" marB="3315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200" dirty="0">
                          <a:effectLst/>
                        </a:rPr>
                        <a:t>空方明顯主導，賣壓沉重，市場情緒偏向悲觀</a:t>
                      </a:r>
                    </a:p>
                  </a:txBody>
                  <a:tcPr marL="49737" marR="49737" marT="33158" marB="33158" anchor="ctr"/>
                </a:tc>
                <a:extLst>
                  <a:ext uri="{0D108BD9-81ED-4DB2-BD59-A6C34878D82A}">
                    <a16:rowId xmlns:a16="http://schemas.microsoft.com/office/drawing/2014/main" val="277964034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CE55DA-5FAB-6E35-D506-19816096875A}"/>
              </a:ext>
            </a:extLst>
          </p:cNvPr>
          <p:cNvSpPr txBox="1"/>
          <p:nvPr/>
        </p:nvSpPr>
        <p:spPr>
          <a:xfrm>
            <a:off x="5581432" y="5544844"/>
            <a:ext cx="57596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 lvl="1" indent="0">
              <a:buNone/>
            </a:pPr>
            <a:r>
              <a:rPr lang="zh-TW" altLang="en-US" dirty="0"/>
              <a:t>平台連結：</a:t>
            </a:r>
            <a:r>
              <a:rPr lang="en-US" altLang="zh-TW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https://taibaro.chunkai.dev</a:t>
            </a:r>
            <a:endParaRPr lang="en-US" altLang="zh-TW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659834"/>
      </p:ext>
    </p:extLst>
  </p:cSld>
  <p:clrMapOvr>
    <a:masterClrMapping/>
  </p:clrMapOvr>
</p:sld>
</file>

<file path=ppt/theme/theme1.xml><?xml version="1.0" encoding="utf-8"?>
<a:theme xmlns:a="http://schemas.openxmlformats.org/drawingml/2006/main" name="數科處範本">
  <a:themeElements>
    <a:clrScheme name="blue-yellow-violet-rose">
      <a:dk1>
        <a:srgbClr val="000000"/>
      </a:dk1>
      <a:lt1>
        <a:srgbClr val="FFFFFF"/>
      </a:lt1>
      <a:dk2>
        <a:srgbClr val="717179"/>
      </a:dk2>
      <a:lt2>
        <a:srgbClr val="E3E3E7"/>
      </a:lt2>
      <a:accent1>
        <a:srgbClr val="3B82F6"/>
      </a:accent1>
      <a:accent2>
        <a:srgbClr val="EAB308"/>
      </a:accent2>
      <a:accent3>
        <a:srgbClr val="8B5CF6"/>
      </a:accent3>
      <a:accent4>
        <a:srgbClr val="F33F5E"/>
      </a:accent4>
      <a:accent5>
        <a:srgbClr val="10B981"/>
      </a:accent5>
      <a:accent6>
        <a:srgbClr val="FFFFFF"/>
      </a:accent6>
      <a:hlink>
        <a:srgbClr val="3B82F6"/>
      </a:hlink>
      <a:folHlink>
        <a:srgbClr val="8B5CF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4F25D0FF425B4EA678AC2414B6A709" ma:contentTypeVersion="10" ma:contentTypeDescription="Create a new document." ma:contentTypeScope="" ma:versionID="8ceec2ce155b1d63c0c6fcd4110f3cfe">
  <xsd:schema xmlns:xsd="http://www.w3.org/2001/XMLSchema" xmlns:xs="http://www.w3.org/2001/XMLSchema" xmlns:p="http://schemas.microsoft.com/office/2006/metadata/properties" xmlns:ns2="7cac0686-f0c7-4236-b000-d7b90732a875" xmlns:ns3="9bfc64f2-d580-4df8-9fa4-4631ad6ac43d" targetNamespace="http://schemas.microsoft.com/office/2006/metadata/properties" ma:root="true" ma:fieldsID="267f21102a69fda15f58a0ecdfc9abe1" ns2:_="" ns3:_="">
    <xsd:import namespace="7cac0686-f0c7-4236-b000-d7b90732a875"/>
    <xsd:import namespace="9bfc64f2-d580-4df8-9fa4-4631ad6ac4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ac0686-f0c7-4236-b000-d7b90732a8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fc64f2-d580-4df8-9fa4-4631ad6ac43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B3946E7-66F8-4182-AA38-CFC406C59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cac0686-f0c7-4236-b000-d7b90732a875"/>
    <ds:schemaRef ds:uri="9bfc64f2-d580-4df8-9fa4-4631ad6ac43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929C79-DB32-411C-8C37-9A0BBBB5F64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D5D526-59E0-46BD-B75A-4A393253F249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9bfc64f2-d580-4df8-9fa4-4631ad6ac43d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infopath/2007/PartnerControls"/>
    <ds:schemaRef ds:uri="7cac0686-f0c7-4236-b000-d7b90732a875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17a5a3d-163a-4e8b-af1b-58fd7f92894f}" enabled="0" method="" siteId="{217a5a3d-163a-4e8b-af1b-58fd7f9289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4184</Words>
  <Application>Microsoft Macintosh PowerPoint</Application>
  <PresentationFormat>自訂</PresentationFormat>
  <Paragraphs>395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微軟正黑體</vt:lpstr>
      <vt:lpstr>微軟正黑體</vt:lpstr>
      <vt:lpstr>標準系統字體</vt:lpstr>
      <vt:lpstr>Microsoft JhengHei Light</vt:lpstr>
      <vt:lpstr>Arial</vt:lpstr>
      <vt:lpstr>Roboto</vt:lpstr>
      <vt:lpstr>Times New Roman</vt:lpstr>
      <vt:lpstr>數科處範本</vt:lpstr>
      <vt:lpstr>淺談台股量化投資</vt:lpstr>
      <vt:lpstr>投資分析的三個面向</vt:lpstr>
      <vt:lpstr>為何投資要先看大盤</vt:lpstr>
      <vt:lpstr>衡量大盤：加權指數與市場寬幅指標</vt:lpstr>
      <vt:lpstr>法人主導市場：三大法人買賣超</vt:lpstr>
      <vt:lpstr>散戶指標：融資融券餘額</vt:lpstr>
      <vt:lpstr>外資期貨動向：臺股期貨未平倉</vt:lpstr>
      <vt:lpstr>外資動向再確認：臺指選擇權未平倉</vt:lpstr>
      <vt:lpstr>大戶指標：大額交易人未沖銷部位</vt:lpstr>
      <vt:lpstr>散戶期貨指標：小台散戶多空比</vt:lpstr>
      <vt:lpstr>總結：大盤籌碼分析核心邏輯</vt:lpstr>
      <vt:lpstr>TaiBaro：台股大盤籌碼分析平台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封面標題(36 pt)</dc:title>
  <cp:lastModifiedBy>雋凱 王</cp:lastModifiedBy>
  <cp:revision>83</cp:revision>
  <dcterms:modified xsi:type="dcterms:W3CDTF">2026-03-06T10:57:57Z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0x010100DE4F25D0FF425B4EA678AC2414B6A709</vt:lpwstr>
  </property>
  <property fmtid="{D5CDD505-2E9C-101B-9397-08002B2CF9AE}" pid="3" name="Order">
    <vt:r8>500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