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2"/>
  </p:notesMasterIdLst>
  <p:sldIdLst>
    <p:sldId id="256" r:id="rId5"/>
    <p:sldId id="2147471222" r:id="rId6"/>
    <p:sldId id="2147471225" r:id="rId7"/>
    <p:sldId id="2147471226" r:id="rId8"/>
    <p:sldId id="2147471227" r:id="rId9"/>
    <p:sldId id="2147471228" r:id="rId10"/>
    <p:sldId id="2147471229" r:id="rId11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58"/>
    <p:restoredTop sz="85149"/>
  </p:normalViewPr>
  <p:slideViewPr>
    <p:cSldViewPr snapToGrid="0">
      <p:cViewPr varScale="1">
        <p:scale>
          <a:sx n="64" d="100"/>
          <a:sy n="64" d="100"/>
        </p:scale>
        <p:origin x="7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  <pc:spChg chg="del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2" creationId="{C8E2D793-753F-D8E0-6C96-C3E4A92D305F}"/>
          </ac:spMkLst>
        </pc:spChg>
        <pc:spChg chg="add mod ord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3" creationId="{4720BA31-8393-D7D0-C165-7006096CE23F}"/>
          </ac:spMkLst>
        </pc:spChg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 sz="1400" dirty="0"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0490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3517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77048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6579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1136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2400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兩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;p49">
            <a:extLst>
              <a:ext uri="{FF2B5EF4-FFF2-40B4-BE49-F238E27FC236}">
                <a16:creationId xmlns:a16="http://schemas.microsoft.com/office/drawing/2014/main" id="{4B1AA4F1-C32F-CE82-074E-09C516818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" name="Google Shape;30;p49">
            <a:extLst>
              <a:ext uri="{FF2B5EF4-FFF2-40B4-BE49-F238E27FC236}">
                <a16:creationId xmlns:a16="http://schemas.microsoft.com/office/drawing/2014/main" id="{29CA88E3-41D3-FF37-BF7E-B456D3066D29}"/>
              </a:ext>
            </a:extLst>
          </p:cNvPr>
          <p:cNvCxnSpPr>
            <a:cxnSpLocks/>
          </p:cNvCxnSpPr>
          <p:nvPr userDrawn="1"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9;p34">
            <a:extLst>
              <a:ext uri="{FF2B5EF4-FFF2-40B4-BE49-F238E27FC236}">
                <a16:creationId xmlns:a16="http://schemas.microsoft.com/office/drawing/2014/main" id="{E8E59DF3-723D-F8D2-F968-6FCDA67BCDDC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7" name="Google Shape;19;p34">
            <a:extLst>
              <a:ext uri="{FF2B5EF4-FFF2-40B4-BE49-F238E27FC236}">
                <a16:creationId xmlns:a16="http://schemas.microsoft.com/office/drawing/2014/main" id="{AB88F2E6-F0E1-9028-69C7-33CBCB9759A2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5868990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6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4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2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0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en-US" altLang="zh-TW" sz="8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50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9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tock-ods.vercel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0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r>
              <a:rPr lang="en-US" altLang="zh-TW" b="1" dirty="0" err="1"/>
              <a:t>OpenStock</a:t>
            </a:r>
            <a:endParaRPr lang="zh-TW" altLang="en-US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</a:t>
            </a:r>
            <a:r>
              <a:rPr lang="en-US" altLang="zh-TW" sz="2800" b="0" dirty="0"/>
              <a:t> – </a:t>
            </a:r>
            <a:r>
              <a:rPr lang="zh-TW" altLang="en-US" sz="2800" b="0" dirty="0"/>
              <a:t>數位科技發展組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2026.06.08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54650CD5-C1B9-D7DB-46A1-AE5D76D77848}"/>
              </a:ext>
            </a:extLst>
          </p:cNvPr>
          <p:cNvSpPr txBox="1">
            <a:spLocks/>
          </p:cNvSpPr>
          <p:nvPr/>
        </p:nvSpPr>
        <p:spPr>
          <a:xfrm>
            <a:off x="1440000" y="29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b="1" dirty="0"/>
              <a:t>開源股票市場資訊平台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B4C24DF-A82F-E162-A874-E5000DAE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 err="1"/>
              <a:t>OpenStock</a:t>
            </a:r>
            <a:r>
              <a:rPr lang="en" altLang="zh-TW" b="1" dirty="0"/>
              <a:t> </a:t>
            </a:r>
            <a:r>
              <a:rPr lang="zh-TW" altLang="en-US" b="1" dirty="0"/>
              <a:t>是什麼？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A9CDC0E-264F-FC42-E054-DFC56EBCB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800" b="1" dirty="0" err="1"/>
              <a:t>OpenStock</a:t>
            </a:r>
            <a:r>
              <a:rPr lang="en" altLang="zh-TW" sz="1800" b="1" dirty="0"/>
              <a:t> </a:t>
            </a:r>
            <a:r>
              <a:rPr lang="zh-TW" altLang="en-US" sz="1800" b="1" dirty="0"/>
              <a:t>是一個開源股票市場資訊平台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可自架的股票看盤工具</a:t>
            </a:r>
            <a:endParaRPr lang="en-US" altLang="zh-TW" sz="1600" dirty="0"/>
          </a:p>
          <a:p>
            <a:pPr lvl="1"/>
            <a:r>
              <a:rPr lang="zh-TW" altLang="en-US" sz="1600" dirty="0"/>
              <a:t>提供市場概覽、個股查詢、觀察清單與價格提醒</a:t>
            </a:r>
            <a:endParaRPr lang="en-US" altLang="zh-TW" sz="1600" dirty="0"/>
          </a:p>
          <a:p>
            <a:pPr lvl="1"/>
            <a:r>
              <a:rPr lang="zh-TW" altLang="en-US" sz="1600" dirty="0"/>
              <a:t>適合學習、展示、內部 </a:t>
            </a:r>
            <a:r>
              <a:rPr lang="en" altLang="zh-TW" sz="1600" dirty="0"/>
              <a:t>PoC </a:t>
            </a:r>
            <a:r>
              <a:rPr lang="zh-TW" altLang="en-US" sz="1600" dirty="0"/>
              <a:t>與投資資訊整理</a:t>
            </a:r>
            <a:endParaRPr lang="en-US" altLang="zh-TW" sz="1600" dirty="0"/>
          </a:p>
          <a:p>
            <a:pPr lvl="1"/>
            <a:r>
              <a:rPr lang="zh-TW" altLang="en-US" sz="1600" dirty="0"/>
              <a:t>不是券商系統，也不提供下單服務</a:t>
            </a:r>
            <a:endParaRPr lang="zh-TW" altLang="en-US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E70B5F66-F67D-7C6B-412C-6435770DEC2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68990" y="732212"/>
            <a:ext cx="5472112" cy="5401026"/>
          </a:xfrm>
        </p:spPr>
        <p:txBody>
          <a:bodyPr/>
          <a:lstStyle/>
          <a:p>
            <a:r>
              <a:rPr lang="zh-TW" altLang="en-US" sz="1800" b="1" dirty="0"/>
              <a:t>使用者可以做什麼？</a:t>
            </a:r>
            <a:endParaRPr lang="en-US" altLang="zh-TW" sz="1800" b="1" dirty="0"/>
          </a:p>
          <a:p>
            <a:pPr lvl="1"/>
            <a:endParaRPr lang="zh-TW" altLang="en-US" b="1" dirty="0"/>
          </a:p>
        </p:txBody>
      </p:sp>
      <p:pic>
        <p:nvPicPr>
          <p:cNvPr id="8" name="圖片 7" descr="一張含有 螢幕擷取畫面, 文字, 軟體, 多媒體軟體 的圖片&#10;&#10;AI 產生的內容可能不正確。">
            <a:extLst>
              <a:ext uri="{FF2B5EF4-FFF2-40B4-BE49-F238E27FC236}">
                <a16:creationId xmlns:a16="http://schemas.microsoft.com/office/drawing/2014/main" id="{F6F3A4DE-F050-7A15-9865-93F4D1FDC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73" y="2683785"/>
            <a:ext cx="5318071" cy="2820063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BC1902C-43CD-AB2D-39B0-AA01216DA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655130"/>
              </p:ext>
            </p:extLst>
          </p:nvPr>
        </p:nvGraphicFramePr>
        <p:xfrm>
          <a:off x="6202604" y="1363848"/>
          <a:ext cx="4875711" cy="4140001"/>
        </p:xfrm>
        <a:graphic>
          <a:graphicData uri="http://schemas.openxmlformats.org/drawingml/2006/table">
            <a:tbl>
              <a:tblPr/>
              <a:tblGrid>
                <a:gridCol w="1035460">
                  <a:extLst>
                    <a:ext uri="{9D8B030D-6E8A-4147-A177-3AD203B41FA5}">
                      <a16:colId xmlns:a16="http://schemas.microsoft.com/office/drawing/2014/main" val="1209423281"/>
                    </a:ext>
                  </a:extLst>
                </a:gridCol>
                <a:gridCol w="3840251">
                  <a:extLst>
                    <a:ext uri="{9D8B030D-6E8A-4147-A177-3AD203B41FA5}">
                      <a16:colId xmlns:a16="http://schemas.microsoft.com/office/drawing/2014/main" val="2554026722"/>
                    </a:ext>
                  </a:extLst>
                </a:gridCol>
              </a:tblGrid>
              <a:tr h="3285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功能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說明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838519"/>
                  </a:ext>
                </a:extLst>
              </a:tr>
              <a:tr h="63523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b="1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市場總覽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查看整體市場狀況、熱門股票與市場新聞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2622"/>
                  </a:ext>
                </a:extLst>
              </a:tr>
              <a:tr h="63523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b="1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股票搜尋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搜尋股票代號或公司名稱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121781"/>
                  </a:ext>
                </a:extLst>
              </a:tr>
              <a:tr h="63523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b="1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個股頁面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查看股價圖表、公司資料與技術分析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237185"/>
                  </a:ext>
                </a:extLst>
              </a:tr>
              <a:tr h="63523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b="1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觀察清單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收藏想持續追蹤的股票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438653"/>
                  </a:ext>
                </a:extLst>
              </a:tr>
              <a:tr h="63523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b="1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價格提醒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當股價達到指定條件時通知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86393"/>
                  </a:ext>
                </a:extLst>
              </a:tr>
              <a:tr h="63523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b="1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自動摘要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透過 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Email 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 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輔助整理市場資訊</a:t>
                      </a:r>
                    </a:p>
                  </a:txBody>
                  <a:tcPr marL="89204" marR="89204" marT="41171" marB="4117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596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96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EA3D4F-3734-D3C7-F9A9-308BBF0C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 err="1"/>
              <a:t>OpenStock</a:t>
            </a:r>
            <a:r>
              <a:rPr lang="en" altLang="zh-TW" b="1" dirty="0"/>
              <a:t> </a:t>
            </a:r>
            <a:r>
              <a:rPr lang="zh-TW" altLang="en-US" b="1" dirty="0"/>
              <a:t>使用哪些工具與服務？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BA69ACA-0C1F-D25F-B42B-75D528470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045815"/>
              </p:ext>
            </p:extLst>
          </p:nvPr>
        </p:nvGraphicFramePr>
        <p:xfrm>
          <a:off x="360000" y="900000"/>
          <a:ext cx="3775197" cy="4222067"/>
        </p:xfrm>
        <a:graphic>
          <a:graphicData uri="http://schemas.openxmlformats.org/drawingml/2006/table">
            <a:tbl>
              <a:tblPr/>
              <a:tblGrid>
                <a:gridCol w="1221642">
                  <a:extLst>
                    <a:ext uri="{9D8B030D-6E8A-4147-A177-3AD203B41FA5}">
                      <a16:colId xmlns:a16="http://schemas.microsoft.com/office/drawing/2014/main" val="4126567891"/>
                    </a:ext>
                  </a:extLst>
                </a:gridCol>
                <a:gridCol w="2553555">
                  <a:extLst>
                    <a:ext uri="{9D8B030D-6E8A-4147-A177-3AD203B41FA5}">
                      <a16:colId xmlns:a16="http://schemas.microsoft.com/office/drawing/2014/main" val="4190483599"/>
                    </a:ext>
                  </a:extLst>
                </a:gridCol>
              </a:tblGrid>
              <a:tr h="204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類別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工具 </a:t>
                      </a:r>
                      <a:r>
                        <a:rPr lang="en-US" altLang="zh-TW" sz="1600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 </a:t>
                      </a:r>
                      <a:r>
                        <a:rPr lang="zh-TW" altLang="en-US" sz="1600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服務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931344"/>
                  </a:ext>
                </a:extLst>
              </a:tr>
              <a:tr h="471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網頁平台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Next.js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/ React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5176"/>
                  </a:ext>
                </a:extLst>
              </a:tr>
              <a:tr h="471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使用者資料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MongoDB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07232"/>
                  </a:ext>
                </a:extLst>
              </a:tr>
              <a:tr h="471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身分驗證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Better Auth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408277"/>
                  </a:ext>
                </a:extLst>
              </a:tr>
              <a:tr h="471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市場資料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 dirty="0" err="1">
                          <a:solidFill>
                            <a:schemeClr val="accent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Finnhub</a:t>
                      </a:r>
                      <a:endParaRPr lang="en" sz="1600" b="1" dirty="0">
                        <a:solidFill>
                          <a:schemeClr val="accent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104922"/>
                  </a:ext>
                </a:extLst>
              </a:tr>
              <a:tr h="471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圖表呈現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 dirty="0" err="1">
                          <a:solidFill>
                            <a:schemeClr val="accent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TradingView</a:t>
                      </a:r>
                      <a:endParaRPr lang="en" sz="1600" b="1" dirty="0">
                        <a:solidFill>
                          <a:schemeClr val="accent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207078"/>
                  </a:ext>
                </a:extLst>
              </a:tr>
              <a:tr h="605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背景任務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 dirty="0" err="1">
                          <a:solidFill>
                            <a:schemeClr val="accent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Inngest</a:t>
                      </a:r>
                      <a:endParaRPr lang="en" sz="1600" b="1" dirty="0">
                        <a:solidFill>
                          <a:schemeClr val="accent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683121"/>
                  </a:ext>
                </a:extLst>
              </a:tr>
              <a:tr h="471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Email </a:t>
                      </a: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通知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Nodemailer</a:t>
                      </a:r>
                      <a:endParaRPr lang="en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50619"/>
                  </a:ext>
                </a:extLst>
              </a:tr>
              <a:tr h="471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摘要</a:t>
                      </a: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 / </a:t>
                      </a: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MiniMax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/ </a:t>
                      </a: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Siray</a:t>
                      </a:r>
                      <a:endParaRPr lang="en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7421" marR="77421" marT="35733" marB="3573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2533"/>
                  </a:ext>
                </a:extLst>
              </a:tr>
            </a:tbl>
          </a:graphicData>
        </a:graphic>
      </p:graphicFrame>
      <p:pic>
        <p:nvPicPr>
          <p:cNvPr id="17" name="圖片 16" descr="一張含有 圖表, 行, 螢幕擷取畫面, 文字 的圖片&#10;&#10;AI 產生的內容可能不正確。">
            <a:extLst>
              <a:ext uri="{FF2B5EF4-FFF2-40B4-BE49-F238E27FC236}">
                <a16:creationId xmlns:a16="http://schemas.microsoft.com/office/drawing/2014/main" id="{15091907-77FD-4562-DEFC-4915885B3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682" y="1031033"/>
            <a:ext cx="6678806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9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C8DE34-9BD5-D45E-4069-0DB1F748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 err="1"/>
              <a:t>Finnhub</a:t>
            </a:r>
            <a:r>
              <a:rPr lang="zh-TW" altLang="en" b="1" dirty="0"/>
              <a:t>：</a:t>
            </a:r>
            <a:r>
              <a:rPr lang="en" altLang="zh-TW" b="1" dirty="0" err="1"/>
              <a:t>OpenStock</a:t>
            </a:r>
            <a:r>
              <a:rPr lang="en" altLang="zh-TW" b="1" dirty="0"/>
              <a:t> </a:t>
            </a:r>
            <a:r>
              <a:rPr lang="zh-TW" altLang="en-US" b="1" dirty="0"/>
              <a:t>的市場資料來源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BA0F4F-EEB1-A3B0-5BE7-71AEB6BE6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800" b="1" dirty="0" err="1"/>
              <a:t>Finnhub</a:t>
            </a:r>
            <a:r>
              <a:rPr lang="en" altLang="zh-TW" sz="1800" b="1" dirty="0"/>
              <a:t> </a:t>
            </a:r>
            <a:r>
              <a:rPr lang="zh-TW" altLang="en-US" sz="1800" b="1" dirty="0"/>
              <a:t>是金融市場資料 </a:t>
            </a:r>
            <a:r>
              <a:rPr lang="en" altLang="zh-TW" sz="1800" b="1" dirty="0"/>
              <a:t>API </a:t>
            </a:r>
            <a:r>
              <a:rPr lang="zh-TW" altLang="en-US" sz="1800" b="1" dirty="0"/>
              <a:t>服務</a:t>
            </a:r>
            <a:endParaRPr lang="zh-TW" altLang="en" sz="1800" b="1" dirty="0"/>
          </a:p>
          <a:p>
            <a:pPr lvl="1"/>
            <a:r>
              <a:rPr lang="zh-TW" altLang="en-US" sz="1600" dirty="0"/>
              <a:t>提供股票搜尋資料，讓使用者可以查詢股票代號或公司名稱</a:t>
            </a:r>
          </a:p>
          <a:p>
            <a:pPr lvl="1"/>
            <a:r>
              <a:rPr lang="zh-TW" altLang="en-US" sz="1600" dirty="0"/>
              <a:t>提供個股報價，支援價格顯示與價格提醒判斷</a:t>
            </a:r>
          </a:p>
          <a:p>
            <a:pPr lvl="1"/>
            <a:r>
              <a:rPr lang="zh-TW" altLang="en-US" sz="1600" dirty="0"/>
              <a:t>提供公司基本資訊，補足個股頁面的背景資料</a:t>
            </a:r>
          </a:p>
          <a:p>
            <a:pPr lvl="1"/>
            <a:r>
              <a:rPr lang="zh-TW" altLang="en-US" sz="1600" dirty="0"/>
              <a:t>提供市場新聞，讓使用者了解價格變動背後的資訊脈絡</a:t>
            </a:r>
          </a:p>
        </p:txBody>
      </p:sp>
      <p:pic>
        <p:nvPicPr>
          <p:cNvPr id="8" name="圖片 7" descr="一張含有 行, 螢幕擷取畫面, 圖表, 白色 的圖片&#10;&#10;AI 產生的內容可能不正確。">
            <a:extLst>
              <a:ext uri="{FF2B5EF4-FFF2-40B4-BE49-F238E27FC236}">
                <a16:creationId xmlns:a16="http://schemas.microsoft.com/office/drawing/2014/main" id="{EEA03D14-BE2C-E861-36C9-BB4CC8170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044" y="2888395"/>
            <a:ext cx="7772400" cy="243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5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119990-D71E-3BA2-3FDB-FB346B3A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TradingView</a:t>
            </a:r>
            <a:r>
              <a:rPr lang="zh-TW" altLang="en-US" b="1" dirty="0"/>
              <a:t>：讓市場資訊變成直覺圖表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611B60-EAB9-ABEC-66EF-95D500BEE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800" b="1" dirty="0" err="1"/>
              <a:t>TradingView</a:t>
            </a:r>
            <a:r>
              <a:rPr lang="en" altLang="zh-TW" sz="1800" b="1" dirty="0"/>
              <a:t> </a:t>
            </a:r>
            <a:r>
              <a:rPr lang="zh-TW" altLang="en-US" sz="1800" b="1" dirty="0"/>
              <a:t>是金融圖表與市場視覺化元件服務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在首頁呈現市場總覽，幫助使用者快速掌握市場狀況</a:t>
            </a:r>
          </a:p>
          <a:p>
            <a:pPr lvl="1"/>
            <a:r>
              <a:rPr lang="zh-TW" altLang="en-US" sz="1600" dirty="0"/>
              <a:t>透過熱力圖呈現市場漲跌分布，讓市場情緒更直覺</a:t>
            </a:r>
          </a:p>
          <a:p>
            <a:pPr lvl="1"/>
            <a:r>
              <a:rPr lang="zh-TW" altLang="en-US" sz="1600" dirty="0"/>
              <a:t>在個股頁面顯示股價走勢圖，協助觀察價格變化</a:t>
            </a:r>
          </a:p>
          <a:p>
            <a:pPr lvl="1"/>
            <a:r>
              <a:rPr lang="zh-TW" altLang="en-US" sz="1600" dirty="0"/>
              <a:t>提供技術分析相關視覺化資訊，讓個股頁面更接近專業看盤工具</a:t>
            </a:r>
          </a:p>
        </p:txBody>
      </p:sp>
      <p:pic>
        <p:nvPicPr>
          <p:cNvPr id="6" name="圖片 5" descr="一張含有 圖表, 行, 繪圖, 文字 的圖片&#10;&#10;AI 產生的內容可能不正確。">
            <a:extLst>
              <a:ext uri="{FF2B5EF4-FFF2-40B4-BE49-F238E27FC236}">
                <a16:creationId xmlns:a16="http://schemas.microsoft.com/office/drawing/2014/main" id="{9524BB00-FB09-8BDC-9132-7FEDBFD2B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044" y="2478422"/>
            <a:ext cx="7772400" cy="35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6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1A21-3A49-A74D-E9FD-49AC59B6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A49203-9597-3263-CD11-33E84C23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 err="1"/>
              <a:t>Inngest</a:t>
            </a:r>
            <a:r>
              <a:rPr lang="zh-TW" altLang="en" b="1" dirty="0"/>
              <a:t>：</a:t>
            </a:r>
            <a:r>
              <a:rPr lang="zh-TW" altLang="en-US" b="1" dirty="0"/>
              <a:t>讓 </a:t>
            </a:r>
            <a:r>
              <a:rPr lang="en" altLang="zh-TW" b="1" dirty="0" err="1"/>
              <a:t>OpenStock</a:t>
            </a:r>
            <a:r>
              <a:rPr lang="en" altLang="zh-TW" b="1" dirty="0"/>
              <a:t> </a:t>
            </a:r>
            <a:r>
              <a:rPr lang="zh-TW" altLang="en-US" b="1" dirty="0"/>
              <a:t>具備背景自動化能力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508DC57-2F84-0FFA-015F-77992C413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800" b="1" dirty="0" err="1"/>
              <a:t>Inngest</a:t>
            </a:r>
            <a:r>
              <a:rPr lang="en" altLang="zh-TW" sz="1800" b="1" dirty="0"/>
              <a:t> </a:t>
            </a:r>
            <a:r>
              <a:rPr lang="zh-TW" altLang="en-US" sz="1800" b="1" dirty="0"/>
              <a:t>是事件驅動的背景任務與工作流平台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定期檢查價格提醒條件，減少使用者人工盯盤</a:t>
            </a:r>
          </a:p>
          <a:p>
            <a:pPr lvl="1"/>
            <a:r>
              <a:rPr lang="zh-TW" altLang="en-US" sz="1600" dirty="0"/>
              <a:t>定期產生市場摘要，降低資訊整理成本</a:t>
            </a:r>
          </a:p>
          <a:p>
            <a:pPr lvl="1"/>
            <a:r>
              <a:rPr lang="zh-TW" altLang="en-US" sz="1600" dirty="0"/>
              <a:t>在特定事件發生時觸發 </a:t>
            </a:r>
            <a:r>
              <a:rPr lang="en" altLang="zh-TW" sz="1600" dirty="0"/>
              <a:t>Email </a:t>
            </a:r>
            <a:r>
              <a:rPr lang="zh-TW" altLang="en-US" sz="1600" dirty="0"/>
              <a:t>通知</a:t>
            </a:r>
          </a:p>
          <a:p>
            <a:pPr lvl="1"/>
            <a:r>
              <a:rPr lang="zh-TW" altLang="en-US" sz="1600" dirty="0"/>
              <a:t>處理註冊後歡迎信等使用者流程</a:t>
            </a:r>
          </a:p>
          <a:p>
            <a:pPr lvl="1"/>
            <a:r>
              <a:rPr lang="zh-TW" altLang="en-US" sz="1600" dirty="0"/>
              <a:t>可用於喚回久未使用的使用者，提高平台互動</a:t>
            </a:r>
            <a:endParaRPr lang="en-US" altLang="zh-TW" sz="1800" dirty="0"/>
          </a:p>
          <a:p>
            <a:endParaRPr lang="zh-TW" altLang="en-US" sz="1800" dirty="0"/>
          </a:p>
        </p:txBody>
      </p:sp>
      <p:pic>
        <p:nvPicPr>
          <p:cNvPr id="5" name="圖片 4" descr="一張含有 文字, 行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ADEC1FDA-6551-2B8F-5A21-2D05C2559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044" y="2865530"/>
            <a:ext cx="7772400" cy="275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001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95E0BD-6ACC-27E5-B749-37240749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總結：</a:t>
            </a:r>
            <a:r>
              <a:rPr lang="en" altLang="zh-TW" b="1" dirty="0" err="1"/>
              <a:t>OpenStock</a:t>
            </a:r>
            <a:r>
              <a:rPr lang="en" altLang="zh-TW" b="1" dirty="0"/>
              <a:t> </a:t>
            </a:r>
            <a:r>
              <a:rPr lang="zh-TW" altLang="en-US" b="1" dirty="0"/>
              <a:t>作為開源金融資訊平台的參考案例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DB8F0E-9203-CBC9-DCAF-641537068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800" b="1" dirty="0" err="1"/>
              <a:t>OpenStock</a:t>
            </a:r>
            <a:r>
              <a:rPr lang="en" altLang="zh-TW" sz="1800" dirty="0"/>
              <a:t> </a:t>
            </a:r>
            <a:r>
              <a:rPr lang="zh-TW" altLang="en-US" sz="1800" dirty="0"/>
              <a:t>展示了一個開源金融資訊平台，如何快速整合 </a:t>
            </a:r>
            <a:r>
              <a:rPr lang="zh-TW" altLang="en-US" sz="1800" b="1" dirty="0"/>
              <a:t>市場資料</a:t>
            </a:r>
            <a:r>
              <a:rPr lang="zh-TW" altLang="en-US" sz="1800" dirty="0"/>
              <a:t>、</a:t>
            </a:r>
            <a:r>
              <a:rPr lang="zh-TW" altLang="en-US" sz="1800" b="1" dirty="0"/>
              <a:t>圖表視覺化</a:t>
            </a:r>
            <a:r>
              <a:rPr lang="zh-TW" altLang="en-US" sz="1800" dirty="0"/>
              <a:t> 與 </a:t>
            </a:r>
            <a:r>
              <a:rPr lang="zh-TW" altLang="en-US" sz="1800" b="1" dirty="0"/>
              <a:t>背景自動化能力</a:t>
            </a:r>
            <a:r>
              <a:rPr lang="zh-TW" altLang="en-US" sz="1800" dirty="0"/>
              <a:t>。</a:t>
            </a:r>
            <a:endParaRPr lang="en-US" altLang="zh-TW" sz="1800" dirty="0"/>
          </a:p>
          <a:p>
            <a:pPr lvl="1"/>
            <a:r>
              <a:rPr lang="zh-TW" altLang="en-US" sz="1600" b="1" dirty="0"/>
              <a:t>資料取得</a:t>
            </a:r>
            <a:r>
              <a:rPr lang="zh-TW" altLang="en-US" sz="1600" dirty="0"/>
              <a:t>：透過 </a:t>
            </a:r>
            <a:r>
              <a:rPr lang="en" altLang="zh-TW" sz="1600" dirty="0" err="1"/>
              <a:t>Finnhub</a:t>
            </a:r>
            <a:r>
              <a:rPr lang="en" altLang="zh-TW" sz="1600" dirty="0"/>
              <a:t> </a:t>
            </a:r>
            <a:r>
              <a:rPr lang="zh-TW" altLang="en-US" sz="1600" dirty="0"/>
              <a:t>接入股票報價、公司資訊與市場新聞。</a:t>
            </a:r>
            <a:endParaRPr lang="zh-TW" altLang="en-US" dirty="0"/>
          </a:p>
          <a:p>
            <a:pPr lvl="1"/>
            <a:r>
              <a:rPr lang="zh-TW" altLang="en-US" sz="1600" b="1" dirty="0"/>
              <a:t>資訊呈現</a:t>
            </a:r>
            <a:r>
              <a:rPr lang="zh-TW" altLang="en-US" sz="1600" dirty="0"/>
              <a:t>：透過 </a:t>
            </a:r>
            <a:r>
              <a:rPr lang="en" altLang="zh-TW" sz="1600" dirty="0" err="1"/>
              <a:t>TradingView</a:t>
            </a:r>
            <a:r>
              <a:rPr lang="en" altLang="zh-TW" sz="1600" dirty="0"/>
              <a:t> </a:t>
            </a:r>
            <a:r>
              <a:rPr lang="zh-TW" altLang="en-US" sz="1600" dirty="0"/>
              <a:t>將市場資料轉為直覺圖表與看盤畫面。</a:t>
            </a:r>
          </a:p>
          <a:p>
            <a:pPr lvl="1"/>
            <a:r>
              <a:rPr lang="zh-TW" altLang="en-US" sz="1600" b="1" dirty="0"/>
              <a:t>背景自動化</a:t>
            </a:r>
            <a:r>
              <a:rPr lang="zh-TW" altLang="en-US" sz="1600" dirty="0"/>
              <a:t>：透過 </a:t>
            </a:r>
            <a:r>
              <a:rPr lang="en" altLang="zh-TW" sz="1600" dirty="0" err="1"/>
              <a:t>Inngest</a:t>
            </a:r>
            <a:r>
              <a:rPr lang="en" altLang="zh-TW" sz="1600" dirty="0"/>
              <a:t> </a:t>
            </a:r>
            <a:r>
              <a:rPr lang="zh-TW" altLang="en-US" sz="1600" dirty="0"/>
              <a:t>支援價格提醒、摘要產生與通知流程。</a:t>
            </a:r>
          </a:p>
          <a:p>
            <a:pPr lvl="1"/>
            <a:r>
              <a:rPr lang="zh-TW" altLang="en-US" sz="1600" b="1" dirty="0"/>
              <a:t>產品雛形完整</a:t>
            </a:r>
            <a:r>
              <a:rPr lang="zh-TW" altLang="en-US" sz="1600" dirty="0"/>
              <a:t>：已具備市場總覽、個股查詢、觀察清單、價格提醒與自動摘要等功能。</a:t>
            </a:r>
          </a:p>
          <a:p>
            <a:pPr lvl="1"/>
            <a:r>
              <a:rPr lang="zh-TW" altLang="en-US" sz="1600" b="1" dirty="0"/>
              <a:t>適合用途</a:t>
            </a:r>
            <a:r>
              <a:rPr lang="zh-TW" altLang="en-US" sz="1600" dirty="0"/>
              <a:t>：可作為內部 </a:t>
            </a:r>
            <a:r>
              <a:rPr lang="en" altLang="zh-TW" sz="1600" dirty="0"/>
              <a:t>PoC</a:t>
            </a:r>
            <a:r>
              <a:rPr lang="zh-TW" altLang="en" sz="1600" dirty="0"/>
              <a:t>、</a:t>
            </a:r>
            <a:r>
              <a:rPr lang="zh-TW" altLang="en-US" sz="1600" dirty="0"/>
              <a:t>金融資訊產品原型、技術研究或開源平台評估案例。</a:t>
            </a:r>
            <a:endParaRPr lang="en-US" altLang="zh-TW" sz="1600" dirty="0"/>
          </a:p>
          <a:p>
            <a:pPr lvl="1"/>
            <a:endParaRPr lang="en-US" altLang="zh-TW" sz="1600" dirty="0"/>
          </a:p>
          <a:p>
            <a:r>
              <a:rPr lang="zh-TW" altLang="en-US" sz="1800" dirty="0"/>
              <a:t>線上展示：</a:t>
            </a:r>
            <a:r>
              <a:rPr lang="en" altLang="zh-TW" sz="1600" dirty="0">
                <a:hlinkClick r:id="rId3"/>
              </a:rPr>
              <a:t>https://openstock-ods.vercel.app/</a:t>
            </a:r>
            <a:endParaRPr lang="en" altLang="zh-TW" sz="1600" dirty="0"/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57869892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D5D526-59E0-46BD-B75A-4A393253F24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bfc64f2-d580-4df8-9fa4-4631ad6ac43d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cac0686-f0c7-4236-b000-d7b90732a87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3946E7-66F8-4182-AA38-CFC406C59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ac0686-f0c7-4236-b000-d7b90732a875"/>
    <ds:schemaRef ds:uri="9bfc64f2-d580-4df8-9fa4-4631ad6ac4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4024</TotalTime>
  <Words>523</Words>
  <Application>Microsoft Office PowerPoint</Application>
  <PresentationFormat>自訂</PresentationFormat>
  <Paragraphs>72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Microsoft JhengHei Light</vt:lpstr>
      <vt:lpstr>Microsoft JhengHei</vt:lpstr>
      <vt:lpstr>Microsoft JhengHei</vt:lpstr>
      <vt:lpstr>標準系統字體</vt:lpstr>
      <vt:lpstr>Arial</vt:lpstr>
      <vt:lpstr>Roboto</vt:lpstr>
      <vt:lpstr>Times New Roman</vt:lpstr>
      <vt:lpstr>數科處範本</vt:lpstr>
      <vt:lpstr>OpenStock</vt:lpstr>
      <vt:lpstr>OpenStock 是什麼？</vt:lpstr>
      <vt:lpstr>OpenStock 使用哪些工具與服務？</vt:lpstr>
      <vt:lpstr>Finnhub：OpenStock 的市場資料來源</vt:lpstr>
      <vt:lpstr>TradingView：讓市場資訊變成直覺圖表</vt:lpstr>
      <vt:lpstr>Inngest：讓 OpenStock 具備背景自動化能力</vt:lpstr>
      <vt:lpstr>總結：OpenStock 作為開源金融資訊平台的參考案例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王雋凱-數位金融處-永豐銀行</cp:lastModifiedBy>
  <cp:revision>189</cp:revision>
  <dcterms:modified xsi:type="dcterms:W3CDTF">2026-06-08T04:41:42Z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