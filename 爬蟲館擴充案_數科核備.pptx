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4"/>
    <p:sldMasterId id="2147483666" r:id="rId5"/>
    <p:sldMasterId id="2147483673" r:id="rId6"/>
  </p:sldMasterIdLst>
  <p:notesMasterIdLst>
    <p:notesMasterId r:id="rId31"/>
  </p:notesMasterIdLst>
  <p:sldIdLst>
    <p:sldId id="256" r:id="rId7"/>
    <p:sldId id="259" r:id="rId8"/>
    <p:sldId id="2147471209" r:id="rId9"/>
    <p:sldId id="2147480959" r:id="rId10"/>
    <p:sldId id="2147480989" r:id="rId11"/>
    <p:sldId id="2147480979" r:id="rId12"/>
    <p:sldId id="2147480960" r:id="rId13"/>
    <p:sldId id="2147480972" r:id="rId14"/>
    <p:sldId id="2147471200" r:id="rId15"/>
    <p:sldId id="2147480983" r:id="rId16"/>
    <p:sldId id="2147480980" r:id="rId17"/>
    <p:sldId id="2147480970" r:id="rId18"/>
    <p:sldId id="2147480964" r:id="rId19"/>
    <p:sldId id="2007578790" r:id="rId20"/>
    <p:sldId id="2147480977" r:id="rId21"/>
    <p:sldId id="2147480978" r:id="rId22"/>
    <p:sldId id="2147480969" r:id="rId23"/>
    <p:sldId id="2147480982" r:id="rId24"/>
    <p:sldId id="2147480968" r:id="rId25"/>
    <p:sldId id="2147480986" r:id="rId26"/>
    <p:sldId id="2147471202" r:id="rId27"/>
    <p:sldId id="2147471204" r:id="rId28"/>
    <p:sldId id="2147471206" r:id="rId29"/>
    <p:sldId id="2147471207" r:id="rId30"/>
  </p:sldIdLst>
  <p:sldSz cx="11520488" cy="6480175"/>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2" roundtripDataSignature="AMtx7mhqKJAzFugGzrpaCdpbPJOL8OwfdA=="/>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周立筠-數位金融部-證券" initials="MSOffice" lastIdx="1" clrIdx="0">
    <p:extLst>
      <p:ext uri="{19B8F6BF-5375-455C-9EA6-DF929625EA0E}">
        <p15:presenceInfo xmlns:p15="http://schemas.microsoft.com/office/powerpoint/2012/main" userId="周立筠-數位金融部-證券" providerId="None"/>
      </p:ext>
    </p:extLst>
  </p:cmAuthor>
  <p:cmAuthor id="2" name="吳憲驊-人力資源處-永豐銀行" initials="吳憲驊-人力資源處-永豐銀行" lastIdx="1" clrIdx="1">
    <p:extLst>
      <p:ext uri="{19B8F6BF-5375-455C-9EA6-DF929625EA0E}">
        <p15:presenceInfo xmlns:p15="http://schemas.microsoft.com/office/powerpoint/2012/main" userId="S::simonwu@sinopac.com::c372d5aa-c765-4280-a5c9-548c4152a5d4" providerId="AD"/>
      </p:ext>
    </p:extLst>
  </p:cmAuthor>
  <p:cmAuthor id="3" name="張天豪-數位金融處-永豐銀行" initials="張天豪-數位金融處-永豐銀行" lastIdx="1" clrIdx="2">
    <p:extLst>
      <p:ext uri="{19B8F6BF-5375-455C-9EA6-DF929625EA0E}">
        <p15:presenceInfo xmlns:p15="http://schemas.microsoft.com/office/powerpoint/2012/main" userId="S::darby@sinopac.com::0d835702-99c9-4ef6-82d8-3ca86d4ccc1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BDDE9"/>
    <a:srgbClr val="447BBC"/>
    <a:srgbClr val="C64E4A"/>
    <a:srgbClr val="EEB0B2"/>
    <a:srgbClr val="953735"/>
    <a:srgbClr val="7FB0AD"/>
    <a:srgbClr val="E5EEF4"/>
    <a:srgbClr val="A16207"/>
    <a:srgbClr val="854D0E"/>
    <a:srgbClr val="3C7BC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1DB7C30-2B5D-4D34-8F22-85940E495A18}">
  <a:tblStyle styleId="{91DB7C30-2B5D-4D34-8F22-85940E495A18}"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88D87DB6-C1B6-446D-86CF-44D372F8A824}"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C7E2D07F-EAD9-47BB-8D15-AB9D181D91B3}" styleName="Table_2">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84E427A-3D55-4303-BF80-6455036E1DE7}" styleName="佈景主題樣式 1 - 輔色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8FB837D-C827-4EFA-A057-4D05807E0F7C}" styleName="佈景主題樣式 1 - 輔色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173" autoAdjust="0"/>
    <p:restoredTop sz="93784" autoAdjust="0"/>
  </p:normalViewPr>
  <p:slideViewPr>
    <p:cSldViewPr snapToGrid="0">
      <p:cViewPr varScale="1">
        <p:scale>
          <a:sx n="90" d="100"/>
          <a:sy n="90" d="100"/>
        </p:scale>
        <p:origin x="25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customXml" Target="../customXml/item3.xml"/><Relationship Id="rId21" Type="http://schemas.openxmlformats.org/officeDocument/2006/relationships/slide" Target="slides/slide15.xml"/><Relationship Id="rId55" Type="http://schemas.openxmlformats.org/officeDocument/2006/relationships/viewProps" Target="view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53"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57" Type="http://schemas.openxmlformats.org/officeDocument/2006/relationships/tableStyles" Target="tableStyle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notesMaster" Target="notesMasters/notesMaster1.xml"/><Relationship Id="rId52" Type="http://customschemas.google.com/relationships/presentationmetadata" Target="metadata"/><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56"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file:///D:\0-&#25351;&#27966;&#38917;&#30446;\20250818-&#29151;&#36939;&#20998;&#26512;&#22577;&#34920;\0-&#22294;&#34920;&#36039;&#26009;\2025_&#36039;&#26009;&#38598;&#20351;&#29992;&#36039;&#26009;&#37327;&#32113;&#35336;_20250818174729.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D:\0-&#25351;&#27966;&#38917;&#30446;\0-20250818-&#29151;&#36939;&#20998;&#26512;&#22577;&#34920;\0-&#22294;&#34920;&#36039;&#26009;\2024_2025&#36039;&#26009;&#38598;&#30003;&#35531;&#30064;&#21205;&#32000;&#37636;20250819094417.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微軟正黑體" panose="020B0604030504040204" pitchFamily="34" charset="-120"/>
                <a:ea typeface="微軟正黑體" panose="020B0604030504040204" pitchFamily="34" charset="-120"/>
                <a:cs typeface="+mn-cs"/>
              </a:defRPr>
            </a:pPr>
            <a:r>
              <a:rPr lang="zh-TW" altLang="zh-TW" sz="1800" b="0" i="0" baseline="0" dirty="0">
                <a:effectLst/>
              </a:rPr>
              <a:t>資料集使用前三名</a:t>
            </a:r>
            <a:endParaRPr lang="zh-TW" altLang="zh-TW" dirty="0">
              <a:effectLst/>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微軟正黑體" panose="020B0604030504040204" pitchFamily="34" charset="-120"/>
              <a:ea typeface="微軟正黑體" panose="020B0604030504040204" pitchFamily="34" charset="-120"/>
              <a:cs typeface="+mn-cs"/>
            </a:defRPr>
          </a:pPr>
          <a:endParaRPr lang="zh-TW"/>
        </a:p>
      </c:txPr>
    </c:title>
    <c:autoTitleDeleted val="0"/>
    <c:plotArea>
      <c:layout/>
      <c:barChart>
        <c:barDir val="col"/>
        <c:grouping val="clustered"/>
        <c:varyColors val="0"/>
        <c:ser>
          <c:idx val="0"/>
          <c:order val="0"/>
          <c:tx>
            <c:strRef>
              <c:f>工作表8!$B$1</c:f>
              <c:strCache>
                <c:ptCount val="1"/>
                <c:pt idx="0">
                  <c:v>加總 - 資料取得次數</c:v>
                </c:pt>
              </c:strCache>
            </c:strRef>
          </c:tx>
          <c:spPr>
            <a:solidFill>
              <a:srgbClr val="C64E4A"/>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微軟正黑體" panose="020B0604030504040204" pitchFamily="34" charset="-120"/>
                    <a:ea typeface="微軟正黑體" panose="020B0604030504040204" pitchFamily="34" charset="-120"/>
                    <a:cs typeface="+mn-cs"/>
                  </a:defRPr>
                </a:pPr>
                <a:endParaRPr lang="zh-TW"/>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工作表8!$A$2:$A$4</c:f>
              <c:strCache>
                <c:ptCount val="3"/>
                <c:pt idx="0">
                  <c:v>銀行局本國銀行損益簡表(102年以後)-NO2測試使用</c:v>
                </c:pt>
                <c:pt idx="1">
                  <c:v>櫃買中心國際債券當日盤中成交行情表(含寶島債)</c:v>
                </c:pt>
                <c:pt idx="2">
                  <c:v>中央銀行一日牌告(本國銀行)</c:v>
                </c:pt>
              </c:strCache>
            </c:strRef>
          </c:cat>
          <c:val>
            <c:numRef>
              <c:f>工作表8!$B$2:$B$4</c:f>
              <c:numCache>
                <c:formatCode>General</c:formatCode>
                <c:ptCount val="3"/>
                <c:pt idx="0">
                  <c:v>598</c:v>
                </c:pt>
                <c:pt idx="1">
                  <c:v>345</c:v>
                </c:pt>
                <c:pt idx="2">
                  <c:v>230</c:v>
                </c:pt>
              </c:numCache>
            </c:numRef>
          </c:val>
          <c:extLst>
            <c:ext xmlns:c16="http://schemas.microsoft.com/office/drawing/2014/chart" uri="{C3380CC4-5D6E-409C-BE32-E72D297353CC}">
              <c16:uniqueId val="{00000000-20B5-47D0-B3EA-8770E8397D3B}"/>
            </c:ext>
          </c:extLst>
        </c:ser>
        <c:dLbls>
          <c:dLblPos val="outEnd"/>
          <c:showLegendKey val="0"/>
          <c:showVal val="1"/>
          <c:showCatName val="0"/>
          <c:showSerName val="0"/>
          <c:showPercent val="0"/>
          <c:showBubbleSize val="0"/>
        </c:dLbls>
        <c:gapWidth val="219"/>
        <c:overlap val="-27"/>
        <c:axId val="386030160"/>
        <c:axId val="687673376"/>
      </c:barChart>
      <c:catAx>
        <c:axId val="3860301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微軟正黑體" panose="020B0604030504040204" pitchFamily="34" charset="-120"/>
                <a:ea typeface="微軟正黑體" panose="020B0604030504040204" pitchFamily="34" charset="-120"/>
                <a:cs typeface="+mn-cs"/>
              </a:defRPr>
            </a:pPr>
            <a:endParaRPr lang="zh-TW"/>
          </a:p>
        </c:txPr>
        <c:crossAx val="687673376"/>
        <c:crosses val="autoZero"/>
        <c:auto val="1"/>
        <c:lblAlgn val="ctr"/>
        <c:lblOffset val="100"/>
        <c:noMultiLvlLbl val="0"/>
      </c:catAx>
      <c:valAx>
        <c:axId val="68767337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微軟正黑體" panose="020B0604030504040204" pitchFamily="34" charset="-120"/>
                <a:ea typeface="微軟正黑體" panose="020B0604030504040204" pitchFamily="34" charset="-120"/>
                <a:cs typeface="+mn-cs"/>
              </a:defRPr>
            </a:pPr>
            <a:endParaRPr lang="zh-TW"/>
          </a:p>
        </c:txPr>
        <c:crossAx val="38603016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bg1">
          <a:lumMod val="85000"/>
        </a:schemeClr>
      </a:solidFill>
    </a:ln>
    <a:effectLst/>
  </c:spPr>
  <c:txPr>
    <a:bodyPr/>
    <a:lstStyle/>
    <a:p>
      <a:pPr>
        <a:defRPr>
          <a:latin typeface="微軟正黑體" panose="020B0604030504040204" pitchFamily="34" charset="-120"/>
          <a:ea typeface="微軟正黑體" panose="020B0604030504040204" pitchFamily="34" charset="-120"/>
        </a:defRPr>
      </a:pPr>
      <a:endParaRPr lang="zh-TW"/>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spc="0" baseline="0">
                <a:solidFill>
                  <a:schemeClr val="tx1">
                    <a:lumMod val="65000"/>
                    <a:lumOff val="35000"/>
                  </a:schemeClr>
                </a:solidFill>
                <a:latin typeface="微軟正黑體" panose="020B0604030504040204" pitchFamily="34" charset="-120"/>
                <a:ea typeface="微軟正黑體" panose="020B0604030504040204" pitchFamily="34" charset="-120"/>
                <a:cs typeface="+mn-cs"/>
              </a:defRPr>
            </a:pPr>
            <a:r>
              <a:rPr lang="zh-TW" sz="1800" b="0" dirty="0"/>
              <a:t>障礙率</a:t>
            </a:r>
          </a:p>
        </c:rich>
      </c:tx>
      <c:overlay val="0"/>
      <c:spPr>
        <a:noFill/>
        <a:ln>
          <a:noFill/>
        </a:ln>
        <a:effectLst/>
      </c:spPr>
      <c:txPr>
        <a:bodyPr rot="0" spcFirstLastPara="1" vertOverflow="ellipsis" vert="horz" wrap="square" anchor="ctr" anchorCtr="1"/>
        <a:lstStyle/>
        <a:p>
          <a:pPr>
            <a:defRPr sz="1800" b="1" i="0" u="none" strike="noStrike" kern="1200" spc="0" baseline="0">
              <a:solidFill>
                <a:schemeClr val="tx1">
                  <a:lumMod val="65000"/>
                  <a:lumOff val="35000"/>
                </a:schemeClr>
              </a:solidFill>
              <a:latin typeface="微軟正黑體" panose="020B0604030504040204" pitchFamily="34" charset="-120"/>
              <a:ea typeface="微軟正黑體" panose="020B0604030504040204" pitchFamily="34" charset="-120"/>
              <a:cs typeface="+mn-cs"/>
            </a:defRPr>
          </a:pPr>
          <a:endParaRPr lang="zh-TW"/>
        </a:p>
      </c:txPr>
    </c:title>
    <c:autoTitleDeleted val="0"/>
    <c:plotArea>
      <c:layout/>
      <c:pieChart>
        <c:varyColors val="1"/>
        <c:ser>
          <c:idx val="0"/>
          <c:order val="0"/>
          <c:dPt>
            <c:idx val="0"/>
            <c:bubble3D val="0"/>
            <c:spPr>
              <a:solidFill>
                <a:srgbClr val="C6514D"/>
              </a:solidFill>
              <a:ln w="19050">
                <a:solidFill>
                  <a:schemeClr val="lt1"/>
                </a:solidFill>
              </a:ln>
              <a:effectLst/>
            </c:spPr>
            <c:extLst>
              <c:ext xmlns:c16="http://schemas.microsoft.com/office/drawing/2014/chart" uri="{C3380CC4-5D6E-409C-BE32-E72D297353CC}">
                <c16:uniqueId val="{00000001-8E8E-4078-AC2F-69B9C85BC593}"/>
              </c:ext>
            </c:extLst>
          </c:dPt>
          <c:dPt>
            <c:idx val="1"/>
            <c:bubble3D val="0"/>
            <c:spPr>
              <a:solidFill>
                <a:srgbClr val="447BBC"/>
              </a:solidFill>
              <a:ln w="19050">
                <a:solidFill>
                  <a:schemeClr val="lt1"/>
                </a:solidFill>
              </a:ln>
              <a:effectLst/>
            </c:spPr>
            <c:extLst>
              <c:ext xmlns:c16="http://schemas.microsoft.com/office/drawing/2014/chart" uri="{C3380CC4-5D6E-409C-BE32-E72D297353CC}">
                <c16:uniqueId val="{00000003-8E8E-4078-AC2F-69B9C85BC593}"/>
              </c:ext>
            </c:extLst>
          </c:dPt>
          <c:dLbls>
            <c:dLbl>
              <c:idx val="1"/>
              <c:tx>
                <c:rich>
                  <a:bodyPr/>
                  <a:lstStyle/>
                  <a:p>
                    <a:fld id="{45194177-42B4-4A12-B545-A1F3BA941FA5}" type="VALUE">
                      <a:rPr lang="en-US" altLang="zh-TW">
                        <a:solidFill>
                          <a:schemeClr val="bg1"/>
                        </a:solidFill>
                      </a:rPr>
                      <a:pPr/>
                      <a:t>[值]</a:t>
                    </a:fld>
                    <a:endParaRPr lang="zh-TW" alt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8E8E-4078-AC2F-69B9C85BC593}"/>
                </c:ext>
              </c:extLst>
            </c:dLbl>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微軟正黑體" panose="020B0604030504040204" pitchFamily="34" charset="-120"/>
                    <a:ea typeface="微軟正黑體" panose="020B0604030504040204" pitchFamily="34" charset="-120"/>
                    <a:cs typeface="+mn-cs"/>
                  </a:defRPr>
                </a:pPr>
                <a:endParaRPr lang="zh-TW"/>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工作表1!$A$2:$A$3</c:f>
              <c:strCache>
                <c:ptCount val="2"/>
                <c:pt idx="0">
                  <c:v>異常率</c:v>
                </c:pt>
                <c:pt idx="1">
                  <c:v>正常率</c:v>
                </c:pt>
              </c:strCache>
            </c:strRef>
          </c:cat>
          <c:val>
            <c:numRef>
              <c:f>工作表1!$B$2:$B$3</c:f>
              <c:numCache>
                <c:formatCode>0.00%</c:formatCode>
                <c:ptCount val="2"/>
                <c:pt idx="0">
                  <c:v>4.6899999999999997E-2</c:v>
                </c:pt>
                <c:pt idx="1">
                  <c:v>0.95310000000000006</c:v>
                </c:pt>
              </c:numCache>
            </c:numRef>
          </c:val>
          <c:extLst>
            <c:ext xmlns:c16="http://schemas.microsoft.com/office/drawing/2014/chart" uri="{C3380CC4-5D6E-409C-BE32-E72D297353CC}">
              <c16:uniqueId val="{00000004-8E8E-4078-AC2F-69B9C85BC593}"/>
            </c:ext>
          </c:extLst>
        </c:ser>
        <c:dLbls>
          <c:showLegendKey val="0"/>
          <c:showVal val="1"/>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微軟正黑體" panose="020B0604030504040204" pitchFamily="34" charset="-120"/>
              <a:ea typeface="微軟正黑體" panose="020B0604030504040204" pitchFamily="34" charset="-120"/>
              <a:cs typeface="+mn-cs"/>
            </a:defRPr>
          </a:pPr>
          <a:endParaRPr lang="zh-TW"/>
        </a:p>
      </c:txPr>
    </c:legend>
    <c:plotVisOnly val="1"/>
    <c:dispBlanksAs val="gap"/>
    <c:showDLblsOverMax val="0"/>
  </c:chart>
  <c:spPr>
    <a:noFill/>
    <a:ln>
      <a:solidFill>
        <a:schemeClr val="bg1">
          <a:lumMod val="85000"/>
        </a:schemeClr>
      </a:solidFill>
    </a:ln>
    <a:effectLst/>
  </c:spPr>
  <c:txPr>
    <a:bodyPr/>
    <a:lstStyle/>
    <a:p>
      <a:pPr>
        <a:defRPr>
          <a:latin typeface="微軟正黑體" panose="020B0604030504040204" pitchFamily="34" charset="-120"/>
          <a:ea typeface="微軟正黑體" panose="020B0604030504040204" pitchFamily="34" charset="-120"/>
        </a:defRPr>
      </a:pPr>
      <a:endParaRPr lang="zh-TW"/>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baseline="0">
                <a:solidFill>
                  <a:schemeClr val="tx1">
                    <a:lumMod val="65000"/>
                    <a:lumOff val="35000"/>
                  </a:schemeClr>
                </a:solidFill>
                <a:latin typeface="微軟正黑體" panose="020B0604030504040204" pitchFamily="34" charset="-120"/>
                <a:ea typeface="微軟正黑體" panose="020B0604030504040204" pitchFamily="34" charset="-120"/>
                <a:cs typeface="+mn-cs"/>
              </a:defRPr>
            </a:pPr>
            <a:r>
              <a:rPr lang="zh-TW" sz="1800" b="0" dirty="0"/>
              <a:t>共</a:t>
            </a:r>
            <a:r>
              <a:rPr lang="en-US" sz="1800" b="0" dirty="0"/>
              <a:t>22</a:t>
            </a:r>
            <a:r>
              <a:rPr lang="zh-TW" sz="1800" b="0" dirty="0"/>
              <a:t>位使用者</a:t>
            </a:r>
            <a:r>
              <a:rPr lang="en-US" altLang="zh-TW" sz="1800" b="0" dirty="0"/>
              <a:t>,</a:t>
            </a:r>
            <a:r>
              <a:rPr lang="zh-TW" sz="1800" b="0" dirty="0"/>
              <a:t>共</a:t>
            </a:r>
            <a:r>
              <a:rPr lang="en-US" sz="1800" b="0" dirty="0"/>
              <a:t>93</a:t>
            </a:r>
            <a:r>
              <a:rPr lang="zh-TW" sz="1800" b="0" dirty="0"/>
              <a:t>項資料集被訂閱</a:t>
            </a:r>
          </a:p>
        </c:rich>
      </c:tx>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微軟正黑體" panose="020B0604030504040204" pitchFamily="34" charset="-120"/>
              <a:ea typeface="微軟正黑體" panose="020B0604030504040204" pitchFamily="34" charset="-120"/>
              <a:cs typeface="+mn-cs"/>
            </a:defRPr>
          </a:pPr>
          <a:endParaRPr lang="zh-TW"/>
        </a:p>
      </c:txPr>
    </c:title>
    <c:autoTitleDeleted val="0"/>
    <c:plotArea>
      <c:layout/>
      <c:barChart>
        <c:barDir val="col"/>
        <c:grouping val="clustered"/>
        <c:varyColors val="0"/>
        <c:ser>
          <c:idx val="0"/>
          <c:order val="0"/>
          <c:tx>
            <c:strRef>
              <c:f>工作表2!$B$1</c:f>
              <c:strCache>
                <c:ptCount val="1"/>
                <c:pt idx="0">
                  <c:v>使用者數量</c:v>
                </c:pt>
              </c:strCache>
            </c:strRef>
          </c:tx>
          <c:spPr>
            <a:solidFill>
              <a:srgbClr val="447BBC"/>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微軟正黑體" panose="020B0604030504040204" pitchFamily="34" charset="-120"/>
                    <a:ea typeface="微軟正黑體" panose="020B0604030504040204" pitchFamily="34" charset="-120"/>
                    <a:cs typeface="+mn-cs"/>
                  </a:defRPr>
                </a:pPr>
                <a:endParaRPr lang="zh-TW"/>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工作表2!$A$2:$A$4</c:f>
              <c:strCache>
                <c:ptCount val="3"/>
                <c:pt idx="0">
                  <c:v>永豐金控</c:v>
                </c:pt>
                <c:pt idx="1">
                  <c:v>永豐銀行</c:v>
                </c:pt>
                <c:pt idx="2">
                  <c:v>永豐創投</c:v>
                </c:pt>
              </c:strCache>
            </c:strRef>
          </c:cat>
          <c:val>
            <c:numRef>
              <c:f>工作表2!$B$2:$B$4</c:f>
              <c:numCache>
                <c:formatCode>General</c:formatCode>
                <c:ptCount val="3"/>
                <c:pt idx="0">
                  <c:v>4</c:v>
                </c:pt>
                <c:pt idx="1">
                  <c:v>17</c:v>
                </c:pt>
                <c:pt idx="2">
                  <c:v>1</c:v>
                </c:pt>
              </c:numCache>
            </c:numRef>
          </c:val>
          <c:extLst>
            <c:ext xmlns:c16="http://schemas.microsoft.com/office/drawing/2014/chart" uri="{C3380CC4-5D6E-409C-BE32-E72D297353CC}">
              <c16:uniqueId val="{00000000-DE5F-43D2-B703-498A39601D31}"/>
            </c:ext>
          </c:extLst>
        </c:ser>
        <c:ser>
          <c:idx val="1"/>
          <c:order val="1"/>
          <c:tx>
            <c:strRef>
              <c:f>工作表2!$C$1</c:f>
              <c:strCache>
                <c:ptCount val="1"/>
                <c:pt idx="0">
                  <c:v>資料集已被訂閱次數</c:v>
                </c:pt>
              </c:strCache>
            </c:strRef>
          </c:tx>
          <c:spPr>
            <a:solidFill>
              <a:srgbClr val="C64E4A"/>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微軟正黑體" panose="020B0604030504040204" pitchFamily="34" charset="-120"/>
                    <a:ea typeface="微軟正黑體" panose="020B0604030504040204" pitchFamily="34" charset="-120"/>
                    <a:cs typeface="+mn-cs"/>
                  </a:defRPr>
                </a:pPr>
                <a:endParaRPr lang="zh-TW"/>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工作表2!$A$2:$A$4</c:f>
              <c:strCache>
                <c:ptCount val="3"/>
                <c:pt idx="0">
                  <c:v>永豐金控</c:v>
                </c:pt>
                <c:pt idx="1">
                  <c:v>永豐銀行</c:v>
                </c:pt>
                <c:pt idx="2">
                  <c:v>永豐創投</c:v>
                </c:pt>
              </c:strCache>
            </c:strRef>
          </c:cat>
          <c:val>
            <c:numRef>
              <c:f>工作表2!$C$2:$C$4</c:f>
              <c:numCache>
                <c:formatCode>General</c:formatCode>
                <c:ptCount val="3"/>
                <c:pt idx="0">
                  <c:v>53</c:v>
                </c:pt>
                <c:pt idx="1">
                  <c:v>30</c:v>
                </c:pt>
                <c:pt idx="2">
                  <c:v>10</c:v>
                </c:pt>
              </c:numCache>
            </c:numRef>
          </c:val>
          <c:extLst>
            <c:ext xmlns:c16="http://schemas.microsoft.com/office/drawing/2014/chart" uri="{C3380CC4-5D6E-409C-BE32-E72D297353CC}">
              <c16:uniqueId val="{00000001-DE5F-43D2-B703-498A39601D31}"/>
            </c:ext>
          </c:extLst>
        </c:ser>
        <c:dLbls>
          <c:dLblPos val="outEnd"/>
          <c:showLegendKey val="0"/>
          <c:showVal val="1"/>
          <c:showCatName val="0"/>
          <c:showSerName val="0"/>
          <c:showPercent val="0"/>
          <c:showBubbleSize val="0"/>
        </c:dLbls>
        <c:gapWidth val="100"/>
        <c:overlap val="-24"/>
        <c:axId val="1014928384"/>
        <c:axId val="1014926944"/>
      </c:barChart>
      <c:catAx>
        <c:axId val="1014928384"/>
        <c:scaling>
          <c:orientation val="minMax"/>
        </c:scaling>
        <c:delete val="0"/>
        <c:axPos val="b"/>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微軟正黑體" panose="020B0604030504040204" pitchFamily="34" charset="-120"/>
                <a:ea typeface="微軟正黑體" panose="020B0604030504040204" pitchFamily="34" charset="-120"/>
                <a:cs typeface="+mn-cs"/>
              </a:defRPr>
            </a:pPr>
            <a:endParaRPr lang="zh-TW"/>
          </a:p>
        </c:txPr>
        <c:crossAx val="1014926944"/>
        <c:crosses val="autoZero"/>
        <c:auto val="1"/>
        <c:lblAlgn val="ctr"/>
        <c:lblOffset val="100"/>
        <c:noMultiLvlLbl val="0"/>
      </c:catAx>
      <c:valAx>
        <c:axId val="1014926944"/>
        <c:scaling>
          <c:orientation val="minMax"/>
        </c:scaling>
        <c:delete val="0"/>
        <c:axPos val="l"/>
        <c:majorGridlines>
          <c:spPr>
            <a:ln w="9525" cap="flat" cmpd="sng" algn="ctr">
              <a:solidFill>
                <a:schemeClr val="tx2">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微軟正黑體" panose="020B0604030504040204" pitchFamily="34" charset="-120"/>
                <a:ea typeface="微軟正黑體" panose="020B0604030504040204" pitchFamily="34" charset="-120"/>
                <a:cs typeface="+mn-cs"/>
              </a:defRPr>
            </a:pPr>
            <a:endParaRPr lang="zh-TW"/>
          </a:p>
        </c:txPr>
        <c:crossAx val="101492838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微軟正黑體" panose="020B0604030504040204" pitchFamily="34" charset="-120"/>
              <a:ea typeface="微軟正黑體" panose="020B0604030504040204" pitchFamily="34" charset="-120"/>
              <a:cs typeface="+mn-cs"/>
            </a:defRPr>
          </a:pPr>
          <a:endParaRPr lang="zh-TW"/>
        </a:p>
      </c:txPr>
    </c:legend>
    <c:plotVisOnly val="1"/>
    <c:dispBlanksAs val="gap"/>
    <c:showDLblsOverMax val="0"/>
  </c:chart>
  <c:spPr>
    <a:noFill/>
    <a:ln>
      <a:solidFill>
        <a:schemeClr val="bg1">
          <a:lumMod val="85000"/>
        </a:schemeClr>
      </a:solidFill>
    </a:ln>
    <a:effectLst/>
  </c:spPr>
  <c:txPr>
    <a:bodyPr/>
    <a:lstStyle/>
    <a:p>
      <a:pPr>
        <a:defRPr>
          <a:solidFill>
            <a:schemeClr val="tx1">
              <a:lumMod val="65000"/>
              <a:lumOff val="35000"/>
            </a:schemeClr>
          </a:solidFill>
          <a:latin typeface="微軟正黑體" panose="020B0604030504040204" pitchFamily="34" charset="-120"/>
          <a:ea typeface="微軟正黑體" panose="020B0604030504040204" pitchFamily="34" charset="-120"/>
        </a:defRPr>
      </a:pPr>
      <a:endParaRPr lang="zh-TW"/>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7">
  <cs:axisTitle>
    <cs:lnRef idx="0"/>
    <cs:fillRef idx="0"/>
    <cs:effectRef idx="0"/>
    <cs:fontRef idx="minor">
      <a:schemeClr val="tx2"/>
    </cs:fontRef>
    <cs:defRPr sz="900"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900" kern="1200"/>
  </cs:chartArea>
  <cs:dataLabel>
    <cs:lnRef idx="0"/>
    <cs:fillRef idx="0"/>
    <cs:effectRef idx="0"/>
    <cs:fontRef idx="minor">
      <a:schemeClr val="tx2"/>
    </cs:fontRef>
    <cs:defRPr sz="900"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lumOff val="2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900"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900"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160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900"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900" kern="1200"/>
  </cs:valueAxis>
  <cs:wall>
    <cs:lnRef idx="0"/>
    <cs:fillRef idx="0"/>
    <cs:effectRef idx="0"/>
    <cs:fontRef idx="minor">
      <a:schemeClr val="tx2"/>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
        <p:cNvGrpSpPr/>
        <p:nvPr/>
      </p:nvGrpSpPr>
      <p:grpSpPr>
        <a:xfrm>
          <a:off x="0" y="0"/>
          <a:ext cx="0" cy="0"/>
          <a:chOff x="0" y="0"/>
          <a:chExt cx="0" cy="0"/>
        </a:xfrm>
      </p:grpSpPr>
      <p:sp>
        <p:nvSpPr>
          <p:cNvPr id="33" name="Google Shape;33;p1:notes"/>
          <p:cNvSpPr txBox="1">
            <a:spLocks noGrp="1"/>
          </p:cNvSpPr>
          <p:nvPr>
            <p:ph type="body" idx="1"/>
          </p:nvPr>
        </p:nvSpPr>
        <p:spPr>
          <a:xfrm>
            <a:off x="821615" y="337747"/>
            <a:ext cx="5695200" cy="3027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480"/>
              </a:spcBef>
              <a:spcAft>
                <a:spcPts val="0"/>
              </a:spcAft>
              <a:buSzPts val="1400"/>
              <a:buNone/>
            </a:pPr>
            <a:endParaRPr/>
          </a:p>
        </p:txBody>
      </p:sp>
      <p:sp>
        <p:nvSpPr>
          <p:cNvPr id="34" name="Google Shape;34;p1:notes"/>
          <p:cNvSpPr>
            <a:spLocks noGrp="1" noRot="1" noChangeAspect="1"/>
          </p:cNvSpPr>
          <p:nvPr>
            <p:ph type="sldImg" idx="2"/>
          </p:nvPr>
        </p:nvSpPr>
        <p:spPr>
          <a:xfrm>
            <a:off x="-3536950" y="1177925"/>
            <a:ext cx="13887450" cy="78120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222eb5d9c60_0_38:notes"/>
          <p:cNvSpPr txBox="1">
            <a:spLocks noGrp="1"/>
          </p:cNvSpPr>
          <p:nvPr>
            <p:ph type="body" idx="1"/>
          </p:nvPr>
        </p:nvSpPr>
        <p:spPr>
          <a:xfrm>
            <a:off x="814388" y="366713"/>
            <a:ext cx="5645100" cy="3285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480"/>
              </a:spcBef>
              <a:spcAft>
                <a:spcPts val="0"/>
              </a:spcAft>
              <a:buSzPts val="1400"/>
              <a:buNone/>
            </a:pPr>
            <a:endParaRPr lang="zh-TW" altLang="en-US" dirty="0"/>
          </a:p>
        </p:txBody>
      </p:sp>
      <p:sp>
        <p:nvSpPr>
          <p:cNvPr id="52" name="Google Shape;52;g222eb5d9c60_0_38:notes"/>
          <p:cNvSpPr>
            <a:spLocks noGrp="1" noRot="1" noChangeAspect="1"/>
          </p:cNvSpPr>
          <p:nvPr>
            <p:ph type="sldImg" idx="2"/>
          </p:nvPr>
        </p:nvSpPr>
        <p:spPr>
          <a:xfrm>
            <a:off x="-4162425" y="1279525"/>
            <a:ext cx="15078075" cy="848201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222eb5d9c60_0_38:notes"/>
          <p:cNvSpPr txBox="1">
            <a:spLocks noGrp="1"/>
          </p:cNvSpPr>
          <p:nvPr>
            <p:ph type="body" idx="1"/>
          </p:nvPr>
        </p:nvSpPr>
        <p:spPr>
          <a:xfrm>
            <a:off x="814388" y="366713"/>
            <a:ext cx="5645100" cy="3285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480"/>
              </a:spcBef>
              <a:spcAft>
                <a:spcPts val="0"/>
              </a:spcAft>
              <a:buSzPts val="1400"/>
              <a:buNone/>
            </a:pPr>
            <a:endParaRPr/>
          </a:p>
        </p:txBody>
      </p:sp>
      <p:sp>
        <p:nvSpPr>
          <p:cNvPr id="52" name="Google Shape;52;g222eb5d9c60_0_38:notes"/>
          <p:cNvSpPr>
            <a:spLocks noGrp="1" noRot="1" noChangeAspect="1"/>
          </p:cNvSpPr>
          <p:nvPr>
            <p:ph type="sldImg" idx="2"/>
          </p:nvPr>
        </p:nvSpPr>
        <p:spPr>
          <a:xfrm>
            <a:off x="-4162425" y="1279525"/>
            <a:ext cx="15078075" cy="848201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5130102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222eb5d9c60_0_38:notes"/>
          <p:cNvSpPr txBox="1">
            <a:spLocks noGrp="1"/>
          </p:cNvSpPr>
          <p:nvPr>
            <p:ph type="body" idx="1"/>
          </p:nvPr>
        </p:nvSpPr>
        <p:spPr>
          <a:xfrm>
            <a:off x="814388" y="366713"/>
            <a:ext cx="5645100" cy="3285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480"/>
              </a:spcBef>
              <a:spcAft>
                <a:spcPts val="0"/>
              </a:spcAft>
              <a:buSzPts val="1400"/>
              <a:buNone/>
            </a:pPr>
            <a:endParaRPr/>
          </a:p>
        </p:txBody>
      </p:sp>
      <p:sp>
        <p:nvSpPr>
          <p:cNvPr id="52" name="Google Shape;52;g222eb5d9c60_0_38:notes"/>
          <p:cNvSpPr>
            <a:spLocks noGrp="1" noRot="1" noChangeAspect="1"/>
          </p:cNvSpPr>
          <p:nvPr>
            <p:ph type="sldImg" idx="2"/>
          </p:nvPr>
        </p:nvSpPr>
        <p:spPr>
          <a:xfrm>
            <a:off x="-4162425" y="1279525"/>
            <a:ext cx="15078075" cy="848201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26684450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altLang="zh-TW" dirty="0"/>
              <a:t>1.</a:t>
            </a:r>
            <a:r>
              <a:rPr lang="zh-TW" altLang="en-US" dirty="0">
                <a:latin typeface="微軟正黑體" panose="020B0604030504040204" pitchFamily="34" charset="-120"/>
                <a:ea typeface="微軟正黑體" panose="020B0604030504040204" pitchFamily="34" charset="-120"/>
              </a:rPr>
              <a:t>資料庫無法承載大規模資料，存取效率下降，且缺乏歷史資料保存能力。</a:t>
            </a:r>
            <a:endParaRPr lang="en-US" altLang="zh-TW" dirty="0">
              <a:latin typeface="微軟正黑體" panose="020B0604030504040204" pitchFamily="34" charset="-120"/>
              <a:ea typeface="微軟正黑體" panose="020B0604030504040204" pitchFamily="34" charset="-120"/>
            </a:endParaRPr>
          </a:p>
          <a:p>
            <a:pPr marL="0" indent="0">
              <a:buNone/>
            </a:pPr>
            <a:r>
              <a:rPr lang="en-US" altLang="zh-TW" dirty="0"/>
              <a:t>3.</a:t>
            </a:r>
            <a:r>
              <a:rPr lang="zh-TW" altLang="en-US" dirty="0">
                <a:latin typeface="微軟正黑體" panose="020B0604030504040204" pitchFamily="34" charset="-120"/>
                <a:ea typeface="微軟正黑體" panose="020B0604030504040204" pitchFamily="34" charset="-120"/>
              </a:rPr>
              <a:t>重複頻繁之取用資料流程，以財管應用情境為例：</a:t>
            </a:r>
            <a:endParaRPr lang="en-US" altLang="zh-TW" dirty="0">
              <a:latin typeface="微軟正黑體" panose="020B0604030504040204" pitchFamily="34" charset="-120"/>
              <a:ea typeface="微軟正黑體" panose="020B0604030504040204" pitchFamily="34" charset="-120"/>
            </a:endParaRPr>
          </a:p>
          <a:p>
            <a:pPr marL="0" indent="0">
              <a:buNone/>
            </a:pPr>
            <a:r>
              <a:rPr lang="zh-TW" altLang="en-US" dirty="0">
                <a:latin typeface="微軟正黑體" panose="020B0604030504040204" pitchFamily="34" charset="-120"/>
                <a:ea typeface="微軟正黑體" panose="020B0604030504040204" pitchFamily="34" charset="-120"/>
              </a:rPr>
              <a:t>．現況：同仁定期訂閱需手動下載</a:t>
            </a:r>
            <a:r>
              <a:rPr lang="en-US" altLang="zh-TW" dirty="0">
                <a:latin typeface="微軟正黑體" panose="020B0604030504040204" pitchFamily="34" charset="-120"/>
                <a:ea typeface="微軟正黑體" panose="020B0604030504040204" pitchFamily="34" charset="-120"/>
              </a:rPr>
              <a:t>6</a:t>
            </a:r>
            <a:r>
              <a:rPr lang="zh-TW" altLang="en-US" dirty="0">
                <a:latin typeface="微軟正黑體" panose="020B0604030504040204" pitchFamily="34" charset="-120"/>
                <a:ea typeface="微軟正黑體" panose="020B0604030504040204" pitchFamily="34" charset="-120"/>
              </a:rPr>
              <a:t>個檔案，刪除重複資料，手動執行檔案整併，再上傳財管系統，流程冗長。</a:t>
            </a:r>
            <a:endParaRPr lang="en-US" altLang="zh-TW" dirty="0">
              <a:latin typeface="微軟正黑體" panose="020B0604030504040204" pitchFamily="34" charset="-120"/>
              <a:ea typeface="微軟正黑體" panose="020B0604030504040204" pitchFamily="34" charset="-120"/>
            </a:endParaRPr>
          </a:p>
          <a:p>
            <a:pPr marL="0" indent="0">
              <a:buNone/>
            </a:pPr>
            <a:r>
              <a:rPr lang="zh-TW" altLang="en-US" dirty="0">
                <a:latin typeface="微軟正黑體" panose="020B0604030504040204" pitchFamily="34" charset="-120"/>
                <a:ea typeface="微軟正黑體" panose="020B0604030504040204" pitchFamily="34" charset="-120"/>
              </a:rPr>
              <a:t>．改善後：加入</a:t>
            </a:r>
            <a:r>
              <a:rPr lang="en-US" altLang="zh-TW" dirty="0" err="1">
                <a:latin typeface="微軟正黑體" panose="020B0604030504040204" pitchFamily="34" charset="-120"/>
                <a:ea typeface="微軟正黑體" panose="020B0604030504040204" pitchFamily="34" charset="-120"/>
              </a:rPr>
              <a:t>PKey</a:t>
            </a:r>
            <a:r>
              <a:rPr lang="zh-TW" altLang="en-US" dirty="0">
                <a:latin typeface="微軟正黑體" panose="020B0604030504040204" pitchFamily="34" charset="-120"/>
                <a:ea typeface="微軟正黑體" panose="020B0604030504040204" pitchFamily="34" charset="-120"/>
              </a:rPr>
              <a:t>值</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日期欄位</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判斷後，於爬蟲館平台可設定，重複資料後整併，再上傳財管系統，簡化流程。</a:t>
            </a:r>
          </a:p>
          <a:p>
            <a:pPr marL="158750" indent="0">
              <a:buNone/>
            </a:pPr>
            <a:endParaRPr lang="zh-TW" altLang="en-US" dirty="0"/>
          </a:p>
        </p:txBody>
      </p:sp>
    </p:spTree>
    <p:extLst>
      <p:ext uri="{BB962C8B-B14F-4D97-AF65-F5344CB8AC3E}">
        <p14:creationId xmlns:p14="http://schemas.microsoft.com/office/powerpoint/2010/main" val="26727745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222eb5d9c60_0_38:notes"/>
          <p:cNvSpPr txBox="1">
            <a:spLocks noGrp="1"/>
          </p:cNvSpPr>
          <p:nvPr>
            <p:ph type="body" idx="1"/>
          </p:nvPr>
        </p:nvSpPr>
        <p:spPr>
          <a:xfrm>
            <a:off x="814388" y="366713"/>
            <a:ext cx="5645100" cy="3285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480"/>
              </a:spcBef>
              <a:spcAft>
                <a:spcPts val="0"/>
              </a:spcAft>
              <a:buSzPts val="1400"/>
              <a:buNone/>
            </a:pPr>
            <a:endParaRPr dirty="0"/>
          </a:p>
        </p:txBody>
      </p:sp>
      <p:sp>
        <p:nvSpPr>
          <p:cNvPr id="52" name="Google Shape;52;g222eb5d9c60_0_38:notes"/>
          <p:cNvSpPr>
            <a:spLocks noGrp="1" noRot="1" noChangeAspect="1"/>
          </p:cNvSpPr>
          <p:nvPr>
            <p:ph type="sldImg" idx="2"/>
          </p:nvPr>
        </p:nvSpPr>
        <p:spPr>
          <a:xfrm>
            <a:off x="-4162425" y="1279525"/>
            <a:ext cx="15078075" cy="848201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29835652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222eb5d9c60_0_38:notes"/>
          <p:cNvSpPr txBox="1">
            <a:spLocks noGrp="1"/>
          </p:cNvSpPr>
          <p:nvPr>
            <p:ph type="body" idx="1"/>
          </p:nvPr>
        </p:nvSpPr>
        <p:spPr>
          <a:xfrm>
            <a:off x="814388" y="366713"/>
            <a:ext cx="5645100" cy="3285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480"/>
              </a:spcBef>
              <a:spcAft>
                <a:spcPts val="0"/>
              </a:spcAft>
              <a:buSzPts val="1400"/>
              <a:buNone/>
            </a:pPr>
            <a:endParaRPr dirty="0"/>
          </a:p>
        </p:txBody>
      </p:sp>
      <p:sp>
        <p:nvSpPr>
          <p:cNvPr id="52" name="Google Shape;52;g222eb5d9c60_0_38:notes"/>
          <p:cNvSpPr>
            <a:spLocks noGrp="1" noRot="1" noChangeAspect="1"/>
          </p:cNvSpPr>
          <p:nvPr>
            <p:ph type="sldImg" idx="2"/>
          </p:nvPr>
        </p:nvSpPr>
        <p:spPr>
          <a:xfrm>
            <a:off x="-4162425" y="1279525"/>
            <a:ext cx="15078075" cy="848201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25340399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222eb5d9c60_0_38:notes"/>
          <p:cNvSpPr txBox="1">
            <a:spLocks noGrp="1"/>
          </p:cNvSpPr>
          <p:nvPr>
            <p:ph type="body" idx="1"/>
          </p:nvPr>
        </p:nvSpPr>
        <p:spPr>
          <a:xfrm>
            <a:off x="814388" y="366713"/>
            <a:ext cx="5645100" cy="328500"/>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90000"/>
              </a:lnSpc>
              <a:spcBef>
                <a:spcPts val="480"/>
              </a:spcBef>
              <a:spcAft>
                <a:spcPts val="0"/>
              </a:spcAft>
              <a:buClr>
                <a:srgbClr val="000000"/>
              </a:buClr>
              <a:buSzPts val="1400"/>
              <a:buFont typeface="Arial"/>
              <a:buNone/>
              <a:tabLst/>
              <a:defRPr/>
            </a:pPr>
            <a:r>
              <a:rPr lang="zh-TW" altLang="en-US" sz="1100" dirty="0">
                <a:solidFill>
                  <a:schemeClr val="bg1"/>
                </a:solidFill>
                <a:latin typeface="微軟正黑體" panose="020B0604030504040204" pitchFamily="34" charset="-120"/>
                <a:ea typeface="微軟正黑體" panose="020B0604030504040204" pitchFamily="34" charset="-120"/>
              </a:rPr>
              <a:t>地端測試</a:t>
            </a:r>
            <a:r>
              <a:rPr lang="en-US" altLang="zh-TW" sz="1100" dirty="0">
                <a:solidFill>
                  <a:schemeClr val="bg1"/>
                </a:solidFill>
                <a:latin typeface="微軟正黑體" panose="020B0604030504040204" pitchFamily="34" charset="-120"/>
                <a:ea typeface="微軟正黑體" panose="020B0604030504040204" pitchFamily="34" charset="-120"/>
              </a:rPr>
              <a:t>DB</a:t>
            </a:r>
            <a:br>
              <a:rPr lang="en-US" altLang="zh-TW" sz="1100" dirty="0">
                <a:solidFill>
                  <a:schemeClr val="bg1"/>
                </a:solidFill>
                <a:latin typeface="微軟正黑體" panose="020B0604030504040204" pitchFamily="34" charset="-120"/>
                <a:ea typeface="微軟正黑體" panose="020B0604030504040204" pitchFamily="34" charset="-120"/>
              </a:rPr>
            </a:br>
            <a:r>
              <a:rPr lang="en-US" altLang="zh-TW" sz="1100" dirty="0">
                <a:solidFill>
                  <a:schemeClr val="bg1"/>
                </a:solidFill>
                <a:latin typeface="微軟正黑體" panose="020B0604030504040204" pitchFamily="34" charset="-120"/>
                <a:ea typeface="微軟正黑體" panose="020B0604030504040204" pitchFamily="34" charset="-120"/>
              </a:rPr>
              <a:t>D100_SIT</a:t>
            </a:r>
            <a:br>
              <a:rPr lang="en-US" altLang="zh-TW" sz="1100" dirty="0">
                <a:solidFill>
                  <a:schemeClr val="bg1"/>
                </a:solidFill>
                <a:latin typeface="微軟正黑體" panose="020B0604030504040204" pitchFamily="34" charset="-120"/>
                <a:ea typeface="微軟正黑體" panose="020B0604030504040204" pitchFamily="34" charset="-120"/>
              </a:rPr>
            </a:br>
            <a:r>
              <a:rPr lang="zh-TW" altLang="en-US" sz="1100" dirty="0">
                <a:solidFill>
                  <a:schemeClr val="bg1"/>
                </a:solidFill>
                <a:latin typeface="微軟正黑體" panose="020B0604030504040204" pitchFamily="34" charset="-120"/>
                <a:ea typeface="微軟正黑體" panose="020B0604030504040204" pitchFamily="34" charset="-120"/>
              </a:rPr>
              <a:t> </a:t>
            </a:r>
            <a:r>
              <a:rPr lang="en-US" altLang="zh-TW" sz="900" dirty="0">
                <a:solidFill>
                  <a:schemeClr val="bg1"/>
                </a:solidFill>
                <a:latin typeface="微軟正黑體" panose="020B0604030504040204" pitchFamily="34" charset="-120"/>
                <a:ea typeface="微軟正黑體" panose="020B0604030504040204" pitchFamily="34" charset="-120"/>
              </a:rPr>
              <a:t>(10.11.144.234)</a:t>
            </a:r>
            <a:endParaRPr lang="zh-TW" altLang="en-US" sz="900" dirty="0">
              <a:solidFill>
                <a:schemeClr val="bg1"/>
              </a:solidFill>
              <a:latin typeface="微軟正黑體" panose="020B0604030504040204" pitchFamily="34" charset="-120"/>
              <a:ea typeface="微軟正黑體" panose="020B0604030504040204" pitchFamily="34" charset="-120"/>
            </a:endParaRPr>
          </a:p>
          <a:p>
            <a:pPr marL="0" lvl="0" indent="0" algn="l" rtl="0">
              <a:lnSpc>
                <a:spcPct val="90000"/>
              </a:lnSpc>
              <a:spcBef>
                <a:spcPts val="480"/>
              </a:spcBef>
              <a:spcAft>
                <a:spcPts val="0"/>
              </a:spcAft>
              <a:buSzPts val="1400"/>
              <a:buNone/>
            </a:pPr>
            <a:endParaRPr dirty="0"/>
          </a:p>
        </p:txBody>
      </p:sp>
      <p:sp>
        <p:nvSpPr>
          <p:cNvPr id="52" name="Google Shape;52;g222eb5d9c60_0_38:notes"/>
          <p:cNvSpPr>
            <a:spLocks noGrp="1" noRot="1" noChangeAspect="1"/>
          </p:cNvSpPr>
          <p:nvPr>
            <p:ph type="sldImg" idx="2"/>
          </p:nvPr>
        </p:nvSpPr>
        <p:spPr>
          <a:xfrm>
            <a:off x="-4162425" y="1279525"/>
            <a:ext cx="15078075" cy="848201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27457819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r>
              <a:rPr lang="zh-TW" altLang="en-US" sz="1100" dirty="0">
                <a:highlight>
                  <a:srgbClr val="FFFF00"/>
                </a:highlight>
                <a:latin typeface="微軟正黑體" panose="020B0604030504040204" pitchFamily="34" charset="-120"/>
                <a:ea typeface="微軟正黑體" panose="020B0604030504040204" pitchFamily="34" charset="-120"/>
              </a:rPr>
              <a:t>爬蟲館使用者</a:t>
            </a:r>
            <a:r>
              <a:rPr lang="en-US" altLang="zh-TW" sz="1100" dirty="0">
                <a:highlight>
                  <a:srgbClr val="FFFF00"/>
                </a:highlight>
                <a:latin typeface="微軟正黑體" panose="020B0604030504040204" pitchFamily="34" charset="-120"/>
                <a:ea typeface="微軟正黑體" panose="020B0604030504040204" pitchFamily="34" charset="-120"/>
              </a:rPr>
              <a:t>=</a:t>
            </a:r>
            <a:r>
              <a:rPr lang="zh-TW" altLang="en-US" sz="1100" dirty="0">
                <a:highlight>
                  <a:srgbClr val="FFFF00"/>
                </a:highlight>
                <a:latin typeface="微軟正黑體" panose="020B0604030504040204" pitchFamily="34" charset="-120"/>
                <a:ea typeface="微軟正黑體" panose="020B0604030504040204" pitchFamily="34" charset="-120"/>
              </a:rPr>
              <a:t>使用單位</a:t>
            </a:r>
            <a:endParaRPr lang="en-US" altLang="zh-TW" sz="1100" dirty="0">
              <a:highlight>
                <a:srgbClr val="FFFF00"/>
              </a:highlight>
              <a:latin typeface="微軟正黑體" panose="020B0604030504040204" pitchFamily="34" charset="-120"/>
              <a:ea typeface="微軟正黑體" panose="020B0604030504040204" pitchFamily="34" charset="-120"/>
            </a:endParaRPr>
          </a:p>
          <a:p>
            <a:r>
              <a:rPr lang="zh-TW" altLang="en-US" sz="1100" dirty="0">
                <a:highlight>
                  <a:srgbClr val="FFFF00"/>
                </a:highlight>
                <a:latin typeface="微軟正黑體" panose="020B0604030504040204" pitchFamily="34" charset="-120"/>
                <a:ea typeface="微軟正黑體" panose="020B0604030504040204" pitchFamily="34" charset="-120"/>
              </a:rPr>
              <a:t>爬蟲館維運者</a:t>
            </a:r>
            <a:r>
              <a:rPr lang="en-US" altLang="zh-TW" sz="1100" dirty="0">
                <a:highlight>
                  <a:srgbClr val="FFFF00"/>
                </a:highlight>
                <a:latin typeface="微軟正黑體" panose="020B0604030504040204" pitchFamily="34" charset="-120"/>
                <a:ea typeface="微軟正黑體" panose="020B0604030504040204" pitchFamily="34" charset="-120"/>
              </a:rPr>
              <a:t>=</a:t>
            </a:r>
            <a:r>
              <a:rPr lang="zh-TW" altLang="en-US" sz="1100" dirty="0">
                <a:highlight>
                  <a:srgbClr val="FFFF00"/>
                </a:highlight>
                <a:latin typeface="微軟正黑體" panose="020B0604030504040204" pitchFamily="34" charset="-120"/>
                <a:ea typeface="微軟正黑體" panose="020B0604030504040204" pitchFamily="34" charset="-120"/>
              </a:rPr>
              <a:t>資訊處</a:t>
            </a:r>
            <a:r>
              <a:rPr lang="en-US" altLang="zh-TW" sz="1100" dirty="0">
                <a:highlight>
                  <a:srgbClr val="FFFF00"/>
                </a:highlight>
                <a:latin typeface="微軟正黑體" panose="020B0604030504040204" pitchFamily="34" charset="-120"/>
                <a:ea typeface="微軟正黑體" panose="020B0604030504040204" pitchFamily="34" charset="-120"/>
              </a:rPr>
              <a:t>(</a:t>
            </a:r>
            <a:r>
              <a:rPr lang="zh-TW" altLang="en-US" sz="1100" dirty="0">
                <a:latin typeface="微軟正黑體" panose="020B0604030504040204" pitchFamily="34" charset="-120"/>
                <a:ea typeface="微軟正黑體" panose="020B0604030504040204" pitchFamily="34" charset="-120"/>
              </a:rPr>
              <a:t>資料庫應用科</a:t>
            </a:r>
            <a:r>
              <a:rPr lang="en-US" altLang="zh-TW" sz="1100" dirty="0">
                <a:latin typeface="微軟正黑體" panose="020B0604030504040204" pitchFamily="34" charset="-120"/>
                <a:ea typeface="微軟正黑體" panose="020B0604030504040204" pitchFamily="34" charset="-120"/>
              </a:rPr>
              <a:t>/</a:t>
            </a:r>
            <a:r>
              <a:rPr lang="zh-TW" altLang="en-US" sz="1100" dirty="0">
                <a:latin typeface="微軟正黑體" panose="020B0604030504040204" pitchFamily="34" charset="-120"/>
                <a:ea typeface="微軟正黑體" panose="020B0604030504040204" pitchFamily="34" charset="-120"/>
              </a:rPr>
              <a:t>創新金融科</a:t>
            </a:r>
            <a:r>
              <a:rPr lang="en-US" altLang="zh-TW" sz="1100" dirty="0">
                <a:latin typeface="微軟正黑體" panose="020B0604030504040204" pitchFamily="34" charset="-120"/>
                <a:ea typeface="微軟正黑體" panose="020B0604030504040204" pitchFamily="34" charset="-120"/>
              </a:rPr>
              <a:t>/</a:t>
            </a:r>
            <a:r>
              <a:rPr lang="zh-TW" altLang="en-US" sz="1100" dirty="0">
                <a:latin typeface="微軟正黑體" panose="020B0604030504040204" pitchFamily="34" charset="-120"/>
                <a:ea typeface="微軟正黑體" panose="020B0604030504040204" pitchFamily="34" charset="-120"/>
              </a:rPr>
              <a:t>系統管理科</a:t>
            </a:r>
            <a:r>
              <a:rPr lang="en-US" altLang="zh-TW" sz="1100" dirty="0">
                <a:latin typeface="微軟正黑體" panose="020B0604030504040204" pitchFamily="34" charset="-120"/>
                <a:ea typeface="微軟正黑體" panose="020B0604030504040204" pitchFamily="34" charset="-120"/>
              </a:rPr>
              <a:t>/</a:t>
            </a:r>
            <a:r>
              <a:rPr lang="zh-TW" altLang="en-US" sz="1100" dirty="0">
                <a:latin typeface="微軟正黑體" panose="020B0604030504040204" pitchFamily="34" charset="-120"/>
                <a:ea typeface="微軟正黑體" panose="020B0604030504040204" pitchFamily="34" charset="-120"/>
              </a:rPr>
              <a:t>網路管理科</a:t>
            </a:r>
            <a:r>
              <a:rPr lang="en-US" altLang="zh-TW" sz="1100" dirty="0">
                <a:latin typeface="微軟正黑體" panose="020B0604030504040204" pitchFamily="34" charset="-120"/>
                <a:ea typeface="微軟正黑體" panose="020B0604030504040204" pitchFamily="34" charset="-120"/>
              </a:rPr>
              <a:t>/</a:t>
            </a:r>
            <a:r>
              <a:rPr lang="zh-TW" altLang="en-US" sz="1100" dirty="0">
                <a:latin typeface="微軟正黑體" panose="020B0604030504040204" pitchFamily="34" charset="-120"/>
                <a:ea typeface="微軟正黑體" panose="020B0604030504040204" pitchFamily="34" charset="-120"/>
              </a:rPr>
              <a:t>雲端容器科</a:t>
            </a:r>
            <a:r>
              <a:rPr lang="en-US" altLang="zh-TW" sz="1100" dirty="0">
                <a:latin typeface="微軟正黑體" panose="020B0604030504040204" pitchFamily="34" charset="-120"/>
                <a:ea typeface="微軟正黑體" panose="020B0604030504040204" pitchFamily="34" charset="-120"/>
              </a:rPr>
              <a:t>)</a:t>
            </a:r>
            <a:endParaRPr lang="en-US" altLang="zh-TW" sz="1100" dirty="0">
              <a:highlight>
                <a:srgbClr val="FFFF00"/>
              </a:highlight>
              <a:latin typeface="微軟正黑體" panose="020B0604030504040204" pitchFamily="34" charset="-120"/>
              <a:ea typeface="微軟正黑體" panose="020B0604030504040204" pitchFamily="34" charset="-120"/>
            </a:endParaRPr>
          </a:p>
          <a:p>
            <a:r>
              <a:rPr lang="zh-TW" altLang="en-US" sz="1100" dirty="0">
                <a:highlight>
                  <a:srgbClr val="FFFF00"/>
                </a:highlight>
                <a:latin typeface="微軟正黑體" panose="020B0604030504040204" pitchFamily="34" charset="-120"/>
                <a:ea typeface="微軟正黑體" panose="020B0604030504040204" pitchFamily="34" charset="-120"/>
              </a:rPr>
              <a:t>爬蟲館</a:t>
            </a:r>
            <a:r>
              <a:rPr lang="zh-TW" altLang="en-US" sz="1100" dirty="0">
                <a:latin typeface="微軟正黑體" panose="020B0604030504040204" pitchFamily="34" charset="-120"/>
                <a:ea typeface="微軟正黑體" panose="020B0604030504040204" pitchFamily="34" charset="-120"/>
              </a:rPr>
              <a:t>管理</a:t>
            </a:r>
            <a:r>
              <a:rPr lang="zh-TW" altLang="en-US" sz="1100" dirty="0">
                <a:highlight>
                  <a:srgbClr val="FFFF00"/>
                </a:highlight>
                <a:latin typeface="微軟正黑體" panose="020B0604030504040204" pitchFamily="34" charset="-120"/>
                <a:ea typeface="微軟正黑體" panose="020B0604030504040204" pitchFamily="34" charset="-120"/>
              </a:rPr>
              <a:t>者</a:t>
            </a:r>
            <a:r>
              <a:rPr lang="en-US" altLang="zh-TW" sz="1100" dirty="0">
                <a:highlight>
                  <a:srgbClr val="FFFF00"/>
                </a:highlight>
                <a:latin typeface="微軟正黑體" panose="020B0604030504040204" pitchFamily="34" charset="-120"/>
                <a:ea typeface="微軟正黑體" panose="020B0604030504040204" pitchFamily="34" charset="-120"/>
              </a:rPr>
              <a:t>=</a:t>
            </a:r>
            <a:r>
              <a:rPr lang="zh-TW" altLang="en-US" sz="1100" dirty="0">
                <a:highlight>
                  <a:srgbClr val="FFFF00"/>
                </a:highlight>
                <a:latin typeface="微軟正黑體" panose="020B0604030504040204" pitchFamily="34" charset="-120"/>
                <a:ea typeface="微軟正黑體" panose="020B0604030504040204" pitchFamily="34" charset="-120"/>
              </a:rPr>
              <a:t>數科處</a:t>
            </a:r>
          </a:p>
          <a:p>
            <a:pPr marL="158750" indent="0">
              <a:buNone/>
            </a:pPr>
            <a:endParaRPr lang="zh-TW" altLang="en-US" dirty="0"/>
          </a:p>
        </p:txBody>
      </p:sp>
    </p:spTree>
    <p:extLst>
      <p:ext uri="{BB962C8B-B14F-4D97-AF65-F5344CB8AC3E}">
        <p14:creationId xmlns:p14="http://schemas.microsoft.com/office/powerpoint/2010/main" val="9873963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r>
              <a:rPr lang="zh-TW" altLang="en-US" dirty="0"/>
              <a:t>智網通：若改為</a:t>
            </a:r>
            <a:r>
              <a:rPr lang="en-US" altLang="zh-TW" dirty="0"/>
              <a:t>Java</a:t>
            </a:r>
            <a:r>
              <a:rPr lang="zh-TW" altLang="en-US" dirty="0"/>
              <a:t> </a:t>
            </a:r>
            <a:r>
              <a:rPr lang="en-US" altLang="zh-TW" dirty="0"/>
              <a:t>17</a:t>
            </a:r>
            <a:r>
              <a:rPr lang="zh-TW" altLang="en-US" dirty="0"/>
              <a:t>以上相關程式要大改主機上</a:t>
            </a:r>
            <a:r>
              <a:rPr lang="en-US" altLang="zh-TW" dirty="0"/>
              <a:t>framework</a:t>
            </a:r>
            <a:r>
              <a:rPr lang="zh-TW" altLang="en-US" dirty="0"/>
              <a:t>都需要升級</a:t>
            </a:r>
            <a:endParaRPr lang="en-US" altLang="zh-TW" dirty="0"/>
          </a:p>
          <a:p>
            <a:r>
              <a:rPr lang="zh-TW" altLang="en-US" dirty="0"/>
              <a:t>經查詢官方文件</a:t>
            </a:r>
            <a:r>
              <a:rPr lang="en-US" altLang="zh-TW" dirty="0"/>
              <a:t>Java 11</a:t>
            </a:r>
            <a:r>
              <a:rPr lang="zh-TW" altLang="en-US" dirty="0"/>
              <a:t>延伸版本可支援到</a:t>
            </a:r>
            <a:r>
              <a:rPr lang="en-US" altLang="zh-TW" dirty="0"/>
              <a:t>2032</a:t>
            </a:r>
          </a:p>
          <a:p>
            <a:r>
              <a:rPr lang="zh-TW" altLang="en-US" dirty="0"/>
              <a:t>經威佑協助確認：未來新需求再行評估升級，主要是避免發生使用已經</a:t>
            </a:r>
            <a:r>
              <a:rPr lang="en-US" altLang="zh-TW" dirty="0"/>
              <a:t>EOS</a:t>
            </a:r>
            <a:r>
              <a:rPr lang="zh-TW" altLang="en-US" dirty="0"/>
              <a:t>的</a:t>
            </a:r>
            <a:r>
              <a:rPr lang="en-US" altLang="zh-TW" dirty="0"/>
              <a:t>Java</a:t>
            </a:r>
            <a:r>
              <a:rPr lang="zh-TW" altLang="en-US" dirty="0"/>
              <a:t>版本即可</a:t>
            </a:r>
          </a:p>
        </p:txBody>
      </p:sp>
    </p:spTree>
    <p:extLst>
      <p:ext uri="{BB962C8B-B14F-4D97-AF65-F5344CB8AC3E}">
        <p14:creationId xmlns:p14="http://schemas.microsoft.com/office/powerpoint/2010/main" val="8959666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r>
              <a:rPr lang="en-US" altLang="zh-TW" dirty="0"/>
              <a:t>A=B</a:t>
            </a:r>
            <a:r>
              <a:rPr lang="zh-TW" altLang="en-US" dirty="0"/>
              <a:t>，</a:t>
            </a:r>
            <a:r>
              <a:rPr lang="en-US" altLang="zh-TW" dirty="0"/>
              <a:t>C=B+66960(</a:t>
            </a:r>
            <a:r>
              <a:rPr lang="zh-TW" altLang="en-US" dirty="0"/>
              <a:t>第二年投資成本</a:t>
            </a:r>
            <a:r>
              <a:rPr lang="en-US" altLang="zh-TW" dirty="0"/>
              <a:t>+</a:t>
            </a:r>
            <a:r>
              <a:rPr lang="zh-TW" altLang="en-US" dirty="0"/>
              <a:t>擴充案維護費</a:t>
            </a:r>
            <a:r>
              <a:rPr lang="en-US" altLang="zh-TW" dirty="0"/>
              <a:t>)</a:t>
            </a:r>
            <a:r>
              <a:rPr lang="zh-TW" altLang="en-US" dirty="0"/>
              <a:t>，</a:t>
            </a:r>
            <a:r>
              <a:rPr lang="en-US" altLang="zh-TW" dirty="0"/>
              <a:t>E</a:t>
            </a:r>
            <a:r>
              <a:rPr lang="zh-TW" altLang="en-US" dirty="0"/>
              <a:t>以此類推</a:t>
            </a:r>
            <a:endParaRPr lang="en-US" altLang="zh-TW" dirty="0"/>
          </a:p>
          <a:p>
            <a:r>
              <a:rPr lang="en-US" altLang="zh-TW" dirty="0"/>
              <a:t>2025.10.16</a:t>
            </a:r>
            <a:r>
              <a:rPr lang="zh-TW" altLang="en-US" dirty="0"/>
              <a:t>，不走廠商委外刪除</a:t>
            </a:r>
            <a:r>
              <a:rPr lang="zh-TW" altLang="en-US" sz="1100" kern="100" dirty="0">
                <a:effectLst/>
              </a:rPr>
              <a:t>本案一年保固期滿後增加</a:t>
            </a:r>
            <a:r>
              <a:rPr lang="zh-TW" altLang="zh-TW" sz="1100" kern="100" dirty="0">
                <a:effectLst/>
              </a:rPr>
              <a:t>年度維護費</a:t>
            </a:r>
            <a:r>
              <a:rPr lang="en-US" altLang="zh-TW" sz="1100" kern="100" dirty="0">
                <a:effectLst/>
              </a:rPr>
              <a:t>$ 66,960 (2027.Q2~2028.Q1) </a:t>
            </a:r>
            <a:endParaRPr lang="zh-TW" altLang="zh-TW" sz="110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158750" indent="0">
              <a:buNone/>
            </a:pPr>
            <a:endParaRPr lang="zh-TW" altLang="en-US" dirty="0"/>
          </a:p>
        </p:txBody>
      </p:sp>
    </p:spTree>
    <p:extLst>
      <p:ext uri="{BB962C8B-B14F-4D97-AF65-F5344CB8AC3E}">
        <p14:creationId xmlns:p14="http://schemas.microsoft.com/office/powerpoint/2010/main" val="4823864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endParaRPr lang="zh-TW" altLang="en-US" dirty="0"/>
          </a:p>
        </p:txBody>
      </p:sp>
    </p:spTree>
    <p:extLst>
      <p:ext uri="{BB962C8B-B14F-4D97-AF65-F5344CB8AC3E}">
        <p14:creationId xmlns:p14="http://schemas.microsoft.com/office/powerpoint/2010/main" val="32240803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r>
              <a:rPr lang="zh-TW" altLang="en-US" dirty="0"/>
              <a:t>出處：爬蟲館優化案架構審查</a:t>
            </a:r>
            <a:r>
              <a:rPr lang="en-US" altLang="zh-TW" dirty="0"/>
              <a:t>-v7_</a:t>
            </a:r>
            <a:r>
              <a:rPr lang="zh-TW" altLang="en-US" dirty="0"/>
              <a:t>補充</a:t>
            </a:r>
            <a:r>
              <a:rPr lang="en-US" altLang="zh-TW" dirty="0"/>
              <a:t>20231121_</a:t>
            </a:r>
            <a:r>
              <a:rPr lang="zh-TW" altLang="en-US" dirty="0"/>
              <a:t>改</a:t>
            </a:r>
            <a:r>
              <a:rPr lang="en-US" altLang="zh-TW" dirty="0"/>
              <a:t>p.18</a:t>
            </a:r>
            <a:r>
              <a:rPr lang="zh-TW" altLang="en-US" dirty="0"/>
              <a:t>新增</a:t>
            </a:r>
            <a:r>
              <a:rPr lang="en-US" altLang="zh-TW" dirty="0"/>
              <a:t>p.46.pptx</a:t>
            </a:r>
          </a:p>
          <a:p>
            <a:r>
              <a:rPr lang="zh-TW" altLang="en-US" dirty="0"/>
              <a:t>路徑：</a:t>
            </a:r>
            <a:r>
              <a:rPr lang="en-US" altLang="zh-TW" dirty="0"/>
              <a:t>\\10.11.6.12\dtd000\</a:t>
            </a:r>
            <a:r>
              <a:rPr lang="zh-TW" altLang="en-US" dirty="0"/>
              <a:t>專案區</a:t>
            </a:r>
            <a:r>
              <a:rPr lang="en-US" altLang="zh-TW" dirty="0"/>
              <a:t>\</a:t>
            </a:r>
            <a:r>
              <a:rPr lang="zh-TW" altLang="en-US" dirty="0"/>
              <a:t>爬蟲館宇宙</a:t>
            </a:r>
            <a:r>
              <a:rPr lang="en-US" altLang="zh-TW" dirty="0"/>
              <a:t>\4.1 </a:t>
            </a:r>
            <a:r>
              <a:rPr lang="zh-TW" altLang="en-US" dirty="0"/>
              <a:t>爬蟲館優化案</a:t>
            </a:r>
            <a:r>
              <a:rPr lang="en-US" altLang="zh-TW" dirty="0"/>
              <a:t>(</a:t>
            </a:r>
            <a:r>
              <a:rPr lang="zh-TW" altLang="en-US" dirty="0"/>
              <a:t>二期</a:t>
            </a:r>
            <a:r>
              <a:rPr lang="en-US" altLang="zh-TW" dirty="0"/>
              <a:t>)\1</a:t>
            </a:r>
            <a:r>
              <a:rPr lang="zh-TW" altLang="en-US" dirty="0"/>
              <a:t>專案前</a:t>
            </a:r>
            <a:r>
              <a:rPr lang="en-US" altLang="zh-TW" dirty="0"/>
              <a:t>\6 </a:t>
            </a:r>
            <a:r>
              <a:rPr lang="zh-TW" altLang="en-US" dirty="0"/>
              <a:t>核備</a:t>
            </a:r>
            <a:r>
              <a:rPr lang="en-US" altLang="zh-TW" dirty="0"/>
              <a:t>_</a:t>
            </a:r>
            <a:r>
              <a:rPr lang="zh-TW" altLang="en-US" dirty="0"/>
              <a:t>創新金融科</a:t>
            </a:r>
          </a:p>
        </p:txBody>
      </p:sp>
    </p:spTree>
    <p:extLst>
      <p:ext uri="{BB962C8B-B14F-4D97-AF65-F5344CB8AC3E}">
        <p14:creationId xmlns:p14="http://schemas.microsoft.com/office/powerpoint/2010/main" val="10449763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r>
              <a:rPr lang="zh-TW" altLang="en-US" b="0" i="0" dirty="0">
                <a:solidFill>
                  <a:srgbClr val="534340"/>
                </a:solidFill>
                <a:effectLst/>
                <a:latin typeface="NotoSansTC"/>
              </a:rPr>
              <a:t>當網站進行改版或內容更新時，原有的網頁結構、資料格式或路徑可能發生變化，導致既有的爬蟲程式無法正確擷取所需資料。此類因網站變動造成的資料擷取失敗事件，會統一記錄於「障礙率」指標中。障礙率可用以量化爬蟲因外部網站異動而產生的失敗比例，並作為後續爬蟲維護、調整及風險控管的重要依據。</a:t>
            </a:r>
            <a:endParaRPr lang="zh-TW" altLang="en-US" dirty="0"/>
          </a:p>
        </p:txBody>
      </p:sp>
    </p:spTree>
    <p:extLst>
      <p:ext uri="{BB962C8B-B14F-4D97-AF65-F5344CB8AC3E}">
        <p14:creationId xmlns:p14="http://schemas.microsoft.com/office/powerpoint/2010/main" val="5932037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r>
              <a:rPr lang="zh-TW" altLang="en-US" b="1" i="0" dirty="0">
                <a:solidFill>
                  <a:srgbClr val="534340"/>
                </a:solidFill>
                <a:effectLst/>
                <a:latin typeface="NotoSansTC"/>
              </a:rPr>
              <a:t>實際計算：</a:t>
            </a:r>
            <a:br>
              <a:rPr lang="zh-TW" altLang="en-US" dirty="0"/>
            </a:br>
            <a:r>
              <a:rPr lang="zh-TW" altLang="en-US" b="0" i="0" dirty="0">
                <a:solidFill>
                  <a:srgbClr val="534340"/>
                </a:solidFill>
                <a:effectLst/>
                <a:latin typeface="KaTeX_Main"/>
              </a:rPr>
              <a:t>成長比例</a:t>
            </a:r>
            <a:r>
              <a:rPr lang="en-US" altLang="zh-TW" b="0" i="0" dirty="0">
                <a:solidFill>
                  <a:srgbClr val="534340"/>
                </a:solidFill>
                <a:effectLst/>
                <a:latin typeface="KaTeX_Main"/>
              </a:rPr>
              <a:t>=93−3131×100%=6231×100%=200%</a:t>
            </a:r>
            <a:br>
              <a:rPr lang="en-US" altLang="zh-TW" b="0" i="0" dirty="0">
                <a:solidFill>
                  <a:srgbClr val="534340"/>
                </a:solidFill>
                <a:effectLst/>
                <a:latin typeface="KaTeX_Main"/>
              </a:rPr>
            </a:br>
            <a:r>
              <a:rPr lang="en-US" altLang="zh-TW" b="0" i="0" dirty="0">
                <a:solidFill>
                  <a:srgbClr val="534340"/>
                </a:solidFill>
                <a:effectLst/>
                <a:latin typeface="KaTeX_Main"/>
              </a:rPr>
              <a:t>\text{</a:t>
            </a:r>
            <a:r>
              <a:rPr lang="zh-TW" altLang="en-US" b="0" i="0" dirty="0">
                <a:solidFill>
                  <a:srgbClr val="534340"/>
                </a:solidFill>
                <a:effectLst/>
                <a:latin typeface="KaTeX_Main"/>
              </a:rPr>
              <a:t>成長比例</a:t>
            </a:r>
            <a:r>
              <a:rPr lang="en-US" altLang="zh-TW" b="0" i="0" dirty="0">
                <a:solidFill>
                  <a:srgbClr val="534340"/>
                </a:solidFill>
                <a:effectLst/>
                <a:latin typeface="KaTeX_Main"/>
              </a:rPr>
              <a:t>} = \frac{93-31}{31} \times 100% = \frac{62}{31} \times 100% = 200%</a:t>
            </a:r>
            <a:br>
              <a:rPr lang="en-US" altLang="zh-TW" b="0" i="0" dirty="0">
                <a:solidFill>
                  <a:srgbClr val="534340"/>
                </a:solidFill>
                <a:effectLst/>
                <a:latin typeface="KaTeX_Main"/>
              </a:rPr>
            </a:br>
            <a:r>
              <a:rPr lang="zh-TW" altLang="en-US" b="0" i="0" dirty="0">
                <a:solidFill>
                  <a:srgbClr val="534340"/>
                </a:solidFill>
                <a:effectLst/>
                <a:latin typeface="KaTeX_Main"/>
              </a:rPr>
              <a:t>成長比例</a:t>
            </a:r>
            <a:r>
              <a:rPr lang="en-US" altLang="zh-TW" b="0" i="0" dirty="0">
                <a:solidFill>
                  <a:srgbClr val="534340"/>
                </a:solidFill>
                <a:effectLst/>
                <a:latin typeface="KaTeX_Main"/>
              </a:rPr>
              <a:t>=3193−31​×100%=3162​×100%=200%</a:t>
            </a:r>
            <a:endParaRPr lang="zh-TW" altLang="en-US" dirty="0"/>
          </a:p>
        </p:txBody>
      </p:sp>
    </p:spTree>
    <p:extLst>
      <p:ext uri="{BB962C8B-B14F-4D97-AF65-F5344CB8AC3E}">
        <p14:creationId xmlns:p14="http://schemas.microsoft.com/office/powerpoint/2010/main" val="21772681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158750" indent="0">
              <a:buNone/>
            </a:pPr>
            <a:endParaRPr lang="zh-TW" altLang="en-US" dirty="0"/>
          </a:p>
        </p:txBody>
      </p:sp>
    </p:spTree>
    <p:extLst>
      <p:ext uri="{BB962C8B-B14F-4D97-AF65-F5344CB8AC3E}">
        <p14:creationId xmlns:p14="http://schemas.microsoft.com/office/powerpoint/2010/main" val="17390761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r>
              <a:rPr lang="zh-TW" altLang="en-US" dirty="0"/>
              <a:t>申請單位數：</a:t>
            </a:r>
          </a:p>
          <a:p>
            <a:r>
              <a:rPr lang="zh-TW" altLang="en-US" dirty="0"/>
              <a:t>虛擬主機：正式、測試各一</a:t>
            </a:r>
            <a:endParaRPr lang="en-US" altLang="zh-TW" dirty="0"/>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pt-BR" altLang="zh-TW" dirty="0"/>
              <a:t>Windows VM OS License/</a:t>
            </a:r>
            <a:r>
              <a:rPr lang="zh-TW" altLang="pt-BR" dirty="0"/>
              <a:t>套</a:t>
            </a:r>
            <a:r>
              <a:rPr lang="zh-TW" altLang="en-US" dirty="0"/>
              <a:t>：正式一套，測試：</a:t>
            </a:r>
            <a:r>
              <a:rPr lang="zh-TW" altLang="zh-TW" sz="1800" dirty="0">
                <a:effectLst/>
                <a:ea typeface="新細明體" panose="02020500000000000000" pitchFamily="18" charset="-120"/>
                <a:cs typeface="新細明體" panose="02020500000000000000" pitchFamily="18" charset="-120"/>
              </a:rPr>
              <a:t>微軟</a:t>
            </a:r>
            <a:r>
              <a:rPr lang="en-US" altLang="zh-TW" sz="1800" dirty="0">
                <a:effectLst/>
                <a:latin typeface="Calibri" panose="020F0502020204030204" pitchFamily="34" charset="0"/>
                <a:ea typeface="新細明體" panose="02020500000000000000" pitchFamily="18" charset="-120"/>
              </a:rPr>
              <a:t>OS</a:t>
            </a:r>
            <a:r>
              <a:rPr lang="zh-TW" altLang="zh-TW" sz="1800" dirty="0">
                <a:effectLst/>
                <a:ea typeface="新細明體" panose="02020500000000000000" pitchFamily="18" charset="-120"/>
                <a:cs typeface="新細明體" panose="02020500000000000000" pitchFamily="18" charset="-120"/>
              </a:rPr>
              <a:t>及資料庫版權，已包含於資訊處購買</a:t>
            </a:r>
            <a:r>
              <a:rPr lang="en-US" altLang="zh-TW" sz="1800" dirty="0">
                <a:effectLst/>
                <a:latin typeface="Calibri" panose="020F0502020204030204" pitchFamily="34" charset="0"/>
                <a:ea typeface="新細明體" panose="02020500000000000000" pitchFamily="18" charset="-120"/>
              </a:rPr>
              <a:t>MSDN</a:t>
            </a:r>
            <a:endParaRPr lang="en-US" altLang="zh-TW" dirty="0"/>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altLang="zh-TW" dirty="0"/>
              <a:t>Unity SSD</a:t>
            </a:r>
            <a:r>
              <a:rPr lang="zh-TW" altLang="en-US" dirty="0"/>
              <a:t>快速磁碟 </a:t>
            </a:r>
            <a:r>
              <a:rPr lang="en-US" altLang="zh-TW" dirty="0"/>
              <a:t>1TB</a:t>
            </a:r>
            <a:r>
              <a:rPr lang="zh-TW" altLang="en-US" dirty="0"/>
              <a:t>、</a:t>
            </a:r>
            <a:r>
              <a:rPr lang="en-US" altLang="zh-TW" dirty="0"/>
              <a:t>DD</a:t>
            </a:r>
            <a:r>
              <a:rPr lang="zh-TW" altLang="en-US" dirty="0"/>
              <a:t>備份空間 </a:t>
            </a:r>
            <a:r>
              <a:rPr lang="en-US" altLang="zh-TW" dirty="0"/>
              <a:t>1TB</a:t>
            </a:r>
            <a:r>
              <a:rPr lang="zh-TW" altLang="en-US" dirty="0"/>
              <a:t>：</a:t>
            </a:r>
            <a:br>
              <a:rPr lang="en-US" altLang="zh-TW" dirty="0"/>
            </a:br>
            <a:r>
              <a:rPr lang="zh-TW" altLang="en-US" dirty="0"/>
              <a:t>因使用空間不滿</a:t>
            </a:r>
            <a:r>
              <a:rPr lang="en-US" altLang="zh-TW" dirty="0"/>
              <a:t>1TB</a:t>
            </a:r>
            <a:r>
              <a:rPr lang="zh-TW" altLang="en-US" dirty="0"/>
              <a:t>，隱形成本以</a:t>
            </a:r>
            <a:r>
              <a:rPr lang="en-US" altLang="zh-TW" dirty="0"/>
              <a:t>0.35</a:t>
            </a:r>
            <a:r>
              <a:rPr lang="zh-TW" altLang="en-US" dirty="0"/>
              <a:t>做評估</a:t>
            </a:r>
            <a:br>
              <a:rPr lang="en-US" altLang="zh-TW" dirty="0"/>
            </a:br>
            <a:r>
              <a:rPr lang="en-US" altLang="zh-TW" dirty="0"/>
              <a:t>(2025/8/28</a:t>
            </a:r>
            <a:r>
              <a:rPr lang="zh-TW" altLang="en-US" dirty="0"/>
              <a:t>和系統管理科</a:t>
            </a:r>
            <a:r>
              <a:rPr lang="en-US" altLang="zh-TW" dirty="0"/>
              <a:t>-</a:t>
            </a:r>
            <a:r>
              <a:rPr lang="zh-TW" altLang="en-US" dirty="0"/>
              <a:t>志偉確認</a:t>
            </a:r>
            <a:r>
              <a:rPr lang="en-US" altLang="zh-TW" dirty="0"/>
              <a:t>)</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US" altLang="zh-TW" dirty="0"/>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US" altLang="zh-TW" dirty="0"/>
          </a:p>
          <a:p>
            <a:endParaRPr lang="zh-TW" altLang="pt-BR" dirty="0"/>
          </a:p>
          <a:p>
            <a:endParaRPr lang="zh-TW" altLang="en-US" dirty="0"/>
          </a:p>
        </p:txBody>
      </p:sp>
    </p:spTree>
    <p:extLst>
      <p:ext uri="{BB962C8B-B14F-4D97-AF65-F5344CB8AC3E}">
        <p14:creationId xmlns:p14="http://schemas.microsoft.com/office/powerpoint/2010/main" val="14697346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endParaRPr lang="zh-TW" altLang="en-US" dirty="0"/>
          </a:p>
        </p:txBody>
      </p:sp>
    </p:spTree>
    <p:extLst>
      <p:ext uri="{BB962C8B-B14F-4D97-AF65-F5344CB8AC3E}">
        <p14:creationId xmlns:p14="http://schemas.microsoft.com/office/powerpoint/2010/main" val="38761075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2.xml"/><Relationship Id="rId1" Type="http://schemas.openxmlformats.org/officeDocument/2006/relationships/tags" Target="../tags/tag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標題及物件" userDrawn="1">
  <p:cSld name="標題及物件">
    <p:spTree>
      <p:nvGrpSpPr>
        <p:cNvPr id="1" name="Shape 17"/>
        <p:cNvGrpSpPr/>
        <p:nvPr/>
      </p:nvGrpSpPr>
      <p:grpSpPr>
        <a:xfrm>
          <a:off x="0" y="0"/>
          <a:ext cx="0" cy="0"/>
          <a:chOff x="0" y="0"/>
          <a:chExt cx="0" cy="0"/>
        </a:xfrm>
      </p:grpSpPr>
      <p:sp>
        <p:nvSpPr>
          <p:cNvPr id="18" name="Google Shape;18;p34"/>
          <p:cNvSpPr txBox="1">
            <a:spLocks noGrp="1"/>
          </p:cNvSpPr>
          <p:nvPr>
            <p:ph type="title"/>
          </p:nvPr>
        </p:nvSpPr>
        <p:spPr>
          <a:xfrm>
            <a:off x="179388" y="72000"/>
            <a:ext cx="11161712" cy="540000"/>
          </a:xfrm>
          <a:prstGeom prst="rect">
            <a:avLst/>
          </a:prstGeom>
          <a:noFill/>
          <a:ln>
            <a:noFill/>
          </a:ln>
        </p:spPr>
        <p:txBody>
          <a:bodyPr spcFirstLastPara="1" wrap="square" lIns="88150" tIns="44050" rIns="88150" bIns="44050" anchor="ctr" anchorCtr="0">
            <a:noAutofit/>
          </a:bodyPr>
          <a:lstStyle>
            <a:lvl1pPr marR="0" lvl="0" algn="l" rtl="0">
              <a:lnSpc>
                <a:spcPct val="100000"/>
              </a:lnSpc>
              <a:spcBef>
                <a:spcPts val="0"/>
              </a:spcBef>
              <a:spcAft>
                <a:spcPts val="0"/>
              </a:spcAft>
              <a:buClr>
                <a:srgbClr val="000000"/>
              </a:buClr>
              <a:buSzPts val="3200"/>
              <a:buFont typeface="Arial"/>
              <a:buNone/>
              <a:defRPr sz="3200" b="0" i="0" u="none" strike="noStrike" cap="none">
                <a:solidFill>
                  <a:schemeClr val="dk1"/>
                </a:solidFill>
                <a:latin typeface="Microsoft JhengHei"/>
                <a:ea typeface="Microsoft JhengHei"/>
                <a:cs typeface="Microsoft JhengHei"/>
                <a:sym typeface="Microsoft JhengHei"/>
              </a:defRPr>
            </a:lvl1pPr>
            <a:lvl2pPr marR="0" lvl="1"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9pPr>
          </a:lstStyle>
          <a:p>
            <a:endParaRPr/>
          </a:p>
        </p:txBody>
      </p:sp>
      <p:sp>
        <p:nvSpPr>
          <p:cNvPr id="19" name="Google Shape;19;p34"/>
          <p:cNvSpPr txBox="1">
            <a:spLocks noGrp="1"/>
          </p:cNvSpPr>
          <p:nvPr>
            <p:ph type="body" idx="1" hasCustomPrompt="1"/>
          </p:nvPr>
        </p:nvSpPr>
        <p:spPr>
          <a:xfrm>
            <a:off x="179388" y="719138"/>
            <a:ext cx="11161712" cy="5401026"/>
          </a:xfrm>
          <a:prstGeom prst="rect">
            <a:avLst/>
          </a:prstGeom>
          <a:noFill/>
          <a:ln>
            <a:noFill/>
          </a:ln>
        </p:spPr>
        <p:txBody>
          <a:bodyPr spcFirstLastPara="1" wrap="square" lIns="88150" tIns="44050" rIns="88150" bIns="44050" anchor="t" anchorCtr="0">
            <a:noAutofit/>
          </a:bodyPr>
          <a:lstStyle>
            <a:lvl1pPr marL="252000" marR="0" lvl="0" indent="-216000" algn="l" rtl="0">
              <a:lnSpc>
                <a:spcPct val="100000"/>
              </a:lnSpc>
              <a:spcBef>
                <a:spcPts val="600"/>
              </a:spcBef>
              <a:spcAft>
                <a:spcPts val="0"/>
              </a:spcAft>
              <a:buClrTx/>
              <a:buSzPct val="100000"/>
              <a:buFont typeface="標準系統字體"/>
              <a:buChar char="○"/>
              <a:defRPr sz="1600" b="0" i="0" u="none" strike="noStrike" cap="none">
                <a:solidFill>
                  <a:schemeClr val="tx1"/>
                </a:solidFill>
                <a:latin typeface="微軟正黑體" panose="020B0604030504040204" pitchFamily="34" charset="-120"/>
                <a:ea typeface="微軟正黑體" panose="020B0604030504040204" pitchFamily="34" charset="-120"/>
                <a:cs typeface="微軟正黑體" panose="020B0604030504040204" pitchFamily="34" charset="-120"/>
                <a:sym typeface="Microsoft JhengHei"/>
              </a:defRPr>
            </a:lvl1pPr>
            <a:lvl2pPr marL="504000" marR="0" lvl="1" indent="-216000" algn="l" rtl="0">
              <a:lnSpc>
                <a:spcPct val="100000"/>
              </a:lnSpc>
              <a:spcBef>
                <a:spcPts val="600"/>
              </a:spcBef>
              <a:spcAft>
                <a:spcPts val="0"/>
              </a:spcAft>
              <a:buClrTx/>
              <a:buSzPct val="100000"/>
              <a:buFont typeface="標準系統字體"/>
              <a:buChar char="○"/>
              <a:defRPr sz="1400" b="0" i="0" u="none" strike="noStrike" cap="none">
                <a:solidFill>
                  <a:schemeClr val="tx1"/>
                </a:solidFill>
                <a:latin typeface="微軟正黑體" panose="020B0604030504040204" pitchFamily="34" charset="-120"/>
                <a:ea typeface="微軟正黑體" panose="020B0604030504040204" pitchFamily="34" charset="-120"/>
                <a:cs typeface="Roboto"/>
                <a:sym typeface="Roboto"/>
              </a:defRPr>
            </a:lvl2pPr>
            <a:lvl3pPr marL="756000" marR="0" lvl="2" indent="-216000" algn="l" rtl="0">
              <a:lnSpc>
                <a:spcPct val="100000"/>
              </a:lnSpc>
              <a:spcBef>
                <a:spcPts val="600"/>
              </a:spcBef>
              <a:spcAft>
                <a:spcPts val="0"/>
              </a:spcAft>
              <a:buClrTx/>
              <a:buSzPct val="100000"/>
              <a:buFont typeface="標準系統字體"/>
              <a:buChar char="○"/>
              <a:defRPr sz="1200" b="0" i="0" u="none" strike="noStrike" cap="none">
                <a:solidFill>
                  <a:schemeClr val="tx1"/>
                </a:solidFill>
                <a:latin typeface="微軟正黑體" panose="020B0604030504040204" pitchFamily="34" charset="-120"/>
                <a:ea typeface="微軟正黑體" panose="020B0604030504040204" pitchFamily="34" charset="-120"/>
                <a:cs typeface="Roboto"/>
                <a:sym typeface="Roboto"/>
              </a:defRPr>
            </a:lvl3pPr>
            <a:lvl4pPr marL="1008000" marR="0" lvl="3" indent="-216000" algn="l" rtl="0">
              <a:lnSpc>
                <a:spcPct val="100000"/>
              </a:lnSpc>
              <a:spcBef>
                <a:spcPts val="600"/>
              </a:spcBef>
              <a:spcAft>
                <a:spcPts val="0"/>
              </a:spcAft>
              <a:buClrTx/>
              <a:buSzPct val="100000"/>
              <a:buFont typeface="標準系統字體"/>
              <a:buChar char="○"/>
              <a:defRPr sz="1000" b="0" i="0" u="none" strike="noStrike" cap="none">
                <a:solidFill>
                  <a:schemeClr val="tx1"/>
                </a:solidFill>
                <a:latin typeface="微軟正黑體" panose="020B0604030504040204" pitchFamily="34" charset="-120"/>
                <a:ea typeface="微軟正黑體" panose="020B0604030504040204" pitchFamily="34" charset="-120"/>
                <a:cs typeface="Roboto"/>
                <a:sym typeface="Roboto"/>
              </a:defRPr>
            </a:lvl4pPr>
            <a:lvl5pPr marL="1260000" marR="0" lvl="4" indent="-216000" algn="l" rtl="0">
              <a:lnSpc>
                <a:spcPct val="100000"/>
              </a:lnSpc>
              <a:spcBef>
                <a:spcPts val="600"/>
              </a:spcBef>
              <a:spcAft>
                <a:spcPts val="0"/>
              </a:spcAft>
              <a:buClrTx/>
              <a:buSzPct val="100000"/>
              <a:buFont typeface="標準系統字體"/>
              <a:buChar char="○"/>
              <a:defRPr sz="800" b="0" i="0" u="none" strike="noStrike" cap="none">
                <a:solidFill>
                  <a:schemeClr val="tx1"/>
                </a:solidFill>
                <a:latin typeface="微軟正黑體" panose="020B0604030504040204" pitchFamily="34" charset="-120"/>
                <a:ea typeface="微軟正黑體" panose="020B0604030504040204" pitchFamily="34" charset="-120"/>
                <a:cs typeface="Roboto"/>
                <a:sym typeface="Roboto"/>
              </a:defRPr>
            </a:lvl5pPr>
            <a:lvl6pPr marL="1512000" marR="0" lvl="5" indent="-216000" algn="l" rtl="0">
              <a:lnSpc>
                <a:spcPct val="100000"/>
              </a:lnSpc>
              <a:spcBef>
                <a:spcPts val="600"/>
              </a:spcBef>
              <a:spcAft>
                <a:spcPts val="0"/>
              </a:spcAft>
              <a:buClrTx/>
              <a:buSzPct val="100000"/>
              <a:buFont typeface="Microsoft JhengHei Light" panose="020B0304030504040204" pitchFamily="34" charset="-120"/>
              <a:buChar char="o"/>
              <a:defRPr sz="1600" b="0" i="0" u="none" strike="noStrike" cap="none">
                <a:solidFill>
                  <a:schemeClr val="tx1"/>
                </a:solidFill>
                <a:latin typeface="微軟正黑體" panose="020B0604030504040204" pitchFamily="34" charset="-120"/>
                <a:ea typeface="微軟正黑體" panose="020B0604030504040204" pitchFamily="34" charset="-120"/>
                <a:cs typeface="Roboto"/>
                <a:sym typeface="Roboto"/>
              </a:defRPr>
            </a:lvl6pPr>
            <a:lvl7pPr marL="3200400" marR="0" lvl="6" indent="-355600" algn="l" rtl="0">
              <a:lnSpc>
                <a:spcPct val="100000"/>
              </a:lnSpc>
              <a:spcBef>
                <a:spcPts val="1000"/>
              </a:spcBef>
              <a:spcAft>
                <a:spcPts val="0"/>
              </a:spcAft>
              <a:buClr>
                <a:srgbClr val="5489A3"/>
              </a:buClr>
              <a:buSzPts val="2000"/>
              <a:buFont typeface="Roboto"/>
              <a:buChar char="–"/>
              <a:defRPr sz="2000" b="0" i="0" u="none" strike="noStrike" cap="none">
                <a:solidFill>
                  <a:srgbClr val="5489A3"/>
                </a:solidFill>
                <a:latin typeface="Roboto"/>
                <a:ea typeface="Roboto"/>
                <a:cs typeface="Roboto"/>
                <a:sym typeface="Roboto"/>
              </a:defRPr>
            </a:lvl7pPr>
            <a:lvl8pPr marL="3657600" marR="0" lvl="7" indent="-355600" algn="l" rtl="0">
              <a:lnSpc>
                <a:spcPct val="100000"/>
              </a:lnSpc>
              <a:spcBef>
                <a:spcPts val="1000"/>
              </a:spcBef>
              <a:spcAft>
                <a:spcPts val="0"/>
              </a:spcAft>
              <a:buClr>
                <a:srgbClr val="5489A3"/>
              </a:buClr>
              <a:buSzPts val="2000"/>
              <a:buFont typeface="Roboto"/>
              <a:buChar char="–"/>
              <a:defRPr sz="2000" b="0" i="0" u="none" strike="noStrike" cap="none">
                <a:solidFill>
                  <a:srgbClr val="5489A3"/>
                </a:solidFill>
                <a:latin typeface="Roboto"/>
                <a:ea typeface="Roboto"/>
                <a:cs typeface="Roboto"/>
                <a:sym typeface="Roboto"/>
              </a:defRPr>
            </a:lvl8pPr>
            <a:lvl9pPr marL="4114800" marR="0" lvl="8" indent="-355600" algn="l" rtl="0">
              <a:lnSpc>
                <a:spcPct val="100000"/>
              </a:lnSpc>
              <a:spcBef>
                <a:spcPts val="1000"/>
              </a:spcBef>
              <a:spcAft>
                <a:spcPts val="1000"/>
              </a:spcAft>
              <a:buClr>
                <a:srgbClr val="5489A3"/>
              </a:buClr>
              <a:buSzPts val="2000"/>
              <a:buFont typeface="Roboto"/>
              <a:buChar char="–"/>
              <a:defRPr sz="2000" b="0" i="0" u="none" strike="noStrike" cap="none">
                <a:solidFill>
                  <a:srgbClr val="5489A3"/>
                </a:solidFill>
                <a:latin typeface="Roboto"/>
                <a:ea typeface="Roboto"/>
                <a:cs typeface="Roboto"/>
                <a:sym typeface="Roboto"/>
              </a:defRPr>
            </a:lvl9pPr>
          </a:lstStyle>
          <a:p>
            <a:pPr lvl="0"/>
            <a:r>
              <a:rPr lang="zh-TW" altLang="en-US"/>
              <a:t>第一層</a:t>
            </a:r>
          </a:p>
          <a:p>
            <a:pPr lvl="1"/>
            <a:r>
              <a:rPr lang="zh-TW" altLang="en-US"/>
              <a:t>第二層</a:t>
            </a:r>
          </a:p>
          <a:p>
            <a:pPr lvl="2"/>
            <a:r>
              <a:rPr lang="zh-TW" altLang="en-US"/>
              <a:t>第三層</a:t>
            </a:r>
          </a:p>
          <a:p>
            <a:pPr lvl="3"/>
            <a:r>
              <a:rPr lang="zh-TW" altLang="en-US"/>
              <a:t>第四層</a:t>
            </a:r>
          </a:p>
          <a:p>
            <a:pPr lvl="4"/>
            <a:r>
              <a:rPr lang="zh-TW" altLang="en-US"/>
              <a:t>第五層</a:t>
            </a:r>
            <a:endParaRPr lang="en-US" altLang="zh-TW"/>
          </a:p>
        </p:txBody>
      </p:sp>
      <p:cxnSp>
        <p:nvCxnSpPr>
          <p:cNvPr id="20" name="Google Shape;20;p34"/>
          <p:cNvCxnSpPr>
            <a:cxnSpLocks/>
          </p:cNvCxnSpPr>
          <p:nvPr/>
        </p:nvCxnSpPr>
        <p:spPr>
          <a:xfrm>
            <a:off x="179388" y="612000"/>
            <a:ext cx="11161712" cy="0"/>
          </a:xfrm>
          <a:prstGeom prst="straightConnector1">
            <a:avLst/>
          </a:prstGeom>
          <a:noFill/>
          <a:ln w="15875" cap="flat" cmpd="sng">
            <a:solidFill>
              <a:srgbClr val="FF0000"/>
            </a:solidFill>
            <a:prstDash val="solid"/>
            <a:round/>
            <a:headEnd type="none" w="sm" len="sm"/>
            <a:tailEnd type="none" w="sm" len="sm"/>
          </a:ln>
        </p:spPr>
      </p:cxnSp>
    </p:spTree>
  </p:cSld>
  <p:clrMapOvr>
    <a:masterClrMapping/>
  </p:clrMapOvr>
  <p:extLst>
    <p:ext uri="{DCECCB84-F9BA-43D5-87BE-67443E8EF086}">
      <p15:sldGuideLst xmlns:p15="http://schemas.microsoft.com/office/powerpoint/2012/main">
        <p15:guide id="1" pos="362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只有標題" userDrawn="1">
  <p:cSld name="盡量不要用">
    <p:spTree>
      <p:nvGrpSpPr>
        <p:cNvPr id="1" name="Shape 22"/>
        <p:cNvGrpSpPr/>
        <p:nvPr/>
      </p:nvGrpSpPr>
      <p:grpSpPr>
        <a:xfrm>
          <a:off x="0" y="0"/>
          <a:ext cx="0" cy="0"/>
          <a:chOff x="0" y="0"/>
          <a:chExt cx="0" cy="0"/>
        </a:xfrm>
      </p:grpSpPr>
      <p:sp>
        <p:nvSpPr>
          <p:cNvPr id="23" name="Google Shape;23;p35"/>
          <p:cNvSpPr txBox="1">
            <a:spLocks noGrp="1"/>
          </p:cNvSpPr>
          <p:nvPr>
            <p:ph type="title"/>
          </p:nvPr>
        </p:nvSpPr>
        <p:spPr>
          <a:xfrm>
            <a:off x="179388" y="71438"/>
            <a:ext cx="11161712" cy="540000"/>
          </a:xfrm>
          <a:prstGeom prst="rect">
            <a:avLst/>
          </a:prstGeom>
          <a:noFill/>
          <a:ln>
            <a:noFill/>
          </a:ln>
        </p:spPr>
        <p:txBody>
          <a:bodyPr spcFirstLastPara="1" wrap="square" lIns="88150" tIns="44050" rIns="88150" bIns="44050" anchor="ctr" anchorCtr="0">
            <a:noAutofit/>
          </a:bodyPr>
          <a:lstStyle>
            <a:lvl1pPr marR="0" lvl="0" algn="l" rtl="0">
              <a:lnSpc>
                <a:spcPct val="100000"/>
              </a:lnSpc>
              <a:spcBef>
                <a:spcPts val="0"/>
              </a:spcBef>
              <a:spcAft>
                <a:spcPts val="0"/>
              </a:spcAft>
              <a:buClr>
                <a:srgbClr val="000000"/>
              </a:buClr>
              <a:buSzPts val="3200"/>
              <a:buFont typeface="Arial"/>
              <a:buNone/>
              <a:defRPr sz="3200" b="0" i="0" u="none" strike="noStrike" cap="none">
                <a:solidFill>
                  <a:schemeClr val="dk1"/>
                </a:solidFill>
                <a:latin typeface="Microsoft JhengHei"/>
                <a:ea typeface="Microsoft JhengHei"/>
                <a:cs typeface="Microsoft JhengHei"/>
                <a:sym typeface="Microsoft JhengHei"/>
              </a:defRPr>
            </a:lvl1pPr>
            <a:lvl2pPr marR="0" lvl="1"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9pPr>
          </a:lstStyle>
          <a:p>
            <a:endParaRPr/>
          </a:p>
        </p:txBody>
      </p:sp>
      <p:cxnSp>
        <p:nvCxnSpPr>
          <p:cNvPr id="24" name="Google Shape;24;p35"/>
          <p:cNvCxnSpPr>
            <a:cxnSpLocks/>
          </p:cNvCxnSpPr>
          <p:nvPr/>
        </p:nvCxnSpPr>
        <p:spPr>
          <a:xfrm>
            <a:off x="179388" y="611438"/>
            <a:ext cx="11161712" cy="0"/>
          </a:xfrm>
          <a:prstGeom prst="straightConnector1">
            <a:avLst/>
          </a:prstGeom>
          <a:noFill/>
          <a:ln w="15875" cap="flat" cmpd="sng">
            <a:solidFill>
              <a:srgbClr val="FF0000"/>
            </a:solidFill>
            <a:prstDash val="solid"/>
            <a:round/>
            <a:headEnd type="none" w="sm" len="sm"/>
            <a:tailEnd type="none" w="sm" len="sm"/>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56032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章節標題">
    <p:spTree>
      <p:nvGrpSpPr>
        <p:cNvPr id="1" name=""/>
        <p:cNvGrpSpPr/>
        <p:nvPr/>
      </p:nvGrpSpPr>
      <p:grpSpPr>
        <a:xfrm>
          <a:off x="0" y="0"/>
          <a:ext cx="0" cy="0"/>
          <a:chOff x="0" y="0"/>
          <a:chExt cx="0" cy="0"/>
        </a:xfrm>
      </p:grpSpPr>
      <p:cxnSp>
        <p:nvCxnSpPr>
          <p:cNvPr id="4" name="Google Shape;9;p32">
            <a:extLst>
              <a:ext uri="{FF2B5EF4-FFF2-40B4-BE49-F238E27FC236}">
                <a16:creationId xmlns:a16="http://schemas.microsoft.com/office/drawing/2014/main" id="{728D7485-3340-DD7C-9D2E-D9DE76FC1DDB}"/>
              </a:ext>
            </a:extLst>
          </p:cNvPr>
          <p:cNvCxnSpPr>
            <a:cxnSpLocks/>
          </p:cNvCxnSpPr>
          <p:nvPr userDrawn="1"/>
        </p:nvCxnSpPr>
        <p:spPr>
          <a:xfrm>
            <a:off x="1440000" y="2880000"/>
            <a:ext cx="5760000" cy="0"/>
          </a:xfrm>
          <a:prstGeom prst="straightConnector1">
            <a:avLst/>
          </a:prstGeom>
          <a:noFill/>
          <a:ln w="15875" cap="flat" cmpd="sng">
            <a:solidFill>
              <a:srgbClr val="FF0000"/>
            </a:solidFill>
            <a:prstDash val="solid"/>
            <a:round/>
            <a:headEnd type="none" w="sm" len="sm"/>
            <a:tailEnd type="none" w="sm" len="sm"/>
          </a:ln>
        </p:spPr>
      </p:cxnSp>
      <p:sp>
        <p:nvSpPr>
          <p:cNvPr id="5" name="Google Shape;10;p32">
            <a:extLst>
              <a:ext uri="{FF2B5EF4-FFF2-40B4-BE49-F238E27FC236}">
                <a16:creationId xmlns:a16="http://schemas.microsoft.com/office/drawing/2014/main" id="{7B925996-2FA7-4A3F-652D-7B1D8634C9A2}"/>
              </a:ext>
            </a:extLst>
          </p:cNvPr>
          <p:cNvSpPr txBox="1">
            <a:spLocks noGrp="1"/>
          </p:cNvSpPr>
          <p:nvPr>
            <p:ph type="title"/>
          </p:nvPr>
        </p:nvSpPr>
        <p:spPr>
          <a:xfrm>
            <a:off x="1440000" y="2160000"/>
            <a:ext cx="5760000" cy="720000"/>
          </a:xfrm>
          <a:prstGeom prst="rect">
            <a:avLst/>
          </a:prstGeom>
          <a:noFill/>
          <a:ln>
            <a:noFill/>
          </a:ln>
        </p:spPr>
        <p:txBody>
          <a:bodyPr spcFirstLastPara="1" wrap="none" lIns="90000" tIns="46800" rIns="90000" bIns="46800" anchor="ctr" anchorCtr="0">
            <a:noAutofit/>
          </a:bodyPr>
          <a:lstStyle>
            <a:lvl1pPr marR="0" lvl="0" algn="l" rtl="0">
              <a:lnSpc>
                <a:spcPct val="100000"/>
              </a:lnSpc>
              <a:spcBef>
                <a:spcPts val="0"/>
              </a:spcBef>
              <a:spcAft>
                <a:spcPts val="0"/>
              </a:spcAft>
              <a:buClr>
                <a:srgbClr val="000000"/>
              </a:buClr>
              <a:buSzPts val="1300"/>
              <a:buNone/>
              <a:defRPr sz="3600" i="0" u="none" strike="noStrike" cap="none">
                <a:solidFill>
                  <a:schemeClr val="dk1"/>
                </a:solidFill>
                <a:latin typeface="Microsoft JhengHei"/>
                <a:ea typeface="Microsoft JhengHei"/>
                <a:cs typeface="Microsoft JhengHei"/>
                <a:sym typeface="Microsoft JhengHei"/>
              </a:defRPr>
            </a:lvl1pPr>
            <a:lvl2pPr marR="0" lvl="1" algn="l" rtl="0">
              <a:lnSpc>
                <a:spcPct val="100000"/>
              </a:lnSpc>
              <a:spcBef>
                <a:spcPts val="0"/>
              </a:spcBef>
              <a:spcAft>
                <a:spcPts val="0"/>
              </a:spcAft>
              <a:buClr>
                <a:srgbClr val="000000"/>
              </a:buClr>
              <a:buSzPts val="1300"/>
              <a:buNone/>
              <a:defRPr sz="1800" i="0" u="none" strike="noStrike" cap="none">
                <a:solidFill>
                  <a:schemeClr val="dk2"/>
                </a:solidFill>
              </a:defRPr>
            </a:lvl2pPr>
            <a:lvl3pPr marR="0" lvl="2" algn="l" rtl="0">
              <a:lnSpc>
                <a:spcPct val="100000"/>
              </a:lnSpc>
              <a:spcBef>
                <a:spcPts val="0"/>
              </a:spcBef>
              <a:spcAft>
                <a:spcPts val="0"/>
              </a:spcAft>
              <a:buClr>
                <a:srgbClr val="000000"/>
              </a:buClr>
              <a:buSzPts val="1300"/>
              <a:buNone/>
              <a:defRPr sz="1800" i="0" u="none" strike="noStrike" cap="none">
                <a:solidFill>
                  <a:schemeClr val="dk2"/>
                </a:solidFill>
              </a:defRPr>
            </a:lvl3pPr>
            <a:lvl4pPr marR="0" lvl="3" algn="l" rtl="0">
              <a:lnSpc>
                <a:spcPct val="100000"/>
              </a:lnSpc>
              <a:spcBef>
                <a:spcPts val="0"/>
              </a:spcBef>
              <a:spcAft>
                <a:spcPts val="0"/>
              </a:spcAft>
              <a:buClr>
                <a:srgbClr val="000000"/>
              </a:buClr>
              <a:buSzPts val="1300"/>
              <a:buNone/>
              <a:defRPr sz="1800" i="0" u="none" strike="noStrike" cap="none">
                <a:solidFill>
                  <a:schemeClr val="dk2"/>
                </a:solidFill>
              </a:defRPr>
            </a:lvl4pPr>
            <a:lvl5pPr marR="0" lvl="4" algn="l" rtl="0">
              <a:lnSpc>
                <a:spcPct val="100000"/>
              </a:lnSpc>
              <a:spcBef>
                <a:spcPts val="0"/>
              </a:spcBef>
              <a:spcAft>
                <a:spcPts val="0"/>
              </a:spcAft>
              <a:buClr>
                <a:srgbClr val="000000"/>
              </a:buClr>
              <a:buSzPts val="1300"/>
              <a:buNone/>
              <a:defRPr sz="1800" i="0" u="none" strike="noStrike" cap="none">
                <a:solidFill>
                  <a:schemeClr val="dk2"/>
                </a:solidFill>
              </a:defRPr>
            </a:lvl5pPr>
            <a:lvl6pPr marR="0" lvl="5" algn="l" rtl="0">
              <a:lnSpc>
                <a:spcPct val="100000"/>
              </a:lnSpc>
              <a:spcBef>
                <a:spcPts val="0"/>
              </a:spcBef>
              <a:spcAft>
                <a:spcPts val="0"/>
              </a:spcAft>
              <a:buClr>
                <a:srgbClr val="000000"/>
              </a:buClr>
              <a:buSzPts val="1300"/>
              <a:buNone/>
              <a:defRPr sz="1800" i="0" u="none" strike="noStrike" cap="none">
                <a:solidFill>
                  <a:schemeClr val="dk2"/>
                </a:solidFill>
              </a:defRPr>
            </a:lvl6pPr>
            <a:lvl7pPr marR="0" lvl="6" algn="l" rtl="0">
              <a:lnSpc>
                <a:spcPct val="100000"/>
              </a:lnSpc>
              <a:spcBef>
                <a:spcPts val="0"/>
              </a:spcBef>
              <a:spcAft>
                <a:spcPts val="0"/>
              </a:spcAft>
              <a:buClr>
                <a:srgbClr val="000000"/>
              </a:buClr>
              <a:buSzPts val="1300"/>
              <a:buNone/>
              <a:defRPr sz="1800" i="0" u="none" strike="noStrike" cap="none">
                <a:solidFill>
                  <a:schemeClr val="dk2"/>
                </a:solidFill>
              </a:defRPr>
            </a:lvl7pPr>
            <a:lvl8pPr marR="0" lvl="7" algn="l" rtl="0">
              <a:lnSpc>
                <a:spcPct val="100000"/>
              </a:lnSpc>
              <a:spcBef>
                <a:spcPts val="0"/>
              </a:spcBef>
              <a:spcAft>
                <a:spcPts val="0"/>
              </a:spcAft>
              <a:buClr>
                <a:srgbClr val="000000"/>
              </a:buClr>
              <a:buSzPts val="1300"/>
              <a:buNone/>
              <a:defRPr sz="1800" i="0" u="none" strike="noStrike" cap="none">
                <a:solidFill>
                  <a:schemeClr val="dk2"/>
                </a:solidFill>
              </a:defRPr>
            </a:lvl8pPr>
            <a:lvl9pPr marR="0" lvl="8" algn="l" rtl="0">
              <a:lnSpc>
                <a:spcPct val="100000"/>
              </a:lnSpc>
              <a:spcBef>
                <a:spcPts val="0"/>
              </a:spcBef>
              <a:spcAft>
                <a:spcPts val="0"/>
              </a:spcAft>
              <a:buClr>
                <a:srgbClr val="000000"/>
              </a:buClr>
              <a:buSzPts val="1300"/>
              <a:buNone/>
              <a:defRPr sz="1800" i="0" u="none" strike="noStrike" cap="none">
                <a:solidFill>
                  <a:schemeClr val="dk2"/>
                </a:solidFill>
              </a:defRPr>
            </a:lvl9pPr>
          </a:lstStyle>
          <a:p>
            <a:endParaRPr/>
          </a:p>
        </p:txBody>
      </p:sp>
    </p:spTree>
    <p:extLst>
      <p:ext uri="{BB962C8B-B14F-4D97-AF65-F5344CB8AC3E}">
        <p14:creationId xmlns:p14="http://schemas.microsoft.com/office/powerpoint/2010/main" val="29513715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標題投影片">
  <p:cSld name="標題投影片">
    <p:spTree>
      <p:nvGrpSpPr>
        <p:cNvPr id="1" name="Shape 8"/>
        <p:cNvGrpSpPr/>
        <p:nvPr/>
      </p:nvGrpSpPr>
      <p:grpSpPr>
        <a:xfrm>
          <a:off x="0" y="0"/>
          <a:ext cx="0" cy="0"/>
          <a:chOff x="0" y="0"/>
          <a:chExt cx="0" cy="0"/>
        </a:xfrm>
      </p:grpSpPr>
      <p:cxnSp>
        <p:nvCxnSpPr>
          <p:cNvPr id="9" name="Google Shape;9;p32"/>
          <p:cNvCxnSpPr>
            <a:cxnSpLocks/>
          </p:cNvCxnSpPr>
          <p:nvPr/>
        </p:nvCxnSpPr>
        <p:spPr>
          <a:xfrm>
            <a:off x="1440000" y="2880000"/>
            <a:ext cx="8640000" cy="0"/>
          </a:xfrm>
          <a:prstGeom prst="straightConnector1">
            <a:avLst/>
          </a:prstGeom>
          <a:noFill/>
          <a:ln w="15875" cap="flat" cmpd="sng">
            <a:solidFill>
              <a:srgbClr val="FF0000"/>
            </a:solidFill>
            <a:prstDash val="solid"/>
            <a:round/>
            <a:headEnd type="none" w="sm" len="sm"/>
            <a:tailEnd type="none" w="sm" len="sm"/>
          </a:ln>
        </p:spPr>
      </p:cxnSp>
      <p:sp>
        <p:nvSpPr>
          <p:cNvPr id="10" name="Google Shape;10;p32"/>
          <p:cNvSpPr txBox="1">
            <a:spLocks noGrp="1"/>
          </p:cNvSpPr>
          <p:nvPr>
            <p:ph type="title"/>
          </p:nvPr>
        </p:nvSpPr>
        <p:spPr>
          <a:xfrm>
            <a:off x="1440000" y="2160000"/>
            <a:ext cx="8640000" cy="720000"/>
          </a:xfrm>
          <a:prstGeom prst="rect">
            <a:avLst/>
          </a:prstGeom>
          <a:noFill/>
          <a:ln>
            <a:noFill/>
          </a:ln>
        </p:spPr>
        <p:txBody>
          <a:bodyPr spcFirstLastPara="1" wrap="square" lIns="90000" tIns="46800" rIns="90000" bIns="46800" anchor="ctr" anchorCtr="0">
            <a:noAutofit/>
          </a:bodyPr>
          <a:lstStyle>
            <a:lvl1pPr marR="0" lvl="0" algn="ctr" rtl="0">
              <a:lnSpc>
                <a:spcPct val="100000"/>
              </a:lnSpc>
              <a:spcBef>
                <a:spcPts val="0"/>
              </a:spcBef>
              <a:spcAft>
                <a:spcPts val="0"/>
              </a:spcAft>
              <a:buClr>
                <a:srgbClr val="000000"/>
              </a:buClr>
              <a:buSzPts val="1300"/>
              <a:buNone/>
              <a:defRPr sz="3600" i="0" u="none" strike="noStrike" cap="none">
                <a:solidFill>
                  <a:schemeClr val="dk1"/>
                </a:solidFill>
                <a:latin typeface="Microsoft JhengHei"/>
                <a:ea typeface="Microsoft JhengHei"/>
                <a:cs typeface="Microsoft JhengHei"/>
                <a:sym typeface="Microsoft JhengHei"/>
              </a:defRPr>
            </a:lvl1pPr>
            <a:lvl2pPr marR="0" lvl="1" algn="l" rtl="0">
              <a:lnSpc>
                <a:spcPct val="100000"/>
              </a:lnSpc>
              <a:spcBef>
                <a:spcPts val="0"/>
              </a:spcBef>
              <a:spcAft>
                <a:spcPts val="0"/>
              </a:spcAft>
              <a:buClr>
                <a:srgbClr val="000000"/>
              </a:buClr>
              <a:buSzPts val="1300"/>
              <a:buNone/>
              <a:defRPr sz="1800" i="0" u="none" strike="noStrike" cap="none">
                <a:solidFill>
                  <a:schemeClr val="dk2"/>
                </a:solidFill>
              </a:defRPr>
            </a:lvl2pPr>
            <a:lvl3pPr marR="0" lvl="2" algn="l" rtl="0">
              <a:lnSpc>
                <a:spcPct val="100000"/>
              </a:lnSpc>
              <a:spcBef>
                <a:spcPts val="0"/>
              </a:spcBef>
              <a:spcAft>
                <a:spcPts val="0"/>
              </a:spcAft>
              <a:buClr>
                <a:srgbClr val="000000"/>
              </a:buClr>
              <a:buSzPts val="1300"/>
              <a:buNone/>
              <a:defRPr sz="1800" i="0" u="none" strike="noStrike" cap="none">
                <a:solidFill>
                  <a:schemeClr val="dk2"/>
                </a:solidFill>
              </a:defRPr>
            </a:lvl3pPr>
            <a:lvl4pPr marR="0" lvl="3" algn="l" rtl="0">
              <a:lnSpc>
                <a:spcPct val="100000"/>
              </a:lnSpc>
              <a:spcBef>
                <a:spcPts val="0"/>
              </a:spcBef>
              <a:spcAft>
                <a:spcPts val="0"/>
              </a:spcAft>
              <a:buClr>
                <a:srgbClr val="000000"/>
              </a:buClr>
              <a:buSzPts val="1300"/>
              <a:buNone/>
              <a:defRPr sz="1800" i="0" u="none" strike="noStrike" cap="none">
                <a:solidFill>
                  <a:schemeClr val="dk2"/>
                </a:solidFill>
              </a:defRPr>
            </a:lvl4pPr>
            <a:lvl5pPr marR="0" lvl="4" algn="l" rtl="0">
              <a:lnSpc>
                <a:spcPct val="100000"/>
              </a:lnSpc>
              <a:spcBef>
                <a:spcPts val="0"/>
              </a:spcBef>
              <a:spcAft>
                <a:spcPts val="0"/>
              </a:spcAft>
              <a:buClr>
                <a:srgbClr val="000000"/>
              </a:buClr>
              <a:buSzPts val="1300"/>
              <a:buNone/>
              <a:defRPr sz="1800" i="0" u="none" strike="noStrike" cap="none">
                <a:solidFill>
                  <a:schemeClr val="dk2"/>
                </a:solidFill>
              </a:defRPr>
            </a:lvl5pPr>
            <a:lvl6pPr marR="0" lvl="5" algn="l" rtl="0">
              <a:lnSpc>
                <a:spcPct val="100000"/>
              </a:lnSpc>
              <a:spcBef>
                <a:spcPts val="0"/>
              </a:spcBef>
              <a:spcAft>
                <a:spcPts val="0"/>
              </a:spcAft>
              <a:buClr>
                <a:srgbClr val="000000"/>
              </a:buClr>
              <a:buSzPts val="1300"/>
              <a:buNone/>
              <a:defRPr sz="1800" i="0" u="none" strike="noStrike" cap="none">
                <a:solidFill>
                  <a:schemeClr val="dk2"/>
                </a:solidFill>
              </a:defRPr>
            </a:lvl6pPr>
            <a:lvl7pPr marR="0" lvl="6" algn="l" rtl="0">
              <a:lnSpc>
                <a:spcPct val="100000"/>
              </a:lnSpc>
              <a:spcBef>
                <a:spcPts val="0"/>
              </a:spcBef>
              <a:spcAft>
                <a:spcPts val="0"/>
              </a:spcAft>
              <a:buClr>
                <a:srgbClr val="000000"/>
              </a:buClr>
              <a:buSzPts val="1300"/>
              <a:buNone/>
              <a:defRPr sz="1800" i="0" u="none" strike="noStrike" cap="none">
                <a:solidFill>
                  <a:schemeClr val="dk2"/>
                </a:solidFill>
              </a:defRPr>
            </a:lvl7pPr>
            <a:lvl8pPr marR="0" lvl="7" algn="l" rtl="0">
              <a:lnSpc>
                <a:spcPct val="100000"/>
              </a:lnSpc>
              <a:spcBef>
                <a:spcPts val="0"/>
              </a:spcBef>
              <a:spcAft>
                <a:spcPts val="0"/>
              </a:spcAft>
              <a:buClr>
                <a:srgbClr val="000000"/>
              </a:buClr>
              <a:buSzPts val="1300"/>
              <a:buNone/>
              <a:defRPr sz="1800" i="0" u="none" strike="noStrike" cap="none">
                <a:solidFill>
                  <a:schemeClr val="dk2"/>
                </a:solidFill>
              </a:defRPr>
            </a:lvl8pPr>
            <a:lvl9pPr marR="0" lvl="8" algn="l" rtl="0">
              <a:lnSpc>
                <a:spcPct val="100000"/>
              </a:lnSpc>
              <a:spcBef>
                <a:spcPts val="0"/>
              </a:spcBef>
              <a:spcAft>
                <a:spcPts val="0"/>
              </a:spcAft>
              <a:buClr>
                <a:srgbClr val="000000"/>
              </a:buClr>
              <a:buSzPts val="1300"/>
              <a:buNone/>
              <a:defRPr sz="1800" i="0" u="none" strike="noStrike" cap="none">
                <a:solidFill>
                  <a:schemeClr val="dk2"/>
                </a:solidFill>
              </a:defRPr>
            </a:lvl9pPr>
          </a:lstStyle>
          <a:p>
            <a:endParaRPr/>
          </a:p>
        </p:txBody>
      </p:sp>
      <p:sp>
        <p:nvSpPr>
          <p:cNvPr id="11" name="Google Shape;11;p32"/>
          <p:cNvSpPr txBox="1">
            <a:spLocks noGrp="1"/>
          </p:cNvSpPr>
          <p:nvPr>
            <p:ph type="body" idx="1"/>
          </p:nvPr>
        </p:nvSpPr>
        <p:spPr>
          <a:xfrm>
            <a:off x="1440000" y="4320000"/>
            <a:ext cx="8640000" cy="540000"/>
          </a:xfrm>
          <a:prstGeom prst="rect">
            <a:avLst/>
          </a:prstGeom>
          <a:noFill/>
          <a:ln>
            <a:noFill/>
          </a:ln>
        </p:spPr>
        <p:txBody>
          <a:bodyPr spcFirstLastPara="1" wrap="square" lIns="90000" tIns="46800" rIns="90000" bIns="46800" anchor="ctr" anchorCtr="0">
            <a:noAutofit/>
          </a:bodyPr>
          <a:lstStyle>
            <a:lvl1pPr marL="457200" marR="0" lvl="0" indent="-228600" algn="ctr" rtl="0">
              <a:lnSpc>
                <a:spcPct val="100000"/>
              </a:lnSpc>
              <a:spcBef>
                <a:spcPts val="0"/>
              </a:spcBef>
              <a:spcAft>
                <a:spcPts val="0"/>
              </a:spcAft>
              <a:buClr>
                <a:schemeClr val="dk1"/>
              </a:buClr>
              <a:buSzPts val="3200"/>
              <a:buFont typeface="Microsoft JhengHei"/>
              <a:buNone/>
              <a:defRPr sz="2800" i="0" u="none" strike="noStrike" cap="none">
                <a:solidFill>
                  <a:schemeClr val="dk1"/>
                </a:solidFill>
                <a:latin typeface="Microsoft JhengHei"/>
                <a:ea typeface="Microsoft JhengHei"/>
                <a:cs typeface="Microsoft JhengHei"/>
                <a:sym typeface="Microsoft JhengHei"/>
              </a:defRPr>
            </a:lvl1pPr>
            <a:lvl2pPr marL="914400" marR="0" lvl="1" indent="-228600" algn="l" rtl="0">
              <a:lnSpc>
                <a:spcPct val="100000"/>
              </a:lnSpc>
              <a:spcBef>
                <a:spcPts val="0"/>
              </a:spcBef>
              <a:spcAft>
                <a:spcPts val="0"/>
              </a:spcAft>
              <a:buClr>
                <a:schemeClr val="dk1"/>
              </a:buClr>
              <a:buSzPts val="1400"/>
              <a:buFont typeface="Times New Roman"/>
              <a:buNone/>
              <a:defRPr sz="1200" b="0" i="0" u="none" strike="noStrike" cap="none">
                <a:solidFill>
                  <a:schemeClr val="dk1"/>
                </a:solidFill>
                <a:latin typeface="Times New Roman"/>
                <a:ea typeface="Times New Roman"/>
                <a:cs typeface="Times New Roman"/>
                <a:sym typeface="Times New Roman"/>
              </a:defRPr>
            </a:lvl2pPr>
            <a:lvl3pPr marL="1371600" marR="0" lvl="2" indent="-228600" algn="l" rtl="0">
              <a:lnSpc>
                <a:spcPct val="100000"/>
              </a:lnSpc>
              <a:spcBef>
                <a:spcPts val="0"/>
              </a:spcBef>
              <a:spcAft>
                <a:spcPts val="0"/>
              </a:spcAft>
              <a:buClr>
                <a:schemeClr val="dk1"/>
              </a:buClr>
              <a:buSzPts val="1000"/>
              <a:buFont typeface="Times New Roman"/>
              <a:buNone/>
              <a:defRPr sz="1000" b="0" i="0" u="none" strike="noStrike" cap="none">
                <a:solidFill>
                  <a:schemeClr val="dk1"/>
                </a:solidFill>
                <a:latin typeface="Times New Roman"/>
                <a:ea typeface="Times New Roman"/>
                <a:cs typeface="Times New Roman"/>
                <a:sym typeface="Times New Roman"/>
              </a:defRPr>
            </a:lvl3pPr>
            <a:lvl4pPr marL="1828800" marR="0" lvl="3" indent="-228600" algn="l" rtl="0">
              <a:lnSpc>
                <a:spcPct val="100000"/>
              </a:lnSpc>
              <a:spcBef>
                <a:spcPts val="0"/>
              </a:spcBef>
              <a:spcAft>
                <a:spcPts val="0"/>
              </a:spcAft>
              <a:buClr>
                <a:schemeClr val="dk1"/>
              </a:buClr>
              <a:buSzPts val="800"/>
              <a:buFont typeface="Times New Roman"/>
              <a:buNone/>
              <a:defRPr sz="900" b="0" i="0" u="none" strike="noStrike" cap="none">
                <a:solidFill>
                  <a:schemeClr val="dk1"/>
                </a:solidFill>
                <a:latin typeface="Times New Roman"/>
                <a:ea typeface="Times New Roman"/>
                <a:cs typeface="Times New Roman"/>
                <a:sym typeface="Times New Roman"/>
              </a:defRPr>
            </a:lvl4pPr>
            <a:lvl5pPr marL="2286000" marR="0" lvl="4" indent="-228600" algn="l" rtl="0">
              <a:lnSpc>
                <a:spcPct val="100000"/>
              </a:lnSpc>
              <a:spcBef>
                <a:spcPts val="0"/>
              </a:spcBef>
              <a:spcAft>
                <a:spcPts val="0"/>
              </a:spcAft>
              <a:buClr>
                <a:schemeClr val="dk1"/>
              </a:buClr>
              <a:buSzPts val="700"/>
              <a:buFont typeface="Times New Roman"/>
              <a:buNone/>
              <a:defRPr sz="900" b="0" i="0" u="none" strike="noStrike" cap="none">
                <a:solidFill>
                  <a:schemeClr val="dk1"/>
                </a:solidFill>
                <a:latin typeface="Times New Roman"/>
                <a:ea typeface="Times New Roman"/>
                <a:cs typeface="Times New Roman"/>
                <a:sym typeface="Times New Roman"/>
              </a:defRPr>
            </a:lvl5pPr>
            <a:lvl6pPr marL="2743200" marR="0" lvl="5" indent="-228600" algn="l" rtl="0">
              <a:lnSpc>
                <a:spcPct val="100000"/>
              </a:lnSpc>
              <a:spcBef>
                <a:spcPts val="0"/>
              </a:spcBef>
              <a:spcAft>
                <a:spcPts val="0"/>
              </a:spcAft>
              <a:buClr>
                <a:schemeClr val="dk1"/>
              </a:buClr>
              <a:buSzPts val="700"/>
              <a:buFont typeface="Times New Roman"/>
              <a:buNone/>
              <a:defRPr sz="900" b="0" i="0" u="none" strike="noStrike" cap="none">
                <a:solidFill>
                  <a:schemeClr val="dk1"/>
                </a:solidFill>
                <a:latin typeface="Times New Roman"/>
                <a:ea typeface="Times New Roman"/>
                <a:cs typeface="Times New Roman"/>
                <a:sym typeface="Times New Roman"/>
              </a:defRPr>
            </a:lvl6pPr>
            <a:lvl7pPr marL="3200400" marR="0" lvl="6" indent="-228600" algn="l" rtl="0">
              <a:lnSpc>
                <a:spcPct val="100000"/>
              </a:lnSpc>
              <a:spcBef>
                <a:spcPts val="0"/>
              </a:spcBef>
              <a:spcAft>
                <a:spcPts val="0"/>
              </a:spcAft>
              <a:buClr>
                <a:schemeClr val="dk1"/>
              </a:buClr>
              <a:buSzPts val="700"/>
              <a:buFont typeface="Times New Roman"/>
              <a:buNone/>
              <a:defRPr sz="900" b="0" i="0" u="none" strike="noStrike" cap="none">
                <a:solidFill>
                  <a:schemeClr val="dk1"/>
                </a:solidFill>
                <a:latin typeface="Times New Roman"/>
                <a:ea typeface="Times New Roman"/>
                <a:cs typeface="Times New Roman"/>
                <a:sym typeface="Times New Roman"/>
              </a:defRPr>
            </a:lvl7pPr>
            <a:lvl8pPr marL="3657600" marR="0" lvl="7" indent="-228600" algn="l" rtl="0">
              <a:lnSpc>
                <a:spcPct val="100000"/>
              </a:lnSpc>
              <a:spcBef>
                <a:spcPts val="0"/>
              </a:spcBef>
              <a:spcAft>
                <a:spcPts val="0"/>
              </a:spcAft>
              <a:buClr>
                <a:schemeClr val="dk1"/>
              </a:buClr>
              <a:buSzPts val="700"/>
              <a:buFont typeface="Times New Roman"/>
              <a:buNone/>
              <a:defRPr sz="900" b="0" i="0" u="none" strike="noStrike" cap="none">
                <a:solidFill>
                  <a:schemeClr val="dk1"/>
                </a:solidFill>
                <a:latin typeface="Times New Roman"/>
                <a:ea typeface="Times New Roman"/>
                <a:cs typeface="Times New Roman"/>
                <a:sym typeface="Times New Roman"/>
              </a:defRPr>
            </a:lvl8pPr>
            <a:lvl9pPr marL="4114800" marR="0" lvl="8" indent="-228600" algn="l" rtl="0">
              <a:lnSpc>
                <a:spcPct val="100000"/>
              </a:lnSpc>
              <a:spcBef>
                <a:spcPts val="0"/>
              </a:spcBef>
              <a:spcAft>
                <a:spcPts val="0"/>
              </a:spcAft>
              <a:buClr>
                <a:schemeClr val="dk1"/>
              </a:buClr>
              <a:buSzPts val="700"/>
              <a:buFont typeface="Times New Roman"/>
              <a:buNone/>
              <a:defRPr sz="900" b="0" i="0" u="none" strike="noStrike" cap="none">
                <a:solidFill>
                  <a:schemeClr val="dk1"/>
                </a:solidFill>
                <a:latin typeface="Times New Roman"/>
                <a:ea typeface="Times New Roman"/>
                <a:cs typeface="Times New Roman"/>
                <a:sym typeface="Times New Roman"/>
              </a:defRPr>
            </a:lvl9pPr>
          </a:lstStyle>
          <a:p>
            <a:endParaRPr/>
          </a:p>
        </p:txBody>
      </p:sp>
      <p:sp>
        <p:nvSpPr>
          <p:cNvPr id="12" name="Google Shape;12;p32"/>
          <p:cNvSpPr txBox="1">
            <a:spLocks noGrp="1"/>
          </p:cNvSpPr>
          <p:nvPr>
            <p:ph type="body" idx="2"/>
          </p:nvPr>
        </p:nvSpPr>
        <p:spPr>
          <a:xfrm>
            <a:off x="1440000" y="5040000"/>
            <a:ext cx="8640000" cy="360000"/>
          </a:xfrm>
          <a:prstGeom prst="rect">
            <a:avLst/>
          </a:prstGeom>
          <a:noFill/>
          <a:ln>
            <a:noFill/>
          </a:ln>
        </p:spPr>
        <p:txBody>
          <a:bodyPr spcFirstLastPara="1" wrap="square" lIns="90000" tIns="46800" rIns="90000" bIns="46800" anchor="ctr" anchorCtr="0">
            <a:noAutofit/>
          </a:bodyPr>
          <a:lstStyle>
            <a:lvl1pPr marL="457200" marR="0" lvl="0" indent="-228600" algn="ctr" rtl="0">
              <a:lnSpc>
                <a:spcPct val="100000"/>
              </a:lnSpc>
              <a:spcBef>
                <a:spcPts val="0"/>
              </a:spcBef>
              <a:spcAft>
                <a:spcPts val="0"/>
              </a:spcAft>
              <a:buClr>
                <a:schemeClr val="dk1"/>
              </a:buClr>
              <a:buSzPts val="1900"/>
              <a:buFont typeface="Microsoft JhengHei"/>
              <a:buNone/>
              <a:defRPr sz="1600" i="0" u="none" strike="noStrike" cap="none">
                <a:solidFill>
                  <a:schemeClr val="dk1"/>
                </a:solidFill>
                <a:latin typeface="Microsoft JhengHei"/>
                <a:ea typeface="Microsoft JhengHei"/>
                <a:cs typeface="Microsoft JhengHei"/>
                <a:sym typeface="Microsoft JhengHei"/>
              </a:defRPr>
            </a:lvl1pPr>
            <a:lvl2pPr marL="914400" marR="0" lvl="1" indent="-228600" algn="l" rtl="0">
              <a:lnSpc>
                <a:spcPct val="100000"/>
              </a:lnSpc>
              <a:spcBef>
                <a:spcPts val="0"/>
              </a:spcBef>
              <a:spcAft>
                <a:spcPts val="0"/>
              </a:spcAft>
              <a:buClr>
                <a:schemeClr val="dk1"/>
              </a:buClr>
              <a:buSzPts val="1400"/>
              <a:buFont typeface="Times New Roman"/>
              <a:buNone/>
              <a:defRPr sz="1200" b="0" i="0" u="none" strike="noStrike" cap="none">
                <a:solidFill>
                  <a:schemeClr val="dk1"/>
                </a:solidFill>
                <a:latin typeface="Times New Roman"/>
                <a:ea typeface="Times New Roman"/>
                <a:cs typeface="Times New Roman"/>
                <a:sym typeface="Times New Roman"/>
              </a:defRPr>
            </a:lvl2pPr>
            <a:lvl3pPr marL="1371600" marR="0" lvl="2" indent="-228600" algn="l" rtl="0">
              <a:lnSpc>
                <a:spcPct val="100000"/>
              </a:lnSpc>
              <a:spcBef>
                <a:spcPts val="0"/>
              </a:spcBef>
              <a:spcAft>
                <a:spcPts val="0"/>
              </a:spcAft>
              <a:buClr>
                <a:schemeClr val="dk1"/>
              </a:buClr>
              <a:buSzPts val="1000"/>
              <a:buFont typeface="Times New Roman"/>
              <a:buNone/>
              <a:defRPr sz="1000" b="0" i="0" u="none" strike="noStrike" cap="none">
                <a:solidFill>
                  <a:schemeClr val="dk1"/>
                </a:solidFill>
                <a:latin typeface="Times New Roman"/>
                <a:ea typeface="Times New Roman"/>
                <a:cs typeface="Times New Roman"/>
                <a:sym typeface="Times New Roman"/>
              </a:defRPr>
            </a:lvl3pPr>
            <a:lvl4pPr marL="1828800" marR="0" lvl="3" indent="-228600" algn="l" rtl="0">
              <a:lnSpc>
                <a:spcPct val="100000"/>
              </a:lnSpc>
              <a:spcBef>
                <a:spcPts val="0"/>
              </a:spcBef>
              <a:spcAft>
                <a:spcPts val="0"/>
              </a:spcAft>
              <a:buClr>
                <a:schemeClr val="dk1"/>
              </a:buClr>
              <a:buSzPts val="800"/>
              <a:buFont typeface="Times New Roman"/>
              <a:buNone/>
              <a:defRPr sz="900" b="0" i="0" u="none" strike="noStrike" cap="none">
                <a:solidFill>
                  <a:schemeClr val="dk1"/>
                </a:solidFill>
                <a:latin typeface="Times New Roman"/>
                <a:ea typeface="Times New Roman"/>
                <a:cs typeface="Times New Roman"/>
                <a:sym typeface="Times New Roman"/>
              </a:defRPr>
            </a:lvl4pPr>
            <a:lvl5pPr marL="2286000" marR="0" lvl="4" indent="-228600" algn="l" rtl="0">
              <a:lnSpc>
                <a:spcPct val="100000"/>
              </a:lnSpc>
              <a:spcBef>
                <a:spcPts val="0"/>
              </a:spcBef>
              <a:spcAft>
                <a:spcPts val="0"/>
              </a:spcAft>
              <a:buClr>
                <a:schemeClr val="dk1"/>
              </a:buClr>
              <a:buSzPts val="700"/>
              <a:buFont typeface="Times New Roman"/>
              <a:buNone/>
              <a:defRPr sz="900" b="0" i="0" u="none" strike="noStrike" cap="none">
                <a:solidFill>
                  <a:schemeClr val="dk1"/>
                </a:solidFill>
                <a:latin typeface="Times New Roman"/>
                <a:ea typeface="Times New Roman"/>
                <a:cs typeface="Times New Roman"/>
                <a:sym typeface="Times New Roman"/>
              </a:defRPr>
            </a:lvl5pPr>
            <a:lvl6pPr marL="2743200" marR="0" lvl="5" indent="-228600" algn="l" rtl="0">
              <a:lnSpc>
                <a:spcPct val="100000"/>
              </a:lnSpc>
              <a:spcBef>
                <a:spcPts val="0"/>
              </a:spcBef>
              <a:spcAft>
                <a:spcPts val="0"/>
              </a:spcAft>
              <a:buClr>
                <a:schemeClr val="dk1"/>
              </a:buClr>
              <a:buSzPts val="700"/>
              <a:buFont typeface="Times New Roman"/>
              <a:buNone/>
              <a:defRPr sz="900" b="0" i="0" u="none" strike="noStrike" cap="none">
                <a:solidFill>
                  <a:schemeClr val="dk1"/>
                </a:solidFill>
                <a:latin typeface="Times New Roman"/>
                <a:ea typeface="Times New Roman"/>
                <a:cs typeface="Times New Roman"/>
                <a:sym typeface="Times New Roman"/>
              </a:defRPr>
            </a:lvl6pPr>
            <a:lvl7pPr marL="3200400" marR="0" lvl="6" indent="-228600" algn="l" rtl="0">
              <a:lnSpc>
                <a:spcPct val="100000"/>
              </a:lnSpc>
              <a:spcBef>
                <a:spcPts val="0"/>
              </a:spcBef>
              <a:spcAft>
                <a:spcPts val="0"/>
              </a:spcAft>
              <a:buClr>
                <a:schemeClr val="dk1"/>
              </a:buClr>
              <a:buSzPts val="700"/>
              <a:buFont typeface="Times New Roman"/>
              <a:buNone/>
              <a:defRPr sz="900" b="0" i="0" u="none" strike="noStrike" cap="none">
                <a:solidFill>
                  <a:schemeClr val="dk1"/>
                </a:solidFill>
                <a:latin typeface="Times New Roman"/>
                <a:ea typeface="Times New Roman"/>
                <a:cs typeface="Times New Roman"/>
                <a:sym typeface="Times New Roman"/>
              </a:defRPr>
            </a:lvl7pPr>
            <a:lvl8pPr marL="3657600" marR="0" lvl="7" indent="-228600" algn="l" rtl="0">
              <a:lnSpc>
                <a:spcPct val="100000"/>
              </a:lnSpc>
              <a:spcBef>
                <a:spcPts val="0"/>
              </a:spcBef>
              <a:spcAft>
                <a:spcPts val="0"/>
              </a:spcAft>
              <a:buClr>
                <a:schemeClr val="dk1"/>
              </a:buClr>
              <a:buSzPts val="700"/>
              <a:buFont typeface="Times New Roman"/>
              <a:buNone/>
              <a:defRPr sz="900" b="0" i="0" u="none" strike="noStrike" cap="none">
                <a:solidFill>
                  <a:schemeClr val="dk1"/>
                </a:solidFill>
                <a:latin typeface="Times New Roman"/>
                <a:ea typeface="Times New Roman"/>
                <a:cs typeface="Times New Roman"/>
                <a:sym typeface="Times New Roman"/>
              </a:defRPr>
            </a:lvl8pPr>
            <a:lvl9pPr marL="4114800" marR="0" lvl="8" indent="-228600" algn="l" rtl="0">
              <a:lnSpc>
                <a:spcPct val="100000"/>
              </a:lnSpc>
              <a:spcBef>
                <a:spcPts val="0"/>
              </a:spcBef>
              <a:spcAft>
                <a:spcPts val="0"/>
              </a:spcAft>
              <a:buClr>
                <a:schemeClr val="dk1"/>
              </a:buClr>
              <a:buSzPts val="700"/>
              <a:buFont typeface="Times New Roman"/>
              <a:buNone/>
              <a:defRPr sz="900" b="0" i="0" u="none" strike="noStrike" cap="none">
                <a:solidFill>
                  <a:schemeClr val="dk1"/>
                </a:solidFill>
                <a:latin typeface="Times New Roman"/>
                <a:ea typeface="Times New Roman"/>
                <a:cs typeface="Times New Roman"/>
                <a:sym typeface="Times New Roman"/>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版本">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64E9B3DD-FAA0-DF43-8AE4-2105CE51701D}"/>
              </a:ext>
            </a:extLst>
          </p:cNvPr>
          <p:cNvSpPr txBox="1"/>
          <p:nvPr userDrawn="1"/>
        </p:nvSpPr>
        <p:spPr>
          <a:xfrm>
            <a:off x="604826" y="608597"/>
            <a:ext cx="10310836" cy="5262979"/>
          </a:xfrm>
          <a:prstGeom prst="rect">
            <a:avLst/>
          </a:prstGeom>
          <a:noFill/>
        </p:spPr>
        <p:txBody>
          <a:bodyPr wrap="none" rtlCol="0">
            <a:spAutoFit/>
          </a:bodyPr>
          <a:lstStyle/>
          <a:p>
            <a:pPr algn="ctr"/>
            <a:r>
              <a:rPr kumimoji="1" lang="en-US" altLang="zh-TW" sz="9600">
                <a:latin typeface="Microsoft JhengHei" panose="020B0604030504040204" pitchFamily="34" charset="-120"/>
                <a:ea typeface="Microsoft JhengHei" panose="020B0604030504040204" pitchFamily="34" charset="-120"/>
              </a:rPr>
              <a:t>Template Version</a:t>
            </a:r>
          </a:p>
          <a:p>
            <a:pPr algn="ctr"/>
            <a:r>
              <a:rPr kumimoji="1" lang="en-US" altLang="zh-TW" sz="24000">
                <a:latin typeface="Microsoft JhengHei" panose="020B0604030504040204" pitchFamily="34" charset="-120"/>
                <a:ea typeface="Microsoft JhengHei" panose="020B0604030504040204" pitchFamily="34" charset="-120"/>
              </a:rPr>
              <a:t>v7.1</a:t>
            </a:r>
            <a:endParaRPr kumimoji="1" lang="zh-TW" altLang="en-US" sz="24000">
              <a:latin typeface="Microsoft JhengHei" panose="020B0604030504040204" pitchFamily="34" charset="-120"/>
              <a:ea typeface="Microsoft JhengHei" panose="020B0604030504040204" pitchFamily="34" charset="-120"/>
            </a:endParaRPr>
          </a:p>
        </p:txBody>
      </p:sp>
    </p:spTree>
    <p:extLst>
      <p:ext uri="{BB962C8B-B14F-4D97-AF65-F5344CB8AC3E}">
        <p14:creationId xmlns:p14="http://schemas.microsoft.com/office/powerpoint/2010/main" val="29891059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標題投影片">
    <p:spTree>
      <p:nvGrpSpPr>
        <p:cNvPr id="1" name=""/>
        <p:cNvGrpSpPr/>
        <p:nvPr/>
      </p:nvGrpSpPr>
      <p:grpSpPr>
        <a:xfrm>
          <a:off x="0" y="0"/>
          <a:ext cx="0" cy="0"/>
          <a:chOff x="0" y="0"/>
          <a:chExt cx="0" cy="0"/>
        </a:xfrm>
      </p:grpSpPr>
      <p:grpSp>
        <p:nvGrpSpPr>
          <p:cNvPr id="5" name="McK Title Elements"/>
          <p:cNvGrpSpPr>
            <a:grpSpLocks/>
          </p:cNvGrpSpPr>
          <p:nvPr userDrawn="1"/>
        </p:nvGrpSpPr>
        <p:grpSpPr bwMode="auto">
          <a:xfrm>
            <a:off x="3393902" y="2063126"/>
            <a:ext cx="6463309" cy="4348176"/>
            <a:chOff x="1663" y="1348"/>
            <a:chExt cx="3167" cy="2841"/>
          </a:xfrm>
        </p:grpSpPr>
        <p:sp>
          <p:nvSpPr>
            <p:cNvPr id="6" name="McK Confidential" hidden="1"/>
            <p:cNvSpPr txBox="1">
              <a:spLocks noChangeArrowheads="1"/>
            </p:cNvSpPr>
            <p:nvPr userDrawn="1"/>
          </p:nvSpPr>
          <p:spPr bwMode="auto">
            <a:xfrm>
              <a:off x="1663" y="1348"/>
              <a:ext cx="936"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eaLnBrk="1" hangingPunct="1">
                <a:defRPr/>
              </a:pPr>
              <a:r>
                <a:rPr lang="en-US" altLang="zh-TW" sz="1350" b="0">
                  <a:ea typeface="新細明體" charset="-120"/>
                </a:rPr>
                <a:t>CONFIDENTIAL</a:t>
              </a:r>
            </a:p>
          </p:txBody>
        </p:sp>
        <p:sp>
          <p:nvSpPr>
            <p:cNvPr id="7" name="McK Document" hidden="1"/>
            <p:cNvSpPr txBox="1">
              <a:spLocks noChangeArrowheads="1"/>
            </p:cNvSpPr>
            <p:nvPr userDrawn="1"/>
          </p:nvSpPr>
          <p:spPr bwMode="auto">
            <a:xfrm>
              <a:off x="1663" y="3047"/>
              <a:ext cx="316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eaLnBrk="1" hangingPunct="1">
                <a:defRPr/>
              </a:pPr>
              <a:r>
                <a:rPr lang="en-US" altLang="zh-TW" sz="1350" b="0">
                  <a:ea typeface="新細明體" charset="-120"/>
                </a:rPr>
                <a:t>Document</a:t>
              </a:r>
            </a:p>
          </p:txBody>
        </p:sp>
        <p:sp>
          <p:nvSpPr>
            <p:cNvPr id="8" name="McK Date" hidden="1"/>
            <p:cNvSpPr txBox="1">
              <a:spLocks noChangeArrowheads="1"/>
            </p:cNvSpPr>
            <p:nvPr userDrawn="1"/>
          </p:nvSpPr>
          <p:spPr bwMode="auto">
            <a:xfrm>
              <a:off x="1663" y="3216"/>
              <a:ext cx="316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eaLnBrk="1" hangingPunct="1">
                <a:defRPr/>
              </a:pPr>
              <a:r>
                <a:rPr lang="en-US" altLang="zh-TW" sz="1350" b="0">
                  <a:ea typeface="新細明體" charset="-120"/>
                </a:rPr>
                <a:t>Date</a:t>
              </a:r>
            </a:p>
          </p:txBody>
        </p:sp>
        <p:sp>
          <p:nvSpPr>
            <p:cNvPr id="9" name="McK Disclaimer" hidden="1"/>
            <p:cNvSpPr>
              <a:spLocks noChangeArrowheads="1"/>
            </p:cNvSpPr>
            <p:nvPr userDrawn="1">
              <p:custDataLst>
                <p:tags r:id="rId1"/>
              </p:custDataLst>
            </p:nvPr>
          </p:nvSpPr>
          <p:spPr bwMode="auto">
            <a:xfrm>
              <a:off x="1663" y="3840"/>
              <a:ext cx="2303"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defTabSz="804863" eaLnBrk="0" hangingPunct="0">
                <a:defRPr sz="4000" b="1">
                  <a:solidFill>
                    <a:schemeClr val="tx1"/>
                  </a:solidFill>
                  <a:latin typeface="Arial" charset="0"/>
                  <a:ea typeface="华文楷体" pitchFamily="2" charset="-122"/>
                </a:defRPr>
              </a:lvl1pPr>
              <a:lvl2pPr marL="742950" indent="-285750" defTabSz="804863" eaLnBrk="0" hangingPunct="0">
                <a:defRPr sz="4000" b="1">
                  <a:solidFill>
                    <a:schemeClr val="tx1"/>
                  </a:solidFill>
                  <a:latin typeface="Arial" charset="0"/>
                  <a:ea typeface="华文楷体" pitchFamily="2" charset="-122"/>
                </a:defRPr>
              </a:lvl2pPr>
              <a:lvl3pPr marL="1143000" indent="-228600" defTabSz="804863" eaLnBrk="0" hangingPunct="0">
                <a:defRPr sz="4000" b="1">
                  <a:solidFill>
                    <a:schemeClr val="tx1"/>
                  </a:solidFill>
                  <a:latin typeface="Arial" charset="0"/>
                  <a:ea typeface="华文楷体" pitchFamily="2" charset="-122"/>
                </a:defRPr>
              </a:lvl3pPr>
              <a:lvl4pPr marL="1600200" indent="-228600" defTabSz="804863" eaLnBrk="0" hangingPunct="0">
                <a:defRPr sz="4000" b="1">
                  <a:solidFill>
                    <a:schemeClr val="tx1"/>
                  </a:solidFill>
                  <a:latin typeface="Arial" charset="0"/>
                  <a:ea typeface="华文楷体" pitchFamily="2" charset="-122"/>
                </a:defRPr>
              </a:lvl4pPr>
              <a:lvl5pPr marL="2057400" indent="-228600" defTabSz="804863" eaLnBrk="0" hangingPunct="0">
                <a:defRPr sz="4000" b="1">
                  <a:solidFill>
                    <a:schemeClr val="tx1"/>
                  </a:solidFill>
                  <a:latin typeface="Arial" charset="0"/>
                  <a:ea typeface="华文楷体" pitchFamily="2" charset="-122"/>
                </a:defRPr>
              </a:lvl5pPr>
              <a:lvl6pPr marL="2514600" indent="-228600" defTabSz="804863"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defTabSz="804863"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defTabSz="804863"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defTabSz="804863" eaLnBrk="0" fontAlgn="base" hangingPunct="0">
                <a:spcBef>
                  <a:spcPct val="0"/>
                </a:spcBef>
                <a:spcAft>
                  <a:spcPct val="0"/>
                </a:spcAft>
                <a:defRPr sz="4000" b="1">
                  <a:solidFill>
                    <a:schemeClr val="tx1"/>
                  </a:solidFill>
                  <a:latin typeface="Arial" charset="0"/>
                  <a:ea typeface="华文楷体" pitchFamily="2" charset="-122"/>
                </a:defRPr>
              </a:lvl9pPr>
            </a:lstStyle>
            <a:p>
              <a:pPr>
                <a:defRPr/>
              </a:pPr>
              <a:r>
                <a:rPr lang="en-US" altLang="zh-TW" sz="868" b="0">
                  <a:ea typeface="新細明體" charset="-120"/>
                </a:rPr>
                <a:t>This report is solely for the use of client personnel.  No part of it may be circulated, quoted, or reproduced for distribution outside the client organization without prior written approval from McKinsey &amp; Company. This material was used by McKinsey &amp; Company during an oral presentation; it is not a complete record of the discussion.</a:t>
              </a:r>
            </a:p>
          </p:txBody>
        </p:sp>
      </p:grpSp>
      <p:sp>
        <p:nvSpPr>
          <p:cNvPr id="10" name="Line 197"/>
          <p:cNvSpPr>
            <a:spLocks noChangeShapeType="1"/>
          </p:cNvSpPr>
          <p:nvPr userDrawn="1"/>
        </p:nvSpPr>
        <p:spPr bwMode="auto">
          <a:xfrm>
            <a:off x="1071437" y="2863583"/>
            <a:ext cx="9477616" cy="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zh-TW" altLang="en-US" sz="3856">
              <a:latin typeface="微軟正黑體" panose="020B0604030504040204" pitchFamily="34" charset="-120"/>
              <a:ea typeface="微軟正黑體" panose="020B0604030504040204" pitchFamily="34" charset="-120"/>
            </a:endParaRPr>
          </a:p>
        </p:txBody>
      </p:sp>
      <p:sp>
        <p:nvSpPr>
          <p:cNvPr id="15" name="標題 1"/>
          <p:cNvSpPr>
            <a:spLocks noGrp="1"/>
          </p:cNvSpPr>
          <p:nvPr>
            <p:ph type="title"/>
          </p:nvPr>
        </p:nvSpPr>
        <p:spPr>
          <a:xfrm>
            <a:off x="2005296" y="2178004"/>
            <a:ext cx="7710016" cy="678015"/>
          </a:xfrm>
          <a:prstGeom prst="rect">
            <a:avLst/>
          </a:prstGeom>
        </p:spPr>
        <p:txBody>
          <a:bodyPr anchor="ctr"/>
          <a:lstStyle>
            <a:lvl1pPr algn="ctr">
              <a:defRPr sz="3471">
                <a:solidFill>
                  <a:schemeClr val="tx1"/>
                </a:solidFill>
                <a:latin typeface="微軟正黑體" panose="020B0604030504040204" pitchFamily="34" charset="-120"/>
                <a:ea typeface="微軟正黑體" panose="020B0604030504040204" pitchFamily="34" charset="-120"/>
              </a:defRPr>
            </a:lvl1pPr>
          </a:lstStyle>
          <a:p>
            <a:r>
              <a:rPr lang="zh-TW" altLang="en-US"/>
              <a:t>按一下以編輯母片標題樣式</a:t>
            </a:r>
          </a:p>
        </p:txBody>
      </p:sp>
      <p:sp>
        <p:nvSpPr>
          <p:cNvPr id="19" name="文字版面配置區 3"/>
          <p:cNvSpPr>
            <a:spLocks noGrp="1"/>
          </p:cNvSpPr>
          <p:nvPr>
            <p:ph type="body" sz="half" idx="2"/>
          </p:nvPr>
        </p:nvSpPr>
        <p:spPr>
          <a:xfrm>
            <a:off x="2956083" y="4242393"/>
            <a:ext cx="6144220" cy="528475"/>
          </a:xfrm>
          <a:prstGeom prst="rect">
            <a:avLst/>
          </a:prstGeom>
        </p:spPr>
        <p:txBody>
          <a:bodyPr anchor="ctr"/>
          <a:lstStyle>
            <a:lvl1pPr marL="0" indent="0" algn="ctr">
              <a:buNone/>
              <a:defRPr sz="2699" b="1">
                <a:latin typeface="微軟正黑體" panose="020B0604030504040204" pitchFamily="34" charset="-120"/>
                <a:ea typeface="微軟正黑體" panose="020B0604030504040204" pitchFamily="34" charset="-120"/>
              </a:defRPr>
            </a:lvl1pPr>
            <a:lvl2pPr marL="440787" indent="0">
              <a:buNone/>
              <a:defRPr sz="1157"/>
            </a:lvl2pPr>
            <a:lvl3pPr marL="881573" indent="0">
              <a:buNone/>
              <a:defRPr sz="964"/>
            </a:lvl3pPr>
            <a:lvl4pPr marL="1322360" indent="0">
              <a:buNone/>
              <a:defRPr sz="868"/>
            </a:lvl4pPr>
            <a:lvl5pPr marL="1763146" indent="0">
              <a:buNone/>
              <a:defRPr sz="868"/>
            </a:lvl5pPr>
            <a:lvl6pPr marL="2203933" indent="0">
              <a:buNone/>
              <a:defRPr sz="868"/>
            </a:lvl6pPr>
            <a:lvl7pPr marL="2644719" indent="0">
              <a:buNone/>
              <a:defRPr sz="868"/>
            </a:lvl7pPr>
            <a:lvl8pPr marL="3085506" indent="0">
              <a:buNone/>
              <a:defRPr sz="868"/>
            </a:lvl8pPr>
            <a:lvl9pPr marL="3526292" indent="0">
              <a:buNone/>
              <a:defRPr sz="868"/>
            </a:lvl9pPr>
          </a:lstStyle>
          <a:p>
            <a:pPr lvl="0"/>
            <a:r>
              <a:rPr lang="zh-TW" altLang="en-US"/>
              <a:t>按一下以編輯母片文字樣式</a:t>
            </a:r>
          </a:p>
        </p:txBody>
      </p:sp>
      <p:sp>
        <p:nvSpPr>
          <p:cNvPr id="20" name="文字版面配置區 3"/>
          <p:cNvSpPr>
            <a:spLocks noGrp="1"/>
          </p:cNvSpPr>
          <p:nvPr>
            <p:ph type="body" sz="half" idx="10"/>
          </p:nvPr>
        </p:nvSpPr>
        <p:spPr>
          <a:xfrm>
            <a:off x="3578419" y="5276477"/>
            <a:ext cx="4840369" cy="392081"/>
          </a:xfrm>
          <a:prstGeom prst="rect">
            <a:avLst/>
          </a:prstGeom>
        </p:spPr>
        <p:txBody>
          <a:bodyPr anchor="ctr"/>
          <a:lstStyle>
            <a:lvl1pPr marL="0" indent="0" algn="ctr">
              <a:buNone/>
              <a:defRPr sz="1543" b="1">
                <a:latin typeface="微軟正黑體" panose="020B0604030504040204" pitchFamily="34" charset="-120"/>
                <a:ea typeface="微軟正黑體" panose="020B0604030504040204" pitchFamily="34" charset="-120"/>
              </a:defRPr>
            </a:lvl1pPr>
            <a:lvl2pPr marL="440787" indent="0">
              <a:buNone/>
              <a:defRPr sz="1157"/>
            </a:lvl2pPr>
            <a:lvl3pPr marL="881573" indent="0">
              <a:buNone/>
              <a:defRPr sz="964"/>
            </a:lvl3pPr>
            <a:lvl4pPr marL="1322360" indent="0">
              <a:buNone/>
              <a:defRPr sz="868"/>
            </a:lvl4pPr>
            <a:lvl5pPr marL="1763146" indent="0">
              <a:buNone/>
              <a:defRPr sz="868"/>
            </a:lvl5pPr>
            <a:lvl6pPr marL="2203933" indent="0">
              <a:buNone/>
              <a:defRPr sz="868"/>
            </a:lvl6pPr>
            <a:lvl7pPr marL="2644719" indent="0">
              <a:buNone/>
              <a:defRPr sz="868"/>
            </a:lvl7pPr>
            <a:lvl8pPr marL="3085506" indent="0">
              <a:buNone/>
              <a:defRPr sz="868"/>
            </a:lvl8pPr>
            <a:lvl9pPr marL="3526292" indent="0">
              <a:buNone/>
              <a:defRPr sz="868"/>
            </a:lvl9pPr>
          </a:lstStyle>
          <a:p>
            <a:pPr lvl="0"/>
            <a:r>
              <a:rPr lang="zh-TW" altLang="en-US"/>
              <a:t>按一下以編輯母片文字樣式</a:t>
            </a:r>
          </a:p>
        </p:txBody>
      </p:sp>
      <p:sp>
        <p:nvSpPr>
          <p:cNvPr id="13" name="矩形 9">
            <a:extLst>
              <a:ext uri="{FF2B5EF4-FFF2-40B4-BE49-F238E27FC236}">
                <a16:creationId xmlns:a16="http://schemas.microsoft.com/office/drawing/2014/main" id="{6FDD3136-7EFB-4718-9F66-8669A6D38D54}"/>
              </a:ext>
            </a:extLst>
          </p:cNvPr>
          <p:cNvSpPr>
            <a:spLocks noChangeArrowheads="1"/>
          </p:cNvSpPr>
          <p:nvPr userDrawn="1"/>
        </p:nvSpPr>
        <p:spPr bwMode="auto">
          <a:xfrm>
            <a:off x="16328" y="6180059"/>
            <a:ext cx="502044" cy="222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algn="ctr" eaLnBrk="1" hangingPunct="1">
              <a:lnSpc>
                <a:spcPts val="964"/>
              </a:lnSpc>
              <a:defRPr/>
            </a:pPr>
            <a:fld id="{B24A712F-B284-4871-8CF9-DC6E056DBACF}" type="slidenum">
              <a:rPr lang="en-US" altLang="zh-TW" sz="1157" b="0" smtClean="0">
                <a:ea typeface="微軟正黑體" pitchFamily="34" charset="-120"/>
              </a:rPr>
              <a:pPr algn="ctr" eaLnBrk="1" hangingPunct="1">
                <a:lnSpc>
                  <a:spcPts val="964"/>
                </a:lnSpc>
                <a:defRPr/>
              </a:pPr>
              <a:t>‹#›</a:t>
            </a:fld>
            <a:endParaRPr lang="en-US" altLang="zh-TW" sz="1157" b="0">
              <a:ea typeface="微軟正黑體" pitchFamily="34" charset="-120"/>
            </a:endParaRPr>
          </a:p>
        </p:txBody>
      </p:sp>
      <p:pic>
        <p:nvPicPr>
          <p:cNvPr id="14" name="圖片 13">
            <a:extLst>
              <a:ext uri="{FF2B5EF4-FFF2-40B4-BE49-F238E27FC236}">
                <a16:creationId xmlns:a16="http://schemas.microsoft.com/office/drawing/2014/main" id="{0B37FA8D-8709-4CA0-8112-F2BDFE463BE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56361" y="287493"/>
            <a:ext cx="2063977" cy="566162"/>
          </a:xfrm>
          <a:prstGeom prst="rect">
            <a:avLst/>
          </a:prstGeom>
        </p:spPr>
      </p:pic>
      <p:pic>
        <p:nvPicPr>
          <p:cNvPr id="4" name="圖形 3">
            <a:extLst>
              <a:ext uri="{FF2B5EF4-FFF2-40B4-BE49-F238E27FC236}">
                <a16:creationId xmlns:a16="http://schemas.microsoft.com/office/drawing/2014/main" id="{F0E678BE-778D-9EEC-9398-07997F758D73}"/>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09988" y="6191032"/>
            <a:ext cx="4542089" cy="223619"/>
          </a:xfrm>
          <a:prstGeom prst="rect">
            <a:avLst/>
          </a:prstGeom>
        </p:spPr>
      </p:pic>
    </p:spTree>
    <p:extLst>
      <p:ext uri="{BB962C8B-B14F-4D97-AF65-F5344CB8AC3E}">
        <p14:creationId xmlns:p14="http://schemas.microsoft.com/office/powerpoint/2010/main" val="98030964"/>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只有標題">
    <p:spTree>
      <p:nvGrpSpPr>
        <p:cNvPr id="1" name=""/>
        <p:cNvGrpSpPr/>
        <p:nvPr/>
      </p:nvGrpSpPr>
      <p:grpSpPr>
        <a:xfrm>
          <a:off x="0" y="0"/>
          <a:ext cx="0" cy="0"/>
          <a:chOff x="0" y="0"/>
          <a:chExt cx="0" cy="0"/>
        </a:xfrm>
      </p:grpSpPr>
      <p:sp>
        <p:nvSpPr>
          <p:cNvPr id="5" name="標題 1"/>
          <p:cNvSpPr>
            <a:spLocks noGrp="1"/>
          </p:cNvSpPr>
          <p:nvPr>
            <p:ph type="title"/>
          </p:nvPr>
        </p:nvSpPr>
        <p:spPr>
          <a:xfrm>
            <a:off x="345742" y="142608"/>
            <a:ext cx="10717960" cy="600229"/>
          </a:xfrm>
          <a:prstGeom prst="rect">
            <a:avLst/>
          </a:prstGeom>
        </p:spPr>
        <p:txBody>
          <a:bodyPr anchor="ctr"/>
          <a:lstStyle>
            <a:lvl1pPr algn="l">
              <a:defRPr sz="3085" b="1">
                <a:solidFill>
                  <a:schemeClr val="tx1"/>
                </a:solidFill>
                <a:latin typeface="微軟正黑體" panose="020B0604030504040204" pitchFamily="34" charset="-120"/>
                <a:ea typeface="微軟正黑體" panose="020B0604030504040204" pitchFamily="34" charset="-120"/>
              </a:defRPr>
            </a:lvl1pPr>
          </a:lstStyle>
          <a:p>
            <a:r>
              <a:rPr lang="zh-TW" altLang="en-US"/>
              <a:t>按一下以編輯母片標題樣式</a:t>
            </a:r>
          </a:p>
        </p:txBody>
      </p:sp>
    </p:spTree>
    <p:extLst>
      <p:ext uri="{BB962C8B-B14F-4D97-AF65-F5344CB8AC3E}">
        <p14:creationId xmlns:p14="http://schemas.microsoft.com/office/powerpoint/2010/main" val="99661939"/>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標題及物件">
    <p:spTree>
      <p:nvGrpSpPr>
        <p:cNvPr id="1" name=""/>
        <p:cNvGrpSpPr/>
        <p:nvPr/>
      </p:nvGrpSpPr>
      <p:grpSpPr>
        <a:xfrm>
          <a:off x="0" y="0"/>
          <a:ext cx="0" cy="0"/>
          <a:chOff x="0" y="0"/>
          <a:chExt cx="0" cy="0"/>
        </a:xfrm>
      </p:grpSpPr>
      <p:sp>
        <p:nvSpPr>
          <p:cNvPr id="5" name="標題 1"/>
          <p:cNvSpPr>
            <a:spLocks noGrp="1"/>
          </p:cNvSpPr>
          <p:nvPr>
            <p:ph type="title"/>
          </p:nvPr>
        </p:nvSpPr>
        <p:spPr>
          <a:xfrm>
            <a:off x="345742" y="142608"/>
            <a:ext cx="10717960" cy="600229"/>
          </a:xfrm>
          <a:prstGeom prst="rect">
            <a:avLst/>
          </a:prstGeom>
        </p:spPr>
        <p:txBody>
          <a:bodyPr anchor="ctr"/>
          <a:lstStyle>
            <a:lvl1pPr algn="l">
              <a:defRPr sz="3085" b="1">
                <a:solidFill>
                  <a:schemeClr val="tx1"/>
                </a:solidFill>
                <a:latin typeface="微軟正黑體" panose="020B0604030504040204" pitchFamily="34" charset="-120"/>
                <a:ea typeface="微軟正黑體" panose="020B0604030504040204" pitchFamily="34" charset="-120"/>
              </a:defRPr>
            </a:lvl1pPr>
          </a:lstStyle>
          <a:p>
            <a:r>
              <a:rPr lang="zh-TW" altLang="en-US"/>
              <a:t>按一下以編輯母片標題樣式</a:t>
            </a:r>
          </a:p>
        </p:txBody>
      </p:sp>
      <p:sp>
        <p:nvSpPr>
          <p:cNvPr id="3" name="內容版面配置區 2"/>
          <p:cNvSpPr>
            <a:spLocks noGrp="1"/>
          </p:cNvSpPr>
          <p:nvPr>
            <p:ph sz="quarter" idx="10"/>
          </p:nvPr>
        </p:nvSpPr>
        <p:spPr>
          <a:xfrm>
            <a:off x="383676" y="857085"/>
            <a:ext cx="10712319" cy="5173120"/>
          </a:xfrm>
          <a:prstGeom prst="rect">
            <a:avLst/>
          </a:prstGeom>
        </p:spPr>
        <p:txBody>
          <a:bodyPr/>
          <a:lstStyle>
            <a:lvl1pPr>
              <a:spcBef>
                <a:spcPts val="0"/>
              </a:spcBef>
              <a:spcAft>
                <a:spcPts val="578"/>
              </a:spcAft>
              <a:defRPr sz="2314">
                <a:latin typeface="微軟正黑體" panose="020B0604030504040204" pitchFamily="34" charset="-120"/>
                <a:ea typeface="微軟正黑體" panose="020B0604030504040204" pitchFamily="34" charset="-120"/>
                <a:cs typeface="Arial" panose="020B0604020202020204" pitchFamily="34" charset="0"/>
              </a:defRPr>
            </a:lvl1pPr>
            <a:lvl2pPr marL="139277" indent="-137746">
              <a:spcBef>
                <a:spcPts val="0"/>
              </a:spcBef>
              <a:spcAft>
                <a:spcPts val="578"/>
              </a:spcAft>
              <a:buFont typeface="Wingdings" panose="05000000000000000000" pitchFamily="2" charset="2"/>
              <a:buChar char="n"/>
              <a:defRPr sz="1928">
                <a:latin typeface="微軟正黑體" panose="020B0604030504040204" pitchFamily="34" charset="-120"/>
                <a:ea typeface="微軟正黑體" panose="020B0604030504040204" pitchFamily="34" charset="-120"/>
                <a:cs typeface="Arial" panose="020B0604020202020204" pitchFamily="34" charset="0"/>
              </a:defRPr>
            </a:lvl2pPr>
            <a:lvl3pPr marL="284675" indent="-143868">
              <a:spcBef>
                <a:spcPts val="0"/>
              </a:spcBef>
              <a:spcAft>
                <a:spcPts val="578"/>
              </a:spcAft>
              <a:buFont typeface="Wingdings" panose="05000000000000000000" pitchFamily="2" charset="2"/>
              <a:buChar char="l"/>
              <a:defRPr sz="1735">
                <a:latin typeface="微軟正黑體" panose="020B0604030504040204" pitchFamily="34" charset="-120"/>
                <a:ea typeface="微軟正黑體" panose="020B0604030504040204" pitchFamily="34" charset="-120"/>
                <a:cs typeface="Arial" panose="020B0604020202020204" pitchFamily="34" charset="0"/>
              </a:defRPr>
            </a:lvl3pPr>
            <a:lvl4pPr marL="416298" indent="-130094">
              <a:spcBef>
                <a:spcPts val="0"/>
              </a:spcBef>
              <a:spcAft>
                <a:spcPts val="578"/>
              </a:spcAft>
              <a:buFont typeface="Wingdings" panose="05000000000000000000" pitchFamily="2" charset="2"/>
              <a:buChar char="u"/>
              <a:defRPr sz="1543">
                <a:latin typeface="微軟正黑體" panose="020B0604030504040204" pitchFamily="34" charset="-120"/>
                <a:ea typeface="微軟正黑體" panose="020B0604030504040204" pitchFamily="34" charset="-120"/>
                <a:cs typeface="Arial" panose="020B0604020202020204" pitchFamily="34" charset="0"/>
              </a:defRPr>
            </a:lvl4pPr>
            <a:lvl5pPr marL="561697" indent="-143868">
              <a:spcBef>
                <a:spcPts val="0"/>
              </a:spcBef>
              <a:spcAft>
                <a:spcPts val="578"/>
              </a:spcAft>
              <a:buFont typeface="Arial" panose="020B0604020202020204" pitchFamily="34" charset="0"/>
              <a:buChar char="•"/>
              <a:defRPr sz="1350">
                <a:latin typeface="微軟正黑體" panose="020B0604030504040204" pitchFamily="34" charset="-120"/>
                <a:ea typeface="微軟正黑體" panose="020B0604030504040204" pitchFamily="34" charset="-120"/>
                <a:cs typeface="Arial" panose="020B0604020202020204" pitchFamily="34" charset="0"/>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extLst>
      <p:ext uri="{BB962C8B-B14F-4D97-AF65-F5344CB8AC3E}">
        <p14:creationId xmlns:p14="http://schemas.microsoft.com/office/powerpoint/2010/main" val="2123439029"/>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自訂版面配置">
    <p:spTree>
      <p:nvGrpSpPr>
        <p:cNvPr id="1" name=""/>
        <p:cNvGrpSpPr/>
        <p:nvPr/>
      </p:nvGrpSpPr>
      <p:grpSpPr>
        <a:xfrm>
          <a:off x="0" y="0"/>
          <a:ext cx="0" cy="0"/>
          <a:chOff x="0" y="0"/>
          <a:chExt cx="0" cy="0"/>
        </a:xfrm>
      </p:grpSpPr>
      <p:sp>
        <p:nvSpPr>
          <p:cNvPr id="4" name="內容版面配置區 3">
            <a:extLst>
              <a:ext uri="{FF2B5EF4-FFF2-40B4-BE49-F238E27FC236}">
                <a16:creationId xmlns:a16="http://schemas.microsoft.com/office/drawing/2014/main" id="{A8AE6801-0935-4DDB-9F1D-37BC2745F310}"/>
              </a:ext>
            </a:extLst>
          </p:cNvPr>
          <p:cNvSpPr>
            <a:spLocks noGrp="1"/>
          </p:cNvSpPr>
          <p:nvPr>
            <p:ph sz="quarter" idx="10"/>
          </p:nvPr>
        </p:nvSpPr>
        <p:spPr>
          <a:xfrm>
            <a:off x="290902" y="872391"/>
            <a:ext cx="5324374" cy="5153224"/>
          </a:xfrm>
          <a:prstGeom prst="rect">
            <a:avLst/>
          </a:prstGeom>
        </p:spPr>
        <p:txBody>
          <a:bodyPr/>
          <a:lstStyle>
            <a:lvl1pPr>
              <a:lnSpc>
                <a:spcPts val="2121"/>
              </a:lnSpc>
              <a:defRPr>
                <a:latin typeface="微軟正黑體" panose="020B0604030504040204" pitchFamily="34" charset="-120"/>
                <a:ea typeface="微軟正黑體" panose="020B0604030504040204" pitchFamily="34" charset="-120"/>
              </a:defRPr>
            </a:lvl1pPr>
            <a:lvl2pPr marL="139277" indent="-137746">
              <a:lnSpc>
                <a:spcPts val="2121"/>
              </a:lnSpc>
              <a:buFont typeface="Wingdings" panose="05000000000000000000" pitchFamily="2" charset="2"/>
              <a:buChar char="n"/>
              <a:defRPr>
                <a:latin typeface="微軟正黑體" panose="020B0604030504040204" pitchFamily="34" charset="-120"/>
                <a:ea typeface="微軟正黑體" panose="020B0604030504040204" pitchFamily="34" charset="-120"/>
              </a:defRPr>
            </a:lvl2pPr>
            <a:lvl3pPr marL="284675" indent="-143868">
              <a:lnSpc>
                <a:spcPts val="2121"/>
              </a:lnSpc>
              <a:buFont typeface="Wingdings" panose="05000000000000000000" pitchFamily="2" charset="2"/>
              <a:buChar char="l"/>
              <a:defRPr>
                <a:latin typeface="微軟正黑體" panose="020B0604030504040204" pitchFamily="34" charset="-120"/>
                <a:ea typeface="微軟正黑體" panose="020B0604030504040204" pitchFamily="34" charset="-120"/>
              </a:defRPr>
            </a:lvl3pPr>
            <a:lvl4pPr marL="416298" indent="-130094">
              <a:lnSpc>
                <a:spcPts val="2121"/>
              </a:lnSpc>
              <a:buFont typeface="Wingdings" panose="05000000000000000000" pitchFamily="2" charset="2"/>
              <a:buChar char="u"/>
              <a:defRPr>
                <a:latin typeface="微軟正黑體" panose="020B0604030504040204" pitchFamily="34" charset="-120"/>
                <a:ea typeface="微軟正黑體" panose="020B0604030504040204" pitchFamily="34" charset="-120"/>
              </a:defRPr>
            </a:lvl4pPr>
            <a:lvl5pPr>
              <a:lnSpc>
                <a:spcPts val="2121"/>
              </a:lnSpc>
              <a:defRPr>
                <a:latin typeface="微軟正黑體" panose="020B0604030504040204" pitchFamily="34" charset="-120"/>
                <a:ea typeface="微軟正黑體" panose="020B0604030504040204" pitchFamily="34" charset="-120"/>
              </a:defRPr>
            </a:lvl5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內容版面配置區 3">
            <a:extLst>
              <a:ext uri="{FF2B5EF4-FFF2-40B4-BE49-F238E27FC236}">
                <a16:creationId xmlns:a16="http://schemas.microsoft.com/office/drawing/2014/main" id="{C5A0BBB7-1B89-4C34-A1C9-9CEE207EB87D}"/>
              </a:ext>
            </a:extLst>
          </p:cNvPr>
          <p:cNvSpPr>
            <a:spLocks noGrp="1"/>
          </p:cNvSpPr>
          <p:nvPr>
            <p:ph sz="quarter" idx="11"/>
          </p:nvPr>
        </p:nvSpPr>
        <p:spPr>
          <a:xfrm>
            <a:off x="5776456" y="872391"/>
            <a:ext cx="5324374" cy="5153224"/>
          </a:xfrm>
          <a:prstGeom prst="rect">
            <a:avLst/>
          </a:prstGeom>
        </p:spPr>
        <p:txBody>
          <a:bodyPr/>
          <a:lstStyle>
            <a:lvl1pPr>
              <a:lnSpc>
                <a:spcPts val="2121"/>
              </a:lnSpc>
              <a:defRPr>
                <a:latin typeface="微軟正黑體" panose="020B0604030504040204" pitchFamily="34" charset="-120"/>
                <a:ea typeface="微軟正黑體" panose="020B0604030504040204" pitchFamily="34" charset="-120"/>
              </a:defRPr>
            </a:lvl1pPr>
            <a:lvl2pPr marL="139277" indent="-137746">
              <a:lnSpc>
                <a:spcPts val="2121"/>
              </a:lnSpc>
              <a:buFont typeface="Wingdings" panose="05000000000000000000" pitchFamily="2" charset="2"/>
              <a:buChar char="n"/>
              <a:defRPr>
                <a:latin typeface="微軟正黑體" panose="020B0604030504040204" pitchFamily="34" charset="-120"/>
                <a:ea typeface="微軟正黑體" panose="020B0604030504040204" pitchFamily="34" charset="-120"/>
              </a:defRPr>
            </a:lvl2pPr>
            <a:lvl3pPr marL="284675" indent="-143868">
              <a:lnSpc>
                <a:spcPts val="2121"/>
              </a:lnSpc>
              <a:buFont typeface="Wingdings" panose="05000000000000000000" pitchFamily="2" charset="2"/>
              <a:buChar char="l"/>
              <a:defRPr>
                <a:latin typeface="微軟正黑體" panose="020B0604030504040204" pitchFamily="34" charset="-120"/>
                <a:ea typeface="微軟正黑體" panose="020B0604030504040204" pitchFamily="34" charset="-120"/>
              </a:defRPr>
            </a:lvl3pPr>
            <a:lvl4pPr marL="416298" indent="-130094">
              <a:lnSpc>
                <a:spcPts val="2121"/>
              </a:lnSpc>
              <a:buFont typeface="Wingdings" panose="05000000000000000000" pitchFamily="2" charset="2"/>
              <a:buChar char="u"/>
              <a:defRPr>
                <a:latin typeface="微軟正黑體" panose="020B0604030504040204" pitchFamily="34" charset="-120"/>
                <a:ea typeface="微軟正黑體" panose="020B0604030504040204" pitchFamily="34" charset="-120"/>
              </a:defRPr>
            </a:lvl4pPr>
            <a:lvl5pPr>
              <a:lnSpc>
                <a:spcPts val="2121"/>
              </a:lnSpc>
              <a:defRPr>
                <a:latin typeface="微軟正黑體" panose="020B0604030504040204" pitchFamily="34" charset="-120"/>
                <a:ea typeface="微軟正黑體" panose="020B0604030504040204" pitchFamily="34" charset="-120"/>
              </a:defRPr>
            </a:lvl5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標題 1">
            <a:extLst>
              <a:ext uri="{FF2B5EF4-FFF2-40B4-BE49-F238E27FC236}">
                <a16:creationId xmlns:a16="http://schemas.microsoft.com/office/drawing/2014/main" id="{D4E2322C-141C-48C2-8177-7FDD2D4D7FD8}"/>
              </a:ext>
            </a:extLst>
          </p:cNvPr>
          <p:cNvSpPr>
            <a:spLocks noGrp="1"/>
          </p:cNvSpPr>
          <p:nvPr>
            <p:ph type="title"/>
          </p:nvPr>
        </p:nvSpPr>
        <p:spPr>
          <a:xfrm>
            <a:off x="345742" y="142608"/>
            <a:ext cx="10717960" cy="600229"/>
          </a:xfrm>
          <a:prstGeom prst="rect">
            <a:avLst/>
          </a:prstGeom>
        </p:spPr>
        <p:txBody>
          <a:bodyPr anchor="ctr"/>
          <a:lstStyle>
            <a:lvl1pPr algn="l">
              <a:defRPr sz="3085" b="1">
                <a:solidFill>
                  <a:schemeClr val="tx1"/>
                </a:solidFill>
                <a:latin typeface="微軟正黑體" panose="020B0604030504040204" pitchFamily="34" charset="-120"/>
                <a:ea typeface="微軟正黑體" panose="020B0604030504040204" pitchFamily="34" charset="-120"/>
              </a:defRPr>
            </a:lvl1pPr>
          </a:lstStyle>
          <a:p>
            <a:r>
              <a:rPr lang="zh-TW" altLang="en-US"/>
              <a:t>按一下以編輯母片標題樣式</a:t>
            </a:r>
          </a:p>
        </p:txBody>
      </p:sp>
    </p:spTree>
    <p:extLst>
      <p:ext uri="{BB962C8B-B14F-4D97-AF65-F5344CB8AC3E}">
        <p14:creationId xmlns:p14="http://schemas.microsoft.com/office/powerpoint/2010/main" val="2626979152"/>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只有標題">
    <p:spTree>
      <p:nvGrpSpPr>
        <p:cNvPr id="1" name=""/>
        <p:cNvGrpSpPr/>
        <p:nvPr/>
      </p:nvGrpSpPr>
      <p:grpSpPr>
        <a:xfrm>
          <a:off x="0" y="0"/>
          <a:ext cx="0" cy="0"/>
          <a:chOff x="0" y="0"/>
          <a:chExt cx="0" cy="0"/>
        </a:xfrm>
      </p:grpSpPr>
      <p:sp>
        <p:nvSpPr>
          <p:cNvPr id="5" name="標題 1"/>
          <p:cNvSpPr>
            <a:spLocks noGrp="1"/>
          </p:cNvSpPr>
          <p:nvPr>
            <p:ph type="title"/>
          </p:nvPr>
        </p:nvSpPr>
        <p:spPr>
          <a:xfrm>
            <a:off x="345743" y="142608"/>
            <a:ext cx="10717960" cy="600229"/>
          </a:xfrm>
          <a:prstGeom prst="rect">
            <a:avLst/>
          </a:prstGeom>
        </p:spPr>
        <p:txBody>
          <a:bodyPr anchor="ctr"/>
          <a:lstStyle>
            <a:lvl1pPr algn="l">
              <a:defRPr sz="3085" b="0">
                <a:solidFill>
                  <a:schemeClr val="tx1"/>
                </a:solidFill>
                <a:latin typeface="微軟正黑體" panose="020B0604030504040204" pitchFamily="34" charset="-120"/>
                <a:ea typeface="微軟正黑體" panose="020B0604030504040204" pitchFamily="34" charset="-120"/>
              </a:defRPr>
            </a:lvl1pPr>
          </a:lstStyle>
          <a:p>
            <a:r>
              <a:rPr lang="zh-TW" altLang="en-US"/>
              <a:t>按一下以編輯母片標題樣式</a:t>
            </a:r>
          </a:p>
        </p:txBody>
      </p:sp>
      <p:sp>
        <p:nvSpPr>
          <p:cNvPr id="3" name="矩形 6">
            <a:extLst>
              <a:ext uri="{FF2B5EF4-FFF2-40B4-BE49-F238E27FC236}">
                <a16:creationId xmlns:a16="http://schemas.microsoft.com/office/drawing/2014/main" id="{1959586B-EE0D-455A-B12F-D49573861502}"/>
              </a:ext>
            </a:extLst>
          </p:cNvPr>
          <p:cNvSpPr>
            <a:spLocks noChangeArrowheads="1"/>
          </p:cNvSpPr>
          <p:nvPr userDrawn="1"/>
        </p:nvSpPr>
        <p:spPr bwMode="auto">
          <a:xfrm>
            <a:off x="4583359" y="6215364"/>
            <a:ext cx="5029404" cy="220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eaLnBrk="1" hangingPunct="1">
              <a:lnSpc>
                <a:spcPts val="964"/>
              </a:lnSpc>
              <a:defRPr/>
            </a:pPr>
            <a:r>
              <a:rPr lang="zh-TW" altLang="en-US" sz="868" b="0">
                <a:solidFill>
                  <a:srgbClr val="7F7F7F"/>
                </a:solidFill>
              </a:rPr>
              <a:t>機密資料 僅限永豐金控內部使用</a:t>
            </a:r>
            <a:endParaRPr lang="en-US" altLang="zh-TW" sz="868" b="0">
              <a:solidFill>
                <a:srgbClr val="7F7F7F"/>
              </a:solidFill>
            </a:endParaRPr>
          </a:p>
        </p:txBody>
      </p:sp>
    </p:spTree>
    <p:extLst>
      <p:ext uri="{BB962C8B-B14F-4D97-AF65-F5344CB8AC3E}">
        <p14:creationId xmlns:p14="http://schemas.microsoft.com/office/powerpoint/2010/main" val="3265511078"/>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9D2500D-7797-490A-89C2-4F963BBBE53E}"/>
              </a:ext>
            </a:extLst>
          </p:cNvPr>
          <p:cNvSpPr>
            <a:spLocks noGrp="1"/>
          </p:cNvSpPr>
          <p:nvPr>
            <p:ph type="title"/>
          </p:nvPr>
        </p:nvSpPr>
        <p:spPr>
          <a:xfrm>
            <a:off x="792034" y="154504"/>
            <a:ext cx="9936421" cy="717669"/>
          </a:xfrm>
          <a:prstGeom prst="rect">
            <a:avLst/>
          </a:prstGeom>
        </p:spPr>
        <p:txBody>
          <a:bodyPr anchor="ctr"/>
          <a:lstStyle>
            <a:lvl1pPr algn="l">
              <a:defRPr/>
            </a:lvl1pPr>
          </a:lstStyle>
          <a:p>
            <a:r>
              <a:rPr lang="zh-TW" altLang="en-US" dirty="0"/>
              <a:t>按一下以編輯母片標題樣式</a:t>
            </a:r>
          </a:p>
        </p:txBody>
      </p:sp>
      <p:sp>
        <p:nvSpPr>
          <p:cNvPr id="3" name="內容版面配置區 2">
            <a:extLst>
              <a:ext uri="{FF2B5EF4-FFF2-40B4-BE49-F238E27FC236}">
                <a16:creationId xmlns:a16="http://schemas.microsoft.com/office/drawing/2014/main" id="{C3FD1AFE-D5BF-4DA6-B81D-B74B758FA548}"/>
              </a:ext>
            </a:extLst>
          </p:cNvPr>
          <p:cNvSpPr>
            <a:spLocks noGrp="1"/>
          </p:cNvSpPr>
          <p:nvPr>
            <p:ph idx="1"/>
          </p:nvPr>
        </p:nvSpPr>
        <p:spPr>
          <a:xfrm>
            <a:off x="792034" y="1010745"/>
            <a:ext cx="9936421" cy="4794451"/>
          </a:xfrm>
        </p:spPr>
        <p:txBody>
          <a:body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Tree>
    <p:extLst>
      <p:ext uri="{BB962C8B-B14F-4D97-AF65-F5344CB8AC3E}">
        <p14:creationId xmlns:p14="http://schemas.microsoft.com/office/powerpoint/2010/main" val="26734877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標題投影片">
  <p:cSld name="標題投影片">
    <p:spTree>
      <p:nvGrpSpPr>
        <p:cNvPr id="1" name="Shape 13"/>
        <p:cNvGrpSpPr/>
        <p:nvPr/>
      </p:nvGrpSpPr>
      <p:grpSpPr>
        <a:xfrm>
          <a:off x="0" y="0"/>
          <a:ext cx="0" cy="0"/>
          <a:chOff x="0" y="0"/>
          <a:chExt cx="0" cy="0"/>
        </a:xfrm>
      </p:grpSpPr>
      <p:cxnSp>
        <p:nvCxnSpPr>
          <p:cNvPr id="14" name="Google Shape;14;p8"/>
          <p:cNvCxnSpPr/>
          <p:nvPr/>
        </p:nvCxnSpPr>
        <p:spPr>
          <a:xfrm>
            <a:off x="1071437" y="2863583"/>
            <a:ext cx="9477616" cy="0"/>
          </a:xfrm>
          <a:prstGeom prst="straightConnector1">
            <a:avLst/>
          </a:prstGeom>
          <a:noFill/>
          <a:ln w="15875" cap="flat" cmpd="sng">
            <a:solidFill>
              <a:srgbClr val="FF0000"/>
            </a:solidFill>
            <a:prstDash val="solid"/>
            <a:round/>
            <a:headEnd type="none" w="sm" len="sm"/>
            <a:tailEnd type="none" w="sm" len="sm"/>
          </a:ln>
        </p:spPr>
      </p:cxnSp>
      <p:sp>
        <p:nvSpPr>
          <p:cNvPr id="15" name="Google Shape;15;p8"/>
          <p:cNvSpPr txBox="1">
            <a:spLocks noGrp="1"/>
          </p:cNvSpPr>
          <p:nvPr>
            <p:ph type="title"/>
          </p:nvPr>
        </p:nvSpPr>
        <p:spPr>
          <a:xfrm>
            <a:off x="2005296" y="2178004"/>
            <a:ext cx="7710016" cy="67801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471" b="1" i="0" u="none" strike="noStrike" cap="none">
                <a:solidFill>
                  <a:schemeClr val="dk1"/>
                </a:solidFill>
                <a:latin typeface="Microsoft JhengHei"/>
                <a:ea typeface="Microsoft JhengHei"/>
                <a:cs typeface="Microsoft JhengHei"/>
                <a:sym typeface="Microsoft JhengHei"/>
              </a:defRPr>
            </a:lvl1pPr>
            <a:lvl2pPr marR="0" lvl="1" algn="l" rtl="0">
              <a:lnSpc>
                <a:spcPct val="100000"/>
              </a:lnSpc>
              <a:spcBef>
                <a:spcPts val="0"/>
              </a:spcBef>
              <a:spcAft>
                <a:spcPts val="0"/>
              </a:spcAft>
              <a:buClr>
                <a:srgbClr val="000000"/>
              </a:buClr>
              <a:buSzPts val="1400"/>
              <a:buFont typeface="Arial"/>
              <a:buNone/>
              <a:defRPr sz="1832" b="1"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32" b="1"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32" b="1"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32" b="1"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32" b="1"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32" b="1"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32" b="1"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32" b="1" i="0" u="none" strike="noStrike" cap="none">
                <a:solidFill>
                  <a:schemeClr val="dk2"/>
                </a:solidFill>
                <a:latin typeface="Arial"/>
                <a:ea typeface="Arial"/>
                <a:cs typeface="Arial"/>
                <a:sym typeface="Arial"/>
              </a:defRPr>
            </a:lvl9pPr>
          </a:lstStyle>
          <a:p>
            <a:endParaRPr/>
          </a:p>
        </p:txBody>
      </p:sp>
      <p:sp>
        <p:nvSpPr>
          <p:cNvPr id="16" name="Google Shape;16;p8"/>
          <p:cNvSpPr txBox="1">
            <a:spLocks noGrp="1"/>
          </p:cNvSpPr>
          <p:nvPr>
            <p:ph type="body" idx="1"/>
          </p:nvPr>
        </p:nvSpPr>
        <p:spPr>
          <a:xfrm>
            <a:off x="2956083" y="4242393"/>
            <a:ext cx="6144220" cy="528475"/>
          </a:xfrm>
          <a:prstGeom prst="rect">
            <a:avLst/>
          </a:prstGeom>
          <a:noFill/>
          <a:ln>
            <a:noFill/>
          </a:ln>
        </p:spPr>
        <p:txBody>
          <a:bodyPr spcFirstLastPara="1" wrap="square" lIns="91425" tIns="45700" rIns="91425" bIns="45700" anchor="ctr" anchorCtr="0">
            <a:noAutofit/>
          </a:bodyPr>
          <a:lstStyle>
            <a:lvl1pPr marL="440787" marR="0" lvl="0" indent="-220393" algn="ctr" rtl="0">
              <a:lnSpc>
                <a:spcPct val="100000"/>
              </a:lnSpc>
              <a:spcBef>
                <a:spcPts val="0"/>
              </a:spcBef>
              <a:spcAft>
                <a:spcPts val="0"/>
              </a:spcAft>
              <a:buClr>
                <a:schemeClr val="dk1"/>
              </a:buClr>
              <a:buSzPts val="3360"/>
              <a:buFont typeface="Microsoft JhengHei"/>
              <a:buNone/>
              <a:defRPr sz="2699" b="1" i="0" u="none" strike="noStrike" cap="none">
                <a:solidFill>
                  <a:schemeClr val="dk1"/>
                </a:solidFill>
                <a:latin typeface="Microsoft JhengHei"/>
                <a:ea typeface="Microsoft JhengHei"/>
                <a:cs typeface="Microsoft JhengHei"/>
                <a:sym typeface="Microsoft JhengHei"/>
              </a:defRPr>
            </a:lvl1pPr>
            <a:lvl2pPr marL="881573" marR="0" lvl="1" indent="-220393" algn="l" rtl="0">
              <a:lnSpc>
                <a:spcPct val="100000"/>
              </a:lnSpc>
              <a:spcBef>
                <a:spcPts val="0"/>
              </a:spcBef>
              <a:spcAft>
                <a:spcPts val="0"/>
              </a:spcAft>
              <a:buClr>
                <a:schemeClr val="dk1"/>
              </a:buClr>
              <a:buSzPts val="1440"/>
              <a:buFont typeface="Times New Roman"/>
              <a:buNone/>
              <a:defRPr sz="1157" b="0" i="0" u="none" strike="noStrike" cap="none">
                <a:solidFill>
                  <a:schemeClr val="dk1"/>
                </a:solidFill>
                <a:latin typeface="Times New Roman"/>
                <a:ea typeface="Times New Roman"/>
                <a:cs typeface="Times New Roman"/>
                <a:sym typeface="Times New Roman"/>
              </a:defRPr>
            </a:lvl2pPr>
            <a:lvl3pPr marL="1322360" marR="0" lvl="2" indent="-220393" algn="l" rtl="0">
              <a:lnSpc>
                <a:spcPct val="100000"/>
              </a:lnSpc>
              <a:spcBef>
                <a:spcPts val="0"/>
              </a:spcBef>
              <a:spcAft>
                <a:spcPts val="0"/>
              </a:spcAft>
              <a:buClr>
                <a:schemeClr val="dk1"/>
              </a:buClr>
              <a:buSzPts val="1000"/>
              <a:buFont typeface="Times New Roman"/>
              <a:buNone/>
              <a:defRPr sz="964" b="0" i="0" u="none" strike="noStrike" cap="none">
                <a:solidFill>
                  <a:schemeClr val="dk1"/>
                </a:solidFill>
                <a:latin typeface="Times New Roman"/>
                <a:ea typeface="Times New Roman"/>
                <a:cs typeface="Times New Roman"/>
                <a:sym typeface="Times New Roman"/>
              </a:defRPr>
            </a:lvl3pPr>
            <a:lvl4pPr marL="1763146" marR="0" lvl="3" indent="-220393" algn="l" rtl="0">
              <a:lnSpc>
                <a:spcPct val="100000"/>
              </a:lnSpc>
              <a:spcBef>
                <a:spcPts val="0"/>
              </a:spcBef>
              <a:spcAft>
                <a:spcPts val="0"/>
              </a:spcAft>
              <a:buClr>
                <a:schemeClr val="dk1"/>
              </a:buClr>
              <a:buSzPts val="801"/>
              <a:buFont typeface="Times New Roman"/>
              <a:buNone/>
              <a:defRPr sz="868" b="0" i="0" u="none" strike="noStrike" cap="none">
                <a:solidFill>
                  <a:schemeClr val="dk1"/>
                </a:solidFill>
                <a:latin typeface="Times New Roman"/>
                <a:ea typeface="Times New Roman"/>
                <a:cs typeface="Times New Roman"/>
                <a:sym typeface="Times New Roman"/>
              </a:defRPr>
            </a:lvl4pPr>
            <a:lvl5pPr marL="2203933" marR="0" lvl="4" indent="-220393" algn="l" rtl="0">
              <a:lnSpc>
                <a:spcPct val="100000"/>
              </a:lnSpc>
              <a:spcBef>
                <a:spcPts val="0"/>
              </a:spcBef>
              <a:spcAft>
                <a:spcPts val="0"/>
              </a:spcAft>
              <a:buClr>
                <a:schemeClr val="dk1"/>
              </a:buClr>
              <a:buSzPts val="675"/>
              <a:buFont typeface="Times New Roman"/>
              <a:buNone/>
              <a:defRPr sz="868" b="0" i="0" u="none" strike="noStrike" cap="none">
                <a:solidFill>
                  <a:schemeClr val="dk1"/>
                </a:solidFill>
                <a:latin typeface="Times New Roman"/>
                <a:ea typeface="Times New Roman"/>
                <a:cs typeface="Times New Roman"/>
                <a:sym typeface="Times New Roman"/>
              </a:defRPr>
            </a:lvl5pPr>
            <a:lvl6pPr marL="2644719" marR="0" lvl="5" indent="-220393" algn="l" rtl="0">
              <a:lnSpc>
                <a:spcPct val="100000"/>
              </a:lnSpc>
              <a:spcBef>
                <a:spcPts val="0"/>
              </a:spcBef>
              <a:spcAft>
                <a:spcPts val="0"/>
              </a:spcAft>
              <a:buClr>
                <a:schemeClr val="dk1"/>
              </a:buClr>
              <a:buSzPts val="675"/>
              <a:buFont typeface="Times New Roman"/>
              <a:buNone/>
              <a:defRPr sz="868" b="0" i="0" u="none" strike="noStrike" cap="none">
                <a:solidFill>
                  <a:schemeClr val="dk1"/>
                </a:solidFill>
                <a:latin typeface="Times New Roman"/>
                <a:ea typeface="Times New Roman"/>
                <a:cs typeface="Times New Roman"/>
                <a:sym typeface="Times New Roman"/>
              </a:defRPr>
            </a:lvl6pPr>
            <a:lvl7pPr marL="3085506" marR="0" lvl="6" indent="-220393" algn="l" rtl="0">
              <a:lnSpc>
                <a:spcPct val="100000"/>
              </a:lnSpc>
              <a:spcBef>
                <a:spcPts val="0"/>
              </a:spcBef>
              <a:spcAft>
                <a:spcPts val="0"/>
              </a:spcAft>
              <a:buClr>
                <a:schemeClr val="dk1"/>
              </a:buClr>
              <a:buSzPts val="675"/>
              <a:buFont typeface="Times New Roman"/>
              <a:buNone/>
              <a:defRPr sz="868" b="0" i="0" u="none" strike="noStrike" cap="none">
                <a:solidFill>
                  <a:schemeClr val="dk1"/>
                </a:solidFill>
                <a:latin typeface="Times New Roman"/>
                <a:ea typeface="Times New Roman"/>
                <a:cs typeface="Times New Roman"/>
                <a:sym typeface="Times New Roman"/>
              </a:defRPr>
            </a:lvl7pPr>
            <a:lvl8pPr marL="3526292" marR="0" lvl="7" indent="-220393" algn="l" rtl="0">
              <a:lnSpc>
                <a:spcPct val="100000"/>
              </a:lnSpc>
              <a:spcBef>
                <a:spcPts val="0"/>
              </a:spcBef>
              <a:spcAft>
                <a:spcPts val="0"/>
              </a:spcAft>
              <a:buClr>
                <a:schemeClr val="dk1"/>
              </a:buClr>
              <a:buSzPts val="675"/>
              <a:buFont typeface="Times New Roman"/>
              <a:buNone/>
              <a:defRPr sz="868" b="0" i="0" u="none" strike="noStrike" cap="none">
                <a:solidFill>
                  <a:schemeClr val="dk1"/>
                </a:solidFill>
                <a:latin typeface="Times New Roman"/>
                <a:ea typeface="Times New Roman"/>
                <a:cs typeface="Times New Roman"/>
                <a:sym typeface="Times New Roman"/>
              </a:defRPr>
            </a:lvl8pPr>
            <a:lvl9pPr marL="3967079" marR="0" lvl="8" indent="-220393" algn="l" rtl="0">
              <a:lnSpc>
                <a:spcPct val="100000"/>
              </a:lnSpc>
              <a:spcBef>
                <a:spcPts val="0"/>
              </a:spcBef>
              <a:spcAft>
                <a:spcPts val="0"/>
              </a:spcAft>
              <a:buClr>
                <a:schemeClr val="dk1"/>
              </a:buClr>
              <a:buSzPts val="675"/>
              <a:buFont typeface="Times New Roman"/>
              <a:buNone/>
              <a:defRPr sz="868" b="0" i="0" u="none" strike="noStrike" cap="none">
                <a:solidFill>
                  <a:schemeClr val="dk1"/>
                </a:solidFill>
                <a:latin typeface="Times New Roman"/>
                <a:ea typeface="Times New Roman"/>
                <a:cs typeface="Times New Roman"/>
                <a:sym typeface="Times New Roman"/>
              </a:defRPr>
            </a:lvl9pPr>
          </a:lstStyle>
          <a:p>
            <a:endParaRPr/>
          </a:p>
        </p:txBody>
      </p:sp>
      <p:sp>
        <p:nvSpPr>
          <p:cNvPr id="17" name="Google Shape;17;p8"/>
          <p:cNvSpPr txBox="1">
            <a:spLocks noGrp="1"/>
          </p:cNvSpPr>
          <p:nvPr>
            <p:ph type="body" idx="2"/>
          </p:nvPr>
        </p:nvSpPr>
        <p:spPr>
          <a:xfrm>
            <a:off x="3578419" y="5276477"/>
            <a:ext cx="4840369" cy="392081"/>
          </a:xfrm>
          <a:prstGeom prst="rect">
            <a:avLst/>
          </a:prstGeom>
          <a:noFill/>
          <a:ln>
            <a:noFill/>
          </a:ln>
        </p:spPr>
        <p:txBody>
          <a:bodyPr spcFirstLastPara="1" wrap="square" lIns="91425" tIns="45700" rIns="91425" bIns="45700" anchor="ctr" anchorCtr="0">
            <a:noAutofit/>
          </a:bodyPr>
          <a:lstStyle>
            <a:lvl1pPr marL="440787" marR="0" lvl="0" indent="-220393" algn="ctr" rtl="0">
              <a:lnSpc>
                <a:spcPct val="100000"/>
              </a:lnSpc>
              <a:spcBef>
                <a:spcPts val="0"/>
              </a:spcBef>
              <a:spcAft>
                <a:spcPts val="0"/>
              </a:spcAft>
              <a:buClr>
                <a:schemeClr val="dk1"/>
              </a:buClr>
              <a:buSzPts val="1920"/>
              <a:buFont typeface="Microsoft JhengHei"/>
              <a:buNone/>
              <a:defRPr sz="1543" b="1" i="0" u="none" strike="noStrike" cap="none">
                <a:solidFill>
                  <a:schemeClr val="dk1"/>
                </a:solidFill>
                <a:latin typeface="Microsoft JhengHei"/>
                <a:ea typeface="Microsoft JhengHei"/>
                <a:cs typeface="Microsoft JhengHei"/>
                <a:sym typeface="Microsoft JhengHei"/>
              </a:defRPr>
            </a:lvl1pPr>
            <a:lvl2pPr marL="881573" marR="0" lvl="1" indent="-220393" algn="l" rtl="0">
              <a:lnSpc>
                <a:spcPct val="100000"/>
              </a:lnSpc>
              <a:spcBef>
                <a:spcPts val="0"/>
              </a:spcBef>
              <a:spcAft>
                <a:spcPts val="0"/>
              </a:spcAft>
              <a:buClr>
                <a:schemeClr val="dk1"/>
              </a:buClr>
              <a:buSzPts val="1440"/>
              <a:buFont typeface="Times New Roman"/>
              <a:buNone/>
              <a:defRPr sz="1157" b="0" i="0" u="none" strike="noStrike" cap="none">
                <a:solidFill>
                  <a:schemeClr val="dk1"/>
                </a:solidFill>
                <a:latin typeface="Times New Roman"/>
                <a:ea typeface="Times New Roman"/>
                <a:cs typeface="Times New Roman"/>
                <a:sym typeface="Times New Roman"/>
              </a:defRPr>
            </a:lvl2pPr>
            <a:lvl3pPr marL="1322360" marR="0" lvl="2" indent="-220393" algn="l" rtl="0">
              <a:lnSpc>
                <a:spcPct val="100000"/>
              </a:lnSpc>
              <a:spcBef>
                <a:spcPts val="0"/>
              </a:spcBef>
              <a:spcAft>
                <a:spcPts val="0"/>
              </a:spcAft>
              <a:buClr>
                <a:schemeClr val="dk1"/>
              </a:buClr>
              <a:buSzPts val="1000"/>
              <a:buFont typeface="Times New Roman"/>
              <a:buNone/>
              <a:defRPr sz="964" b="0" i="0" u="none" strike="noStrike" cap="none">
                <a:solidFill>
                  <a:schemeClr val="dk1"/>
                </a:solidFill>
                <a:latin typeface="Times New Roman"/>
                <a:ea typeface="Times New Roman"/>
                <a:cs typeface="Times New Roman"/>
                <a:sym typeface="Times New Roman"/>
              </a:defRPr>
            </a:lvl3pPr>
            <a:lvl4pPr marL="1763146" marR="0" lvl="3" indent="-220393" algn="l" rtl="0">
              <a:lnSpc>
                <a:spcPct val="100000"/>
              </a:lnSpc>
              <a:spcBef>
                <a:spcPts val="0"/>
              </a:spcBef>
              <a:spcAft>
                <a:spcPts val="0"/>
              </a:spcAft>
              <a:buClr>
                <a:schemeClr val="dk1"/>
              </a:buClr>
              <a:buSzPts val="801"/>
              <a:buFont typeface="Times New Roman"/>
              <a:buNone/>
              <a:defRPr sz="868" b="0" i="0" u="none" strike="noStrike" cap="none">
                <a:solidFill>
                  <a:schemeClr val="dk1"/>
                </a:solidFill>
                <a:latin typeface="Times New Roman"/>
                <a:ea typeface="Times New Roman"/>
                <a:cs typeface="Times New Roman"/>
                <a:sym typeface="Times New Roman"/>
              </a:defRPr>
            </a:lvl4pPr>
            <a:lvl5pPr marL="2203933" marR="0" lvl="4" indent="-220393" algn="l" rtl="0">
              <a:lnSpc>
                <a:spcPct val="100000"/>
              </a:lnSpc>
              <a:spcBef>
                <a:spcPts val="0"/>
              </a:spcBef>
              <a:spcAft>
                <a:spcPts val="0"/>
              </a:spcAft>
              <a:buClr>
                <a:schemeClr val="dk1"/>
              </a:buClr>
              <a:buSzPts val="675"/>
              <a:buFont typeface="Times New Roman"/>
              <a:buNone/>
              <a:defRPr sz="868" b="0" i="0" u="none" strike="noStrike" cap="none">
                <a:solidFill>
                  <a:schemeClr val="dk1"/>
                </a:solidFill>
                <a:latin typeface="Times New Roman"/>
                <a:ea typeface="Times New Roman"/>
                <a:cs typeface="Times New Roman"/>
                <a:sym typeface="Times New Roman"/>
              </a:defRPr>
            </a:lvl5pPr>
            <a:lvl6pPr marL="2644719" marR="0" lvl="5" indent="-220393" algn="l" rtl="0">
              <a:lnSpc>
                <a:spcPct val="100000"/>
              </a:lnSpc>
              <a:spcBef>
                <a:spcPts val="0"/>
              </a:spcBef>
              <a:spcAft>
                <a:spcPts val="0"/>
              </a:spcAft>
              <a:buClr>
                <a:schemeClr val="dk1"/>
              </a:buClr>
              <a:buSzPts val="675"/>
              <a:buFont typeface="Times New Roman"/>
              <a:buNone/>
              <a:defRPr sz="868" b="0" i="0" u="none" strike="noStrike" cap="none">
                <a:solidFill>
                  <a:schemeClr val="dk1"/>
                </a:solidFill>
                <a:latin typeface="Times New Roman"/>
                <a:ea typeface="Times New Roman"/>
                <a:cs typeface="Times New Roman"/>
                <a:sym typeface="Times New Roman"/>
              </a:defRPr>
            </a:lvl6pPr>
            <a:lvl7pPr marL="3085506" marR="0" lvl="6" indent="-220393" algn="l" rtl="0">
              <a:lnSpc>
                <a:spcPct val="100000"/>
              </a:lnSpc>
              <a:spcBef>
                <a:spcPts val="0"/>
              </a:spcBef>
              <a:spcAft>
                <a:spcPts val="0"/>
              </a:spcAft>
              <a:buClr>
                <a:schemeClr val="dk1"/>
              </a:buClr>
              <a:buSzPts val="675"/>
              <a:buFont typeface="Times New Roman"/>
              <a:buNone/>
              <a:defRPr sz="868" b="0" i="0" u="none" strike="noStrike" cap="none">
                <a:solidFill>
                  <a:schemeClr val="dk1"/>
                </a:solidFill>
                <a:latin typeface="Times New Roman"/>
                <a:ea typeface="Times New Roman"/>
                <a:cs typeface="Times New Roman"/>
                <a:sym typeface="Times New Roman"/>
              </a:defRPr>
            </a:lvl7pPr>
            <a:lvl8pPr marL="3526292" marR="0" lvl="7" indent="-220393" algn="l" rtl="0">
              <a:lnSpc>
                <a:spcPct val="100000"/>
              </a:lnSpc>
              <a:spcBef>
                <a:spcPts val="0"/>
              </a:spcBef>
              <a:spcAft>
                <a:spcPts val="0"/>
              </a:spcAft>
              <a:buClr>
                <a:schemeClr val="dk1"/>
              </a:buClr>
              <a:buSzPts val="675"/>
              <a:buFont typeface="Times New Roman"/>
              <a:buNone/>
              <a:defRPr sz="868" b="0" i="0" u="none" strike="noStrike" cap="none">
                <a:solidFill>
                  <a:schemeClr val="dk1"/>
                </a:solidFill>
                <a:latin typeface="Times New Roman"/>
                <a:ea typeface="Times New Roman"/>
                <a:cs typeface="Times New Roman"/>
                <a:sym typeface="Times New Roman"/>
              </a:defRPr>
            </a:lvl8pPr>
            <a:lvl9pPr marL="3967079" marR="0" lvl="8" indent="-220393" algn="l" rtl="0">
              <a:lnSpc>
                <a:spcPct val="100000"/>
              </a:lnSpc>
              <a:spcBef>
                <a:spcPts val="0"/>
              </a:spcBef>
              <a:spcAft>
                <a:spcPts val="0"/>
              </a:spcAft>
              <a:buClr>
                <a:schemeClr val="dk1"/>
              </a:buClr>
              <a:buSzPts val="675"/>
              <a:buFont typeface="Times New Roman"/>
              <a:buNone/>
              <a:defRPr sz="868" b="0" i="0" u="none" strike="noStrike" cap="none">
                <a:solidFill>
                  <a:schemeClr val="dk1"/>
                </a:solidFill>
                <a:latin typeface="Times New Roman"/>
                <a:ea typeface="Times New Roman"/>
                <a:cs typeface="Times New Roman"/>
                <a:sym typeface="Times New Roman"/>
              </a:defRPr>
            </a:lvl9pPr>
          </a:lstStyle>
          <a:p>
            <a:endParaRPr/>
          </a:p>
        </p:txBody>
      </p:sp>
      <p:sp>
        <p:nvSpPr>
          <p:cNvPr id="18" name="Google Shape;18;p8"/>
          <p:cNvSpPr/>
          <p:nvPr/>
        </p:nvSpPr>
        <p:spPr>
          <a:xfrm>
            <a:off x="16328" y="6165523"/>
            <a:ext cx="502044" cy="236776"/>
          </a:xfrm>
          <a:prstGeom prst="rect">
            <a:avLst/>
          </a:prstGeom>
          <a:noFill/>
          <a:ln>
            <a:noFill/>
          </a:ln>
        </p:spPr>
        <p:txBody>
          <a:bodyPr spcFirstLastPara="1" wrap="square" lIns="88143" tIns="44059" rIns="88143" bIns="44059" anchor="b" anchorCtr="0">
            <a:spAutoFit/>
          </a:bodyPr>
          <a:lstStyle/>
          <a:p>
            <a:pPr marL="0" marR="0" lvl="0" indent="0" algn="ctr" rtl="0">
              <a:lnSpc>
                <a:spcPct val="83333"/>
              </a:lnSpc>
              <a:spcBef>
                <a:spcPts val="0"/>
              </a:spcBef>
              <a:spcAft>
                <a:spcPts val="0"/>
              </a:spcAft>
              <a:buClr>
                <a:srgbClr val="000000"/>
              </a:buClr>
              <a:buSzPts val="1200"/>
              <a:buFont typeface="Arial"/>
              <a:buNone/>
            </a:pPr>
            <a:fld id="{00000000-1234-1234-1234-123412341234}" type="slidenum">
              <a:rPr lang="en-US" altLang="zh-TW" sz="1157" b="0" i="0" u="none" strike="noStrike" cap="none">
                <a:solidFill>
                  <a:schemeClr val="dk1"/>
                </a:solidFill>
                <a:latin typeface="Arial"/>
                <a:ea typeface="Arial"/>
                <a:cs typeface="Arial"/>
                <a:sym typeface="Arial"/>
              </a:rPr>
              <a:pPr marL="0" marR="0" lvl="0" indent="0" algn="ctr" rtl="0">
                <a:lnSpc>
                  <a:spcPct val="83333"/>
                </a:lnSpc>
                <a:spcBef>
                  <a:spcPts val="0"/>
                </a:spcBef>
                <a:spcAft>
                  <a:spcPts val="0"/>
                </a:spcAft>
                <a:buClr>
                  <a:srgbClr val="000000"/>
                </a:buClr>
                <a:buSzPts val="1200"/>
                <a:buFont typeface="Arial"/>
                <a:buNone/>
              </a:pPr>
              <a:t>‹#›</a:t>
            </a:fld>
            <a:endParaRPr sz="1157" b="0" i="0" u="none" strike="noStrike" cap="none">
              <a:solidFill>
                <a:schemeClr val="dk1"/>
              </a:solidFill>
              <a:latin typeface="Arial"/>
              <a:ea typeface="Arial"/>
              <a:cs typeface="Arial"/>
              <a:sym typeface="Arial"/>
            </a:endParaRPr>
          </a:p>
        </p:txBody>
      </p:sp>
      <p:pic>
        <p:nvPicPr>
          <p:cNvPr id="19" name="Google Shape;19;p8"/>
          <p:cNvPicPr preferRelativeResize="0"/>
          <p:nvPr/>
        </p:nvPicPr>
        <p:blipFill rotWithShape="1">
          <a:blip r:embed="rId2">
            <a:alphaModFix/>
          </a:blip>
          <a:srcRect/>
          <a:stretch/>
        </p:blipFill>
        <p:spPr>
          <a:xfrm>
            <a:off x="456361" y="287493"/>
            <a:ext cx="2063977" cy="566162"/>
          </a:xfrm>
          <a:prstGeom prst="rect">
            <a:avLst/>
          </a:prstGeom>
          <a:noFill/>
          <a:ln>
            <a:noFill/>
          </a:ln>
        </p:spPr>
      </p:pic>
    </p:spTree>
    <p:extLst>
      <p:ext uri="{BB962C8B-B14F-4D97-AF65-F5344CB8AC3E}">
        <p14:creationId xmlns:p14="http://schemas.microsoft.com/office/powerpoint/2010/main" val="1527292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標題及物件">
  <p:cSld name="標題及物件">
    <p:spTree>
      <p:nvGrpSpPr>
        <p:cNvPr id="1" name="Shape 20"/>
        <p:cNvGrpSpPr/>
        <p:nvPr/>
      </p:nvGrpSpPr>
      <p:grpSpPr>
        <a:xfrm>
          <a:off x="0" y="0"/>
          <a:ext cx="0" cy="0"/>
          <a:chOff x="0" y="0"/>
          <a:chExt cx="0" cy="0"/>
        </a:xfrm>
      </p:grpSpPr>
      <p:sp>
        <p:nvSpPr>
          <p:cNvPr id="21" name="Google Shape;21;p9"/>
          <p:cNvSpPr txBox="1">
            <a:spLocks noGrp="1"/>
          </p:cNvSpPr>
          <p:nvPr>
            <p:ph type="title"/>
          </p:nvPr>
        </p:nvSpPr>
        <p:spPr>
          <a:xfrm>
            <a:off x="345742" y="142608"/>
            <a:ext cx="10717960" cy="600229"/>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3085" b="1" i="0" u="none" strike="noStrike" cap="none">
                <a:solidFill>
                  <a:schemeClr val="dk1"/>
                </a:solidFill>
                <a:latin typeface="Microsoft JhengHei"/>
                <a:ea typeface="Microsoft JhengHei"/>
                <a:cs typeface="Microsoft JhengHei"/>
                <a:sym typeface="Microsoft JhengHei"/>
              </a:defRPr>
            </a:lvl1pPr>
            <a:lvl2pPr marR="0" lvl="1" algn="l" rtl="0">
              <a:lnSpc>
                <a:spcPct val="100000"/>
              </a:lnSpc>
              <a:spcBef>
                <a:spcPts val="0"/>
              </a:spcBef>
              <a:spcAft>
                <a:spcPts val="0"/>
              </a:spcAft>
              <a:buClr>
                <a:srgbClr val="000000"/>
              </a:buClr>
              <a:buSzPts val="1400"/>
              <a:buFont typeface="Arial"/>
              <a:buNone/>
              <a:defRPr sz="1832" b="1"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32" b="1"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32" b="1"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32" b="1"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32" b="1"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32" b="1"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32" b="1"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32" b="1" i="0" u="none" strike="noStrike" cap="none">
                <a:solidFill>
                  <a:schemeClr val="dk2"/>
                </a:solidFill>
                <a:latin typeface="Arial"/>
                <a:ea typeface="Arial"/>
                <a:cs typeface="Arial"/>
                <a:sym typeface="Arial"/>
              </a:defRPr>
            </a:lvl9pPr>
          </a:lstStyle>
          <a:p>
            <a:endParaRPr/>
          </a:p>
        </p:txBody>
      </p:sp>
      <p:sp>
        <p:nvSpPr>
          <p:cNvPr id="22" name="Google Shape;22;p9"/>
          <p:cNvSpPr txBox="1">
            <a:spLocks noGrp="1"/>
          </p:cNvSpPr>
          <p:nvPr>
            <p:ph type="body" idx="1"/>
          </p:nvPr>
        </p:nvSpPr>
        <p:spPr>
          <a:xfrm>
            <a:off x="383676" y="857085"/>
            <a:ext cx="10712319" cy="5173120"/>
          </a:xfrm>
          <a:prstGeom prst="rect">
            <a:avLst/>
          </a:prstGeom>
          <a:noFill/>
          <a:ln>
            <a:noFill/>
          </a:ln>
        </p:spPr>
        <p:txBody>
          <a:bodyPr spcFirstLastPara="1" wrap="square" lIns="91425" tIns="45700" rIns="91425" bIns="45700" anchor="t" anchorCtr="0">
            <a:noAutofit/>
          </a:bodyPr>
          <a:lstStyle>
            <a:lvl1pPr marL="440787" marR="0" lvl="0" indent="-220393" algn="l" rtl="0">
              <a:lnSpc>
                <a:spcPct val="100000"/>
              </a:lnSpc>
              <a:spcBef>
                <a:spcPts val="0"/>
              </a:spcBef>
              <a:spcAft>
                <a:spcPts val="0"/>
              </a:spcAft>
              <a:buClr>
                <a:srgbClr val="000000"/>
              </a:buClr>
              <a:buSzPts val="1400"/>
              <a:buFont typeface="Arial"/>
              <a:buNone/>
              <a:defRPr sz="2314" b="0" i="0" u="none" strike="noStrike" cap="none">
                <a:solidFill>
                  <a:schemeClr val="dk1"/>
                </a:solidFill>
                <a:latin typeface="Microsoft JhengHei"/>
                <a:ea typeface="Microsoft JhengHei"/>
                <a:cs typeface="Microsoft JhengHei"/>
                <a:sym typeface="Microsoft JhengHei"/>
              </a:defRPr>
            </a:lvl1pPr>
            <a:lvl2pPr marL="881573" marR="0" lvl="1" indent="-367322" algn="l" rtl="0">
              <a:lnSpc>
                <a:spcPct val="100000"/>
              </a:lnSpc>
              <a:spcBef>
                <a:spcPts val="578"/>
              </a:spcBef>
              <a:spcAft>
                <a:spcPts val="0"/>
              </a:spcAft>
              <a:buClr>
                <a:schemeClr val="dk1"/>
              </a:buClr>
              <a:buSzPts val="2400"/>
              <a:buFont typeface="Noto Sans Symbols"/>
              <a:buChar char="■"/>
              <a:defRPr sz="1928" b="0" i="0" u="none" strike="noStrike" cap="none">
                <a:solidFill>
                  <a:schemeClr val="dk1"/>
                </a:solidFill>
                <a:latin typeface="Microsoft JhengHei"/>
                <a:ea typeface="Microsoft JhengHei"/>
                <a:cs typeface="Microsoft JhengHei"/>
                <a:sym typeface="Microsoft JhengHei"/>
              </a:defRPr>
            </a:lvl2pPr>
            <a:lvl3pPr marL="1322360" marR="0" lvl="2" indent="-330590" algn="l" rtl="0">
              <a:lnSpc>
                <a:spcPct val="100000"/>
              </a:lnSpc>
              <a:spcBef>
                <a:spcPts val="578"/>
              </a:spcBef>
              <a:spcAft>
                <a:spcPts val="0"/>
              </a:spcAft>
              <a:buClr>
                <a:schemeClr val="dk1"/>
              </a:buClr>
              <a:buSzPts val="1800"/>
              <a:buFont typeface="Noto Sans Symbols"/>
              <a:buChar char="●"/>
              <a:defRPr sz="1735" b="0" i="0" u="none" strike="noStrike" cap="none">
                <a:solidFill>
                  <a:schemeClr val="dk1"/>
                </a:solidFill>
                <a:latin typeface="Microsoft JhengHei"/>
                <a:ea typeface="Microsoft JhengHei"/>
                <a:cs typeface="Microsoft JhengHei"/>
                <a:sym typeface="Microsoft JhengHei"/>
              </a:defRPr>
            </a:lvl3pPr>
            <a:lvl4pPr marL="1763146" marR="0" lvl="3" indent="-307571" algn="l" rtl="0">
              <a:lnSpc>
                <a:spcPct val="100000"/>
              </a:lnSpc>
              <a:spcBef>
                <a:spcPts val="578"/>
              </a:spcBef>
              <a:spcAft>
                <a:spcPts val="0"/>
              </a:spcAft>
              <a:buClr>
                <a:schemeClr val="dk1"/>
              </a:buClr>
              <a:buSzPts val="1424"/>
              <a:buFont typeface="Noto Sans Symbols"/>
              <a:buChar char="◆"/>
              <a:defRPr sz="1543" b="0" i="0" u="none" strike="noStrike" cap="none">
                <a:solidFill>
                  <a:schemeClr val="dk1"/>
                </a:solidFill>
                <a:latin typeface="Microsoft JhengHei"/>
                <a:ea typeface="Microsoft JhengHei"/>
                <a:cs typeface="Microsoft JhengHei"/>
                <a:sym typeface="Microsoft JhengHei"/>
              </a:defRPr>
            </a:lvl4pPr>
            <a:lvl5pPr marL="2203933" marR="0" lvl="4" indent="-284675" algn="l" rtl="0">
              <a:lnSpc>
                <a:spcPct val="100000"/>
              </a:lnSpc>
              <a:spcBef>
                <a:spcPts val="578"/>
              </a:spcBef>
              <a:spcAft>
                <a:spcPts val="0"/>
              </a:spcAft>
              <a:buClr>
                <a:schemeClr val="dk1"/>
              </a:buClr>
              <a:buSzPts val="1050"/>
              <a:buFont typeface="Arial"/>
              <a:buChar char="•"/>
              <a:defRPr sz="1350" b="0" i="0" u="none" strike="noStrike" cap="none">
                <a:solidFill>
                  <a:schemeClr val="dk1"/>
                </a:solidFill>
                <a:latin typeface="Microsoft JhengHei"/>
                <a:ea typeface="Microsoft JhengHei"/>
                <a:cs typeface="Microsoft JhengHei"/>
                <a:sym typeface="Microsoft JhengHei"/>
              </a:defRPr>
            </a:lvl5pPr>
            <a:lvl6pPr marL="2644719" marR="0" lvl="5" indent="-293858" algn="l" rtl="0">
              <a:lnSpc>
                <a:spcPct val="100000"/>
              </a:lnSpc>
              <a:spcBef>
                <a:spcPts val="578"/>
              </a:spcBef>
              <a:spcAft>
                <a:spcPts val="0"/>
              </a:spcAft>
              <a:buClr>
                <a:schemeClr val="dk1"/>
              </a:buClr>
              <a:buSzPts val="1200"/>
              <a:buFont typeface="Times New Roman"/>
              <a:buChar char="–"/>
              <a:defRPr sz="1543" b="0" i="0" u="none" strike="noStrike" cap="none">
                <a:solidFill>
                  <a:schemeClr val="dk1"/>
                </a:solidFill>
                <a:latin typeface="Times New Roman"/>
                <a:ea typeface="Times New Roman"/>
                <a:cs typeface="Times New Roman"/>
                <a:sym typeface="Times New Roman"/>
              </a:defRPr>
            </a:lvl6pPr>
            <a:lvl7pPr marL="3085506" marR="0" lvl="6" indent="-293858" algn="l" rtl="0">
              <a:lnSpc>
                <a:spcPct val="100000"/>
              </a:lnSpc>
              <a:spcBef>
                <a:spcPts val="0"/>
              </a:spcBef>
              <a:spcAft>
                <a:spcPts val="0"/>
              </a:spcAft>
              <a:buClr>
                <a:schemeClr val="dk1"/>
              </a:buClr>
              <a:buSzPts val="1200"/>
              <a:buFont typeface="Times New Roman"/>
              <a:buChar char="–"/>
              <a:defRPr sz="1543" b="0" i="0" u="none" strike="noStrike" cap="none">
                <a:solidFill>
                  <a:schemeClr val="dk1"/>
                </a:solidFill>
                <a:latin typeface="Times New Roman"/>
                <a:ea typeface="Times New Roman"/>
                <a:cs typeface="Times New Roman"/>
                <a:sym typeface="Times New Roman"/>
              </a:defRPr>
            </a:lvl7pPr>
            <a:lvl8pPr marL="3526292" marR="0" lvl="7" indent="-293858" algn="l" rtl="0">
              <a:lnSpc>
                <a:spcPct val="100000"/>
              </a:lnSpc>
              <a:spcBef>
                <a:spcPts val="0"/>
              </a:spcBef>
              <a:spcAft>
                <a:spcPts val="0"/>
              </a:spcAft>
              <a:buClr>
                <a:schemeClr val="dk1"/>
              </a:buClr>
              <a:buSzPts val="1200"/>
              <a:buFont typeface="Times New Roman"/>
              <a:buChar char="–"/>
              <a:defRPr sz="1543" b="0" i="0" u="none" strike="noStrike" cap="none">
                <a:solidFill>
                  <a:schemeClr val="dk1"/>
                </a:solidFill>
                <a:latin typeface="Times New Roman"/>
                <a:ea typeface="Times New Roman"/>
                <a:cs typeface="Times New Roman"/>
                <a:sym typeface="Times New Roman"/>
              </a:defRPr>
            </a:lvl8pPr>
            <a:lvl9pPr marL="3967079" marR="0" lvl="8" indent="-293858" algn="l" rtl="0">
              <a:lnSpc>
                <a:spcPct val="100000"/>
              </a:lnSpc>
              <a:spcBef>
                <a:spcPts val="0"/>
              </a:spcBef>
              <a:spcAft>
                <a:spcPts val="0"/>
              </a:spcAft>
              <a:buClr>
                <a:schemeClr val="dk1"/>
              </a:buClr>
              <a:buSzPts val="1200"/>
              <a:buFont typeface="Times New Roman"/>
              <a:buChar char="–"/>
              <a:defRPr sz="1543" b="0" i="0" u="none" strike="noStrike" cap="none">
                <a:solidFill>
                  <a:schemeClr val="dk1"/>
                </a:solidFill>
                <a:latin typeface="Times New Roman"/>
                <a:ea typeface="Times New Roman"/>
                <a:cs typeface="Times New Roman"/>
                <a:sym typeface="Times New Roman"/>
              </a:defRPr>
            </a:lvl9pPr>
          </a:lstStyle>
          <a:p>
            <a:endParaRPr/>
          </a:p>
        </p:txBody>
      </p:sp>
    </p:spTree>
    <p:extLst>
      <p:ext uri="{BB962C8B-B14F-4D97-AF65-F5344CB8AC3E}">
        <p14:creationId xmlns:p14="http://schemas.microsoft.com/office/powerpoint/2010/main" val="28615890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只有標題">
  <p:cSld name="只有標題">
    <p:spTree>
      <p:nvGrpSpPr>
        <p:cNvPr id="1" name="Shape 27"/>
        <p:cNvGrpSpPr/>
        <p:nvPr/>
      </p:nvGrpSpPr>
      <p:grpSpPr>
        <a:xfrm>
          <a:off x="0" y="0"/>
          <a:ext cx="0" cy="0"/>
          <a:chOff x="0" y="0"/>
          <a:chExt cx="0" cy="0"/>
        </a:xfrm>
      </p:grpSpPr>
      <p:sp>
        <p:nvSpPr>
          <p:cNvPr id="28" name="Google Shape;28;p10"/>
          <p:cNvSpPr txBox="1">
            <a:spLocks noGrp="1"/>
          </p:cNvSpPr>
          <p:nvPr>
            <p:ph type="title"/>
          </p:nvPr>
        </p:nvSpPr>
        <p:spPr>
          <a:xfrm>
            <a:off x="345742" y="142608"/>
            <a:ext cx="10717960" cy="600229"/>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3085" b="1" i="0" u="none" strike="noStrike" cap="none">
                <a:solidFill>
                  <a:schemeClr val="dk1"/>
                </a:solidFill>
                <a:latin typeface="Microsoft JhengHei"/>
                <a:ea typeface="Microsoft JhengHei"/>
                <a:cs typeface="Microsoft JhengHei"/>
                <a:sym typeface="Microsoft JhengHei"/>
              </a:defRPr>
            </a:lvl1pPr>
            <a:lvl2pPr marR="0" lvl="1" algn="l" rtl="0">
              <a:lnSpc>
                <a:spcPct val="100000"/>
              </a:lnSpc>
              <a:spcBef>
                <a:spcPts val="0"/>
              </a:spcBef>
              <a:spcAft>
                <a:spcPts val="0"/>
              </a:spcAft>
              <a:buClr>
                <a:srgbClr val="000000"/>
              </a:buClr>
              <a:buSzPts val="1400"/>
              <a:buFont typeface="Arial"/>
              <a:buNone/>
              <a:defRPr sz="1832" b="1"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32" b="1"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32" b="1"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32" b="1"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32" b="1"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32" b="1"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32" b="1"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32" b="1" i="0" u="none" strike="noStrike" cap="none">
                <a:solidFill>
                  <a:schemeClr val="dk2"/>
                </a:solidFill>
                <a:latin typeface="Arial"/>
                <a:ea typeface="Arial"/>
                <a:cs typeface="Arial"/>
                <a:sym typeface="Arial"/>
              </a:defRPr>
            </a:lvl9pPr>
          </a:lstStyle>
          <a:p>
            <a:endParaRPr/>
          </a:p>
        </p:txBody>
      </p:sp>
    </p:spTree>
    <p:extLst>
      <p:ext uri="{BB962C8B-B14F-4D97-AF65-F5344CB8AC3E}">
        <p14:creationId xmlns:p14="http://schemas.microsoft.com/office/powerpoint/2010/main" val="1052031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9.xml"/><Relationship Id="rId7"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5" Type="http://schemas.openxmlformats.org/officeDocument/2006/relationships/slideLayout" Target="../slideLayouts/slideLayout11.xml"/><Relationship Id="rId10" Type="http://schemas.openxmlformats.org/officeDocument/2006/relationships/image" Target="../media/image4.svg"/><Relationship Id="rId4" Type="http://schemas.openxmlformats.org/officeDocument/2006/relationships/slideLayout" Target="../slideLayouts/slideLayout10.xml"/><Relationship Id="rId9"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3" name="圖片 2">
            <a:extLst>
              <a:ext uri="{FF2B5EF4-FFF2-40B4-BE49-F238E27FC236}">
                <a16:creationId xmlns:a16="http://schemas.microsoft.com/office/drawing/2014/main" id="{631D3636-C8D9-A34B-A3BF-045464A9529C}"/>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0" y="5994000"/>
            <a:ext cx="4406303" cy="705606"/>
          </a:xfrm>
          <a:prstGeom prst="rect">
            <a:avLst/>
          </a:prstGeom>
        </p:spPr>
      </p:pic>
      <p:sp>
        <p:nvSpPr>
          <p:cNvPr id="6" name="Google Shape;6;p31"/>
          <p:cNvSpPr/>
          <p:nvPr/>
        </p:nvSpPr>
        <p:spPr>
          <a:xfrm>
            <a:off x="0" y="6237968"/>
            <a:ext cx="381603" cy="242207"/>
          </a:xfrm>
          <a:prstGeom prst="rect">
            <a:avLst/>
          </a:prstGeom>
          <a:noFill/>
          <a:ln>
            <a:noFill/>
          </a:ln>
        </p:spPr>
        <p:txBody>
          <a:bodyPr spcFirstLastPara="1" wrap="none" lIns="88150" tIns="44050" rIns="88150" bIns="44050" anchor="b" anchorCtr="0">
            <a:spAutoFit/>
          </a:bodyPr>
          <a:lstStyle/>
          <a:p>
            <a:pPr marL="0" marR="0" lvl="0" indent="0" algn="ctr" rtl="0">
              <a:lnSpc>
                <a:spcPct val="83333"/>
              </a:lnSpc>
              <a:spcBef>
                <a:spcPts val="0"/>
              </a:spcBef>
              <a:spcAft>
                <a:spcPts val="0"/>
              </a:spcAft>
              <a:buClr>
                <a:srgbClr val="000000"/>
              </a:buClr>
              <a:buSzPts val="1200"/>
              <a:buFont typeface="Arial"/>
              <a:buNone/>
            </a:pPr>
            <a:fld id="{00000000-1234-1234-1234-123412341234}" type="slidenum">
              <a:rPr lang="en-US" altLang="zh-TW" sz="1200" b="0" i="0" u="none" strike="noStrike" cap="none" smtClean="0">
                <a:solidFill>
                  <a:schemeClr val="dk1"/>
                </a:solidFill>
                <a:latin typeface="Microsoft JhengHei" panose="020B0604030504040204" pitchFamily="34" charset="-120"/>
                <a:ea typeface="Microsoft JhengHei" panose="020B0604030504040204" pitchFamily="34" charset="-120"/>
                <a:cs typeface="Arial"/>
                <a:sym typeface="Arial"/>
              </a:rPr>
              <a:pPr marL="0" marR="0" lvl="0" indent="0" algn="ctr" rtl="0">
                <a:lnSpc>
                  <a:spcPct val="83333"/>
                </a:lnSpc>
                <a:spcBef>
                  <a:spcPts val="0"/>
                </a:spcBef>
                <a:spcAft>
                  <a:spcPts val="0"/>
                </a:spcAft>
                <a:buClr>
                  <a:srgbClr val="000000"/>
                </a:buClr>
                <a:buSzPts val="1200"/>
                <a:buFont typeface="Arial"/>
                <a:buNone/>
              </a:pPr>
              <a:t>‹#›</a:t>
            </a:fld>
            <a:endParaRPr sz="1200" b="0" i="0" u="none" strike="noStrike" cap="none">
              <a:solidFill>
                <a:schemeClr val="dk1"/>
              </a:solidFill>
              <a:latin typeface="Microsoft JhengHei" panose="020B0604030504040204" pitchFamily="34" charset="-120"/>
              <a:ea typeface="Microsoft JhengHei" panose="020B0604030504040204" pitchFamily="34" charset="-120"/>
              <a:cs typeface="Arial"/>
              <a:sym typeface="Arial"/>
            </a:endParaRPr>
          </a:p>
        </p:txBody>
      </p:sp>
      <p:pic>
        <p:nvPicPr>
          <p:cNvPr id="4" name="圖片 3">
            <a:extLst>
              <a:ext uri="{FF2B5EF4-FFF2-40B4-BE49-F238E27FC236}">
                <a16:creationId xmlns:a16="http://schemas.microsoft.com/office/drawing/2014/main" id="{2D86D7F2-4668-134E-BDFC-689955836914}"/>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9000000" y="6156000"/>
            <a:ext cx="2462731" cy="291229"/>
          </a:xfrm>
          <a:prstGeom prst="rect">
            <a:avLst/>
          </a:prstGeom>
        </p:spPr>
      </p:pic>
      <p:sp>
        <p:nvSpPr>
          <p:cNvPr id="5" name="矩形 4">
            <a:extLst>
              <a:ext uri="{FF2B5EF4-FFF2-40B4-BE49-F238E27FC236}">
                <a16:creationId xmlns:a16="http://schemas.microsoft.com/office/drawing/2014/main" id="{F2DBFD30-7CBC-FF44-A3CD-E1370C8D3C26}"/>
              </a:ext>
            </a:extLst>
          </p:cNvPr>
          <p:cNvSpPr>
            <a:spLocks noChangeArrowheads="1"/>
          </p:cNvSpPr>
          <p:nvPr userDrawn="1"/>
        </p:nvSpPr>
        <p:spPr bwMode="auto">
          <a:xfrm>
            <a:off x="7362000" y="6228000"/>
            <a:ext cx="1636426" cy="20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6400" tIns="43200" rIns="86400" bIns="43200" anchor="ctr">
            <a:spAutoFit/>
          </a:bodyPr>
          <a:lstStyle>
            <a:defPPr>
              <a:defRPr lang="en-US"/>
            </a:defPPr>
            <a:lvl1pPr algn="l" rtl="0" eaLnBrk="0" fontAlgn="base" hangingPunct="0">
              <a:spcBef>
                <a:spcPct val="0"/>
              </a:spcBef>
              <a:spcAft>
                <a:spcPct val="0"/>
              </a:spcAft>
              <a:defRPr sz="4000" b="1" kern="1200">
                <a:solidFill>
                  <a:schemeClr val="tx1"/>
                </a:solidFill>
                <a:latin typeface="Arial" panose="020B0604020202020204" pitchFamily="34" charset="0"/>
                <a:ea typeface="华文楷体" panose="02010600040101010101" pitchFamily="2" charset="-122"/>
                <a:cs typeface="+mn-cs"/>
              </a:defRPr>
            </a:lvl1pPr>
            <a:lvl2pPr marL="457200" algn="l" rtl="0" eaLnBrk="0" fontAlgn="base" hangingPunct="0">
              <a:spcBef>
                <a:spcPct val="0"/>
              </a:spcBef>
              <a:spcAft>
                <a:spcPct val="0"/>
              </a:spcAft>
              <a:defRPr sz="4000" b="1" kern="1200">
                <a:solidFill>
                  <a:schemeClr val="tx1"/>
                </a:solidFill>
                <a:latin typeface="Arial" panose="020B0604020202020204" pitchFamily="34" charset="0"/>
                <a:ea typeface="华文楷体" panose="02010600040101010101" pitchFamily="2" charset="-122"/>
                <a:cs typeface="+mn-cs"/>
              </a:defRPr>
            </a:lvl2pPr>
            <a:lvl3pPr marL="914400" algn="l" rtl="0" eaLnBrk="0" fontAlgn="base" hangingPunct="0">
              <a:spcBef>
                <a:spcPct val="0"/>
              </a:spcBef>
              <a:spcAft>
                <a:spcPct val="0"/>
              </a:spcAft>
              <a:defRPr sz="4000" b="1" kern="1200">
                <a:solidFill>
                  <a:schemeClr val="tx1"/>
                </a:solidFill>
                <a:latin typeface="Arial" panose="020B0604020202020204" pitchFamily="34" charset="0"/>
                <a:ea typeface="华文楷体" panose="02010600040101010101" pitchFamily="2" charset="-122"/>
                <a:cs typeface="+mn-cs"/>
              </a:defRPr>
            </a:lvl3pPr>
            <a:lvl4pPr marL="1371600" algn="l" rtl="0" eaLnBrk="0" fontAlgn="base" hangingPunct="0">
              <a:spcBef>
                <a:spcPct val="0"/>
              </a:spcBef>
              <a:spcAft>
                <a:spcPct val="0"/>
              </a:spcAft>
              <a:defRPr sz="4000" b="1" kern="1200">
                <a:solidFill>
                  <a:schemeClr val="tx1"/>
                </a:solidFill>
                <a:latin typeface="Arial" panose="020B0604020202020204" pitchFamily="34" charset="0"/>
                <a:ea typeface="华文楷体" panose="02010600040101010101" pitchFamily="2" charset="-122"/>
                <a:cs typeface="+mn-cs"/>
              </a:defRPr>
            </a:lvl4pPr>
            <a:lvl5pPr marL="1828800" algn="l" rtl="0" eaLnBrk="0" fontAlgn="base" hangingPunct="0">
              <a:spcBef>
                <a:spcPct val="0"/>
              </a:spcBef>
              <a:spcAft>
                <a:spcPct val="0"/>
              </a:spcAft>
              <a:defRPr sz="4000" b="1" kern="1200">
                <a:solidFill>
                  <a:schemeClr val="tx1"/>
                </a:solidFill>
                <a:latin typeface="Arial" panose="020B0604020202020204" pitchFamily="34" charset="0"/>
                <a:ea typeface="华文楷体" panose="02010600040101010101" pitchFamily="2" charset="-122"/>
                <a:cs typeface="+mn-cs"/>
              </a:defRPr>
            </a:lvl5pPr>
            <a:lvl6pPr marL="2286000" algn="l" defTabSz="914400" rtl="0" eaLnBrk="1" latinLnBrk="0" hangingPunct="1">
              <a:defRPr sz="4000" b="1" kern="1200">
                <a:solidFill>
                  <a:schemeClr val="tx1"/>
                </a:solidFill>
                <a:latin typeface="Arial" panose="020B0604020202020204" pitchFamily="34" charset="0"/>
                <a:ea typeface="华文楷体" panose="02010600040101010101" pitchFamily="2" charset="-122"/>
                <a:cs typeface="+mn-cs"/>
              </a:defRPr>
            </a:lvl6pPr>
            <a:lvl7pPr marL="2743200" algn="l" defTabSz="914400" rtl="0" eaLnBrk="1" latinLnBrk="0" hangingPunct="1">
              <a:defRPr sz="4000" b="1" kern="1200">
                <a:solidFill>
                  <a:schemeClr val="tx1"/>
                </a:solidFill>
                <a:latin typeface="Arial" panose="020B0604020202020204" pitchFamily="34" charset="0"/>
                <a:ea typeface="华文楷体" panose="02010600040101010101" pitchFamily="2" charset="-122"/>
                <a:cs typeface="+mn-cs"/>
              </a:defRPr>
            </a:lvl7pPr>
            <a:lvl8pPr marL="3200400" algn="l" defTabSz="914400" rtl="0" eaLnBrk="1" latinLnBrk="0" hangingPunct="1">
              <a:defRPr sz="4000" b="1" kern="1200">
                <a:solidFill>
                  <a:schemeClr val="tx1"/>
                </a:solidFill>
                <a:latin typeface="Arial" panose="020B0604020202020204" pitchFamily="34" charset="0"/>
                <a:ea typeface="华文楷体" panose="02010600040101010101" pitchFamily="2" charset="-122"/>
                <a:cs typeface="+mn-cs"/>
              </a:defRPr>
            </a:lvl8pPr>
            <a:lvl9pPr marL="3657600" algn="l" defTabSz="914400" rtl="0" eaLnBrk="1" latinLnBrk="0" hangingPunct="1">
              <a:defRPr sz="4000" b="1" kern="1200">
                <a:solidFill>
                  <a:schemeClr val="tx1"/>
                </a:solidFill>
                <a:latin typeface="Arial" panose="020B0604020202020204" pitchFamily="34" charset="0"/>
                <a:ea typeface="华文楷体" panose="02010600040101010101" pitchFamily="2" charset="-122"/>
                <a:cs typeface="+mn-cs"/>
              </a:defRPr>
            </a:lvl9pPr>
          </a:lstStyle>
          <a:p>
            <a:pPr algn="ctr" eaLnBrk="1" hangingPunct="1">
              <a:lnSpc>
                <a:spcPts val="964"/>
              </a:lnSpc>
              <a:defRPr/>
            </a:pPr>
            <a:r>
              <a:rPr lang="zh-TW" altLang="en-US" sz="800" b="0">
                <a:solidFill>
                  <a:srgbClr val="B2B2B2"/>
                </a:solidFill>
                <a:latin typeface="微軟正黑體" panose="020B0604030504040204" pitchFamily="34" charset="-120"/>
                <a:ea typeface="微軟正黑體" panose="020B0604030504040204" pitchFamily="34" charset="-120"/>
              </a:rPr>
              <a:t>機密資料僅限永豐金控內部使用 </a:t>
            </a:r>
            <a:endParaRPr lang="en-US" altLang="zh-TW" sz="800" b="0">
              <a:solidFill>
                <a:srgbClr val="B2B2B2"/>
              </a:solidFill>
              <a:latin typeface="微軟正黑體" panose="020B0604030504040204" pitchFamily="34" charset="-120"/>
              <a:ea typeface="微軟正黑體" panose="020B0604030504040204" pitchFamily="34" charset="-120"/>
            </a:endParaRPr>
          </a:p>
        </p:txBody>
      </p:sp>
    </p:spTree>
  </p:cSld>
  <p:clrMap bg1="lt1" tx1="dk1" bg2="dk2" tx2="lt2" accent1="accent1" accent2="accent2" accent3="accent3" accent4="accent4" accent5="accent5" accent6="accent6" hlink="hlink" folHlink="folHlink"/>
  <p:sldLayoutIdLst>
    <p:sldLayoutId id="2147483651" r:id="rId1"/>
    <p:sldLayoutId id="2147483652" r:id="rId2"/>
    <p:sldLayoutId id="2147483658" r:id="rId3"/>
    <p:sldLayoutId id="2147483657" r:id="rId4"/>
    <p:sldLayoutId id="2147483649" r:id="rId5"/>
    <p:sldLayoutId id="2147483654"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041" userDrawn="1">
          <p15:clr>
            <a:srgbClr val="F26B43"/>
          </p15:clr>
        </p15:guide>
        <p15:guide id="2" pos="3697" userDrawn="1">
          <p15:clr>
            <a:srgbClr val="A4A3A4"/>
          </p15:clr>
        </p15:guide>
        <p15:guide id="3" pos="7144" userDrawn="1">
          <p15:clr>
            <a:srgbClr val="A4A3A4"/>
          </p15:clr>
        </p15:guide>
        <p15:guide id="4" pos="113" userDrawn="1">
          <p15:clr>
            <a:srgbClr val="A4A3A4"/>
          </p15:clr>
        </p15:guide>
        <p15:guide id="5" orient="horz" pos="3855" userDrawn="1">
          <p15:clr>
            <a:srgbClr val="A4A3A4"/>
          </p15:clr>
        </p15:guide>
        <p15:guide id="6" orient="horz" pos="45" userDrawn="1">
          <p15:clr>
            <a:srgbClr val="A4A3A4"/>
          </p15:clr>
        </p15:guide>
        <p15:guide id="11" pos="3629" userDrawn="1">
          <p15:clr>
            <a:srgbClr val="F26B43"/>
          </p15:clr>
        </p15:guide>
        <p15:guide id="12" pos="3560" userDrawn="1">
          <p15:clr>
            <a:srgbClr val="A4A3A4"/>
          </p15:clr>
        </p15:guide>
        <p15:guide id="13" pos="2495" userDrawn="1">
          <p15:clr>
            <a:srgbClr val="A4A3A4"/>
          </p15:clr>
        </p15:guide>
        <p15:guide id="14" pos="2381" userDrawn="1">
          <p15:clr>
            <a:srgbClr val="A4A3A4"/>
          </p15:clr>
        </p15:guide>
        <p15:guide id="15" pos="4762" userDrawn="1">
          <p15:clr>
            <a:srgbClr val="A4A3A4"/>
          </p15:clr>
        </p15:guide>
        <p15:guide id="16" pos="4876" userDrawn="1">
          <p15:clr>
            <a:srgbClr val="A4A3A4"/>
          </p15:clr>
        </p15:guide>
        <p15:guide id="18" orient="horz" pos="385" userDrawn="1">
          <p15:clr>
            <a:srgbClr val="A4A3A4"/>
          </p15:clr>
        </p15:guide>
        <p15:guide id="19" orient="horz" pos="453" userDrawn="1">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197"/>
          <p:cNvSpPr>
            <a:spLocks noChangeShapeType="1"/>
          </p:cNvSpPr>
          <p:nvPr userDrawn="1"/>
        </p:nvSpPr>
        <p:spPr bwMode="auto">
          <a:xfrm>
            <a:off x="293880" y="763724"/>
            <a:ext cx="10844973" cy="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zh-TW" altLang="en-US" sz="3856"/>
          </a:p>
        </p:txBody>
      </p:sp>
      <p:pic>
        <p:nvPicPr>
          <p:cNvPr id="7" name="圖片 6">
            <a:extLst>
              <a:ext uri="{FF2B5EF4-FFF2-40B4-BE49-F238E27FC236}">
                <a16:creationId xmlns:a16="http://schemas.microsoft.com/office/drawing/2014/main" id="{8FE1A3F2-7AC5-42CE-974C-877C71B75E76}"/>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t="-1" r="86301" b="-8895"/>
          <a:stretch/>
        </p:blipFill>
        <p:spPr>
          <a:xfrm>
            <a:off x="6562751" y="6141889"/>
            <a:ext cx="321684" cy="312734"/>
          </a:xfrm>
          <a:prstGeom prst="rect">
            <a:avLst/>
          </a:prstGeom>
        </p:spPr>
      </p:pic>
      <p:sp>
        <p:nvSpPr>
          <p:cNvPr id="8" name="矩形 6">
            <a:extLst>
              <a:ext uri="{FF2B5EF4-FFF2-40B4-BE49-F238E27FC236}">
                <a16:creationId xmlns:a16="http://schemas.microsoft.com/office/drawing/2014/main" id="{8451CDE1-4560-4417-9DF1-D5BA277A8A32}"/>
              </a:ext>
            </a:extLst>
          </p:cNvPr>
          <p:cNvSpPr>
            <a:spLocks noChangeArrowheads="1"/>
          </p:cNvSpPr>
          <p:nvPr userDrawn="1"/>
        </p:nvSpPr>
        <p:spPr bwMode="auto">
          <a:xfrm>
            <a:off x="9887494" y="21366"/>
            <a:ext cx="1684101" cy="220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eaLnBrk="1" hangingPunct="1">
              <a:lnSpc>
                <a:spcPts val="983"/>
              </a:lnSpc>
              <a:defRPr/>
            </a:pPr>
            <a:r>
              <a:rPr lang="zh-TW" altLang="en-US" sz="885" b="0">
                <a:solidFill>
                  <a:schemeClr val="bg1">
                    <a:lumMod val="75000"/>
                  </a:schemeClr>
                </a:solidFill>
              </a:rPr>
              <a:t>機密資料 限永豐金控內部使用</a:t>
            </a:r>
            <a:endParaRPr lang="en-US" altLang="zh-TW" sz="885" b="0">
              <a:solidFill>
                <a:schemeClr val="bg1">
                  <a:lumMod val="75000"/>
                </a:schemeClr>
              </a:solidFill>
            </a:endParaRPr>
          </a:p>
        </p:txBody>
      </p:sp>
      <p:pic>
        <p:nvPicPr>
          <p:cNvPr id="4" name="圖形 3">
            <a:extLst>
              <a:ext uri="{FF2B5EF4-FFF2-40B4-BE49-F238E27FC236}">
                <a16:creationId xmlns:a16="http://schemas.microsoft.com/office/drawing/2014/main" id="{9C27B505-78C8-E750-4CDF-AE64955270C2}"/>
              </a:ext>
            </a:extLst>
          </p:cNvPr>
          <p:cNvPicPr>
            <a:picLocks noChangeAspect="1"/>
          </p:cNvPicPr>
          <p:nvPr userDrawn="1"/>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909988" y="6191032"/>
            <a:ext cx="4542089" cy="223619"/>
          </a:xfrm>
          <a:prstGeom prst="rect">
            <a:avLst/>
          </a:prstGeom>
        </p:spPr>
      </p:pic>
      <p:sp>
        <p:nvSpPr>
          <p:cNvPr id="5" name="矩形 9">
            <a:extLst>
              <a:ext uri="{FF2B5EF4-FFF2-40B4-BE49-F238E27FC236}">
                <a16:creationId xmlns:a16="http://schemas.microsoft.com/office/drawing/2014/main" id="{941A4557-3FEA-0E2A-5F20-0FA299FF0C33}"/>
              </a:ext>
            </a:extLst>
          </p:cNvPr>
          <p:cNvSpPr>
            <a:spLocks noChangeArrowheads="1"/>
          </p:cNvSpPr>
          <p:nvPr userDrawn="1"/>
        </p:nvSpPr>
        <p:spPr bwMode="auto">
          <a:xfrm>
            <a:off x="16328" y="6180059"/>
            <a:ext cx="502044" cy="222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algn="ctr" eaLnBrk="1" hangingPunct="1">
              <a:lnSpc>
                <a:spcPts val="964"/>
              </a:lnSpc>
              <a:defRPr/>
            </a:pPr>
            <a:fld id="{B24A712F-B284-4871-8CF9-DC6E056DBACF}" type="slidenum">
              <a:rPr lang="en-US" altLang="zh-TW" sz="1157" b="0" smtClean="0">
                <a:ea typeface="微軟正黑體" pitchFamily="34" charset="-120"/>
              </a:rPr>
              <a:pPr algn="ctr" eaLnBrk="1" hangingPunct="1">
                <a:lnSpc>
                  <a:spcPts val="964"/>
                </a:lnSpc>
                <a:defRPr/>
              </a:pPr>
              <a:t>‹#›</a:t>
            </a:fld>
            <a:endParaRPr lang="en-US" altLang="zh-TW" sz="1157" b="0">
              <a:ea typeface="微軟正黑體" pitchFamily="34" charset="-120"/>
            </a:endParaRPr>
          </a:p>
        </p:txBody>
      </p:sp>
    </p:spTree>
    <p:extLst>
      <p:ext uri="{BB962C8B-B14F-4D97-AF65-F5344CB8AC3E}">
        <p14:creationId xmlns:p14="http://schemas.microsoft.com/office/powerpoint/2010/main" val="1228561538"/>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Lst>
  <p:transition spd="med"/>
  <p:hf hdr="0"/>
  <p:txStyles>
    <p:titleStyle>
      <a:lvl1pPr algn="l" defTabSz="863207" rtl="0" eaLnBrk="0" fontAlgn="base" hangingPunct="0">
        <a:spcBef>
          <a:spcPct val="0"/>
        </a:spcBef>
        <a:spcAft>
          <a:spcPct val="0"/>
        </a:spcAft>
        <a:defRPr sz="1832" b="1">
          <a:solidFill>
            <a:schemeClr val="tx2"/>
          </a:solidFill>
          <a:latin typeface="+mj-lt"/>
          <a:ea typeface="+mj-ea"/>
          <a:cs typeface="+mj-cs"/>
        </a:defRPr>
      </a:lvl1pPr>
      <a:lvl2pPr algn="l" defTabSz="863207" rtl="0" eaLnBrk="0" fontAlgn="base" hangingPunct="0">
        <a:spcBef>
          <a:spcPct val="0"/>
        </a:spcBef>
        <a:spcAft>
          <a:spcPct val="0"/>
        </a:spcAft>
        <a:defRPr sz="1832" b="1">
          <a:solidFill>
            <a:schemeClr val="tx2"/>
          </a:solidFill>
          <a:latin typeface="Arial" charset="0"/>
        </a:defRPr>
      </a:lvl2pPr>
      <a:lvl3pPr algn="l" defTabSz="863207" rtl="0" eaLnBrk="0" fontAlgn="base" hangingPunct="0">
        <a:spcBef>
          <a:spcPct val="0"/>
        </a:spcBef>
        <a:spcAft>
          <a:spcPct val="0"/>
        </a:spcAft>
        <a:defRPr sz="1832" b="1">
          <a:solidFill>
            <a:schemeClr val="tx2"/>
          </a:solidFill>
          <a:latin typeface="Arial" charset="0"/>
        </a:defRPr>
      </a:lvl3pPr>
      <a:lvl4pPr algn="l" defTabSz="863207" rtl="0" eaLnBrk="0" fontAlgn="base" hangingPunct="0">
        <a:spcBef>
          <a:spcPct val="0"/>
        </a:spcBef>
        <a:spcAft>
          <a:spcPct val="0"/>
        </a:spcAft>
        <a:defRPr sz="1832" b="1">
          <a:solidFill>
            <a:schemeClr val="tx2"/>
          </a:solidFill>
          <a:latin typeface="Arial" charset="0"/>
        </a:defRPr>
      </a:lvl4pPr>
      <a:lvl5pPr algn="l" defTabSz="863207" rtl="0" eaLnBrk="0" fontAlgn="base" hangingPunct="0">
        <a:spcBef>
          <a:spcPct val="0"/>
        </a:spcBef>
        <a:spcAft>
          <a:spcPct val="0"/>
        </a:spcAft>
        <a:defRPr sz="1832" b="1">
          <a:solidFill>
            <a:schemeClr val="tx2"/>
          </a:solidFill>
          <a:latin typeface="Arial" charset="0"/>
        </a:defRPr>
      </a:lvl5pPr>
      <a:lvl6pPr marL="440787" algn="l" defTabSz="863207" rtl="0" fontAlgn="base">
        <a:spcBef>
          <a:spcPct val="0"/>
        </a:spcBef>
        <a:spcAft>
          <a:spcPct val="0"/>
        </a:spcAft>
        <a:defRPr sz="1832" b="1">
          <a:solidFill>
            <a:schemeClr val="tx2"/>
          </a:solidFill>
          <a:latin typeface="Arial" charset="0"/>
        </a:defRPr>
      </a:lvl6pPr>
      <a:lvl7pPr marL="881573" algn="l" defTabSz="863207" rtl="0" fontAlgn="base">
        <a:spcBef>
          <a:spcPct val="0"/>
        </a:spcBef>
        <a:spcAft>
          <a:spcPct val="0"/>
        </a:spcAft>
        <a:defRPr sz="1832" b="1">
          <a:solidFill>
            <a:schemeClr val="tx2"/>
          </a:solidFill>
          <a:latin typeface="Arial" charset="0"/>
        </a:defRPr>
      </a:lvl7pPr>
      <a:lvl8pPr marL="1322360" algn="l" defTabSz="863207" rtl="0" fontAlgn="base">
        <a:spcBef>
          <a:spcPct val="0"/>
        </a:spcBef>
        <a:spcAft>
          <a:spcPct val="0"/>
        </a:spcAft>
        <a:defRPr sz="1832" b="1">
          <a:solidFill>
            <a:schemeClr val="tx2"/>
          </a:solidFill>
          <a:latin typeface="Arial" charset="0"/>
        </a:defRPr>
      </a:lvl8pPr>
      <a:lvl9pPr marL="1763146" algn="l" defTabSz="863207" rtl="0" fontAlgn="base">
        <a:spcBef>
          <a:spcPct val="0"/>
        </a:spcBef>
        <a:spcAft>
          <a:spcPct val="0"/>
        </a:spcAft>
        <a:defRPr sz="1832" b="1">
          <a:solidFill>
            <a:schemeClr val="tx2"/>
          </a:solidFill>
          <a:latin typeface="Arial" charset="0"/>
        </a:defRPr>
      </a:lvl9pPr>
    </p:titleStyle>
    <p:bodyStyle>
      <a:lvl1pPr algn="l" defTabSz="863207" rtl="0" eaLnBrk="0" fontAlgn="base" hangingPunct="0">
        <a:spcBef>
          <a:spcPct val="0"/>
        </a:spcBef>
        <a:spcAft>
          <a:spcPct val="0"/>
        </a:spcAft>
        <a:buSzPct val="120000"/>
        <a:defRPr sz="1543">
          <a:solidFill>
            <a:schemeClr val="tx1"/>
          </a:solidFill>
          <a:latin typeface="+mn-lt"/>
          <a:ea typeface="+mn-ea"/>
          <a:cs typeface="+mn-cs"/>
        </a:defRPr>
      </a:lvl1pPr>
      <a:lvl2pPr marL="139277" indent="-137746" algn="l" defTabSz="863207" rtl="0" eaLnBrk="0" fontAlgn="base" hangingPunct="0">
        <a:spcBef>
          <a:spcPct val="0"/>
        </a:spcBef>
        <a:spcAft>
          <a:spcPct val="0"/>
        </a:spcAft>
        <a:buSzPct val="120000"/>
        <a:buChar char="•"/>
        <a:defRPr sz="1543">
          <a:solidFill>
            <a:schemeClr val="tx1"/>
          </a:solidFill>
          <a:latin typeface="+mn-lt"/>
          <a:ea typeface="+mn-ea"/>
        </a:defRPr>
      </a:lvl2pPr>
      <a:lvl3pPr marL="284675" indent="-143868" algn="l" defTabSz="863207" rtl="0" eaLnBrk="0" fontAlgn="base" hangingPunct="0">
        <a:spcBef>
          <a:spcPct val="0"/>
        </a:spcBef>
        <a:spcAft>
          <a:spcPct val="0"/>
        </a:spcAft>
        <a:buChar char="–"/>
        <a:defRPr sz="1543">
          <a:solidFill>
            <a:schemeClr val="tx1"/>
          </a:solidFill>
          <a:latin typeface="+mn-lt"/>
          <a:ea typeface="+mn-ea"/>
        </a:defRPr>
      </a:lvl3pPr>
      <a:lvl4pPr marL="416298" indent="-130094" algn="l" defTabSz="863207" rtl="0" eaLnBrk="0" fontAlgn="base" hangingPunct="0">
        <a:spcBef>
          <a:spcPct val="0"/>
        </a:spcBef>
        <a:spcAft>
          <a:spcPct val="0"/>
        </a:spcAft>
        <a:buSzPct val="89000"/>
        <a:buChar char="•"/>
        <a:defRPr sz="1543">
          <a:solidFill>
            <a:schemeClr val="tx1"/>
          </a:solidFill>
          <a:latin typeface="+mn-lt"/>
          <a:ea typeface="+mn-ea"/>
        </a:defRPr>
      </a:lvl4pPr>
      <a:lvl5pPr marL="561697" indent="-143868" algn="l" defTabSz="863207" rtl="0" eaLnBrk="0" fontAlgn="base" hangingPunct="0">
        <a:spcBef>
          <a:spcPct val="0"/>
        </a:spcBef>
        <a:spcAft>
          <a:spcPct val="0"/>
        </a:spcAft>
        <a:buSzPct val="75000"/>
        <a:buChar char="–"/>
        <a:defRPr sz="1543">
          <a:solidFill>
            <a:schemeClr val="tx1"/>
          </a:solidFill>
          <a:latin typeface="+mn-lt"/>
          <a:ea typeface="+mn-ea"/>
        </a:defRPr>
      </a:lvl5pPr>
      <a:lvl6pPr marL="1002484" indent="-143868" algn="l" defTabSz="863207" rtl="0" fontAlgn="base">
        <a:spcBef>
          <a:spcPct val="0"/>
        </a:spcBef>
        <a:spcAft>
          <a:spcPct val="0"/>
        </a:spcAft>
        <a:buSzPct val="75000"/>
        <a:buChar char="–"/>
        <a:defRPr sz="1543">
          <a:solidFill>
            <a:schemeClr val="tx1"/>
          </a:solidFill>
          <a:latin typeface="+mn-lt"/>
          <a:ea typeface="+mn-ea"/>
        </a:defRPr>
      </a:lvl6pPr>
      <a:lvl7pPr marL="1443270" indent="-143868" algn="l" defTabSz="863207" rtl="0" fontAlgn="base">
        <a:spcBef>
          <a:spcPct val="0"/>
        </a:spcBef>
        <a:spcAft>
          <a:spcPct val="0"/>
        </a:spcAft>
        <a:buSzPct val="75000"/>
        <a:buChar char="–"/>
        <a:defRPr sz="1543">
          <a:solidFill>
            <a:schemeClr val="tx1"/>
          </a:solidFill>
          <a:latin typeface="+mn-lt"/>
          <a:ea typeface="+mn-ea"/>
        </a:defRPr>
      </a:lvl7pPr>
      <a:lvl8pPr marL="1884057" indent="-143868" algn="l" defTabSz="863207" rtl="0" fontAlgn="base">
        <a:spcBef>
          <a:spcPct val="0"/>
        </a:spcBef>
        <a:spcAft>
          <a:spcPct val="0"/>
        </a:spcAft>
        <a:buSzPct val="75000"/>
        <a:buChar char="–"/>
        <a:defRPr sz="1543">
          <a:solidFill>
            <a:schemeClr val="tx1"/>
          </a:solidFill>
          <a:latin typeface="+mn-lt"/>
          <a:ea typeface="+mn-ea"/>
        </a:defRPr>
      </a:lvl8pPr>
      <a:lvl9pPr marL="2324843" indent="-143868" algn="l" defTabSz="863207" rtl="0" fontAlgn="base">
        <a:spcBef>
          <a:spcPct val="0"/>
        </a:spcBef>
        <a:spcAft>
          <a:spcPct val="0"/>
        </a:spcAft>
        <a:buSzPct val="75000"/>
        <a:buChar char="–"/>
        <a:defRPr sz="1543">
          <a:solidFill>
            <a:schemeClr val="tx1"/>
          </a:solidFill>
          <a:latin typeface="+mn-lt"/>
          <a:ea typeface="+mn-ea"/>
        </a:defRPr>
      </a:lvl9pPr>
    </p:bodyStyle>
    <p:otherStyle>
      <a:defPPr>
        <a:defRPr lang="zh-TW"/>
      </a:defPPr>
      <a:lvl1pPr marL="0" algn="l" defTabSz="881573" rtl="0" eaLnBrk="1" latinLnBrk="0" hangingPunct="1">
        <a:defRPr sz="1735" kern="1200">
          <a:solidFill>
            <a:schemeClr val="tx1"/>
          </a:solidFill>
          <a:latin typeface="+mn-lt"/>
          <a:ea typeface="+mn-ea"/>
          <a:cs typeface="+mn-cs"/>
        </a:defRPr>
      </a:lvl1pPr>
      <a:lvl2pPr marL="440787" algn="l" defTabSz="881573" rtl="0" eaLnBrk="1" latinLnBrk="0" hangingPunct="1">
        <a:defRPr sz="1735" kern="1200">
          <a:solidFill>
            <a:schemeClr val="tx1"/>
          </a:solidFill>
          <a:latin typeface="+mn-lt"/>
          <a:ea typeface="+mn-ea"/>
          <a:cs typeface="+mn-cs"/>
        </a:defRPr>
      </a:lvl2pPr>
      <a:lvl3pPr marL="881573" algn="l" defTabSz="881573" rtl="0" eaLnBrk="1" latinLnBrk="0" hangingPunct="1">
        <a:defRPr sz="1735" kern="1200">
          <a:solidFill>
            <a:schemeClr val="tx1"/>
          </a:solidFill>
          <a:latin typeface="+mn-lt"/>
          <a:ea typeface="+mn-ea"/>
          <a:cs typeface="+mn-cs"/>
        </a:defRPr>
      </a:lvl3pPr>
      <a:lvl4pPr marL="1322360" algn="l" defTabSz="881573" rtl="0" eaLnBrk="1" latinLnBrk="0" hangingPunct="1">
        <a:defRPr sz="1735" kern="1200">
          <a:solidFill>
            <a:schemeClr val="tx1"/>
          </a:solidFill>
          <a:latin typeface="+mn-lt"/>
          <a:ea typeface="+mn-ea"/>
          <a:cs typeface="+mn-cs"/>
        </a:defRPr>
      </a:lvl4pPr>
      <a:lvl5pPr marL="1763146" algn="l" defTabSz="881573" rtl="0" eaLnBrk="1" latinLnBrk="0" hangingPunct="1">
        <a:defRPr sz="1735" kern="1200">
          <a:solidFill>
            <a:schemeClr val="tx1"/>
          </a:solidFill>
          <a:latin typeface="+mn-lt"/>
          <a:ea typeface="+mn-ea"/>
          <a:cs typeface="+mn-cs"/>
        </a:defRPr>
      </a:lvl5pPr>
      <a:lvl6pPr marL="2203933" algn="l" defTabSz="881573" rtl="0" eaLnBrk="1" latinLnBrk="0" hangingPunct="1">
        <a:defRPr sz="1735" kern="1200">
          <a:solidFill>
            <a:schemeClr val="tx1"/>
          </a:solidFill>
          <a:latin typeface="+mn-lt"/>
          <a:ea typeface="+mn-ea"/>
          <a:cs typeface="+mn-cs"/>
        </a:defRPr>
      </a:lvl6pPr>
      <a:lvl7pPr marL="2644719" algn="l" defTabSz="881573" rtl="0" eaLnBrk="1" latinLnBrk="0" hangingPunct="1">
        <a:defRPr sz="1735" kern="1200">
          <a:solidFill>
            <a:schemeClr val="tx1"/>
          </a:solidFill>
          <a:latin typeface="+mn-lt"/>
          <a:ea typeface="+mn-ea"/>
          <a:cs typeface="+mn-cs"/>
        </a:defRPr>
      </a:lvl7pPr>
      <a:lvl8pPr marL="3085506" algn="l" defTabSz="881573" rtl="0" eaLnBrk="1" latinLnBrk="0" hangingPunct="1">
        <a:defRPr sz="1735" kern="1200">
          <a:solidFill>
            <a:schemeClr val="tx1"/>
          </a:solidFill>
          <a:latin typeface="+mn-lt"/>
          <a:ea typeface="+mn-ea"/>
          <a:cs typeface="+mn-cs"/>
        </a:defRPr>
      </a:lvl8pPr>
      <a:lvl9pPr marL="3526292" algn="l" defTabSz="881573" rtl="0" eaLnBrk="1" latinLnBrk="0" hangingPunct="1">
        <a:defRPr sz="173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
        <p:cNvGrpSpPr/>
        <p:nvPr/>
      </p:nvGrpSpPr>
      <p:grpSpPr>
        <a:xfrm>
          <a:off x="0" y="0"/>
          <a:ext cx="0" cy="0"/>
          <a:chOff x="0" y="0"/>
          <a:chExt cx="0" cy="0"/>
        </a:xfrm>
      </p:grpSpPr>
      <p:pic>
        <p:nvPicPr>
          <p:cNvPr id="8" name="Google Shape;8;p7"/>
          <p:cNvPicPr preferRelativeResize="0"/>
          <p:nvPr/>
        </p:nvPicPr>
        <p:blipFill rotWithShape="1">
          <a:blip r:embed="rId5">
            <a:alphaModFix/>
          </a:blip>
          <a:srcRect/>
          <a:stretch/>
        </p:blipFill>
        <p:spPr>
          <a:xfrm>
            <a:off x="145398" y="5913642"/>
            <a:ext cx="4406303" cy="705606"/>
          </a:xfrm>
          <a:prstGeom prst="rect">
            <a:avLst/>
          </a:prstGeom>
          <a:noFill/>
          <a:ln>
            <a:noFill/>
          </a:ln>
        </p:spPr>
      </p:pic>
      <p:cxnSp>
        <p:nvCxnSpPr>
          <p:cNvPr id="9" name="Google Shape;9;p7"/>
          <p:cNvCxnSpPr/>
          <p:nvPr/>
        </p:nvCxnSpPr>
        <p:spPr>
          <a:xfrm>
            <a:off x="293880" y="763724"/>
            <a:ext cx="10844973" cy="0"/>
          </a:xfrm>
          <a:prstGeom prst="straightConnector1">
            <a:avLst/>
          </a:prstGeom>
          <a:noFill/>
          <a:ln w="15875" cap="flat" cmpd="sng">
            <a:solidFill>
              <a:srgbClr val="FF0000"/>
            </a:solidFill>
            <a:prstDash val="solid"/>
            <a:round/>
            <a:headEnd type="none" w="sm" len="sm"/>
            <a:tailEnd type="none" w="sm" len="sm"/>
          </a:ln>
        </p:spPr>
      </p:cxnSp>
      <p:sp>
        <p:nvSpPr>
          <p:cNvPr id="10" name="Google Shape;10;p7"/>
          <p:cNvSpPr/>
          <p:nvPr/>
        </p:nvSpPr>
        <p:spPr>
          <a:xfrm>
            <a:off x="16328" y="6165523"/>
            <a:ext cx="502044" cy="236776"/>
          </a:xfrm>
          <a:prstGeom prst="rect">
            <a:avLst/>
          </a:prstGeom>
          <a:noFill/>
          <a:ln>
            <a:noFill/>
          </a:ln>
        </p:spPr>
        <p:txBody>
          <a:bodyPr spcFirstLastPara="1" wrap="square" lIns="88143" tIns="44059" rIns="88143" bIns="44059" anchor="b" anchorCtr="0">
            <a:spAutoFit/>
          </a:bodyPr>
          <a:lstStyle/>
          <a:p>
            <a:pPr marL="0" marR="0" lvl="0" indent="0" algn="ctr" rtl="0">
              <a:lnSpc>
                <a:spcPct val="83333"/>
              </a:lnSpc>
              <a:spcBef>
                <a:spcPts val="0"/>
              </a:spcBef>
              <a:spcAft>
                <a:spcPts val="0"/>
              </a:spcAft>
              <a:buClr>
                <a:srgbClr val="000000"/>
              </a:buClr>
              <a:buSzPts val="1200"/>
              <a:buFont typeface="Arial"/>
              <a:buNone/>
            </a:pPr>
            <a:fld id="{00000000-1234-1234-1234-123412341234}" type="slidenum">
              <a:rPr lang="en-US" altLang="zh-TW" sz="1157" b="0" i="0" u="none" strike="noStrike" cap="none">
                <a:solidFill>
                  <a:schemeClr val="dk1"/>
                </a:solidFill>
                <a:latin typeface="Arial"/>
                <a:ea typeface="Arial"/>
                <a:cs typeface="Arial"/>
                <a:sym typeface="Arial"/>
              </a:rPr>
              <a:pPr marL="0" marR="0" lvl="0" indent="0" algn="ctr" rtl="0">
                <a:lnSpc>
                  <a:spcPct val="83333"/>
                </a:lnSpc>
                <a:spcBef>
                  <a:spcPts val="0"/>
                </a:spcBef>
                <a:spcAft>
                  <a:spcPts val="0"/>
                </a:spcAft>
                <a:buClr>
                  <a:srgbClr val="000000"/>
                </a:buClr>
                <a:buSzPts val="1200"/>
                <a:buFont typeface="Arial"/>
                <a:buNone/>
              </a:pPr>
              <a:t>‹#›</a:t>
            </a:fld>
            <a:endParaRPr sz="1157" b="0" i="0" u="none" strike="noStrike" cap="none">
              <a:solidFill>
                <a:schemeClr val="dk1"/>
              </a:solidFill>
              <a:latin typeface="Arial"/>
              <a:ea typeface="Arial"/>
              <a:cs typeface="Arial"/>
              <a:sym typeface="Arial"/>
            </a:endParaRPr>
          </a:p>
        </p:txBody>
      </p:sp>
      <p:pic>
        <p:nvPicPr>
          <p:cNvPr id="11" name="Google Shape;11;p7"/>
          <p:cNvPicPr preferRelativeResize="0"/>
          <p:nvPr/>
        </p:nvPicPr>
        <p:blipFill rotWithShape="1">
          <a:blip r:embed="rId6">
            <a:alphaModFix/>
          </a:blip>
          <a:srcRect/>
          <a:stretch/>
        </p:blipFill>
        <p:spPr>
          <a:xfrm>
            <a:off x="8715489" y="6098412"/>
            <a:ext cx="2462731" cy="291229"/>
          </a:xfrm>
          <a:prstGeom prst="rect">
            <a:avLst/>
          </a:prstGeom>
          <a:noFill/>
          <a:ln>
            <a:noFill/>
          </a:ln>
        </p:spPr>
      </p:pic>
      <p:sp>
        <p:nvSpPr>
          <p:cNvPr id="12" name="Google Shape;12;p7"/>
          <p:cNvSpPr/>
          <p:nvPr/>
        </p:nvSpPr>
        <p:spPr>
          <a:xfrm>
            <a:off x="4815220" y="6232426"/>
            <a:ext cx="5131635" cy="240174"/>
          </a:xfrm>
          <a:prstGeom prst="rect">
            <a:avLst/>
          </a:prstGeom>
          <a:noFill/>
          <a:ln>
            <a:noFill/>
          </a:ln>
        </p:spPr>
        <p:txBody>
          <a:bodyPr spcFirstLastPara="1" wrap="square" lIns="88143" tIns="44059" rIns="88143" bIns="44059" anchor="ctr" anchorCtr="0">
            <a:spAutoFit/>
          </a:bodyPr>
          <a:lstStyle/>
          <a:p>
            <a:pPr marL="0" marR="0" lvl="0" indent="0" algn="l" rtl="0">
              <a:lnSpc>
                <a:spcPct val="111111"/>
              </a:lnSpc>
              <a:spcBef>
                <a:spcPts val="0"/>
              </a:spcBef>
              <a:spcAft>
                <a:spcPts val="0"/>
              </a:spcAft>
              <a:buClr>
                <a:srgbClr val="000000"/>
              </a:buClr>
              <a:buSzPts val="918"/>
              <a:buFont typeface="Arial"/>
              <a:buNone/>
            </a:pPr>
            <a:r>
              <a:rPr lang="zh-TW" altLang="en-US" sz="885" b="0" i="0" u="none" strike="noStrike" cap="none">
                <a:solidFill>
                  <a:srgbClr val="7F7F7F"/>
                </a:solidFill>
                <a:latin typeface="Arial"/>
                <a:ea typeface="Arial"/>
                <a:cs typeface="Arial"/>
                <a:sym typeface="Arial"/>
              </a:rPr>
              <a:t>機密資料 僅限永豐金控內部使用</a:t>
            </a:r>
            <a:endParaRPr sz="885" b="0" i="0" u="none" strike="noStrike" cap="none">
              <a:solidFill>
                <a:srgbClr val="7F7F7F"/>
              </a:solidFill>
              <a:latin typeface="Arial"/>
              <a:ea typeface="Arial"/>
              <a:cs typeface="Arial"/>
              <a:sym typeface="Arial"/>
            </a:endParaRPr>
          </a:p>
        </p:txBody>
      </p:sp>
    </p:spTree>
    <p:extLst>
      <p:ext uri="{BB962C8B-B14F-4D97-AF65-F5344CB8AC3E}">
        <p14:creationId xmlns:p14="http://schemas.microsoft.com/office/powerpoint/2010/main" val="1217545696"/>
      </p:ext>
    </p:extLst>
  </p:cSld>
  <p:clrMap bg1="lt1" tx1="dk1" bg2="dk2" tx2="lt2" accent1="accent1" accent2="accent2" accent3="accent3" accent4="accent4" accent5="accent5" accent6="accent6" hlink="hlink" folHlink="folHlink"/>
  <p:sldLayoutIdLst>
    <p:sldLayoutId id="2147483674" r:id="rId1"/>
    <p:sldLayoutId id="2147483675" r:id="rId2"/>
    <p:sldLayoutId id="2147483676" r:id="rId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3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3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3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3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3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3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3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3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3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3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3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3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3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3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3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3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3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3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3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3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3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3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3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3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3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3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35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chart" Target="../charts/chart3.xml"/><Relationship Id="rId4" Type="http://schemas.openxmlformats.org/officeDocument/2006/relationships/chart" Target="../charts/char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5.xml"/><Relationship Id="rId6" Type="http://schemas.openxmlformats.org/officeDocument/2006/relationships/image" Target="../media/image15.wmf"/><Relationship Id="rId5" Type="http://schemas.openxmlformats.org/officeDocument/2006/relationships/package" Target="../embeddings/Microsoft_Excel_Worksheet1.xlsx"/><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36" name="Google Shape;36;p1"/>
          <p:cNvSpPr txBox="1">
            <a:spLocks noGrp="1"/>
          </p:cNvSpPr>
          <p:nvPr>
            <p:ph type="title"/>
          </p:nvPr>
        </p:nvSpPr>
        <p:spPr>
          <a:prstGeom prst="rect">
            <a:avLst/>
          </a:prstGeom>
          <a:noFill/>
          <a:ln>
            <a:noFill/>
          </a:ln>
        </p:spPr>
        <p:txBody>
          <a:bodyPr spcFirstLastPara="1" wrap="square" lIns="88150" tIns="44050" rIns="88150" bIns="44050" anchor="ctr" anchorCtr="0">
            <a:noAutofit/>
          </a:bodyPr>
          <a:lstStyle/>
          <a:p>
            <a:pPr marL="0" lvl="0" indent="0" algn="ctr" rtl="0">
              <a:lnSpc>
                <a:spcPct val="100000"/>
              </a:lnSpc>
              <a:spcBef>
                <a:spcPts val="0"/>
              </a:spcBef>
              <a:spcAft>
                <a:spcPts val="0"/>
              </a:spcAft>
              <a:buSzPts val="1300"/>
              <a:buNone/>
            </a:pPr>
            <a:r>
              <a:rPr lang="zh-TW" altLang="en-US" b="1" dirty="0"/>
              <a:t>爬蟲館擴充案</a:t>
            </a:r>
            <a:r>
              <a:rPr lang="en-US" altLang="zh-TW" b="1" dirty="0"/>
              <a:t>-</a:t>
            </a:r>
            <a:r>
              <a:rPr lang="zh-TW" altLang="en-US" b="1" dirty="0"/>
              <a:t>架審</a:t>
            </a:r>
            <a:endParaRPr lang="en-US" b="1" dirty="0"/>
          </a:p>
        </p:txBody>
      </p:sp>
      <p:sp>
        <p:nvSpPr>
          <p:cNvPr id="37" name="Google Shape;37;p1"/>
          <p:cNvSpPr txBox="1">
            <a:spLocks noGrp="1"/>
          </p:cNvSpPr>
          <p:nvPr>
            <p:ph type="body" idx="1"/>
          </p:nvPr>
        </p:nvSpPr>
        <p:spPr>
          <a:xfrm>
            <a:off x="1440000" y="3445844"/>
            <a:ext cx="8640000" cy="1414156"/>
          </a:xfrm>
          <a:prstGeom prst="rect">
            <a:avLst/>
          </a:prstGeom>
          <a:noFill/>
          <a:ln>
            <a:noFill/>
          </a:ln>
        </p:spPr>
        <p:txBody>
          <a:bodyPr spcFirstLastPara="1" wrap="square" lIns="88150" tIns="44050" rIns="88150" bIns="44050" anchor="ctr" anchorCtr="0">
            <a:noAutofit/>
          </a:bodyPr>
          <a:lstStyle/>
          <a:p>
            <a:pPr marL="0" lvl="0" indent="0" algn="ctr" rtl="0">
              <a:lnSpc>
                <a:spcPct val="100000"/>
              </a:lnSpc>
              <a:spcBef>
                <a:spcPts val="0"/>
              </a:spcBef>
              <a:spcAft>
                <a:spcPts val="0"/>
              </a:spcAft>
              <a:buClr>
                <a:schemeClr val="dk1"/>
              </a:buClr>
              <a:buSzPts val="3200"/>
              <a:buFont typeface="Microsoft JhengHei"/>
              <a:buNone/>
            </a:pPr>
            <a:r>
              <a:rPr lang="zh-TW" altLang="en-US" dirty="0"/>
              <a:t>提案人</a:t>
            </a:r>
            <a:endParaRPr lang="en-US" altLang="zh-TW" dirty="0"/>
          </a:p>
          <a:p>
            <a:pPr marL="0" lvl="0" indent="0" algn="ctr" rtl="0">
              <a:lnSpc>
                <a:spcPct val="100000"/>
              </a:lnSpc>
              <a:spcBef>
                <a:spcPts val="0"/>
              </a:spcBef>
              <a:spcAft>
                <a:spcPts val="0"/>
              </a:spcAft>
              <a:buClr>
                <a:schemeClr val="dk1"/>
              </a:buClr>
              <a:buSzPts val="3200"/>
              <a:buFont typeface="Microsoft JhengHei"/>
              <a:buNone/>
            </a:pPr>
            <a:r>
              <a:rPr lang="zh-TW" altLang="en-US" dirty="0"/>
              <a:t>數位科技處</a:t>
            </a:r>
            <a:r>
              <a:rPr lang="en-US" altLang="zh-TW" dirty="0"/>
              <a:t>-</a:t>
            </a:r>
            <a:r>
              <a:rPr lang="zh-TW" altLang="en-US" dirty="0"/>
              <a:t>唐俊智</a:t>
            </a:r>
            <a:endParaRPr lang="en-US" altLang="zh-TW" dirty="0"/>
          </a:p>
          <a:p>
            <a:pPr marL="0" lvl="0" indent="0" algn="ctr" rtl="0">
              <a:lnSpc>
                <a:spcPct val="100000"/>
              </a:lnSpc>
              <a:spcBef>
                <a:spcPts val="0"/>
              </a:spcBef>
              <a:spcAft>
                <a:spcPts val="0"/>
              </a:spcAft>
              <a:buClr>
                <a:schemeClr val="dk1"/>
              </a:buClr>
              <a:buSzPts val="3200"/>
              <a:buFont typeface="Microsoft JhengHei"/>
              <a:buNone/>
            </a:pPr>
            <a:r>
              <a:rPr lang="zh-TW" altLang="en-US" dirty="0"/>
              <a:t>金融技術部</a:t>
            </a:r>
            <a:r>
              <a:rPr lang="en-US" altLang="zh-TW" dirty="0"/>
              <a:t>-</a:t>
            </a:r>
            <a:r>
              <a:rPr lang="zh-TW" altLang="en-US" dirty="0"/>
              <a:t>李元生</a:t>
            </a:r>
            <a:endParaRPr lang="zh-TW" altLang="en-US" sz="2800" b="0" dirty="0"/>
          </a:p>
        </p:txBody>
      </p:sp>
      <p:sp>
        <p:nvSpPr>
          <p:cNvPr id="38" name="Google Shape;38;p1"/>
          <p:cNvSpPr txBox="1">
            <a:spLocks noGrp="1"/>
          </p:cNvSpPr>
          <p:nvPr>
            <p:ph type="body" idx="2"/>
          </p:nvPr>
        </p:nvSpPr>
        <p:spPr>
          <a:prstGeom prst="rect">
            <a:avLst/>
          </a:prstGeom>
          <a:noFill/>
          <a:ln>
            <a:noFill/>
          </a:ln>
        </p:spPr>
        <p:txBody>
          <a:bodyPr spcFirstLastPara="1" wrap="square" lIns="88150" tIns="44050" rIns="88150" bIns="44050" anchor="ctr" anchorCtr="0">
            <a:noAutofit/>
          </a:bodyPr>
          <a:lstStyle/>
          <a:p>
            <a:pPr marL="0" lvl="0" indent="0" algn="ctr" rtl="0">
              <a:lnSpc>
                <a:spcPct val="115000"/>
              </a:lnSpc>
              <a:spcBef>
                <a:spcPts val="0"/>
              </a:spcBef>
              <a:spcAft>
                <a:spcPts val="0"/>
              </a:spcAft>
              <a:buClr>
                <a:schemeClr val="dk1"/>
              </a:buClr>
              <a:buSzPts val="1100"/>
              <a:buFont typeface="Arial"/>
              <a:buNone/>
            </a:pPr>
            <a:r>
              <a:rPr lang="en-US" altLang="zh-TW" dirty="0"/>
              <a:t>2025</a:t>
            </a:r>
            <a:r>
              <a:rPr lang="zh-TW" sz="1600" b="0" dirty="0"/>
              <a:t>.</a:t>
            </a:r>
            <a:r>
              <a:rPr lang="en-US" altLang="zh-TW" dirty="0"/>
              <a:t>10</a:t>
            </a:r>
            <a:endParaRPr sz="1600" b="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3"/>
        <p:cNvGrpSpPr/>
        <p:nvPr/>
      </p:nvGrpSpPr>
      <p:grpSpPr>
        <a:xfrm>
          <a:off x="0" y="0"/>
          <a:ext cx="0" cy="0"/>
          <a:chOff x="0" y="0"/>
          <a:chExt cx="0" cy="0"/>
        </a:xfrm>
      </p:grpSpPr>
      <p:sp>
        <p:nvSpPr>
          <p:cNvPr id="54" name="Google Shape;54;g222eb5d9c60_0_38"/>
          <p:cNvSpPr txBox="1">
            <a:spLocks noGrp="1"/>
          </p:cNvSpPr>
          <p:nvPr>
            <p:ph type="title"/>
          </p:nvPr>
        </p:nvSpPr>
        <p:spPr>
          <a:xfrm>
            <a:off x="401390" y="60641"/>
            <a:ext cx="10717708" cy="600152"/>
          </a:xfrm>
          <a:prstGeom prst="rect">
            <a:avLst/>
          </a:prstGeom>
          <a:noFill/>
          <a:ln>
            <a:noFill/>
          </a:ln>
        </p:spPr>
        <p:txBody>
          <a:bodyPr spcFirstLastPara="1" wrap="square" lIns="88143" tIns="44059" rIns="88143" bIns="44059" anchor="ctr" anchorCtr="0">
            <a:noAutofit/>
          </a:bodyPr>
          <a:lstStyle/>
          <a:p>
            <a:pPr>
              <a:buSzPts val="1400"/>
            </a:pPr>
            <a:r>
              <a:rPr lang="zh-TW" altLang="en-US" b="1" dirty="0"/>
              <a:t>專案總覽</a:t>
            </a:r>
            <a:endParaRPr b="1" dirty="0"/>
          </a:p>
        </p:txBody>
      </p:sp>
      <p:sp>
        <p:nvSpPr>
          <p:cNvPr id="4" name="矩形 3">
            <a:extLst>
              <a:ext uri="{FF2B5EF4-FFF2-40B4-BE49-F238E27FC236}">
                <a16:creationId xmlns:a16="http://schemas.microsoft.com/office/drawing/2014/main" id="{C14228AE-1665-BEA1-7573-EADE24C7C7BA}"/>
              </a:ext>
            </a:extLst>
          </p:cNvPr>
          <p:cNvSpPr/>
          <p:nvPr/>
        </p:nvSpPr>
        <p:spPr bwMode="auto">
          <a:xfrm>
            <a:off x="6438112" y="3104760"/>
            <a:ext cx="5048006" cy="2794063"/>
          </a:xfrm>
          <a:prstGeom prst="rect">
            <a:avLst/>
          </a:prstGeom>
          <a:solidFill>
            <a:srgbClr val="F9EEED"/>
          </a:solidFill>
          <a:ln w="6350" cap="flat" cmpd="sng" algn="ctr">
            <a:noFill/>
            <a:prstDash val="solid"/>
            <a:round/>
            <a:headEnd type="none" w="med" len="med"/>
            <a:tailEnd type="none" w="med" len="med"/>
          </a:ln>
          <a:effectLst/>
        </p:spPr>
        <p:txBody>
          <a:bodyPr vert="horz" wrap="square" lIns="89948" tIns="44974" rIns="89948" bIns="44974" numCol="1" rtlCol="0" anchor="t" anchorCtr="0" compatLnSpc="1">
            <a:prstTxWarp prst="textNoShape">
              <a:avLst/>
            </a:prstTxWarp>
          </a:bodyPr>
          <a:lstStyle/>
          <a:p>
            <a:pPr defTabSz="899469" fontAlgn="base">
              <a:spcBef>
                <a:spcPct val="0"/>
              </a:spcBef>
              <a:spcAft>
                <a:spcPct val="0"/>
              </a:spcAft>
            </a:pPr>
            <a:endParaRPr lang="zh-TW" altLang="en-US" sz="3934" b="1" dirty="0">
              <a:latin typeface="Arial" charset="0"/>
              <a:ea typeface="华文楷体" pitchFamily="2" charset="-122"/>
            </a:endParaRPr>
          </a:p>
        </p:txBody>
      </p:sp>
      <p:sp>
        <p:nvSpPr>
          <p:cNvPr id="5" name="矩形 4">
            <a:extLst>
              <a:ext uri="{FF2B5EF4-FFF2-40B4-BE49-F238E27FC236}">
                <a16:creationId xmlns:a16="http://schemas.microsoft.com/office/drawing/2014/main" id="{B0C51744-94C5-B9D5-058D-DA0275378E8F}"/>
              </a:ext>
            </a:extLst>
          </p:cNvPr>
          <p:cNvSpPr/>
          <p:nvPr/>
        </p:nvSpPr>
        <p:spPr bwMode="auto">
          <a:xfrm>
            <a:off x="6438111" y="642460"/>
            <a:ext cx="5037881" cy="2256475"/>
          </a:xfrm>
          <a:prstGeom prst="rect">
            <a:avLst/>
          </a:prstGeom>
          <a:solidFill>
            <a:srgbClr val="F9EEED"/>
          </a:solidFill>
          <a:ln w="6350" cap="flat" cmpd="sng" algn="ctr">
            <a:noFill/>
            <a:prstDash val="solid"/>
            <a:round/>
            <a:headEnd type="none" w="med" len="med"/>
            <a:tailEnd type="none" w="med" len="med"/>
          </a:ln>
          <a:effectLst/>
        </p:spPr>
        <p:txBody>
          <a:bodyPr vert="horz" wrap="square" lIns="89948" tIns="44974" rIns="89948" bIns="44974" numCol="1" rtlCol="0" anchor="t" anchorCtr="0" compatLnSpc="1">
            <a:prstTxWarp prst="textNoShape">
              <a:avLst/>
            </a:prstTxWarp>
          </a:bodyPr>
          <a:lstStyle/>
          <a:p>
            <a:pPr defTabSz="899469" fontAlgn="base">
              <a:spcBef>
                <a:spcPct val="0"/>
              </a:spcBef>
              <a:spcAft>
                <a:spcPct val="0"/>
              </a:spcAft>
            </a:pPr>
            <a:endParaRPr lang="zh-TW" altLang="en-US" sz="3934" b="1" dirty="0">
              <a:latin typeface="Arial" charset="0"/>
              <a:ea typeface="华文楷体" pitchFamily="2" charset="-122"/>
            </a:endParaRPr>
          </a:p>
        </p:txBody>
      </p:sp>
      <p:graphicFrame>
        <p:nvGraphicFramePr>
          <p:cNvPr id="6" name="表格 4">
            <a:extLst>
              <a:ext uri="{FF2B5EF4-FFF2-40B4-BE49-F238E27FC236}">
                <a16:creationId xmlns:a16="http://schemas.microsoft.com/office/drawing/2014/main" id="{7BC8FADA-54C3-09A0-7D35-5E94654F4CDB}"/>
              </a:ext>
            </a:extLst>
          </p:cNvPr>
          <p:cNvGraphicFramePr>
            <a:graphicFrameLocks/>
          </p:cNvGraphicFramePr>
          <p:nvPr>
            <p:extLst>
              <p:ext uri="{D42A27DB-BD31-4B8C-83A1-F6EECF244321}">
                <p14:modId xmlns:p14="http://schemas.microsoft.com/office/powerpoint/2010/main" val="821581805"/>
              </p:ext>
            </p:extLst>
          </p:nvPr>
        </p:nvGraphicFramePr>
        <p:xfrm>
          <a:off x="437352" y="508662"/>
          <a:ext cx="5100494" cy="1839120"/>
        </p:xfrm>
        <a:graphic>
          <a:graphicData uri="http://schemas.openxmlformats.org/drawingml/2006/table">
            <a:tbl>
              <a:tblPr firstRow="1" bandRow="1">
                <a:tableStyleId>{0E3FDE45-AF77-4B5C-9715-49D594BDF05E}</a:tableStyleId>
              </a:tblPr>
              <a:tblGrid>
                <a:gridCol w="5100494">
                  <a:extLst>
                    <a:ext uri="{9D8B030D-6E8A-4147-A177-3AD203B41FA5}">
                      <a16:colId xmlns:a16="http://schemas.microsoft.com/office/drawing/2014/main" val="143121817"/>
                    </a:ext>
                  </a:extLst>
                </a:gridCol>
              </a:tblGrid>
              <a:tr h="262601">
                <a:tc>
                  <a: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None/>
                        <a:tabLst/>
                        <a:defRPr/>
                      </a:pPr>
                      <a:endParaRPr kumimoji="0" lang="zh-TW" altLang="en-US" sz="1400" b="0" i="0" u="none" strike="noStrike" kern="0" cap="none" spc="0" normalizeH="0" baseline="0" noProof="0" dirty="0">
                        <a:ln>
                          <a:noFill/>
                        </a:ln>
                        <a:solidFill>
                          <a:srgbClr val="000000"/>
                        </a:solidFill>
                        <a:effectLst/>
                        <a:uLnTx/>
                        <a:uFillTx/>
                        <a:latin typeface="Arial"/>
                        <a:cs typeface="Arial"/>
                        <a:sym typeface="Arial"/>
                      </a:endParaRPr>
                    </a:p>
                  </a:txBody>
                  <a:tcPr marL="86401" marR="86401" marT="43200" marB="43200" anchor="ctr">
                    <a:lnL>
                      <a:noFill/>
                    </a:lnL>
                    <a:lnR w="28575"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08095722"/>
                  </a:ext>
                </a:extLst>
              </a:tr>
              <a:tr h="262601">
                <a:tc>
                  <a: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None/>
                        <a:tabLst/>
                        <a:defRPr/>
                      </a:pPr>
                      <a:endParaRPr kumimoji="0" lang="zh-TW" altLang="en-US" sz="1400" b="0" i="0" u="none" strike="noStrike" kern="0" cap="none" spc="0" normalizeH="0" baseline="0" noProof="0" dirty="0">
                        <a:ln>
                          <a:noFill/>
                        </a:ln>
                        <a:solidFill>
                          <a:srgbClr val="000000"/>
                        </a:solidFill>
                        <a:effectLst/>
                        <a:uLnTx/>
                        <a:uFillTx/>
                        <a:latin typeface="Arial"/>
                        <a:cs typeface="Arial"/>
                        <a:sym typeface="Arial"/>
                      </a:endParaRPr>
                    </a:p>
                  </a:txBody>
                  <a:tcPr marL="86401" marR="86401" marT="43200" marB="43200" anchor="ctr">
                    <a:lnL>
                      <a:noFill/>
                    </a:lnL>
                    <a:lnR w="28575" cap="flat" cmpd="sng" algn="ctr">
                      <a:solidFill>
                        <a:schemeClr val="bg1"/>
                      </a:solidFill>
                      <a:prstDash val="solid"/>
                      <a:round/>
                      <a:headEnd type="none" w="med" len="med"/>
                      <a:tailEnd type="none" w="med" len="med"/>
                    </a:lnR>
                    <a:lnT w="12700" cmpd="sng">
                      <a:noFill/>
                    </a:lnT>
                    <a:lnB>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748412356"/>
                  </a:ext>
                </a:extLst>
              </a:tr>
              <a:tr h="577685">
                <a:tc>
                  <a:txBody>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mj-lt"/>
                        <a:buNone/>
                        <a:tabLst/>
                        <a:defRPr/>
                      </a:pPr>
                      <a:r>
                        <a:rPr kumimoji="0" lang="en-US" altLang="zh-TW" sz="1400" b="1" i="0" u="none" strike="noStrike" kern="0" cap="none" spc="0" normalizeH="0" baseline="0" noProof="0" dirty="0">
                          <a:ln>
                            <a:noFill/>
                          </a:ln>
                          <a:solidFill>
                            <a:srgbClr val="000000"/>
                          </a:solidFill>
                          <a:effectLst/>
                          <a:uLnTx/>
                          <a:uFillTx/>
                          <a:latin typeface="Microsoft JhengHei"/>
                          <a:ea typeface="Microsoft JhengHei"/>
                          <a:cs typeface="Microsoft JhengHei"/>
                          <a:sym typeface="Microsoft JhengHei"/>
                        </a:rPr>
                        <a:t>1.</a:t>
                      </a:r>
                      <a:r>
                        <a:rPr kumimoji="0" lang="zh-TW" altLang="en-US" sz="1400" b="1" i="0" u="none" strike="noStrike" kern="0" cap="none" spc="0" normalizeH="0" baseline="0" noProof="0" dirty="0">
                          <a:ln>
                            <a:noFill/>
                          </a:ln>
                          <a:solidFill>
                            <a:srgbClr val="000000"/>
                          </a:solidFill>
                          <a:effectLst/>
                          <a:uLnTx/>
                          <a:uFillTx/>
                          <a:latin typeface="Microsoft JhengHei"/>
                          <a:ea typeface="Microsoft JhengHei"/>
                          <a:cs typeface="Microsoft JhengHei"/>
                          <a:sym typeface="Microsoft JhengHei"/>
                        </a:rPr>
                        <a:t> </a:t>
                      </a:r>
                      <a:r>
                        <a:rPr kumimoji="0" lang="zh-TW" altLang="en-US" sz="1400" b="1" i="0" u="none" strike="noStrike" kern="0" cap="none" spc="0" normalizeH="0" baseline="0" noProof="0" dirty="0">
                          <a:ln>
                            <a:noFill/>
                          </a:ln>
                          <a:solidFill>
                            <a:srgbClr val="000000"/>
                          </a:solidFill>
                          <a:effectLst/>
                          <a:uLnTx/>
                          <a:uFillTx/>
                          <a:latin typeface="Microsoft JhengHei"/>
                          <a:ea typeface="Microsoft JhengHei"/>
                          <a:cs typeface="Arial"/>
                          <a:sym typeface="Arial"/>
                        </a:rPr>
                        <a:t>建立擴充地端資料庫延伸，推廣爬蟲資料給</a:t>
                      </a:r>
                      <a:r>
                        <a:rPr kumimoji="0" lang="zh-TW" altLang="en-US" sz="1400" b="1" i="0" u="none" strike="noStrike" kern="0" cap="none" spc="0" normalizeH="0" baseline="0" dirty="0">
                          <a:ln>
                            <a:noFill/>
                          </a:ln>
                          <a:solidFill>
                            <a:srgbClr val="000000"/>
                          </a:solidFill>
                          <a:effectLst/>
                          <a:uLnTx/>
                          <a:uFillTx/>
                          <a:latin typeface="Microsoft JhengHei"/>
                          <a:ea typeface="Microsoft JhengHei"/>
                          <a:cs typeface="Arial"/>
                          <a:sym typeface="Arial"/>
                        </a:rPr>
                        <a:t>集團內所需單位做</a:t>
                      </a:r>
                      <a:r>
                        <a:rPr kumimoji="0" lang="zh-TW" altLang="zh-TW" sz="1400" b="1" i="0" u="none" strike="noStrike" kern="0" cap="none" spc="0" normalizeH="0" baseline="0" dirty="0">
                          <a:ln>
                            <a:noFill/>
                          </a:ln>
                          <a:solidFill>
                            <a:srgbClr val="000000"/>
                          </a:solidFill>
                          <a:effectLst/>
                          <a:uLnTx/>
                          <a:uFillTx/>
                          <a:latin typeface="Microsoft JhengHei"/>
                          <a:ea typeface="Microsoft JhengHei"/>
                          <a:cs typeface="Arial"/>
                          <a:sym typeface="Arial"/>
                        </a:rPr>
                        <a:t>應用</a:t>
                      </a:r>
                      <a:r>
                        <a:rPr kumimoji="0" lang="zh-TW" altLang="en-US" sz="1400" b="1" i="0" u="none" strike="noStrike" kern="0" cap="none" spc="0" normalizeH="0" baseline="0" noProof="0" dirty="0">
                          <a:ln>
                            <a:noFill/>
                          </a:ln>
                          <a:solidFill>
                            <a:srgbClr val="000000"/>
                          </a:solidFill>
                          <a:effectLst/>
                          <a:uLnTx/>
                          <a:uFillTx/>
                          <a:latin typeface="Microsoft JhengHei"/>
                          <a:ea typeface="Microsoft JhengHei"/>
                          <a:cs typeface="Arial"/>
                          <a:sym typeface="Arial"/>
                        </a:rPr>
                        <a:t>。</a:t>
                      </a:r>
                      <a:endParaRPr kumimoji="0" lang="en-US" altLang="zh-TW" sz="1400" b="1" i="0" u="none" strike="noStrike" kern="0" cap="none" spc="0" normalizeH="0" baseline="0" noProof="0" dirty="0">
                        <a:ln>
                          <a:noFill/>
                        </a:ln>
                        <a:solidFill>
                          <a:srgbClr val="000000"/>
                        </a:solidFill>
                        <a:effectLst/>
                        <a:uLnTx/>
                        <a:uFillTx/>
                        <a:latin typeface="Microsoft JhengHei"/>
                        <a:ea typeface="Microsoft JhengHei"/>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800"/>
                        <a:buFont typeface="+mj-lt"/>
                        <a:buNone/>
                        <a:tabLst/>
                        <a:defRPr/>
                      </a:pPr>
                      <a:r>
                        <a:rPr kumimoji="0" lang="en-US" altLang="zh-TW" sz="1400" b="1" i="0" u="none" strike="noStrike" kern="0" cap="none" spc="0" normalizeH="0" baseline="0" noProof="0" dirty="0">
                          <a:ln>
                            <a:noFill/>
                          </a:ln>
                          <a:solidFill>
                            <a:srgbClr val="000000"/>
                          </a:solidFill>
                          <a:effectLst/>
                          <a:uLnTx/>
                          <a:uFillTx/>
                          <a:latin typeface="Microsoft JhengHei"/>
                          <a:ea typeface="Microsoft JhengHei"/>
                          <a:cs typeface="Microsoft JhengHei"/>
                          <a:sym typeface="Microsoft JhengHei"/>
                        </a:rPr>
                        <a:t>2.</a:t>
                      </a:r>
                      <a:r>
                        <a:rPr kumimoji="0" lang="zh-TW" altLang="en-US" sz="1400" b="1" i="0" u="none" strike="noStrike" kern="0" cap="none" spc="0" normalizeH="0" baseline="0" noProof="0" dirty="0">
                          <a:ln>
                            <a:noFill/>
                          </a:ln>
                          <a:solidFill>
                            <a:srgbClr val="000000"/>
                          </a:solidFill>
                          <a:effectLst/>
                          <a:uLnTx/>
                          <a:uFillTx/>
                          <a:latin typeface="Microsoft JhengHei"/>
                          <a:ea typeface="Microsoft JhengHei"/>
                          <a:cs typeface="Microsoft JhengHei"/>
                          <a:sym typeface="Microsoft JhengHei"/>
                        </a:rPr>
                        <a:t> </a:t>
                      </a:r>
                      <a:r>
                        <a:rPr kumimoji="0" lang="zh-TW" altLang="en-US" sz="1400" b="1" i="0" u="none" strike="noStrike" kern="0" cap="none" spc="0" normalizeH="0" baseline="0" noProof="0" dirty="0">
                          <a:ln>
                            <a:noFill/>
                          </a:ln>
                          <a:solidFill>
                            <a:srgbClr val="000000"/>
                          </a:solidFill>
                          <a:effectLst/>
                          <a:uLnTx/>
                          <a:uFillTx/>
                          <a:latin typeface="Microsoft JhengHei"/>
                          <a:ea typeface="Microsoft JhengHei"/>
                          <a:cs typeface="Arial"/>
                          <a:sym typeface="Arial"/>
                        </a:rPr>
                        <a:t>支援</a:t>
                      </a:r>
                      <a:r>
                        <a:rPr kumimoji="0" lang="en-US" altLang="zh-TW" sz="1400" b="1" i="0" u="none" strike="noStrike" kern="0" cap="none" spc="0" normalizeH="0" baseline="0" noProof="0" dirty="0">
                          <a:ln>
                            <a:noFill/>
                          </a:ln>
                          <a:solidFill>
                            <a:srgbClr val="000000"/>
                          </a:solidFill>
                          <a:effectLst/>
                          <a:uLnTx/>
                          <a:uFillTx/>
                          <a:latin typeface="Microsoft JhengHei"/>
                          <a:ea typeface="Microsoft JhengHei"/>
                          <a:cs typeface="Arial"/>
                          <a:sym typeface="Arial"/>
                        </a:rPr>
                        <a:t>AI</a:t>
                      </a:r>
                      <a:r>
                        <a:rPr kumimoji="0" lang="zh-TW" altLang="en-US" sz="1400" b="1" i="0" u="none" strike="noStrike" kern="0" cap="none" spc="0" normalizeH="0" baseline="0" noProof="0" dirty="0">
                          <a:ln>
                            <a:noFill/>
                          </a:ln>
                          <a:solidFill>
                            <a:srgbClr val="000000"/>
                          </a:solidFill>
                          <a:effectLst/>
                          <a:uLnTx/>
                          <a:uFillTx/>
                          <a:latin typeface="Microsoft JhengHei"/>
                          <a:ea typeface="Microsoft JhengHei"/>
                          <a:cs typeface="Arial"/>
                          <a:sym typeface="Arial"/>
                        </a:rPr>
                        <a:t>分析模型訓練與開發需求，可透過以</a:t>
                      </a:r>
                      <a:r>
                        <a:rPr kumimoji="0" lang="en-US" altLang="zh-TW" sz="1400" b="1" i="0" u="none" strike="noStrike" kern="0" cap="none" spc="0" normalizeH="0" baseline="0" noProof="0" dirty="0">
                          <a:ln>
                            <a:noFill/>
                          </a:ln>
                          <a:solidFill>
                            <a:srgbClr val="000000"/>
                          </a:solidFill>
                          <a:effectLst/>
                          <a:uLnTx/>
                          <a:uFillTx/>
                          <a:latin typeface="Microsoft JhengHei"/>
                          <a:ea typeface="Microsoft JhengHei"/>
                          <a:cs typeface="Arial"/>
                          <a:sym typeface="Arial"/>
                        </a:rPr>
                        <a:t>DB Link</a:t>
                      </a:r>
                      <a:r>
                        <a:rPr kumimoji="0" lang="zh-TW" altLang="en-US" sz="1400" b="1" i="0" u="none" strike="noStrike" kern="0" cap="none" spc="0" normalizeH="0" baseline="0" noProof="0" dirty="0">
                          <a:ln>
                            <a:noFill/>
                          </a:ln>
                          <a:solidFill>
                            <a:srgbClr val="000000"/>
                          </a:solidFill>
                          <a:effectLst/>
                          <a:uLnTx/>
                          <a:uFillTx/>
                          <a:latin typeface="Microsoft JhengHei"/>
                          <a:ea typeface="Microsoft JhengHei"/>
                          <a:cs typeface="Arial"/>
                          <a:sym typeface="Arial"/>
                        </a:rPr>
                        <a:t>連到去識別環境讀取爬蟲資料。</a:t>
                      </a:r>
                    </a:p>
                  </a:txBody>
                  <a:tcPr marL="86401" marR="86401" marT="43200" marB="43200" anchor="ctr">
                    <a:lnL>
                      <a:noFill/>
                    </a:lnL>
                    <a:lnR w="28575"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782401822"/>
                  </a:ext>
                </a:extLst>
              </a:tr>
              <a:tr h="282379">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zh-TW" altLang="en-US" sz="1400" b="1" i="0" u="none" strike="noStrike" kern="0" cap="none" spc="0" normalizeH="0" baseline="0" noProof="0" dirty="0">
                        <a:ln>
                          <a:noFill/>
                        </a:ln>
                        <a:solidFill>
                          <a:srgbClr val="000000">
                            <a:lumMod val="85000"/>
                            <a:lumOff val="15000"/>
                          </a:srgbClr>
                        </a:solidFill>
                        <a:effectLst/>
                        <a:uLnTx/>
                        <a:uFillTx/>
                        <a:latin typeface="微軟正黑體" panose="020B0604030504040204" pitchFamily="34" charset="-120"/>
                        <a:ea typeface="微軟正黑體" panose="020B0604030504040204" pitchFamily="34" charset="-120"/>
                        <a:cs typeface="Arial"/>
                        <a:sym typeface="Arial"/>
                      </a:endParaRPr>
                    </a:p>
                  </a:txBody>
                  <a:tcPr marL="86401" marR="86401" marT="43200" marB="43200" anchor="ctr">
                    <a:lnL>
                      <a:noFill/>
                    </a:lnL>
                    <a:lnR w="28575"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84677774"/>
                  </a:ext>
                </a:extLst>
              </a:tr>
            </a:tbl>
          </a:graphicData>
        </a:graphic>
      </p:graphicFrame>
      <p:sp>
        <p:nvSpPr>
          <p:cNvPr id="7" name="矩形: 圓角 6">
            <a:extLst>
              <a:ext uri="{FF2B5EF4-FFF2-40B4-BE49-F238E27FC236}">
                <a16:creationId xmlns:a16="http://schemas.microsoft.com/office/drawing/2014/main" id="{69892D67-8319-8C83-03F0-B4B0E0462D03}"/>
              </a:ext>
            </a:extLst>
          </p:cNvPr>
          <p:cNvSpPr/>
          <p:nvPr/>
        </p:nvSpPr>
        <p:spPr bwMode="auto">
          <a:xfrm>
            <a:off x="208992" y="638626"/>
            <a:ext cx="5461040" cy="477766"/>
          </a:xfrm>
          <a:prstGeom prst="roundRect">
            <a:avLst>
              <a:gd name="adj" fmla="val 30779"/>
            </a:avLst>
          </a:prstGeom>
          <a:solidFill>
            <a:schemeClr val="bg1"/>
          </a:solidFill>
          <a:ln w="9525" cap="flat" cmpd="sng" algn="ctr">
            <a:solidFill>
              <a:srgbClr val="C0504D"/>
            </a:solidFill>
            <a:prstDash val="solid"/>
            <a:round/>
            <a:headEnd type="none" w="med" len="med"/>
            <a:tailEnd type="none" w="med" len="med"/>
          </a:ln>
          <a:effectLst>
            <a:outerShdw blurRad="127000" sx="102000" sy="102000" algn="ctr" rotWithShape="0">
              <a:prstClr val="black">
                <a:alpha val="40000"/>
              </a:prstClr>
            </a:outerShdw>
          </a:effectLst>
        </p:spPr>
        <p:txBody>
          <a:bodyPr vert="horz" wrap="square" lIns="86401" tIns="43200" rIns="86401" bIns="43200" numCol="1" rtlCol="0" anchor="ctr" anchorCtr="0" compatLnSpc="1">
            <a:prstTxWarp prst="textNoShape">
              <a:avLst/>
            </a:prstTxWarp>
          </a:bodyPr>
          <a:lstStyle/>
          <a:p>
            <a:pPr algn="ctr" defTabSz="864029"/>
            <a:r>
              <a:rPr lang="zh-TW" altLang="en-US" sz="1735" b="1" dirty="0">
                <a:solidFill>
                  <a:srgbClr val="C0504D"/>
                </a:solidFill>
                <a:latin typeface="微軟正黑體" panose="020B0604030504040204" pitchFamily="34" charset="-120"/>
                <a:ea typeface="微軟正黑體" panose="020B0604030504040204" pitchFamily="34" charset="-120"/>
              </a:rPr>
              <a:t>專案目標</a:t>
            </a:r>
          </a:p>
        </p:txBody>
      </p:sp>
      <p:sp>
        <p:nvSpPr>
          <p:cNvPr id="9" name="矩形: 圓角 8">
            <a:extLst>
              <a:ext uri="{FF2B5EF4-FFF2-40B4-BE49-F238E27FC236}">
                <a16:creationId xmlns:a16="http://schemas.microsoft.com/office/drawing/2014/main" id="{97942DEA-1F08-12A4-7959-370EFF13CC26}"/>
              </a:ext>
            </a:extLst>
          </p:cNvPr>
          <p:cNvSpPr/>
          <p:nvPr/>
        </p:nvSpPr>
        <p:spPr bwMode="auto">
          <a:xfrm>
            <a:off x="208990" y="2028560"/>
            <a:ext cx="5461041" cy="477766"/>
          </a:xfrm>
          <a:prstGeom prst="roundRect">
            <a:avLst>
              <a:gd name="adj" fmla="val 26935"/>
            </a:avLst>
          </a:prstGeom>
          <a:solidFill>
            <a:schemeClr val="bg1"/>
          </a:solidFill>
          <a:ln w="9525" cap="flat" cmpd="sng" algn="ctr">
            <a:solidFill>
              <a:srgbClr val="C0504D"/>
            </a:solidFill>
            <a:prstDash val="solid"/>
            <a:round/>
            <a:headEnd type="none" w="med" len="med"/>
            <a:tailEnd type="none" w="med" len="med"/>
          </a:ln>
          <a:effectLst>
            <a:outerShdw blurRad="127000" sx="102000" sy="102000" algn="ctr" rotWithShape="0">
              <a:prstClr val="black">
                <a:alpha val="40000"/>
              </a:prstClr>
            </a:outerShdw>
          </a:effectLst>
        </p:spPr>
        <p:txBody>
          <a:bodyPr vert="horz" wrap="square" lIns="86401" tIns="43200" rIns="86401" bIns="43200" numCol="1" rtlCol="0" anchor="ctr" anchorCtr="0" compatLnSpc="1">
            <a:prstTxWarp prst="textNoShape">
              <a:avLst/>
            </a:prstTxWarp>
          </a:bodyPr>
          <a:lstStyle/>
          <a:p>
            <a:pPr algn="ctr" defTabSz="864029"/>
            <a:r>
              <a:rPr lang="zh-TW" altLang="en-US" sz="1735" b="1" dirty="0">
                <a:solidFill>
                  <a:srgbClr val="C0504D"/>
                </a:solidFill>
                <a:latin typeface="微軟正黑體" panose="020B0604030504040204" pitchFamily="34" charset="-120"/>
                <a:ea typeface="微軟正黑體" panose="020B0604030504040204" pitchFamily="34" charset="-120"/>
              </a:rPr>
              <a:t>專案範圍</a:t>
            </a:r>
          </a:p>
        </p:txBody>
      </p:sp>
      <p:graphicFrame>
        <p:nvGraphicFramePr>
          <p:cNvPr id="10" name="表格 4">
            <a:extLst>
              <a:ext uri="{FF2B5EF4-FFF2-40B4-BE49-F238E27FC236}">
                <a16:creationId xmlns:a16="http://schemas.microsoft.com/office/drawing/2014/main" id="{C3DA7C07-E5DB-866E-BAFF-8345D06B036F}"/>
              </a:ext>
            </a:extLst>
          </p:cNvPr>
          <p:cNvGraphicFramePr>
            <a:graphicFrameLocks/>
          </p:cNvGraphicFramePr>
          <p:nvPr>
            <p:extLst>
              <p:ext uri="{D42A27DB-BD31-4B8C-83A1-F6EECF244321}">
                <p14:modId xmlns:p14="http://schemas.microsoft.com/office/powerpoint/2010/main" val="3603151490"/>
              </p:ext>
            </p:extLst>
          </p:nvPr>
        </p:nvGraphicFramePr>
        <p:xfrm>
          <a:off x="437352" y="2534090"/>
          <a:ext cx="5232679" cy="1254840"/>
        </p:xfrm>
        <a:graphic>
          <a:graphicData uri="http://schemas.openxmlformats.org/drawingml/2006/table">
            <a:tbl>
              <a:tblPr firstRow="1" bandRow="1">
                <a:tableStyleId>{0E3FDE45-AF77-4B5C-9715-49D594BDF05E}</a:tableStyleId>
              </a:tblPr>
              <a:tblGrid>
                <a:gridCol w="5232679">
                  <a:extLst>
                    <a:ext uri="{9D8B030D-6E8A-4147-A177-3AD203B41FA5}">
                      <a16:colId xmlns:a16="http://schemas.microsoft.com/office/drawing/2014/main" val="143121817"/>
                    </a:ext>
                  </a:extLst>
                </a:gridCol>
              </a:tblGrid>
              <a:tr h="719418">
                <a:tc>
                  <a:txBody>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altLang="zh-TW" sz="1600" b="1" i="0" u="none" strike="noStrike" kern="0" cap="none" spc="0" normalizeH="0" baseline="0" noProof="0" dirty="0">
                          <a:ln>
                            <a:noFill/>
                          </a:ln>
                          <a:solidFill>
                            <a:srgbClr val="000000"/>
                          </a:solidFill>
                          <a:effectLst/>
                          <a:uLnTx/>
                          <a:uFillTx/>
                          <a:latin typeface="Microsoft JhengHei"/>
                          <a:ea typeface="Microsoft JhengHei"/>
                          <a:cs typeface="Microsoft JhengHei"/>
                          <a:sym typeface="Microsoft JhengHei"/>
                        </a:rPr>
                        <a:t>1. </a:t>
                      </a:r>
                      <a:r>
                        <a:rPr kumimoji="0" lang="zh-TW" altLang="en-US" sz="1600" b="1" i="0" u="none" strike="noStrike" kern="0" cap="none" spc="0" normalizeH="0" baseline="0" noProof="0" dirty="0">
                          <a:ln>
                            <a:noFill/>
                          </a:ln>
                          <a:solidFill>
                            <a:srgbClr val="000000"/>
                          </a:solidFill>
                          <a:effectLst/>
                          <a:uLnTx/>
                          <a:uFillTx/>
                          <a:latin typeface="Microsoft JhengHei"/>
                          <a:ea typeface="Microsoft JhengHei"/>
                          <a:cs typeface="Microsoft JhengHei"/>
                          <a:sym typeface="Microsoft JhengHei"/>
                        </a:rPr>
                        <a:t>優化資料存儲：</a:t>
                      </a:r>
                      <a:r>
                        <a:rPr kumimoji="0" lang="zh-TW" altLang="en-US" sz="1400" b="1" i="0" u="none" strike="noStrike" kern="0" cap="none" spc="0" normalizeH="0" baseline="0" noProof="0" dirty="0">
                          <a:ln>
                            <a:noFill/>
                          </a:ln>
                          <a:solidFill>
                            <a:srgbClr val="000000"/>
                          </a:solidFill>
                          <a:effectLst/>
                          <a:uLnTx/>
                          <a:uFillTx/>
                          <a:latin typeface="Microsoft JhengHei"/>
                          <a:ea typeface="Microsoft JhengHei"/>
                          <a:cs typeface="Microsoft JhengHei"/>
                          <a:sym typeface="Microsoft JhengHei"/>
                        </a:rPr>
                        <a:t>優化資料庫，減少重複的資料儲存。</a:t>
                      </a:r>
                    </a:p>
                    <a:p>
                      <a:pPr marL="0" marR="0" lvl="0" indent="0" algn="l" defTabSz="914400" rtl="0" eaLnBrk="1" fontAlgn="auto" latinLnBrk="0" hangingPunct="1">
                        <a:lnSpc>
                          <a:spcPct val="100000"/>
                        </a:lnSpc>
                        <a:spcBef>
                          <a:spcPts val="600"/>
                        </a:spcBef>
                        <a:spcAft>
                          <a:spcPts val="0"/>
                        </a:spcAft>
                        <a:buClr>
                          <a:srgbClr val="000000"/>
                        </a:buClr>
                        <a:buSzPts val="1800"/>
                        <a:buFont typeface="Arial"/>
                        <a:buNone/>
                        <a:tabLst/>
                        <a:defRPr/>
                      </a:pPr>
                      <a:r>
                        <a:rPr kumimoji="0" lang="en-US" altLang="zh-TW" sz="1600" b="1" i="0" u="none" strike="noStrike" kern="0" cap="none" spc="0" normalizeH="0" baseline="0" noProof="0" dirty="0">
                          <a:ln>
                            <a:noFill/>
                          </a:ln>
                          <a:solidFill>
                            <a:srgbClr val="000000"/>
                          </a:solidFill>
                          <a:effectLst/>
                          <a:uLnTx/>
                          <a:uFillTx/>
                          <a:latin typeface="Microsoft JhengHei"/>
                          <a:ea typeface="Microsoft JhengHei"/>
                          <a:cs typeface="Microsoft JhengHei"/>
                          <a:sym typeface="Microsoft JhengHei"/>
                        </a:rPr>
                        <a:t>2. </a:t>
                      </a:r>
                      <a:r>
                        <a:rPr kumimoji="0" lang="zh-TW" altLang="en-US" sz="1600" b="1" i="0" u="none" strike="noStrike" kern="0" cap="none" spc="0" normalizeH="0" baseline="0" noProof="0" dirty="0">
                          <a:ln>
                            <a:noFill/>
                          </a:ln>
                          <a:solidFill>
                            <a:srgbClr val="000000"/>
                          </a:solidFill>
                          <a:effectLst/>
                          <a:uLnTx/>
                          <a:uFillTx/>
                          <a:latin typeface="Microsoft JhengHei"/>
                          <a:ea typeface="Microsoft JhengHei"/>
                          <a:cs typeface="Microsoft JhengHei"/>
                          <a:sym typeface="Microsoft JhengHei"/>
                        </a:rPr>
                        <a:t>建地端資料庫：</a:t>
                      </a:r>
                      <a:r>
                        <a:rPr kumimoji="0" lang="zh-TW" altLang="en-US" sz="1400" b="1" i="0" u="none" strike="noStrike" kern="0" cap="none" spc="0" normalizeH="0" baseline="0" dirty="0">
                          <a:ln>
                            <a:noFill/>
                          </a:ln>
                          <a:solidFill>
                            <a:srgbClr val="000000"/>
                          </a:solidFill>
                          <a:effectLst/>
                          <a:uLnTx/>
                          <a:uFillTx/>
                          <a:latin typeface="Microsoft JhengHei"/>
                          <a:ea typeface="Microsoft JhengHei"/>
                          <a:cs typeface="Microsoft JhengHei"/>
                          <a:sym typeface="Microsoft JhengHei"/>
                        </a:rPr>
                        <a:t>優化資料取得方式，使內部系統透過資料庫</a:t>
                      </a:r>
                      <a:endParaRPr kumimoji="0" lang="en-US" altLang="zh-TW" sz="1400" b="1" i="0" u="none" strike="noStrike" kern="0" cap="none" spc="0" normalizeH="0" baseline="0" dirty="0">
                        <a:ln>
                          <a:noFill/>
                        </a:ln>
                        <a:solidFill>
                          <a:srgbClr val="000000"/>
                        </a:solidFill>
                        <a:effectLst/>
                        <a:uLnTx/>
                        <a:uFillTx/>
                        <a:latin typeface="Microsoft JhengHei"/>
                        <a:ea typeface="Microsoft JhengHei"/>
                        <a:cs typeface="Microsoft JhengHei"/>
                        <a:sym typeface="Microsoft JhengHei"/>
                      </a:endParaRPr>
                    </a:p>
                    <a:p>
                      <a:pPr marL="0" marR="0" lvl="0" indent="0" algn="l" defTabSz="914400" rtl="0" eaLnBrk="1" fontAlgn="auto" latinLnBrk="0" hangingPunct="1">
                        <a:lnSpc>
                          <a:spcPct val="100000"/>
                        </a:lnSpc>
                        <a:spcBef>
                          <a:spcPts val="600"/>
                        </a:spcBef>
                        <a:spcAft>
                          <a:spcPts val="0"/>
                        </a:spcAft>
                        <a:buClr>
                          <a:srgbClr val="000000"/>
                        </a:buClr>
                        <a:buSzPts val="1800"/>
                        <a:buFont typeface="Arial"/>
                        <a:buNone/>
                        <a:tabLst/>
                        <a:defRPr/>
                      </a:pPr>
                      <a:r>
                        <a:rPr kumimoji="0" lang="en-US" altLang="zh-TW" sz="1400" b="1" i="0" u="none" strike="noStrike" kern="0" cap="none" spc="0" normalizeH="0" baseline="0" dirty="0">
                          <a:ln>
                            <a:noFill/>
                          </a:ln>
                          <a:solidFill>
                            <a:srgbClr val="000000"/>
                          </a:solidFill>
                          <a:effectLst/>
                          <a:uLnTx/>
                          <a:uFillTx/>
                          <a:latin typeface="Microsoft JhengHei"/>
                          <a:ea typeface="Microsoft JhengHei"/>
                          <a:cs typeface="Microsoft JhengHei"/>
                          <a:sym typeface="Microsoft JhengHei"/>
                        </a:rPr>
                        <a:t>                                     </a:t>
                      </a:r>
                      <a:r>
                        <a:rPr kumimoji="0" lang="zh-TW" altLang="en-US" sz="1400" b="1" i="0" u="none" strike="noStrike" kern="0" cap="none" spc="0" normalizeH="0" baseline="0" dirty="0">
                          <a:ln>
                            <a:noFill/>
                          </a:ln>
                          <a:solidFill>
                            <a:srgbClr val="000000"/>
                          </a:solidFill>
                          <a:effectLst/>
                          <a:uLnTx/>
                          <a:uFillTx/>
                          <a:latin typeface="Microsoft JhengHei"/>
                          <a:ea typeface="Microsoft JhengHei"/>
                          <a:cs typeface="Microsoft JhengHei"/>
                          <a:sym typeface="Microsoft JhengHei"/>
                        </a:rPr>
                        <a:t>連線，取用爬蟲資料</a:t>
                      </a:r>
                      <a:r>
                        <a:rPr kumimoji="0" lang="zh-TW" altLang="en-US" sz="1400" b="1" i="0" u="none" strike="noStrike" kern="0" cap="none" spc="0" normalizeH="0" baseline="0" noProof="0" dirty="0">
                          <a:ln>
                            <a:noFill/>
                          </a:ln>
                          <a:solidFill>
                            <a:srgbClr val="000000"/>
                          </a:solidFill>
                          <a:effectLst/>
                          <a:uLnTx/>
                          <a:uFillTx/>
                          <a:latin typeface="Microsoft JhengHei"/>
                          <a:ea typeface="Microsoft JhengHei"/>
                          <a:cs typeface="Microsoft JhengHei"/>
                          <a:sym typeface="Microsoft JhengHei"/>
                        </a:rPr>
                        <a:t>。</a:t>
                      </a:r>
                      <a:endParaRPr kumimoji="0" lang="zh-TW" altLang="en-US" sz="1200" b="1" i="0" u="none" strike="noStrike" kern="0" cap="none" spc="0" normalizeH="0" baseline="0" noProof="0" dirty="0">
                        <a:ln>
                          <a:noFill/>
                        </a:ln>
                        <a:solidFill>
                          <a:srgbClr val="000000"/>
                        </a:solidFill>
                        <a:effectLst/>
                        <a:uLnTx/>
                        <a:uFillTx/>
                        <a:latin typeface="Microsoft JhengHei"/>
                        <a:ea typeface="Microsoft JhengHei"/>
                        <a:cs typeface="Arial"/>
                        <a:sym typeface="Arial"/>
                      </a:endParaRPr>
                    </a:p>
                  </a:txBody>
                  <a:tcPr marL="86401" marR="86401" marT="43200" marB="43200" anchor="ctr">
                    <a:lnL>
                      <a:noFill/>
                    </a:lnL>
                    <a:lnR w="28575" cap="flat" cmpd="sng" algn="ctr">
                      <a:solidFill>
                        <a:schemeClr val="bg1"/>
                      </a:solidFill>
                      <a:prstDash val="solid"/>
                      <a:round/>
                      <a:headEnd type="none" w="med" len="med"/>
                      <a:tailEnd type="none" w="med" len="med"/>
                    </a:lnR>
                    <a:lnT w="12700" cmpd="sng">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8412356"/>
                  </a:ext>
                </a:extLst>
              </a:tr>
              <a:tr h="241123">
                <a:tc>
                  <a:txBody>
                    <a:bodyPr/>
                    <a:lstStyle/>
                    <a:p>
                      <a:pPr marL="0" indent="0">
                        <a:spcAft>
                          <a:spcPts val="612"/>
                        </a:spcAft>
                        <a:buFont typeface="Arial" panose="020B0604020202020204" pitchFamily="34" charset="0"/>
                        <a:buNone/>
                      </a:pPr>
                      <a:endParaRPr lang="zh-TW" altLang="zh-TW" sz="1500" kern="1200" dirty="0">
                        <a:solidFill>
                          <a:schemeClr val="tx1">
                            <a:lumMod val="65000"/>
                            <a:lumOff val="35000"/>
                          </a:schemeClr>
                        </a:solidFill>
                        <a:latin typeface="+mj-ea"/>
                        <a:ea typeface="+mn-ea"/>
                        <a:cs typeface="+mn-cs"/>
                      </a:endParaRPr>
                    </a:p>
                  </a:txBody>
                  <a:tcPr marL="86401" marR="86401" marT="43200" marB="43200" anchor="ctr">
                    <a:lnL>
                      <a:noFill/>
                    </a:lnL>
                    <a:lnR w="28575"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782401822"/>
                  </a:ext>
                </a:extLst>
              </a:tr>
            </a:tbl>
          </a:graphicData>
        </a:graphic>
      </p:graphicFrame>
      <p:sp>
        <p:nvSpPr>
          <p:cNvPr id="11" name="文字方塊 10">
            <a:extLst>
              <a:ext uri="{FF2B5EF4-FFF2-40B4-BE49-F238E27FC236}">
                <a16:creationId xmlns:a16="http://schemas.microsoft.com/office/drawing/2014/main" id="{95D5EA4B-B370-6BB4-C7B0-49A84B15FBD2}"/>
              </a:ext>
            </a:extLst>
          </p:cNvPr>
          <p:cNvSpPr txBox="1"/>
          <p:nvPr/>
        </p:nvSpPr>
        <p:spPr>
          <a:xfrm>
            <a:off x="6645075" y="632204"/>
            <a:ext cx="4213573" cy="370678"/>
          </a:xfrm>
          <a:prstGeom prst="rect">
            <a:avLst/>
          </a:prstGeom>
          <a:solidFill>
            <a:srgbClr val="C0504D"/>
          </a:solidFill>
          <a:ln>
            <a:solidFill>
              <a:srgbClr val="C0504D"/>
            </a:solidFill>
          </a:ln>
          <a:effectLst>
            <a:outerShdw blurRad="50800" dist="38100" dir="2700000" algn="tl" rotWithShape="0">
              <a:prstClr val="black">
                <a:alpha val="40000"/>
              </a:prstClr>
            </a:outerShdw>
          </a:effectLst>
        </p:spPr>
        <p:txBody>
          <a:bodyPr wrap="square" anchor="ctr">
            <a:noAutofit/>
          </a:bodyPr>
          <a:lstStyle>
            <a:defPPr>
              <a:defRPr lang="en-US"/>
            </a:defPPr>
            <a:lvl1pPr marL="0" marR="0" lvl="0" indent="0" algn="ctr" defTabSz="658710" eaLnBrk="1" fontAlgn="auto" latinLnBrk="0" hangingPunct="1">
              <a:lnSpc>
                <a:spcPct val="100000"/>
              </a:lnSpc>
              <a:spcBef>
                <a:spcPts val="0"/>
              </a:spcBef>
              <a:spcAft>
                <a:spcPts val="0"/>
              </a:spcAft>
              <a:buClrTx/>
              <a:buSzTx/>
              <a:buFontTx/>
              <a:buNone/>
              <a:tabLst/>
              <a:defRPr kumimoji="0" sz="1600" i="0" u="none" strike="noStrike" cap="none" spc="0" normalizeH="0" baseline="0">
                <a:ln>
                  <a:noFill/>
                </a:ln>
                <a:solidFill>
                  <a:prstClr val="white"/>
                </a:solidFill>
                <a:effectLst/>
                <a:uLnTx/>
                <a:uFillTx/>
                <a:latin typeface="Calibri" panose="020F0502020204030204" pitchFamily="34" charset="0"/>
                <a:ea typeface="+mn-ea"/>
                <a:cs typeface="Calibri" panose="020F0502020204030204" pitchFamily="34" charset="0"/>
              </a:defRPr>
            </a:lvl1pPr>
          </a:lstStyle>
          <a:p>
            <a:pPr>
              <a:spcAft>
                <a:spcPts val="295"/>
              </a:spcAft>
            </a:pPr>
            <a:r>
              <a:rPr lang="zh-TW" altLang="en-US" sz="1771" dirty="0">
                <a:latin typeface="微軟正黑體" panose="020B0604030504040204" pitchFamily="34" charset="-120"/>
                <a:ea typeface="微軟正黑體" panose="020B0604030504040204" pitchFamily="34" charset="-120"/>
              </a:rPr>
              <a:t>預估成本</a:t>
            </a:r>
            <a:endParaRPr lang="en-US" altLang="zh-TW" sz="1771" dirty="0">
              <a:latin typeface="微軟正黑體" panose="020B0604030504040204" pitchFamily="34" charset="-120"/>
              <a:ea typeface="微軟正黑體" panose="020B0604030504040204" pitchFamily="34" charset="-120"/>
            </a:endParaRPr>
          </a:p>
        </p:txBody>
      </p:sp>
      <p:sp>
        <p:nvSpPr>
          <p:cNvPr id="13" name="文字方塊 12">
            <a:extLst>
              <a:ext uri="{FF2B5EF4-FFF2-40B4-BE49-F238E27FC236}">
                <a16:creationId xmlns:a16="http://schemas.microsoft.com/office/drawing/2014/main" id="{07786373-8894-B9CB-5405-52F3C0067A02}"/>
              </a:ext>
            </a:extLst>
          </p:cNvPr>
          <p:cNvSpPr txBox="1"/>
          <p:nvPr/>
        </p:nvSpPr>
        <p:spPr>
          <a:xfrm>
            <a:off x="6645074" y="3203179"/>
            <a:ext cx="4213573" cy="370678"/>
          </a:xfrm>
          <a:prstGeom prst="rect">
            <a:avLst/>
          </a:prstGeom>
          <a:solidFill>
            <a:srgbClr val="C0504D"/>
          </a:solidFill>
          <a:ln>
            <a:solidFill>
              <a:srgbClr val="C0504D"/>
            </a:solidFill>
          </a:ln>
          <a:effectLst>
            <a:outerShdw blurRad="50800" dist="38100" dir="2700000" algn="tl" rotWithShape="0">
              <a:prstClr val="black">
                <a:alpha val="40000"/>
              </a:prstClr>
            </a:outerShdw>
          </a:effectLst>
        </p:spPr>
        <p:txBody>
          <a:bodyPr wrap="square" anchor="ctr">
            <a:noAutofit/>
          </a:bodyPr>
          <a:lstStyle>
            <a:defPPr>
              <a:defRPr lang="en-US"/>
            </a:defPPr>
            <a:lvl1pPr marL="0" marR="0" lvl="0" indent="0" algn="ctr" defTabSz="658710" eaLnBrk="1" fontAlgn="auto" latinLnBrk="0" hangingPunct="1">
              <a:lnSpc>
                <a:spcPct val="100000"/>
              </a:lnSpc>
              <a:spcBef>
                <a:spcPts val="0"/>
              </a:spcBef>
              <a:spcAft>
                <a:spcPts val="0"/>
              </a:spcAft>
              <a:buClrTx/>
              <a:buSzTx/>
              <a:buFontTx/>
              <a:buNone/>
              <a:tabLst/>
              <a:defRPr kumimoji="0" sz="1600" i="0" u="none" strike="noStrike" cap="none" spc="0" normalizeH="0" baseline="0">
                <a:ln>
                  <a:noFill/>
                </a:ln>
                <a:solidFill>
                  <a:prstClr val="white"/>
                </a:solidFill>
                <a:effectLst/>
                <a:uLnTx/>
                <a:uFillTx/>
                <a:latin typeface="Calibri" panose="020F0502020204030204" pitchFamily="34" charset="0"/>
                <a:ea typeface="+mn-ea"/>
                <a:cs typeface="Calibri" panose="020F0502020204030204" pitchFamily="34" charset="0"/>
              </a:defRPr>
            </a:lvl1pPr>
          </a:lstStyle>
          <a:p>
            <a:pPr>
              <a:spcAft>
                <a:spcPts val="295"/>
              </a:spcAft>
            </a:pPr>
            <a:r>
              <a:rPr lang="zh-TW" altLang="en-US" sz="1771" dirty="0">
                <a:latin typeface="微軟正黑體" panose="020B0604030504040204" pitchFamily="34" charset="-120"/>
                <a:ea typeface="微軟正黑體" panose="020B0604030504040204" pitchFamily="34" charset="-120"/>
              </a:rPr>
              <a:t>專案團隊</a:t>
            </a:r>
            <a:endParaRPr lang="en-US" altLang="zh-TW" sz="1771" dirty="0">
              <a:latin typeface="微軟正黑體" panose="020B0604030504040204" pitchFamily="34" charset="-120"/>
              <a:ea typeface="微軟正黑體" panose="020B0604030504040204" pitchFamily="34" charset="-120"/>
            </a:endParaRPr>
          </a:p>
        </p:txBody>
      </p:sp>
      <p:sp>
        <p:nvSpPr>
          <p:cNvPr id="2" name="矩形: 圓角 1">
            <a:extLst>
              <a:ext uri="{FF2B5EF4-FFF2-40B4-BE49-F238E27FC236}">
                <a16:creationId xmlns:a16="http://schemas.microsoft.com/office/drawing/2014/main" id="{890BC5E4-DF43-B4A6-5FD0-709C9BD38404}"/>
              </a:ext>
            </a:extLst>
          </p:cNvPr>
          <p:cNvSpPr/>
          <p:nvPr/>
        </p:nvSpPr>
        <p:spPr bwMode="auto">
          <a:xfrm>
            <a:off x="208990" y="3494631"/>
            <a:ext cx="5461040" cy="477766"/>
          </a:xfrm>
          <a:prstGeom prst="roundRect">
            <a:avLst>
              <a:gd name="adj" fmla="val 26935"/>
            </a:avLst>
          </a:prstGeom>
          <a:solidFill>
            <a:schemeClr val="bg1"/>
          </a:solidFill>
          <a:ln w="9525" cap="flat" cmpd="sng" algn="ctr">
            <a:solidFill>
              <a:srgbClr val="C0504D"/>
            </a:solidFill>
            <a:prstDash val="solid"/>
            <a:round/>
            <a:headEnd type="none" w="med" len="med"/>
            <a:tailEnd type="none" w="med" len="med"/>
          </a:ln>
          <a:effectLst>
            <a:outerShdw blurRad="127000" sx="102000" sy="102000" algn="ctr" rotWithShape="0">
              <a:prstClr val="black">
                <a:alpha val="40000"/>
              </a:prstClr>
            </a:outerShdw>
          </a:effectLst>
        </p:spPr>
        <p:txBody>
          <a:bodyPr vert="horz" wrap="square" lIns="86401" tIns="43200" rIns="86401" bIns="43200" numCol="1" rtlCol="0" anchor="ctr" anchorCtr="0" compatLnSpc="1">
            <a:prstTxWarp prst="textNoShape">
              <a:avLst/>
            </a:prstTxWarp>
          </a:bodyPr>
          <a:lstStyle/>
          <a:p>
            <a:pPr algn="ctr" defTabSz="864029"/>
            <a:r>
              <a:rPr lang="zh-TW" altLang="en-US" sz="1735" b="1" dirty="0">
                <a:solidFill>
                  <a:srgbClr val="C0504D"/>
                </a:solidFill>
                <a:latin typeface="微軟正黑體" panose="020B0604030504040204" pitchFamily="34" charset="-120"/>
                <a:ea typeface="微軟正黑體" panose="020B0604030504040204" pitchFamily="34" charset="-120"/>
              </a:rPr>
              <a:t>專案時程</a:t>
            </a:r>
          </a:p>
        </p:txBody>
      </p:sp>
      <p:graphicFrame>
        <p:nvGraphicFramePr>
          <p:cNvPr id="3" name="表格 2">
            <a:extLst>
              <a:ext uri="{FF2B5EF4-FFF2-40B4-BE49-F238E27FC236}">
                <a16:creationId xmlns:a16="http://schemas.microsoft.com/office/drawing/2014/main" id="{E00AF9BE-8216-09BE-70D6-23C11C27C85B}"/>
              </a:ext>
            </a:extLst>
          </p:cNvPr>
          <p:cNvGraphicFramePr>
            <a:graphicFrameLocks noGrp="1"/>
          </p:cNvGraphicFramePr>
          <p:nvPr>
            <p:extLst>
              <p:ext uri="{D42A27DB-BD31-4B8C-83A1-F6EECF244321}">
                <p14:modId xmlns:p14="http://schemas.microsoft.com/office/powerpoint/2010/main" val="3625738764"/>
              </p:ext>
            </p:extLst>
          </p:nvPr>
        </p:nvGraphicFramePr>
        <p:xfrm>
          <a:off x="401390" y="4139197"/>
          <a:ext cx="5203080" cy="1305518"/>
        </p:xfrm>
        <a:graphic>
          <a:graphicData uri="http://schemas.openxmlformats.org/drawingml/2006/table">
            <a:tbl>
              <a:tblPr bandRow="1">
                <a:tableStyleId>{68D230F3-CF80-4859-8CE7-A43EE81993B5}</a:tableStyleId>
              </a:tblPr>
              <a:tblGrid>
                <a:gridCol w="1051945">
                  <a:extLst>
                    <a:ext uri="{9D8B030D-6E8A-4147-A177-3AD203B41FA5}">
                      <a16:colId xmlns:a16="http://schemas.microsoft.com/office/drawing/2014/main" val="344445421"/>
                    </a:ext>
                  </a:extLst>
                </a:gridCol>
                <a:gridCol w="2492703">
                  <a:extLst>
                    <a:ext uri="{9D8B030D-6E8A-4147-A177-3AD203B41FA5}">
                      <a16:colId xmlns:a16="http://schemas.microsoft.com/office/drawing/2014/main" val="20000"/>
                    </a:ext>
                  </a:extLst>
                </a:gridCol>
                <a:gridCol w="829216">
                  <a:extLst>
                    <a:ext uri="{9D8B030D-6E8A-4147-A177-3AD203B41FA5}">
                      <a16:colId xmlns:a16="http://schemas.microsoft.com/office/drawing/2014/main" val="20001"/>
                    </a:ext>
                  </a:extLst>
                </a:gridCol>
                <a:gridCol w="829216">
                  <a:extLst>
                    <a:ext uri="{9D8B030D-6E8A-4147-A177-3AD203B41FA5}">
                      <a16:colId xmlns:a16="http://schemas.microsoft.com/office/drawing/2014/main" val="20002"/>
                    </a:ext>
                  </a:extLst>
                </a:gridCol>
              </a:tblGrid>
              <a:tr h="232510">
                <a:tc>
                  <a:txBody>
                    <a:bodyPr/>
                    <a:lstStyle/>
                    <a:p>
                      <a:pPr algn="ctr" fontAlgn="b"/>
                      <a:r>
                        <a:rPr lang="zh-TW" altLang="en-US" sz="1200" b="1" i="0" u="none" strike="noStrike" dirty="0">
                          <a:solidFill>
                            <a:schemeClr val="tx1"/>
                          </a:solidFill>
                          <a:effectLst/>
                          <a:latin typeface="微軟正黑體" panose="020B0604030504040204" pitchFamily="34" charset="-120"/>
                          <a:ea typeface="微軟正黑體" panose="020B0604030504040204" pitchFamily="34" charset="-120"/>
                        </a:rPr>
                        <a:t>階段</a:t>
                      </a:r>
                    </a:p>
                  </a:txBody>
                  <a:tcPr marL="9719" marR="9719" marT="97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zh-TW" altLang="en-US" sz="1200" b="1" u="none" strike="noStrike" dirty="0">
                          <a:solidFill>
                            <a:schemeClr val="tx1"/>
                          </a:solidFill>
                          <a:effectLst/>
                          <a:latin typeface="微軟正黑體" panose="020B0604030504040204" pitchFamily="34" charset="-120"/>
                          <a:ea typeface="微軟正黑體" panose="020B0604030504040204" pitchFamily="34" charset="-120"/>
                        </a:rPr>
                        <a:t>工作項目</a:t>
                      </a:r>
                      <a:endParaRPr lang="zh-TW" altLang="en-US" sz="1200" b="1" i="0" u="none" strike="noStrike" dirty="0">
                        <a:solidFill>
                          <a:schemeClr val="tx1"/>
                        </a:solidFill>
                        <a:effectLst/>
                        <a:latin typeface="微軟正黑體" panose="020B0604030504040204" pitchFamily="34" charset="-120"/>
                        <a:ea typeface="微軟正黑體" panose="020B0604030504040204" pitchFamily="34" charset="-120"/>
                      </a:endParaRPr>
                    </a:p>
                  </a:txBody>
                  <a:tcPr marL="9719" marR="9719" marT="97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zh-TW" altLang="en-US" sz="1200" b="1" u="none" strike="noStrike" dirty="0">
                          <a:solidFill>
                            <a:schemeClr val="tx1"/>
                          </a:solidFill>
                          <a:effectLst/>
                          <a:latin typeface="微軟正黑體" panose="020B0604030504040204" pitchFamily="34" charset="-120"/>
                          <a:ea typeface="微軟正黑體" panose="020B0604030504040204" pitchFamily="34" charset="-120"/>
                        </a:rPr>
                        <a:t>開始日</a:t>
                      </a:r>
                      <a:endParaRPr lang="zh-TW" altLang="en-US" sz="1200" b="1" i="0" u="none" strike="noStrike" dirty="0">
                        <a:solidFill>
                          <a:schemeClr val="tx1"/>
                        </a:solidFill>
                        <a:effectLst/>
                        <a:latin typeface="微軟正黑體" panose="020B0604030504040204" pitchFamily="34" charset="-120"/>
                        <a:ea typeface="微軟正黑體" panose="020B0604030504040204" pitchFamily="34" charset="-120"/>
                      </a:endParaRPr>
                    </a:p>
                  </a:txBody>
                  <a:tcPr marL="9719" marR="9719" marT="97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zh-TW" altLang="en-US" sz="1200" b="1" u="none" strike="noStrike" dirty="0">
                          <a:solidFill>
                            <a:schemeClr val="tx1"/>
                          </a:solidFill>
                          <a:effectLst/>
                          <a:latin typeface="微軟正黑體" panose="020B0604030504040204" pitchFamily="34" charset="-120"/>
                          <a:ea typeface="微軟正黑體" panose="020B0604030504040204" pitchFamily="34" charset="-120"/>
                        </a:rPr>
                        <a:t>截止日</a:t>
                      </a:r>
                      <a:endParaRPr lang="zh-TW" altLang="en-US" sz="1200" b="1" i="0" u="none" strike="noStrike" dirty="0">
                        <a:solidFill>
                          <a:schemeClr val="tx1"/>
                        </a:solidFill>
                        <a:effectLst/>
                        <a:latin typeface="微軟正黑體" panose="020B0604030504040204" pitchFamily="34" charset="-120"/>
                        <a:ea typeface="微軟正黑體" panose="020B0604030504040204" pitchFamily="34" charset="-120"/>
                      </a:endParaRPr>
                    </a:p>
                  </a:txBody>
                  <a:tcPr marL="9719" marR="9719" marT="97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232510">
                <a:tc>
                  <a:txBody>
                    <a:bodyPr/>
                    <a:lstStyle/>
                    <a:p>
                      <a:pPr algn="ctr" fontAlgn="b"/>
                      <a:r>
                        <a:rPr lang="zh-TW" altLang="en-US" sz="1200" b="1" i="0" u="none" strike="noStrike" dirty="0">
                          <a:solidFill>
                            <a:schemeClr val="tx1"/>
                          </a:solidFill>
                          <a:effectLst/>
                          <a:latin typeface="微軟正黑體" panose="020B0604030504040204" pitchFamily="34" charset="-120"/>
                          <a:ea typeface="微軟正黑體" panose="020B0604030504040204" pitchFamily="34" charset="-120"/>
                        </a:rPr>
                        <a:t>流程作業</a:t>
                      </a:r>
                    </a:p>
                  </a:txBody>
                  <a:tcPr marL="9719" marR="9719" marT="97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zh-TW" altLang="en-US" sz="1200" b="1" i="0" u="none" strike="noStrike" dirty="0">
                          <a:solidFill>
                            <a:schemeClr val="tx1"/>
                          </a:solidFill>
                          <a:effectLst/>
                          <a:latin typeface="微軟正黑體" panose="020B0604030504040204" pitchFamily="34" charset="-120"/>
                          <a:ea typeface="微軟正黑體" panose="020B0604030504040204" pitchFamily="34" charset="-120"/>
                        </a:rPr>
                        <a:t>合規、架構確認、數科核備</a:t>
                      </a:r>
                    </a:p>
                  </a:txBody>
                  <a:tcPr marL="9719" marR="9719" marT="97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altLang="zh-TW" sz="1200" b="1" u="none" strike="noStrike" dirty="0">
                          <a:solidFill>
                            <a:schemeClr val="tx1"/>
                          </a:solidFill>
                          <a:effectLst/>
                          <a:latin typeface="微軟正黑體" panose="020B0604030504040204" pitchFamily="34" charset="-120"/>
                          <a:ea typeface="微軟正黑體" panose="020B0604030504040204" pitchFamily="34" charset="-120"/>
                        </a:rPr>
                        <a:t>2025.07</a:t>
                      </a:r>
                      <a:endParaRPr lang="en-US" altLang="zh-TW" sz="1200" b="1" i="0" u="none" strike="noStrike" dirty="0">
                        <a:solidFill>
                          <a:schemeClr val="tx1"/>
                        </a:solidFill>
                        <a:effectLst/>
                        <a:latin typeface="微軟正黑體" panose="020B0604030504040204" pitchFamily="34" charset="-120"/>
                        <a:ea typeface="微軟正黑體" panose="020B0604030504040204" pitchFamily="34" charset="-120"/>
                      </a:endParaRPr>
                    </a:p>
                  </a:txBody>
                  <a:tcPr marL="9719" marR="9719" marT="97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altLang="zh-TW" sz="1200" b="1" u="none" strike="noStrike" dirty="0">
                          <a:solidFill>
                            <a:schemeClr val="tx1"/>
                          </a:solidFill>
                          <a:effectLst/>
                          <a:latin typeface="微軟正黑體" panose="020B0604030504040204" pitchFamily="34" charset="-120"/>
                          <a:ea typeface="微軟正黑體" panose="020B0604030504040204" pitchFamily="34" charset="-120"/>
                        </a:rPr>
                        <a:t>2025.10</a:t>
                      </a:r>
                      <a:endParaRPr lang="en-US" altLang="zh-TW" sz="1200" b="1" i="0" u="none" strike="noStrike" dirty="0">
                        <a:solidFill>
                          <a:schemeClr val="tx1"/>
                        </a:solidFill>
                        <a:effectLst/>
                        <a:latin typeface="微軟正黑體" panose="020B0604030504040204" pitchFamily="34" charset="-120"/>
                        <a:ea typeface="微軟正黑體" panose="020B0604030504040204" pitchFamily="34" charset="-120"/>
                      </a:endParaRPr>
                    </a:p>
                  </a:txBody>
                  <a:tcPr marL="9719" marR="9719" marT="97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85483634"/>
                  </a:ext>
                </a:extLst>
              </a:tr>
              <a:tr h="232510">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a:buNone/>
                        <a:tabLst/>
                        <a:defRPr/>
                      </a:pPr>
                      <a:r>
                        <a:rPr lang="zh-TW" altLang="en-US" sz="1200" b="1" i="0" u="none" strike="noStrike" dirty="0">
                          <a:solidFill>
                            <a:schemeClr val="tx1"/>
                          </a:solidFill>
                          <a:effectLst/>
                          <a:latin typeface="微軟正黑體" panose="020B0604030504040204" pitchFamily="34" charset="-120"/>
                          <a:ea typeface="微軟正黑體" panose="020B0604030504040204" pitchFamily="34" charset="-120"/>
                        </a:rPr>
                        <a:t>環境建置</a:t>
                      </a:r>
                    </a:p>
                  </a:txBody>
                  <a:tcPr marL="9719" marR="9719" marT="97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a:buNone/>
                        <a:tabLst/>
                        <a:defRPr/>
                      </a:pPr>
                      <a:r>
                        <a:rPr lang="zh-TW" altLang="en-US" sz="1200" b="1" i="0" u="none" strike="noStrike" dirty="0">
                          <a:solidFill>
                            <a:schemeClr val="tx1"/>
                          </a:solidFill>
                          <a:effectLst/>
                          <a:latin typeface="微軟正黑體" panose="020B0604030504040204" pitchFamily="34" charset="-120"/>
                          <a:ea typeface="微軟正黑體" panose="020B0604030504040204" pitchFamily="34" charset="-120"/>
                        </a:rPr>
                        <a:t>專案啟動</a:t>
                      </a:r>
                      <a:r>
                        <a:rPr lang="zh-TW" altLang="en-US" sz="1200" b="1" u="none" strike="noStrike" dirty="0">
                          <a:solidFill>
                            <a:schemeClr val="tx1"/>
                          </a:solidFill>
                          <a:effectLst/>
                          <a:latin typeface="微軟正黑體" panose="020B0604030504040204" pitchFamily="34" charset="-120"/>
                          <a:ea typeface="微軟正黑體" panose="020B0604030504040204" pitchFamily="34" charset="-120"/>
                        </a:rPr>
                        <a:t>、基礎環境建立</a:t>
                      </a:r>
                      <a:endParaRPr lang="zh-TW" altLang="en-US" sz="1200" b="1" i="0" u="none" strike="noStrike" dirty="0">
                        <a:solidFill>
                          <a:schemeClr val="tx1"/>
                        </a:solidFill>
                        <a:effectLst/>
                        <a:latin typeface="微軟正黑體" panose="020B0604030504040204" pitchFamily="34" charset="-120"/>
                        <a:ea typeface="微軟正黑體" panose="020B0604030504040204" pitchFamily="34" charset="-120"/>
                      </a:endParaRPr>
                    </a:p>
                  </a:txBody>
                  <a:tcPr marL="9719" marR="9719" marT="97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altLang="zh-TW" sz="1200" b="1" u="none" strike="noStrike" dirty="0">
                          <a:solidFill>
                            <a:schemeClr val="tx1"/>
                          </a:solidFill>
                          <a:effectLst/>
                          <a:latin typeface="微軟正黑體" panose="020B0604030504040204" pitchFamily="34" charset="-120"/>
                          <a:ea typeface="微軟正黑體" panose="020B0604030504040204" pitchFamily="34" charset="-120"/>
                        </a:rPr>
                        <a:t>2025.10</a:t>
                      </a:r>
                      <a:endParaRPr lang="en-US" altLang="zh-TW" sz="1200" b="1" i="0" u="none" strike="noStrike" dirty="0">
                        <a:solidFill>
                          <a:schemeClr val="tx1"/>
                        </a:solidFill>
                        <a:effectLst/>
                        <a:latin typeface="微軟正黑體" panose="020B0604030504040204" pitchFamily="34" charset="-120"/>
                        <a:ea typeface="微軟正黑體" panose="020B0604030504040204" pitchFamily="34" charset="-120"/>
                      </a:endParaRPr>
                    </a:p>
                  </a:txBody>
                  <a:tcPr marL="9719" marR="9719" marT="97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altLang="zh-TW" sz="1200" b="1" u="none" strike="noStrike" dirty="0">
                          <a:solidFill>
                            <a:schemeClr val="tx1"/>
                          </a:solidFill>
                          <a:effectLst/>
                          <a:latin typeface="微軟正黑體" panose="020B0604030504040204" pitchFamily="34" charset="-120"/>
                          <a:ea typeface="微軟正黑體" panose="020B0604030504040204" pitchFamily="34" charset="-120"/>
                        </a:rPr>
                        <a:t>2025.11</a:t>
                      </a:r>
                      <a:endParaRPr lang="en-US" altLang="zh-TW" sz="1200" b="1" i="0" u="none" strike="noStrike" dirty="0">
                        <a:solidFill>
                          <a:schemeClr val="tx1"/>
                        </a:solidFill>
                        <a:effectLst/>
                        <a:latin typeface="微軟正黑體" panose="020B0604030504040204" pitchFamily="34" charset="-120"/>
                        <a:ea typeface="微軟正黑體" panose="020B0604030504040204" pitchFamily="34" charset="-120"/>
                      </a:endParaRPr>
                    </a:p>
                  </a:txBody>
                  <a:tcPr marL="9719" marR="9719" marT="97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5754490"/>
                  </a:ext>
                </a:extLst>
              </a:tr>
              <a:tr h="360401">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a:buNone/>
                        <a:tabLst/>
                        <a:defRPr/>
                      </a:pPr>
                      <a:r>
                        <a:rPr lang="zh-TW" altLang="en-US" sz="1200" b="1" i="0" u="none" strike="noStrike" dirty="0">
                          <a:solidFill>
                            <a:schemeClr val="tx1"/>
                          </a:solidFill>
                          <a:effectLst/>
                          <a:latin typeface="微軟正黑體" panose="020B0604030504040204" pitchFamily="34" charset="-120"/>
                          <a:ea typeface="微軟正黑體" panose="020B0604030504040204" pitchFamily="34" charset="-120"/>
                        </a:rPr>
                        <a:t>開發作業</a:t>
                      </a:r>
                    </a:p>
                  </a:txBody>
                  <a:tcPr marL="9719" marR="9719" marT="97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mj-lt"/>
                        <a:buNone/>
                        <a:tabLst/>
                        <a:defRPr/>
                      </a:pPr>
                      <a:r>
                        <a:rPr lang="en-US" altLang="zh-TW" sz="1200" b="1" i="0" u="none" strike="noStrike" dirty="0">
                          <a:solidFill>
                            <a:schemeClr val="tx1"/>
                          </a:solidFill>
                          <a:effectLst/>
                          <a:latin typeface="微軟正黑體" panose="020B0604030504040204" pitchFamily="34" charset="-120"/>
                          <a:ea typeface="微軟正黑體" panose="020B0604030504040204" pitchFamily="34" charset="-120"/>
                        </a:rPr>
                        <a:t>1.</a:t>
                      </a:r>
                      <a:r>
                        <a:rPr lang="zh-TW" altLang="en-US" sz="1200" b="1" i="0" u="none" strike="noStrike" dirty="0">
                          <a:solidFill>
                            <a:schemeClr val="tx1"/>
                          </a:solidFill>
                          <a:effectLst/>
                          <a:latin typeface="微軟正黑體" panose="020B0604030504040204" pitchFamily="34" charset="-120"/>
                          <a:ea typeface="微軟正黑體" panose="020B0604030504040204" pitchFamily="34" charset="-120"/>
                        </a:rPr>
                        <a:t>前台功能程式開發</a:t>
                      </a:r>
                      <a:endParaRPr lang="en-US" altLang="zh-TW" sz="1200" b="1" i="0" u="none" strike="noStrike" dirty="0">
                        <a:solidFill>
                          <a:schemeClr val="tx1"/>
                        </a:solidFill>
                        <a:effectLst/>
                        <a:latin typeface="微軟正黑體" panose="020B0604030504040204" pitchFamily="34" charset="-120"/>
                        <a:ea typeface="微軟正黑體" panose="020B0604030504040204" pitchFamily="34" charset="-120"/>
                      </a:endParaRPr>
                    </a:p>
                    <a:p>
                      <a:pPr marL="0" marR="0" lvl="0" indent="0" algn="ctr" defTabSz="914400" rtl="0" eaLnBrk="1" fontAlgn="b" latinLnBrk="0" hangingPunct="1">
                        <a:lnSpc>
                          <a:spcPct val="100000"/>
                        </a:lnSpc>
                        <a:spcBef>
                          <a:spcPts val="0"/>
                        </a:spcBef>
                        <a:spcAft>
                          <a:spcPts val="0"/>
                        </a:spcAft>
                        <a:buClr>
                          <a:srgbClr val="000000"/>
                        </a:buClr>
                        <a:buSzTx/>
                        <a:buFont typeface="+mj-lt"/>
                        <a:buNone/>
                        <a:tabLst/>
                        <a:defRPr/>
                      </a:pPr>
                      <a:r>
                        <a:rPr lang="en-US" altLang="zh-TW" sz="1200" b="1" i="0" u="none" strike="noStrike" dirty="0">
                          <a:solidFill>
                            <a:schemeClr val="tx1"/>
                          </a:solidFill>
                          <a:effectLst/>
                          <a:latin typeface="微軟正黑體" panose="020B0604030504040204" pitchFamily="34" charset="-120"/>
                          <a:ea typeface="微軟正黑體" panose="020B0604030504040204" pitchFamily="34" charset="-120"/>
                        </a:rPr>
                        <a:t>        2.</a:t>
                      </a:r>
                      <a:r>
                        <a:rPr lang="zh-TW" altLang="en-US" sz="1200" b="1" i="0" u="none" strike="noStrike" dirty="0">
                          <a:solidFill>
                            <a:schemeClr val="tx1"/>
                          </a:solidFill>
                          <a:effectLst/>
                          <a:latin typeface="微軟正黑體" panose="020B0604030504040204" pitchFamily="34" charset="-120"/>
                          <a:ea typeface="微軟正黑體" panose="020B0604030504040204" pitchFamily="34" charset="-120"/>
                        </a:rPr>
                        <a:t>資料存儲優化程式開發</a:t>
                      </a:r>
                    </a:p>
                  </a:txBody>
                  <a:tcPr marL="9719" marR="9719" marT="97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altLang="zh-TW" sz="1200" b="1" u="none" strike="noStrike" dirty="0">
                          <a:solidFill>
                            <a:schemeClr val="tx1"/>
                          </a:solidFill>
                          <a:effectLst/>
                          <a:latin typeface="微軟正黑體" panose="020B0604030504040204" pitchFamily="34" charset="-120"/>
                          <a:ea typeface="微軟正黑體" panose="020B0604030504040204" pitchFamily="34" charset="-120"/>
                        </a:rPr>
                        <a:t>2025.10</a:t>
                      </a:r>
                      <a:endParaRPr lang="en-US" altLang="zh-TW" sz="1200" b="1" i="0" u="none" strike="noStrike" dirty="0">
                        <a:solidFill>
                          <a:schemeClr val="tx1"/>
                        </a:solidFill>
                        <a:effectLst/>
                        <a:latin typeface="微軟正黑體" panose="020B0604030504040204" pitchFamily="34" charset="-120"/>
                        <a:ea typeface="微軟正黑體" panose="020B0604030504040204" pitchFamily="34" charset="-120"/>
                      </a:endParaRPr>
                    </a:p>
                  </a:txBody>
                  <a:tcPr marL="9719" marR="9719" marT="97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a:buNone/>
                        <a:tabLst/>
                        <a:defRPr/>
                      </a:pPr>
                      <a:r>
                        <a:rPr lang="en-US" altLang="zh-TW" sz="1200" b="1" u="none" strike="noStrike" dirty="0">
                          <a:solidFill>
                            <a:schemeClr val="tx1"/>
                          </a:solidFill>
                          <a:effectLst/>
                          <a:latin typeface="微軟正黑體" panose="020B0604030504040204" pitchFamily="34" charset="-120"/>
                          <a:ea typeface="微軟正黑體" panose="020B0604030504040204" pitchFamily="34" charset="-120"/>
                        </a:rPr>
                        <a:t>2025.12</a:t>
                      </a:r>
                      <a:endParaRPr lang="en-US" altLang="zh-TW" sz="1200" b="1" i="0" u="none" strike="noStrike" dirty="0">
                        <a:solidFill>
                          <a:schemeClr val="tx1"/>
                        </a:solidFill>
                        <a:effectLst/>
                        <a:latin typeface="微軟正黑體" panose="020B0604030504040204" pitchFamily="34" charset="-120"/>
                        <a:ea typeface="微軟正黑體" panose="020B0604030504040204" pitchFamily="34" charset="-120"/>
                      </a:endParaRPr>
                    </a:p>
                  </a:txBody>
                  <a:tcPr marL="9719" marR="9719" marT="97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81573319"/>
                  </a:ext>
                </a:extLst>
              </a:tr>
              <a:tr h="232510">
                <a:tc>
                  <a:txBody>
                    <a:bodyPr/>
                    <a:lstStyle/>
                    <a:p>
                      <a:pPr algn="ctr" fontAlgn="b"/>
                      <a:r>
                        <a:rPr lang="zh-TW" altLang="en-US" sz="1200" b="1" i="0" u="none" strike="noStrike" dirty="0">
                          <a:solidFill>
                            <a:schemeClr val="tx1"/>
                          </a:solidFill>
                          <a:effectLst/>
                          <a:latin typeface="微軟正黑體" panose="020B0604030504040204" pitchFamily="34" charset="-120"/>
                          <a:ea typeface="微軟正黑體" panose="020B0604030504040204" pitchFamily="34" charset="-120"/>
                        </a:rPr>
                        <a:t>測試上線</a:t>
                      </a:r>
                    </a:p>
                  </a:txBody>
                  <a:tcPr marL="9719" marR="9719" marT="97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zh-TW" altLang="en-US" sz="1200" b="1" u="none" strike="noStrike" dirty="0">
                          <a:solidFill>
                            <a:schemeClr val="tx1"/>
                          </a:solidFill>
                          <a:effectLst/>
                          <a:latin typeface="微軟正黑體" panose="020B0604030504040204" pitchFamily="34" charset="-120"/>
                          <a:ea typeface="微軟正黑體" panose="020B0604030504040204" pitchFamily="34" charset="-120"/>
                        </a:rPr>
                        <a:t>功能測試</a:t>
                      </a:r>
                      <a:r>
                        <a:rPr lang="en-US" altLang="zh-TW" sz="1200" b="1" u="none" strike="noStrike" dirty="0">
                          <a:solidFill>
                            <a:schemeClr val="tx1"/>
                          </a:solidFill>
                          <a:effectLst/>
                          <a:latin typeface="微軟正黑體" panose="020B0604030504040204" pitchFamily="34" charset="-120"/>
                          <a:ea typeface="微軟正黑體" panose="020B0604030504040204" pitchFamily="34" charset="-120"/>
                        </a:rPr>
                        <a:t>(SIT,UAT)</a:t>
                      </a:r>
                      <a:r>
                        <a:rPr lang="zh-TW" altLang="en-US" sz="1200" b="1" u="none" strike="noStrike" dirty="0">
                          <a:solidFill>
                            <a:schemeClr val="tx1"/>
                          </a:solidFill>
                          <a:effectLst/>
                          <a:latin typeface="微軟正黑體" panose="020B0604030504040204" pitchFamily="34" charset="-120"/>
                          <a:ea typeface="微軟正黑體" panose="020B0604030504040204" pitchFamily="34" charset="-120"/>
                        </a:rPr>
                        <a:t>、上線</a:t>
                      </a:r>
                      <a:endParaRPr lang="zh-TW" altLang="en-US" sz="1200" b="1" i="0" u="none" strike="noStrike" dirty="0">
                        <a:solidFill>
                          <a:schemeClr val="tx1"/>
                        </a:solidFill>
                        <a:effectLst/>
                        <a:latin typeface="微軟正黑體" panose="020B0604030504040204" pitchFamily="34" charset="-120"/>
                        <a:ea typeface="微軟正黑體" panose="020B0604030504040204" pitchFamily="34" charset="-120"/>
                      </a:endParaRPr>
                    </a:p>
                  </a:txBody>
                  <a:tcPr marL="9719" marR="9719" marT="97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altLang="zh-TW" sz="1200" b="1" u="none" strike="noStrike" dirty="0">
                          <a:solidFill>
                            <a:schemeClr val="tx1"/>
                          </a:solidFill>
                          <a:effectLst/>
                          <a:latin typeface="微軟正黑體" panose="020B0604030504040204" pitchFamily="34" charset="-120"/>
                          <a:ea typeface="微軟正黑體" panose="020B0604030504040204" pitchFamily="34" charset="-120"/>
                        </a:rPr>
                        <a:t>2026.01</a:t>
                      </a:r>
                      <a:endParaRPr lang="en-US" altLang="zh-TW" sz="1200" b="1" i="0" u="none" strike="noStrike" dirty="0">
                        <a:solidFill>
                          <a:schemeClr val="tx1"/>
                        </a:solidFill>
                        <a:effectLst/>
                        <a:latin typeface="微軟正黑體" panose="020B0604030504040204" pitchFamily="34" charset="-120"/>
                        <a:ea typeface="微軟正黑體" panose="020B0604030504040204" pitchFamily="34" charset="-120"/>
                      </a:endParaRPr>
                    </a:p>
                  </a:txBody>
                  <a:tcPr marL="9719" marR="9719" marT="97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altLang="zh-TW" sz="1200" b="1" i="0" u="none" strike="noStrike" dirty="0">
                          <a:solidFill>
                            <a:schemeClr val="tx1"/>
                          </a:solidFill>
                          <a:effectLst/>
                          <a:latin typeface="微軟正黑體" panose="020B0604030504040204" pitchFamily="34" charset="-120"/>
                          <a:ea typeface="微軟正黑體" panose="020B0604030504040204" pitchFamily="34" charset="-120"/>
                        </a:rPr>
                        <a:t>2026.03</a:t>
                      </a:r>
                    </a:p>
                  </a:txBody>
                  <a:tcPr marL="9719" marR="9719" marT="971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14" name="Rectangle 97">
            <a:extLst>
              <a:ext uri="{FF2B5EF4-FFF2-40B4-BE49-F238E27FC236}">
                <a16:creationId xmlns:a16="http://schemas.microsoft.com/office/drawing/2014/main" id="{C1FC8C93-DE96-0278-4C1F-A403A84A195C}"/>
              </a:ext>
            </a:extLst>
          </p:cNvPr>
          <p:cNvSpPr>
            <a:spLocks noChangeArrowheads="1"/>
          </p:cNvSpPr>
          <p:nvPr/>
        </p:nvSpPr>
        <p:spPr bwMode="auto">
          <a:xfrm>
            <a:off x="6438112" y="1098461"/>
            <a:ext cx="4873386" cy="1943668"/>
          </a:xfrm>
          <a:prstGeom prst="rect">
            <a:avLst/>
          </a:prstGeom>
          <a:noFill/>
          <a:ln w="9525">
            <a:noFill/>
            <a:miter lim="800000"/>
            <a:headEnd type="none" w="sm" len="sm"/>
            <a:tailEnd type="none" w="sm" len="sm"/>
          </a:ln>
          <a:effectLst/>
        </p:spPr>
        <p:txBody>
          <a:bodyPr lIns="0" tIns="0" rIns="0" bIns="0"/>
          <a:lstStyle/>
          <a:p>
            <a:pPr marL="180975" indent="-180975">
              <a:buFont typeface="Wingdings" pitchFamily="2" charset="2"/>
              <a:buChar char="n"/>
              <a:defRPr/>
            </a:pPr>
            <a:r>
              <a:rPr lang="zh-TW" altLang="en-US" sz="1200" dirty="0">
                <a:solidFill>
                  <a:schemeClr val="tx1">
                    <a:lumMod val="85000"/>
                    <a:lumOff val="15000"/>
                  </a:schemeClr>
                </a:solidFill>
                <a:latin typeface="微軟正黑體" panose="020B0604030504040204" pitchFamily="34" charset="-120"/>
                <a:ea typeface="微軟正黑體" panose="020B0604030504040204" pitchFamily="34" charset="-120"/>
              </a:rPr>
              <a:t>硬體成本：</a:t>
            </a:r>
            <a:endParaRPr lang="en-US" altLang="zh-TW" sz="1200" dirty="0">
              <a:solidFill>
                <a:schemeClr val="tx1">
                  <a:lumMod val="85000"/>
                  <a:lumOff val="15000"/>
                </a:schemeClr>
              </a:solidFill>
              <a:latin typeface="微軟正黑體" panose="020B0604030504040204" pitchFamily="34" charset="-120"/>
              <a:ea typeface="微軟正黑體" panose="020B0604030504040204" pitchFamily="34" charset="-120"/>
            </a:endParaRPr>
          </a:p>
          <a:p>
            <a:pPr lvl="1">
              <a:defRPr/>
            </a:pPr>
            <a:r>
              <a:rPr lang="zh-TW" altLang="en-US" sz="1200" dirty="0">
                <a:solidFill>
                  <a:schemeClr val="tx1">
                    <a:lumMod val="85000"/>
                    <a:lumOff val="15000"/>
                  </a:schemeClr>
                </a:solidFill>
                <a:latin typeface="微軟正黑體" panose="020B0604030504040204" pitchFamily="34" charset="-120"/>
                <a:ea typeface="微軟正黑體" panose="020B0604030504040204" pitchFamily="34" charset="-120"/>
              </a:rPr>
              <a:t>地端 </a:t>
            </a:r>
            <a:r>
              <a:rPr lang="en-US" altLang="zh-TW" sz="1200" dirty="0">
                <a:solidFill>
                  <a:schemeClr val="tx1">
                    <a:lumMod val="85000"/>
                    <a:lumOff val="15000"/>
                  </a:schemeClr>
                </a:solidFill>
                <a:latin typeface="微軟正黑體" panose="020B0604030504040204" pitchFamily="34" charset="-120"/>
                <a:ea typeface="微軟正黑體" panose="020B0604030504040204" pitchFamily="34" charset="-120"/>
              </a:rPr>
              <a:t>: </a:t>
            </a:r>
            <a:r>
              <a:rPr lang="zh-TW" altLang="en-US" sz="1200" dirty="0">
                <a:solidFill>
                  <a:schemeClr val="tx1">
                    <a:lumMod val="85000"/>
                    <a:lumOff val="15000"/>
                  </a:schemeClr>
                </a:solidFill>
                <a:latin typeface="微軟正黑體" panose="020B0604030504040204" pitchFamily="34" charset="-120"/>
                <a:ea typeface="微軟正黑體" panose="020B0604030504040204" pitchFamily="34" charset="-120"/>
              </a:rPr>
              <a:t>使用既有資源</a:t>
            </a:r>
            <a:r>
              <a:rPr lang="en-US" altLang="zh-TW" sz="1200" dirty="0">
                <a:solidFill>
                  <a:schemeClr val="tx1">
                    <a:lumMod val="85000"/>
                    <a:lumOff val="15000"/>
                  </a:schemeClr>
                </a:solidFill>
                <a:latin typeface="微軟正黑體" panose="020B0604030504040204" pitchFamily="34" charset="-120"/>
                <a:ea typeface="微軟正黑體" panose="020B0604030504040204" pitchFamily="34" charset="-120"/>
              </a:rPr>
              <a:t>(</a:t>
            </a:r>
            <a:r>
              <a:rPr lang="zh-TW" altLang="en-US" sz="1200" dirty="0">
                <a:solidFill>
                  <a:schemeClr val="tx1">
                    <a:lumMod val="85000"/>
                    <a:lumOff val="15000"/>
                  </a:schemeClr>
                </a:solidFill>
                <a:latin typeface="微軟正黑體" panose="020B0604030504040204" pitchFamily="34" charset="-120"/>
                <a:ea typeface="微軟正黑體" panose="020B0604030504040204" pitchFamily="34" charset="-120"/>
              </a:rPr>
              <a:t>金控資料庫</a:t>
            </a:r>
            <a:r>
              <a:rPr lang="en-US" altLang="zh-TW" sz="1200" dirty="0">
                <a:solidFill>
                  <a:schemeClr val="tx1">
                    <a:lumMod val="85000"/>
                    <a:lumOff val="15000"/>
                  </a:schemeClr>
                </a:solidFill>
                <a:latin typeface="微軟正黑體" panose="020B0604030504040204" pitchFamily="34" charset="-120"/>
                <a:ea typeface="微軟正黑體" panose="020B0604030504040204" pitchFamily="34" charset="-120"/>
              </a:rPr>
              <a:t>)</a:t>
            </a:r>
          </a:p>
          <a:p>
            <a:pPr lvl="1">
              <a:defRPr/>
            </a:pPr>
            <a:r>
              <a:rPr lang="zh-TW" altLang="en-US" sz="1200" dirty="0">
                <a:solidFill>
                  <a:schemeClr val="tx1">
                    <a:lumMod val="85000"/>
                    <a:lumOff val="15000"/>
                  </a:schemeClr>
                </a:solidFill>
                <a:latin typeface="微軟正黑體" panose="020B0604030504040204" pitchFamily="34" charset="-120"/>
                <a:ea typeface="微軟正黑體" panose="020B0604030504040204" pitchFamily="34" charset="-120"/>
              </a:rPr>
              <a:t>雲端 </a:t>
            </a:r>
            <a:r>
              <a:rPr lang="en-US" altLang="zh-TW" sz="1200" dirty="0">
                <a:solidFill>
                  <a:schemeClr val="tx1">
                    <a:lumMod val="85000"/>
                    <a:lumOff val="15000"/>
                  </a:schemeClr>
                </a:solidFill>
                <a:latin typeface="微軟正黑體" panose="020B0604030504040204" pitchFamily="34" charset="-120"/>
                <a:ea typeface="微軟正黑體" panose="020B0604030504040204" pitchFamily="34" charset="-120"/>
              </a:rPr>
              <a:t>: AWS </a:t>
            </a:r>
            <a:r>
              <a:rPr lang="zh-TW" altLang="en-US" sz="1200" dirty="0">
                <a:solidFill>
                  <a:schemeClr val="tx1">
                    <a:lumMod val="85000"/>
                    <a:lumOff val="15000"/>
                  </a:schemeClr>
                </a:solidFill>
                <a:latin typeface="微軟正黑體" panose="020B0604030504040204" pitchFamily="34" charset="-120"/>
                <a:ea typeface="微軟正黑體" panose="020B0604030504040204" pitchFamily="34" charset="-120"/>
              </a:rPr>
              <a:t>雲端服務網路流量費用</a:t>
            </a:r>
            <a:r>
              <a:rPr lang="zh-TW" altLang="en-US" sz="1200" dirty="0">
                <a:solidFill>
                  <a:schemeClr val="tx1"/>
                </a:solidFill>
                <a:latin typeface="微軟正黑體" panose="020B0604030504040204" pitchFamily="34" charset="-120"/>
                <a:ea typeface="微軟正黑體" panose="020B0604030504040204" pitchFamily="34" charset="-120"/>
              </a:rPr>
              <a:t>預估 </a:t>
            </a:r>
            <a:r>
              <a:rPr lang="en-US" altLang="zh-TW" sz="1200" dirty="0">
                <a:solidFill>
                  <a:schemeClr val="tx1"/>
                </a:solidFill>
                <a:latin typeface="微軟正黑體" panose="020B0604030504040204" pitchFamily="34" charset="-120"/>
                <a:ea typeface="微軟正黑體" panose="020B0604030504040204" pitchFamily="34" charset="-120"/>
              </a:rPr>
              <a:t>$USD 56</a:t>
            </a:r>
            <a:r>
              <a:rPr lang="zh-TW" altLang="en-US" sz="1200" dirty="0">
                <a:solidFill>
                  <a:schemeClr val="tx1"/>
                </a:solidFill>
                <a:latin typeface="微軟正黑體" panose="020B0604030504040204" pitchFamily="34" charset="-120"/>
                <a:ea typeface="微軟正黑體" panose="020B0604030504040204" pitchFamily="34" charset="-120"/>
              </a:rPr>
              <a:t>元</a:t>
            </a:r>
            <a:r>
              <a:rPr lang="en-US" altLang="zh-TW" sz="1200" dirty="0">
                <a:solidFill>
                  <a:schemeClr val="tx1"/>
                </a:solidFill>
                <a:latin typeface="微軟正黑體" panose="020B0604030504040204" pitchFamily="34" charset="-120"/>
                <a:ea typeface="微軟正黑體" panose="020B0604030504040204" pitchFamily="34" charset="-120"/>
              </a:rPr>
              <a:t>/</a:t>
            </a:r>
            <a:r>
              <a:rPr lang="zh-TW" altLang="en-US" sz="1200" dirty="0">
                <a:solidFill>
                  <a:schemeClr val="tx1"/>
                </a:solidFill>
                <a:latin typeface="微軟正黑體" panose="020B0604030504040204" pitchFamily="34" charset="-120"/>
                <a:ea typeface="微軟正黑體" panose="020B0604030504040204" pitchFamily="34" charset="-120"/>
              </a:rPr>
              <a:t>月</a:t>
            </a:r>
            <a:r>
              <a:rPr lang="zh-TW" altLang="en-US" sz="1200" dirty="0">
                <a:solidFill>
                  <a:schemeClr val="tx1">
                    <a:lumMod val="85000"/>
                    <a:lumOff val="15000"/>
                  </a:schemeClr>
                </a:solidFill>
                <a:latin typeface="微軟正黑體" panose="020B0604030504040204" pitchFamily="34" charset="-120"/>
                <a:ea typeface="微軟正黑體" panose="020B0604030504040204" pitchFamily="34" charset="-120"/>
              </a:rPr>
              <a:t>，由伊雲谷每月出帳，數科處依帳單進行撥款申請</a:t>
            </a:r>
            <a:endParaRPr lang="en-US" altLang="zh-TW" sz="1200" dirty="0">
              <a:solidFill>
                <a:schemeClr val="tx1">
                  <a:lumMod val="85000"/>
                  <a:lumOff val="15000"/>
                </a:schemeClr>
              </a:solidFill>
              <a:latin typeface="微軟正黑體" panose="020B0604030504040204" pitchFamily="34" charset="-120"/>
              <a:ea typeface="微軟正黑體" panose="020B0604030504040204" pitchFamily="34" charset="-120"/>
            </a:endParaRPr>
          </a:p>
          <a:p>
            <a:pPr marL="180975" indent="-180975">
              <a:buFont typeface="Wingdings" pitchFamily="2" charset="2"/>
              <a:buChar char="n"/>
              <a:defRPr/>
            </a:pPr>
            <a:endParaRPr lang="en-US" altLang="zh-TW" sz="1200" dirty="0">
              <a:solidFill>
                <a:schemeClr val="tx1">
                  <a:lumMod val="85000"/>
                  <a:lumOff val="15000"/>
                </a:schemeClr>
              </a:solidFill>
              <a:latin typeface="微軟正黑體" panose="020B0604030504040204" pitchFamily="34" charset="-120"/>
              <a:ea typeface="微軟正黑體" panose="020B0604030504040204" pitchFamily="34" charset="-120"/>
            </a:endParaRPr>
          </a:p>
          <a:p>
            <a:pPr marL="180975" indent="-180975">
              <a:buFont typeface="Wingdings" pitchFamily="2" charset="2"/>
              <a:buChar char="n"/>
              <a:defRPr/>
            </a:pPr>
            <a:r>
              <a:rPr lang="zh-TW" altLang="en-US" sz="1200" dirty="0">
                <a:solidFill>
                  <a:schemeClr val="tx1">
                    <a:lumMod val="85000"/>
                    <a:lumOff val="15000"/>
                  </a:schemeClr>
                </a:solidFill>
                <a:latin typeface="微軟正黑體" panose="020B0604030504040204" pitchFamily="34" charset="-120"/>
                <a:ea typeface="微軟正黑體" panose="020B0604030504040204" pitchFamily="34" charset="-120"/>
              </a:rPr>
              <a:t>軟體成本： </a:t>
            </a:r>
            <a:endParaRPr lang="en-US" altLang="zh-TW" sz="1200" dirty="0">
              <a:solidFill>
                <a:schemeClr val="tx1">
                  <a:lumMod val="85000"/>
                  <a:lumOff val="15000"/>
                </a:schemeClr>
              </a:solidFill>
              <a:latin typeface="微軟正黑體" panose="020B0604030504040204" pitchFamily="34" charset="-120"/>
              <a:ea typeface="微軟正黑體" panose="020B0604030504040204" pitchFamily="34" charset="-120"/>
            </a:endParaRPr>
          </a:p>
          <a:p>
            <a:pPr lvl="1">
              <a:defRPr/>
            </a:pPr>
            <a:r>
              <a:rPr lang="zh-TW" altLang="en-US" sz="1200" dirty="0">
                <a:solidFill>
                  <a:schemeClr val="tx1">
                    <a:lumMod val="85000"/>
                    <a:lumOff val="15000"/>
                  </a:schemeClr>
                </a:solidFill>
                <a:latin typeface="微軟正黑體" panose="020B0604030504040204" pitchFamily="34" charset="-120"/>
                <a:ea typeface="微軟正黑體" panose="020B0604030504040204" pitchFamily="34" charset="-120"/>
              </a:rPr>
              <a:t>廠商開發：</a:t>
            </a:r>
            <a:r>
              <a:rPr lang="en-US" altLang="zh-TW" sz="1200" dirty="0">
                <a:solidFill>
                  <a:schemeClr val="tx1">
                    <a:lumMod val="85000"/>
                    <a:lumOff val="15000"/>
                  </a:schemeClr>
                </a:solidFill>
                <a:latin typeface="微軟正黑體" panose="020B0604030504040204" pitchFamily="34" charset="-120"/>
                <a:ea typeface="微軟正黑體" panose="020B0604030504040204" pitchFamily="34" charset="-120"/>
              </a:rPr>
              <a:t> 73</a:t>
            </a:r>
            <a:r>
              <a:rPr lang="en-US" altLang="zh-TW" sz="1200" dirty="0">
                <a:solidFill>
                  <a:schemeClr val="tx1"/>
                </a:solidFill>
                <a:latin typeface="微軟正黑體" panose="020B0604030504040204" pitchFamily="34" charset="-120"/>
                <a:ea typeface="微軟正黑體" panose="020B0604030504040204" pitchFamily="34" charset="-120"/>
              </a:rPr>
              <a:t>.7 </a:t>
            </a:r>
            <a:r>
              <a:rPr lang="zh-TW" altLang="en-US" sz="1200" dirty="0">
                <a:solidFill>
                  <a:schemeClr val="tx1"/>
                </a:solidFill>
                <a:latin typeface="微軟正黑體" panose="020B0604030504040204" pitchFamily="34" charset="-120"/>
                <a:ea typeface="微軟正黑體" panose="020B0604030504040204" pitchFamily="34" charset="-120"/>
              </a:rPr>
              <a:t>萬</a:t>
            </a:r>
            <a:r>
              <a:rPr lang="en-US" altLang="zh-TW" sz="1200" dirty="0">
                <a:solidFill>
                  <a:schemeClr val="tx1"/>
                </a:solidFill>
                <a:latin typeface="微軟正黑體" panose="020B0604030504040204" pitchFamily="34" charset="-120"/>
                <a:ea typeface="微軟正黑體" panose="020B0604030504040204" pitchFamily="34" charset="-120"/>
              </a:rPr>
              <a:t>(</a:t>
            </a:r>
            <a:r>
              <a:rPr lang="zh-TW" altLang="en-US" sz="1200" dirty="0">
                <a:solidFill>
                  <a:schemeClr val="tx1"/>
                </a:solidFill>
                <a:latin typeface="微軟正黑體" panose="020B0604030504040204" pitchFamily="34" charset="-120"/>
                <a:ea typeface="微軟正黑體" panose="020B0604030504040204" pitchFamily="34" charset="-120"/>
              </a:rPr>
              <a:t>議價前含稅</a:t>
            </a:r>
            <a:r>
              <a:rPr lang="en-US" altLang="zh-TW" sz="1200" dirty="0">
                <a:solidFill>
                  <a:schemeClr val="tx1"/>
                </a:solidFill>
                <a:latin typeface="微軟正黑體" panose="020B0604030504040204" pitchFamily="34" charset="-120"/>
                <a:ea typeface="微軟正黑體" panose="020B0604030504040204" pitchFamily="34" charset="-120"/>
              </a:rPr>
              <a:t>)</a:t>
            </a:r>
            <a:r>
              <a:rPr lang="zh-TW" altLang="en-US" sz="1200" dirty="0">
                <a:solidFill>
                  <a:schemeClr val="tx1"/>
                </a:solidFill>
                <a:latin typeface="微軟正黑體" panose="020B0604030504040204" pitchFamily="34" charset="-120"/>
                <a:ea typeface="微軟正黑體" panose="020B0604030504040204" pitchFamily="34" charset="-120"/>
              </a:rPr>
              <a:t> </a:t>
            </a:r>
            <a:r>
              <a:rPr lang="en-US" altLang="zh-TW" sz="1200" dirty="0">
                <a:solidFill>
                  <a:schemeClr val="tx1"/>
                </a:solidFill>
                <a:latin typeface="微軟正黑體" panose="020B0604030504040204" pitchFamily="34" charset="-120"/>
                <a:ea typeface="微軟正黑體" panose="020B0604030504040204" pitchFamily="34" charset="-120"/>
              </a:rPr>
              <a:t>(</a:t>
            </a:r>
            <a:r>
              <a:rPr lang="zh-TW" altLang="en-US" sz="1200" dirty="0">
                <a:solidFill>
                  <a:schemeClr val="tx1"/>
                </a:solidFill>
                <a:latin typeface="微軟正黑體" panose="020B0604030504040204" pitchFamily="34" charset="-120"/>
                <a:ea typeface="微軟正黑體" panose="020B0604030504040204" pitchFamily="34" charset="-120"/>
              </a:rPr>
              <a:t>資本支出</a:t>
            </a:r>
            <a:r>
              <a:rPr lang="en-US" altLang="zh-TW" sz="1200" dirty="0">
                <a:solidFill>
                  <a:schemeClr val="tx1"/>
                </a:solidFill>
                <a:latin typeface="微軟正黑體" panose="020B0604030504040204" pitchFamily="34" charset="-120"/>
                <a:ea typeface="微軟正黑體" panose="020B0604030504040204" pitchFamily="34" charset="-120"/>
              </a:rPr>
              <a:t>)</a:t>
            </a:r>
          </a:p>
          <a:p>
            <a:pPr marL="180975" indent="-180975">
              <a:buFont typeface="Wingdings" pitchFamily="2" charset="2"/>
              <a:buChar char="n"/>
              <a:defRPr/>
            </a:pPr>
            <a:endParaRPr lang="en-US" altLang="zh-TW" sz="1200" dirty="0">
              <a:solidFill>
                <a:schemeClr val="tx1">
                  <a:lumMod val="85000"/>
                  <a:lumOff val="15000"/>
                </a:schemeClr>
              </a:solidFill>
              <a:latin typeface="微軟正黑體" panose="020B0604030504040204" pitchFamily="34" charset="-120"/>
              <a:ea typeface="微軟正黑體" panose="020B0604030504040204" pitchFamily="34" charset="-120"/>
            </a:endParaRPr>
          </a:p>
          <a:p>
            <a:pPr marL="180975" indent="-180975">
              <a:buFont typeface="Wingdings" pitchFamily="2" charset="2"/>
              <a:buChar char="n"/>
              <a:defRPr/>
            </a:pPr>
            <a:r>
              <a:rPr lang="en-US" altLang="zh-TW" sz="1200" dirty="0">
                <a:solidFill>
                  <a:schemeClr val="tx1">
                    <a:lumMod val="85000"/>
                    <a:lumOff val="15000"/>
                  </a:schemeClr>
                </a:solidFill>
                <a:latin typeface="微軟正黑體" panose="020B0604030504040204" pitchFamily="34" charset="-120"/>
                <a:ea typeface="微軟正黑體" panose="020B0604030504040204" pitchFamily="34" charset="-120"/>
              </a:rPr>
              <a:t>IT(</a:t>
            </a:r>
            <a:r>
              <a:rPr lang="zh-TW" altLang="en-US" sz="1200" dirty="0">
                <a:solidFill>
                  <a:schemeClr val="tx1">
                    <a:lumMod val="85000"/>
                    <a:lumOff val="15000"/>
                  </a:schemeClr>
                </a:solidFill>
                <a:latin typeface="微軟正黑體" panose="020B0604030504040204" pitchFamily="34" charset="-120"/>
                <a:ea typeface="微軟正黑體" panose="020B0604030504040204" pitchFamily="34" charset="-120"/>
              </a:rPr>
              <a:t>金控</a:t>
            </a:r>
            <a:r>
              <a:rPr lang="en-US" altLang="zh-TW" sz="1200" dirty="0">
                <a:solidFill>
                  <a:schemeClr val="tx1">
                    <a:lumMod val="85000"/>
                    <a:lumOff val="15000"/>
                  </a:schemeClr>
                </a:solidFill>
                <a:latin typeface="微軟正黑體" pitchFamily="34" charset="-120"/>
                <a:ea typeface="微軟正黑體" pitchFamily="34" charset="-120"/>
              </a:rPr>
              <a:t>+IT)</a:t>
            </a:r>
            <a:r>
              <a:rPr lang="zh-TW" altLang="en-US" sz="1200" dirty="0">
                <a:solidFill>
                  <a:schemeClr val="tx1">
                    <a:lumMod val="85000"/>
                    <a:lumOff val="15000"/>
                  </a:schemeClr>
                </a:solidFill>
                <a:latin typeface="微軟正黑體" panose="020B0604030504040204" pitchFamily="34" charset="-120"/>
                <a:ea typeface="微軟正黑體" panose="020B0604030504040204" pitchFamily="34" charset="-120"/>
              </a:rPr>
              <a:t>人力：</a:t>
            </a:r>
            <a:r>
              <a:rPr lang="en-US" altLang="zh-TW" sz="1200" dirty="0">
                <a:solidFill>
                  <a:schemeClr val="tx1"/>
                </a:solidFill>
                <a:latin typeface="微軟正黑體" pitchFamily="34" charset="-120"/>
                <a:ea typeface="微軟正黑體" pitchFamily="34" charset="-120"/>
              </a:rPr>
              <a:t>6 </a:t>
            </a:r>
            <a:r>
              <a:rPr lang="zh-TW" altLang="en-US" sz="1200" dirty="0">
                <a:solidFill>
                  <a:schemeClr val="tx1"/>
                </a:solidFill>
                <a:latin typeface="微軟正黑體" panose="020B0604030504040204" pitchFamily="34" charset="-120"/>
                <a:ea typeface="微軟正黑體" panose="020B0604030504040204" pitchFamily="34" charset="-120"/>
              </a:rPr>
              <a:t>人月</a:t>
            </a:r>
            <a:endParaRPr lang="en-US" altLang="zh-TW" sz="1200" dirty="0">
              <a:solidFill>
                <a:schemeClr val="tx1"/>
              </a:solidFill>
              <a:latin typeface="微軟正黑體" panose="020B0604030504040204" pitchFamily="34" charset="-120"/>
              <a:ea typeface="微軟正黑體" panose="020B0604030504040204" pitchFamily="34" charset="-120"/>
            </a:endParaRPr>
          </a:p>
        </p:txBody>
      </p:sp>
      <p:sp>
        <p:nvSpPr>
          <p:cNvPr id="15" name="Rectangle 100">
            <a:extLst>
              <a:ext uri="{FF2B5EF4-FFF2-40B4-BE49-F238E27FC236}">
                <a16:creationId xmlns:a16="http://schemas.microsoft.com/office/drawing/2014/main" id="{6F2C75DF-B22C-44B5-C685-117B83608621}"/>
              </a:ext>
            </a:extLst>
          </p:cNvPr>
          <p:cNvSpPr>
            <a:spLocks noChangeArrowheads="1"/>
          </p:cNvSpPr>
          <p:nvPr/>
        </p:nvSpPr>
        <p:spPr bwMode="auto">
          <a:xfrm>
            <a:off x="6503672" y="3757587"/>
            <a:ext cx="5016816" cy="2141236"/>
          </a:xfrm>
          <a:prstGeom prst="rect">
            <a:avLst/>
          </a:prstGeom>
          <a:noFill/>
          <a:ln w="9525">
            <a:noFill/>
            <a:miter lim="800000"/>
            <a:headEnd type="none" w="sm" len="sm"/>
            <a:tailEnd type="none" w="sm" len="sm"/>
          </a:ln>
          <a:effectLst/>
        </p:spPr>
        <p:txBody>
          <a:bodyPr lIns="0" tIns="0" rIns="0" bIns="0"/>
          <a:lstStyle/>
          <a:p>
            <a:pPr marL="803275" indent="-803275" eaLnBrk="0" hangingPunct="0"/>
            <a:r>
              <a:rPr lang="zh-TW" altLang="en-US" b="1" dirty="0">
                <a:solidFill>
                  <a:schemeClr val="tx1">
                    <a:lumMod val="85000"/>
                    <a:lumOff val="15000"/>
                  </a:schemeClr>
                </a:solidFill>
                <a:latin typeface="微軟正黑體" panose="020B0604030504040204" pitchFamily="34" charset="-120"/>
                <a:ea typeface="微軟正黑體" panose="020B0604030504040204" pitchFamily="34" charset="-120"/>
              </a:rPr>
              <a:t>專案督導：張天豪、趙長宏</a:t>
            </a:r>
            <a:endParaRPr lang="en-US" altLang="zh-TW" b="1" dirty="0">
              <a:solidFill>
                <a:schemeClr val="tx1">
                  <a:lumMod val="85000"/>
                  <a:lumOff val="15000"/>
                </a:schemeClr>
              </a:solidFill>
              <a:latin typeface="微軟正黑體" pitchFamily="34" charset="-120"/>
              <a:ea typeface="微軟正黑體" pitchFamily="34" charset="-120"/>
            </a:endParaRPr>
          </a:p>
          <a:p>
            <a:pPr marL="803275" indent="-803275" eaLnBrk="0" hangingPunct="0"/>
            <a:endParaRPr lang="en-US" altLang="zh-TW" b="1" dirty="0">
              <a:solidFill>
                <a:schemeClr val="tx1">
                  <a:lumMod val="85000"/>
                  <a:lumOff val="15000"/>
                </a:schemeClr>
              </a:solidFill>
              <a:latin typeface="微軟正黑體" pitchFamily="34" charset="-120"/>
              <a:ea typeface="微軟正黑體" pitchFamily="34" charset="-120"/>
            </a:endParaRPr>
          </a:p>
          <a:p>
            <a:pPr marL="803275" indent="-803275" eaLnBrk="0" hangingPunct="0"/>
            <a:r>
              <a:rPr lang="zh-TW" altLang="en-US" b="1" dirty="0">
                <a:solidFill>
                  <a:schemeClr val="tx1">
                    <a:lumMod val="85000"/>
                    <a:lumOff val="15000"/>
                  </a:schemeClr>
                </a:solidFill>
                <a:latin typeface="微軟正黑體" panose="020B0604030504040204" pitchFamily="34" charset="-120"/>
                <a:ea typeface="微軟正黑體" panose="020B0604030504040204" pitchFamily="34" charset="-120"/>
              </a:rPr>
              <a:t>專案經理</a:t>
            </a:r>
            <a:r>
              <a:rPr lang="en-US" altLang="zh-TW" b="1" dirty="0">
                <a:solidFill>
                  <a:schemeClr val="tx1">
                    <a:lumMod val="85000"/>
                    <a:lumOff val="15000"/>
                  </a:schemeClr>
                </a:solidFill>
                <a:latin typeface="微軟正黑體" panose="020B0604030504040204" pitchFamily="34" charset="-120"/>
                <a:ea typeface="微軟正黑體" panose="020B0604030504040204" pitchFamily="34" charset="-120"/>
              </a:rPr>
              <a:t>(</a:t>
            </a:r>
            <a:r>
              <a:rPr lang="zh-TW" altLang="en-US" b="1" dirty="0">
                <a:solidFill>
                  <a:schemeClr val="tx1">
                    <a:lumMod val="85000"/>
                    <a:lumOff val="15000"/>
                  </a:schemeClr>
                </a:solidFill>
                <a:latin typeface="微軟正黑體" panose="020B0604030504040204" pitchFamily="34" charset="-120"/>
                <a:ea typeface="微軟正黑體" panose="020B0604030504040204" pitchFamily="34" charset="-120"/>
              </a:rPr>
              <a:t>金控數科處</a:t>
            </a:r>
            <a:r>
              <a:rPr lang="en-US" altLang="zh-TW" b="1" dirty="0">
                <a:solidFill>
                  <a:schemeClr val="tx1">
                    <a:lumMod val="85000"/>
                    <a:lumOff val="15000"/>
                  </a:schemeClr>
                </a:solidFill>
                <a:latin typeface="微軟正黑體" panose="020B0604030504040204" pitchFamily="34" charset="-120"/>
                <a:ea typeface="微軟正黑體" panose="020B0604030504040204" pitchFamily="34" charset="-120"/>
              </a:rPr>
              <a:t>)</a:t>
            </a:r>
            <a:r>
              <a:rPr lang="zh-TW" altLang="en-US" b="1" dirty="0">
                <a:solidFill>
                  <a:schemeClr val="tx1">
                    <a:lumMod val="85000"/>
                    <a:lumOff val="15000"/>
                  </a:schemeClr>
                </a:solidFill>
                <a:latin typeface="微軟正黑體" panose="020B0604030504040204" pitchFamily="34" charset="-120"/>
                <a:ea typeface="微軟正黑體" panose="020B0604030504040204" pitchFamily="34" charset="-120"/>
              </a:rPr>
              <a:t>：周國靖、唐俊智</a:t>
            </a:r>
            <a:endParaRPr lang="en-US" altLang="zh-TW" b="1" dirty="0">
              <a:solidFill>
                <a:schemeClr val="tx1">
                  <a:lumMod val="85000"/>
                  <a:lumOff val="15000"/>
                </a:schemeClr>
              </a:solidFill>
              <a:latin typeface="微軟正黑體" pitchFamily="34" charset="-120"/>
              <a:ea typeface="微軟正黑體" pitchFamily="34" charset="-120"/>
            </a:endParaRPr>
          </a:p>
          <a:p>
            <a:pPr marL="803275" indent="-803275" eaLnBrk="0" hangingPunct="0"/>
            <a:endParaRPr lang="en-US" altLang="zh-TW" b="1" dirty="0">
              <a:solidFill>
                <a:schemeClr val="tx1">
                  <a:lumMod val="85000"/>
                  <a:lumOff val="15000"/>
                </a:schemeClr>
              </a:solidFill>
              <a:latin typeface="微軟正黑體" pitchFamily="34" charset="-120"/>
              <a:ea typeface="微軟正黑體" pitchFamily="34" charset="-120"/>
            </a:endParaRPr>
          </a:p>
          <a:p>
            <a:pPr marL="803275" indent="-803275" eaLnBrk="0" hangingPunct="0"/>
            <a:r>
              <a:rPr lang="zh-TW" altLang="en-US" b="1" dirty="0">
                <a:solidFill>
                  <a:schemeClr val="tx1">
                    <a:lumMod val="85000"/>
                    <a:lumOff val="15000"/>
                  </a:schemeClr>
                </a:solidFill>
                <a:latin typeface="微軟正黑體" panose="020B0604030504040204" pitchFamily="34" charset="-120"/>
                <a:ea typeface="微軟正黑體" panose="020B0604030504040204" pitchFamily="34" charset="-120"/>
              </a:rPr>
              <a:t>資訊處</a:t>
            </a:r>
            <a:r>
              <a:rPr lang="en-US" altLang="zh-TW" b="1" dirty="0">
                <a:solidFill>
                  <a:schemeClr val="tx1">
                    <a:lumMod val="85000"/>
                    <a:lumOff val="15000"/>
                  </a:schemeClr>
                </a:solidFill>
                <a:latin typeface="微軟正黑體" panose="020B0604030504040204" pitchFamily="34" charset="-120"/>
                <a:ea typeface="微軟正黑體" panose="020B0604030504040204" pitchFamily="34" charset="-120"/>
              </a:rPr>
              <a:t>-</a:t>
            </a:r>
            <a:r>
              <a:rPr lang="zh-TW" altLang="en-US" b="1" dirty="0">
                <a:solidFill>
                  <a:schemeClr val="tx1">
                    <a:lumMod val="85000"/>
                    <a:lumOff val="15000"/>
                  </a:schemeClr>
                </a:solidFill>
                <a:latin typeface="微軟正黑體" panose="020B0604030504040204" pitchFamily="34" charset="-120"/>
                <a:ea typeface="微軟正黑體" panose="020B0604030504040204" pitchFamily="34" charset="-120"/>
              </a:rPr>
              <a:t>負責窗口</a:t>
            </a:r>
            <a:r>
              <a:rPr lang="en-US" altLang="zh-TW" b="1" dirty="0">
                <a:solidFill>
                  <a:schemeClr val="tx1">
                    <a:lumMod val="85000"/>
                    <a:lumOff val="15000"/>
                  </a:schemeClr>
                </a:solidFill>
                <a:latin typeface="微軟正黑體" panose="020B0604030504040204" pitchFamily="34" charset="-120"/>
                <a:ea typeface="微軟正黑體" panose="020B0604030504040204" pitchFamily="34" charset="-120"/>
              </a:rPr>
              <a:t>(</a:t>
            </a:r>
            <a:r>
              <a:rPr lang="zh-TW" altLang="en-US" b="1" dirty="0">
                <a:solidFill>
                  <a:schemeClr val="tx1">
                    <a:lumMod val="85000"/>
                    <a:lumOff val="15000"/>
                  </a:schemeClr>
                </a:solidFill>
                <a:latin typeface="微軟正黑體" panose="020B0604030504040204" pitchFamily="34" charset="-120"/>
                <a:ea typeface="微軟正黑體" panose="020B0604030504040204" pitchFamily="34" charset="-120"/>
              </a:rPr>
              <a:t>技術諮詢</a:t>
            </a:r>
            <a:r>
              <a:rPr lang="en-US" altLang="zh-TW" b="1" dirty="0">
                <a:solidFill>
                  <a:schemeClr val="tx1">
                    <a:lumMod val="85000"/>
                    <a:lumOff val="15000"/>
                  </a:schemeClr>
                </a:solidFill>
                <a:latin typeface="微軟正黑體" panose="020B0604030504040204" pitchFamily="34" charset="-120"/>
                <a:ea typeface="微軟正黑體" panose="020B0604030504040204" pitchFamily="34" charset="-120"/>
              </a:rPr>
              <a:t>)</a:t>
            </a:r>
            <a:r>
              <a:rPr lang="zh-TW" altLang="en-US" b="1" dirty="0">
                <a:solidFill>
                  <a:schemeClr val="tx1">
                    <a:lumMod val="85000"/>
                    <a:lumOff val="15000"/>
                  </a:schemeClr>
                </a:solidFill>
                <a:latin typeface="微軟正黑體" panose="020B0604030504040204" pitchFamily="34" charset="-120"/>
                <a:ea typeface="微軟正黑體" panose="020B0604030504040204" pitchFamily="34" charset="-120"/>
              </a:rPr>
              <a:t>：李元生</a:t>
            </a:r>
            <a:r>
              <a:rPr lang="en-US" altLang="zh-TW" b="1" dirty="0">
                <a:solidFill>
                  <a:schemeClr val="tx1">
                    <a:lumMod val="85000"/>
                    <a:lumOff val="15000"/>
                  </a:schemeClr>
                </a:solidFill>
                <a:latin typeface="微軟正黑體" panose="020B0604030504040204" pitchFamily="34" charset="-120"/>
                <a:ea typeface="微軟正黑體" panose="020B0604030504040204" pitchFamily="34" charset="-120"/>
              </a:rPr>
              <a:t>、</a:t>
            </a:r>
            <a:r>
              <a:rPr lang="zh-TW" altLang="en-US" b="1" dirty="0">
                <a:solidFill>
                  <a:schemeClr val="tx1">
                    <a:lumMod val="85000"/>
                    <a:lumOff val="15000"/>
                  </a:schemeClr>
                </a:solidFill>
                <a:latin typeface="微軟正黑體" panose="020B0604030504040204" pitchFamily="34" charset="-120"/>
                <a:ea typeface="微軟正黑體" panose="020B0604030504040204" pitchFamily="34" charset="-120"/>
              </a:rPr>
              <a:t>王炳森、莊佳叡</a:t>
            </a:r>
            <a:endParaRPr lang="en-US" altLang="zh-TW" b="1" strike="sngStrike" dirty="0">
              <a:solidFill>
                <a:schemeClr val="tx1">
                  <a:lumMod val="85000"/>
                  <a:lumOff val="15000"/>
                </a:schemeClr>
              </a:solidFill>
              <a:latin typeface="微軟正黑體" panose="020B0604030504040204" pitchFamily="34" charset="-120"/>
              <a:ea typeface="微軟正黑體" panose="020B0604030504040204" pitchFamily="34" charset="-120"/>
            </a:endParaRPr>
          </a:p>
          <a:p>
            <a:pPr marL="803275" indent="-803275" eaLnBrk="0" hangingPunct="0"/>
            <a:endParaRPr lang="en-US" altLang="zh-TW" b="1" dirty="0">
              <a:solidFill>
                <a:schemeClr val="tx1">
                  <a:lumMod val="85000"/>
                  <a:lumOff val="15000"/>
                </a:schemeClr>
              </a:solidFill>
              <a:latin typeface="微軟正黑體" panose="020B0604030504040204" pitchFamily="34" charset="-120"/>
              <a:ea typeface="微軟正黑體" panose="020B0604030504040204" pitchFamily="34" charset="-120"/>
            </a:endParaRPr>
          </a:p>
          <a:p>
            <a:pPr marL="803275" indent="-803275" eaLnBrk="0" hangingPunct="0"/>
            <a:r>
              <a:rPr lang="zh-TW" altLang="en-US" b="1" dirty="0">
                <a:solidFill>
                  <a:schemeClr val="tx1">
                    <a:lumMod val="85000"/>
                    <a:lumOff val="15000"/>
                  </a:schemeClr>
                </a:solidFill>
                <a:latin typeface="微軟正黑體" panose="020B0604030504040204" pitchFamily="34" charset="-120"/>
                <a:ea typeface="微軟正黑體" panose="020B0604030504040204" pitchFamily="34" charset="-120"/>
              </a:rPr>
              <a:t>資訊處：資料庫應用科、系統管理科、網路管理科、雲端容器科</a:t>
            </a:r>
            <a:endParaRPr lang="en-US" altLang="zh-TW" b="1" dirty="0">
              <a:solidFill>
                <a:schemeClr val="tx1">
                  <a:lumMod val="85000"/>
                  <a:lumOff val="15000"/>
                </a:schemeClr>
              </a:solidFill>
              <a:latin typeface="微軟正黑體" panose="020B0604030504040204" pitchFamily="34" charset="-120"/>
              <a:ea typeface="微軟正黑體" panose="020B0604030504040204" pitchFamily="34" charset="-12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g222eb5d9c60_0_38"/>
          <p:cNvSpPr txBox="1">
            <a:spLocks noGrp="1"/>
          </p:cNvSpPr>
          <p:nvPr>
            <p:ph type="title"/>
          </p:nvPr>
        </p:nvSpPr>
        <p:spPr>
          <a:xfrm>
            <a:off x="401390" y="60641"/>
            <a:ext cx="10717708" cy="600152"/>
          </a:xfrm>
          <a:prstGeom prst="rect">
            <a:avLst/>
          </a:prstGeom>
          <a:noFill/>
          <a:ln>
            <a:noFill/>
          </a:ln>
        </p:spPr>
        <p:txBody>
          <a:bodyPr spcFirstLastPara="1" wrap="square" lIns="88143" tIns="44059" rIns="88143" bIns="44059" anchor="ctr" anchorCtr="0">
            <a:noAutofit/>
          </a:bodyPr>
          <a:lstStyle/>
          <a:p>
            <a:pPr>
              <a:buSzPts val="1400"/>
            </a:pPr>
            <a:r>
              <a:rPr lang="zh-TW" altLang="en-US" b="1" dirty="0"/>
              <a:t>專案目標</a:t>
            </a:r>
            <a:endParaRPr b="1" dirty="0"/>
          </a:p>
        </p:txBody>
      </p:sp>
      <p:grpSp>
        <p:nvGrpSpPr>
          <p:cNvPr id="8" name="群組 7">
            <a:extLst>
              <a:ext uri="{FF2B5EF4-FFF2-40B4-BE49-F238E27FC236}">
                <a16:creationId xmlns:a16="http://schemas.microsoft.com/office/drawing/2014/main" id="{C1FE6CC6-BC3E-98B7-21E7-41B81AAB0DB3}"/>
              </a:ext>
            </a:extLst>
          </p:cNvPr>
          <p:cNvGrpSpPr/>
          <p:nvPr/>
        </p:nvGrpSpPr>
        <p:grpSpPr>
          <a:xfrm>
            <a:off x="1456266" y="545747"/>
            <a:ext cx="7938793" cy="5594440"/>
            <a:chOff x="1271065" y="-92645"/>
            <a:chExt cx="9212727" cy="7107171"/>
          </a:xfrm>
        </p:grpSpPr>
        <p:sp>
          <p:nvSpPr>
            <p:cNvPr id="12" name="等腰三角形 2">
              <a:extLst>
                <a:ext uri="{FF2B5EF4-FFF2-40B4-BE49-F238E27FC236}">
                  <a16:creationId xmlns:a16="http://schemas.microsoft.com/office/drawing/2014/main" id="{0234D05A-2319-7FF4-0A9E-A6A8C1F942EE}"/>
                </a:ext>
              </a:extLst>
            </p:cNvPr>
            <p:cNvSpPr/>
            <p:nvPr/>
          </p:nvSpPr>
          <p:spPr>
            <a:xfrm rot="1535038">
              <a:off x="3085206" y="-92645"/>
              <a:ext cx="3849252" cy="6217518"/>
            </a:xfrm>
            <a:custGeom>
              <a:avLst/>
              <a:gdLst/>
              <a:ahLst/>
              <a:cxnLst/>
              <a:rect l="l" t="t" r="r" b="b"/>
              <a:pathLst>
                <a:path w="3849252" h="6217518">
                  <a:moveTo>
                    <a:pt x="1739163" y="0"/>
                  </a:moveTo>
                  <a:lnTo>
                    <a:pt x="3849252" y="6217518"/>
                  </a:lnTo>
                  <a:lnTo>
                    <a:pt x="697228" y="6217518"/>
                  </a:lnTo>
                  <a:lnTo>
                    <a:pt x="0" y="5124562"/>
                  </a:lnTo>
                  <a:close/>
                </a:path>
              </a:pathLst>
            </a:custGeom>
            <a:solidFill>
              <a:schemeClr val="accent3">
                <a:lumMod val="50000"/>
              </a:schemeClr>
            </a:solidFill>
            <a:ln w="25400" cap="flat" cmpd="sng" algn="ctr">
              <a:noFill/>
              <a:prstDash val="solid"/>
            </a:ln>
            <a:effectLst/>
          </p:spPr>
          <p:txBody>
            <a:bodyPr rtlCol="0" anchor="ctr"/>
            <a:lstStyle/>
            <a:p>
              <a:pPr algn="ctr" defTabSz="914364">
                <a:defRPr/>
              </a:pPr>
              <a:endParaRPr lang="en-US" kern="0">
                <a:solidFill>
                  <a:sysClr val="window" lastClr="FFFFFF"/>
                </a:solidFill>
                <a:latin typeface="Calibri"/>
              </a:endParaRPr>
            </a:p>
          </p:txBody>
        </p:sp>
        <p:sp>
          <p:nvSpPr>
            <p:cNvPr id="16" name="等腰三角形 5">
              <a:extLst>
                <a:ext uri="{FF2B5EF4-FFF2-40B4-BE49-F238E27FC236}">
                  <a16:creationId xmlns:a16="http://schemas.microsoft.com/office/drawing/2014/main" id="{EEDFA457-C3DD-70A9-D828-F6A38F2C8194}"/>
                </a:ext>
              </a:extLst>
            </p:cNvPr>
            <p:cNvSpPr/>
            <p:nvPr/>
          </p:nvSpPr>
          <p:spPr>
            <a:xfrm rot="20540358" flipH="1">
              <a:off x="5079319" y="44181"/>
              <a:ext cx="3895321" cy="6453892"/>
            </a:xfrm>
            <a:custGeom>
              <a:avLst/>
              <a:gdLst/>
              <a:ahLst/>
              <a:cxnLst/>
              <a:rect l="l" t="t" r="r" b="b"/>
              <a:pathLst>
                <a:path w="3895321" h="6453891">
                  <a:moveTo>
                    <a:pt x="1658839" y="0"/>
                  </a:moveTo>
                  <a:lnTo>
                    <a:pt x="0" y="4602421"/>
                  </a:lnTo>
                  <a:lnTo>
                    <a:pt x="1832174" y="6453890"/>
                  </a:lnTo>
                  <a:lnTo>
                    <a:pt x="3643890" y="6453891"/>
                  </a:lnTo>
                  <a:lnTo>
                    <a:pt x="3895321" y="6205082"/>
                  </a:lnTo>
                  <a:close/>
                </a:path>
              </a:pathLst>
            </a:custGeom>
            <a:solidFill>
              <a:schemeClr val="accent4">
                <a:lumMod val="50000"/>
              </a:schemeClr>
            </a:solidFill>
            <a:ln w="25400" cap="flat" cmpd="sng" algn="ctr">
              <a:noFill/>
              <a:prstDash val="solid"/>
            </a:ln>
            <a:effectLst/>
          </p:spPr>
          <p:txBody>
            <a:bodyPr rtlCol="0" anchor="ctr"/>
            <a:lstStyle/>
            <a:p>
              <a:pPr algn="ctr" defTabSz="914364">
                <a:defRPr/>
              </a:pPr>
              <a:endParaRPr lang="en-US" kern="0" dirty="0">
                <a:solidFill>
                  <a:sysClr val="window" lastClr="FFFFFF"/>
                </a:solidFill>
                <a:latin typeface="Calibri"/>
              </a:endParaRPr>
            </a:p>
          </p:txBody>
        </p:sp>
        <p:grpSp>
          <p:nvGrpSpPr>
            <p:cNvPr id="17" name="组合 59">
              <a:extLst>
                <a:ext uri="{FF2B5EF4-FFF2-40B4-BE49-F238E27FC236}">
                  <a16:creationId xmlns:a16="http://schemas.microsoft.com/office/drawing/2014/main" id="{617D4A58-483E-65FA-730C-CC45F6F36220}"/>
                </a:ext>
              </a:extLst>
            </p:cNvPr>
            <p:cNvGrpSpPr/>
            <p:nvPr/>
          </p:nvGrpSpPr>
          <p:grpSpPr>
            <a:xfrm>
              <a:off x="1271065" y="4781786"/>
              <a:ext cx="9212727" cy="2232740"/>
              <a:chOff x="196506" y="5842856"/>
              <a:chExt cx="9212727" cy="1121125"/>
            </a:xfrm>
          </p:grpSpPr>
          <p:sp>
            <p:nvSpPr>
              <p:cNvPr id="25" name="等腰三角形 24">
                <a:extLst>
                  <a:ext uri="{FF2B5EF4-FFF2-40B4-BE49-F238E27FC236}">
                    <a16:creationId xmlns:a16="http://schemas.microsoft.com/office/drawing/2014/main" id="{B15F1553-D3E1-8671-BD62-87A27F8B70F2}"/>
                  </a:ext>
                </a:extLst>
              </p:cNvPr>
              <p:cNvSpPr/>
              <p:nvPr/>
            </p:nvSpPr>
            <p:spPr>
              <a:xfrm>
                <a:off x="196506" y="5842856"/>
                <a:ext cx="8999984" cy="1100496"/>
              </a:xfrm>
              <a:prstGeom prst="triangle">
                <a:avLst>
                  <a:gd name="adj" fmla="val 50154"/>
                </a:avLst>
              </a:prstGeom>
              <a:solidFill>
                <a:srgbClr val="215968">
                  <a:alpha val="56078"/>
                </a:srgbClr>
              </a:solidFill>
              <a:ln w="25400" cap="flat" cmpd="sng" algn="ctr">
                <a:noFill/>
                <a:prstDash val="solid"/>
              </a:ln>
              <a:effectLst>
                <a:softEdge rad="63500"/>
              </a:effectLst>
            </p:spPr>
            <p:txBody>
              <a:bodyPr rtlCol="0" anchor="ctr"/>
              <a:lstStyle/>
              <a:p>
                <a:pPr algn="ctr" defTabSz="914364">
                  <a:defRPr/>
                </a:pPr>
                <a:endParaRPr lang="en-US" kern="0">
                  <a:solidFill>
                    <a:sysClr val="window" lastClr="FFFFFF"/>
                  </a:solidFill>
                  <a:latin typeface="Calibri"/>
                </a:endParaRPr>
              </a:p>
            </p:txBody>
          </p:sp>
          <p:sp>
            <p:nvSpPr>
              <p:cNvPr id="26" name="等腰三角形 11">
                <a:extLst>
                  <a:ext uri="{FF2B5EF4-FFF2-40B4-BE49-F238E27FC236}">
                    <a16:creationId xmlns:a16="http://schemas.microsoft.com/office/drawing/2014/main" id="{EF471D7C-DA22-3BDF-270A-056FED8A77C9}"/>
                  </a:ext>
                </a:extLst>
              </p:cNvPr>
              <p:cNvSpPr/>
              <p:nvPr/>
            </p:nvSpPr>
            <p:spPr>
              <a:xfrm>
                <a:off x="444745" y="5916860"/>
                <a:ext cx="8964488" cy="1047121"/>
              </a:xfrm>
              <a:custGeom>
                <a:avLst/>
                <a:gdLst>
                  <a:gd name="connsiteX0" fmla="*/ 0 w 8964488"/>
                  <a:gd name="connsiteY0" fmla="*/ 1466938 h 1466938"/>
                  <a:gd name="connsiteX1" fmla="*/ 4496049 w 8964488"/>
                  <a:gd name="connsiteY1" fmla="*/ 0 h 1466938"/>
                  <a:gd name="connsiteX2" fmla="*/ 8964488 w 8964488"/>
                  <a:gd name="connsiteY2" fmla="*/ 1466938 h 1466938"/>
                  <a:gd name="connsiteX3" fmla="*/ 0 w 8964488"/>
                  <a:gd name="connsiteY3" fmla="*/ 1466938 h 1466938"/>
                  <a:gd name="connsiteX0" fmla="*/ 0 w 8964488"/>
                  <a:gd name="connsiteY0" fmla="*/ 1152613 h 1152613"/>
                  <a:gd name="connsiteX1" fmla="*/ 4281737 w 8964488"/>
                  <a:gd name="connsiteY1" fmla="*/ 0 h 1152613"/>
                  <a:gd name="connsiteX2" fmla="*/ 8964488 w 8964488"/>
                  <a:gd name="connsiteY2" fmla="*/ 1152613 h 1152613"/>
                  <a:gd name="connsiteX3" fmla="*/ 0 w 8964488"/>
                  <a:gd name="connsiteY3" fmla="*/ 1152613 h 1152613"/>
                </a:gdLst>
                <a:ahLst/>
                <a:cxnLst>
                  <a:cxn ang="0">
                    <a:pos x="connsiteX0" y="connsiteY0"/>
                  </a:cxn>
                  <a:cxn ang="0">
                    <a:pos x="connsiteX1" y="connsiteY1"/>
                  </a:cxn>
                  <a:cxn ang="0">
                    <a:pos x="connsiteX2" y="connsiteY2"/>
                  </a:cxn>
                  <a:cxn ang="0">
                    <a:pos x="connsiteX3" y="connsiteY3"/>
                  </a:cxn>
                </a:cxnLst>
                <a:rect l="l" t="t" r="r" b="b"/>
                <a:pathLst>
                  <a:path w="8964488" h="1152613">
                    <a:moveTo>
                      <a:pt x="0" y="1152613"/>
                    </a:moveTo>
                    <a:lnTo>
                      <a:pt x="4281737" y="0"/>
                    </a:lnTo>
                    <a:lnTo>
                      <a:pt x="8964488" y="1152613"/>
                    </a:lnTo>
                    <a:lnTo>
                      <a:pt x="0" y="1152613"/>
                    </a:lnTo>
                    <a:close/>
                  </a:path>
                </a:pathLst>
              </a:custGeom>
              <a:solidFill>
                <a:schemeClr val="tx2"/>
              </a:solidFill>
              <a:ln w="25400" cap="flat" cmpd="sng" algn="ctr">
                <a:noFill/>
                <a:prstDash val="solid"/>
              </a:ln>
              <a:effectLst/>
            </p:spPr>
            <p:txBody>
              <a:bodyPr rtlCol="0" anchor="ctr"/>
              <a:lstStyle/>
              <a:p>
                <a:pPr algn="ctr" defTabSz="914364">
                  <a:defRPr/>
                </a:pPr>
                <a:endParaRPr lang="en-US" kern="0">
                  <a:solidFill>
                    <a:sysClr val="window" lastClr="FFFFFF"/>
                  </a:solidFill>
                  <a:latin typeface="Calibri"/>
                </a:endParaRPr>
              </a:p>
            </p:txBody>
          </p:sp>
        </p:grpSp>
        <p:sp>
          <p:nvSpPr>
            <p:cNvPr id="18" name="TextBox 62">
              <a:extLst>
                <a:ext uri="{FF2B5EF4-FFF2-40B4-BE49-F238E27FC236}">
                  <a16:creationId xmlns:a16="http://schemas.microsoft.com/office/drawing/2014/main" id="{1E11E6C5-E042-3471-F77C-DF7744041E0B}"/>
                </a:ext>
              </a:extLst>
            </p:cNvPr>
            <p:cNvSpPr txBox="1"/>
            <p:nvPr/>
          </p:nvSpPr>
          <p:spPr>
            <a:xfrm>
              <a:off x="3333797" y="5970695"/>
              <a:ext cx="5109226" cy="848143"/>
            </a:xfrm>
            <a:prstGeom prst="rect">
              <a:avLst/>
            </a:prstGeom>
            <a:noFill/>
          </p:spPr>
          <p:txBody>
            <a:bodyPr wrap="square" rtlCol="0">
              <a:spAutoFit/>
            </a:bodyPr>
            <a:lstStyle>
              <a:defPPr>
                <a:defRPr lang="en-US"/>
              </a:defPPr>
              <a:lvl1pPr>
                <a:lnSpc>
                  <a:spcPct val="130000"/>
                </a:lnSpc>
                <a:defRPr sz="5400" b="1">
                  <a:solidFill>
                    <a:schemeClr val="tx1">
                      <a:lumMod val="65000"/>
                      <a:lumOff val="35000"/>
                    </a:schemeClr>
                  </a:solidFill>
                  <a:latin typeface="Agency FB" pitchFamily="34" charset="0"/>
                  <a:ea typeface="微软雅黑" pitchFamily="34" charset="-122"/>
                  <a:cs typeface="Calibri" pitchFamily="34" charset="0"/>
                </a:defRPr>
              </a:lvl1pPr>
            </a:lstStyle>
            <a:p>
              <a:pPr algn="ctr" defTabSz="914364">
                <a:defRPr/>
              </a:pPr>
              <a:r>
                <a:rPr lang="zh-TW" altLang="en-US" sz="3200" kern="0" dirty="0">
                  <a:solidFill>
                    <a:schemeClr val="tx1"/>
                  </a:solidFill>
                </a:rPr>
                <a:t>爬蟲館擴充案計畫目標</a:t>
              </a:r>
              <a:endParaRPr lang="zh-CN" altLang="en-US" sz="3200" kern="0" dirty="0">
                <a:solidFill>
                  <a:schemeClr val="tx1"/>
                </a:solidFill>
              </a:endParaRPr>
            </a:p>
          </p:txBody>
        </p:sp>
        <p:sp>
          <p:nvSpPr>
            <p:cNvPr id="19" name="TextBox 63">
              <a:extLst>
                <a:ext uri="{FF2B5EF4-FFF2-40B4-BE49-F238E27FC236}">
                  <a16:creationId xmlns:a16="http://schemas.microsoft.com/office/drawing/2014/main" id="{0F9B7B4F-B83D-C134-404E-F0ED370193B7}"/>
                </a:ext>
              </a:extLst>
            </p:cNvPr>
            <p:cNvSpPr txBox="1"/>
            <p:nvPr/>
          </p:nvSpPr>
          <p:spPr>
            <a:xfrm>
              <a:off x="5157740" y="1026398"/>
              <a:ext cx="1023940" cy="972574"/>
            </a:xfrm>
            <a:prstGeom prst="rect">
              <a:avLst/>
            </a:prstGeom>
            <a:noFill/>
          </p:spPr>
          <p:txBody>
            <a:bodyPr wrap="square" rtlCol="0">
              <a:spAutoFit/>
            </a:bodyPr>
            <a:lstStyle/>
            <a:p>
              <a:pPr defTabSz="914364">
                <a:lnSpc>
                  <a:spcPct val="130000"/>
                </a:lnSpc>
                <a:defRPr/>
              </a:pPr>
              <a:r>
                <a:rPr lang="en-US" altLang="zh-CN" sz="4400" b="1" kern="0" dirty="0">
                  <a:solidFill>
                    <a:sysClr val="window" lastClr="FFFFFF"/>
                  </a:solidFill>
                  <a:latin typeface="Agency FB" pitchFamily="34" charset="0"/>
                  <a:ea typeface="微软雅黑" pitchFamily="34" charset="-122"/>
                  <a:cs typeface="Calibri" pitchFamily="34" charset="0"/>
                </a:rPr>
                <a:t>01</a:t>
              </a:r>
              <a:endParaRPr lang="en-US" altLang="zh-CN" sz="4800" b="1" kern="0" dirty="0">
                <a:solidFill>
                  <a:sysClr val="window" lastClr="FFFFFF"/>
                </a:solidFill>
                <a:latin typeface="Agency FB" pitchFamily="34" charset="0"/>
                <a:ea typeface="微软雅黑" pitchFamily="34" charset="-122"/>
                <a:cs typeface="Calibri" pitchFamily="34" charset="0"/>
              </a:endParaRPr>
            </a:p>
          </p:txBody>
        </p:sp>
        <p:sp>
          <p:nvSpPr>
            <p:cNvPr id="20" name="TextBox 65">
              <a:extLst>
                <a:ext uri="{FF2B5EF4-FFF2-40B4-BE49-F238E27FC236}">
                  <a16:creationId xmlns:a16="http://schemas.microsoft.com/office/drawing/2014/main" id="{E194EE83-F94B-5FF9-1A8D-E1ECF241AB97}"/>
                </a:ext>
              </a:extLst>
            </p:cNvPr>
            <p:cNvSpPr txBox="1"/>
            <p:nvPr/>
          </p:nvSpPr>
          <p:spPr>
            <a:xfrm>
              <a:off x="3528977" y="1913596"/>
              <a:ext cx="2466543" cy="664536"/>
            </a:xfrm>
            <a:prstGeom prst="rect">
              <a:avLst/>
            </a:prstGeom>
            <a:noFill/>
          </p:spPr>
          <p:txBody>
            <a:bodyPr wrap="square" rtlCol="0">
              <a:spAutoFit/>
            </a:bodyPr>
            <a:lstStyle/>
            <a:p>
              <a:pPr defTabSz="914364">
                <a:lnSpc>
                  <a:spcPct val="130000"/>
                </a:lnSpc>
                <a:defRPr/>
              </a:pPr>
              <a:r>
                <a:rPr lang="zh-TW" altLang="en-US" sz="2400" b="1" kern="0" dirty="0">
                  <a:solidFill>
                    <a:sysClr val="window" lastClr="FFFFFF"/>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優化資料存儲</a:t>
              </a:r>
              <a:endParaRPr lang="zh-CN" altLang="en-US" sz="2400" b="1" kern="0" dirty="0">
                <a:solidFill>
                  <a:sysClr val="window" lastClr="FFFFFF"/>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endParaRPr>
            </a:p>
          </p:txBody>
        </p:sp>
        <p:sp>
          <p:nvSpPr>
            <p:cNvPr id="21" name="TextBox 69">
              <a:extLst>
                <a:ext uri="{FF2B5EF4-FFF2-40B4-BE49-F238E27FC236}">
                  <a16:creationId xmlns:a16="http://schemas.microsoft.com/office/drawing/2014/main" id="{F766B11A-7E5E-FF2B-E3DD-155A21BAFEB3}"/>
                </a:ext>
              </a:extLst>
            </p:cNvPr>
            <p:cNvSpPr txBox="1"/>
            <p:nvPr/>
          </p:nvSpPr>
          <p:spPr>
            <a:xfrm>
              <a:off x="6348298" y="997973"/>
              <a:ext cx="1023940" cy="868828"/>
            </a:xfrm>
            <a:prstGeom prst="rect">
              <a:avLst/>
            </a:prstGeom>
            <a:noFill/>
          </p:spPr>
          <p:txBody>
            <a:bodyPr wrap="square" rtlCol="0">
              <a:spAutoFit/>
            </a:bodyPr>
            <a:lstStyle/>
            <a:p>
              <a:pPr defTabSz="914364">
                <a:lnSpc>
                  <a:spcPct val="130000"/>
                </a:lnSpc>
                <a:defRPr/>
              </a:pPr>
              <a:r>
                <a:rPr lang="en-US" altLang="zh-CN" sz="4400" b="1" kern="0" dirty="0">
                  <a:solidFill>
                    <a:sysClr val="window" lastClr="FFFFFF"/>
                  </a:solidFill>
                  <a:latin typeface="Agency FB" pitchFamily="34" charset="0"/>
                  <a:ea typeface="微软雅黑" pitchFamily="34" charset="-122"/>
                  <a:cs typeface="Calibri" pitchFamily="34" charset="0"/>
                </a:rPr>
                <a:t>0</a:t>
              </a:r>
              <a:r>
                <a:rPr lang="en-US" altLang="zh-TW" sz="4400" b="1" kern="0" dirty="0">
                  <a:solidFill>
                    <a:sysClr val="window" lastClr="FFFFFF"/>
                  </a:solidFill>
                  <a:latin typeface="Agency FB" pitchFamily="34" charset="0"/>
                  <a:ea typeface="微软雅黑" pitchFamily="34" charset="-122"/>
                  <a:cs typeface="Calibri" pitchFamily="34" charset="0"/>
                </a:rPr>
                <a:t>2</a:t>
              </a:r>
              <a:endParaRPr lang="en-US" altLang="zh-CN" sz="4800" b="1" kern="0" dirty="0">
                <a:solidFill>
                  <a:sysClr val="window" lastClr="FFFFFF"/>
                </a:solidFill>
                <a:latin typeface="Agency FB" pitchFamily="34" charset="0"/>
                <a:ea typeface="微软雅黑" pitchFamily="34" charset="-122"/>
                <a:cs typeface="Calibri" pitchFamily="34" charset="0"/>
              </a:endParaRPr>
            </a:p>
          </p:txBody>
        </p:sp>
        <p:sp>
          <p:nvSpPr>
            <p:cNvPr id="22" name="TextBox 71">
              <a:extLst>
                <a:ext uri="{FF2B5EF4-FFF2-40B4-BE49-F238E27FC236}">
                  <a16:creationId xmlns:a16="http://schemas.microsoft.com/office/drawing/2014/main" id="{5EFE7D2C-59C9-2549-ED24-232E1482F385}"/>
                </a:ext>
              </a:extLst>
            </p:cNvPr>
            <p:cNvSpPr txBox="1"/>
            <p:nvPr/>
          </p:nvSpPr>
          <p:spPr>
            <a:xfrm>
              <a:off x="6141013" y="1923483"/>
              <a:ext cx="2466542" cy="1274493"/>
            </a:xfrm>
            <a:prstGeom prst="rect">
              <a:avLst/>
            </a:prstGeom>
            <a:noFill/>
          </p:spPr>
          <p:txBody>
            <a:bodyPr wrap="square" rtlCol="0">
              <a:spAutoFit/>
            </a:bodyPr>
            <a:lstStyle/>
            <a:p>
              <a:pPr defTabSz="914364">
                <a:lnSpc>
                  <a:spcPct val="130000"/>
                </a:lnSpc>
                <a:defRPr/>
              </a:pPr>
              <a:r>
                <a:rPr lang="zh-TW" altLang="en-US" sz="2400" b="1" kern="0" dirty="0">
                  <a:solidFill>
                    <a:sysClr val="window" lastClr="FFFFFF"/>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建地端資料庫 </a:t>
              </a:r>
              <a:r>
                <a:rPr lang="en-US" altLang="zh-TW" sz="2400" b="1" kern="0" dirty="0">
                  <a:solidFill>
                    <a:sysClr val="window" lastClr="FFFFFF"/>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(MSSQL)</a:t>
              </a:r>
            </a:p>
          </p:txBody>
        </p:sp>
        <p:sp>
          <p:nvSpPr>
            <p:cNvPr id="23" name="TextBox 22">
              <a:extLst>
                <a:ext uri="{FF2B5EF4-FFF2-40B4-BE49-F238E27FC236}">
                  <a16:creationId xmlns:a16="http://schemas.microsoft.com/office/drawing/2014/main" id="{1839377D-3419-65D5-923E-4097048C7FD7}"/>
                </a:ext>
              </a:extLst>
            </p:cNvPr>
            <p:cNvSpPr txBox="1"/>
            <p:nvPr/>
          </p:nvSpPr>
          <p:spPr>
            <a:xfrm>
              <a:off x="6178492" y="3192200"/>
              <a:ext cx="2570107" cy="2306895"/>
            </a:xfrm>
            <a:prstGeom prst="rect">
              <a:avLst/>
            </a:prstGeom>
            <a:noFill/>
          </p:spPr>
          <p:txBody>
            <a:bodyPr wrap="square" rtlCol="0">
              <a:spAutoFit/>
            </a:bodyPr>
            <a:lstStyle/>
            <a:p>
              <a:pPr marL="342900" indent="-342900">
                <a:buClr>
                  <a:srgbClr val="FFFFFF"/>
                </a:buClr>
                <a:buFont typeface="Arial" panose="020B0604020202020204" pitchFamily="34" charset="0"/>
                <a:buChar char="•"/>
              </a:pPr>
              <a:r>
                <a:rPr lang="zh-TW" altLang="en-US" sz="1600" kern="0" dirty="0">
                  <a:solidFill>
                    <a:schemeClr val="bg1"/>
                  </a:solidFill>
                  <a:latin typeface="Arial" pitchFamily="34" charset="0"/>
                  <a:ea typeface="微软雅黑" pitchFamily="34" charset="-122"/>
                  <a:cs typeface="Arial" pitchFamily="34" charset="0"/>
                </a:rPr>
                <a:t>優化後的資料，寫入雲端資料庫時，同時寫一份到地端資料庫</a:t>
              </a:r>
              <a:endParaRPr lang="en-US" altLang="zh-TW" sz="1600" kern="0" dirty="0">
                <a:solidFill>
                  <a:schemeClr val="bg1"/>
                </a:solidFill>
                <a:latin typeface="Arial" pitchFamily="34" charset="0"/>
                <a:ea typeface="微软雅黑" pitchFamily="34" charset="-122"/>
                <a:cs typeface="Arial" pitchFamily="34" charset="0"/>
              </a:endParaRPr>
            </a:p>
            <a:p>
              <a:pPr marL="342900" indent="-342900">
                <a:buClr>
                  <a:srgbClr val="FFFFFF"/>
                </a:buClr>
                <a:buFont typeface="Arial" panose="020B0604020202020204" pitchFamily="34" charset="0"/>
                <a:buChar char="•"/>
              </a:pPr>
              <a:r>
                <a:rPr lang="zh-TW" altLang="en-US" sz="1600" kern="0" dirty="0">
                  <a:solidFill>
                    <a:schemeClr val="bg1"/>
                  </a:solidFill>
                  <a:latin typeface="Arial" pitchFamily="34" charset="0"/>
                  <a:ea typeface="微软雅黑" pitchFamily="34" charset="-122"/>
                  <a:cs typeface="Arial" pitchFamily="34" charset="0"/>
                </a:rPr>
                <a:t>一次性從雲端搬移的資料至地端資料庫</a:t>
              </a:r>
              <a:endParaRPr lang="en-US" altLang="zh-CN" sz="1600" kern="0" dirty="0">
                <a:solidFill>
                  <a:schemeClr val="bg1"/>
                </a:solidFill>
                <a:latin typeface="Arial" pitchFamily="34" charset="0"/>
                <a:ea typeface="微软雅黑" pitchFamily="34" charset="-122"/>
                <a:cs typeface="Arial" pitchFamily="34" charset="0"/>
              </a:endParaRPr>
            </a:p>
          </p:txBody>
        </p:sp>
        <p:sp>
          <p:nvSpPr>
            <p:cNvPr id="24" name="TextBox 20">
              <a:extLst>
                <a:ext uri="{FF2B5EF4-FFF2-40B4-BE49-F238E27FC236}">
                  <a16:creationId xmlns:a16="http://schemas.microsoft.com/office/drawing/2014/main" id="{18F65ECA-A90B-5CF5-14EC-43B8BFF43BCB}"/>
                </a:ext>
              </a:extLst>
            </p:cNvPr>
            <p:cNvSpPr txBox="1"/>
            <p:nvPr/>
          </p:nvSpPr>
          <p:spPr>
            <a:xfrm>
              <a:off x="2964092" y="3153054"/>
              <a:ext cx="2541421" cy="2099144"/>
            </a:xfrm>
            <a:prstGeom prst="rect">
              <a:avLst/>
            </a:prstGeom>
            <a:noFill/>
          </p:spPr>
          <p:txBody>
            <a:bodyPr wrap="square" rtlCol="0">
              <a:spAutoFit/>
            </a:bodyPr>
            <a:lstStyle/>
            <a:p>
              <a:pPr marL="342900" indent="-342900">
                <a:buClr>
                  <a:srgbClr val="FFFFFF"/>
                </a:buClr>
                <a:buFont typeface="Arial" panose="020B0604020202020204" pitchFamily="34" charset="0"/>
                <a:buChar char="•"/>
              </a:pPr>
              <a:r>
                <a:rPr lang="zh-TW" altLang="en-US" sz="1600" kern="0" dirty="0">
                  <a:solidFill>
                    <a:schemeClr val="bg1"/>
                  </a:solidFill>
                  <a:latin typeface="Arial" pitchFamily="34" charset="0"/>
                  <a:ea typeface="微软雅黑" pitchFamily="34" charset="-122"/>
                  <a:cs typeface="Arial" pitchFamily="34" charset="0"/>
                </a:rPr>
                <a:t>優化現有爬蟲館資料集（如</a:t>
              </a:r>
              <a:r>
                <a:rPr lang="en-US" altLang="zh-TW" sz="1600" kern="0" dirty="0">
                  <a:solidFill>
                    <a:schemeClr val="bg1"/>
                  </a:solidFill>
                  <a:latin typeface="Arial" pitchFamily="34" charset="0"/>
                  <a:ea typeface="微软雅黑" pitchFamily="34" charset="-122"/>
                  <a:cs typeface="Arial" pitchFamily="34" charset="0"/>
                </a:rPr>
                <a:t>Primary Key</a:t>
              </a:r>
              <a:r>
                <a:rPr lang="zh-TW" altLang="en-US" sz="1600" kern="0" dirty="0">
                  <a:solidFill>
                    <a:schemeClr val="bg1"/>
                  </a:solidFill>
                  <a:latin typeface="Arial" pitchFamily="34" charset="0"/>
                  <a:ea typeface="微软雅黑" pitchFamily="34" charset="-122"/>
                  <a:cs typeface="Arial" pitchFamily="34" charset="0"/>
                </a:rPr>
                <a:t>、</a:t>
              </a:r>
              <a:r>
                <a:rPr lang="en-US" altLang="zh-TW" sz="1600" kern="0" dirty="0">
                  <a:solidFill>
                    <a:schemeClr val="bg1"/>
                  </a:solidFill>
                  <a:latin typeface="Arial" pitchFamily="34" charset="0"/>
                  <a:ea typeface="微软雅黑" pitchFamily="34" charset="-122"/>
                  <a:cs typeface="Arial" pitchFamily="34" charset="0"/>
                </a:rPr>
                <a:t>Index</a:t>
              </a:r>
              <a:r>
                <a:rPr lang="zh-TW" altLang="en-US" sz="1600" kern="0" dirty="0">
                  <a:solidFill>
                    <a:schemeClr val="bg1"/>
                  </a:solidFill>
                  <a:latin typeface="Arial" pitchFamily="34" charset="0"/>
                  <a:ea typeface="微软雅黑" pitchFamily="34" charset="-122"/>
                  <a:cs typeface="Arial" pitchFamily="34" charset="0"/>
                </a:rPr>
                <a:t>、歷史資料留存）</a:t>
              </a:r>
              <a:endParaRPr lang="en-US" altLang="zh-TW" sz="1600" kern="0" dirty="0">
                <a:solidFill>
                  <a:schemeClr val="bg1"/>
                </a:solidFill>
                <a:latin typeface="Arial" pitchFamily="34" charset="0"/>
                <a:ea typeface="微软雅黑" pitchFamily="34" charset="-122"/>
                <a:cs typeface="Arial" pitchFamily="34" charset="0"/>
              </a:endParaRPr>
            </a:p>
            <a:p>
              <a:pPr marL="342900" indent="-342900">
                <a:buClr>
                  <a:srgbClr val="FFFFFF"/>
                </a:buClr>
                <a:buFont typeface="Arial" panose="020B0604020202020204" pitchFamily="34" charset="0"/>
                <a:buChar char="•"/>
              </a:pPr>
              <a:r>
                <a:rPr lang="zh-TW" altLang="en-US" sz="1600" kern="0" dirty="0">
                  <a:solidFill>
                    <a:schemeClr val="bg1"/>
                  </a:solidFill>
                  <a:latin typeface="Arial" pitchFamily="34" charset="0"/>
                  <a:ea typeface="微软雅黑" pitchFamily="34" charset="-122"/>
                  <a:cs typeface="Arial" pitchFamily="34" charset="0"/>
                </a:rPr>
                <a:t>提供</a:t>
              </a:r>
              <a:r>
                <a:rPr lang="en-US" altLang="zh-TW" sz="1600" kern="0" dirty="0">
                  <a:solidFill>
                    <a:schemeClr val="bg1"/>
                  </a:solidFill>
                  <a:latin typeface="Arial" pitchFamily="34" charset="0"/>
                  <a:ea typeface="微软雅黑" pitchFamily="34" charset="-122"/>
                  <a:cs typeface="Arial" pitchFamily="34" charset="0"/>
                </a:rPr>
                <a:t>”</a:t>
              </a:r>
              <a:r>
                <a:rPr lang="zh-TW" altLang="en-US" sz="1600" kern="0" dirty="0">
                  <a:solidFill>
                    <a:schemeClr val="bg1"/>
                  </a:solidFill>
                  <a:latin typeface="Arial" pitchFamily="34" charset="0"/>
                  <a:ea typeface="微软雅黑" pitchFamily="34" charset="-122"/>
                  <a:cs typeface="Arial" pitchFamily="34" charset="0"/>
                </a:rPr>
                <a:t>保留歷史</a:t>
              </a:r>
              <a:r>
                <a:rPr lang="en-US" altLang="zh-TW" sz="1600" kern="0" dirty="0">
                  <a:solidFill>
                    <a:schemeClr val="bg1"/>
                  </a:solidFill>
                  <a:latin typeface="Arial" pitchFamily="34" charset="0"/>
                  <a:ea typeface="微软雅黑" pitchFamily="34" charset="-122"/>
                  <a:cs typeface="Arial" pitchFamily="34" charset="0"/>
                </a:rPr>
                <a:t>”</a:t>
              </a:r>
              <a:r>
                <a:rPr lang="zh-TW" altLang="en-US" sz="1600" kern="0" dirty="0">
                  <a:solidFill>
                    <a:schemeClr val="bg1"/>
                  </a:solidFill>
                  <a:latin typeface="Arial" pitchFamily="34" charset="0"/>
                  <a:ea typeface="微软雅黑" pitchFamily="34" charset="-122"/>
                  <a:cs typeface="Arial" pitchFamily="34" charset="0"/>
                </a:rPr>
                <a:t>、</a:t>
              </a:r>
              <a:r>
                <a:rPr lang="en-US" altLang="zh-TW" sz="1600" kern="0" dirty="0">
                  <a:solidFill>
                    <a:schemeClr val="bg1"/>
                  </a:solidFill>
                  <a:latin typeface="Arial" pitchFamily="34" charset="0"/>
                  <a:ea typeface="微软雅黑" pitchFamily="34" charset="-122"/>
                  <a:cs typeface="Arial" pitchFamily="34" charset="0"/>
                </a:rPr>
                <a:t>”</a:t>
              </a:r>
              <a:r>
                <a:rPr lang="zh-TW" altLang="en-US" sz="1600" kern="0" dirty="0">
                  <a:solidFill>
                    <a:schemeClr val="bg1"/>
                  </a:solidFill>
                  <a:latin typeface="Arial" pitchFamily="34" charset="0"/>
                  <a:ea typeface="微软雅黑" pitchFamily="34" charset="-122"/>
                  <a:cs typeface="Arial" pitchFamily="34" charset="0"/>
                </a:rPr>
                <a:t>僅保留最新</a:t>
              </a:r>
              <a:r>
                <a:rPr lang="en-US" altLang="zh-TW" sz="1600" kern="0" dirty="0">
                  <a:solidFill>
                    <a:schemeClr val="bg1"/>
                  </a:solidFill>
                  <a:latin typeface="Arial" pitchFamily="34" charset="0"/>
                  <a:ea typeface="微软雅黑" pitchFamily="34" charset="-122"/>
                  <a:cs typeface="Arial" pitchFamily="34" charset="0"/>
                </a:rPr>
                <a:t>”</a:t>
              </a:r>
              <a:r>
                <a:rPr lang="zh-TW" altLang="en-US" sz="1600" kern="0" dirty="0">
                  <a:solidFill>
                    <a:schemeClr val="bg1"/>
                  </a:solidFill>
                  <a:latin typeface="Arial" pitchFamily="34" charset="0"/>
                  <a:ea typeface="微软雅黑" pitchFamily="34" charset="-122"/>
                  <a:cs typeface="Arial" pitchFamily="34" charset="0"/>
                </a:rPr>
                <a:t>兩種方式供資料儲存</a:t>
              </a:r>
            </a:p>
          </p:txBody>
        </p:sp>
      </p:grpSp>
    </p:spTree>
    <p:extLst>
      <p:ext uri="{BB962C8B-B14F-4D97-AF65-F5344CB8AC3E}">
        <p14:creationId xmlns:p14="http://schemas.microsoft.com/office/powerpoint/2010/main" val="30726389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g222eb5d9c60_0_38"/>
          <p:cNvSpPr txBox="1">
            <a:spLocks noGrp="1"/>
          </p:cNvSpPr>
          <p:nvPr>
            <p:ph type="title"/>
          </p:nvPr>
        </p:nvSpPr>
        <p:spPr>
          <a:xfrm>
            <a:off x="401390" y="60641"/>
            <a:ext cx="10717708" cy="600152"/>
          </a:xfrm>
          <a:prstGeom prst="rect">
            <a:avLst/>
          </a:prstGeom>
          <a:noFill/>
          <a:ln>
            <a:noFill/>
          </a:ln>
        </p:spPr>
        <p:txBody>
          <a:bodyPr spcFirstLastPara="1" wrap="square" lIns="88143" tIns="44059" rIns="88143" bIns="44059" anchor="ctr" anchorCtr="0">
            <a:noAutofit/>
          </a:bodyPr>
          <a:lstStyle/>
          <a:p>
            <a:pPr>
              <a:buSzPts val="1400"/>
            </a:pPr>
            <a:r>
              <a:rPr lang="zh-TW" altLang="en-US" b="1" dirty="0"/>
              <a:t>專案範圍</a:t>
            </a:r>
            <a:endParaRPr b="1" dirty="0"/>
          </a:p>
        </p:txBody>
      </p:sp>
      <p:grpSp>
        <p:nvGrpSpPr>
          <p:cNvPr id="2" name="群組 1">
            <a:extLst>
              <a:ext uri="{FF2B5EF4-FFF2-40B4-BE49-F238E27FC236}">
                <a16:creationId xmlns:a16="http://schemas.microsoft.com/office/drawing/2014/main" id="{9F458CE7-E035-2A94-669D-09B171889D85}"/>
              </a:ext>
            </a:extLst>
          </p:cNvPr>
          <p:cNvGrpSpPr/>
          <p:nvPr/>
        </p:nvGrpSpPr>
        <p:grpSpPr>
          <a:xfrm>
            <a:off x="579613" y="851364"/>
            <a:ext cx="10250220" cy="4809817"/>
            <a:chOff x="1369026" y="1110973"/>
            <a:chExt cx="9453947" cy="4808549"/>
          </a:xfrm>
        </p:grpSpPr>
        <p:sp>
          <p:nvSpPr>
            <p:cNvPr id="3" name="矩形 2">
              <a:extLst>
                <a:ext uri="{FF2B5EF4-FFF2-40B4-BE49-F238E27FC236}">
                  <a16:creationId xmlns:a16="http://schemas.microsoft.com/office/drawing/2014/main" id="{B689439E-4833-203C-0FC6-08F58AFA2C30}"/>
                </a:ext>
              </a:extLst>
            </p:cNvPr>
            <p:cNvSpPr/>
            <p:nvPr/>
          </p:nvSpPr>
          <p:spPr>
            <a:xfrm>
              <a:off x="1369026" y="2853006"/>
              <a:ext cx="1766887" cy="1085818"/>
            </a:xfrm>
            <a:prstGeom prst="rect">
              <a:avLst/>
            </a:prstGeom>
            <a:solidFill>
              <a:schemeClr val="accent4">
                <a:lumMod val="75000"/>
              </a:schemeClr>
            </a:solidFill>
            <a:ln>
              <a:solidFill>
                <a:schemeClr val="tx1">
                  <a:lumMod val="75000"/>
                  <a:lumOff val="2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928" b="1" dirty="0">
                  <a:solidFill>
                    <a:schemeClr val="accent4">
                      <a:lumMod val="25000"/>
                    </a:schemeClr>
                  </a:solidFill>
                  <a:latin typeface="微軟正黑體" panose="020B0604030504040204" pitchFamily="34" charset="-120"/>
                  <a:ea typeface="微軟正黑體" panose="020B0604030504040204" pitchFamily="34" charset="-120"/>
                </a:rPr>
                <a:t>爬蟲館</a:t>
              </a:r>
              <a:endParaRPr lang="en-US" altLang="zh-TW" sz="1928" b="1" dirty="0">
                <a:solidFill>
                  <a:schemeClr val="accent4">
                    <a:lumMod val="25000"/>
                  </a:schemeClr>
                </a:solidFill>
                <a:latin typeface="微軟正黑體" panose="020B0604030504040204" pitchFamily="34" charset="-120"/>
                <a:ea typeface="微軟正黑體" panose="020B0604030504040204" pitchFamily="34" charset="-120"/>
              </a:endParaRPr>
            </a:p>
            <a:p>
              <a:pPr algn="ctr"/>
              <a:r>
                <a:rPr lang="zh-TW" altLang="en-US" sz="1928" b="1" dirty="0">
                  <a:solidFill>
                    <a:schemeClr val="accent4">
                      <a:lumMod val="25000"/>
                    </a:schemeClr>
                  </a:solidFill>
                  <a:latin typeface="微軟正黑體" panose="020B0604030504040204" pitchFamily="34" charset="-120"/>
                  <a:ea typeface="微軟正黑體" panose="020B0604030504040204" pitchFamily="34" charset="-120"/>
                </a:rPr>
                <a:t>需求開發</a:t>
              </a:r>
            </a:p>
          </p:txBody>
        </p:sp>
        <p:sp>
          <p:nvSpPr>
            <p:cNvPr id="5" name="矩形 4">
              <a:extLst>
                <a:ext uri="{FF2B5EF4-FFF2-40B4-BE49-F238E27FC236}">
                  <a16:creationId xmlns:a16="http://schemas.microsoft.com/office/drawing/2014/main" id="{192C9153-C9D2-1F62-8519-777551D224B2}"/>
                </a:ext>
              </a:extLst>
            </p:cNvPr>
            <p:cNvSpPr/>
            <p:nvPr/>
          </p:nvSpPr>
          <p:spPr>
            <a:xfrm>
              <a:off x="1369026" y="4139912"/>
              <a:ext cx="1766887" cy="1779610"/>
            </a:xfrm>
            <a:prstGeom prst="rect">
              <a:avLst/>
            </a:prstGeom>
            <a:solidFill>
              <a:schemeClr val="accent4">
                <a:lumMod val="50000"/>
              </a:schemeClr>
            </a:solidFill>
            <a:ln>
              <a:solidFill>
                <a:schemeClr val="tx1">
                  <a:lumMod val="75000"/>
                  <a:lumOff val="2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928" b="1" dirty="0">
                  <a:solidFill>
                    <a:schemeClr val="bg1"/>
                  </a:solidFill>
                  <a:latin typeface="微軟正黑體" panose="020B0604030504040204" pitchFamily="34" charset="-120"/>
                  <a:ea typeface="微軟正黑體" panose="020B0604030504040204" pitchFamily="34" charset="-120"/>
                </a:rPr>
                <a:t>環境設定</a:t>
              </a:r>
              <a:endParaRPr lang="en-US" altLang="zh-TW" sz="1928" b="1" dirty="0">
                <a:solidFill>
                  <a:schemeClr val="bg1"/>
                </a:solidFill>
                <a:latin typeface="微軟正黑體" panose="020B0604030504040204" pitchFamily="34" charset="-120"/>
                <a:ea typeface="微軟正黑體" panose="020B0604030504040204" pitchFamily="34" charset="-120"/>
              </a:endParaRPr>
            </a:p>
            <a:p>
              <a:pPr algn="ctr"/>
              <a:r>
                <a:rPr lang="zh-TW" altLang="en-US" sz="1928" b="1" dirty="0">
                  <a:solidFill>
                    <a:schemeClr val="bg1"/>
                  </a:solidFill>
                  <a:latin typeface="微軟正黑體" panose="020B0604030504040204" pitchFamily="34" charset="-120"/>
                  <a:ea typeface="微軟正黑體" panose="020B0604030504040204" pitchFamily="34" charset="-120"/>
                </a:rPr>
                <a:t>換版流程</a:t>
              </a:r>
              <a:endParaRPr lang="en-US" altLang="zh-TW" sz="1928" b="1" dirty="0">
                <a:solidFill>
                  <a:schemeClr val="bg1"/>
                </a:solidFill>
                <a:latin typeface="微軟正黑體" panose="020B0604030504040204" pitchFamily="34" charset="-120"/>
                <a:ea typeface="微軟正黑體" panose="020B0604030504040204" pitchFamily="34" charset="-120"/>
              </a:endParaRPr>
            </a:p>
          </p:txBody>
        </p:sp>
        <p:sp>
          <p:nvSpPr>
            <p:cNvPr id="6" name="矩形 5">
              <a:extLst>
                <a:ext uri="{FF2B5EF4-FFF2-40B4-BE49-F238E27FC236}">
                  <a16:creationId xmlns:a16="http://schemas.microsoft.com/office/drawing/2014/main" id="{79B007C5-7E24-E62F-BAA3-F537DA6D206B}"/>
                </a:ext>
              </a:extLst>
            </p:cNvPr>
            <p:cNvSpPr/>
            <p:nvPr/>
          </p:nvSpPr>
          <p:spPr>
            <a:xfrm>
              <a:off x="3316224" y="2861637"/>
              <a:ext cx="5559552" cy="463670"/>
            </a:xfrm>
            <a:prstGeom prst="rect">
              <a:avLst/>
            </a:prstGeom>
            <a:solidFill>
              <a:schemeClr val="bg1"/>
            </a:solidFill>
            <a:ln>
              <a:solidFill>
                <a:schemeClr val="bg2">
                  <a:lumMod val="2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928" b="1" dirty="0">
                  <a:solidFill>
                    <a:schemeClr val="tx1">
                      <a:lumMod val="75000"/>
                      <a:lumOff val="25000"/>
                    </a:schemeClr>
                  </a:solidFill>
                  <a:latin typeface="微軟正黑體" panose="020B0604030504040204" pitchFamily="34" charset="-120"/>
                  <a:ea typeface="微軟正黑體" panose="020B0604030504040204" pitchFamily="34" charset="-120"/>
                </a:rPr>
                <a:t>資料存儲方式優化、新增</a:t>
              </a:r>
              <a:r>
                <a:rPr lang="en-US" altLang="zh-TW" sz="1928" b="1" dirty="0">
                  <a:solidFill>
                    <a:schemeClr val="tx1">
                      <a:lumMod val="75000"/>
                      <a:lumOff val="25000"/>
                    </a:schemeClr>
                  </a:solidFill>
                  <a:latin typeface="微軟正黑體" panose="020B0604030504040204" pitchFamily="34" charset="-120"/>
                  <a:ea typeface="微軟正黑體" panose="020B0604030504040204" pitchFamily="34" charset="-120"/>
                </a:rPr>
                <a:t>Key</a:t>
              </a:r>
              <a:r>
                <a:rPr lang="zh-TW" altLang="en-US" sz="1928" b="1" dirty="0">
                  <a:solidFill>
                    <a:schemeClr val="tx1">
                      <a:lumMod val="75000"/>
                      <a:lumOff val="25000"/>
                    </a:schemeClr>
                  </a:solidFill>
                  <a:latin typeface="微軟正黑體" panose="020B0604030504040204" pitchFamily="34" charset="-120"/>
                  <a:ea typeface="微軟正黑體" panose="020B0604030504040204" pitchFamily="34" charset="-120"/>
                </a:rPr>
                <a:t>值設定功能</a:t>
              </a:r>
              <a:endParaRPr lang="en-US" altLang="zh-TW" sz="1928"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7" name="矩形 6">
              <a:extLst>
                <a:ext uri="{FF2B5EF4-FFF2-40B4-BE49-F238E27FC236}">
                  <a16:creationId xmlns:a16="http://schemas.microsoft.com/office/drawing/2014/main" id="{F2F2E49D-65D6-86FE-E52A-A80214684097}"/>
                </a:ext>
              </a:extLst>
            </p:cNvPr>
            <p:cNvSpPr/>
            <p:nvPr/>
          </p:nvSpPr>
          <p:spPr>
            <a:xfrm>
              <a:off x="3316224" y="3475154"/>
              <a:ext cx="5559552" cy="463670"/>
            </a:xfrm>
            <a:prstGeom prst="rect">
              <a:avLst/>
            </a:prstGeom>
            <a:solidFill>
              <a:schemeClr val="bg1"/>
            </a:solidFill>
            <a:ln>
              <a:solidFill>
                <a:schemeClr val="bg2">
                  <a:lumMod val="2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928" b="1" dirty="0">
                  <a:solidFill>
                    <a:schemeClr val="tx1">
                      <a:lumMod val="75000"/>
                      <a:lumOff val="25000"/>
                    </a:schemeClr>
                  </a:solidFill>
                  <a:latin typeface="微軟正黑體" panose="020B0604030504040204" pitchFamily="34" charset="-120"/>
                  <a:ea typeface="微軟正黑體" panose="020B0604030504040204" pitchFamily="34" charset="-120"/>
                </a:rPr>
                <a:t>修改程式、異動地端資料庫資料表</a:t>
              </a:r>
              <a:endParaRPr lang="en-US" altLang="zh-TW" sz="1928"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0" name="矩形 9">
              <a:extLst>
                <a:ext uri="{FF2B5EF4-FFF2-40B4-BE49-F238E27FC236}">
                  <a16:creationId xmlns:a16="http://schemas.microsoft.com/office/drawing/2014/main" id="{029998FD-3997-947F-CF91-A2FCE2CD8609}"/>
                </a:ext>
              </a:extLst>
            </p:cNvPr>
            <p:cNvSpPr/>
            <p:nvPr/>
          </p:nvSpPr>
          <p:spPr>
            <a:xfrm>
              <a:off x="3316224" y="4812489"/>
              <a:ext cx="5559552" cy="471487"/>
            </a:xfrm>
            <a:prstGeom prst="rect">
              <a:avLst/>
            </a:prstGeom>
            <a:solidFill>
              <a:schemeClr val="bg1"/>
            </a:solidFill>
            <a:ln>
              <a:solidFill>
                <a:schemeClr val="bg2">
                  <a:lumMod val="2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928" b="1" dirty="0">
                  <a:solidFill>
                    <a:schemeClr val="tx1">
                      <a:lumMod val="75000"/>
                      <a:lumOff val="25000"/>
                    </a:schemeClr>
                  </a:solidFill>
                  <a:latin typeface="微軟正黑體" panose="020B0604030504040204" pitchFamily="34" charset="-120"/>
                  <a:ea typeface="微軟正黑體" panose="020B0604030504040204" pitchFamily="34" charset="-120"/>
                </a:rPr>
                <a:t>地端資料庫建置設定</a:t>
              </a:r>
              <a:r>
                <a:rPr lang="en-US" altLang="zh-TW" sz="1928" b="1"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TW" altLang="en-US" sz="1928" b="1" dirty="0">
                  <a:solidFill>
                    <a:schemeClr val="tx1">
                      <a:lumMod val="75000"/>
                      <a:lumOff val="25000"/>
                    </a:schemeClr>
                  </a:solidFill>
                  <a:latin typeface="微軟正黑體" panose="020B0604030504040204" pitchFamily="34" charset="-120"/>
                  <a:ea typeface="微軟正黑體" panose="020B0604030504040204" pitchFamily="34" charset="-120"/>
                </a:rPr>
                <a:t>建資料表、管控權限</a:t>
              </a:r>
              <a:r>
                <a:rPr lang="en-US" altLang="zh-TW" sz="1928" b="1" dirty="0">
                  <a:solidFill>
                    <a:schemeClr val="tx1">
                      <a:lumMod val="75000"/>
                      <a:lumOff val="25000"/>
                    </a:schemeClr>
                  </a:solidFill>
                  <a:latin typeface="微軟正黑體" panose="020B0604030504040204" pitchFamily="34" charset="-120"/>
                  <a:ea typeface="微軟正黑體" panose="020B0604030504040204" pitchFamily="34" charset="-120"/>
                </a:rPr>
                <a:t>)</a:t>
              </a:r>
            </a:p>
          </p:txBody>
        </p:sp>
        <p:sp>
          <p:nvSpPr>
            <p:cNvPr id="11" name="矩形 10">
              <a:extLst>
                <a:ext uri="{FF2B5EF4-FFF2-40B4-BE49-F238E27FC236}">
                  <a16:creationId xmlns:a16="http://schemas.microsoft.com/office/drawing/2014/main" id="{1E2793B6-19BF-EEDD-D5C8-3447C53AFD90}"/>
                </a:ext>
              </a:extLst>
            </p:cNvPr>
            <p:cNvSpPr/>
            <p:nvPr/>
          </p:nvSpPr>
          <p:spPr>
            <a:xfrm>
              <a:off x="9030749" y="2808135"/>
              <a:ext cx="1766887" cy="1130689"/>
            </a:xfrm>
            <a:prstGeom prst="rect">
              <a:avLst/>
            </a:prstGeom>
            <a:solidFill>
              <a:schemeClr val="bg1"/>
            </a:solidFill>
            <a:ln>
              <a:solidFill>
                <a:schemeClr val="bg2">
                  <a:lumMod val="2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928" b="1" dirty="0">
                  <a:solidFill>
                    <a:schemeClr val="tx1">
                      <a:lumMod val="75000"/>
                      <a:lumOff val="25000"/>
                    </a:schemeClr>
                  </a:solidFill>
                  <a:latin typeface="微軟正黑體" panose="020B0604030504040204" pitchFamily="34" charset="-120"/>
                  <a:ea typeface="微軟正黑體" panose="020B0604030504040204" pitchFamily="34" charset="-120"/>
                </a:rPr>
                <a:t>創新金融科</a:t>
              </a:r>
              <a:endParaRPr lang="en-US" altLang="zh-TW" sz="1928"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3" name="矩形 12">
              <a:extLst>
                <a:ext uri="{FF2B5EF4-FFF2-40B4-BE49-F238E27FC236}">
                  <a16:creationId xmlns:a16="http://schemas.microsoft.com/office/drawing/2014/main" id="{A854FBA6-95F3-3A5F-858B-5E5D8B74CBFA}"/>
                </a:ext>
              </a:extLst>
            </p:cNvPr>
            <p:cNvSpPr/>
            <p:nvPr/>
          </p:nvSpPr>
          <p:spPr>
            <a:xfrm>
              <a:off x="1369026" y="1637202"/>
              <a:ext cx="1766887" cy="1071692"/>
            </a:xfrm>
            <a:prstGeom prst="rect">
              <a:avLst/>
            </a:prstGeom>
            <a:solidFill>
              <a:schemeClr val="accent4">
                <a:lumMod val="90000"/>
              </a:schemeClr>
            </a:solidFill>
            <a:ln>
              <a:solidFill>
                <a:schemeClr val="tx1">
                  <a:lumMod val="75000"/>
                  <a:lumOff val="2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928" b="1" dirty="0">
                  <a:solidFill>
                    <a:schemeClr val="accent4">
                      <a:lumMod val="50000"/>
                    </a:schemeClr>
                  </a:solidFill>
                  <a:latin typeface="微軟正黑體" panose="020B0604030504040204" pitchFamily="34" charset="-120"/>
                  <a:ea typeface="微軟正黑體" panose="020B0604030504040204" pitchFamily="34" charset="-120"/>
                </a:rPr>
                <a:t>需求盤點</a:t>
              </a:r>
              <a:endParaRPr lang="en-US" altLang="zh-TW" sz="1928" b="1" dirty="0">
                <a:solidFill>
                  <a:schemeClr val="accent4">
                    <a:lumMod val="50000"/>
                  </a:schemeClr>
                </a:solidFill>
                <a:latin typeface="微軟正黑體" panose="020B0604030504040204" pitchFamily="34" charset="-120"/>
                <a:ea typeface="微軟正黑體" panose="020B0604030504040204" pitchFamily="34" charset="-120"/>
              </a:endParaRPr>
            </a:p>
            <a:p>
              <a:pPr algn="ctr"/>
              <a:r>
                <a:rPr lang="zh-TW" altLang="en-US" sz="1928" b="1" dirty="0">
                  <a:solidFill>
                    <a:schemeClr val="accent4">
                      <a:lumMod val="50000"/>
                    </a:schemeClr>
                  </a:solidFill>
                  <a:latin typeface="微軟正黑體" panose="020B0604030504040204" pitchFamily="34" charset="-120"/>
                  <a:ea typeface="微軟正黑體" panose="020B0604030504040204" pitchFamily="34" charset="-120"/>
                </a:rPr>
                <a:t>資料庫規劃</a:t>
              </a:r>
              <a:endParaRPr lang="en-US" altLang="zh-TW" sz="1928" b="1" dirty="0">
                <a:solidFill>
                  <a:schemeClr val="accent4">
                    <a:lumMod val="50000"/>
                  </a:schemeClr>
                </a:solidFill>
                <a:latin typeface="微軟正黑體" panose="020B0604030504040204" pitchFamily="34" charset="-120"/>
                <a:ea typeface="微軟正黑體" panose="020B0604030504040204" pitchFamily="34" charset="-120"/>
              </a:endParaRPr>
            </a:p>
          </p:txBody>
        </p:sp>
        <p:sp>
          <p:nvSpPr>
            <p:cNvPr id="14" name="矩形 13">
              <a:extLst>
                <a:ext uri="{FF2B5EF4-FFF2-40B4-BE49-F238E27FC236}">
                  <a16:creationId xmlns:a16="http://schemas.microsoft.com/office/drawing/2014/main" id="{4C29989D-7D41-D3F2-1DDA-0CF129B06AF6}"/>
                </a:ext>
              </a:extLst>
            </p:cNvPr>
            <p:cNvSpPr/>
            <p:nvPr/>
          </p:nvSpPr>
          <p:spPr>
            <a:xfrm>
              <a:off x="3316224" y="1639372"/>
              <a:ext cx="5559552" cy="463670"/>
            </a:xfrm>
            <a:prstGeom prst="rect">
              <a:avLst/>
            </a:prstGeom>
            <a:solidFill>
              <a:schemeClr val="bg1"/>
            </a:solidFill>
            <a:ln>
              <a:solidFill>
                <a:schemeClr val="bg2">
                  <a:lumMod val="2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928" b="1" dirty="0">
                  <a:solidFill>
                    <a:schemeClr val="tx1">
                      <a:lumMod val="75000"/>
                      <a:lumOff val="25000"/>
                    </a:schemeClr>
                  </a:solidFill>
                  <a:latin typeface="微軟正黑體" panose="020B0604030504040204" pitchFamily="34" charset="-120"/>
                  <a:ea typeface="微軟正黑體" panose="020B0604030504040204" pitchFamily="34" charset="-120"/>
                </a:rPr>
                <a:t>需求盤點，平台設計規劃，擬定測試規劃方向</a:t>
              </a:r>
              <a:endParaRPr lang="en-US" altLang="zh-TW" sz="1928"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5" name="矩形 14">
              <a:extLst>
                <a:ext uri="{FF2B5EF4-FFF2-40B4-BE49-F238E27FC236}">
                  <a16:creationId xmlns:a16="http://schemas.microsoft.com/office/drawing/2014/main" id="{A893BD15-2BB6-0A74-9EF9-F5CF0C84AC53}"/>
                </a:ext>
              </a:extLst>
            </p:cNvPr>
            <p:cNvSpPr/>
            <p:nvPr/>
          </p:nvSpPr>
          <p:spPr>
            <a:xfrm>
              <a:off x="9030749" y="1631127"/>
              <a:ext cx="1766887" cy="1047333"/>
            </a:xfrm>
            <a:prstGeom prst="rect">
              <a:avLst/>
            </a:prstGeom>
            <a:solidFill>
              <a:schemeClr val="bg1"/>
            </a:solidFill>
            <a:ln>
              <a:solidFill>
                <a:schemeClr val="bg2">
                  <a:lumMod val="2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928" b="1" dirty="0">
                  <a:solidFill>
                    <a:schemeClr val="tx1">
                      <a:lumMod val="75000"/>
                      <a:lumOff val="25000"/>
                    </a:schemeClr>
                  </a:solidFill>
                  <a:latin typeface="微軟正黑體" panose="020B0604030504040204" pitchFamily="34" charset="-120"/>
                  <a:ea typeface="微軟正黑體" panose="020B0604030504040204" pitchFamily="34" charset="-120"/>
                </a:rPr>
                <a:t>數位科技處</a:t>
              </a:r>
              <a:endParaRPr lang="en-US" altLang="zh-TW" sz="1928"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algn="ctr"/>
              <a:r>
                <a:rPr lang="zh-TW" altLang="en-US" sz="1928" b="1" dirty="0">
                  <a:solidFill>
                    <a:schemeClr val="tx1">
                      <a:lumMod val="75000"/>
                      <a:lumOff val="25000"/>
                    </a:schemeClr>
                  </a:solidFill>
                  <a:latin typeface="微軟正黑體" panose="020B0604030504040204" pitchFamily="34" charset="-120"/>
                  <a:ea typeface="微軟正黑體" panose="020B0604030504040204" pitchFamily="34" charset="-120"/>
                </a:rPr>
                <a:t>數據整合經營組</a:t>
              </a:r>
              <a:endParaRPr lang="en-US" altLang="zh-TW" sz="1928"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28" name="矩形 27">
              <a:extLst>
                <a:ext uri="{FF2B5EF4-FFF2-40B4-BE49-F238E27FC236}">
                  <a16:creationId xmlns:a16="http://schemas.microsoft.com/office/drawing/2014/main" id="{E401DCD5-1836-2DD9-904E-9F63B1F40E7E}"/>
                </a:ext>
              </a:extLst>
            </p:cNvPr>
            <p:cNvSpPr/>
            <p:nvPr/>
          </p:nvSpPr>
          <p:spPr>
            <a:xfrm>
              <a:off x="9056086" y="4139912"/>
              <a:ext cx="1766887" cy="1767941"/>
            </a:xfrm>
            <a:prstGeom prst="rect">
              <a:avLst/>
            </a:prstGeom>
            <a:solidFill>
              <a:schemeClr val="bg1"/>
            </a:solidFill>
            <a:ln>
              <a:solidFill>
                <a:schemeClr val="bg2">
                  <a:lumMod val="2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928" b="1" dirty="0">
                  <a:solidFill>
                    <a:schemeClr val="tx1">
                      <a:lumMod val="75000"/>
                      <a:lumOff val="25000"/>
                    </a:schemeClr>
                  </a:solidFill>
                  <a:latin typeface="微軟正黑體" panose="020B0604030504040204" pitchFamily="34" charset="-120"/>
                  <a:ea typeface="微軟正黑體" panose="020B0604030504040204" pitchFamily="34" charset="-120"/>
                </a:rPr>
                <a:t>資料庫應用科</a:t>
              </a:r>
              <a:endParaRPr lang="en-US" altLang="zh-TW" sz="1928"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algn="ctr"/>
              <a:r>
                <a:rPr lang="zh-TW" altLang="en-US" sz="1928" b="1" dirty="0">
                  <a:solidFill>
                    <a:schemeClr val="tx1">
                      <a:lumMod val="75000"/>
                      <a:lumOff val="25000"/>
                    </a:schemeClr>
                  </a:solidFill>
                  <a:latin typeface="微軟正黑體" panose="020B0604030504040204" pitchFamily="34" charset="-120"/>
                  <a:ea typeface="微軟正黑體" panose="020B0604030504040204" pitchFamily="34" charset="-120"/>
                </a:rPr>
                <a:t>創新金融科</a:t>
              </a:r>
              <a:endParaRPr lang="en-US" altLang="zh-TW" sz="1928"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algn="ctr"/>
              <a:r>
                <a:rPr lang="zh-TW" altLang="en-US" sz="1928" b="1" dirty="0">
                  <a:solidFill>
                    <a:schemeClr val="tx1">
                      <a:lumMod val="75000"/>
                      <a:lumOff val="25000"/>
                    </a:schemeClr>
                  </a:solidFill>
                  <a:latin typeface="微軟正黑體" panose="020B0604030504040204" pitchFamily="34" charset="-120"/>
                  <a:ea typeface="微軟正黑體" panose="020B0604030504040204" pitchFamily="34" charset="-120"/>
                </a:rPr>
                <a:t>系統管理科</a:t>
              </a:r>
              <a:endParaRPr lang="en-US" altLang="zh-TW" sz="1928"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algn="ctr"/>
              <a:r>
                <a:rPr lang="zh-TW" altLang="en-US" sz="1928" b="1" dirty="0">
                  <a:solidFill>
                    <a:schemeClr val="tx1">
                      <a:lumMod val="75000"/>
                      <a:lumOff val="25000"/>
                    </a:schemeClr>
                  </a:solidFill>
                  <a:latin typeface="微軟正黑體" panose="020B0604030504040204" pitchFamily="34" charset="-120"/>
                  <a:ea typeface="微軟正黑體" panose="020B0604030504040204" pitchFamily="34" charset="-120"/>
                </a:rPr>
                <a:t>網路管理科</a:t>
              </a:r>
              <a:endParaRPr lang="en-US" altLang="zh-TW" sz="1928"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algn="ctr"/>
              <a:r>
                <a:rPr lang="zh-TW" altLang="en-US" sz="1928" b="1" dirty="0">
                  <a:solidFill>
                    <a:schemeClr val="tx1">
                      <a:lumMod val="75000"/>
                      <a:lumOff val="25000"/>
                    </a:schemeClr>
                  </a:solidFill>
                  <a:latin typeface="微軟正黑體" panose="020B0604030504040204" pitchFamily="34" charset="-120"/>
                  <a:ea typeface="微軟正黑體" panose="020B0604030504040204" pitchFamily="34" charset="-120"/>
                </a:rPr>
                <a:t>雲端容器科</a:t>
              </a:r>
              <a:endParaRPr lang="en-US" altLang="zh-TW" sz="1928"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29" name="文字方塊 28">
              <a:extLst>
                <a:ext uri="{FF2B5EF4-FFF2-40B4-BE49-F238E27FC236}">
                  <a16:creationId xmlns:a16="http://schemas.microsoft.com/office/drawing/2014/main" id="{84B127F3-1C35-2927-1F52-E7B28F5E8AE9}"/>
                </a:ext>
              </a:extLst>
            </p:cNvPr>
            <p:cNvSpPr txBox="1"/>
            <p:nvPr/>
          </p:nvSpPr>
          <p:spPr>
            <a:xfrm>
              <a:off x="1786124" y="1110973"/>
              <a:ext cx="1043105" cy="400110"/>
            </a:xfrm>
            <a:prstGeom prst="rect">
              <a:avLst/>
            </a:prstGeom>
            <a:noFill/>
          </p:spPr>
          <p:txBody>
            <a:bodyPr wrap="square" rtlCol="0">
              <a:spAutoFit/>
            </a:bodyPr>
            <a:lstStyle/>
            <a:p>
              <a:pPr algn="ctr"/>
              <a:r>
                <a:rPr lang="zh-TW" altLang="en-US" sz="1928" b="1" u="sng" dirty="0">
                  <a:solidFill>
                    <a:srgbClr val="404040"/>
                  </a:solidFill>
                  <a:latin typeface="微軟正黑體" panose="020B0604030504040204" pitchFamily="34" charset="-120"/>
                  <a:ea typeface="微軟正黑體" panose="020B0604030504040204" pitchFamily="34" charset="-120"/>
                </a:rPr>
                <a:t>類型</a:t>
              </a:r>
            </a:p>
          </p:txBody>
        </p:sp>
        <p:sp>
          <p:nvSpPr>
            <p:cNvPr id="30" name="文字方塊 29">
              <a:extLst>
                <a:ext uri="{FF2B5EF4-FFF2-40B4-BE49-F238E27FC236}">
                  <a16:creationId xmlns:a16="http://schemas.microsoft.com/office/drawing/2014/main" id="{7274FBD7-5646-40E6-2FC1-C226CDD19FD4}"/>
                </a:ext>
              </a:extLst>
            </p:cNvPr>
            <p:cNvSpPr txBox="1"/>
            <p:nvPr/>
          </p:nvSpPr>
          <p:spPr>
            <a:xfrm>
              <a:off x="5629655" y="1110973"/>
              <a:ext cx="1043105" cy="400110"/>
            </a:xfrm>
            <a:prstGeom prst="rect">
              <a:avLst/>
            </a:prstGeom>
            <a:noFill/>
          </p:spPr>
          <p:txBody>
            <a:bodyPr wrap="square" rtlCol="0">
              <a:spAutoFit/>
            </a:bodyPr>
            <a:lstStyle/>
            <a:p>
              <a:pPr algn="ctr"/>
              <a:r>
                <a:rPr lang="zh-TW" altLang="en-US" sz="1928" b="1" u="sng" dirty="0">
                  <a:solidFill>
                    <a:srgbClr val="404040"/>
                  </a:solidFill>
                  <a:latin typeface="微軟正黑體" panose="020B0604030504040204" pitchFamily="34" charset="-120"/>
                  <a:ea typeface="微軟正黑體" panose="020B0604030504040204" pitchFamily="34" charset="-120"/>
                </a:rPr>
                <a:t>項目</a:t>
              </a:r>
            </a:p>
          </p:txBody>
        </p:sp>
        <p:sp>
          <p:nvSpPr>
            <p:cNvPr id="31" name="文字方塊 30">
              <a:extLst>
                <a:ext uri="{FF2B5EF4-FFF2-40B4-BE49-F238E27FC236}">
                  <a16:creationId xmlns:a16="http://schemas.microsoft.com/office/drawing/2014/main" id="{A06AB206-F625-5DB2-2E63-7C777476C8B5}"/>
                </a:ext>
              </a:extLst>
            </p:cNvPr>
            <p:cNvSpPr txBox="1"/>
            <p:nvPr/>
          </p:nvSpPr>
          <p:spPr>
            <a:xfrm>
              <a:off x="9300974" y="1110973"/>
              <a:ext cx="1223770" cy="400110"/>
            </a:xfrm>
            <a:prstGeom prst="rect">
              <a:avLst/>
            </a:prstGeom>
            <a:noFill/>
          </p:spPr>
          <p:txBody>
            <a:bodyPr wrap="square" rtlCol="0">
              <a:spAutoFit/>
            </a:bodyPr>
            <a:lstStyle/>
            <a:p>
              <a:pPr algn="ctr"/>
              <a:r>
                <a:rPr lang="zh-TW" altLang="en-US" sz="1928" b="1" u="sng" dirty="0">
                  <a:solidFill>
                    <a:srgbClr val="404040"/>
                  </a:solidFill>
                  <a:latin typeface="微軟正黑體" panose="020B0604030504040204" pitchFamily="34" charset="-120"/>
                  <a:ea typeface="微軟正黑體" panose="020B0604030504040204" pitchFamily="34" charset="-120"/>
                </a:rPr>
                <a:t>負責單位</a:t>
              </a:r>
            </a:p>
          </p:txBody>
        </p:sp>
        <p:sp>
          <p:nvSpPr>
            <p:cNvPr id="32" name="矩形 31">
              <a:extLst>
                <a:ext uri="{FF2B5EF4-FFF2-40B4-BE49-F238E27FC236}">
                  <a16:creationId xmlns:a16="http://schemas.microsoft.com/office/drawing/2014/main" id="{2CAA4AB9-F00C-9BDE-508A-10ACB7351CA0}"/>
                </a:ext>
              </a:extLst>
            </p:cNvPr>
            <p:cNvSpPr/>
            <p:nvPr/>
          </p:nvSpPr>
          <p:spPr>
            <a:xfrm>
              <a:off x="3316224" y="2246123"/>
              <a:ext cx="5559552" cy="463670"/>
            </a:xfrm>
            <a:prstGeom prst="rect">
              <a:avLst/>
            </a:prstGeom>
            <a:solidFill>
              <a:schemeClr val="bg1"/>
            </a:solidFill>
            <a:ln>
              <a:solidFill>
                <a:schemeClr val="bg2">
                  <a:lumMod val="2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928" b="1" dirty="0">
                  <a:solidFill>
                    <a:schemeClr val="tx1">
                      <a:lumMod val="75000"/>
                      <a:lumOff val="25000"/>
                    </a:schemeClr>
                  </a:solidFill>
                  <a:latin typeface="微軟正黑體" panose="020B0604030504040204" pitchFamily="34" charset="-120"/>
                  <a:ea typeface="微軟正黑體" panose="020B0604030504040204" pitchFamily="34" charset="-120"/>
                </a:rPr>
                <a:t>資料品質盤點，確認各爬蟲資料集</a:t>
              </a:r>
              <a:r>
                <a:rPr lang="en-US" altLang="zh-TW" sz="1928" b="1" dirty="0">
                  <a:solidFill>
                    <a:schemeClr val="tx1">
                      <a:lumMod val="75000"/>
                      <a:lumOff val="25000"/>
                    </a:schemeClr>
                  </a:solidFill>
                  <a:latin typeface="微軟正黑體" panose="020B0604030504040204" pitchFamily="34" charset="-120"/>
                  <a:ea typeface="微軟正黑體" panose="020B0604030504040204" pitchFamily="34" charset="-120"/>
                </a:rPr>
                <a:t>PK</a:t>
              </a:r>
              <a:r>
                <a:rPr lang="zh-TW" altLang="en-US" sz="1928" b="1" dirty="0">
                  <a:solidFill>
                    <a:schemeClr val="tx1">
                      <a:lumMod val="75000"/>
                      <a:lumOff val="25000"/>
                    </a:schemeClr>
                  </a:solidFill>
                  <a:latin typeface="微軟正黑體" panose="020B0604030504040204" pitchFamily="34" charset="-120"/>
                  <a:ea typeface="微軟正黑體" panose="020B0604030504040204" pitchFamily="34" charset="-120"/>
                </a:rPr>
                <a:t>設定方式</a:t>
              </a:r>
              <a:endParaRPr lang="en-US" altLang="zh-TW" sz="1928"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33" name="矩形 32">
              <a:extLst>
                <a:ext uri="{FF2B5EF4-FFF2-40B4-BE49-F238E27FC236}">
                  <a16:creationId xmlns:a16="http://schemas.microsoft.com/office/drawing/2014/main" id="{5AC662A0-3EED-2B47-B984-664E25AB2731}"/>
                </a:ext>
              </a:extLst>
            </p:cNvPr>
            <p:cNvSpPr/>
            <p:nvPr/>
          </p:nvSpPr>
          <p:spPr>
            <a:xfrm>
              <a:off x="3316224" y="5423491"/>
              <a:ext cx="5559552" cy="463670"/>
            </a:xfrm>
            <a:prstGeom prst="rect">
              <a:avLst/>
            </a:prstGeom>
            <a:solidFill>
              <a:schemeClr val="bg1"/>
            </a:solidFill>
            <a:ln>
              <a:solidFill>
                <a:schemeClr val="bg2">
                  <a:lumMod val="2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928" b="1" dirty="0">
                  <a:solidFill>
                    <a:schemeClr val="tx1">
                      <a:lumMod val="75000"/>
                      <a:lumOff val="25000"/>
                    </a:schemeClr>
                  </a:solidFill>
                  <a:latin typeface="微軟正黑體" panose="020B0604030504040204" pitchFamily="34" charset="-120"/>
                  <a:ea typeface="微軟正黑體" panose="020B0604030504040204" pitchFamily="34" charset="-120"/>
                </a:rPr>
                <a:t>開發、測試換版</a:t>
              </a:r>
              <a:endParaRPr lang="en-US" altLang="zh-TW" sz="1928"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grpSp>
      <p:sp>
        <p:nvSpPr>
          <p:cNvPr id="34" name="矩形 33">
            <a:extLst>
              <a:ext uri="{FF2B5EF4-FFF2-40B4-BE49-F238E27FC236}">
                <a16:creationId xmlns:a16="http://schemas.microsoft.com/office/drawing/2014/main" id="{BE298FA8-C824-0C33-E940-3B7AE505EB3E}"/>
              </a:ext>
            </a:extLst>
          </p:cNvPr>
          <p:cNvSpPr/>
          <p:nvPr/>
        </p:nvSpPr>
        <p:spPr>
          <a:xfrm>
            <a:off x="2690817" y="3881102"/>
            <a:ext cx="6027814" cy="471611"/>
          </a:xfrm>
          <a:prstGeom prst="rect">
            <a:avLst/>
          </a:prstGeom>
          <a:solidFill>
            <a:schemeClr val="bg1"/>
          </a:solidFill>
          <a:ln>
            <a:solidFill>
              <a:schemeClr val="bg2">
                <a:lumMod val="2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928" b="1" dirty="0">
                <a:solidFill>
                  <a:schemeClr val="tx1">
                    <a:lumMod val="75000"/>
                    <a:lumOff val="25000"/>
                  </a:schemeClr>
                </a:solidFill>
                <a:latin typeface="微軟正黑體" panose="020B0604030504040204" pitchFamily="34" charset="-120"/>
                <a:ea typeface="微軟正黑體" panose="020B0604030504040204" pitchFamily="34" charset="-120"/>
              </a:rPr>
              <a:t>AWS</a:t>
            </a:r>
            <a:r>
              <a:rPr lang="zh-TW" altLang="en-US" sz="1928" b="1" dirty="0">
                <a:solidFill>
                  <a:schemeClr val="tx1">
                    <a:lumMod val="75000"/>
                    <a:lumOff val="25000"/>
                  </a:schemeClr>
                </a:solidFill>
                <a:latin typeface="微軟正黑體" panose="020B0604030504040204" pitchFamily="34" charset="-120"/>
                <a:ea typeface="微軟正黑體" panose="020B0604030504040204" pitchFamily="34" charset="-120"/>
              </a:rPr>
              <a:t>環境設定</a:t>
            </a:r>
            <a:r>
              <a:rPr lang="en-US" altLang="zh-TW" sz="1928" b="1"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TW" altLang="en-US" sz="1928" b="1" dirty="0">
                <a:solidFill>
                  <a:schemeClr val="tx1">
                    <a:lumMod val="75000"/>
                    <a:lumOff val="25000"/>
                  </a:schemeClr>
                </a:solidFill>
                <a:latin typeface="微軟正黑體" panose="020B0604030504040204" pitchFamily="34" charset="-120"/>
                <a:ea typeface="微軟正黑體" panose="020B0604030504040204" pitchFamily="34" charset="-120"/>
              </a:rPr>
              <a:t>防火牆、</a:t>
            </a:r>
            <a:r>
              <a:rPr lang="en-US" altLang="zh-TW" sz="1928" b="1" dirty="0">
                <a:solidFill>
                  <a:schemeClr val="tx1">
                    <a:lumMod val="75000"/>
                    <a:lumOff val="25000"/>
                  </a:schemeClr>
                </a:solidFill>
                <a:latin typeface="微軟正黑體" panose="020B0604030504040204" pitchFamily="34" charset="-120"/>
                <a:ea typeface="微軟正黑體" panose="020B0604030504040204" pitchFamily="34" charset="-120"/>
              </a:rPr>
              <a:t>Domain</a:t>
            </a:r>
            <a:r>
              <a:rPr lang="zh-TW" altLang="en-US" sz="1928" b="1" dirty="0">
                <a:solidFill>
                  <a:schemeClr val="tx1">
                    <a:lumMod val="75000"/>
                    <a:lumOff val="25000"/>
                  </a:schemeClr>
                </a:solidFill>
                <a:latin typeface="微軟正黑體" panose="020B0604030504040204" pitchFamily="34" charset="-120"/>
                <a:ea typeface="微軟正黑體" panose="020B0604030504040204" pitchFamily="34" charset="-120"/>
              </a:rPr>
              <a:t>及</a:t>
            </a:r>
            <a:r>
              <a:rPr lang="en-US" altLang="zh-TW" sz="1928" b="1" dirty="0">
                <a:solidFill>
                  <a:schemeClr val="tx1">
                    <a:lumMod val="75000"/>
                    <a:lumOff val="25000"/>
                  </a:schemeClr>
                </a:solidFill>
                <a:latin typeface="微軟正黑體" panose="020B0604030504040204" pitchFamily="34" charset="-120"/>
                <a:ea typeface="微軟正黑體" panose="020B0604030504040204" pitchFamily="34" charset="-120"/>
              </a:rPr>
              <a:t>IP)</a:t>
            </a:r>
          </a:p>
        </p:txBody>
      </p:sp>
    </p:spTree>
    <p:extLst>
      <p:ext uri="{BB962C8B-B14F-4D97-AF65-F5344CB8AC3E}">
        <p14:creationId xmlns:p14="http://schemas.microsoft.com/office/powerpoint/2010/main" val="10310558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圓角矩形 58">
            <a:extLst>
              <a:ext uri="{FF2B5EF4-FFF2-40B4-BE49-F238E27FC236}">
                <a16:creationId xmlns:a16="http://schemas.microsoft.com/office/drawing/2014/main" id="{B04B66B3-D08F-CB5F-AED8-5FF9683702FD}"/>
              </a:ext>
            </a:extLst>
          </p:cNvPr>
          <p:cNvSpPr/>
          <p:nvPr/>
        </p:nvSpPr>
        <p:spPr bwMode="auto">
          <a:xfrm>
            <a:off x="305079" y="5218038"/>
            <a:ext cx="2772837" cy="770340"/>
          </a:xfrm>
          <a:prstGeom prst="roundRect">
            <a:avLst/>
          </a:prstGeom>
          <a:solidFill>
            <a:srgbClr val="FFDFDF"/>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zh-TW" altLang="zh-TW" sz="1600" dirty="0">
                <a:effectLst/>
                <a:latin typeface="微軟正黑體" panose="020B0604030504040204" pitchFamily="34" charset="-120"/>
                <a:ea typeface="微軟正黑體" panose="020B0604030504040204" pitchFamily="34" charset="-120"/>
                <a:cs typeface="Calibri" panose="020F0502020204030204" pitchFamily="34" charset="0"/>
              </a:rPr>
              <a:t>爬蟲館</a:t>
            </a:r>
            <a:endParaRPr kumimoji="1" lang="zh-TW" altLang="en-US" sz="1600" b="1" i="0" u="none" strike="noStrike" kern="1200" cap="none" spc="0" normalizeH="0" baseline="0" noProof="0" dirty="0">
              <a:ln>
                <a:noFill/>
              </a:ln>
              <a:solidFill>
                <a:srgbClr val="CCFFCC"/>
              </a:solidFill>
              <a:effectLst/>
              <a:uLnTx/>
              <a:uFillTx/>
              <a:latin typeface="微軟正黑體" panose="020B0604030504040204" pitchFamily="34" charset="-120"/>
              <a:ea typeface="微軟正黑體" panose="020B0604030504040204" pitchFamily="34" charset="-120"/>
              <a:cs typeface="+mn-cs"/>
            </a:endParaRPr>
          </a:p>
        </p:txBody>
      </p:sp>
      <p:sp>
        <p:nvSpPr>
          <p:cNvPr id="17" name="圓角矩形 58">
            <a:extLst>
              <a:ext uri="{FF2B5EF4-FFF2-40B4-BE49-F238E27FC236}">
                <a16:creationId xmlns:a16="http://schemas.microsoft.com/office/drawing/2014/main" id="{37FA9B41-CBD5-0126-CB76-52671121E091}"/>
              </a:ext>
            </a:extLst>
          </p:cNvPr>
          <p:cNvSpPr/>
          <p:nvPr/>
        </p:nvSpPr>
        <p:spPr bwMode="auto">
          <a:xfrm>
            <a:off x="5902740" y="5218039"/>
            <a:ext cx="2772837" cy="770340"/>
          </a:xfrm>
          <a:prstGeom prst="roundRect">
            <a:avLst/>
          </a:prstGeom>
          <a:solidFill>
            <a:srgbClr val="FFDFDF"/>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zh-TW" altLang="en-US" sz="1600" dirty="0">
                <a:effectLst/>
                <a:latin typeface="微軟正黑體" panose="020B0604030504040204" pitchFamily="34" charset="-120"/>
                <a:ea typeface="微軟正黑體" panose="020B0604030504040204" pitchFamily="34" charset="-120"/>
                <a:cs typeface="Calibri" panose="020F0502020204030204" pitchFamily="34" charset="0"/>
              </a:rPr>
              <a:t>地端</a:t>
            </a:r>
            <a:r>
              <a:rPr lang="en-US" altLang="zh-TW" sz="1600" dirty="0">
                <a:latin typeface="微軟正黑體" panose="020B0604030504040204" pitchFamily="34" charset="-120"/>
                <a:ea typeface="微軟正黑體" panose="020B0604030504040204" pitchFamily="34" charset="-120"/>
                <a:cs typeface="Calibri" panose="020F0502020204030204" pitchFamily="34" charset="0"/>
              </a:rPr>
              <a:t>DB</a:t>
            </a:r>
            <a:br>
              <a:rPr lang="en-US" altLang="zh-TW" sz="1600" dirty="0">
                <a:effectLst/>
                <a:latin typeface="微軟正黑體" panose="020B0604030504040204" pitchFamily="34" charset="-120"/>
                <a:ea typeface="微軟正黑體" panose="020B0604030504040204" pitchFamily="34" charset="-120"/>
                <a:cs typeface="Calibri" panose="020F0502020204030204" pitchFamily="34" charset="0"/>
              </a:rPr>
            </a:br>
            <a:r>
              <a:rPr lang="en-US" altLang="zh-TW" dirty="0">
                <a:effectLst/>
                <a:latin typeface="微軟正黑體" panose="020B0604030504040204" pitchFamily="34" charset="-120"/>
                <a:ea typeface="微軟正黑體" panose="020B0604030504040204" pitchFamily="34" charset="-120"/>
                <a:cs typeface="Calibri" panose="020F0502020204030204" pitchFamily="34" charset="0"/>
              </a:rPr>
              <a:t>(</a:t>
            </a:r>
            <a:r>
              <a:rPr lang="en-US" altLang="zh-TW" dirty="0">
                <a:latin typeface="微軟正黑體" panose="020B0604030504040204" pitchFamily="34" charset="-120"/>
                <a:ea typeface="微軟正黑體" panose="020B0604030504040204" pitchFamily="34" charset="-120"/>
                <a:cs typeface="Calibri" panose="020F0502020204030204" pitchFamily="34" charset="0"/>
              </a:rPr>
              <a:t>MSSQL)</a:t>
            </a:r>
            <a:endParaRPr kumimoji="1" lang="zh-TW" altLang="en-US" sz="2400" b="1" i="0" u="none" strike="noStrike" kern="1200" cap="none" spc="0" normalizeH="0" baseline="0" noProof="0" dirty="0">
              <a:ln>
                <a:noFill/>
              </a:ln>
              <a:solidFill>
                <a:srgbClr val="CCFFCC"/>
              </a:solidFill>
              <a:effectLst/>
              <a:uLnTx/>
              <a:uFillTx/>
              <a:latin typeface="微軟正黑體" panose="020B0604030504040204" pitchFamily="34" charset="-120"/>
              <a:ea typeface="微軟正黑體" panose="020B0604030504040204" pitchFamily="34" charset="-120"/>
              <a:cs typeface="+mn-cs"/>
            </a:endParaRPr>
          </a:p>
        </p:txBody>
      </p:sp>
      <p:sp>
        <p:nvSpPr>
          <p:cNvPr id="2" name="標題 1">
            <a:extLst>
              <a:ext uri="{FF2B5EF4-FFF2-40B4-BE49-F238E27FC236}">
                <a16:creationId xmlns:a16="http://schemas.microsoft.com/office/drawing/2014/main" id="{841DDD2C-6C43-ED67-E34F-299DD0A69510}"/>
              </a:ext>
            </a:extLst>
          </p:cNvPr>
          <p:cNvSpPr>
            <a:spLocks noGrp="1"/>
          </p:cNvSpPr>
          <p:nvPr>
            <p:ph type="title"/>
          </p:nvPr>
        </p:nvSpPr>
        <p:spPr>
          <a:xfrm>
            <a:off x="440267" y="71438"/>
            <a:ext cx="10900833" cy="540000"/>
          </a:xfrm>
          <a:noFill/>
          <a:ln>
            <a:noFill/>
          </a:ln>
        </p:spPr>
        <p:txBody>
          <a:bodyPr spcFirstLastPara="1" wrap="square" lIns="88143" tIns="44059" rIns="88143" bIns="44059" anchor="ctr" anchorCtr="0">
            <a:noAutofit/>
          </a:bodyPr>
          <a:lstStyle/>
          <a:p>
            <a:pPr>
              <a:buSzPts val="1400"/>
            </a:pPr>
            <a:r>
              <a:rPr lang="zh-TW" altLang="en-US" b="1" dirty="0"/>
              <a:t>專案效益</a:t>
            </a:r>
          </a:p>
        </p:txBody>
      </p:sp>
      <p:sp>
        <p:nvSpPr>
          <p:cNvPr id="23" name="文字版面配置區 2">
            <a:extLst>
              <a:ext uri="{FF2B5EF4-FFF2-40B4-BE49-F238E27FC236}">
                <a16:creationId xmlns:a16="http://schemas.microsoft.com/office/drawing/2014/main" id="{031533FC-7109-C406-C5DC-13026F940D48}"/>
              </a:ext>
            </a:extLst>
          </p:cNvPr>
          <p:cNvSpPr txBox="1">
            <a:spLocks/>
          </p:cNvSpPr>
          <p:nvPr/>
        </p:nvSpPr>
        <p:spPr>
          <a:xfrm>
            <a:off x="3855482" y="2341964"/>
            <a:ext cx="1642542" cy="32459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zh-TW" altLang="en-US" sz="1600" dirty="0">
                <a:latin typeface="微軟正黑體" panose="020B0604030504040204" pitchFamily="34" charset="-120"/>
                <a:ea typeface="微軟正黑體" panose="020B0604030504040204" pitchFamily="34" charset="-120"/>
              </a:rPr>
              <a:t>全量提供原檔</a:t>
            </a:r>
          </a:p>
        </p:txBody>
      </p:sp>
      <p:sp>
        <p:nvSpPr>
          <p:cNvPr id="28" name="Google Shape;86;g222eb5d9c60_0_38">
            <a:extLst>
              <a:ext uri="{FF2B5EF4-FFF2-40B4-BE49-F238E27FC236}">
                <a16:creationId xmlns:a16="http://schemas.microsoft.com/office/drawing/2014/main" id="{401836D3-28EA-E4D7-3DE4-053D58C99A23}"/>
              </a:ext>
            </a:extLst>
          </p:cNvPr>
          <p:cNvSpPr/>
          <p:nvPr/>
        </p:nvSpPr>
        <p:spPr>
          <a:xfrm>
            <a:off x="128916" y="3461941"/>
            <a:ext cx="2845005" cy="450864"/>
          </a:xfrm>
          <a:prstGeom prst="roundRect">
            <a:avLst>
              <a:gd name="adj" fmla="val 50000"/>
            </a:avLst>
          </a:prstGeom>
          <a:solidFill>
            <a:schemeClr val="accent4">
              <a:lumMod val="50000"/>
            </a:schemeClr>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2000"/>
              <a:buFont typeface="Arial"/>
              <a:buNone/>
              <a:tabLst/>
              <a:defRPr/>
            </a:pPr>
            <a:r>
              <a:rPr lang="zh-TW" altLang="en-US" sz="2000" b="1" dirty="0">
                <a:solidFill>
                  <a:srgbClr val="FFFFFF"/>
                </a:solidFill>
                <a:latin typeface="Microsoft JhengHei"/>
                <a:ea typeface="Microsoft JhengHei"/>
                <a:cs typeface="Microsoft JhengHei"/>
                <a:sym typeface="Microsoft JhengHei"/>
              </a:rPr>
              <a:t>預期效益</a:t>
            </a:r>
            <a:endParaRPr kumimoji="0" sz="2000" b="1" i="0" u="none" strike="noStrike" kern="0" cap="none" spc="0" normalizeH="0" baseline="0" noProof="0" dirty="0">
              <a:ln>
                <a:noFill/>
              </a:ln>
              <a:solidFill>
                <a:srgbClr val="FFFFFF"/>
              </a:solidFill>
              <a:effectLst/>
              <a:uLnTx/>
              <a:uFillTx/>
              <a:latin typeface="Times New Roman"/>
              <a:ea typeface="Times New Roman"/>
              <a:cs typeface="Times New Roman"/>
              <a:sym typeface="Times New Roman"/>
            </a:endParaRPr>
          </a:p>
        </p:txBody>
      </p:sp>
      <p:grpSp>
        <p:nvGrpSpPr>
          <p:cNvPr id="3" name="群組 2">
            <a:extLst>
              <a:ext uri="{FF2B5EF4-FFF2-40B4-BE49-F238E27FC236}">
                <a16:creationId xmlns:a16="http://schemas.microsoft.com/office/drawing/2014/main" id="{1409D9F3-0D3C-8C00-0A94-6400DA8F4847}"/>
              </a:ext>
            </a:extLst>
          </p:cNvPr>
          <p:cNvGrpSpPr/>
          <p:nvPr/>
        </p:nvGrpSpPr>
        <p:grpSpPr>
          <a:xfrm>
            <a:off x="276862" y="1253296"/>
            <a:ext cx="7963400" cy="909833"/>
            <a:chOff x="712177" y="2643680"/>
            <a:chExt cx="10149592" cy="1015825"/>
          </a:xfrm>
        </p:grpSpPr>
        <p:sp>
          <p:nvSpPr>
            <p:cNvPr id="33" name="文字版面配置區 2">
              <a:extLst>
                <a:ext uri="{FF2B5EF4-FFF2-40B4-BE49-F238E27FC236}">
                  <a16:creationId xmlns:a16="http://schemas.microsoft.com/office/drawing/2014/main" id="{8D16FA57-25F0-1983-EEA6-04FA59B6B5F4}"/>
                </a:ext>
              </a:extLst>
            </p:cNvPr>
            <p:cNvSpPr txBox="1">
              <a:spLocks/>
            </p:cNvSpPr>
            <p:nvPr/>
          </p:nvSpPr>
          <p:spPr>
            <a:xfrm>
              <a:off x="864424" y="2675741"/>
              <a:ext cx="9718925" cy="826802"/>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ltLang="zh-TW" sz="1600" dirty="0">
                  <a:solidFill>
                    <a:schemeClr val="tx1"/>
                  </a:solidFill>
                  <a:latin typeface="微軟正黑體" panose="020B0604030504040204" pitchFamily="34" charset="-120"/>
                  <a:ea typeface="微軟正黑體" panose="020B0604030504040204" pitchFamily="34" charset="-120"/>
                </a:rPr>
                <a:t>1.</a:t>
              </a:r>
              <a:r>
                <a:rPr lang="zh-TW" altLang="en-US" sz="1600" dirty="0">
                  <a:solidFill>
                    <a:schemeClr val="tx1"/>
                  </a:solidFill>
                  <a:latin typeface="微軟正黑體" panose="020B0604030504040204" pitchFamily="34" charset="-120"/>
                  <a:ea typeface="微軟正黑體" panose="020B0604030504040204" pitchFamily="34" charset="-120"/>
                </a:rPr>
                <a:t>資料量因每日重複累存，倍數增長，佔據空間。</a:t>
              </a:r>
            </a:p>
            <a:p>
              <a:r>
                <a:rPr lang="en-US" altLang="zh-TW" sz="1600" dirty="0">
                  <a:solidFill>
                    <a:schemeClr val="tx1"/>
                  </a:solidFill>
                  <a:latin typeface="微軟正黑體" panose="020B0604030504040204" pitchFamily="34" charset="-120"/>
                  <a:ea typeface="微軟正黑體" panose="020B0604030504040204" pitchFamily="34" charset="-120"/>
                </a:rPr>
                <a:t>2.</a:t>
              </a:r>
              <a:r>
                <a:rPr lang="zh-TW" altLang="en-US" sz="1600" dirty="0">
                  <a:solidFill>
                    <a:schemeClr val="tx1"/>
                  </a:solidFill>
                  <a:latin typeface="微軟正黑體" panose="020B0604030504040204" pitchFamily="34" charset="-120"/>
                  <a:ea typeface="微軟正黑體" panose="020B0604030504040204" pitchFamily="34" charset="-120"/>
                </a:rPr>
                <a:t>地端系統無法直接存取</a:t>
              </a:r>
              <a:r>
                <a:rPr lang="en-US" altLang="zh-TW" sz="1600" dirty="0">
                  <a:solidFill>
                    <a:schemeClr val="tx1"/>
                  </a:solidFill>
                  <a:latin typeface="微軟正黑體" panose="020B0604030504040204" pitchFamily="34" charset="-120"/>
                  <a:ea typeface="微軟正黑體" panose="020B0604030504040204" pitchFamily="34" charset="-120"/>
                </a:rPr>
                <a:t>AWS MySQL</a:t>
              </a:r>
              <a:r>
                <a:rPr lang="zh-TW" altLang="en-US" sz="1600" dirty="0">
                  <a:solidFill>
                    <a:schemeClr val="tx1"/>
                  </a:solidFill>
                  <a:latin typeface="微軟正黑體" panose="020B0604030504040204" pitchFamily="34" charset="-120"/>
                  <a:ea typeface="微軟正黑體" panose="020B0604030504040204" pitchFamily="34" charset="-120"/>
                </a:rPr>
                <a:t>資料。</a:t>
              </a:r>
            </a:p>
            <a:p>
              <a:r>
                <a:rPr lang="en-US" altLang="zh-TW" sz="1600" dirty="0">
                  <a:solidFill>
                    <a:schemeClr val="tx1"/>
                  </a:solidFill>
                  <a:latin typeface="微軟正黑體" panose="020B0604030504040204" pitchFamily="34" charset="-120"/>
                  <a:ea typeface="微軟正黑體" panose="020B0604030504040204" pitchFamily="34" charset="-120"/>
                </a:rPr>
                <a:t>3.</a:t>
              </a:r>
              <a:r>
                <a:rPr lang="zh-TW" altLang="en-US" sz="1600" dirty="0">
                  <a:solidFill>
                    <a:schemeClr val="tx1"/>
                  </a:solidFill>
                  <a:latin typeface="微軟正黑體" panose="020B0604030504040204" pitchFamily="34" charset="-120"/>
                  <a:ea typeface="微軟正黑體" panose="020B0604030504040204" pitchFamily="34" charset="-120"/>
                </a:rPr>
                <a:t>資料讀取僅限手動訂閱下載，內部系統應用需人工介入。</a:t>
              </a:r>
            </a:p>
          </p:txBody>
        </p:sp>
        <p:sp>
          <p:nvSpPr>
            <p:cNvPr id="32" name="矩形: 圓角 31">
              <a:extLst>
                <a:ext uri="{FF2B5EF4-FFF2-40B4-BE49-F238E27FC236}">
                  <a16:creationId xmlns:a16="http://schemas.microsoft.com/office/drawing/2014/main" id="{48A6BCFA-EC0D-8547-F3D5-36E6B1840328}"/>
                </a:ext>
              </a:extLst>
            </p:cNvPr>
            <p:cNvSpPr/>
            <p:nvPr/>
          </p:nvSpPr>
          <p:spPr>
            <a:xfrm>
              <a:off x="712177" y="2643680"/>
              <a:ext cx="10149592" cy="101582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34" name="Google Shape;86;g222eb5d9c60_0_38">
            <a:extLst>
              <a:ext uri="{FF2B5EF4-FFF2-40B4-BE49-F238E27FC236}">
                <a16:creationId xmlns:a16="http://schemas.microsoft.com/office/drawing/2014/main" id="{F0D37F5E-8870-7AAB-2A3D-A65C2F3D4839}"/>
              </a:ext>
            </a:extLst>
          </p:cNvPr>
          <p:cNvSpPr/>
          <p:nvPr/>
        </p:nvSpPr>
        <p:spPr>
          <a:xfrm>
            <a:off x="128916" y="699847"/>
            <a:ext cx="2845005" cy="450864"/>
          </a:xfrm>
          <a:prstGeom prst="roundRect">
            <a:avLst>
              <a:gd name="adj" fmla="val 50000"/>
            </a:avLst>
          </a:prstGeom>
          <a:solidFill>
            <a:schemeClr val="accent4">
              <a:lumMod val="50000"/>
            </a:schemeClr>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2000"/>
              <a:buFont typeface="Arial"/>
              <a:buNone/>
              <a:tabLst/>
              <a:defRPr/>
            </a:pPr>
            <a:r>
              <a:rPr lang="zh-TW" altLang="en-US" sz="2000" b="1" dirty="0">
                <a:solidFill>
                  <a:srgbClr val="FFFFFF"/>
                </a:solidFill>
                <a:latin typeface="Microsoft JhengHei"/>
                <a:ea typeface="Microsoft JhengHei"/>
                <a:cs typeface="Microsoft JhengHei"/>
                <a:sym typeface="Microsoft JhengHei"/>
              </a:rPr>
              <a:t>解決痛點</a:t>
            </a:r>
            <a:endParaRPr kumimoji="0" sz="2000" b="1" i="0" u="none" strike="noStrike" kern="0" cap="none" spc="0" normalizeH="0" baseline="0" noProof="0" dirty="0">
              <a:ln>
                <a:noFill/>
              </a:ln>
              <a:solidFill>
                <a:srgbClr val="FFFFFF"/>
              </a:solidFill>
              <a:effectLst/>
              <a:uLnTx/>
              <a:uFillTx/>
              <a:latin typeface="Times New Roman"/>
              <a:ea typeface="Times New Roman"/>
              <a:cs typeface="Times New Roman"/>
              <a:sym typeface="Times New Roman"/>
            </a:endParaRPr>
          </a:p>
        </p:txBody>
      </p:sp>
      <p:sp>
        <p:nvSpPr>
          <p:cNvPr id="12" name="AutoShape 64">
            <a:extLst>
              <a:ext uri="{FF2B5EF4-FFF2-40B4-BE49-F238E27FC236}">
                <a16:creationId xmlns:a16="http://schemas.microsoft.com/office/drawing/2014/main" id="{D2094A55-0F6C-D321-D836-C61A9B55B1AE}"/>
              </a:ext>
            </a:extLst>
          </p:cNvPr>
          <p:cNvSpPr>
            <a:spLocks noChangeArrowheads="1"/>
          </p:cNvSpPr>
          <p:nvPr/>
        </p:nvSpPr>
        <p:spPr bwMode="auto">
          <a:xfrm>
            <a:off x="1390388" y="5424119"/>
            <a:ext cx="1280796" cy="432212"/>
          </a:xfrm>
          <a:prstGeom prst="flowChartAlternateProcess">
            <a:avLst/>
          </a:prstGeom>
          <a:solidFill>
            <a:srgbClr val="2D2DB9">
              <a:lumMod val="60000"/>
              <a:lumOff val="40000"/>
            </a:srgbClr>
          </a:solidFill>
          <a:ln w="3175" algn="ctr">
            <a:solidFill>
              <a:srgbClr val="EAEAEA"/>
            </a:solidFill>
            <a:miter lim="800000"/>
            <a:headEnd/>
            <a:tailEnd/>
          </a:ln>
          <a:effectLst>
            <a:outerShdw dist="35921" dir="2700000" algn="ctr" rotWithShape="0">
              <a:srgbClr val="808080">
                <a:alpha val="50000"/>
              </a:srgbClr>
            </a:outerShdw>
          </a:effectLst>
        </p:spPr>
        <p:txBody>
          <a:bodyPr wrap="none" anchor="ctr"/>
          <a:lstStyle>
            <a:lvl1pPr eaLnBrk="0" hangingPunct="0">
              <a:defRPr kumimoji="1">
                <a:solidFill>
                  <a:schemeClr val="tx1"/>
                </a:solidFill>
                <a:latin typeface="Arial" pitchFamily="34" charset="0"/>
                <a:ea typeface="新細明體" pitchFamily="18" charset="-120"/>
              </a:defRPr>
            </a:lvl1pPr>
            <a:lvl2pPr marL="742950" indent="-285750" eaLnBrk="0" hangingPunct="0">
              <a:defRPr kumimoji="1">
                <a:solidFill>
                  <a:schemeClr val="tx1"/>
                </a:solidFill>
                <a:latin typeface="Arial" pitchFamily="34" charset="0"/>
                <a:ea typeface="新細明體" pitchFamily="18" charset="-120"/>
              </a:defRPr>
            </a:lvl2pPr>
            <a:lvl3pPr marL="1143000" indent="-228600" eaLnBrk="0" hangingPunct="0">
              <a:defRPr kumimoji="1">
                <a:solidFill>
                  <a:schemeClr val="tx1"/>
                </a:solidFill>
                <a:latin typeface="Arial" pitchFamily="34" charset="0"/>
                <a:ea typeface="新細明體" pitchFamily="18" charset="-120"/>
              </a:defRPr>
            </a:lvl3pPr>
            <a:lvl4pPr marL="1600200" indent="-228600" eaLnBrk="0" hangingPunct="0">
              <a:defRPr kumimoji="1">
                <a:solidFill>
                  <a:schemeClr val="tx1"/>
                </a:solidFill>
                <a:latin typeface="Arial" pitchFamily="34" charset="0"/>
                <a:ea typeface="新細明體" pitchFamily="18" charset="-120"/>
              </a:defRPr>
            </a:lvl4pPr>
            <a:lvl5pPr marL="2057400" indent="-228600" eaLnBrk="0" hangingPunct="0">
              <a:defRPr kumimoji="1">
                <a:solidFill>
                  <a:schemeClr val="tx1"/>
                </a:solidFill>
                <a:latin typeface="Arial" pitchFamily="34"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pitchFamily="34"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pitchFamily="34"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pitchFamily="34"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pitchFamily="34" charset="0"/>
                <a:ea typeface="新細明體" pitchFamily="18" charset="-12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TW" altLang="en-US" sz="2000" b="1" i="0" u="none" strike="noStrike" kern="1200" cap="none" spc="0" normalizeH="0" baseline="0" noProof="0" dirty="0">
                <a:ln>
                  <a:noFill/>
                </a:ln>
                <a:solidFill>
                  <a:schemeClr val="bg1"/>
                </a:solidFill>
                <a:effectLst/>
                <a:uLnTx/>
                <a:uFillTx/>
                <a:latin typeface="微軟正黑體" panose="020B0604030504040204" pitchFamily="34" charset="-120"/>
                <a:ea typeface="微軟正黑體" panose="020B0604030504040204" pitchFamily="34" charset="-120"/>
                <a:cs typeface="文鼎新細黑"/>
              </a:rPr>
              <a:t>批次排程</a:t>
            </a:r>
          </a:p>
        </p:txBody>
      </p:sp>
      <p:sp>
        <p:nvSpPr>
          <p:cNvPr id="13" name="AutoShape 64">
            <a:extLst>
              <a:ext uri="{FF2B5EF4-FFF2-40B4-BE49-F238E27FC236}">
                <a16:creationId xmlns:a16="http://schemas.microsoft.com/office/drawing/2014/main" id="{30036463-CEEB-78C3-46A6-0707E3BAF5E4}"/>
              </a:ext>
            </a:extLst>
          </p:cNvPr>
          <p:cNvSpPr>
            <a:spLocks noChangeArrowheads="1"/>
          </p:cNvSpPr>
          <p:nvPr/>
        </p:nvSpPr>
        <p:spPr bwMode="auto">
          <a:xfrm>
            <a:off x="6860827" y="5387102"/>
            <a:ext cx="1646109" cy="432212"/>
          </a:xfrm>
          <a:prstGeom prst="flowChartAlternateProcess">
            <a:avLst/>
          </a:prstGeom>
          <a:solidFill>
            <a:srgbClr val="2D2DB9">
              <a:lumMod val="60000"/>
              <a:lumOff val="40000"/>
            </a:srgbClr>
          </a:solidFill>
          <a:ln w="3175" algn="ctr">
            <a:solidFill>
              <a:srgbClr val="EAEAEA"/>
            </a:solidFill>
            <a:miter lim="800000"/>
            <a:headEnd/>
            <a:tailEnd/>
          </a:ln>
          <a:effectLst>
            <a:outerShdw dist="35921" dir="2700000" algn="ctr" rotWithShape="0">
              <a:srgbClr val="808080">
                <a:alpha val="50000"/>
              </a:srgbClr>
            </a:outerShdw>
          </a:effectLst>
        </p:spPr>
        <p:txBody>
          <a:bodyPr wrap="none" anchor="ctr"/>
          <a:lstStyle>
            <a:lvl1pPr eaLnBrk="0" hangingPunct="0">
              <a:defRPr kumimoji="1">
                <a:solidFill>
                  <a:schemeClr val="tx1"/>
                </a:solidFill>
                <a:latin typeface="Arial" pitchFamily="34" charset="0"/>
                <a:ea typeface="新細明體" pitchFamily="18" charset="-120"/>
              </a:defRPr>
            </a:lvl1pPr>
            <a:lvl2pPr marL="742950" indent="-285750" eaLnBrk="0" hangingPunct="0">
              <a:defRPr kumimoji="1">
                <a:solidFill>
                  <a:schemeClr val="tx1"/>
                </a:solidFill>
                <a:latin typeface="Arial" pitchFamily="34" charset="0"/>
                <a:ea typeface="新細明體" pitchFamily="18" charset="-120"/>
              </a:defRPr>
            </a:lvl2pPr>
            <a:lvl3pPr marL="1143000" indent="-228600" eaLnBrk="0" hangingPunct="0">
              <a:defRPr kumimoji="1">
                <a:solidFill>
                  <a:schemeClr val="tx1"/>
                </a:solidFill>
                <a:latin typeface="Arial" pitchFamily="34" charset="0"/>
                <a:ea typeface="新細明體" pitchFamily="18" charset="-120"/>
              </a:defRPr>
            </a:lvl3pPr>
            <a:lvl4pPr marL="1600200" indent="-228600" eaLnBrk="0" hangingPunct="0">
              <a:defRPr kumimoji="1">
                <a:solidFill>
                  <a:schemeClr val="tx1"/>
                </a:solidFill>
                <a:latin typeface="Arial" pitchFamily="34" charset="0"/>
                <a:ea typeface="新細明體" pitchFamily="18" charset="-120"/>
              </a:defRPr>
            </a:lvl4pPr>
            <a:lvl5pPr marL="2057400" indent="-228600" eaLnBrk="0" hangingPunct="0">
              <a:defRPr kumimoji="1">
                <a:solidFill>
                  <a:schemeClr val="tx1"/>
                </a:solidFill>
                <a:latin typeface="Arial" pitchFamily="34"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pitchFamily="34"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pitchFamily="34"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pitchFamily="34"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pitchFamily="34" charset="0"/>
                <a:ea typeface="新細明體" pitchFamily="18" charset="-120"/>
              </a:defRPr>
            </a:lvl9pPr>
          </a:lstStyle>
          <a:p>
            <a:pPr algn="ctr" eaLnBrk="1" fontAlgn="base" hangingPunct="1">
              <a:spcBef>
                <a:spcPct val="0"/>
              </a:spcBef>
              <a:spcAft>
                <a:spcPct val="0"/>
              </a:spcAft>
              <a:buClrTx/>
            </a:pPr>
            <a:r>
              <a:rPr lang="en-US" altLang="zh-TW" sz="2000" b="1" kern="1200" dirty="0">
                <a:solidFill>
                  <a:schemeClr val="bg1"/>
                </a:solidFill>
                <a:latin typeface="微軟正黑體" panose="020B0604030504040204" pitchFamily="34" charset="-120"/>
                <a:ea typeface="微軟正黑體" panose="020B0604030504040204" pitchFamily="34" charset="-120"/>
              </a:rPr>
              <a:t>DB Link</a:t>
            </a:r>
          </a:p>
        </p:txBody>
      </p:sp>
      <p:sp>
        <p:nvSpPr>
          <p:cNvPr id="14" name="AutoShape 64">
            <a:extLst>
              <a:ext uri="{FF2B5EF4-FFF2-40B4-BE49-F238E27FC236}">
                <a16:creationId xmlns:a16="http://schemas.microsoft.com/office/drawing/2014/main" id="{023F30B1-8956-D34D-7C97-4BA1F9428059}"/>
              </a:ext>
            </a:extLst>
          </p:cNvPr>
          <p:cNvSpPr>
            <a:spLocks noChangeArrowheads="1"/>
          </p:cNvSpPr>
          <p:nvPr/>
        </p:nvSpPr>
        <p:spPr bwMode="auto">
          <a:xfrm>
            <a:off x="9876591" y="5218038"/>
            <a:ext cx="1413515" cy="770340"/>
          </a:xfrm>
          <a:prstGeom prst="flowChartAlternateProcess">
            <a:avLst/>
          </a:prstGeom>
          <a:solidFill>
            <a:srgbClr val="92D050"/>
          </a:solidFill>
          <a:ln w="3175" algn="ctr">
            <a:solidFill>
              <a:srgbClr val="EAEAEA"/>
            </a:solidFill>
            <a:miter lim="800000"/>
            <a:headEnd/>
            <a:tailEnd/>
          </a:ln>
          <a:effectLst>
            <a:outerShdw dist="35921" dir="2700000" algn="ctr" rotWithShape="0">
              <a:srgbClr val="808080">
                <a:alpha val="50000"/>
              </a:srgbClr>
            </a:outerShdw>
          </a:effectLst>
        </p:spPr>
        <p:txBody>
          <a:bodyPr wrap="none" anchor="ctr"/>
          <a:lstStyle>
            <a:lvl1pPr eaLnBrk="0" hangingPunct="0">
              <a:defRPr kumimoji="1">
                <a:solidFill>
                  <a:schemeClr val="tx1"/>
                </a:solidFill>
                <a:latin typeface="Arial" pitchFamily="34" charset="0"/>
                <a:ea typeface="新細明體" pitchFamily="18" charset="-120"/>
              </a:defRPr>
            </a:lvl1pPr>
            <a:lvl2pPr marL="742950" indent="-285750" eaLnBrk="0" hangingPunct="0">
              <a:defRPr kumimoji="1">
                <a:solidFill>
                  <a:schemeClr val="tx1"/>
                </a:solidFill>
                <a:latin typeface="Arial" pitchFamily="34" charset="0"/>
                <a:ea typeface="新細明體" pitchFamily="18" charset="-120"/>
              </a:defRPr>
            </a:lvl2pPr>
            <a:lvl3pPr marL="1143000" indent="-228600" eaLnBrk="0" hangingPunct="0">
              <a:defRPr kumimoji="1">
                <a:solidFill>
                  <a:schemeClr val="tx1"/>
                </a:solidFill>
                <a:latin typeface="Arial" pitchFamily="34" charset="0"/>
                <a:ea typeface="新細明體" pitchFamily="18" charset="-120"/>
              </a:defRPr>
            </a:lvl3pPr>
            <a:lvl4pPr marL="1600200" indent="-228600" eaLnBrk="0" hangingPunct="0">
              <a:defRPr kumimoji="1">
                <a:solidFill>
                  <a:schemeClr val="tx1"/>
                </a:solidFill>
                <a:latin typeface="Arial" pitchFamily="34" charset="0"/>
                <a:ea typeface="新細明體" pitchFamily="18" charset="-120"/>
              </a:defRPr>
            </a:lvl4pPr>
            <a:lvl5pPr marL="2057400" indent="-228600" eaLnBrk="0" hangingPunct="0">
              <a:defRPr kumimoji="1">
                <a:solidFill>
                  <a:schemeClr val="tx1"/>
                </a:solidFill>
                <a:latin typeface="Arial" pitchFamily="34"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pitchFamily="34"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pitchFamily="34"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pitchFamily="34"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pitchFamily="34" charset="0"/>
                <a:ea typeface="新細明體" pitchFamily="18" charset="-12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TW" altLang="en-US" sz="1800" b="1" i="0" u="none" strike="noStrike" kern="1200" cap="none" spc="0" normalizeH="0" baseline="0" noProof="0" dirty="0">
                <a:ln>
                  <a:noFill/>
                </a:ln>
                <a:effectLst/>
                <a:uLnTx/>
                <a:uFillTx/>
                <a:latin typeface="微軟正黑體" panose="020B0604030504040204" pitchFamily="34" charset="-120"/>
                <a:ea typeface="微軟正黑體" panose="020B0604030504040204" pitchFamily="34" charset="-120"/>
                <a:cs typeface="文鼎新細黑"/>
              </a:rPr>
              <a:t>內部系統</a:t>
            </a:r>
            <a:r>
              <a:rPr kumimoji="1" lang="en-US" altLang="zh-TW" sz="1800" b="1" i="0" u="none" strike="noStrike" kern="1200" cap="none" spc="0" normalizeH="0" baseline="0" noProof="0" dirty="0">
                <a:ln>
                  <a:noFill/>
                </a:ln>
                <a:effectLst/>
                <a:uLnTx/>
                <a:uFillTx/>
                <a:latin typeface="微軟正黑體" panose="020B0604030504040204" pitchFamily="34" charset="-120"/>
                <a:ea typeface="微軟正黑體" panose="020B0604030504040204" pitchFamily="34" charset="-120"/>
                <a:cs typeface="文鼎新細黑"/>
              </a:rPr>
              <a:t>DB</a:t>
            </a:r>
          </a:p>
        </p:txBody>
      </p:sp>
      <p:sp>
        <p:nvSpPr>
          <p:cNvPr id="25" name="AutoShape 64">
            <a:extLst>
              <a:ext uri="{FF2B5EF4-FFF2-40B4-BE49-F238E27FC236}">
                <a16:creationId xmlns:a16="http://schemas.microsoft.com/office/drawing/2014/main" id="{208280CA-9833-126F-FD8B-8F849C0CE942}"/>
              </a:ext>
            </a:extLst>
          </p:cNvPr>
          <p:cNvSpPr>
            <a:spLocks noChangeArrowheads="1"/>
          </p:cNvSpPr>
          <p:nvPr/>
        </p:nvSpPr>
        <p:spPr bwMode="auto">
          <a:xfrm>
            <a:off x="3936119" y="5382443"/>
            <a:ext cx="1280796" cy="432212"/>
          </a:xfrm>
          <a:prstGeom prst="flowChartAlternateProcess">
            <a:avLst/>
          </a:prstGeom>
          <a:solidFill>
            <a:srgbClr val="2D2DB9">
              <a:lumMod val="60000"/>
              <a:lumOff val="40000"/>
            </a:srgbClr>
          </a:solidFill>
          <a:ln w="3175" algn="ctr">
            <a:solidFill>
              <a:srgbClr val="EAEAEA"/>
            </a:solidFill>
            <a:miter lim="800000"/>
            <a:headEnd/>
            <a:tailEnd/>
          </a:ln>
          <a:effectLst>
            <a:outerShdw dist="35921" dir="2700000" algn="ctr" rotWithShape="0">
              <a:srgbClr val="808080">
                <a:alpha val="50000"/>
              </a:srgbClr>
            </a:outerShdw>
          </a:effectLst>
        </p:spPr>
        <p:txBody>
          <a:bodyPr wrap="none" anchor="ctr"/>
          <a:lstStyle>
            <a:lvl1pPr eaLnBrk="0" hangingPunct="0">
              <a:defRPr kumimoji="1">
                <a:solidFill>
                  <a:schemeClr val="tx1"/>
                </a:solidFill>
                <a:latin typeface="Arial" pitchFamily="34" charset="0"/>
                <a:ea typeface="新細明體" pitchFamily="18" charset="-120"/>
              </a:defRPr>
            </a:lvl1pPr>
            <a:lvl2pPr marL="742950" indent="-285750" eaLnBrk="0" hangingPunct="0">
              <a:defRPr kumimoji="1">
                <a:solidFill>
                  <a:schemeClr val="tx1"/>
                </a:solidFill>
                <a:latin typeface="Arial" pitchFamily="34" charset="0"/>
                <a:ea typeface="新細明體" pitchFamily="18" charset="-120"/>
              </a:defRPr>
            </a:lvl2pPr>
            <a:lvl3pPr marL="1143000" indent="-228600" eaLnBrk="0" hangingPunct="0">
              <a:defRPr kumimoji="1">
                <a:solidFill>
                  <a:schemeClr val="tx1"/>
                </a:solidFill>
                <a:latin typeface="Arial" pitchFamily="34" charset="0"/>
                <a:ea typeface="新細明體" pitchFamily="18" charset="-120"/>
              </a:defRPr>
            </a:lvl3pPr>
            <a:lvl4pPr marL="1600200" indent="-228600" eaLnBrk="0" hangingPunct="0">
              <a:defRPr kumimoji="1">
                <a:solidFill>
                  <a:schemeClr val="tx1"/>
                </a:solidFill>
                <a:latin typeface="Arial" pitchFamily="34" charset="0"/>
                <a:ea typeface="新細明體" pitchFamily="18" charset="-120"/>
              </a:defRPr>
            </a:lvl4pPr>
            <a:lvl5pPr marL="2057400" indent="-228600" eaLnBrk="0" hangingPunct="0">
              <a:defRPr kumimoji="1">
                <a:solidFill>
                  <a:schemeClr val="tx1"/>
                </a:solidFill>
                <a:latin typeface="Arial" pitchFamily="34"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pitchFamily="34"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pitchFamily="34"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pitchFamily="34"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pitchFamily="34" charset="0"/>
                <a:ea typeface="新細明體" pitchFamily="18" charset="-120"/>
              </a:defRPr>
            </a:lvl9pPr>
          </a:lstStyle>
          <a:p>
            <a:pPr algn="ctr" eaLnBrk="1" fontAlgn="base" hangingPunct="1">
              <a:spcBef>
                <a:spcPct val="0"/>
              </a:spcBef>
              <a:spcAft>
                <a:spcPct val="0"/>
              </a:spcAft>
              <a:buClrTx/>
            </a:pPr>
            <a:r>
              <a:rPr lang="zh-TW" altLang="en-US" b="1" kern="1200" dirty="0">
                <a:solidFill>
                  <a:schemeClr val="bg1"/>
                </a:solidFill>
                <a:latin typeface="微軟正黑體" panose="020B0604030504040204" pitchFamily="34" charset="-120"/>
                <a:ea typeface="微軟正黑體" panose="020B0604030504040204" pitchFamily="34" charset="-120"/>
              </a:rPr>
              <a:t>加入</a:t>
            </a:r>
            <a:r>
              <a:rPr lang="en-US" altLang="zh-TW" b="1" kern="1200" dirty="0" err="1">
                <a:solidFill>
                  <a:schemeClr val="bg1"/>
                </a:solidFill>
                <a:latin typeface="微軟正黑體" panose="020B0604030504040204" pitchFamily="34" charset="-120"/>
                <a:ea typeface="微軟正黑體" panose="020B0604030504040204" pitchFamily="34" charset="-120"/>
              </a:rPr>
              <a:t>PKey</a:t>
            </a:r>
            <a:r>
              <a:rPr lang="zh-TW" altLang="en-US" b="1" kern="1200" dirty="0">
                <a:solidFill>
                  <a:schemeClr val="bg1"/>
                </a:solidFill>
                <a:latin typeface="微軟正黑體" panose="020B0604030504040204" pitchFamily="34" charset="-120"/>
                <a:ea typeface="微軟正黑體" panose="020B0604030504040204" pitchFamily="34" charset="-120"/>
              </a:rPr>
              <a:t>判斷</a:t>
            </a:r>
            <a:endParaRPr lang="en-US" altLang="zh-TW" b="1" kern="1200" dirty="0">
              <a:solidFill>
                <a:schemeClr val="bg1"/>
              </a:solidFill>
              <a:latin typeface="微軟正黑體" panose="020B0604030504040204" pitchFamily="34" charset="-120"/>
              <a:ea typeface="微軟正黑體" panose="020B0604030504040204" pitchFamily="34" charset="-120"/>
            </a:endParaRPr>
          </a:p>
        </p:txBody>
      </p:sp>
      <p:cxnSp>
        <p:nvCxnSpPr>
          <p:cNvPr id="29" name="直線單箭頭接點 76">
            <a:extLst>
              <a:ext uri="{FF2B5EF4-FFF2-40B4-BE49-F238E27FC236}">
                <a16:creationId xmlns:a16="http://schemas.microsoft.com/office/drawing/2014/main" id="{0E067309-7B35-1500-2ACF-5C6E8A079DB4}"/>
              </a:ext>
            </a:extLst>
          </p:cNvPr>
          <p:cNvCxnSpPr>
            <a:cxnSpLocks/>
            <a:stCxn id="25" idx="3"/>
            <a:endCxn id="17" idx="1"/>
          </p:cNvCxnSpPr>
          <p:nvPr/>
        </p:nvCxnSpPr>
        <p:spPr bwMode="auto">
          <a:xfrm>
            <a:off x="5216915" y="5598549"/>
            <a:ext cx="685825" cy="4660"/>
          </a:xfrm>
          <a:prstGeom prst="straightConnector1">
            <a:avLst/>
          </a:prstGeom>
          <a:solidFill>
            <a:srgbClr val="000066"/>
          </a:solidFill>
          <a:ln w="76200" cap="flat" cmpd="sng" algn="ctr">
            <a:solidFill>
              <a:schemeClr val="tx1">
                <a:lumMod val="50000"/>
                <a:lumOff val="50000"/>
              </a:schemeClr>
            </a:solidFill>
            <a:prstDash val="solid"/>
            <a:round/>
            <a:headEnd type="none" w="med" len="med"/>
            <a:tailEnd type="triangle"/>
          </a:ln>
          <a:effectLst/>
        </p:spPr>
      </p:cxnSp>
      <p:cxnSp>
        <p:nvCxnSpPr>
          <p:cNvPr id="37" name="直線單箭頭接點 76">
            <a:extLst>
              <a:ext uri="{FF2B5EF4-FFF2-40B4-BE49-F238E27FC236}">
                <a16:creationId xmlns:a16="http://schemas.microsoft.com/office/drawing/2014/main" id="{4CB9FAEC-DEF1-08AF-D947-6A527702DA6A}"/>
              </a:ext>
            </a:extLst>
          </p:cNvPr>
          <p:cNvCxnSpPr>
            <a:cxnSpLocks/>
            <a:stCxn id="22" idx="3"/>
            <a:endCxn id="25" idx="1"/>
          </p:cNvCxnSpPr>
          <p:nvPr/>
        </p:nvCxnSpPr>
        <p:spPr bwMode="auto">
          <a:xfrm flipV="1">
            <a:off x="3077916" y="5598549"/>
            <a:ext cx="858203" cy="4659"/>
          </a:xfrm>
          <a:prstGeom prst="straightConnector1">
            <a:avLst/>
          </a:prstGeom>
          <a:solidFill>
            <a:srgbClr val="000066"/>
          </a:solidFill>
          <a:ln w="76200" cap="flat" cmpd="sng" algn="ctr">
            <a:solidFill>
              <a:schemeClr val="tx1">
                <a:lumMod val="50000"/>
                <a:lumOff val="50000"/>
              </a:schemeClr>
            </a:solidFill>
            <a:prstDash val="solid"/>
            <a:round/>
            <a:headEnd type="none" w="med" len="med"/>
            <a:tailEnd type="triangle"/>
          </a:ln>
          <a:effectLst/>
        </p:spPr>
      </p:cxnSp>
      <p:cxnSp>
        <p:nvCxnSpPr>
          <p:cNvPr id="51" name="直線單箭頭接點 76">
            <a:extLst>
              <a:ext uri="{FF2B5EF4-FFF2-40B4-BE49-F238E27FC236}">
                <a16:creationId xmlns:a16="http://schemas.microsoft.com/office/drawing/2014/main" id="{98721AFF-4786-237E-B931-F19A32C25379}"/>
              </a:ext>
            </a:extLst>
          </p:cNvPr>
          <p:cNvCxnSpPr>
            <a:cxnSpLocks/>
            <a:stCxn id="17" idx="3"/>
            <a:endCxn id="14" idx="1"/>
          </p:cNvCxnSpPr>
          <p:nvPr/>
        </p:nvCxnSpPr>
        <p:spPr bwMode="auto">
          <a:xfrm flipV="1">
            <a:off x="8675577" y="5603208"/>
            <a:ext cx="1201014" cy="1"/>
          </a:xfrm>
          <a:prstGeom prst="straightConnector1">
            <a:avLst/>
          </a:prstGeom>
          <a:solidFill>
            <a:srgbClr val="000066"/>
          </a:solidFill>
          <a:ln w="76200" cap="flat" cmpd="sng" algn="ctr">
            <a:solidFill>
              <a:schemeClr val="tx1">
                <a:lumMod val="50000"/>
                <a:lumOff val="50000"/>
              </a:schemeClr>
            </a:solidFill>
            <a:prstDash val="solid"/>
            <a:round/>
            <a:headEnd type="none" w="med" len="med"/>
            <a:tailEnd type="triangle"/>
          </a:ln>
          <a:effectLst/>
        </p:spPr>
      </p:cxnSp>
      <p:grpSp>
        <p:nvGrpSpPr>
          <p:cNvPr id="15" name="群組 14">
            <a:extLst>
              <a:ext uri="{FF2B5EF4-FFF2-40B4-BE49-F238E27FC236}">
                <a16:creationId xmlns:a16="http://schemas.microsoft.com/office/drawing/2014/main" id="{8F7210B4-52B6-1B35-3171-FA997B5A2524}"/>
              </a:ext>
            </a:extLst>
          </p:cNvPr>
          <p:cNvGrpSpPr/>
          <p:nvPr/>
        </p:nvGrpSpPr>
        <p:grpSpPr>
          <a:xfrm>
            <a:off x="276862" y="3993064"/>
            <a:ext cx="7963400" cy="914775"/>
            <a:chOff x="563737" y="1126542"/>
            <a:chExt cx="10298506" cy="914775"/>
          </a:xfrm>
        </p:grpSpPr>
        <p:grpSp>
          <p:nvGrpSpPr>
            <p:cNvPr id="8" name="群組 7">
              <a:extLst>
                <a:ext uri="{FF2B5EF4-FFF2-40B4-BE49-F238E27FC236}">
                  <a16:creationId xmlns:a16="http://schemas.microsoft.com/office/drawing/2014/main" id="{630E65F5-90D2-DAB0-730A-99DBA8077CF0}"/>
                </a:ext>
              </a:extLst>
            </p:cNvPr>
            <p:cNvGrpSpPr/>
            <p:nvPr/>
          </p:nvGrpSpPr>
          <p:grpSpPr>
            <a:xfrm>
              <a:off x="563737" y="1126542"/>
              <a:ext cx="10298506" cy="914775"/>
              <a:chOff x="5890683" y="2824803"/>
              <a:chExt cx="4980186" cy="3304126"/>
            </a:xfrm>
          </p:grpSpPr>
          <p:sp>
            <p:nvSpPr>
              <p:cNvPr id="10" name="矩形: 圓角 9">
                <a:extLst>
                  <a:ext uri="{FF2B5EF4-FFF2-40B4-BE49-F238E27FC236}">
                    <a16:creationId xmlns:a16="http://schemas.microsoft.com/office/drawing/2014/main" id="{6A62A27E-9313-75DE-5561-3189CBA30B55}"/>
                  </a:ext>
                </a:extLst>
              </p:cNvPr>
              <p:cNvSpPr/>
              <p:nvPr/>
            </p:nvSpPr>
            <p:spPr>
              <a:xfrm>
                <a:off x="5890683" y="2824803"/>
                <a:ext cx="4980186" cy="330412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文字方塊 25">
                <a:extLst>
                  <a:ext uri="{FF2B5EF4-FFF2-40B4-BE49-F238E27FC236}">
                    <a16:creationId xmlns:a16="http://schemas.microsoft.com/office/drawing/2014/main" id="{7A904A46-C94C-BBDA-A6D7-5918D020581A}"/>
                  </a:ext>
                </a:extLst>
              </p:cNvPr>
              <p:cNvSpPr txBox="1"/>
              <p:nvPr/>
            </p:nvSpPr>
            <p:spPr>
              <a:xfrm>
                <a:off x="6033053" y="2997169"/>
                <a:ext cx="4808817" cy="1222842"/>
              </a:xfrm>
              <a:prstGeom prst="rect">
                <a:avLst/>
              </a:prstGeom>
              <a:noFill/>
            </p:spPr>
            <p:txBody>
              <a:bodyPr wrap="square" rtlCol="0">
                <a:spAutoFit/>
              </a:bodyPr>
              <a:lstStyle/>
              <a:p>
                <a:pPr algn="just">
                  <a:buSzPts val="1800"/>
                  <a:defRPr/>
                </a:pPr>
                <a:endParaRPr lang="en-US" altLang="zh-TW" sz="1600" b="1" dirty="0">
                  <a:solidFill>
                    <a:schemeClr val="tx1"/>
                  </a:solidFill>
                  <a:latin typeface="微軟正黑體" panose="020B0604030504040204" pitchFamily="34" charset="-120"/>
                  <a:ea typeface="微軟正黑體" panose="020B0604030504040204" pitchFamily="34" charset="-120"/>
                  <a:sym typeface="Microsoft JhengHei"/>
                </a:endParaRPr>
              </a:p>
            </p:txBody>
          </p:sp>
        </p:grpSp>
        <p:sp>
          <p:nvSpPr>
            <p:cNvPr id="6" name="文字方塊 5">
              <a:extLst>
                <a:ext uri="{FF2B5EF4-FFF2-40B4-BE49-F238E27FC236}">
                  <a16:creationId xmlns:a16="http://schemas.microsoft.com/office/drawing/2014/main" id="{9E948DCE-9219-BCAC-D687-9ABEB1C596A6}"/>
                </a:ext>
              </a:extLst>
            </p:cNvPr>
            <p:cNvSpPr txBox="1"/>
            <p:nvPr/>
          </p:nvSpPr>
          <p:spPr>
            <a:xfrm>
              <a:off x="718211" y="1171899"/>
              <a:ext cx="9944133" cy="830997"/>
            </a:xfrm>
            <a:prstGeom prst="rect">
              <a:avLst/>
            </a:prstGeom>
            <a:noFill/>
          </p:spPr>
          <p:txBody>
            <a:bodyPr wrap="square">
              <a:spAutoFit/>
            </a:bodyPr>
            <a:lstStyle/>
            <a:p>
              <a:r>
                <a:rPr lang="en-US" altLang="zh-TW" sz="1600" dirty="0">
                  <a:latin typeface="微軟正黑體" panose="020B0604030504040204" pitchFamily="34" charset="-120"/>
                  <a:ea typeface="微軟正黑體" panose="020B0604030504040204" pitchFamily="34" charset="-120"/>
                </a:rPr>
                <a:t>1.</a:t>
              </a:r>
              <a:r>
                <a:rPr lang="zh-TW" altLang="en-US" sz="1600" dirty="0">
                  <a:latin typeface="微軟正黑體" panose="020B0604030504040204" pitchFamily="34" charset="-120"/>
                  <a:ea typeface="微軟正黑體" panose="020B0604030504040204" pitchFamily="34" charset="-120"/>
                </a:rPr>
                <a:t>優化資料存儲方式，減少重複的資料儲存。</a:t>
              </a:r>
            </a:p>
            <a:p>
              <a:r>
                <a:rPr lang="en-US" altLang="zh-TW" sz="1600" dirty="0">
                  <a:latin typeface="微軟正黑體" panose="020B0604030504040204" pitchFamily="34" charset="-120"/>
                  <a:ea typeface="微軟正黑體" panose="020B0604030504040204" pitchFamily="34" charset="-120"/>
                </a:rPr>
                <a:t>2.</a:t>
              </a:r>
              <a:r>
                <a:rPr lang="zh-TW" altLang="en-US" sz="1600" dirty="0">
                  <a:latin typeface="微軟正黑體" panose="020B0604030504040204" pitchFamily="34" charset="-120"/>
                  <a:ea typeface="微軟正黑體" panose="020B0604030504040204" pitchFamily="34" charset="-120"/>
                </a:rPr>
                <a:t>建地端資料庫，優化資料取得方式，使內部系統透過資料庫連線，可共用爬蟲資料。</a:t>
              </a:r>
            </a:p>
            <a:p>
              <a:r>
                <a:rPr lang="en-US" altLang="zh-TW" sz="1600" dirty="0">
                  <a:latin typeface="微軟正黑體" panose="020B0604030504040204" pitchFamily="34" charset="-120"/>
                  <a:ea typeface="微軟正黑體" panose="020B0604030504040204" pitchFamily="34" charset="-120"/>
                </a:rPr>
                <a:t>3.</a:t>
              </a:r>
              <a:r>
                <a:rPr lang="zh-TW" altLang="en-US" sz="1600" dirty="0">
                  <a:latin typeface="微軟正黑體" panose="020B0604030504040204" pitchFamily="34" charset="-120"/>
                  <a:ea typeface="微軟正黑體" panose="020B0604030504040204" pitchFamily="34" charset="-120"/>
                </a:rPr>
                <a:t>預估節省人力成本</a:t>
              </a:r>
              <a:r>
                <a:rPr lang="en-US" altLang="zh-TW" sz="1600" dirty="0">
                  <a:latin typeface="微軟正黑體" panose="020B0604030504040204" pitchFamily="34" charset="-120"/>
                  <a:ea typeface="微軟正黑體" panose="020B0604030504040204" pitchFamily="34" charset="-120"/>
                </a:rPr>
                <a:t>(</a:t>
              </a:r>
              <a:r>
                <a:rPr lang="zh-TW" altLang="en-US" sz="1600" dirty="0">
                  <a:latin typeface="微軟正黑體" panose="020B0604030504040204" pitchFamily="34" charset="-120"/>
                  <a:ea typeface="微軟正黑體" panose="020B0604030504040204" pitchFamily="34" charset="-120"/>
                </a:rPr>
                <a:t>每年</a:t>
              </a:r>
              <a:r>
                <a:rPr lang="en-US" altLang="zh-TW" sz="1600" dirty="0">
                  <a:latin typeface="微軟正黑體" panose="020B0604030504040204" pitchFamily="34" charset="-120"/>
                  <a:ea typeface="微軟正黑體" panose="020B0604030504040204" pitchFamily="34" charset="-120"/>
                </a:rPr>
                <a:t>6</a:t>
              </a:r>
              <a:r>
                <a:rPr lang="zh-TW" altLang="en-US" sz="1600" dirty="0">
                  <a:latin typeface="微軟正黑體" panose="020B0604030504040204" pitchFamily="34" charset="-120"/>
                  <a:ea typeface="微軟正黑體" panose="020B0604030504040204" pitchFamily="34" charset="-120"/>
                </a:rPr>
                <a:t>萬</a:t>
              </a:r>
              <a:r>
                <a:rPr lang="en-US" altLang="zh-TW" sz="1600" dirty="0">
                  <a:latin typeface="微軟正黑體" panose="020B0604030504040204" pitchFamily="34" charset="-120"/>
                  <a:ea typeface="微軟正黑體" panose="020B0604030504040204" pitchFamily="34" charset="-120"/>
                </a:rPr>
                <a:t>)</a:t>
              </a:r>
              <a:r>
                <a:rPr lang="zh-TW" altLang="en-US" sz="1600" dirty="0">
                  <a:latin typeface="微軟正黑體" panose="020B0604030504040204" pitchFamily="34" charset="-120"/>
                  <a:ea typeface="微軟正黑體" panose="020B0604030504040204" pitchFamily="34" charset="-120"/>
                </a:rPr>
                <a:t>，解決痛點如下圖示意，彰顯此案價值。</a:t>
              </a:r>
            </a:p>
          </p:txBody>
        </p:sp>
      </p:grpSp>
      <p:sp>
        <p:nvSpPr>
          <p:cNvPr id="20" name="圓角矩形 58">
            <a:extLst>
              <a:ext uri="{FF2B5EF4-FFF2-40B4-BE49-F238E27FC236}">
                <a16:creationId xmlns:a16="http://schemas.microsoft.com/office/drawing/2014/main" id="{85F728C9-5749-517E-3730-32D4BEC6D5BD}"/>
              </a:ext>
            </a:extLst>
          </p:cNvPr>
          <p:cNvSpPr/>
          <p:nvPr/>
        </p:nvSpPr>
        <p:spPr bwMode="auto">
          <a:xfrm>
            <a:off x="303063" y="2344436"/>
            <a:ext cx="2772837" cy="893688"/>
          </a:xfrm>
          <a:prstGeom prst="roundRect">
            <a:avLst/>
          </a:prstGeom>
          <a:solidFill>
            <a:srgbClr val="FFDFDF"/>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zh-TW" altLang="zh-TW" sz="1600" dirty="0">
                <a:effectLst/>
                <a:latin typeface="微軟正黑體" panose="020B0604030504040204" pitchFamily="34" charset="-120"/>
                <a:ea typeface="微軟正黑體" panose="020B0604030504040204" pitchFamily="34" charset="-120"/>
                <a:cs typeface="Calibri" panose="020F0502020204030204" pitchFamily="34" charset="0"/>
              </a:rPr>
              <a:t>爬蟲館</a:t>
            </a:r>
            <a:endParaRPr kumimoji="1" lang="zh-TW" altLang="en-US" sz="1600" b="1" i="0" u="none" strike="noStrike" kern="1200" cap="none" spc="0" normalizeH="0" baseline="0" noProof="0" dirty="0">
              <a:ln>
                <a:noFill/>
              </a:ln>
              <a:solidFill>
                <a:srgbClr val="CCFFCC"/>
              </a:solidFill>
              <a:effectLst/>
              <a:uLnTx/>
              <a:uFillTx/>
              <a:latin typeface="微軟正黑體" panose="020B0604030504040204" pitchFamily="34" charset="-120"/>
              <a:ea typeface="微軟正黑體" panose="020B0604030504040204" pitchFamily="34" charset="-120"/>
              <a:cs typeface="+mn-cs"/>
            </a:endParaRPr>
          </a:p>
        </p:txBody>
      </p:sp>
      <p:sp>
        <p:nvSpPr>
          <p:cNvPr id="36" name="圓角矩形 58">
            <a:extLst>
              <a:ext uri="{FF2B5EF4-FFF2-40B4-BE49-F238E27FC236}">
                <a16:creationId xmlns:a16="http://schemas.microsoft.com/office/drawing/2014/main" id="{60E0A158-4B51-4AE5-DD17-DF276AF1CB4A}"/>
              </a:ext>
            </a:extLst>
          </p:cNvPr>
          <p:cNvSpPr/>
          <p:nvPr/>
        </p:nvSpPr>
        <p:spPr bwMode="auto">
          <a:xfrm>
            <a:off x="5890683" y="2341964"/>
            <a:ext cx="2772837" cy="895853"/>
          </a:xfrm>
          <a:prstGeom prst="roundRect">
            <a:avLst/>
          </a:prstGeom>
          <a:solidFill>
            <a:srgbClr val="FFDFDF"/>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zh-TW" altLang="en-US" sz="1600" dirty="0">
                <a:effectLst/>
                <a:latin typeface="微軟正黑體" panose="020B0604030504040204" pitchFamily="34" charset="-120"/>
                <a:ea typeface="微軟正黑體" panose="020B0604030504040204" pitchFamily="34" charset="-120"/>
                <a:cs typeface="Calibri" panose="020F0502020204030204" pitchFamily="34" charset="0"/>
              </a:rPr>
              <a:t>個人</a:t>
            </a:r>
            <a:br>
              <a:rPr lang="en-US" altLang="zh-TW" sz="1600" dirty="0">
                <a:effectLst/>
                <a:latin typeface="微軟正黑體" panose="020B0604030504040204" pitchFamily="34" charset="-120"/>
                <a:ea typeface="微軟正黑體" panose="020B0604030504040204" pitchFamily="34" charset="-120"/>
                <a:cs typeface="Calibri" panose="020F0502020204030204" pitchFamily="34" charset="0"/>
              </a:rPr>
            </a:br>
            <a:r>
              <a:rPr lang="zh-TW" altLang="en-US" sz="1600" dirty="0">
                <a:effectLst/>
                <a:latin typeface="微軟正黑體" panose="020B0604030504040204" pitchFamily="34" charset="-120"/>
                <a:ea typeface="微軟正黑體" panose="020B0604030504040204" pitchFamily="34" charset="-120"/>
                <a:cs typeface="Calibri" panose="020F0502020204030204" pitchFamily="34" charset="0"/>
              </a:rPr>
              <a:t>電腦</a:t>
            </a:r>
            <a:endParaRPr kumimoji="1" lang="zh-TW" altLang="en-US" sz="1600" b="1" i="0" u="none" strike="noStrike" kern="1200" cap="none" spc="0" normalizeH="0" baseline="0" noProof="0" dirty="0">
              <a:ln>
                <a:noFill/>
              </a:ln>
              <a:solidFill>
                <a:srgbClr val="CCFFCC"/>
              </a:solidFill>
              <a:effectLst/>
              <a:uLnTx/>
              <a:uFillTx/>
              <a:latin typeface="微軟正黑體" panose="020B0604030504040204" pitchFamily="34" charset="-120"/>
              <a:ea typeface="微軟正黑體" panose="020B0604030504040204" pitchFamily="34" charset="-120"/>
              <a:cs typeface="+mn-cs"/>
            </a:endParaRPr>
          </a:p>
        </p:txBody>
      </p:sp>
      <p:sp>
        <p:nvSpPr>
          <p:cNvPr id="38" name="AutoShape 64">
            <a:extLst>
              <a:ext uri="{FF2B5EF4-FFF2-40B4-BE49-F238E27FC236}">
                <a16:creationId xmlns:a16="http://schemas.microsoft.com/office/drawing/2014/main" id="{564518EE-D120-501D-6F8E-61306736F036}"/>
              </a:ext>
            </a:extLst>
          </p:cNvPr>
          <p:cNvSpPr>
            <a:spLocks noChangeArrowheads="1"/>
          </p:cNvSpPr>
          <p:nvPr/>
        </p:nvSpPr>
        <p:spPr bwMode="auto">
          <a:xfrm>
            <a:off x="1390388" y="2539624"/>
            <a:ext cx="1280796" cy="432212"/>
          </a:xfrm>
          <a:prstGeom prst="flowChartAlternateProcess">
            <a:avLst/>
          </a:prstGeom>
          <a:solidFill>
            <a:srgbClr val="00B0F0"/>
          </a:solidFill>
          <a:ln w="3175" algn="ctr">
            <a:solidFill>
              <a:srgbClr val="EAEAEA"/>
            </a:solidFill>
            <a:miter lim="800000"/>
            <a:headEnd/>
            <a:tailEnd/>
          </a:ln>
          <a:effectLst>
            <a:outerShdw dist="35921" dir="2700000" algn="ctr" rotWithShape="0">
              <a:srgbClr val="808080">
                <a:alpha val="50000"/>
              </a:srgbClr>
            </a:outerShdw>
          </a:effectLst>
        </p:spPr>
        <p:txBody>
          <a:bodyPr wrap="none" anchor="ctr"/>
          <a:lstStyle>
            <a:lvl1pPr eaLnBrk="0" hangingPunct="0">
              <a:defRPr kumimoji="1">
                <a:solidFill>
                  <a:schemeClr val="tx1"/>
                </a:solidFill>
                <a:latin typeface="Arial" pitchFamily="34" charset="0"/>
                <a:ea typeface="新細明體" pitchFamily="18" charset="-120"/>
              </a:defRPr>
            </a:lvl1pPr>
            <a:lvl2pPr marL="742950" indent="-285750" eaLnBrk="0" hangingPunct="0">
              <a:defRPr kumimoji="1">
                <a:solidFill>
                  <a:schemeClr val="tx1"/>
                </a:solidFill>
                <a:latin typeface="Arial" pitchFamily="34" charset="0"/>
                <a:ea typeface="新細明體" pitchFamily="18" charset="-120"/>
              </a:defRPr>
            </a:lvl2pPr>
            <a:lvl3pPr marL="1143000" indent="-228600" eaLnBrk="0" hangingPunct="0">
              <a:defRPr kumimoji="1">
                <a:solidFill>
                  <a:schemeClr val="tx1"/>
                </a:solidFill>
                <a:latin typeface="Arial" pitchFamily="34" charset="0"/>
                <a:ea typeface="新細明體" pitchFamily="18" charset="-120"/>
              </a:defRPr>
            </a:lvl3pPr>
            <a:lvl4pPr marL="1600200" indent="-228600" eaLnBrk="0" hangingPunct="0">
              <a:defRPr kumimoji="1">
                <a:solidFill>
                  <a:schemeClr val="tx1"/>
                </a:solidFill>
                <a:latin typeface="Arial" pitchFamily="34" charset="0"/>
                <a:ea typeface="新細明體" pitchFamily="18" charset="-120"/>
              </a:defRPr>
            </a:lvl4pPr>
            <a:lvl5pPr marL="2057400" indent="-228600" eaLnBrk="0" hangingPunct="0">
              <a:defRPr kumimoji="1">
                <a:solidFill>
                  <a:schemeClr val="tx1"/>
                </a:solidFill>
                <a:latin typeface="Arial" pitchFamily="34"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pitchFamily="34"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pitchFamily="34"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pitchFamily="34"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pitchFamily="34" charset="0"/>
                <a:ea typeface="新細明體" pitchFamily="18" charset="-12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TW" altLang="en-US" sz="2000" b="1" i="0" u="none" strike="noStrike" kern="1200" cap="none" spc="0" normalizeH="0" baseline="0" noProof="0" dirty="0">
                <a:ln>
                  <a:noFill/>
                </a:ln>
                <a:solidFill>
                  <a:schemeClr val="bg1"/>
                </a:solidFill>
                <a:effectLst/>
                <a:uLnTx/>
                <a:uFillTx/>
                <a:latin typeface="微軟正黑體" panose="020B0604030504040204" pitchFamily="34" charset="-120"/>
                <a:ea typeface="微軟正黑體" panose="020B0604030504040204" pitchFamily="34" charset="-120"/>
                <a:cs typeface="文鼎新細黑"/>
              </a:rPr>
              <a:t>手動訂閱</a:t>
            </a:r>
            <a:endParaRPr kumimoji="1" lang="en-US" altLang="zh-TW" sz="2000" b="1" i="0" u="none" strike="noStrike" kern="1200" cap="none" spc="0" normalizeH="0" baseline="0" noProof="0" dirty="0">
              <a:ln>
                <a:noFill/>
              </a:ln>
              <a:solidFill>
                <a:schemeClr val="bg1"/>
              </a:solidFill>
              <a:effectLst/>
              <a:uLnTx/>
              <a:uFillTx/>
              <a:latin typeface="微軟正黑體" panose="020B0604030504040204" pitchFamily="34" charset="-120"/>
              <a:ea typeface="微軟正黑體" panose="020B0604030504040204" pitchFamily="34" charset="-120"/>
              <a:cs typeface="文鼎新細黑"/>
            </a:endParaRPr>
          </a:p>
        </p:txBody>
      </p:sp>
      <p:sp>
        <p:nvSpPr>
          <p:cNvPr id="39" name="AutoShape 64">
            <a:extLst>
              <a:ext uri="{FF2B5EF4-FFF2-40B4-BE49-F238E27FC236}">
                <a16:creationId xmlns:a16="http://schemas.microsoft.com/office/drawing/2014/main" id="{6B04AA2C-B8DE-5710-6D15-EF0F1088CEDF}"/>
              </a:ext>
            </a:extLst>
          </p:cNvPr>
          <p:cNvSpPr>
            <a:spLocks noChangeArrowheads="1"/>
          </p:cNvSpPr>
          <p:nvPr/>
        </p:nvSpPr>
        <p:spPr bwMode="auto">
          <a:xfrm>
            <a:off x="6860827" y="2480419"/>
            <a:ext cx="1646109" cy="547962"/>
          </a:xfrm>
          <a:prstGeom prst="flowChartAlternateProcess">
            <a:avLst/>
          </a:prstGeom>
          <a:solidFill>
            <a:srgbClr val="00B0F0"/>
          </a:solidFill>
          <a:ln w="3175" algn="ctr">
            <a:solidFill>
              <a:srgbClr val="EAEAEA"/>
            </a:solidFill>
            <a:miter lim="800000"/>
            <a:headEnd/>
            <a:tailEnd/>
          </a:ln>
          <a:effectLst>
            <a:outerShdw dist="35921" dir="2700000" algn="ctr" rotWithShape="0">
              <a:srgbClr val="808080">
                <a:alpha val="50000"/>
              </a:srgbClr>
            </a:outerShdw>
          </a:effectLst>
        </p:spPr>
        <p:txBody>
          <a:bodyPr wrap="none" anchor="ctr"/>
          <a:lstStyle>
            <a:lvl1pPr eaLnBrk="0" hangingPunct="0">
              <a:defRPr kumimoji="1">
                <a:solidFill>
                  <a:schemeClr val="tx1"/>
                </a:solidFill>
                <a:latin typeface="Arial" pitchFamily="34" charset="0"/>
                <a:ea typeface="新細明體" pitchFamily="18" charset="-120"/>
              </a:defRPr>
            </a:lvl1pPr>
            <a:lvl2pPr marL="742950" indent="-285750" eaLnBrk="0" hangingPunct="0">
              <a:defRPr kumimoji="1">
                <a:solidFill>
                  <a:schemeClr val="tx1"/>
                </a:solidFill>
                <a:latin typeface="Arial" pitchFamily="34" charset="0"/>
                <a:ea typeface="新細明體" pitchFamily="18" charset="-120"/>
              </a:defRPr>
            </a:lvl2pPr>
            <a:lvl3pPr marL="1143000" indent="-228600" eaLnBrk="0" hangingPunct="0">
              <a:defRPr kumimoji="1">
                <a:solidFill>
                  <a:schemeClr val="tx1"/>
                </a:solidFill>
                <a:latin typeface="Arial" pitchFamily="34" charset="0"/>
                <a:ea typeface="新細明體" pitchFamily="18" charset="-120"/>
              </a:defRPr>
            </a:lvl3pPr>
            <a:lvl4pPr marL="1600200" indent="-228600" eaLnBrk="0" hangingPunct="0">
              <a:defRPr kumimoji="1">
                <a:solidFill>
                  <a:schemeClr val="tx1"/>
                </a:solidFill>
                <a:latin typeface="Arial" pitchFamily="34" charset="0"/>
                <a:ea typeface="新細明體" pitchFamily="18" charset="-120"/>
              </a:defRPr>
            </a:lvl4pPr>
            <a:lvl5pPr marL="2057400" indent="-228600" eaLnBrk="0" hangingPunct="0">
              <a:defRPr kumimoji="1">
                <a:solidFill>
                  <a:schemeClr val="tx1"/>
                </a:solidFill>
                <a:latin typeface="Arial" pitchFamily="34"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pitchFamily="34"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pitchFamily="34"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pitchFamily="34"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pitchFamily="34" charset="0"/>
                <a:ea typeface="新細明體" pitchFamily="18" charset="-12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TW" altLang="en-US" b="1" i="0" u="none" strike="noStrike" kern="1200" cap="none" spc="0" normalizeH="0" baseline="0" noProof="0" dirty="0">
                <a:ln>
                  <a:noFill/>
                </a:ln>
                <a:solidFill>
                  <a:srgbClr val="FFFFFF"/>
                </a:solidFill>
                <a:effectLst/>
                <a:uLnTx/>
                <a:uFillTx/>
                <a:latin typeface="微軟正黑體" panose="020B0604030504040204" pitchFamily="34" charset="-120"/>
                <a:ea typeface="微軟正黑體" panose="020B0604030504040204" pitchFamily="34" charset="-120"/>
                <a:cs typeface="文鼎新細黑"/>
              </a:rPr>
              <a:t>手動刪除重複資料</a:t>
            </a:r>
            <a:br>
              <a:rPr kumimoji="1" lang="en-US" altLang="zh-TW" b="1" i="0" u="none" strike="noStrike" kern="1200" cap="none" spc="0" normalizeH="0" baseline="0" noProof="0" dirty="0">
                <a:ln>
                  <a:noFill/>
                </a:ln>
                <a:solidFill>
                  <a:srgbClr val="FFFFFF"/>
                </a:solidFill>
                <a:effectLst/>
                <a:uLnTx/>
                <a:uFillTx/>
                <a:latin typeface="微軟正黑體" panose="020B0604030504040204" pitchFamily="34" charset="-120"/>
                <a:ea typeface="微軟正黑體" panose="020B0604030504040204" pitchFamily="34" charset="-120"/>
                <a:cs typeface="文鼎新細黑"/>
              </a:rPr>
            </a:br>
            <a:r>
              <a:rPr kumimoji="1" lang="zh-TW" altLang="en-US" b="1" i="0" u="none" strike="noStrike" kern="1200" cap="none" spc="0" normalizeH="0" baseline="0" noProof="0" dirty="0">
                <a:ln>
                  <a:noFill/>
                </a:ln>
                <a:solidFill>
                  <a:srgbClr val="FFFFFF"/>
                </a:solidFill>
                <a:effectLst/>
                <a:uLnTx/>
                <a:uFillTx/>
                <a:latin typeface="微軟正黑體" panose="020B0604030504040204" pitchFamily="34" charset="-120"/>
                <a:ea typeface="微軟正黑體" panose="020B0604030504040204" pitchFamily="34" charset="-120"/>
                <a:cs typeface="文鼎新細黑"/>
              </a:rPr>
              <a:t>整併加工</a:t>
            </a:r>
            <a:r>
              <a:rPr lang="zh-TW" altLang="en-US" b="1" kern="1200" dirty="0">
                <a:solidFill>
                  <a:srgbClr val="FFFFFF"/>
                </a:solidFill>
                <a:latin typeface="微軟正黑體" panose="020B0604030504040204" pitchFamily="34" charset="-120"/>
                <a:ea typeface="微軟正黑體" panose="020B0604030504040204" pitchFamily="34" charset="-120"/>
                <a:cs typeface="文鼎新細黑"/>
              </a:rPr>
              <a:t>後</a:t>
            </a:r>
            <a:r>
              <a:rPr kumimoji="1" lang="zh-TW" altLang="en-US" b="1" i="0" u="none" strike="noStrike" kern="1200" cap="none" spc="0" normalizeH="0" baseline="0" noProof="0" dirty="0">
                <a:ln>
                  <a:noFill/>
                </a:ln>
                <a:solidFill>
                  <a:srgbClr val="FFFFFF"/>
                </a:solidFill>
                <a:effectLst/>
                <a:uLnTx/>
                <a:uFillTx/>
                <a:latin typeface="微軟正黑體" panose="020B0604030504040204" pitchFamily="34" charset="-120"/>
                <a:ea typeface="微軟正黑體" panose="020B0604030504040204" pitchFamily="34" charset="-120"/>
                <a:cs typeface="文鼎新細黑"/>
              </a:rPr>
              <a:t>上傳</a:t>
            </a:r>
            <a:endParaRPr kumimoji="1" lang="en-US" altLang="zh-TW" b="1" i="0" u="none" strike="noStrike" kern="1200" cap="none" spc="0" normalizeH="0" baseline="0" noProof="0" dirty="0">
              <a:ln>
                <a:noFill/>
              </a:ln>
              <a:solidFill>
                <a:srgbClr val="FFFFFF"/>
              </a:solidFill>
              <a:effectLst/>
              <a:uLnTx/>
              <a:uFillTx/>
              <a:latin typeface="微軟正黑體" panose="020B0604030504040204" pitchFamily="34" charset="-120"/>
              <a:ea typeface="微軟正黑體" panose="020B0604030504040204" pitchFamily="34" charset="-120"/>
              <a:cs typeface="文鼎新細黑"/>
            </a:endParaRPr>
          </a:p>
        </p:txBody>
      </p:sp>
      <p:sp>
        <p:nvSpPr>
          <p:cNvPr id="42" name="AutoShape 64">
            <a:extLst>
              <a:ext uri="{FF2B5EF4-FFF2-40B4-BE49-F238E27FC236}">
                <a16:creationId xmlns:a16="http://schemas.microsoft.com/office/drawing/2014/main" id="{41A4FF4C-BAF8-2BD4-BCE9-A0CAEBFB1B5A}"/>
              </a:ext>
            </a:extLst>
          </p:cNvPr>
          <p:cNvSpPr>
            <a:spLocks noChangeArrowheads="1"/>
          </p:cNvSpPr>
          <p:nvPr/>
        </p:nvSpPr>
        <p:spPr bwMode="auto">
          <a:xfrm>
            <a:off x="9876591" y="2341964"/>
            <a:ext cx="1413515" cy="895853"/>
          </a:xfrm>
          <a:prstGeom prst="flowChartAlternateProcess">
            <a:avLst/>
          </a:prstGeom>
          <a:solidFill>
            <a:srgbClr val="92D050"/>
          </a:solidFill>
          <a:ln w="3175" algn="ctr">
            <a:solidFill>
              <a:srgbClr val="EAEAEA"/>
            </a:solidFill>
            <a:miter lim="800000"/>
            <a:headEnd/>
            <a:tailEnd/>
          </a:ln>
          <a:effectLst>
            <a:outerShdw dist="35921" dir="2700000" algn="ctr" rotWithShape="0">
              <a:srgbClr val="808080">
                <a:alpha val="50000"/>
              </a:srgbClr>
            </a:outerShdw>
          </a:effectLst>
        </p:spPr>
        <p:txBody>
          <a:bodyPr wrap="none" anchor="ctr"/>
          <a:lstStyle>
            <a:lvl1pPr eaLnBrk="0" hangingPunct="0">
              <a:defRPr kumimoji="1">
                <a:solidFill>
                  <a:schemeClr val="tx1"/>
                </a:solidFill>
                <a:latin typeface="Arial" pitchFamily="34" charset="0"/>
                <a:ea typeface="新細明體" pitchFamily="18" charset="-120"/>
              </a:defRPr>
            </a:lvl1pPr>
            <a:lvl2pPr marL="742950" indent="-285750" eaLnBrk="0" hangingPunct="0">
              <a:defRPr kumimoji="1">
                <a:solidFill>
                  <a:schemeClr val="tx1"/>
                </a:solidFill>
                <a:latin typeface="Arial" pitchFamily="34" charset="0"/>
                <a:ea typeface="新細明體" pitchFamily="18" charset="-120"/>
              </a:defRPr>
            </a:lvl2pPr>
            <a:lvl3pPr marL="1143000" indent="-228600" eaLnBrk="0" hangingPunct="0">
              <a:defRPr kumimoji="1">
                <a:solidFill>
                  <a:schemeClr val="tx1"/>
                </a:solidFill>
                <a:latin typeface="Arial" pitchFamily="34" charset="0"/>
                <a:ea typeface="新細明體" pitchFamily="18" charset="-120"/>
              </a:defRPr>
            </a:lvl3pPr>
            <a:lvl4pPr marL="1600200" indent="-228600" eaLnBrk="0" hangingPunct="0">
              <a:defRPr kumimoji="1">
                <a:solidFill>
                  <a:schemeClr val="tx1"/>
                </a:solidFill>
                <a:latin typeface="Arial" pitchFamily="34" charset="0"/>
                <a:ea typeface="新細明體" pitchFamily="18" charset="-120"/>
              </a:defRPr>
            </a:lvl4pPr>
            <a:lvl5pPr marL="2057400" indent="-228600" eaLnBrk="0" hangingPunct="0">
              <a:defRPr kumimoji="1">
                <a:solidFill>
                  <a:schemeClr val="tx1"/>
                </a:solidFill>
                <a:latin typeface="Arial" pitchFamily="34"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pitchFamily="34"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pitchFamily="34"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pitchFamily="34"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pitchFamily="34" charset="0"/>
                <a:ea typeface="新細明體" pitchFamily="18" charset="-12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TW" altLang="en-US" sz="1800" b="1" i="0" u="none" strike="noStrike" kern="1200" cap="none" spc="0" normalizeH="0" baseline="0" noProof="0" dirty="0">
                <a:ln>
                  <a:noFill/>
                </a:ln>
                <a:effectLst/>
                <a:uLnTx/>
                <a:uFillTx/>
                <a:latin typeface="微軟正黑體" panose="020B0604030504040204" pitchFamily="34" charset="-120"/>
                <a:ea typeface="微軟正黑體" panose="020B0604030504040204" pitchFamily="34" charset="-120"/>
                <a:cs typeface="文鼎新細黑"/>
              </a:rPr>
              <a:t>內部系統</a:t>
            </a:r>
            <a:r>
              <a:rPr kumimoji="1" lang="en-US" altLang="zh-TW" sz="1800" b="1" i="0" u="none" strike="noStrike" kern="1200" cap="none" spc="0" normalizeH="0" baseline="0" noProof="0" dirty="0">
                <a:ln>
                  <a:noFill/>
                </a:ln>
                <a:effectLst/>
                <a:uLnTx/>
                <a:uFillTx/>
                <a:latin typeface="微軟正黑體" panose="020B0604030504040204" pitchFamily="34" charset="-120"/>
                <a:ea typeface="微軟正黑體" panose="020B0604030504040204" pitchFamily="34" charset="-120"/>
                <a:cs typeface="文鼎新細黑"/>
              </a:rPr>
              <a:t>DB</a:t>
            </a:r>
          </a:p>
        </p:txBody>
      </p:sp>
      <p:cxnSp>
        <p:nvCxnSpPr>
          <p:cNvPr id="44" name="直線單箭頭接點 76">
            <a:extLst>
              <a:ext uri="{FF2B5EF4-FFF2-40B4-BE49-F238E27FC236}">
                <a16:creationId xmlns:a16="http://schemas.microsoft.com/office/drawing/2014/main" id="{C4377749-98D8-331C-487F-CB4990C12DC3}"/>
              </a:ext>
            </a:extLst>
          </p:cNvPr>
          <p:cNvCxnSpPr>
            <a:cxnSpLocks/>
            <a:stCxn id="20" idx="3"/>
            <a:endCxn id="36" idx="1"/>
          </p:cNvCxnSpPr>
          <p:nvPr/>
        </p:nvCxnSpPr>
        <p:spPr bwMode="auto">
          <a:xfrm flipV="1">
            <a:off x="3075900" y="2789891"/>
            <a:ext cx="2814783" cy="1389"/>
          </a:xfrm>
          <a:prstGeom prst="straightConnector1">
            <a:avLst/>
          </a:prstGeom>
          <a:solidFill>
            <a:srgbClr val="000066"/>
          </a:solidFill>
          <a:ln w="76200" cap="flat" cmpd="sng" algn="ctr">
            <a:solidFill>
              <a:schemeClr val="tx1">
                <a:lumMod val="50000"/>
                <a:lumOff val="50000"/>
              </a:schemeClr>
            </a:solidFill>
            <a:prstDash val="solid"/>
            <a:round/>
            <a:headEnd type="none" w="med" len="med"/>
            <a:tailEnd type="triangle"/>
          </a:ln>
          <a:effectLst/>
        </p:spPr>
      </p:cxnSp>
      <p:cxnSp>
        <p:nvCxnSpPr>
          <p:cNvPr id="47" name="直線單箭頭接點 76">
            <a:extLst>
              <a:ext uri="{FF2B5EF4-FFF2-40B4-BE49-F238E27FC236}">
                <a16:creationId xmlns:a16="http://schemas.microsoft.com/office/drawing/2014/main" id="{B1D43BD9-288F-17F0-70C8-B8A3876CA3B2}"/>
              </a:ext>
            </a:extLst>
          </p:cNvPr>
          <p:cNvCxnSpPr>
            <a:cxnSpLocks/>
            <a:stCxn id="36" idx="3"/>
            <a:endCxn id="42" idx="1"/>
          </p:cNvCxnSpPr>
          <p:nvPr/>
        </p:nvCxnSpPr>
        <p:spPr bwMode="auto">
          <a:xfrm>
            <a:off x="8663520" y="2789891"/>
            <a:ext cx="1213071" cy="0"/>
          </a:xfrm>
          <a:prstGeom prst="straightConnector1">
            <a:avLst/>
          </a:prstGeom>
          <a:solidFill>
            <a:srgbClr val="000066"/>
          </a:solidFill>
          <a:ln w="76200" cap="flat" cmpd="sng" algn="ctr">
            <a:solidFill>
              <a:schemeClr val="tx1">
                <a:lumMod val="50000"/>
                <a:lumOff val="50000"/>
              </a:schemeClr>
            </a:solidFill>
            <a:prstDash val="solid"/>
            <a:round/>
            <a:headEnd type="none" w="med" len="med"/>
            <a:tailEnd type="triangle"/>
          </a:ln>
          <a:effectLst/>
        </p:spPr>
      </p:cxnSp>
      <p:sp>
        <p:nvSpPr>
          <p:cNvPr id="65" name="文字版面配置區 2">
            <a:extLst>
              <a:ext uri="{FF2B5EF4-FFF2-40B4-BE49-F238E27FC236}">
                <a16:creationId xmlns:a16="http://schemas.microsoft.com/office/drawing/2014/main" id="{4CAC0081-2A91-D56A-443E-03EC471A415D}"/>
              </a:ext>
            </a:extLst>
          </p:cNvPr>
          <p:cNvSpPr txBox="1">
            <a:spLocks/>
          </p:cNvSpPr>
          <p:nvPr/>
        </p:nvSpPr>
        <p:spPr>
          <a:xfrm>
            <a:off x="3882917" y="5031142"/>
            <a:ext cx="1506911" cy="32746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ltLang="zh-TW" sz="1600" dirty="0">
                <a:latin typeface="微軟正黑體" panose="020B0604030504040204" pitchFamily="34" charset="-120"/>
                <a:ea typeface="微軟正黑體" panose="020B0604030504040204" pitchFamily="34" charset="-120"/>
              </a:rPr>
              <a:t>incremental</a:t>
            </a:r>
            <a:endParaRPr lang="zh-TW" altLang="en-US" sz="16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5749580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g222eb5d9c60_0_38"/>
          <p:cNvSpPr txBox="1">
            <a:spLocks noGrp="1"/>
          </p:cNvSpPr>
          <p:nvPr>
            <p:ph type="title"/>
          </p:nvPr>
        </p:nvSpPr>
        <p:spPr>
          <a:xfrm>
            <a:off x="401390" y="60641"/>
            <a:ext cx="10717708" cy="600152"/>
          </a:xfrm>
          <a:prstGeom prst="rect">
            <a:avLst/>
          </a:prstGeom>
          <a:noFill/>
          <a:ln>
            <a:noFill/>
          </a:ln>
        </p:spPr>
        <p:txBody>
          <a:bodyPr spcFirstLastPara="1" wrap="square" lIns="88143" tIns="44059" rIns="88143" bIns="44059" anchor="ctr" anchorCtr="0">
            <a:noAutofit/>
          </a:bodyPr>
          <a:lstStyle/>
          <a:p>
            <a:pPr>
              <a:buSzPts val="1400"/>
            </a:pPr>
            <a:r>
              <a:rPr lang="zh-TW" altLang="en-US" b="1" dirty="0">
                <a:latin typeface="微軟正黑體" panose="020B0604030504040204" pitchFamily="34" charset="-120"/>
                <a:ea typeface="微軟正黑體" panose="020B0604030504040204" pitchFamily="34" charset="-120"/>
              </a:rPr>
              <a:t>使用情境</a:t>
            </a:r>
            <a:r>
              <a:rPr lang="en-US" altLang="zh-TW" b="1" dirty="0">
                <a:latin typeface="微軟正黑體" panose="020B0604030504040204" pitchFamily="34" charset="-120"/>
                <a:ea typeface="微軟正黑體" panose="020B0604030504040204" pitchFamily="34" charset="-120"/>
              </a:rPr>
              <a:t>_</a:t>
            </a:r>
            <a:r>
              <a:rPr lang="zh-TW" altLang="en-US" b="1" dirty="0">
                <a:latin typeface="微軟正黑體" panose="020B0604030504040204" pitchFamily="34" charset="-120"/>
                <a:ea typeface="微軟正黑體" panose="020B0604030504040204" pitchFamily="34" charset="-120"/>
              </a:rPr>
              <a:t>現況</a:t>
            </a:r>
            <a:endParaRPr b="1" dirty="0">
              <a:latin typeface="微軟正黑體" panose="020B0604030504040204" pitchFamily="34" charset="-120"/>
              <a:ea typeface="微軟正黑體" panose="020B0604030504040204" pitchFamily="34" charset="-120"/>
            </a:endParaRPr>
          </a:p>
        </p:txBody>
      </p:sp>
      <p:cxnSp>
        <p:nvCxnSpPr>
          <p:cNvPr id="34" name="接點: 肘形 33">
            <a:extLst>
              <a:ext uri="{FF2B5EF4-FFF2-40B4-BE49-F238E27FC236}">
                <a16:creationId xmlns:a16="http://schemas.microsoft.com/office/drawing/2014/main" id="{4408DCA7-CF17-1990-9AFF-97966A2BC256}"/>
              </a:ext>
            </a:extLst>
          </p:cNvPr>
          <p:cNvCxnSpPr>
            <a:cxnSpLocks/>
            <a:stCxn id="40" idx="4"/>
            <a:endCxn id="36" idx="1"/>
          </p:cNvCxnSpPr>
          <p:nvPr/>
        </p:nvCxnSpPr>
        <p:spPr bwMode="auto">
          <a:xfrm rot="5400000">
            <a:off x="1262963" y="2273388"/>
            <a:ext cx="2625371" cy="1248770"/>
          </a:xfrm>
          <a:prstGeom prst="bentConnector4">
            <a:avLst>
              <a:gd name="adj1" fmla="val 28627"/>
              <a:gd name="adj2" fmla="val 148631"/>
            </a:avLst>
          </a:prstGeom>
          <a:ln w="28575">
            <a:solidFill>
              <a:srgbClr val="FF9B00"/>
            </a:solidFill>
            <a:headEnd type="triangle" w="med" len="med"/>
            <a:tailEnd type="triangle"/>
          </a:ln>
        </p:spPr>
        <p:style>
          <a:lnRef idx="1">
            <a:schemeClr val="accent6"/>
          </a:lnRef>
          <a:fillRef idx="0">
            <a:schemeClr val="accent6"/>
          </a:fillRef>
          <a:effectRef idx="0">
            <a:schemeClr val="accent6"/>
          </a:effectRef>
          <a:fontRef idx="minor">
            <a:schemeClr val="tx1"/>
          </a:fontRef>
        </p:style>
      </p:cxnSp>
      <p:sp>
        <p:nvSpPr>
          <p:cNvPr id="36" name="矩形: 圓角 35">
            <a:extLst>
              <a:ext uri="{FF2B5EF4-FFF2-40B4-BE49-F238E27FC236}">
                <a16:creationId xmlns:a16="http://schemas.microsoft.com/office/drawing/2014/main" id="{6B277F34-A136-99C7-8204-D3DD0AB84D13}"/>
              </a:ext>
            </a:extLst>
          </p:cNvPr>
          <p:cNvSpPr/>
          <p:nvPr/>
        </p:nvSpPr>
        <p:spPr bwMode="auto">
          <a:xfrm>
            <a:off x="1951263" y="3989283"/>
            <a:ext cx="1072749" cy="442352"/>
          </a:xfrm>
          <a:prstGeom prst="roundRect">
            <a:avLst>
              <a:gd name="adj" fmla="val 4461"/>
            </a:avLst>
          </a:prstGeom>
          <a:solidFill>
            <a:srgbClr val="FF9B00"/>
          </a:solidFill>
          <a:ln w="22225" cap="flat" cmpd="sng" algn="ctr">
            <a:solidFill>
              <a:srgbClr val="FF9B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TW" sz="1200" dirty="0">
                <a:latin typeface="微軟正黑體" panose="020B0604030504040204" pitchFamily="34" charset="-120"/>
                <a:ea typeface="微軟正黑體" panose="020B0604030504040204" pitchFamily="34" charset="-120"/>
              </a:rPr>
              <a:t>Lambda/</a:t>
            </a:r>
            <a:br>
              <a:rPr lang="en-US" altLang="zh-TW" sz="1200" dirty="0">
                <a:latin typeface="微軟正黑體" panose="020B0604030504040204" pitchFamily="34" charset="-120"/>
                <a:ea typeface="微軟正黑體" panose="020B0604030504040204" pitchFamily="34" charset="-120"/>
              </a:rPr>
            </a:br>
            <a:r>
              <a:rPr lang="en-US" altLang="zh-TW" sz="1200" dirty="0" err="1">
                <a:latin typeface="微軟正黑體" panose="020B0604030504040204" pitchFamily="34" charset="-120"/>
                <a:ea typeface="微軟正黑體" panose="020B0604030504040204" pitchFamily="34" charset="-120"/>
              </a:rPr>
              <a:t>Fargate</a:t>
            </a:r>
            <a:endParaRPr kumimoji="0" lang="zh-TW" altLang="en-US" sz="1200" b="1"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endParaRPr>
          </a:p>
        </p:txBody>
      </p:sp>
      <p:sp>
        <p:nvSpPr>
          <p:cNvPr id="37" name="矩形: 圓角 36">
            <a:extLst>
              <a:ext uri="{FF2B5EF4-FFF2-40B4-BE49-F238E27FC236}">
                <a16:creationId xmlns:a16="http://schemas.microsoft.com/office/drawing/2014/main" id="{6D5C996A-5C23-9F54-92B2-086064868191}"/>
              </a:ext>
            </a:extLst>
          </p:cNvPr>
          <p:cNvSpPr/>
          <p:nvPr/>
        </p:nvSpPr>
        <p:spPr bwMode="auto">
          <a:xfrm>
            <a:off x="1951264" y="4742496"/>
            <a:ext cx="614024" cy="456282"/>
          </a:xfrm>
          <a:prstGeom prst="roundRect">
            <a:avLst>
              <a:gd name="adj" fmla="val 4461"/>
            </a:avLst>
          </a:prstGeom>
          <a:solidFill>
            <a:srgbClr val="FF9B00"/>
          </a:solidFill>
          <a:ln w="22225" cap="flat" cmpd="sng" algn="ctr">
            <a:solidFill>
              <a:srgbClr val="FF9B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TW" sz="1200" b="1"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S3</a:t>
            </a:r>
            <a:endParaRPr kumimoji="0" lang="zh-TW" altLang="en-US" sz="1200" b="1"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endParaRPr>
          </a:p>
        </p:txBody>
      </p:sp>
      <p:sp>
        <p:nvSpPr>
          <p:cNvPr id="38" name="矩形: 圓角 37">
            <a:extLst>
              <a:ext uri="{FF2B5EF4-FFF2-40B4-BE49-F238E27FC236}">
                <a16:creationId xmlns:a16="http://schemas.microsoft.com/office/drawing/2014/main" id="{D9439372-0CF1-A448-7C54-FA6487FAF7C6}"/>
              </a:ext>
            </a:extLst>
          </p:cNvPr>
          <p:cNvSpPr/>
          <p:nvPr/>
        </p:nvSpPr>
        <p:spPr bwMode="auto">
          <a:xfrm>
            <a:off x="1893601" y="2419075"/>
            <a:ext cx="3136112" cy="1346726"/>
          </a:xfrm>
          <a:prstGeom prst="roundRect">
            <a:avLst>
              <a:gd name="adj" fmla="val 4461"/>
            </a:avLst>
          </a:prstGeom>
          <a:solidFill>
            <a:srgbClr val="FF9B00"/>
          </a:solidFill>
          <a:ln w="22225" cap="flat" cmpd="sng" algn="ctr">
            <a:solidFill>
              <a:srgbClr val="FF9B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TW" altLang="en-US" sz="1800" b="1" i="0" u="none" strike="noStrike" cap="none" normalizeH="0" baseline="0" dirty="0">
                <a:ln>
                  <a:noFill/>
                </a:ln>
                <a:solidFill>
                  <a:schemeClr val="bg1"/>
                </a:solidFill>
                <a:effectLst/>
                <a:latin typeface="微軟正黑體" panose="020B0604030504040204" pitchFamily="34" charset="-120"/>
                <a:ea typeface="微軟正黑體" panose="020B0604030504040204" pitchFamily="34" charset="-120"/>
              </a:rPr>
              <a:t>爬蟲館 </a:t>
            </a:r>
            <a:r>
              <a:rPr kumimoji="0" lang="en-US" altLang="zh-TW" sz="1800" b="1" i="0" u="none" strike="noStrike" cap="none" normalizeH="0" baseline="0" dirty="0">
                <a:ln>
                  <a:noFill/>
                </a:ln>
                <a:solidFill>
                  <a:schemeClr val="bg1"/>
                </a:solidFill>
                <a:effectLst/>
                <a:latin typeface="微軟正黑體" panose="020B0604030504040204" pitchFamily="34" charset="-120"/>
                <a:ea typeface="微軟正黑體" panose="020B0604030504040204" pitchFamily="34" charset="-120"/>
              </a:rPr>
              <a:t>Prod</a:t>
            </a:r>
            <a:br>
              <a:rPr kumimoji="0" lang="en-US" altLang="zh-TW" sz="1800" b="1" i="0" u="none" strike="noStrike" cap="none" normalizeH="0" baseline="0" dirty="0">
                <a:ln>
                  <a:noFill/>
                </a:ln>
                <a:solidFill>
                  <a:schemeClr val="bg1"/>
                </a:solidFill>
                <a:effectLst/>
                <a:latin typeface="微軟正黑體" panose="020B0604030504040204" pitchFamily="34" charset="-120"/>
                <a:ea typeface="微軟正黑體" panose="020B0604030504040204" pitchFamily="34" charset="-120"/>
              </a:rPr>
            </a:br>
            <a:r>
              <a:rPr kumimoji="0" lang="en-US" altLang="zh-TW" sz="1800" b="1" i="0" u="none" strike="noStrike" cap="none" normalizeH="0" baseline="0" dirty="0">
                <a:ln>
                  <a:noFill/>
                </a:ln>
                <a:solidFill>
                  <a:schemeClr val="bg1"/>
                </a:solidFill>
                <a:effectLst/>
                <a:latin typeface="微軟正黑體" panose="020B0604030504040204" pitchFamily="34" charset="-120"/>
                <a:ea typeface="微軟正黑體" panose="020B0604030504040204" pitchFamily="34" charset="-120"/>
              </a:rPr>
              <a:t>aws-prod-dmz-crawler-1 </a:t>
            </a:r>
            <a:r>
              <a:rPr kumimoji="0" lang="en-US" altLang="zh-TW" b="1" i="0" u="none" strike="noStrike" cap="none" normalizeH="0" baseline="0" dirty="0">
                <a:ln>
                  <a:noFill/>
                </a:ln>
                <a:solidFill>
                  <a:schemeClr val="bg1"/>
                </a:solidFill>
                <a:effectLst/>
                <a:latin typeface="微軟正黑體" panose="020B0604030504040204" pitchFamily="34" charset="-120"/>
                <a:ea typeface="微軟正黑體" panose="020B0604030504040204" pitchFamily="34" charset="-120"/>
              </a:rPr>
              <a:t>(10.6.10.175)</a:t>
            </a:r>
            <a:br>
              <a:rPr kumimoji="0" lang="en-US" altLang="zh-TW" sz="1800" b="1" i="0" u="none" strike="noStrike" cap="none" normalizeH="0" baseline="0" dirty="0">
                <a:ln>
                  <a:noFill/>
                </a:ln>
                <a:solidFill>
                  <a:schemeClr val="bg1"/>
                </a:solidFill>
                <a:effectLst/>
                <a:latin typeface="微軟正黑體" panose="020B0604030504040204" pitchFamily="34" charset="-120"/>
                <a:ea typeface="微軟正黑體" panose="020B0604030504040204" pitchFamily="34" charset="-120"/>
              </a:rPr>
            </a:br>
            <a:r>
              <a:rPr kumimoji="0" lang="en-US" altLang="zh-TW" sz="1800" b="1" i="0" u="none" strike="noStrike" cap="none" normalizeH="0" baseline="0" dirty="0">
                <a:ln>
                  <a:noFill/>
                </a:ln>
                <a:solidFill>
                  <a:schemeClr val="bg1"/>
                </a:solidFill>
                <a:effectLst/>
                <a:latin typeface="微軟正黑體" panose="020B0604030504040204" pitchFamily="34" charset="-120"/>
                <a:ea typeface="微軟正黑體" panose="020B0604030504040204" pitchFamily="34" charset="-120"/>
              </a:rPr>
              <a:t>aws-prod-dmz-crawler-2 </a:t>
            </a:r>
            <a:r>
              <a:rPr kumimoji="0" lang="en-US" altLang="zh-TW" b="1" i="0" u="none" strike="noStrike" cap="none" normalizeH="0" baseline="0" dirty="0">
                <a:ln>
                  <a:noFill/>
                </a:ln>
                <a:solidFill>
                  <a:schemeClr val="bg1"/>
                </a:solidFill>
                <a:effectLst/>
                <a:latin typeface="微軟正黑體" panose="020B0604030504040204" pitchFamily="34" charset="-120"/>
                <a:ea typeface="微軟正黑體" panose="020B0604030504040204" pitchFamily="34" charset="-120"/>
              </a:rPr>
              <a:t>(10.6.11.104)</a:t>
            </a:r>
            <a:endParaRPr kumimoji="0" lang="zh-TW" altLang="en-US" sz="1800" b="1" i="0" u="none" strike="noStrike" cap="none" normalizeH="0" baseline="0" dirty="0">
              <a:ln>
                <a:noFill/>
              </a:ln>
              <a:solidFill>
                <a:schemeClr val="bg1"/>
              </a:solidFill>
              <a:effectLst/>
              <a:latin typeface="微軟正黑體" panose="020B0604030504040204" pitchFamily="34" charset="-120"/>
              <a:ea typeface="微軟正黑體" panose="020B0604030504040204" pitchFamily="34" charset="-120"/>
            </a:endParaRPr>
          </a:p>
        </p:txBody>
      </p:sp>
      <p:sp>
        <p:nvSpPr>
          <p:cNvPr id="40" name="橢圓 39">
            <a:extLst>
              <a:ext uri="{FF2B5EF4-FFF2-40B4-BE49-F238E27FC236}">
                <a16:creationId xmlns:a16="http://schemas.microsoft.com/office/drawing/2014/main" id="{08724E84-36E3-D6E8-E8D3-5D6BA70F4FD1}"/>
              </a:ext>
            </a:extLst>
          </p:cNvPr>
          <p:cNvSpPr/>
          <p:nvPr/>
        </p:nvSpPr>
        <p:spPr bwMode="auto">
          <a:xfrm>
            <a:off x="2600845" y="1045273"/>
            <a:ext cx="1198376" cy="539815"/>
          </a:xfrm>
          <a:prstGeom prst="ellipse">
            <a:avLst/>
          </a:prstGeom>
          <a:solidFill>
            <a:srgbClr val="FF9B00"/>
          </a:solidFill>
          <a:ln>
            <a:noFill/>
            <a:headEnd type="none" w="med" len="med"/>
            <a:tailEnd type="none" w="med" len="med"/>
          </a:ln>
        </p:spPr>
        <p:style>
          <a:lnRef idx="1">
            <a:schemeClr val="accent6"/>
          </a:lnRef>
          <a:fillRef idx="3">
            <a:schemeClr val="accent6"/>
          </a:fillRef>
          <a:effectRef idx="2">
            <a:schemeClr val="accent6"/>
          </a:effectRef>
          <a:fontRef idx="minor">
            <a:schemeClr val="lt1"/>
          </a:fontRef>
        </p:style>
        <p:txBody>
          <a:bodyPr vert="horz" wrap="square" lIns="91440" tIns="45720" rIns="91440" bIns="45720" numCol="1" rtlCol="0" anchor="t" anchorCtr="0" compatLnSpc="1">
            <a:prstTxWarp prst="textNoShape">
              <a:avLst/>
            </a:prstTxWarp>
          </a:bodyPr>
          <a:lstStyle/>
          <a:p>
            <a:pPr algn="ctr"/>
            <a:r>
              <a:rPr lang="en-US" altLang="zh-TW" sz="1200" i="0" u="none" strike="noStrike" dirty="0">
                <a:solidFill>
                  <a:schemeClr val="bg1"/>
                </a:solidFill>
                <a:effectLst/>
                <a:latin typeface="微軟正黑體" panose="020B0604030504040204" pitchFamily="34" charset="-120"/>
                <a:ea typeface="微軟正黑體" panose="020B0604030504040204" pitchFamily="34" charset="-120"/>
              </a:rPr>
              <a:t>Data </a:t>
            </a:r>
          </a:p>
          <a:p>
            <a:pPr algn="ctr"/>
            <a:r>
              <a:rPr lang="en-US" altLang="zh-TW" sz="1200" dirty="0">
                <a:solidFill>
                  <a:schemeClr val="bg1"/>
                </a:solidFill>
                <a:latin typeface="微軟正黑體" panose="020B0604030504040204" pitchFamily="34" charset="-120"/>
                <a:ea typeface="微軟正黑體" panose="020B0604030504040204" pitchFamily="34" charset="-120"/>
              </a:rPr>
              <a:t>Source2</a:t>
            </a:r>
          </a:p>
        </p:txBody>
      </p:sp>
      <p:sp>
        <p:nvSpPr>
          <p:cNvPr id="41" name="矩形: 剪去同側角落 40">
            <a:extLst>
              <a:ext uri="{FF2B5EF4-FFF2-40B4-BE49-F238E27FC236}">
                <a16:creationId xmlns:a16="http://schemas.microsoft.com/office/drawing/2014/main" id="{EC2A94A6-C289-A62E-307F-7EF6DD809CC9}"/>
              </a:ext>
            </a:extLst>
          </p:cNvPr>
          <p:cNvSpPr/>
          <p:nvPr/>
        </p:nvSpPr>
        <p:spPr bwMode="auto">
          <a:xfrm>
            <a:off x="1574050" y="1081211"/>
            <a:ext cx="909433" cy="573062"/>
          </a:xfrm>
          <a:prstGeom prst="snip2SameRect">
            <a:avLst/>
          </a:prstGeom>
          <a:solidFill>
            <a:srgbClr val="FF9B00"/>
          </a:solidFill>
          <a:ln>
            <a:noFill/>
            <a:headEnd type="none" w="med" len="med"/>
            <a:tailEnd type="none" w="med" len="med"/>
          </a:ln>
        </p:spPr>
        <p:style>
          <a:lnRef idx="1">
            <a:schemeClr val="accent6"/>
          </a:lnRef>
          <a:fillRef idx="3">
            <a:schemeClr val="accent6"/>
          </a:fillRef>
          <a:effectRef idx="2">
            <a:schemeClr val="accent6"/>
          </a:effectRef>
          <a:fontRef idx="minor">
            <a:schemeClr val="lt1"/>
          </a:fontRef>
        </p:style>
        <p:txBody>
          <a:bodyPr vert="horz" wrap="square" lIns="91440" tIns="45720" rIns="91440" bIns="45720" numCol="1" rtlCol="0" anchor="t" anchorCtr="0" compatLnSpc="1">
            <a:prstTxWarp prst="textNoShape">
              <a:avLst/>
            </a:prstTxWarp>
          </a:bodyPr>
          <a:lstStyle/>
          <a:p>
            <a:pPr algn="ctr"/>
            <a:r>
              <a:rPr lang="en-US" altLang="zh-TW" sz="1200" dirty="0">
                <a:solidFill>
                  <a:schemeClr val="bg1"/>
                </a:solidFill>
                <a:latin typeface="微軟正黑體" panose="020B0604030504040204" pitchFamily="34" charset="-120"/>
                <a:ea typeface="微軟正黑體" panose="020B0604030504040204" pitchFamily="34" charset="-120"/>
              </a:rPr>
              <a:t>Data </a:t>
            </a:r>
          </a:p>
          <a:p>
            <a:pPr algn="ctr"/>
            <a:r>
              <a:rPr lang="en-US" altLang="zh-TW" sz="1200" dirty="0">
                <a:solidFill>
                  <a:schemeClr val="bg1"/>
                </a:solidFill>
                <a:latin typeface="微軟正黑體" panose="020B0604030504040204" pitchFamily="34" charset="-120"/>
                <a:ea typeface="微軟正黑體" panose="020B0604030504040204" pitchFamily="34" charset="-120"/>
              </a:rPr>
              <a:t>Source1</a:t>
            </a:r>
          </a:p>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2400" b="1"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endParaRPr>
          </a:p>
        </p:txBody>
      </p:sp>
      <p:cxnSp>
        <p:nvCxnSpPr>
          <p:cNvPr id="42" name="接點: 肘形 41">
            <a:extLst>
              <a:ext uri="{FF2B5EF4-FFF2-40B4-BE49-F238E27FC236}">
                <a16:creationId xmlns:a16="http://schemas.microsoft.com/office/drawing/2014/main" id="{2332F841-867D-BF29-73A3-15BCFFAFAE5B}"/>
              </a:ext>
            </a:extLst>
          </p:cNvPr>
          <p:cNvCxnSpPr>
            <a:cxnSpLocks/>
            <a:stCxn id="41" idx="2"/>
            <a:endCxn id="37" idx="1"/>
          </p:cNvCxnSpPr>
          <p:nvPr/>
        </p:nvCxnSpPr>
        <p:spPr bwMode="auto">
          <a:xfrm rot="10800000" flipH="1" flipV="1">
            <a:off x="1574050" y="1367741"/>
            <a:ext cx="377214" cy="3602895"/>
          </a:xfrm>
          <a:prstGeom prst="bentConnector3">
            <a:avLst>
              <a:gd name="adj1" fmla="val -136916"/>
            </a:avLst>
          </a:prstGeom>
          <a:ln w="28575">
            <a:solidFill>
              <a:srgbClr val="FF9B00"/>
            </a:solidFill>
            <a:headEnd type="triangle" w="med" len="med"/>
            <a:tailEnd type="triangle"/>
          </a:ln>
        </p:spPr>
        <p:style>
          <a:lnRef idx="1">
            <a:schemeClr val="accent6"/>
          </a:lnRef>
          <a:fillRef idx="0">
            <a:schemeClr val="accent6"/>
          </a:fillRef>
          <a:effectRef idx="0">
            <a:schemeClr val="accent6"/>
          </a:effectRef>
          <a:fontRef idx="minor">
            <a:schemeClr val="tx1"/>
          </a:fontRef>
        </p:style>
      </p:cxnSp>
      <p:sp>
        <p:nvSpPr>
          <p:cNvPr id="43" name="文字方塊 42">
            <a:extLst>
              <a:ext uri="{FF2B5EF4-FFF2-40B4-BE49-F238E27FC236}">
                <a16:creationId xmlns:a16="http://schemas.microsoft.com/office/drawing/2014/main" id="{6B09715A-E933-1A37-E595-6E8516A08135}"/>
              </a:ext>
            </a:extLst>
          </p:cNvPr>
          <p:cNvSpPr txBox="1"/>
          <p:nvPr/>
        </p:nvSpPr>
        <p:spPr>
          <a:xfrm>
            <a:off x="1309519" y="2028288"/>
            <a:ext cx="1634225" cy="276999"/>
          </a:xfrm>
          <a:prstGeom prst="rect">
            <a:avLst/>
          </a:prstGeom>
          <a:noFill/>
        </p:spPr>
        <p:txBody>
          <a:bodyPr wrap="square" rtlCol="0">
            <a:spAutoFit/>
          </a:bodyPr>
          <a:lstStyle/>
          <a:p>
            <a:r>
              <a:rPr lang="en-US" altLang="zh-TW" sz="1200" dirty="0">
                <a:solidFill>
                  <a:schemeClr val="tx1">
                    <a:lumMod val="75000"/>
                    <a:lumOff val="25000"/>
                  </a:schemeClr>
                </a:solidFill>
                <a:highlight>
                  <a:srgbClr val="C0C0C0"/>
                </a:highlight>
                <a:latin typeface="微軟正黑體" panose="020B0604030504040204" pitchFamily="34" charset="-120"/>
                <a:ea typeface="微軟正黑體" panose="020B0604030504040204" pitchFamily="34" charset="-120"/>
              </a:rPr>
              <a:t>①</a:t>
            </a:r>
            <a:r>
              <a:rPr lang="zh-TW" altLang="en-US" sz="1200" dirty="0">
                <a:solidFill>
                  <a:schemeClr val="tx1">
                    <a:lumMod val="75000"/>
                    <a:lumOff val="25000"/>
                  </a:schemeClr>
                </a:solidFill>
                <a:highlight>
                  <a:srgbClr val="C0C0C0"/>
                </a:highlight>
                <a:latin typeface="微軟正黑體" panose="020B0604030504040204" pitchFamily="34" charset="-120"/>
                <a:ea typeface="微軟正黑體" panose="020B0604030504040204" pitchFamily="34" charset="-120"/>
              </a:rPr>
              <a:t>爬蟲程式爬取資料</a:t>
            </a:r>
            <a:endParaRPr lang="en-US" altLang="zh-TW" sz="1200" dirty="0">
              <a:solidFill>
                <a:schemeClr val="tx1">
                  <a:lumMod val="75000"/>
                  <a:lumOff val="25000"/>
                </a:schemeClr>
              </a:solidFill>
              <a:highlight>
                <a:srgbClr val="C0C0C0"/>
              </a:highlight>
              <a:latin typeface="微軟正黑體" panose="020B0604030504040204" pitchFamily="34" charset="-120"/>
              <a:ea typeface="微軟正黑體" panose="020B0604030504040204" pitchFamily="34" charset="-120"/>
            </a:endParaRPr>
          </a:p>
        </p:txBody>
      </p:sp>
      <p:cxnSp>
        <p:nvCxnSpPr>
          <p:cNvPr id="44" name="直線單箭頭接點 43">
            <a:extLst>
              <a:ext uri="{FF2B5EF4-FFF2-40B4-BE49-F238E27FC236}">
                <a16:creationId xmlns:a16="http://schemas.microsoft.com/office/drawing/2014/main" id="{5D6300DA-AC43-D3C1-05AF-3C8B0C2C72B9}"/>
              </a:ext>
            </a:extLst>
          </p:cNvPr>
          <p:cNvCxnSpPr>
            <a:cxnSpLocks/>
          </p:cNvCxnSpPr>
          <p:nvPr/>
        </p:nvCxnSpPr>
        <p:spPr bwMode="auto">
          <a:xfrm>
            <a:off x="2258276" y="4747302"/>
            <a:ext cx="0" cy="310861"/>
          </a:xfrm>
          <a:prstGeom prst="straightConnector1">
            <a:avLst/>
          </a:prstGeom>
          <a:solidFill>
            <a:schemeClr val="accent1"/>
          </a:solidFill>
          <a:ln w="15875" cap="flat" cmpd="sng" algn="ctr">
            <a:solidFill>
              <a:srgbClr val="FF9B00"/>
            </a:solidFill>
            <a:prstDash val="solid"/>
            <a:round/>
            <a:headEnd type="none" w="med" len="med"/>
            <a:tailEnd type="triangle"/>
          </a:ln>
          <a:effectLst/>
        </p:spPr>
      </p:cxnSp>
      <p:cxnSp>
        <p:nvCxnSpPr>
          <p:cNvPr id="46" name="直線單箭頭接點 45">
            <a:extLst>
              <a:ext uri="{FF2B5EF4-FFF2-40B4-BE49-F238E27FC236}">
                <a16:creationId xmlns:a16="http://schemas.microsoft.com/office/drawing/2014/main" id="{9BF1A769-C69F-F45D-D144-C01DC5C1A03F}"/>
              </a:ext>
            </a:extLst>
          </p:cNvPr>
          <p:cNvCxnSpPr>
            <a:cxnSpLocks/>
          </p:cNvCxnSpPr>
          <p:nvPr/>
        </p:nvCxnSpPr>
        <p:spPr bwMode="auto">
          <a:xfrm>
            <a:off x="2565288" y="5045192"/>
            <a:ext cx="990745" cy="7281"/>
          </a:xfrm>
          <a:prstGeom prst="straightConnector1">
            <a:avLst/>
          </a:prstGeom>
          <a:solidFill>
            <a:schemeClr val="accent1"/>
          </a:solidFill>
          <a:ln w="15875" cap="flat" cmpd="sng" algn="ctr">
            <a:solidFill>
              <a:srgbClr val="FF9B00"/>
            </a:solidFill>
            <a:prstDash val="solid"/>
            <a:round/>
            <a:headEnd type="none" w="med" len="med"/>
            <a:tailEnd type="triangle"/>
          </a:ln>
          <a:effectLst/>
        </p:spPr>
      </p:cxnSp>
      <p:sp>
        <p:nvSpPr>
          <p:cNvPr id="47" name="文字方塊 46">
            <a:extLst>
              <a:ext uri="{FF2B5EF4-FFF2-40B4-BE49-F238E27FC236}">
                <a16:creationId xmlns:a16="http://schemas.microsoft.com/office/drawing/2014/main" id="{F6C134E5-1A88-7E79-16EB-4CF589FE203C}"/>
              </a:ext>
            </a:extLst>
          </p:cNvPr>
          <p:cNvSpPr txBox="1"/>
          <p:nvPr/>
        </p:nvSpPr>
        <p:spPr>
          <a:xfrm>
            <a:off x="3556034" y="4856982"/>
            <a:ext cx="831345" cy="307777"/>
          </a:xfrm>
          <a:prstGeom prst="rect">
            <a:avLst/>
          </a:prstGeom>
          <a:solidFill>
            <a:srgbClr val="FF9B00"/>
          </a:solidFill>
          <a:ln>
            <a:noFill/>
          </a:ln>
        </p:spPr>
        <p:style>
          <a:lnRef idx="1">
            <a:schemeClr val="accent6"/>
          </a:lnRef>
          <a:fillRef idx="3">
            <a:schemeClr val="accent6"/>
          </a:fillRef>
          <a:effectRef idx="2">
            <a:schemeClr val="accent6"/>
          </a:effectRef>
          <a:fontRef idx="minor">
            <a:schemeClr val="lt1"/>
          </a:fontRef>
        </p:style>
        <p:txBody>
          <a:bodyPr wrap="square" rtlCol="0">
            <a:spAutoFit/>
          </a:bodyPr>
          <a:lstStyle/>
          <a:p>
            <a:pPr algn="ctr"/>
            <a:r>
              <a:rPr lang="en-US" altLang="zh-TW" sz="1400" b="0" dirty="0">
                <a:solidFill>
                  <a:schemeClr val="bg1"/>
                </a:solidFill>
                <a:latin typeface="微軟正黑體" panose="020B0604030504040204" pitchFamily="34" charset="-120"/>
                <a:ea typeface="微軟正黑體" panose="020B0604030504040204" pitchFamily="34" charset="-120"/>
              </a:rPr>
              <a:t>MySQL</a:t>
            </a:r>
          </a:p>
        </p:txBody>
      </p:sp>
      <p:pic>
        <p:nvPicPr>
          <p:cNvPr id="48" name="圖片 47" descr="一張含有 黑色, 黑暗 的圖片&#10;&#10;自動產生的描述">
            <a:extLst>
              <a:ext uri="{FF2B5EF4-FFF2-40B4-BE49-F238E27FC236}">
                <a16:creationId xmlns:a16="http://schemas.microsoft.com/office/drawing/2014/main" id="{2BA1C5BA-112A-590B-8B74-AFFFFACBE23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79530" y="4575097"/>
            <a:ext cx="340725" cy="303563"/>
          </a:xfrm>
          <a:prstGeom prst="rect">
            <a:avLst/>
          </a:prstGeom>
        </p:spPr>
      </p:pic>
      <p:sp>
        <p:nvSpPr>
          <p:cNvPr id="49" name="矩形: 圓角 48">
            <a:extLst>
              <a:ext uri="{FF2B5EF4-FFF2-40B4-BE49-F238E27FC236}">
                <a16:creationId xmlns:a16="http://schemas.microsoft.com/office/drawing/2014/main" id="{666D3DA2-AE47-D213-D1E9-013ED7718C65}"/>
              </a:ext>
            </a:extLst>
          </p:cNvPr>
          <p:cNvSpPr/>
          <p:nvPr/>
        </p:nvSpPr>
        <p:spPr bwMode="auto">
          <a:xfrm>
            <a:off x="2700310" y="4653640"/>
            <a:ext cx="776947" cy="365397"/>
          </a:xfrm>
          <a:prstGeom prst="roundRect">
            <a:avLst>
              <a:gd name="adj" fmla="val 8962"/>
            </a:avLst>
          </a:prstGeom>
          <a:noFill/>
          <a:ln w="28575">
            <a:solidFill>
              <a:schemeClr val="accent3">
                <a:lumMod val="50000"/>
              </a:schemeClr>
            </a:solidFill>
            <a:prstDash val="solid"/>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a:lnSpc>
                <a:spcPct val="100000"/>
              </a:lnSpc>
              <a:spcBef>
                <a:spcPct val="0"/>
              </a:spcBef>
              <a:spcAft>
                <a:spcPct val="0"/>
              </a:spcAft>
              <a:buNone/>
              <a:tabLst/>
            </a:pPr>
            <a:r>
              <a:rPr lang="en-US" sz="1100" dirty="0" err="1">
                <a:solidFill>
                  <a:schemeClr val="tx1">
                    <a:lumMod val="85000"/>
                    <a:lumOff val="15000"/>
                  </a:schemeClr>
                </a:solidFill>
                <a:latin typeface="微軟正黑體" panose="020B0604030504040204" pitchFamily="34" charset="-120"/>
                <a:ea typeface="微軟正黑體" panose="020B0604030504040204" pitchFamily="34" charset="-120"/>
              </a:rPr>
              <a:t>資料</a:t>
            </a:r>
            <a:r>
              <a:rPr lang="zh-TW" altLang="en-US" sz="1100" dirty="0">
                <a:solidFill>
                  <a:schemeClr val="tx1">
                    <a:lumMod val="85000"/>
                    <a:lumOff val="15000"/>
                  </a:schemeClr>
                </a:solidFill>
                <a:latin typeface="微軟正黑體" panose="020B0604030504040204" pitchFamily="34" charset="-120"/>
                <a:ea typeface="微軟正黑體" panose="020B0604030504040204" pitchFamily="34" charset="-120"/>
              </a:rPr>
              <a:t>重複累積儲</a:t>
            </a:r>
            <a:r>
              <a:rPr lang="en-US" sz="1100" dirty="0">
                <a:solidFill>
                  <a:schemeClr val="tx1">
                    <a:lumMod val="85000"/>
                    <a:lumOff val="15000"/>
                  </a:schemeClr>
                </a:solidFill>
                <a:latin typeface="微軟正黑體" panose="020B0604030504040204" pitchFamily="34" charset="-120"/>
                <a:ea typeface="微軟正黑體" panose="020B0604030504040204" pitchFamily="34" charset="-120"/>
              </a:rPr>
              <a:t>存</a:t>
            </a:r>
            <a:endParaRPr lang="zh-TW" dirty="0" err="1">
              <a:latin typeface="微軟正黑體" panose="020B0604030504040204" pitchFamily="34" charset="-120"/>
              <a:ea typeface="微軟正黑體" panose="020B0604030504040204" pitchFamily="34" charset="-120"/>
            </a:endParaRPr>
          </a:p>
        </p:txBody>
      </p:sp>
      <p:sp>
        <p:nvSpPr>
          <p:cNvPr id="50" name="文字方塊 49">
            <a:extLst>
              <a:ext uri="{FF2B5EF4-FFF2-40B4-BE49-F238E27FC236}">
                <a16:creationId xmlns:a16="http://schemas.microsoft.com/office/drawing/2014/main" id="{9B1C4A06-7674-3F10-2A66-785C3264AF8D}"/>
              </a:ext>
            </a:extLst>
          </p:cNvPr>
          <p:cNvSpPr txBox="1"/>
          <p:nvPr/>
        </p:nvSpPr>
        <p:spPr>
          <a:xfrm>
            <a:off x="7056416" y="3709552"/>
            <a:ext cx="2030728" cy="307777"/>
          </a:xfrm>
          <a:prstGeom prst="rect">
            <a:avLst/>
          </a:prstGeom>
          <a:noFill/>
        </p:spPr>
        <p:txBody>
          <a:bodyPr wrap="square" rtlCol="0">
            <a:spAutoFit/>
          </a:bodyPr>
          <a:lstStyle/>
          <a:p>
            <a:pPr algn="ctr"/>
            <a:r>
              <a:rPr lang="zh-TW" altLang="en-US" sz="1400" b="0" dirty="0">
                <a:solidFill>
                  <a:srgbClr val="C0504D"/>
                </a:solidFill>
                <a:highlight>
                  <a:srgbClr val="FFFF00"/>
                </a:highlight>
                <a:latin typeface="微軟正黑體" panose="020B0604030504040204" pitchFamily="34" charset="-120"/>
                <a:ea typeface="微軟正黑體" panose="020B0604030504040204" pitchFamily="34" charset="-120"/>
              </a:rPr>
              <a:t>上傳到應用系統資料庫</a:t>
            </a:r>
          </a:p>
        </p:txBody>
      </p:sp>
      <p:grpSp>
        <p:nvGrpSpPr>
          <p:cNvPr id="81" name="群組 80">
            <a:extLst>
              <a:ext uri="{FF2B5EF4-FFF2-40B4-BE49-F238E27FC236}">
                <a16:creationId xmlns:a16="http://schemas.microsoft.com/office/drawing/2014/main" id="{AC06591D-C6DA-7609-743E-86208783DD7E}"/>
              </a:ext>
            </a:extLst>
          </p:cNvPr>
          <p:cNvGrpSpPr/>
          <p:nvPr/>
        </p:nvGrpSpPr>
        <p:grpSpPr>
          <a:xfrm>
            <a:off x="6552162" y="2095015"/>
            <a:ext cx="1048333" cy="1256763"/>
            <a:chOff x="10832707" y="2324984"/>
            <a:chExt cx="1074813" cy="1099678"/>
          </a:xfrm>
        </p:grpSpPr>
        <p:sp>
          <p:nvSpPr>
            <p:cNvPr id="82" name="矩形: 圓角 81">
              <a:extLst>
                <a:ext uri="{FF2B5EF4-FFF2-40B4-BE49-F238E27FC236}">
                  <a16:creationId xmlns:a16="http://schemas.microsoft.com/office/drawing/2014/main" id="{974A8664-2BEC-8A2D-3333-12E39273D4DE}"/>
                </a:ext>
              </a:extLst>
            </p:cNvPr>
            <p:cNvSpPr/>
            <p:nvPr/>
          </p:nvSpPr>
          <p:spPr bwMode="auto">
            <a:xfrm>
              <a:off x="10936810" y="2787114"/>
              <a:ext cx="810625" cy="637548"/>
            </a:xfrm>
            <a:prstGeom prst="roundRect">
              <a:avLst>
                <a:gd name="adj" fmla="val 3278"/>
              </a:avLst>
            </a:prstGeom>
            <a:noFill/>
            <a:ln w="222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endParaRPr>
            </a:p>
          </p:txBody>
        </p:sp>
        <p:grpSp>
          <p:nvGrpSpPr>
            <p:cNvPr id="83" name="群組 82">
              <a:extLst>
                <a:ext uri="{FF2B5EF4-FFF2-40B4-BE49-F238E27FC236}">
                  <a16:creationId xmlns:a16="http://schemas.microsoft.com/office/drawing/2014/main" id="{3053B57E-961A-E6E5-D192-2306D5A10BA5}"/>
                </a:ext>
              </a:extLst>
            </p:cNvPr>
            <p:cNvGrpSpPr/>
            <p:nvPr/>
          </p:nvGrpSpPr>
          <p:grpSpPr>
            <a:xfrm>
              <a:off x="10832707" y="2324984"/>
              <a:ext cx="1074813" cy="1040197"/>
              <a:chOff x="10832707" y="2324984"/>
              <a:chExt cx="1074813" cy="1040197"/>
            </a:xfrm>
          </p:grpSpPr>
          <p:sp>
            <p:nvSpPr>
              <p:cNvPr id="84" name="文字方塊 83">
                <a:extLst>
                  <a:ext uri="{FF2B5EF4-FFF2-40B4-BE49-F238E27FC236}">
                    <a16:creationId xmlns:a16="http://schemas.microsoft.com/office/drawing/2014/main" id="{6528828C-2415-ABAF-1F46-3072996B232B}"/>
                  </a:ext>
                </a:extLst>
              </p:cNvPr>
              <p:cNvSpPr txBox="1"/>
              <p:nvPr/>
            </p:nvSpPr>
            <p:spPr>
              <a:xfrm>
                <a:off x="10832707" y="2324984"/>
                <a:ext cx="1074813" cy="403961"/>
              </a:xfrm>
              <a:prstGeom prst="rect">
                <a:avLst/>
              </a:prstGeom>
              <a:solidFill>
                <a:schemeClr val="tx1"/>
              </a:solidFill>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zh-TW" altLang="en-US" sz="1200" dirty="0">
                    <a:solidFill>
                      <a:schemeClr val="bg1"/>
                    </a:solidFill>
                    <a:latin typeface="微軟正黑體" panose="020B0604030504040204" pitchFamily="34" charset="-120"/>
                    <a:ea typeface="微軟正黑體" panose="020B0604030504040204" pitchFamily="34" charset="-120"/>
                  </a:rPr>
                  <a:t>正式環境</a:t>
                </a:r>
                <a:br>
                  <a:rPr lang="en-US" altLang="zh-TW" sz="1200" dirty="0">
                    <a:solidFill>
                      <a:schemeClr val="bg1"/>
                    </a:solidFill>
                    <a:latin typeface="微軟正黑體" panose="020B0604030504040204" pitchFamily="34" charset="-120"/>
                    <a:ea typeface="微軟正黑體" panose="020B0604030504040204" pitchFamily="34" charset="-120"/>
                  </a:rPr>
                </a:br>
                <a:r>
                  <a:rPr lang="en-US" altLang="zh-TW" sz="1200" dirty="0">
                    <a:solidFill>
                      <a:schemeClr val="bg1"/>
                    </a:solidFill>
                    <a:latin typeface="微軟正黑體" panose="020B0604030504040204" pitchFamily="34" charset="-120"/>
                    <a:ea typeface="微軟正黑體" panose="020B0604030504040204" pitchFamily="34" charset="-120"/>
                  </a:rPr>
                  <a:t>AI</a:t>
                </a:r>
                <a:r>
                  <a:rPr lang="zh-TW" altLang="en-US" sz="1200" dirty="0">
                    <a:solidFill>
                      <a:schemeClr val="bg1"/>
                    </a:solidFill>
                    <a:latin typeface="微軟正黑體" panose="020B0604030504040204" pitchFamily="34" charset="-120"/>
                    <a:ea typeface="微軟正黑體" panose="020B0604030504040204" pitchFamily="34" charset="-120"/>
                  </a:rPr>
                  <a:t>組應用</a:t>
                </a:r>
                <a:endParaRPr lang="en-US" altLang="zh-TW" sz="1200" dirty="0">
                  <a:solidFill>
                    <a:schemeClr val="bg1"/>
                  </a:solidFill>
                  <a:latin typeface="微軟正黑體" panose="020B0604030504040204" pitchFamily="34" charset="-120"/>
                  <a:ea typeface="微軟正黑體" panose="020B0604030504040204" pitchFamily="34" charset="-120"/>
                </a:endParaRPr>
              </a:p>
            </p:txBody>
          </p:sp>
          <p:grpSp>
            <p:nvGrpSpPr>
              <p:cNvPr id="85" name="Google Shape;10665;p90">
                <a:extLst>
                  <a:ext uri="{FF2B5EF4-FFF2-40B4-BE49-F238E27FC236}">
                    <a16:creationId xmlns:a16="http://schemas.microsoft.com/office/drawing/2014/main" id="{94685D1A-55B7-DB1B-8CCF-B762F6DADBE2}"/>
                  </a:ext>
                </a:extLst>
              </p:cNvPr>
              <p:cNvGrpSpPr/>
              <p:nvPr/>
            </p:nvGrpSpPr>
            <p:grpSpPr>
              <a:xfrm>
                <a:off x="10970833" y="2780273"/>
                <a:ext cx="586126" cy="584908"/>
                <a:chOff x="2633105" y="2431859"/>
                <a:chExt cx="363243" cy="328585"/>
              </a:xfrm>
            </p:grpSpPr>
            <p:sp>
              <p:nvSpPr>
                <p:cNvPr id="86" name="Google Shape;10666;p90">
                  <a:extLst>
                    <a:ext uri="{FF2B5EF4-FFF2-40B4-BE49-F238E27FC236}">
                      <a16:creationId xmlns:a16="http://schemas.microsoft.com/office/drawing/2014/main" id="{DBEA4AEE-6BB5-922D-8920-CD8E1A6BB377}"/>
                    </a:ext>
                  </a:extLst>
                </p:cNvPr>
                <p:cNvSpPr/>
                <p:nvPr/>
              </p:nvSpPr>
              <p:spPr>
                <a:xfrm>
                  <a:off x="2633105" y="2498260"/>
                  <a:ext cx="250462" cy="262184"/>
                </a:xfrm>
                <a:custGeom>
                  <a:avLst/>
                  <a:gdLst/>
                  <a:ahLst/>
                  <a:cxnLst/>
                  <a:rect l="l" t="t" r="r" b="b"/>
                  <a:pathLst>
                    <a:path w="7906" h="8276" extrusionOk="0">
                      <a:moveTo>
                        <a:pt x="5322" y="6644"/>
                      </a:moveTo>
                      <a:lnTo>
                        <a:pt x="5465" y="7263"/>
                      </a:lnTo>
                      <a:lnTo>
                        <a:pt x="4560" y="7263"/>
                      </a:lnTo>
                      <a:lnTo>
                        <a:pt x="4691" y="6644"/>
                      </a:lnTo>
                      <a:close/>
                      <a:moveTo>
                        <a:pt x="6465" y="7608"/>
                      </a:moveTo>
                      <a:lnTo>
                        <a:pt x="6465" y="7954"/>
                      </a:lnTo>
                      <a:lnTo>
                        <a:pt x="3548" y="7954"/>
                      </a:lnTo>
                      <a:lnTo>
                        <a:pt x="3548" y="7608"/>
                      </a:lnTo>
                      <a:close/>
                      <a:moveTo>
                        <a:pt x="167" y="0"/>
                      </a:moveTo>
                      <a:cubicBezTo>
                        <a:pt x="84" y="0"/>
                        <a:pt x="0" y="72"/>
                        <a:pt x="0" y="167"/>
                      </a:cubicBezTo>
                      <a:lnTo>
                        <a:pt x="0" y="6489"/>
                      </a:lnTo>
                      <a:cubicBezTo>
                        <a:pt x="0" y="6585"/>
                        <a:pt x="84" y="6656"/>
                        <a:pt x="167" y="6656"/>
                      </a:cubicBezTo>
                      <a:lnTo>
                        <a:pt x="4346" y="6656"/>
                      </a:lnTo>
                      <a:lnTo>
                        <a:pt x="4203" y="7287"/>
                      </a:lnTo>
                      <a:lnTo>
                        <a:pt x="3370" y="7287"/>
                      </a:lnTo>
                      <a:cubicBezTo>
                        <a:pt x="3274" y="7287"/>
                        <a:pt x="3203" y="7358"/>
                        <a:pt x="3203" y="7442"/>
                      </a:cubicBezTo>
                      <a:lnTo>
                        <a:pt x="3203" y="8120"/>
                      </a:lnTo>
                      <a:cubicBezTo>
                        <a:pt x="3203" y="8204"/>
                        <a:pt x="3274" y="8275"/>
                        <a:pt x="3370" y="8275"/>
                      </a:cubicBezTo>
                      <a:lnTo>
                        <a:pt x="6632" y="8275"/>
                      </a:lnTo>
                      <a:cubicBezTo>
                        <a:pt x="6715" y="8275"/>
                        <a:pt x="6787" y="8204"/>
                        <a:pt x="6787" y="8120"/>
                      </a:cubicBezTo>
                      <a:lnTo>
                        <a:pt x="6787" y="7442"/>
                      </a:lnTo>
                      <a:cubicBezTo>
                        <a:pt x="6787" y="7358"/>
                        <a:pt x="6715" y="7287"/>
                        <a:pt x="6632" y="7287"/>
                      </a:cubicBezTo>
                      <a:lnTo>
                        <a:pt x="5787" y="7287"/>
                      </a:lnTo>
                      <a:lnTo>
                        <a:pt x="5644" y="6656"/>
                      </a:lnTo>
                      <a:lnTo>
                        <a:pt x="7727" y="6656"/>
                      </a:lnTo>
                      <a:cubicBezTo>
                        <a:pt x="7823" y="6656"/>
                        <a:pt x="7894" y="6585"/>
                        <a:pt x="7894" y="6489"/>
                      </a:cubicBezTo>
                      <a:cubicBezTo>
                        <a:pt x="7906" y="6394"/>
                        <a:pt x="7834" y="6311"/>
                        <a:pt x="7739" y="6311"/>
                      </a:cubicBezTo>
                      <a:lnTo>
                        <a:pt x="345" y="6311"/>
                      </a:lnTo>
                      <a:lnTo>
                        <a:pt x="345" y="334"/>
                      </a:lnTo>
                      <a:lnTo>
                        <a:pt x="4763" y="334"/>
                      </a:lnTo>
                      <a:cubicBezTo>
                        <a:pt x="4858" y="334"/>
                        <a:pt x="4929" y="262"/>
                        <a:pt x="4929" y="167"/>
                      </a:cubicBezTo>
                      <a:cubicBezTo>
                        <a:pt x="4929" y="72"/>
                        <a:pt x="4858" y="0"/>
                        <a:pt x="4763"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微軟正黑體" panose="020B0604030504040204" pitchFamily="34" charset="-120"/>
                    <a:ea typeface="微軟正黑體" panose="020B0604030504040204" pitchFamily="34" charset="-120"/>
                  </a:endParaRPr>
                </a:p>
              </p:txBody>
            </p:sp>
            <p:sp>
              <p:nvSpPr>
                <p:cNvPr id="87" name="Google Shape;10667;p90">
                  <a:extLst>
                    <a:ext uri="{FF2B5EF4-FFF2-40B4-BE49-F238E27FC236}">
                      <a16:creationId xmlns:a16="http://schemas.microsoft.com/office/drawing/2014/main" id="{E33800FE-2663-F94F-1DBD-401B0356546A}"/>
                    </a:ext>
                  </a:extLst>
                </p:cNvPr>
                <p:cNvSpPr/>
                <p:nvPr/>
              </p:nvSpPr>
              <p:spPr>
                <a:xfrm>
                  <a:off x="2772655" y="2680800"/>
                  <a:ext cx="38491" cy="10613"/>
                </a:xfrm>
                <a:custGeom>
                  <a:avLst/>
                  <a:gdLst/>
                  <a:ahLst/>
                  <a:cxnLst/>
                  <a:rect l="l" t="t" r="r" b="b"/>
                  <a:pathLst>
                    <a:path w="1215" h="335" extrusionOk="0">
                      <a:moveTo>
                        <a:pt x="167" y="1"/>
                      </a:moveTo>
                      <a:cubicBezTo>
                        <a:pt x="84" y="1"/>
                        <a:pt x="0" y="72"/>
                        <a:pt x="0" y="168"/>
                      </a:cubicBezTo>
                      <a:cubicBezTo>
                        <a:pt x="0" y="251"/>
                        <a:pt x="84" y="334"/>
                        <a:pt x="167" y="334"/>
                      </a:cubicBezTo>
                      <a:lnTo>
                        <a:pt x="1048" y="334"/>
                      </a:lnTo>
                      <a:cubicBezTo>
                        <a:pt x="1132" y="334"/>
                        <a:pt x="1215" y="251"/>
                        <a:pt x="1215" y="168"/>
                      </a:cubicBezTo>
                      <a:cubicBezTo>
                        <a:pt x="1215" y="72"/>
                        <a:pt x="1132" y="1"/>
                        <a:pt x="1048" y="1"/>
                      </a:cubicBez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微軟正黑體" panose="020B0604030504040204" pitchFamily="34" charset="-120"/>
                    <a:ea typeface="微軟正黑體" panose="020B0604030504040204" pitchFamily="34" charset="-120"/>
                  </a:endParaRPr>
                </a:p>
              </p:txBody>
            </p:sp>
            <p:sp>
              <p:nvSpPr>
                <p:cNvPr id="88" name="Google Shape;10668;p90">
                  <a:extLst>
                    <a:ext uri="{FF2B5EF4-FFF2-40B4-BE49-F238E27FC236}">
                      <a16:creationId xmlns:a16="http://schemas.microsoft.com/office/drawing/2014/main" id="{8F319B53-0090-A8F8-E54B-BE1FFCDB6EEF}"/>
                    </a:ext>
                  </a:extLst>
                </p:cNvPr>
                <p:cNvSpPr/>
                <p:nvPr/>
              </p:nvSpPr>
              <p:spPr>
                <a:xfrm>
                  <a:off x="2729286" y="2583131"/>
                  <a:ext cx="35862" cy="35862"/>
                </a:xfrm>
                <a:custGeom>
                  <a:avLst/>
                  <a:gdLst/>
                  <a:ahLst/>
                  <a:cxnLst/>
                  <a:rect l="l" t="t" r="r" b="b"/>
                  <a:pathLst>
                    <a:path w="1132" h="1132" extrusionOk="0">
                      <a:moveTo>
                        <a:pt x="798" y="334"/>
                      </a:moveTo>
                      <a:lnTo>
                        <a:pt x="798" y="810"/>
                      </a:lnTo>
                      <a:lnTo>
                        <a:pt x="334" y="810"/>
                      </a:lnTo>
                      <a:lnTo>
                        <a:pt x="334" y="334"/>
                      </a:lnTo>
                      <a:close/>
                      <a:moveTo>
                        <a:pt x="167" y="0"/>
                      </a:moveTo>
                      <a:cubicBezTo>
                        <a:pt x="84" y="0"/>
                        <a:pt x="0" y="84"/>
                        <a:pt x="0" y="167"/>
                      </a:cubicBezTo>
                      <a:lnTo>
                        <a:pt x="0" y="977"/>
                      </a:lnTo>
                      <a:cubicBezTo>
                        <a:pt x="0" y="1060"/>
                        <a:pt x="84" y="1131"/>
                        <a:pt x="167" y="1131"/>
                      </a:cubicBezTo>
                      <a:lnTo>
                        <a:pt x="953" y="1131"/>
                      </a:lnTo>
                      <a:cubicBezTo>
                        <a:pt x="1048" y="1131"/>
                        <a:pt x="1119" y="1060"/>
                        <a:pt x="1119" y="977"/>
                      </a:cubicBezTo>
                      <a:lnTo>
                        <a:pt x="1119" y="167"/>
                      </a:lnTo>
                      <a:cubicBezTo>
                        <a:pt x="1131" y="84"/>
                        <a:pt x="1060" y="0"/>
                        <a:pt x="953" y="0"/>
                      </a:cubicBez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微軟正黑體" panose="020B0604030504040204" pitchFamily="34" charset="-120"/>
                    <a:ea typeface="微軟正黑體" panose="020B0604030504040204" pitchFamily="34" charset="-120"/>
                  </a:endParaRPr>
                </a:p>
              </p:txBody>
            </p:sp>
            <p:sp>
              <p:nvSpPr>
                <p:cNvPr id="89" name="Google Shape;10669;p90">
                  <a:extLst>
                    <a:ext uri="{FF2B5EF4-FFF2-40B4-BE49-F238E27FC236}">
                      <a16:creationId xmlns:a16="http://schemas.microsoft.com/office/drawing/2014/main" id="{9125FE40-4A1E-A846-D18B-53965ABCA4F0}"/>
                    </a:ext>
                  </a:extLst>
                </p:cNvPr>
                <p:cNvSpPr/>
                <p:nvPr/>
              </p:nvSpPr>
              <p:spPr>
                <a:xfrm>
                  <a:off x="2774176" y="2583131"/>
                  <a:ext cx="35482" cy="35862"/>
                </a:xfrm>
                <a:custGeom>
                  <a:avLst/>
                  <a:gdLst/>
                  <a:ahLst/>
                  <a:cxnLst/>
                  <a:rect l="l" t="t" r="r" b="b"/>
                  <a:pathLst>
                    <a:path w="1120" h="1132" extrusionOk="0">
                      <a:moveTo>
                        <a:pt x="786" y="334"/>
                      </a:moveTo>
                      <a:lnTo>
                        <a:pt x="786" y="810"/>
                      </a:lnTo>
                      <a:lnTo>
                        <a:pt x="333" y="810"/>
                      </a:lnTo>
                      <a:lnTo>
                        <a:pt x="333" y="334"/>
                      </a:lnTo>
                      <a:close/>
                      <a:moveTo>
                        <a:pt x="167" y="0"/>
                      </a:moveTo>
                      <a:cubicBezTo>
                        <a:pt x="72" y="0"/>
                        <a:pt x="0" y="84"/>
                        <a:pt x="0" y="167"/>
                      </a:cubicBezTo>
                      <a:lnTo>
                        <a:pt x="0" y="977"/>
                      </a:lnTo>
                      <a:cubicBezTo>
                        <a:pt x="0" y="1060"/>
                        <a:pt x="72" y="1131"/>
                        <a:pt x="167" y="1131"/>
                      </a:cubicBezTo>
                      <a:lnTo>
                        <a:pt x="953" y="1131"/>
                      </a:lnTo>
                      <a:cubicBezTo>
                        <a:pt x="1048" y="1131"/>
                        <a:pt x="1119" y="1060"/>
                        <a:pt x="1119" y="977"/>
                      </a:cubicBezTo>
                      <a:lnTo>
                        <a:pt x="1119" y="167"/>
                      </a:lnTo>
                      <a:cubicBezTo>
                        <a:pt x="1119" y="84"/>
                        <a:pt x="1036" y="0"/>
                        <a:pt x="953" y="0"/>
                      </a:cubicBez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微軟正黑體" panose="020B0604030504040204" pitchFamily="34" charset="-120"/>
                    <a:ea typeface="微軟正黑體" panose="020B0604030504040204" pitchFamily="34" charset="-120"/>
                  </a:endParaRPr>
                </a:p>
              </p:txBody>
            </p:sp>
            <p:sp>
              <p:nvSpPr>
                <p:cNvPr id="90" name="Google Shape;10670;p90">
                  <a:extLst>
                    <a:ext uri="{FF2B5EF4-FFF2-40B4-BE49-F238E27FC236}">
                      <a16:creationId xmlns:a16="http://schemas.microsoft.com/office/drawing/2014/main" id="{AF353EB8-FFB8-BBE6-D6A3-98AD6BB95A01}"/>
                    </a:ext>
                  </a:extLst>
                </p:cNvPr>
                <p:cNvSpPr/>
                <p:nvPr/>
              </p:nvSpPr>
              <p:spPr>
                <a:xfrm>
                  <a:off x="2817926" y="2583131"/>
                  <a:ext cx="35862" cy="35862"/>
                </a:xfrm>
                <a:custGeom>
                  <a:avLst/>
                  <a:gdLst/>
                  <a:ahLst/>
                  <a:cxnLst/>
                  <a:rect l="l" t="t" r="r" b="b"/>
                  <a:pathLst>
                    <a:path w="1132" h="1132" extrusionOk="0">
                      <a:moveTo>
                        <a:pt x="798" y="334"/>
                      </a:moveTo>
                      <a:lnTo>
                        <a:pt x="798" y="810"/>
                      </a:lnTo>
                      <a:lnTo>
                        <a:pt x="334" y="810"/>
                      </a:lnTo>
                      <a:lnTo>
                        <a:pt x="334" y="334"/>
                      </a:lnTo>
                      <a:close/>
                      <a:moveTo>
                        <a:pt x="167" y="0"/>
                      </a:moveTo>
                      <a:cubicBezTo>
                        <a:pt x="84" y="0"/>
                        <a:pt x="0" y="84"/>
                        <a:pt x="0" y="167"/>
                      </a:cubicBezTo>
                      <a:lnTo>
                        <a:pt x="0" y="977"/>
                      </a:lnTo>
                      <a:cubicBezTo>
                        <a:pt x="0" y="1060"/>
                        <a:pt x="84" y="1131"/>
                        <a:pt x="167" y="1131"/>
                      </a:cubicBezTo>
                      <a:lnTo>
                        <a:pt x="953" y="1131"/>
                      </a:lnTo>
                      <a:cubicBezTo>
                        <a:pt x="1048" y="1131"/>
                        <a:pt x="1119" y="1060"/>
                        <a:pt x="1119" y="977"/>
                      </a:cubicBezTo>
                      <a:lnTo>
                        <a:pt x="1119" y="167"/>
                      </a:lnTo>
                      <a:cubicBezTo>
                        <a:pt x="1131" y="84"/>
                        <a:pt x="1060" y="0"/>
                        <a:pt x="953" y="0"/>
                      </a:cubicBez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微軟正黑體" panose="020B0604030504040204" pitchFamily="34" charset="-120"/>
                    <a:ea typeface="微軟正黑體" panose="020B0604030504040204" pitchFamily="34" charset="-120"/>
                  </a:endParaRPr>
                </a:p>
              </p:txBody>
            </p:sp>
            <p:sp>
              <p:nvSpPr>
                <p:cNvPr id="91" name="Google Shape;10671;p90">
                  <a:extLst>
                    <a:ext uri="{FF2B5EF4-FFF2-40B4-BE49-F238E27FC236}">
                      <a16:creationId xmlns:a16="http://schemas.microsoft.com/office/drawing/2014/main" id="{330BECF7-D914-0AD6-96A8-D69BD5633D43}"/>
                    </a:ext>
                  </a:extLst>
                </p:cNvPr>
                <p:cNvSpPr/>
                <p:nvPr/>
              </p:nvSpPr>
              <p:spPr>
                <a:xfrm>
                  <a:off x="2653475" y="2431859"/>
                  <a:ext cx="342873" cy="275394"/>
                </a:xfrm>
                <a:custGeom>
                  <a:avLst/>
                  <a:gdLst/>
                  <a:ahLst/>
                  <a:cxnLst/>
                  <a:rect l="l" t="t" r="r" b="b"/>
                  <a:pathLst>
                    <a:path w="10823" h="8693" extrusionOk="0">
                      <a:moveTo>
                        <a:pt x="6429" y="3001"/>
                      </a:moveTo>
                      <a:cubicBezTo>
                        <a:pt x="6715" y="3870"/>
                        <a:pt x="7489" y="4513"/>
                        <a:pt x="8406" y="4585"/>
                      </a:cubicBezTo>
                      <a:lnTo>
                        <a:pt x="8406" y="7359"/>
                      </a:lnTo>
                      <a:lnTo>
                        <a:pt x="310" y="7359"/>
                      </a:lnTo>
                      <a:lnTo>
                        <a:pt x="310" y="3001"/>
                      </a:lnTo>
                      <a:close/>
                      <a:moveTo>
                        <a:pt x="8608" y="1"/>
                      </a:moveTo>
                      <a:cubicBezTo>
                        <a:pt x="7430" y="1"/>
                        <a:pt x="6477" y="906"/>
                        <a:pt x="6358" y="2073"/>
                      </a:cubicBezTo>
                      <a:lnTo>
                        <a:pt x="4798" y="2073"/>
                      </a:lnTo>
                      <a:cubicBezTo>
                        <a:pt x="4703" y="2073"/>
                        <a:pt x="4632" y="2144"/>
                        <a:pt x="4632" y="2239"/>
                      </a:cubicBezTo>
                      <a:cubicBezTo>
                        <a:pt x="4632" y="2323"/>
                        <a:pt x="4703" y="2394"/>
                        <a:pt x="4798" y="2394"/>
                      </a:cubicBezTo>
                      <a:lnTo>
                        <a:pt x="6334" y="2394"/>
                      </a:lnTo>
                      <a:cubicBezTo>
                        <a:pt x="6334" y="2489"/>
                        <a:pt x="6358" y="2561"/>
                        <a:pt x="6370" y="2656"/>
                      </a:cubicBezTo>
                      <a:lnTo>
                        <a:pt x="167" y="2656"/>
                      </a:lnTo>
                      <a:cubicBezTo>
                        <a:pt x="72" y="2656"/>
                        <a:pt x="0" y="2727"/>
                        <a:pt x="0" y="2811"/>
                      </a:cubicBezTo>
                      <a:lnTo>
                        <a:pt x="0" y="7502"/>
                      </a:lnTo>
                      <a:cubicBezTo>
                        <a:pt x="0" y="7597"/>
                        <a:pt x="72" y="7668"/>
                        <a:pt x="167" y="7668"/>
                      </a:cubicBezTo>
                      <a:lnTo>
                        <a:pt x="8608" y="7668"/>
                      </a:lnTo>
                      <a:cubicBezTo>
                        <a:pt x="8692" y="7668"/>
                        <a:pt x="8763" y="7597"/>
                        <a:pt x="8763" y="7502"/>
                      </a:cubicBezTo>
                      <a:lnTo>
                        <a:pt x="8763" y="4561"/>
                      </a:lnTo>
                      <a:cubicBezTo>
                        <a:pt x="8858" y="4561"/>
                        <a:pt x="8966" y="4537"/>
                        <a:pt x="9049" y="4513"/>
                      </a:cubicBezTo>
                      <a:lnTo>
                        <a:pt x="9049" y="8371"/>
                      </a:lnTo>
                      <a:lnTo>
                        <a:pt x="7787" y="8371"/>
                      </a:lnTo>
                      <a:cubicBezTo>
                        <a:pt x="7692" y="8371"/>
                        <a:pt x="7620" y="8442"/>
                        <a:pt x="7620" y="8526"/>
                      </a:cubicBezTo>
                      <a:cubicBezTo>
                        <a:pt x="7620" y="8621"/>
                        <a:pt x="7692" y="8692"/>
                        <a:pt x="7787" y="8692"/>
                      </a:cubicBezTo>
                      <a:lnTo>
                        <a:pt x="9216" y="8692"/>
                      </a:lnTo>
                      <a:cubicBezTo>
                        <a:pt x="9299" y="8692"/>
                        <a:pt x="9382" y="8621"/>
                        <a:pt x="9382" y="8526"/>
                      </a:cubicBezTo>
                      <a:lnTo>
                        <a:pt x="9382" y="4406"/>
                      </a:lnTo>
                      <a:cubicBezTo>
                        <a:pt x="9632" y="4323"/>
                        <a:pt x="9858" y="4180"/>
                        <a:pt x="10061" y="4001"/>
                      </a:cubicBezTo>
                      <a:cubicBezTo>
                        <a:pt x="10466" y="3644"/>
                        <a:pt x="10728" y="3168"/>
                        <a:pt x="10823" y="2632"/>
                      </a:cubicBezTo>
                      <a:cubicBezTo>
                        <a:pt x="10823" y="2596"/>
                        <a:pt x="10763" y="2501"/>
                        <a:pt x="10668" y="2489"/>
                      </a:cubicBezTo>
                      <a:cubicBezTo>
                        <a:pt x="10656" y="2486"/>
                        <a:pt x="10643" y="2484"/>
                        <a:pt x="10630" y="2484"/>
                      </a:cubicBezTo>
                      <a:cubicBezTo>
                        <a:pt x="10558" y="2484"/>
                        <a:pt x="10488" y="2539"/>
                        <a:pt x="10478" y="2620"/>
                      </a:cubicBezTo>
                      <a:cubicBezTo>
                        <a:pt x="10359" y="3358"/>
                        <a:pt x="9835" y="3942"/>
                        <a:pt x="9168" y="4156"/>
                      </a:cubicBezTo>
                      <a:lnTo>
                        <a:pt x="9144" y="4156"/>
                      </a:lnTo>
                      <a:cubicBezTo>
                        <a:pt x="8966" y="4216"/>
                        <a:pt x="8763" y="4239"/>
                        <a:pt x="8573" y="4239"/>
                      </a:cubicBezTo>
                      <a:cubicBezTo>
                        <a:pt x="7513" y="4239"/>
                        <a:pt x="6656" y="3358"/>
                        <a:pt x="6656" y="2287"/>
                      </a:cubicBezTo>
                      <a:cubicBezTo>
                        <a:pt x="6656" y="1215"/>
                        <a:pt x="7513" y="346"/>
                        <a:pt x="8573" y="346"/>
                      </a:cubicBezTo>
                      <a:cubicBezTo>
                        <a:pt x="9513" y="346"/>
                        <a:pt x="10335" y="1061"/>
                        <a:pt x="10478" y="1989"/>
                      </a:cubicBezTo>
                      <a:cubicBezTo>
                        <a:pt x="10490" y="2084"/>
                        <a:pt x="10585" y="2144"/>
                        <a:pt x="10668" y="2144"/>
                      </a:cubicBezTo>
                      <a:cubicBezTo>
                        <a:pt x="10763" y="2132"/>
                        <a:pt x="10823" y="2037"/>
                        <a:pt x="10823" y="1953"/>
                      </a:cubicBezTo>
                      <a:cubicBezTo>
                        <a:pt x="10751" y="1418"/>
                        <a:pt x="10478" y="918"/>
                        <a:pt x="10073" y="572"/>
                      </a:cubicBezTo>
                      <a:cubicBezTo>
                        <a:pt x="9656" y="215"/>
                        <a:pt x="9144" y="1"/>
                        <a:pt x="8608"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微軟正黑體" panose="020B0604030504040204" pitchFamily="34" charset="-120"/>
                    <a:ea typeface="微軟正黑體" panose="020B0604030504040204" pitchFamily="34" charset="-120"/>
                  </a:endParaRPr>
                </a:p>
              </p:txBody>
            </p:sp>
            <p:sp>
              <p:nvSpPr>
                <p:cNvPr id="92" name="Google Shape;10672;p90">
                  <a:extLst>
                    <a:ext uri="{FF2B5EF4-FFF2-40B4-BE49-F238E27FC236}">
                      <a16:creationId xmlns:a16="http://schemas.microsoft.com/office/drawing/2014/main" id="{BAFAA244-66D6-6728-977A-2013D5040230}"/>
                    </a:ext>
                  </a:extLst>
                </p:cNvPr>
                <p:cNvSpPr/>
                <p:nvPr/>
              </p:nvSpPr>
              <p:spPr>
                <a:xfrm>
                  <a:off x="2881286" y="2460529"/>
                  <a:ext cx="87532" cy="87912"/>
                </a:xfrm>
                <a:custGeom>
                  <a:avLst/>
                  <a:gdLst/>
                  <a:ahLst/>
                  <a:cxnLst/>
                  <a:rect l="l" t="t" r="r" b="b"/>
                  <a:pathLst>
                    <a:path w="2763" h="2775" extrusionOk="0">
                      <a:moveTo>
                        <a:pt x="1414" y="703"/>
                      </a:moveTo>
                      <a:cubicBezTo>
                        <a:pt x="1786" y="703"/>
                        <a:pt x="2084" y="1020"/>
                        <a:pt x="2084" y="1406"/>
                      </a:cubicBezTo>
                      <a:cubicBezTo>
                        <a:pt x="2084" y="1787"/>
                        <a:pt x="1775" y="2108"/>
                        <a:pt x="1394" y="2108"/>
                      </a:cubicBezTo>
                      <a:cubicBezTo>
                        <a:pt x="1013" y="2108"/>
                        <a:pt x="715" y="1787"/>
                        <a:pt x="715" y="1406"/>
                      </a:cubicBezTo>
                      <a:cubicBezTo>
                        <a:pt x="715" y="1013"/>
                        <a:pt x="1024" y="703"/>
                        <a:pt x="1394" y="703"/>
                      </a:cubicBezTo>
                      <a:cubicBezTo>
                        <a:pt x="1400" y="703"/>
                        <a:pt x="1407" y="703"/>
                        <a:pt x="1414" y="703"/>
                      </a:cubicBezTo>
                      <a:close/>
                      <a:moveTo>
                        <a:pt x="1382" y="1"/>
                      </a:moveTo>
                      <a:cubicBezTo>
                        <a:pt x="1286" y="1"/>
                        <a:pt x="1215" y="72"/>
                        <a:pt x="1215" y="167"/>
                      </a:cubicBezTo>
                      <a:lnTo>
                        <a:pt x="1215" y="370"/>
                      </a:lnTo>
                      <a:cubicBezTo>
                        <a:pt x="1048" y="406"/>
                        <a:pt x="917" y="465"/>
                        <a:pt x="786" y="560"/>
                      </a:cubicBezTo>
                      <a:lnTo>
                        <a:pt x="632" y="406"/>
                      </a:lnTo>
                      <a:cubicBezTo>
                        <a:pt x="607" y="374"/>
                        <a:pt x="559" y="356"/>
                        <a:pt x="511" y="356"/>
                      </a:cubicBezTo>
                      <a:cubicBezTo>
                        <a:pt x="467" y="356"/>
                        <a:pt x="422" y="371"/>
                        <a:pt x="393" y="406"/>
                      </a:cubicBezTo>
                      <a:cubicBezTo>
                        <a:pt x="334" y="465"/>
                        <a:pt x="322" y="584"/>
                        <a:pt x="393" y="644"/>
                      </a:cubicBezTo>
                      <a:lnTo>
                        <a:pt x="548" y="798"/>
                      </a:lnTo>
                      <a:cubicBezTo>
                        <a:pt x="453" y="929"/>
                        <a:pt x="393" y="1072"/>
                        <a:pt x="370" y="1227"/>
                      </a:cubicBezTo>
                      <a:lnTo>
                        <a:pt x="155" y="1227"/>
                      </a:lnTo>
                      <a:cubicBezTo>
                        <a:pt x="72" y="1227"/>
                        <a:pt x="0" y="1299"/>
                        <a:pt x="0" y="1394"/>
                      </a:cubicBezTo>
                      <a:cubicBezTo>
                        <a:pt x="0" y="1477"/>
                        <a:pt x="72" y="1549"/>
                        <a:pt x="155" y="1549"/>
                      </a:cubicBezTo>
                      <a:lnTo>
                        <a:pt x="370" y="1549"/>
                      </a:lnTo>
                      <a:cubicBezTo>
                        <a:pt x="393" y="1715"/>
                        <a:pt x="453" y="1870"/>
                        <a:pt x="548" y="1989"/>
                      </a:cubicBezTo>
                      <a:lnTo>
                        <a:pt x="393" y="2132"/>
                      </a:lnTo>
                      <a:cubicBezTo>
                        <a:pt x="334" y="2191"/>
                        <a:pt x="334" y="2311"/>
                        <a:pt x="393" y="2370"/>
                      </a:cubicBezTo>
                      <a:cubicBezTo>
                        <a:pt x="429" y="2406"/>
                        <a:pt x="477" y="2418"/>
                        <a:pt x="512" y="2418"/>
                      </a:cubicBezTo>
                      <a:cubicBezTo>
                        <a:pt x="560" y="2418"/>
                        <a:pt x="608" y="2394"/>
                        <a:pt x="632" y="2370"/>
                      </a:cubicBezTo>
                      <a:lnTo>
                        <a:pt x="786" y="2227"/>
                      </a:lnTo>
                      <a:cubicBezTo>
                        <a:pt x="905" y="2311"/>
                        <a:pt x="1048" y="2370"/>
                        <a:pt x="1215" y="2406"/>
                      </a:cubicBezTo>
                      <a:lnTo>
                        <a:pt x="1215" y="2608"/>
                      </a:lnTo>
                      <a:cubicBezTo>
                        <a:pt x="1215" y="2703"/>
                        <a:pt x="1286" y="2775"/>
                        <a:pt x="1382" y="2775"/>
                      </a:cubicBezTo>
                      <a:cubicBezTo>
                        <a:pt x="1465" y="2775"/>
                        <a:pt x="1548" y="2703"/>
                        <a:pt x="1548" y="2608"/>
                      </a:cubicBezTo>
                      <a:lnTo>
                        <a:pt x="1548" y="2430"/>
                      </a:lnTo>
                      <a:cubicBezTo>
                        <a:pt x="1703" y="2394"/>
                        <a:pt x="1846" y="2346"/>
                        <a:pt x="1977" y="2251"/>
                      </a:cubicBezTo>
                      <a:lnTo>
                        <a:pt x="2120" y="2394"/>
                      </a:lnTo>
                      <a:cubicBezTo>
                        <a:pt x="2156" y="2430"/>
                        <a:pt x="2203" y="2442"/>
                        <a:pt x="2239" y="2442"/>
                      </a:cubicBezTo>
                      <a:cubicBezTo>
                        <a:pt x="2286" y="2442"/>
                        <a:pt x="2334" y="2430"/>
                        <a:pt x="2358" y="2394"/>
                      </a:cubicBezTo>
                      <a:cubicBezTo>
                        <a:pt x="2417" y="2346"/>
                        <a:pt x="2441" y="2215"/>
                        <a:pt x="2358" y="2156"/>
                      </a:cubicBezTo>
                      <a:lnTo>
                        <a:pt x="2215" y="2013"/>
                      </a:lnTo>
                      <a:cubicBezTo>
                        <a:pt x="2298" y="1882"/>
                        <a:pt x="2358" y="1727"/>
                        <a:pt x="2394" y="1584"/>
                      </a:cubicBezTo>
                      <a:lnTo>
                        <a:pt x="2596" y="1584"/>
                      </a:lnTo>
                      <a:cubicBezTo>
                        <a:pt x="2691" y="1584"/>
                        <a:pt x="2763" y="1501"/>
                        <a:pt x="2763" y="1418"/>
                      </a:cubicBezTo>
                      <a:cubicBezTo>
                        <a:pt x="2763" y="1299"/>
                        <a:pt x="2691" y="1227"/>
                        <a:pt x="2608" y="1227"/>
                      </a:cubicBezTo>
                      <a:lnTo>
                        <a:pt x="2394" y="1227"/>
                      </a:lnTo>
                      <a:cubicBezTo>
                        <a:pt x="2370" y="1060"/>
                        <a:pt x="2310" y="906"/>
                        <a:pt x="2215" y="798"/>
                      </a:cubicBezTo>
                      <a:lnTo>
                        <a:pt x="2370" y="644"/>
                      </a:lnTo>
                      <a:cubicBezTo>
                        <a:pt x="2417" y="584"/>
                        <a:pt x="2417" y="465"/>
                        <a:pt x="2370" y="406"/>
                      </a:cubicBezTo>
                      <a:cubicBezTo>
                        <a:pt x="2340" y="376"/>
                        <a:pt x="2292" y="361"/>
                        <a:pt x="2245" y="361"/>
                      </a:cubicBezTo>
                      <a:cubicBezTo>
                        <a:pt x="2197" y="361"/>
                        <a:pt x="2150" y="376"/>
                        <a:pt x="2120" y="406"/>
                      </a:cubicBezTo>
                      <a:lnTo>
                        <a:pt x="1977" y="560"/>
                      </a:lnTo>
                      <a:cubicBezTo>
                        <a:pt x="1858" y="465"/>
                        <a:pt x="1715" y="406"/>
                        <a:pt x="1548" y="370"/>
                      </a:cubicBezTo>
                      <a:lnTo>
                        <a:pt x="1548" y="167"/>
                      </a:lnTo>
                      <a:cubicBezTo>
                        <a:pt x="1548" y="72"/>
                        <a:pt x="1477" y="1"/>
                        <a:pt x="1382"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微軟正黑體" panose="020B0604030504040204" pitchFamily="34" charset="-120"/>
                    <a:ea typeface="微軟正黑體" panose="020B0604030504040204" pitchFamily="34" charset="-120"/>
                  </a:endParaRPr>
                </a:p>
              </p:txBody>
            </p:sp>
            <p:sp>
              <p:nvSpPr>
                <p:cNvPr id="93" name="Google Shape;10673;p90">
                  <a:extLst>
                    <a:ext uri="{FF2B5EF4-FFF2-40B4-BE49-F238E27FC236}">
                      <a16:creationId xmlns:a16="http://schemas.microsoft.com/office/drawing/2014/main" id="{D20FA9BF-6B19-51CF-8BEC-E2E8FA79AE27}"/>
                    </a:ext>
                  </a:extLst>
                </p:cNvPr>
                <p:cNvSpPr/>
                <p:nvPr/>
              </p:nvSpPr>
              <p:spPr>
                <a:xfrm>
                  <a:off x="2908436" y="2488059"/>
                  <a:ext cx="33612" cy="33993"/>
                </a:xfrm>
                <a:custGeom>
                  <a:avLst/>
                  <a:gdLst/>
                  <a:ahLst/>
                  <a:cxnLst/>
                  <a:rect l="l" t="t" r="r" b="b"/>
                  <a:pathLst>
                    <a:path w="1061" h="1073" extrusionOk="0">
                      <a:moveTo>
                        <a:pt x="525" y="346"/>
                      </a:moveTo>
                      <a:cubicBezTo>
                        <a:pt x="632" y="346"/>
                        <a:pt x="715" y="430"/>
                        <a:pt x="715" y="537"/>
                      </a:cubicBezTo>
                      <a:cubicBezTo>
                        <a:pt x="715" y="632"/>
                        <a:pt x="632" y="727"/>
                        <a:pt x="525" y="727"/>
                      </a:cubicBezTo>
                      <a:cubicBezTo>
                        <a:pt x="417" y="727"/>
                        <a:pt x="334" y="632"/>
                        <a:pt x="334" y="537"/>
                      </a:cubicBezTo>
                      <a:cubicBezTo>
                        <a:pt x="334" y="430"/>
                        <a:pt x="417" y="346"/>
                        <a:pt x="525" y="346"/>
                      </a:cubicBezTo>
                      <a:close/>
                      <a:moveTo>
                        <a:pt x="525" y="1"/>
                      </a:moveTo>
                      <a:cubicBezTo>
                        <a:pt x="239" y="1"/>
                        <a:pt x="1" y="239"/>
                        <a:pt x="1" y="537"/>
                      </a:cubicBezTo>
                      <a:cubicBezTo>
                        <a:pt x="1" y="834"/>
                        <a:pt x="239" y="1072"/>
                        <a:pt x="525" y="1072"/>
                      </a:cubicBezTo>
                      <a:cubicBezTo>
                        <a:pt x="810" y="1072"/>
                        <a:pt x="1048" y="834"/>
                        <a:pt x="1048" y="537"/>
                      </a:cubicBezTo>
                      <a:cubicBezTo>
                        <a:pt x="1060" y="239"/>
                        <a:pt x="822" y="1"/>
                        <a:pt x="525"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微軟正黑體" panose="020B0604030504040204" pitchFamily="34" charset="-120"/>
                    <a:ea typeface="微軟正黑體" panose="020B0604030504040204" pitchFamily="34" charset="-120"/>
                  </a:endParaRPr>
                </a:p>
              </p:txBody>
            </p:sp>
          </p:grpSp>
        </p:grpSp>
      </p:grpSp>
      <p:cxnSp>
        <p:nvCxnSpPr>
          <p:cNvPr id="94" name="接點: 肘形 355">
            <a:extLst>
              <a:ext uri="{FF2B5EF4-FFF2-40B4-BE49-F238E27FC236}">
                <a16:creationId xmlns:a16="http://schemas.microsoft.com/office/drawing/2014/main" id="{FE1E2B3C-DBE1-04CE-A893-835E1542047F}"/>
              </a:ext>
            </a:extLst>
          </p:cNvPr>
          <p:cNvCxnSpPr>
            <a:cxnSpLocks/>
            <a:stCxn id="5" idx="0"/>
            <a:endCxn id="82" idx="2"/>
          </p:cNvCxnSpPr>
          <p:nvPr/>
        </p:nvCxnSpPr>
        <p:spPr bwMode="auto">
          <a:xfrm flipH="1" flipV="1">
            <a:off x="7049027" y="3351778"/>
            <a:ext cx="21954" cy="1151098"/>
          </a:xfrm>
          <a:prstGeom prst="straightConnector1">
            <a:avLst/>
          </a:prstGeom>
          <a:ln w="28575">
            <a:solidFill>
              <a:srgbClr val="FFC000"/>
            </a:solidFill>
            <a:headEnd type="none" w="med" len="med"/>
            <a:tailEnd type="triangle"/>
          </a:ln>
        </p:spPr>
        <p:style>
          <a:lnRef idx="1">
            <a:schemeClr val="accent1"/>
          </a:lnRef>
          <a:fillRef idx="0">
            <a:schemeClr val="accent1"/>
          </a:fillRef>
          <a:effectRef idx="0">
            <a:schemeClr val="accent1"/>
          </a:effectRef>
          <a:fontRef idx="minor">
            <a:schemeClr val="tx1"/>
          </a:fontRef>
        </p:style>
      </p:cxnSp>
      <p:pic>
        <p:nvPicPr>
          <p:cNvPr id="4" name="圖片 3" descr="一張含有 圖形, 字型, 標誌, 平面設計 的圖片&#10;&#10;自動產生的描述">
            <a:extLst>
              <a:ext uri="{FF2B5EF4-FFF2-40B4-BE49-F238E27FC236}">
                <a16:creationId xmlns:a16="http://schemas.microsoft.com/office/drawing/2014/main" id="{9994AD6E-3BB3-C2CF-D858-7292576AD6E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65144" y="2771650"/>
            <a:ext cx="579015" cy="366872"/>
          </a:xfrm>
          <a:prstGeom prst="rect">
            <a:avLst/>
          </a:prstGeom>
        </p:spPr>
      </p:pic>
      <p:sp>
        <p:nvSpPr>
          <p:cNvPr id="11" name="矩形: 圓角 10">
            <a:extLst>
              <a:ext uri="{FF2B5EF4-FFF2-40B4-BE49-F238E27FC236}">
                <a16:creationId xmlns:a16="http://schemas.microsoft.com/office/drawing/2014/main" id="{82CB3D86-E63D-96F1-457B-EAE46C1494FB}"/>
              </a:ext>
            </a:extLst>
          </p:cNvPr>
          <p:cNvSpPr/>
          <p:nvPr/>
        </p:nvSpPr>
        <p:spPr bwMode="auto">
          <a:xfrm>
            <a:off x="1808050" y="3856391"/>
            <a:ext cx="2704677" cy="1606841"/>
          </a:xfrm>
          <a:prstGeom prst="roundRect">
            <a:avLst>
              <a:gd name="adj" fmla="val 4461"/>
            </a:avLst>
          </a:prstGeom>
          <a:noFill/>
          <a:ln w="22225" cap="flat" cmpd="sng" algn="ctr">
            <a:solidFill>
              <a:srgbClr val="FF9B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endParaRPr>
          </a:p>
        </p:txBody>
      </p:sp>
      <p:sp>
        <p:nvSpPr>
          <p:cNvPr id="12" name="文字方塊 11">
            <a:extLst>
              <a:ext uri="{FF2B5EF4-FFF2-40B4-BE49-F238E27FC236}">
                <a16:creationId xmlns:a16="http://schemas.microsoft.com/office/drawing/2014/main" id="{375A1564-FAF8-C53F-E7F5-BCA56EF52F26}"/>
              </a:ext>
            </a:extLst>
          </p:cNvPr>
          <p:cNvSpPr txBox="1"/>
          <p:nvPr/>
        </p:nvSpPr>
        <p:spPr>
          <a:xfrm>
            <a:off x="3067985" y="4033206"/>
            <a:ext cx="1126344" cy="307777"/>
          </a:xfrm>
          <a:prstGeom prst="rect">
            <a:avLst/>
          </a:prstGeom>
          <a:noFill/>
        </p:spPr>
        <p:txBody>
          <a:bodyPr wrap="square" rtlCol="0">
            <a:spAutoFit/>
          </a:bodyPr>
          <a:lstStyle/>
          <a:p>
            <a:pPr algn="ctr"/>
            <a:r>
              <a:rPr lang="en-US" altLang="zh-TW" sz="1400" b="0" dirty="0">
                <a:solidFill>
                  <a:schemeClr val="tx1">
                    <a:lumMod val="85000"/>
                    <a:lumOff val="15000"/>
                  </a:schemeClr>
                </a:solidFill>
                <a:latin typeface="微軟正黑體" panose="020B0604030504040204" pitchFamily="34" charset="-120"/>
                <a:ea typeface="微軟正黑體" panose="020B0604030504040204" pitchFamily="34" charset="-120"/>
              </a:rPr>
              <a:t>.csv </a:t>
            </a:r>
            <a:r>
              <a:rPr lang="zh-TW" altLang="en-US" sz="1400" b="0" dirty="0">
                <a:solidFill>
                  <a:schemeClr val="tx1">
                    <a:lumMod val="85000"/>
                    <a:lumOff val="15000"/>
                  </a:schemeClr>
                </a:solidFill>
                <a:latin typeface="微軟正黑體" panose="020B0604030504040204" pitchFamily="34" charset="-120"/>
                <a:ea typeface="微軟正黑體" panose="020B0604030504040204" pitchFamily="34" charset="-120"/>
              </a:rPr>
              <a:t>整理檔</a:t>
            </a:r>
          </a:p>
        </p:txBody>
      </p:sp>
      <p:cxnSp>
        <p:nvCxnSpPr>
          <p:cNvPr id="2" name="接點: 肘形 355">
            <a:extLst>
              <a:ext uri="{FF2B5EF4-FFF2-40B4-BE49-F238E27FC236}">
                <a16:creationId xmlns:a16="http://schemas.microsoft.com/office/drawing/2014/main" id="{01AC21AD-6B2D-89FE-B095-00B2848E38B7}"/>
              </a:ext>
            </a:extLst>
          </p:cNvPr>
          <p:cNvCxnSpPr>
            <a:cxnSpLocks/>
            <a:stCxn id="47" idx="3"/>
            <a:endCxn id="5" idx="1"/>
          </p:cNvCxnSpPr>
          <p:nvPr/>
        </p:nvCxnSpPr>
        <p:spPr bwMode="auto">
          <a:xfrm flipV="1">
            <a:off x="4387379" y="5010686"/>
            <a:ext cx="2213014" cy="185"/>
          </a:xfrm>
          <a:prstGeom prst="straightConnector1">
            <a:avLst/>
          </a:prstGeom>
          <a:ln w="28575">
            <a:solidFill>
              <a:srgbClr val="FFC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 name="文字方塊 6">
            <a:extLst>
              <a:ext uri="{FF2B5EF4-FFF2-40B4-BE49-F238E27FC236}">
                <a16:creationId xmlns:a16="http://schemas.microsoft.com/office/drawing/2014/main" id="{148231EB-38C9-68D1-9A83-F90C1CE49950}"/>
              </a:ext>
            </a:extLst>
          </p:cNvPr>
          <p:cNvSpPr txBox="1"/>
          <p:nvPr/>
        </p:nvSpPr>
        <p:spPr>
          <a:xfrm>
            <a:off x="4458776" y="5099033"/>
            <a:ext cx="1929190" cy="307777"/>
          </a:xfrm>
          <a:prstGeom prst="rect">
            <a:avLst/>
          </a:prstGeom>
          <a:noFill/>
        </p:spPr>
        <p:txBody>
          <a:bodyPr wrap="square" rtlCol="0">
            <a:spAutoFit/>
          </a:bodyPr>
          <a:lstStyle/>
          <a:p>
            <a:pPr algn="ctr"/>
            <a:r>
              <a:rPr lang="zh-TW" altLang="en-US" sz="1400" b="0" dirty="0">
                <a:solidFill>
                  <a:srgbClr val="C0504D"/>
                </a:solidFill>
                <a:highlight>
                  <a:srgbClr val="FFFF00"/>
                </a:highlight>
                <a:latin typeface="微軟正黑體" panose="020B0604030504040204" pitchFamily="34" charset="-120"/>
                <a:ea typeface="微軟正黑體" panose="020B0604030504040204" pitchFamily="34" charset="-120"/>
              </a:rPr>
              <a:t>人工下載爬蟲資料集</a:t>
            </a:r>
            <a:endParaRPr lang="en-US" altLang="zh-TW" sz="1400" b="0" dirty="0">
              <a:solidFill>
                <a:srgbClr val="C0504D"/>
              </a:solidFill>
              <a:highlight>
                <a:srgbClr val="FFFF00"/>
              </a:highlight>
              <a:latin typeface="微軟正黑體" panose="020B0604030504040204" pitchFamily="34" charset="-120"/>
              <a:ea typeface="微軟正黑體" panose="020B0604030504040204" pitchFamily="34" charset="-120"/>
            </a:endParaRPr>
          </a:p>
        </p:txBody>
      </p:sp>
      <p:sp>
        <p:nvSpPr>
          <p:cNvPr id="9" name="文字方塊 8">
            <a:extLst>
              <a:ext uri="{FF2B5EF4-FFF2-40B4-BE49-F238E27FC236}">
                <a16:creationId xmlns:a16="http://schemas.microsoft.com/office/drawing/2014/main" id="{58330E36-7A2A-87AA-B9E5-5978B5C88B62}"/>
              </a:ext>
            </a:extLst>
          </p:cNvPr>
          <p:cNvSpPr txBox="1"/>
          <p:nvPr/>
        </p:nvSpPr>
        <p:spPr>
          <a:xfrm>
            <a:off x="7407265" y="5145830"/>
            <a:ext cx="1748378" cy="317402"/>
          </a:xfrm>
          <a:prstGeom prst="rect">
            <a:avLst/>
          </a:prstGeom>
          <a:noFill/>
        </p:spPr>
        <p:txBody>
          <a:bodyPr wrap="square" rtlCol="0">
            <a:spAutoFit/>
          </a:bodyPr>
          <a:lstStyle/>
          <a:p>
            <a:pPr algn="ctr"/>
            <a:r>
              <a:rPr lang="zh-TW" altLang="en-US" sz="1400" b="0" dirty="0">
                <a:solidFill>
                  <a:srgbClr val="C0504D"/>
                </a:solidFill>
                <a:highlight>
                  <a:srgbClr val="FFFF00"/>
                </a:highlight>
                <a:latin typeface="微軟正黑體" panose="020B0604030504040204" pitchFamily="34" charset="-120"/>
                <a:ea typeface="微軟正黑體" panose="020B0604030504040204" pitchFamily="34" charset="-120"/>
              </a:rPr>
              <a:t>執行資料清洗彙整</a:t>
            </a:r>
            <a:endParaRPr lang="en-US" altLang="zh-TW" sz="1400" b="0" dirty="0">
              <a:solidFill>
                <a:srgbClr val="C0504D"/>
              </a:solidFill>
              <a:highlight>
                <a:srgbClr val="FFFF00"/>
              </a:highlight>
              <a:latin typeface="微軟正黑體" panose="020B0604030504040204" pitchFamily="34" charset="-120"/>
              <a:ea typeface="微軟正黑體" panose="020B0604030504040204" pitchFamily="34" charset="-120"/>
            </a:endParaRPr>
          </a:p>
        </p:txBody>
      </p:sp>
      <p:pic>
        <p:nvPicPr>
          <p:cNvPr id="5" name="圖片 4">
            <a:extLst>
              <a:ext uri="{FF2B5EF4-FFF2-40B4-BE49-F238E27FC236}">
                <a16:creationId xmlns:a16="http://schemas.microsoft.com/office/drawing/2014/main" id="{4D052316-D80F-4EA2-CD8A-B119EDDA4388}"/>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6806" b="91361" l="9887" r="89831">
                        <a14:foregroundMark x1="51788" y1="82036" x2="51695" y2="91361"/>
                        <a14:foregroundMark x1="52014" y1="59515" x2="51932" y2="67724"/>
                        <a14:foregroundMark x1="52542" y1="6806" x2="52130" y2="47960"/>
                        <a14:foregroundMark x1="71751" y1="50785" x2="67539" y2="51083"/>
                        <a14:foregroundMark x1="43785" y1="54974" x2="43785" y2="56283"/>
                        <a14:foregroundMark x1="61299" y1="53927" x2="44350" y2="54450"/>
                        <a14:foregroundMark x1="44915" y1="54188" x2="35433" y2="54047"/>
                        <a14:foregroundMark x1="36158" y1="54712" x2="35091" y2="54532"/>
                        <a14:foregroundMark x1="59040" y1="50785" x2="68362" y2="50262"/>
                        <a14:backgroundMark x1="51695" y1="76178" x2="55650" y2="78272"/>
                        <a14:backgroundMark x1="51130" y1="71466" x2="55650" y2="73560"/>
                        <a14:backgroundMark x1="51130" y1="70681" x2="53955" y2="72775"/>
                        <a14:backgroundMark x1="53390" y1="72775" x2="51695" y2="69372"/>
                        <a14:backgroundMark x1="23729" y1="52094" x2="29661" y2="52094"/>
                        <a14:backgroundMark x1="29379" y1="52356" x2="36441" y2="52618"/>
                        <a14:backgroundMark x1="51412" y1="68325" x2="53107" y2="68848"/>
                      </a14:backgroundRemoval>
                    </a14:imgEffect>
                  </a14:imgLayer>
                </a14:imgProps>
              </a:ext>
            </a:extLst>
          </a:blip>
          <a:stretch>
            <a:fillRect/>
          </a:stretch>
        </p:blipFill>
        <p:spPr>
          <a:xfrm>
            <a:off x="6600393" y="4502876"/>
            <a:ext cx="941176" cy="1015619"/>
          </a:xfrm>
          <a:prstGeom prst="rect">
            <a:avLst/>
          </a:prstGeom>
        </p:spPr>
      </p:pic>
    </p:spTree>
    <p:extLst>
      <p:ext uri="{BB962C8B-B14F-4D97-AF65-F5344CB8AC3E}">
        <p14:creationId xmlns:p14="http://schemas.microsoft.com/office/powerpoint/2010/main" val="37210629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g222eb5d9c60_0_38"/>
          <p:cNvSpPr txBox="1">
            <a:spLocks noGrp="1"/>
          </p:cNvSpPr>
          <p:nvPr>
            <p:ph type="title"/>
          </p:nvPr>
        </p:nvSpPr>
        <p:spPr>
          <a:xfrm>
            <a:off x="401390" y="60641"/>
            <a:ext cx="10717708" cy="600152"/>
          </a:xfrm>
          <a:prstGeom prst="rect">
            <a:avLst/>
          </a:prstGeom>
          <a:noFill/>
          <a:ln>
            <a:noFill/>
          </a:ln>
        </p:spPr>
        <p:txBody>
          <a:bodyPr spcFirstLastPara="1" wrap="square" lIns="88143" tIns="44059" rIns="88143" bIns="44059" anchor="ctr" anchorCtr="0">
            <a:noAutofit/>
          </a:bodyPr>
          <a:lstStyle/>
          <a:p>
            <a:pPr>
              <a:buSzPts val="1400"/>
            </a:pPr>
            <a:r>
              <a:rPr lang="zh-TW" altLang="en-US" b="1" dirty="0">
                <a:latin typeface="微軟正黑體" panose="020B0604030504040204" pitchFamily="34" charset="-120"/>
                <a:ea typeface="微軟正黑體" panose="020B0604030504040204" pitchFamily="34" charset="-120"/>
              </a:rPr>
              <a:t>使用情境</a:t>
            </a:r>
            <a:r>
              <a:rPr lang="en-US" altLang="zh-TW" b="1" dirty="0">
                <a:latin typeface="微軟正黑體" panose="020B0604030504040204" pitchFamily="34" charset="-120"/>
                <a:ea typeface="微軟正黑體" panose="020B0604030504040204" pitchFamily="34" charset="-120"/>
              </a:rPr>
              <a:t>_</a:t>
            </a:r>
            <a:r>
              <a:rPr lang="zh-TW" altLang="en-US" b="1" dirty="0">
                <a:latin typeface="微軟正黑體" panose="020B0604030504040204" pitchFamily="34" charset="-120"/>
                <a:ea typeface="微軟正黑體" panose="020B0604030504040204" pitchFamily="34" charset="-120"/>
              </a:rPr>
              <a:t>擴充案正式</a:t>
            </a:r>
            <a:endParaRPr b="1" dirty="0">
              <a:latin typeface="微軟正黑體" panose="020B0604030504040204" pitchFamily="34" charset="-120"/>
              <a:ea typeface="微軟正黑體" panose="020B0604030504040204" pitchFamily="34" charset="-120"/>
            </a:endParaRPr>
          </a:p>
        </p:txBody>
      </p:sp>
      <p:sp>
        <p:nvSpPr>
          <p:cNvPr id="13" name="矩形 12">
            <a:extLst>
              <a:ext uri="{FF2B5EF4-FFF2-40B4-BE49-F238E27FC236}">
                <a16:creationId xmlns:a16="http://schemas.microsoft.com/office/drawing/2014/main" id="{3667D8EF-A956-765C-9F2B-50C666D07050}"/>
              </a:ext>
            </a:extLst>
          </p:cNvPr>
          <p:cNvSpPr/>
          <p:nvPr/>
        </p:nvSpPr>
        <p:spPr bwMode="auto">
          <a:xfrm>
            <a:off x="1223118" y="5522593"/>
            <a:ext cx="6579218" cy="517243"/>
          </a:xfrm>
          <a:prstGeom prst="rect">
            <a:avLst/>
          </a:prstGeom>
          <a:solidFill>
            <a:schemeClr val="accent6">
              <a:lumMod val="60000"/>
              <a:lumOff val="40000"/>
            </a:schemeClr>
          </a:solidFill>
          <a:ln w="9525" cap="flat" cmpd="sng" algn="ctr">
            <a:noFill/>
            <a:prstDash val="solid"/>
            <a:round/>
            <a:headEnd type="none" w="med" len="med"/>
            <a:tailEnd type="none" w="med" len="med"/>
          </a:ln>
          <a:effectLst/>
        </p:spPr>
        <p:txBody>
          <a:bodyPr vert="horz" wrap="square" lIns="91440" tIns="45720" rIns="91440" bIns="45720" numCol="1" rtlCol="0" anchor="b"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TW" altLang="en-US" sz="1200" b="1"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圖二：爬蟲館</a:t>
            </a:r>
            <a:r>
              <a:rPr kumimoji="0" lang="en-US" altLang="zh-TW" sz="1200" b="1"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MySQL</a:t>
            </a:r>
            <a:r>
              <a:rPr kumimoji="0" lang="zh-TW" altLang="en-US" sz="1200" b="1"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資料庫與地端</a:t>
            </a:r>
            <a:r>
              <a:rPr lang="en-US" altLang="zh-TW" sz="1200">
                <a:latin typeface="微軟正黑體" panose="020B0604030504040204" pitchFamily="34" charset="-120"/>
                <a:ea typeface="微軟正黑體" panose="020B0604030504040204" pitchFamily="34" charset="-120"/>
              </a:rPr>
              <a:t>MS</a:t>
            </a:r>
            <a:r>
              <a:rPr kumimoji="0" lang="en-US" altLang="zh-TW" sz="1200" b="1" i="0" u="none" strike="noStrike" cap="none" normalizeH="0" baseline="0">
                <a:ln>
                  <a:noFill/>
                </a:ln>
                <a:solidFill>
                  <a:schemeClr val="tx1"/>
                </a:solidFill>
                <a:effectLst/>
                <a:latin typeface="微軟正黑體" panose="020B0604030504040204" pitchFamily="34" charset="-120"/>
                <a:ea typeface="微軟正黑體" panose="020B0604030504040204" pitchFamily="34" charset="-120"/>
              </a:rPr>
              <a:t>SQL</a:t>
            </a:r>
            <a:endParaRPr kumimoji="0" lang="zh-TW" altLang="en-US" sz="1200" b="1"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endParaRPr>
          </a:p>
        </p:txBody>
      </p:sp>
      <p:sp>
        <p:nvSpPr>
          <p:cNvPr id="14" name="矩形: 圓角 13">
            <a:extLst>
              <a:ext uri="{FF2B5EF4-FFF2-40B4-BE49-F238E27FC236}">
                <a16:creationId xmlns:a16="http://schemas.microsoft.com/office/drawing/2014/main" id="{12D9085A-58C9-B0FC-8F6A-543503AE68D5}"/>
              </a:ext>
            </a:extLst>
          </p:cNvPr>
          <p:cNvSpPr/>
          <p:nvPr/>
        </p:nvSpPr>
        <p:spPr bwMode="auto">
          <a:xfrm>
            <a:off x="721817" y="649504"/>
            <a:ext cx="10717708" cy="5517632"/>
          </a:xfrm>
          <a:prstGeom prst="roundRect">
            <a:avLst>
              <a:gd name="adj" fmla="val 3050"/>
            </a:avLst>
          </a:prstGeom>
          <a:solidFill>
            <a:srgbClr val="E5EEF4"/>
          </a:solidFill>
          <a:ln w="2857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endParaRPr>
          </a:p>
        </p:txBody>
      </p:sp>
      <p:grpSp>
        <p:nvGrpSpPr>
          <p:cNvPr id="15" name="群組 14">
            <a:extLst>
              <a:ext uri="{FF2B5EF4-FFF2-40B4-BE49-F238E27FC236}">
                <a16:creationId xmlns:a16="http://schemas.microsoft.com/office/drawing/2014/main" id="{C223B4FA-0775-4951-3424-BCE73CDE989B}"/>
              </a:ext>
            </a:extLst>
          </p:cNvPr>
          <p:cNvGrpSpPr/>
          <p:nvPr/>
        </p:nvGrpSpPr>
        <p:grpSpPr>
          <a:xfrm>
            <a:off x="9108906" y="4744546"/>
            <a:ext cx="2225290" cy="1223250"/>
            <a:chOff x="9449577" y="-817353"/>
            <a:chExt cx="2281498" cy="1735791"/>
          </a:xfrm>
        </p:grpSpPr>
        <p:sp>
          <p:nvSpPr>
            <p:cNvPr id="27" name="矩形: 圓角 26">
              <a:extLst>
                <a:ext uri="{FF2B5EF4-FFF2-40B4-BE49-F238E27FC236}">
                  <a16:creationId xmlns:a16="http://schemas.microsoft.com/office/drawing/2014/main" id="{85B2D382-827E-34DF-4C85-DED8B31B834D}"/>
                </a:ext>
              </a:extLst>
            </p:cNvPr>
            <p:cNvSpPr/>
            <p:nvPr/>
          </p:nvSpPr>
          <p:spPr bwMode="auto">
            <a:xfrm>
              <a:off x="9449577" y="-817353"/>
              <a:ext cx="2281498" cy="1735791"/>
            </a:xfrm>
            <a:prstGeom prst="roundRect">
              <a:avLst>
                <a:gd name="adj" fmla="val 4461"/>
              </a:avLst>
            </a:prstGeom>
            <a:solidFill>
              <a:schemeClr val="accent1">
                <a:lumMod val="75000"/>
                <a:alpha val="20000"/>
              </a:schemeClr>
            </a:solidFill>
            <a:ln w="222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微軟正黑體" panose="020B0604030504040204" pitchFamily="34" charset="-120"/>
                <a:ea typeface="微軟正黑體" panose="020B0604030504040204" pitchFamily="34" charset="-120"/>
              </a:endParaRPr>
            </a:p>
          </p:txBody>
        </p:sp>
        <p:sp>
          <p:nvSpPr>
            <p:cNvPr id="28" name="文字方塊 27">
              <a:extLst>
                <a:ext uri="{FF2B5EF4-FFF2-40B4-BE49-F238E27FC236}">
                  <a16:creationId xmlns:a16="http://schemas.microsoft.com/office/drawing/2014/main" id="{6B918D03-CA7C-11EF-6D73-E350F55494B2}"/>
                </a:ext>
              </a:extLst>
            </p:cNvPr>
            <p:cNvSpPr txBox="1"/>
            <p:nvPr/>
          </p:nvSpPr>
          <p:spPr>
            <a:xfrm>
              <a:off x="9489507" y="-631785"/>
              <a:ext cx="1109688" cy="742449"/>
            </a:xfrm>
            <a:prstGeom prst="rect">
              <a:avLst/>
            </a:prstGeom>
            <a:noFill/>
          </p:spPr>
          <p:txBody>
            <a:bodyPr wrap="none" rtlCol="0">
              <a:spAutoFit/>
            </a:bodyPr>
            <a:lstStyle/>
            <a:p>
              <a:pPr algn="ctr"/>
              <a:r>
                <a:rPr lang="zh-TW" altLang="en-US" sz="1400" dirty="0">
                  <a:solidFill>
                    <a:schemeClr val="accent1">
                      <a:lumMod val="75000"/>
                    </a:schemeClr>
                  </a:solidFill>
                  <a:latin typeface="微軟正黑體" panose="020B0604030504040204" pitchFamily="34" charset="-120"/>
                  <a:ea typeface="微軟正黑體" panose="020B0604030504040204" pitchFamily="34" charset="-120"/>
                </a:rPr>
                <a:t>圖示說明：</a:t>
              </a:r>
              <a:endParaRPr lang="en-US" altLang="zh-TW" sz="1400" dirty="0">
                <a:solidFill>
                  <a:schemeClr val="accent1">
                    <a:lumMod val="75000"/>
                  </a:schemeClr>
                </a:solidFill>
                <a:latin typeface="微軟正黑體" panose="020B0604030504040204" pitchFamily="34" charset="-120"/>
                <a:ea typeface="微軟正黑體" panose="020B0604030504040204" pitchFamily="34" charset="-120"/>
              </a:endParaRPr>
            </a:p>
            <a:p>
              <a:pPr algn="ctr"/>
              <a:endParaRPr lang="en-US" altLang="zh-TW" sz="1400" dirty="0">
                <a:solidFill>
                  <a:schemeClr val="accent1">
                    <a:lumMod val="75000"/>
                  </a:schemeClr>
                </a:solidFill>
                <a:latin typeface="微軟正黑體" panose="020B0604030504040204" pitchFamily="34" charset="-120"/>
                <a:ea typeface="微軟正黑體" panose="020B0604030504040204" pitchFamily="34" charset="-120"/>
              </a:endParaRPr>
            </a:p>
          </p:txBody>
        </p:sp>
        <p:cxnSp>
          <p:nvCxnSpPr>
            <p:cNvPr id="29" name="直線單箭頭接點 28">
              <a:extLst>
                <a:ext uri="{FF2B5EF4-FFF2-40B4-BE49-F238E27FC236}">
                  <a16:creationId xmlns:a16="http://schemas.microsoft.com/office/drawing/2014/main" id="{6ECD4FA6-A6D2-2DCF-DD04-81A7F498E2F7}"/>
                </a:ext>
              </a:extLst>
            </p:cNvPr>
            <p:cNvCxnSpPr>
              <a:cxnSpLocks/>
            </p:cNvCxnSpPr>
            <p:nvPr/>
          </p:nvCxnSpPr>
          <p:spPr bwMode="auto">
            <a:xfrm>
              <a:off x="9643158" y="-59680"/>
              <a:ext cx="686510" cy="0"/>
            </a:xfrm>
            <a:prstGeom prst="straightConnector1">
              <a:avLst/>
            </a:prstGeom>
            <a:solidFill>
              <a:schemeClr val="accent1"/>
            </a:solidFill>
            <a:ln w="19050" cap="flat" cmpd="sng" algn="ctr">
              <a:solidFill>
                <a:schemeClr val="accent1">
                  <a:lumMod val="75000"/>
                </a:schemeClr>
              </a:solidFill>
              <a:prstDash val="solid"/>
              <a:round/>
              <a:headEnd type="none" w="med" len="med"/>
              <a:tailEnd type="none"/>
            </a:ln>
            <a:effectLst/>
          </p:spPr>
        </p:cxnSp>
        <p:cxnSp>
          <p:nvCxnSpPr>
            <p:cNvPr id="30" name="直線單箭頭接點 29">
              <a:extLst>
                <a:ext uri="{FF2B5EF4-FFF2-40B4-BE49-F238E27FC236}">
                  <a16:creationId xmlns:a16="http://schemas.microsoft.com/office/drawing/2014/main" id="{5DEB0AFD-8579-9A63-9541-B598D33A5ED2}"/>
                </a:ext>
              </a:extLst>
            </p:cNvPr>
            <p:cNvCxnSpPr>
              <a:cxnSpLocks/>
            </p:cNvCxnSpPr>
            <p:nvPr/>
          </p:nvCxnSpPr>
          <p:spPr bwMode="auto">
            <a:xfrm>
              <a:off x="9656018" y="151790"/>
              <a:ext cx="673649" cy="0"/>
            </a:xfrm>
            <a:prstGeom prst="straightConnector1">
              <a:avLst/>
            </a:prstGeom>
            <a:solidFill>
              <a:schemeClr val="accent1"/>
            </a:solidFill>
            <a:ln w="19050" cap="flat" cmpd="sng" algn="ctr">
              <a:solidFill>
                <a:schemeClr val="accent1">
                  <a:lumMod val="75000"/>
                </a:schemeClr>
              </a:solidFill>
              <a:prstDash val="sysDash"/>
              <a:round/>
              <a:headEnd type="none" w="med" len="med"/>
              <a:tailEnd type="none"/>
            </a:ln>
            <a:effectLst/>
          </p:spPr>
        </p:cxnSp>
        <p:sp>
          <p:nvSpPr>
            <p:cNvPr id="31" name="文字方塊 30">
              <a:extLst>
                <a:ext uri="{FF2B5EF4-FFF2-40B4-BE49-F238E27FC236}">
                  <a16:creationId xmlns:a16="http://schemas.microsoft.com/office/drawing/2014/main" id="{8F911CA9-0010-8784-8E80-F3AD1B892A27}"/>
                </a:ext>
              </a:extLst>
            </p:cNvPr>
            <p:cNvSpPr txBox="1"/>
            <p:nvPr/>
          </p:nvSpPr>
          <p:spPr>
            <a:xfrm>
              <a:off x="10378845" y="-167812"/>
              <a:ext cx="1340631" cy="436735"/>
            </a:xfrm>
            <a:prstGeom prst="rect">
              <a:avLst/>
            </a:prstGeom>
            <a:noFill/>
          </p:spPr>
          <p:txBody>
            <a:bodyPr wrap="square" rtlCol="0">
              <a:spAutoFit/>
            </a:bodyPr>
            <a:lstStyle/>
            <a:p>
              <a:r>
                <a:rPr lang="zh-TW" altLang="en-US" sz="1400" b="0" dirty="0">
                  <a:solidFill>
                    <a:schemeClr val="tx1">
                      <a:lumMod val="85000"/>
                      <a:lumOff val="15000"/>
                    </a:schemeClr>
                  </a:solidFill>
                  <a:latin typeface="微軟正黑體" panose="020B0604030504040204" pitchFamily="34" charset="-120"/>
                  <a:ea typeface="微軟正黑體" panose="020B0604030504040204" pitchFamily="34" charset="-120"/>
                </a:rPr>
                <a:t>尚未建置項目</a:t>
              </a:r>
            </a:p>
          </p:txBody>
        </p:sp>
        <p:cxnSp>
          <p:nvCxnSpPr>
            <p:cNvPr id="32" name="直線單箭頭接點 31">
              <a:extLst>
                <a:ext uri="{FF2B5EF4-FFF2-40B4-BE49-F238E27FC236}">
                  <a16:creationId xmlns:a16="http://schemas.microsoft.com/office/drawing/2014/main" id="{F729FA24-D099-5244-3902-70F9A86ED6AE}"/>
                </a:ext>
              </a:extLst>
            </p:cNvPr>
            <p:cNvCxnSpPr>
              <a:cxnSpLocks/>
            </p:cNvCxnSpPr>
            <p:nvPr/>
          </p:nvCxnSpPr>
          <p:spPr bwMode="auto">
            <a:xfrm>
              <a:off x="9696480" y="578988"/>
              <a:ext cx="592982" cy="0"/>
            </a:xfrm>
            <a:prstGeom prst="straightConnector1">
              <a:avLst/>
            </a:prstGeom>
            <a:solidFill>
              <a:schemeClr val="accent1"/>
            </a:solidFill>
            <a:ln w="19050" cap="flat" cmpd="sng" algn="ctr">
              <a:solidFill>
                <a:srgbClr val="FF9B00"/>
              </a:solidFill>
              <a:prstDash val="solid"/>
              <a:round/>
              <a:headEnd type="none" w="med" len="med"/>
              <a:tailEnd type="none"/>
            </a:ln>
            <a:effectLst/>
          </p:spPr>
        </p:cxnSp>
        <p:sp>
          <p:nvSpPr>
            <p:cNvPr id="33" name="文字方塊 32">
              <a:extLst>
                <a:ext uri="{FF2B5EF4-FFF2-40B4-BE49-F238E27FC236}">
                  <a16:creationId xmlns:a16="http://schemas.microsoft.com/office/drawing/2014/main" id="{5D20664A-4FA4-02B7-32EE-BE8743EE19FA}"/>
                </a:ext>
              </a:extLst>
            </p:cNvPr>
            <p:cNvSpPr txBox="1"/>
            <p:nvPr/>
          </p:nvSpPr>
          <p:spPr>
            <a:xfrm>
              <a:off x="10394457" y="389204"/>
              <a:ext cx="1164057" cy="436735"/>
            </a:xfrm>
            <a:prstGeom prst="rect">
              <a:avLst/>
            </a:prstGeom>
            <a:noFill/>
          </p:spPr>
          <p:txBody>
            <a:bodyPr wrap="square" rtlCol="0">
              <a:spAutoFit/>
            </a:bodyPr>
            <a:lstStyle/>
            <a:p>
              <a:r>
                <a:rPr lang="zh-TW" altLang="en-US" sz="1400" b="0" dirty="0">
                  <a:solidFill>
                    <a:schemeClr val="tx1">
                      <a:lumMod val="85000"/>
                      <a:lumOff val="15000"/>
                    </a:schemeClr>
                  </a:solidFill>
                  <a:latin typeface="微軟正黑體" panose="020B0604030504040204" pitchFamily="34" charset="-120"/>
                  <a:ea typeface="微軟正黑體" panose="020B0604030504040204" pitchFamily="34" charset="-120"/>
                </a:rPr>
                <a:t>已建置項目</a:t>
              </a:r>
            </a:p>
          </p:txBody>
        </p:sp>
      </p:grpSp>
      <p:cxnSp>
        <p:nvCxnSpPr>
          <p:cNvPr id="34" name="接點: 肘形 33">
            <a:extLst>
              <a:ext uri="{FF2B5EF4-FFF2-40B4-BE49-F238E27FC236}">
                <a16:creationId xmlns:a16="http://schemas.microsoft.com/office/drawing/2014/main" id="{4408DCA7-CF17-1990-9AFF-97966A2BC256}"/>
              </a:ext>
            </a:extLst>
          </p:cNvPr>
          <p:cNvCxnSpPr>
            <a:cxnSpLocks/>
            <a:stCxn id="40" idx="4"/>
            <a:endCxn id="36" idx="1"/>
          </p:cNvCxnSpPr>
          <p:nvPr/>
        </p:nvCxnSpPr>
        <p:spPr bwMode="auto">
          <a:xfrm rot="5400000">
            <a:off x="1262963" y="1890614"/>
            <a:ext cx="2625371" cy="1248770"/>
          </a:xfrm>
          <a:prstGeom prst="bentConnector4">
            <a:avLst>
              <a:gd name="adj1" fmla="val 28627"/>
              <a:gd name="adj2" fmla="val 148631"/>
            </a:avLst>
          </a:prstGeom>
          <a:ln w="28575">
            <a:solidFill>
              <a:srgbClr val="FF9B00"/>
            </a:solidFill>
            <a:headEnd type="triangle" w="med" len="med"/>
            <a:tailEnd type="triangle"/>
          </a:ln>
        </p:spPr>
        <p:style>
          <a:lnRef idx="1">
            <a:schemeClr val="accent6"/>
          </a:lnRef>
          <a:fillRef idx="0">
            <a:schemeClr val="accent6"/>
          </a:fillRef>
          <a:effectRef idx="0">
            <a:schemeClr val="accent6"/>
          </a:effectRef>
          <a:fontRef idx="minor">
            <a:schemeClr val="tx1"/>
          </a:fontRef>
        </p:style>
      </p:cxnSp>
      <p:sp>
        <p:nvSpPr>
          <p:cNvPr id="36" name="矩形: 圓角 35">
            <a:extLst>
              <a:ext uri="{FF2B5EF4-FFF2-40B4-BE49-F238E27FC236}">
                <a16:creationId xmlns:a16="http://schemas.microsoft.com/office/drawing/2014/main" id="{6B277F34-A136-99C7-8204-D3DD0AB84D13}"/>
              </a:ext>
            </a:extLst>
          </p:cNvPr>
          <p:cNvSpPr/>
          <p:nvPr/>
        </p:nvSpPr>
        <p:spPr bwMode="auto">
          <a:xfrm>
            <a:off x="1951263" y="3606509"/>
            <a:ext cx="1072749" cy="442352"/>
          </a:xfrm>
          <a:prstGeom prst="roundRect">
            <a:avLst>
              <a:gd name="adj" fmla="val 4461"/>
            </a:avLst>
          </a:prstGeom>
          <a:solidFill>
            <a:srgbClr val="FF9B00"/>
          </a:solidFill>
          <a:ln w="22225" cap="flat" cmpd="sng" algn="ctr">
            <a:solidFill>
              <a:srgbClr val="FF9B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TW" sz="1200" dirty="0">
                <a:latin typeface="微軟正黑體" panose="020B0604030504040204" pitchFamily="34" charset="-120"/>
                <a:ea typeface="微軟正黑體" panose="020B0604030504040204" pitchFamily="34" charset="-120"/>
              </a:rPr>
              <a:t>Lambda/</a:t>
            </a:r>
            <a:br>
              <a:rPr lang="en-US" altLang="zh-TW" sz="1200" dirty="0">
                <a:latin typeface="微軟正黑體" panose="020B0604030504040204" pitchFamily="34" charset="-120"/>
                <a:ea typeface="微軟正黑體" panose="020B0604030504040204" pitchFamily="34" charset="-120"/>
              </a:rPr>
            </a:br>
            <a:r>
              <a:rPr lang="en-US" altLang="zh-TW" sz="1200" dirty="0" err="1">
                <a:latin typeface="微軟正黑體" panose="020B0604030504040204" pitchFamily="34" charset="-120"/>
                <a:ea typeface="微軟正黑體" panose="020B0604030504040204" pitchFamily="34" charset="-120"/>
              </a:rPr>
              <a:t>Fargate</a:t>
            </a:r>
            <a:endParaRPr kumimoji="0" lang="zh-TW" altLang="en-US" sz="1200" b="1"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endParaRPr>
          </a:p>
        </p:txBody>
      </p:sp>
      <p:sp>
        <p:nvSpPr>
          <p:cNvPr id="37" name="矩形: 圓角 36">
            <a:extLst>
              <a:ext uri="{FF2B5EF4-FFF2-40B4-BE49-F238E27FC236}">
                <a16:creationId xmlns:a16="http://schemas.microsoft.com/office/drawing/2014/main" id="{6D5C996A-5C23-9F54-92B2-086064868191}"/>
              </a:ext>
            </a:extLst>
          </p:cNvPr>
          <p:cNvSpPr/>
          <p:nvPr/>
        </p:nvSpPr>
        <p:spPr bwMode="auto">
          <a:xfrm>
            <a:off x="1951264" y="4359722"/>
            <a:ext cx="614024" cy="456282"/>
          </a:xfrm>
          <a:prstGeom prst="roundRect">
            <a:avLst>
              <a:gd name="adj" fmla="val 4461"/>
            </a:avLst>
          </a:prstGeom>
          <a:solidFill>
            <a:srgbClr val="FF9B00"/>
          </a:solidFill>
          <a:ln w="22225" cap="flat" cmpd="sng" algn="ctr">
            <a:solidFill>
              <a:srgbClr val="FF9B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TW" sz="1200" b="1"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S3</a:t>
            </a:r>
            <a:endParaRPr kumimoji="0" lang="zh-TW" altLang="en-US" sz="1200" b="1"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endParaRPr>
          </a:p>
        </p:txBody>
      </p:sp>
      <p:sp>
        <p:nvSpPr>
          <p:cNvPr id="38" name="矩形: 圓角 37">
            <a:extLst>
              <a:ext uri="{FF2B5EF4-FFF2-40B4-BE49-F238E27FC236}">
                <a16:creationId xmlns:a16="http://schemas.microsoft.com/office/drawing/2014/main" id="{D9439372-0CF1-A448-7C54-FA6487FAF7C6}"/>
              </a:ext>
            </a:extLst>
          </p:cNvPr>
          <p:cNvSpPr/>
          <p:nvPr/>
        </p:nvSpPr>
        <p:spPr bwMode="auto">
          <a:xfrm>
            <a:off x="1893601" y="2036301"/>
            <a:ext cx="3136112" cy="1346726"/>
          </a:xfrm>
          <a:prstGeom prst="roundRect">
            <a:avLst>
              <a:gd name="adj" fmla="val 4461"/>
            </a:avLst>
          </a:prstGeom>
          <a:solidFill>
            <a:srgbClr val="FF9B00"/>
          </a:solidFill>
          <a:ln w="22225" cap="flat" cmpd="sng" algn="ctr">
            <a:solidFill>
              <a:srgbClr val="FF9B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TW" altLang="en-US" sz="1800" b="1" i="0" u="none" strike="noStrike" cap="none" normalizeH="0" baseline="0" dirty="0">
                <a:ln>
                  <a:noFill/>
                </a:ln>
                <a:solidFill>
                  <a:schemeClr val="bg1"/>
                </a:solidFill>
                <a:effectLst/>
                <a:latin typeface="微軟正黑體" panose="020B0604030504040204" pitchFamily="34" charset="-120"/>
                <a:ea typeface="微軟正黑體" panose="020B0604030504040204" pitchFamily="34" charset="-120"/>
              </a:rPr>
              <a:t>爬蟲館 </a:t>
            </a:r>
            <a:r>
              <a:rPr kumimoji="0" lang="en-US" altLang="zh-TW" sz="1800" b="1" i="0" u="none" strike="noStrike" cap="none" normalizeH="0" baseline="0" dirty="0">
                <a:ln>
                  <a:noFill/>
                </a:ln>
                <a:solidFill>
                  <a:schemeClr val="bg1"/>
                </a:solidFill>
                <a:effectLst/>
                <a:latin typeface="微軟正黑體" panose="020B0604030504040204" pitchFamily="34" charset="-120"/>
                <a:ea typeface="微軟正黑體" panose="020B0604030504040204" pitchFamily="34" charset="-120"/>
              </a:rPr>
              <a:t>AP</a:t>
            </a:r>
            <a:r>
              <a:rPr kumimoji="0" lang="zh-TW" altLang="en-US" sz="1800" b="1" i="0" u="none" strike="noStrike" cap="none" normalizeH="0" baseline="0" dirty="0">
                <a:ln>
                  <a:noFill/>
                </a:ln>
                <a:solidFill>
                  <a:schemeClr val="bg1"/>
                </a:solidFill>
                <a:effectLst/>
                <a:latin typeface="微軟正黑體" panose="020B0604030504040204" pitchFamily="34" charset="-120"/>
                <a:ea typeface="微軟正黑體" panose="020B0604030504040204" pitchFamily="34" charset="-120"/>
              </a:rPr>
              <a:t> </a:t>
            </a:r>
            <a:r>
              <a:rPr kumimoji="0" lang="en-US" altLang="zh-TW" sz="1800" b="1" i="0" u="none" strike="noStrike" cap="none" normalizeH="0" baseline="0" dirty="0">
                <a:ln>
                  <a:noFill/>
                </a:ln>
                <a:solidFill>
                  <a:schemeClr val="bg1"/>
                </a:solidFill>
                <a:effectLst/>
                <a:latin typeface="微軟正黑體" panose="020B0604030504040204" pitchFamily="34" charset="-120"/>
                <a:ea typeface="微軟正黑體" panose="020B0604030504040204" pitchFamily="34" charset="-120"/>
              </a:rPr>
              <a:t>Prod</a:t>
            </a:r>
            <a:br>
              <a:rPr kumimoji="0" lang="en-US" altLang="zh-TW" sz="1800" b="1" i="0" u="none" strike="noStrike" cap="none" normalizeH="0" baseline="0" dirty="0">
                <a:ln>
                  <a:noFill/>
                </a:ln>
                <a:solidFill>
                  <a:schemeClr val="bg1"/>
                </a:solidFill>
                <a:effectLst/>
                <a:latin typeface="微軟正黑體" panose="020B0604030504040204" pitchFamily="34" charset="-120"/>
                <a:ea typeface="微軟正黑體" panose="020B0604030504040204" pitchFamily="34" charset="-120"/>
              </a:rPr>
            </a:br>
            <a:r>
              <a:rPr kumimoji="0" lang="en-US" altLang="zh-TW" sz="1800" b="1" i="0" u="none" strike="noStrike" cap="none" normalizeH="0" baseline="0" dirty="0">
                <a:ln>
                  <a:noFill/>
                </a:ln>
                <a:solidFill>
                  <a:schemeClr val="bg1"/>
                </a:solidFill>
                <a:effectLst/>
                <a:latin typeface="微軟正黑體" panose="020B0604030504040204" pitchFamily="34" charset="-120"/>
                <a:ea typeface="微軟正黑體" panose="020B0604030504040204" pitchFamily="34" charset="-120"/>
              </a:rPr>
              <a:t>aws-prod-dmz-crawler-1 </a:t>
            </a:r>
            <a:r>
              <a:rPr kumimoji="0" lang="en-US" altLang="zh-TW" b="1" i="0" u="none" strike="noStrike" cap="none" normalizeH="0" baseline="0" dirty="0">
                <a:ln>
                  <a:noFill/>
                </a:ln>
                <a:solidFill>
                  <a:schemeClr val="bg1"/>
                </a:solidFill>
                <a:effectLst/>
                <a:latin typeface="微軟正黑體" panose="020B0604030504040204" pitchFamily="34" charset="-120"/>
                <a:ea typeface="微軟正黑體" panose="020B0604030504040204" pitchFamily="34" charset="-120"/>
              </a:rPr>
              <a:t>(10.6.10.175)</a:t>
            </a:r>
            <a:br>
              <a:rPr kumimoji="0" lang="en-US" altLang="zh-TW" sz="1800" b="1" i="0" u="none" strike="noStrike" cap="none" normalizeH="0" baseline="0" dirty="0">
                <a:ln>
                  <a:noFill/>
                </a:ln>
                <a:solidFill>
                  <a:schemeClr val="bg1"/>
                </a:solidFill>
                <a:effectLst/>
                <a:latin typeface="微軟正黑體" panose="020B0604030504040204" pitchFamily="34" charset="-120"/>
                <a:ea typeface="微軟正黑體" panose="020B0604030504040204" pitchFamily="34" charset="-120"/>
              </a:rPr>
            </a:br>
            <a:r>
              <a:rPr kumimoji="0" lang="en-US" altLang="zh-TW" sz="1800" b="1" i="0" u="none" strike="noStrike" cap="none" normalizeH="0" baseline="0" dirty="0">
                <a:ln>
                  <a:noFill/>
                </a:ln>
                <a:solidFill>
                  <a:schemeClr val="bg1"/>
                </a:solidFill>
                <a:effectLst/>
                <a:latin typeface="微軟正黑體" panose="020B0604030504040204" pitchFamily="34" charset="-120"/>
                <a:ea typeface="微軟正黑體" panose="020B0604030504040204" pitchFamily="34" charset="-120"/>
              </a:rPr>
              <a:t>aws-prod-dmz-crawler-2 </a:t>
            </a:r>
            <a:r>
              <a:rPr kumimoji="0" lang="en-US" altLang="zh-TW" b="1" i="0" u="none" strike="noStrike" cap="none" normalizeH="0" baseline="0" dirty="0">
                <a:ln>
                  <a:noFill/>
                </a:ln>
                <a:solidFill>
                  <a:schemeClr val="bg1"/>
                </a:solidFill>
                <a:effectLst/>
                <a:latin typeface="微軟正黑體" panose="020B0604030504040204" pitchFamily="34" charset="-120"/>
                <a:ea typeface="微軟正黑體" panose="020B0604030504040204" pitchFamily="34" charset="-120"/>
              </a:rPr>
              <a:t>(10.6.11.104)</a:t>
            </a:r>
            <a:endParaRPr kumimoji="0" lang="zh-TW" altLang="en-US" sz="1800" b="1" i="0" u="none" strike="noStrike" cap="none" normalizeH="0" baseline="0" dirty="0">
              <a:ln>
                <a:noFill/>
              </a:ln>
              <a:solidFill>
                <a:schemeClr val="bg1"/>
              </a:solidFill>
              <a:effectLst/>
              <a:latin typeface="微軟正黑體" panose="020B0604030504040204" pitchFamily="34" charset="-120"/>
              <a:ea typeface="微軟正黑體" panose="020B0604030504040204" pitchFamily="34" charset="-120"/>
            </a:endParaRPr>
          </a:p>
        </p:txBody>
      </p:sp>
      <p:sp>
        <p:nvSpPr>
          <p:cNvPr id="40" name="橢圓 39">
            <a:extLst>
              <a:ext uri="{FF2B5EF4-FFF2-40B4-BE49-F238E27FC236}">
                <a16:creationId xmlns:a16="http://schemas.microsoft.com/office/drawing/2014/main" id="{08724E84-36E3-D6E8-E8D3-5D6BA70F4FD1}"/>
              </a:ext>
            </a:extLst>
          </p:cNvPr>
          <p:cNvSpPr/>
          <p:nvPr/>
        </p:nvSpPr>
        <p:spPr bwMode="auto">
          <a:xfrm>
            <a:off x="2600845" y="662499"/>
            <a:ext cx="1198376" cy="539815"/>
          </a:xfrm>
          <a:prstGeom prst="ellipse">
            <a:avLst/>
          </a:prstGeom>
          <a:solidFill>
            <a:srgbClr val="FF9B00"/>
          </a:solidFill>
          <a:ln>
            <a:noFill/>
            <a:headEnd type="none" w="med" len="med"/>
            <a:tailEnd type="none" w="med" len="med"/>
          </a:ln>
        </p:spPr>
        <p:style>
          <a:lnRef idx="1">
            <a:schemeClr val="accent6"/>
          </a:lnRef>
          <a:fillRef idx="3">
            <a:schemeClr val="accent6"/>
          </a:fillRef>
          <a:effectRef idx="2">
            <a:schemeClr val="accent6"/>
          </a:effectRef>
          <a:fontRef idx="minor">
            <a:schemeClr val="lt1"/>
          </a:fontRef>
        </p:style>
        <p:txBody>
          <a:bodyPr vert="horz" wrap="square" lIns="91440" tIns="45720" rIns="91440" bIns="45720" numCol="1" rtlCol="0" anchor="t" anchorCtr="0" compatLnSpc="1">
            <a:prstTxWarp prst="textNoShape">
              <a:avLst/>
            </a:prstTxWarp>
          </a:bodyPr>
          <a:lstStyle/>
          <a:p>
            <a:pPr algn="ctr"/>
            <a:r>
              <a:rPr lang="en-US" altLang="zh-TW" sz="1200" i="0" u="none" strike="noStrike" dirty="0">
                <a:solidFill>
                  <a:schemeClr val="bg1"/>
                </a:solidFill>
                <a:effectLst/>
                <a:latin typeface="微軟正黑體" panose="020B0604030504040204" pitchFamily="34" charset="-120"/>
                <a:ea typeface="微軟正黑體" panose="020B0604030504040204" pitchFamily="34" charset="-120"/>
              </a:rPr>
              <a:t>Data </a:t>
            </a:r>
          </a:p>
          <a:p>
            <a:pPr algn="ctr"/>
            <a:r>
              <a:rPr lang="en-US" altLang="zh-TW" sz="1200" dirty="0">
                <a:solidFill>
                  <a:schemeClr val="bg1"/>
                </a:solidFill>
                <a:latin typeface="微軟正黑體" panose="020B0604030504040204" pitchFamily="34" charset="-120"/>
                <a:ea typeface="微軟正黑體" panose="020B0604030504040204" pitchFamily="34" charset="-120"/>
              </a:rPr>
              <a:t>Source2</a:t>
            </a:r>
          </a:p>
        </p:txBody>
      </p:sp>
      <p:sp>
        <p:nvSpPr>
          <p:cNvPr id="41" name="矩形: 剪去同側角落 40">
            <a:extLst>
              <a:ext uri="{FF2B5EF4-FFF2-40B4-BE49-F238E27FC236}">
                <a16:creationId xmlns:a16="http://schemas.microsoft.com/office/drawing/2014/main" id="{EC2A94A6-C289-A62E-307F-7EF6DD809CC9}"/>
              </a:ext>
            </a:extLst>
          </p:cNvPr>
          <p:cNvSpPr/>
          <p:nvPr/>
        </p:nvSpPr>
        <p:spPr bwMode="auto">
          <a:xfrm>
            <a:off x="1574050" y="698437"/>
            <a:ext cx="909433" cy="573062"/>
          </a:xfrm>
          <a:prstGeom prst="snip2SameRect">
            <a:avLst/>
          </a:prstGeom>
          <a:solidFill>
            <a:srgbClr val="FF9B00"/>
          </a:solidFill>
          <a:ln>
            <a:noFill/>
            <a:headEnd type="none" w="med" len="med"/>
            <a:tailEnd type="none" w="med" len="med"/>
          </a:ln>
        </p:spPr>
        <p:style>
          <a:lnRef idx="1">
            <a:schemeClr val="accent6"/>
          </a:lnRef>
          <a:fillRef idx="3">
            <a:schemeClr val="accent6"/>
          </a:fillRef>
          <a:effectRef idx="2">
            <a:schemeClr val="accent6"/>
          </a:effectRef>
          <a:fontRef idx="minor">
            <a:schemeClr val="lt1"/>
          </a:fontRef>
        </p:style>
        <p:txBody>
          <a:bodyPr vert="horz" wrap="square" lIns="91440" tIns="45720" rIns="91440" bIns="45720" numCol="1" rtlCol="0" anchor="t" anchorCtr="0" compatLnSpc="1">
            <a:prstTxWarp prst="textNoShape">
              <a:avLst/>
            </a:prstTxWarp>
          </a:bodyPr>
          <a:lstStyle/>
          <a:p>
            <a:pPr algn="ctr"/>
            <a:r>
              <a:rPr lang="en-US" altLang="zh-TW" sz="1200" dirty="0">
                <a:solidFill>
                  <a:schemeClr val="bg1"/>
                </a:solidFill>
                <a:latin typeface="微軟正黑體" panose="020B0604030504040204" pitchFamily="34" charset="-120"/>
                <a:ea typeface="微軟正黑體" panose="020B0604030504040204" pitchFamily="34" charset="-120"/>
              </a:rPr>
              <a:t>Data </a:t>
            </a:r>
          </a:p>
          <a:p>
            <a:pPr algn="ctr"/>
            <a:r>
              <a:rPr lang="en-US" altLang="zh-TW" sz="1200" dirty="0">
                <a:solidFill>
                  <a:schemeClr val="bg1"/>
                </a:solidFill>
                <a:latin typeface="微軟正黑體" panose="020B0604030504040204" pitchFamily="34" charset="-120"/>
                <a:ea typeface="微軟正黑體" panose="020B0604030504040204" pitchFamily="34" charset="-120"/>
              </a:rPr>
              <a:t>Source1</a:t>
            </a:r>
          </a:p>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2400" b="1"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endParaRPr>
          </a:p>
        </p:txBody>
      </p:sp>
      <p:cxnSp>
        <p:nvCxnSpPr>
          <p:cNvPr id="42" name="接點: 肘形 41">
            <a:extLst>
              <a:ext uri="{FF2B5EF4-FFF2-40B4-BE49-F238E27FC236}">
                <a16:creationId xmlns:a16="http://schemas.microsoft.com/office/drawing/2014/main" id="{2332F841-867D-BF29-73A3-15BCFFAFAE5B}"/>
              </a:ext>
            </a:extLst>
          </p:cNvPr>
          <p:cNvCxnSpPr>
            <a:cxnSpLocks/>
            <a:stCxn id="41" idx="2"/>
            <a:endCxn id="37" idx="1"/>
          </p:cNvCxnSpPr>
          <p:nvPr/>
        </p:nvCxnSpPr>
        <p:spPr bwMode="auto">
          <a:xfrm rot="10800000" flipH="1" flipV="1">
            <a:off x="1574050" y="984967"/>
            <a:ext cx="377214" cy="3602895"/>
          </a:xfrm>
          <a:prstGeom prst="bentConnector3">
            <a:avLst>
              <a:gd name="adj1" fmla="val -125693"/>
            </a:avLst>
          </a:prstGeom>
          <a:ln w="28575">
            <a:solidFill>
              <a:srgbClr val="FF9B00"/>
            </a:solidFill>
            <a:headEnd type="triangle" w="med" len="med"/>
            <a:tailEnd type="triangle"/>
          </a:ln>
        </p:spPr>
        <p:style>
          <a:lnRef idx="1">
            <a:schemeClr val="accent6"/>
          </a:lnRef>
          <a:fillRef idx="0">
            <a:schemeClr val="accent6"/>
          </a:fillRef>
          <a:effectRef idx="0">
            <a:schemeClr val="accent6"/>
          </a:effectRef>
          <a:fontRef idx="minor">
            <a:schemeClr val="tx1"/>
          </a:fontRef>
        </p:style>
      </p:cxnSp>
      <p:sp>
        <p:nvSpPr>
          <p:cNvPr id="43" name="文字方塊 42">
            <a:extLst>
              <a:ext uri="{FF2B5EF4-FFF2-40B4-BE49-F238E27FC236}">
                <a16:creationId xmlns:a16="http://schemas.microsoft.com/office/drawing/2014/main" id="{6B09715A-E933-1A37-E595-6E8516A08135}"/>
              </a:ext>
            </a:extLst>
          </p:cNvPr>
          <p:cNvSpPr txBox="1"/>
          <p:nvPr/>
        </p:nvSpPr>
        <p:spPr>
          <a:xfrm>
            <a:off x="1309519" y="1645514"/>
            <a:ext cx="1634225" cy="276999"/>
          </a:xfrm>
          <a:prstGeom prst="rect">
            <a:avLst/>
          </a:prstGeom>
          <a:noFill/>
        </p:spPr>
        <p:txBody>
          <a:bodyPr wrap="square" rtlCol="0">
            <a:spAutoFit/>
          </a:bodyPr>
          <a:lstStyle/>
          <a:p>
            <a:r>
              <a:rPr lang="en-US" altLang="zh-TW" sz="1200" dirty="0">
                <a:solidFill>
                  <a:schemeClr val="tx1">
                    <a:lumMod val="75000"/>
                    <a:lumOff val="25000"/>
                  </a:schemeClr>
                </a:solidFill>
                <a:highlight>
                  <a:srgbClr val="C0C0C0"/>
                </a:highlight>
                <a:latin typeface="微軟正黑體" panose="020B0604030504040204" pitchFamily="34" charset="-120"/>
                <a:ea typeface="微軟正黑體" panose="020B0604030504040204" pitchFamily="34" charset="-120"/>
              </a:rPr>
              <a:t>①</a:t>
            </a:r>
            <a:r>
              <a:rPr lang="zh-TW" altLang="en-US" sz="1200" dirty="0">
                <a:solidFill>
                  <a:schemeClr val="tx1">
                    <a:lumMod val="75000"/>
                    <a:lumOff val="25000"/>
                  </a:schemeClr>
                </a:solidFill>
                <a:highlight>
                  <a:srgbClr val="C0C0C0"/>
                </a:highlight>
                <a:latin typeface="微軟正黑體" panose="020B0604030504040204" pitchFamily="34" charset="-120"/>
                <a:ea typeface="微軟正黑體" panose="020B0604030504040204" pitchFamily="34" charset="-120"/>
              </a:rPr>
              <a:t>爬蟲程式爬取資料</a:t>
            </a:r>
            <a:endParaRPr lang="en-US" altLang="zh-TW" sz="1200" dirty="0">
              <a:solidFill>
                <a:schemeClr val="tx1">
                  <a:lumMod val="75000"/>
                  <a:lumOff val="25000"/>
                </a:schemeClr>
              </a:solidFill>
              <a:highlight>
                <a:srgbClr val="C0C0C0"/>
              </a:highlight>
              <a:latin typeface="微軟正黑體" panose="020B0604030504040204" pitchFamily="34" charset="-120"/>
              <a:ea typeface="微軟正黑體" panose="020B0604030504040204" pitchFamily="34" charset="-120"/>
            </a:endParaRPr>
          </a:p>
        </p:txBody>
      </p:sp>
      <p:cxnSp>
        <p:nvCxnSpPr>
          <p:cNvPr id="44" name="直線單箭頭接點 43">
            <a:extLst>
              <a:ext uri="{FF2B5EF4-FFF2-40B4-BE49-F238E27FC236}">
                <a16:creationId xmlns:a16="http://schemas.microsoft.com/office/drawing/2014/main" id="{5D6300DA-AC43-D3C1-05AF-3C8B0C2C72B9}"/>
              </a:ext>
            </a:extLst>
          </p:cNvPr>
          <p:cNvCxnSpPr>
            <a:cxnSpLocks/>
          </p:cNvCxnSpPr>
          <p:nvPr/>
        </p:nvCxnSpPr>
        <p:spPr bwMode="auto">
          <a:xfrm>
            <a:off x="2258276" y="4364528"/>
            <a:ext cx="0" cy="310861"/>
          </a:xfrm>
          <a:prstGeom prst="straightConnector1">
            <a:avLst/>
          </a:prstGeom>
          <a:solidFill>
            <a:schemeClr val="accent1"/>
          </a:solidFill>
          <a:ln w="15875" cap="flat" cmpd="sng" algn="ctr">
            <a:solidFill>
              <a:srgbClr val="FF9B00"/>
            </a:solidFill>
            <a:prstDash val="solid"/>
            <a:round/>
            <a:headEnd type="none" w="med" len="med"/>
            <a:tailEnd type="triangle"/>
          </a:ln>
          <a:effectLst/>
        </p:spPr>
      </p:cxnSp>
      <p:cxnSp>
        <p:nvCxnSpPr>
          <p:cNvPr id="46" name="直線單箭頭接點 45">
            <a:extLst>
              <a:ext uri="{FF2B5EF4-FFF2-40B4-BE49-F238E27FC236}">
                <a16:creationId xmlns:a16="http://schemas.microsoft.com/office/drawing/2014/main" id="{9BF1A769-C69F-F45D-D144-C01DC5C1A03F}"/>
              </a:ext>
            </a:extLst>
          </p:cNvPr>
          <p:cNvCxnSpPr>
            <a:cxnSpLocks/>
          </p:cNvCxnSpPr>
          <p:nvPr/>
        </p:nvCxnSpPr>
        <p:spPr bwMode="auto">
          <a:xfrm>
            <a:off x="2565288" y="4662418"/>
            <a:ext cx="990745" cy="7281"/>
          </a:xfrm>
          <a:prstGeom prst="straightConnector1">
            <a:avLst/>
          </a:prstGeom>
          <a:solidFill>
            <a:schemeClr val="accent1"/>
          </a:solidFill>
          <a:ln w="15875" cap="flat" cmpd="sng" algn="ctr">
            <a:solidFill>
              <a:srgbClr val="FF9B00"/>
            </a:solidFill>
            <a:prstDash val="solid"/>
            <a:round/>
            <a:headEnd type="none" w="med" len="med"/>
            <a:tailEnd type="triangle"/>
          </a:ln>
          <a:effectLst/>
        </p:spPr>
      </p:cxnSp>
      <p:sp>
        <p:nvSpPr>
          <p:cNvPr id="47" name="文字方塊 46">
            <a:extLst>
              <a:ext uri="{FF2B5EF4-FFF2-40B4-BE49-F238E27FC236}">
                <a16:creationId xmlns:a16="http://schemas.microsoft.com/office/drawing/2014/main" id="{F6C134E5-1A88-7E79-16EB-4CF589FE203C}"/>
              </a:ext>
            </a:extLst>
          </p:cNvPr>
          <p:cNvSpPr txBox="1"/>
          <p:nvPr/>
        </p:nvSpPr>
        <p:spPr>
          <a:xfrm>
            <a:off x="3556034" y="4474208"/>
            <a:ext cx="831345" cy="307777"/>
          </a:xfrm>
          <a:prstGeom prst="rect">
            <a:avLst/>
          </a:prstGeom>
          <a:solidFill>
            <a:srgbClr val="FF9B00"/>
          </a:solidFill>
          <a:ln>
            <a:noFill/>
          </a:ln>
        </p:spPr>
        <p:style>
          <a:lnRef idx="1">
            <a:schemeClr val="accent6"/>
          </a:lnRef>
          <a:fillRef idx="3">
            <a:schemeClr val="accent6"/>
          </a:fillRef>
          <a:effectRef idx="2">
            <a:schemeClr val="accent6"/>
          </a:effectRef>
          <a:fontRef idx="minor">
            <a:schemeClr val="lt1"/>
          </a:fontRef>
        </p:style>
        <p:txBody>
          <a:bodyPr wrap="square" rtlCol="0">
            <a:spAutoFit/>
          </a:bodyPr>
          <a:lstStyle/>
          <a:p>
            <a:pPr algn="ctr"/>
            <a:r>
              <a:rPr lang="en-US" altLang="zh-TW" sz="1400" b="0" dirty="0">
                <a:solidFill>
                  <a:schemeClr val="bg1"/>
                </a:solidFill>
                <a:latin typeface="微軟正黑體" panose="020B0604030504040204" pitchFamily="34" charset="-120"/>
                <a:ea typeface="微軟正黑體" panose="020B0604030504040204" pitchFamily="34" charset="-120"/>
              </a:rPr>
              <a:t>MySQL</a:t>
            </a:r>
          </a:p>
        </p:txBody>
      </p:sp>
      <p:pic>
        <p:nvPicPr>
          <p:cNvPr id="48" name="圖片 47" descr="一張含有 黑色, 黑暗 的圖片&#10;&#10;自動產生的描述">
            <a:extLst>
              <a:ext uri="{FF2B5EF4-FFF2-40B4-BE49-F238E27FC236}">
                <a16:creationId xmlns:a16="http://schemas.microsoft.com/office/drawing/2014/main" id="{2BA1C5BA-112A-590B-8B74-AFFFFACBE23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79530" y="4192323"/>
            <a:ext cx="340725" cy="303563"/>
          </a:xfrm>
          <a:prstGeom prst="rect">
            <a:avLst/>
          </a:prstGeom>
        </p:spPr>
      </p:pic>
      <p:sp>
        <p:nvSpPr>
          <p:cNvPr id="49" name="矩形: 圓角 48">
            <a:extLst>
              <a:ext uri="{FF2B5EF4-FFF2-40B4-BE49-F238E27FC236}">
                <a16:creationId xmlns:a16="http://schemas.microsoft.com/office/drawing/2014/main" id="{666D3DA2-AE47-D213-D1E9-013ED7718C65}"/>
              </a:ext>
            </a:extLst>
          </p:cNvPr>
          <p:cNvSpPr/>
          <p:nvPr/>
        </p:nvSpPr>
        <p:spPr bwMode="auto">
          <a:xfrm>
            <a:off x="2700310" y="4270866"/>
            <a:ext cx="776947" cy="365397"/>
          </a:xfrm>
          <a:prstGeom prst="roundRect">
            <a:avLst>
              <a:gd name="adj" fmla="val 8962"/>
            </a:avLst>
          </a:prstGeom>
          <a:solidFill>
            <a:schemeClr val="accent5">
              <a:lumMod val="20000"/>
              <a:lumOff val="80000"/>
            </a:schemeClr>
          </a:solidFill>
          <a:ln w="28575">
            <a:solidFill>
              <a:schemeClr val="accent3">
                <a:lumMod val="50000"/>
              </a:schemeClr>
            </a:solidFill>
            <a:prstDash val="sysDot"/>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a:lnSpc>
                <a:spcPct val="100000"/>
              </a:lnSpc>
              <a:spcBef>
                <a:spcPct val="0"/>
              </a:spcBef>
              <a:spcAft>
                <a:spcPct val="0"/>
              </a:spcAft>
              <a:buNone/>
              <a:tabLst/>
            </a:pPr>
            <a:r>
              <a:rPr lang="en-US" sz="1100" dirty="0" err="1">
                <a:solidFill>
                  <a:schemeClr val="tx1">
                    <a:lumMod val="85000"/>
                    <a:lumOff val="15000"/>
                  </a:schemeClr>
                </a:solidFill>
                <a:latin typeface="微軟正黑體" panose="020B0604030504040204" pitchFamily="34" charset="-120"/>
                <a:ea typeface="微軟正黑體" panose="020B0604030504040204" pitchFamily="34" charset="-120"/>
              </a:rPr>
              <a:t>優化</a:t>
            </a:r>
            <a:endParaRPr lang="en-US" sz="1100" dirty="0">
              <a:solidFill>
                <a:schemeClr val="tx1">
                  <a:lumMod val="85000"/>
                  <a:lumOff val="15000"/>
                </a:schemeClr>
              </a:solidFill>
              <a:latin typeface="微軟正黑體" panose="020B0604030504040204" pitchFamily="34" charset="-120"/>
              <a:ea typeface="微軟正黑體" panose="020B0604030504040204" pitchFamily="34" charset="-120"/>
            </a:endParaRPr>
          </a:p>
          <a:p>
            <a:pPr marL="0" marR="0" indent="0" algn="ctr" defTabSz="914400">
              <a:lnSpc>
                <a:spcPct val="100000"/>
              </a:lnSpc>
              <a:spcBef>
                <a:spcPct val="0"/>
              </a:spcBef>
              <a:spcAft>
                <a:spcPct val="0"/>
              </a:spcAft>
              <a:buNone/>
              <a:tabLst/>
            </a:pPr>
            <a:r>
              <a:rPr lang="en-US" sz="1100" dirty="0" err="1">
                <a:solidFill>
                  <a:schemeClr val="tx1">
                    <a:lumMod val="85000"/>
                    <a:lumOff val="15000"/>
                  </a:schemeClr>
                </a:solidFill>
                <a:latin typeface="微軟正黑體" panose="020B0604030504040204" pitchFamily="34" charset="-120"/>
                <a:ea typeface="微軟正黑體" panose="020B0604030504040204" pitchFamily="34" charset="-120"/>
              </a:rPr>
              <a:t>資料存儲</a:t>
            </a:r>
            <a:endParaRPr lang="zh-TW" dirty="0" err="1">
              <a:latin typeface="微軟正黑體" panose="020B0604030504040204" pitchFamily="34" charset="-120"/>
              <a:ea typeface="微軟正黑體" panose="020B0604030504040204" pitchFamily="34" charset="-120"/>
            </a:endParaRPr>
          </a:p>
        </p:txBody>
      </p:sp>
      <p:cxnSp>
        <p:nvCxnSpPr>
          <p:cNvPr id="65" name="直線單箭頭接點 2">
            <a:extLst>
              <a:ext uri="{FF2B5EF4-FFF2-40B4-BE49-F238E27FC236}">
                <a16:creationId xmlns:a16="http://schemas.microsoft.com/office/drawing/2014/main" id="{0B884290-838F-FB2A-1C1F-6BA735C5D041}"/>
              </a:ext>
            </a:extLst>
          </p:cNvPr>
          <p:cNvCxnSpPr>
            <a:cxnSpLocks/>
            <a:stCxn id="2" idx="1"/>
            <a:endCxn id="49" idx="2"/>
          </p:cNvCxnSpPr>
          <p:nvPr/>
        </p:nvCxnSpPr>
        <p:spPr bwMode="auto">
          <a:xfrm rot="10800000">
            <a:off x="3088784" y="4636263"/>
            <a:ext cx="356572" cy="961070"/>
          </a:xfrm>
          <a:prstGeom prst="bentConnector2">
            <a:avLst/>
          </a:prstGeom>
          <a:solidFill>
            <a:schemeClr val="accent1"/>
          </a:solidFill>
          <a:ln w="28575" cap="flat" cmpd="sng" algn="ctr">
            <a:solidFill>
              <a:srgbClr val="3C7BC7"/>
            </a:solidFill>
            <a:prstDash val="dash"/>
            <a:round/>
            <a:headEnd type="triangle" w="med" len="med"/>
            <a:tailEnd type="none"/>
          </a:ln>
          <a:effectLst/>
        </p:spPr>
      </p:cxnSp>
      <p:grpSp>
        <p:nvGrpSpPr>
          <p:cNvPr id="68" name="群組 67">
            <a:extLst>
              <a:ext uri="{FF2B5EF4-FFF2-40B4-BE49-F238E27FC236}">
                <a16:creationId xmlns:a16="http://schemas.microsoft.com/office/drawing/2014/main" id="{52BB89F5-CB00-95E7-93D0-CD26DAC4597E}"/>
              </a:ext>
            </a:extLst>
          </p:cNvPr>
          <p:cNvGrpSpPr/>
          <p:nvPr/>
        </p:nvGrpSpPr>
        <p:grpSpPr>
          <a:xfrm>
            <a:off x="7022237" y="3681484"/>
            <a:ext cx="1977231" cy="2149189"/>
            <a:chOff x="7093255" y="4671570"/>
            <a:chExt cx="1760772" cy="1382903"/>
          </a:xfrm>
        </p:grpSpPr>
        <p:sp>
          <p:nvSpPr>
            <p:cNvPr id="69" name="矩形: 圓角 68">
              <a:extLst>
                <a:ext uri="{FF2B5EF4-FFF2-40B4-BE49-F238E27FC236}">
                  <a16:creationId xmlns:a16="http://schemas.microsoft.com/office/drawing/2014/main" id="{3437123B-690E-8873-082E-F7E553844E1A}"/>
                </a:ext>
              </a:extLst>
            </p:cNvPr>
            <p:cNvSpPr/>
            <p:nvPr/>
          </p:nvSpPr>
          <p:spPr bwMode="auto">
            <a:xfrm>
              <a:off x="7093255" y="4998365"/>
              <a:ext cx="1760772" cy="1056108"/>
            </a:xfrm>
            <a:prstGeom prst="roundRect">
              <a:avLst>
                <a:gd name="adj" fmla="val 4461"/>
              </a:avLst>
            </a:prstGeom>
            <a:noFill/>
            <a:ln w="22225" cap="flat" cmpd="sng" algn="ctr">
              <a:solidFill>
                <a:schemeClr val="accent1">
                  <a:lumMod val="75000"/>
                </a:schemeClr>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endParaRPr>
            </a:p>
          </p:txBody>
        </p:sp>
        <p:sp>
          <p:nvSpPr>
            <p:cNvPr id="70" name="矩形: 圓角 69">
              <a:extLst>
                <a:ext uri="{FF2B5EF4-FFF2-40B4-BE49-F238E27FC236}">
                  <a16:creationId xmlns:a16="http://schemas.microsoft.com/office/drawing/2014/main" id="{5AB3E110-A5DD-79B7-D2CC-B4095180361A}"/>
                </a:ext>
              </a:extLst>
            </p:cNvPr>
            <p:cNvSpPr/>
            <p:nvPr/>
          </p:nvSpPr>
          <p:spPr bwMode="auto">
            <a:xfrm>
              <a:off x="7231872" y="5071123"/>
              <a:ext cx="1500003" cy="569461"/>
            </a:xfrm>
            <a:prstGeom prst="roundRect">
              <a:avLst>
                <a:gd name="adj" fmla="val 4461"/>
              </a:avLst>
            </a:prstGeom>
            <a:solidFill>
              <a:srgbClr val="3C7BC7"/>
            </a:solidFill>
            <a:ln w="22225" cap="flat" cmpd="sng" algn="ctr">
              <a:solidFill>
                <a:srgbClr val="3B7BC8"/>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zh-TW" altLang="en-US" sz="1800" dirty="0">
                  <a:solidFill>
                    <a:schemeClr val="bg1"/>
                  </a:solidFill>
                  <a:latin typeface="微軟正黑體" panose="020B0604030504040204" pitchFamily="34" charset="-120"/>
                  <a:ea typeface="微軟正黑體" panose="020B0604030504040204" pitchFamily="34" charset="-120"/>
                </a:rPr>
                <a:t>地端正式</a:t>
              </a:r>
              <a:r>
                <a:rPr lang="en-US" altLang="zh-TW" sz="1800" dirty="0">
                  <a:solidFill>
                    <a:schemeClr val="bg1"/>
                  </a:solidFill>
                  <a:latin typeface="微軟正黑體" panose="020B0604030504040204" pitchFamily="34" charset="-120"/>
                  <a:ea typeface="微軟正黑體" panose="020B0604030504040204" pitchFamily="34" charset="-120"/>
                </a:rPr>
                <a:t>DB</a:t>
              </a:r>
              <a:br>
                <a:rPr lang="en-US" altLang="zh-TW" sz="1800" dirty="0">
                  <a:solidFill>
                    <a:schemeClr val="bg1"/>
                  </a:solidFill>
                  <a:latin typeface="微軟正黑體" panose="020B0604030504040204" pitchFamily="34" charset="-120"/>
                  <a:ea typeface="微軟正黑體" panose="020B0604030504040204" pitchFamily="34" charset="-120"/>
                </a:rPr>
              </a:br>
              <a:r>
                <a:rPr lang="en-US" altLang="zh-TW" sz="1800" dirty="0">
                  <a:solidFill>
                    <a:schemeClr val="bg1"/>
                  </a:solidFill>
                  <a:latin typeface="微軟正黑體" panose="020B0604030504040204" pitchFamily="34" charset="-120"/>
                  <a:ea typeface="微軟正黑體" panose="020B0604030504040204" pitchFamily="34" charset="-120"/>
                </a:rPr>
                <a:t>D100_Prod</a:t>
              </a:r>
              <a:br>
                <a:rPr lang="en-US" altLang="zh-TW" sz="1800" dirty="0">
                  <a:solidFill>
                    <a:schemeClr val="bg1"/>
                  </a:solidFill>
                  <a:latin typeface="微軟正黑體" panose="020B0604030504040204" pitchFamily="34" charset="-120"/>
                  <a:ea typeface="微軟正黑體" panose="020B0604030504040204" pitchFamily="34" charset="-120"/>
                </a:rPr>
              </a:br>
              <a:r>
                <a:rPr lang="en-US" altLang="zh-TW" sz="1800" dirty="0">
                  <a:solidFill>
                    <a:schemeClr val="bg1"/>
                  </a:solidFill>
                  <a:latin typeface="微軟正黑體" panose="020B0604030504040204" pitchFamily="34" charset="-120"/>
                  <a:ea typeface="微軟正黑體" panose="020B0604030504040204" pitchFamily="34" charset="-120"/>
                </a:rPr>
                <a:t> </a:t>
              </a:r>
              <a:r>
                <a:rPr lang="en-US" altLang="zh-TW" sz="1200" dirty="0">
                  <a:solidFill>
                    <a:schemeClr val="bg1"/>
                  </a:solidFill>
                  <a:latin typeface="微軟正黑體" panose="020B0604030504040204" pitchFamily="34" charset="-120"/>
                  <a:ea typeface="微軟正黑體" panose="020B0604030504040204" pitchFamily="34" charset="-120"/>
                </a:rPr>
                <a:t>(10.240.19.4)</a:t>
              </a:r>
              <a:r>
                <a:rPr lang="zh-TW" altLang="en-US" sz="1200" dirty="0">
                  <a:solidFill>
                    <a:schemeClr val="bg1"/>
                  </a:solidFill>
                  <a:latin typeface="微軟正黑體" panose="020B0604030504040204" pitchFamily="34" charset="-120"/>
                  <a:ea typeface="微軟正黑體" panose="020B0604030504040204" pitchFamily="34" charset="-120"/>
                </a:rPr>
                <a:t> </a:t>
              </a:r>
              <a:endParaRPr kumimoji="0" lang="zh-TW" altLang="en-US" sz="1200" b="1" i="0" u="none" strike="noStrike" cap="none" normalizeH="0" baseline="0" dirty="0">
                <a:ln>
                  <a:noFill/>
                </a:ln>
                <a:solidFill>
                  <a:schemeClr val="bg1"/>
                </a:solidFill>
                <a:effectLst/>
                <a:latin typeface="微軟正黑體" panose="020B0604030504040204" pitchFamily="34" charset="-120"/>
                <a:ea typeface="微軟正黑體" panose="020B0604030504040204" pitchFamily="34" charset="-120"/>
              </a:endParaRPr>
            </a:p>
          </p:txBody>
        </p:sp>
        <p:sp>
          <p:nvSpPr>
            <p:cNvPr id="71" name="文字方塊 70">
              <a:extLst>
                <a:ext uri="{FF2B5EF4-FFF2-40B4-BE49-F238E27FC236}">
                  <a16:creationId xmlns:a16="http://schemas.microsoft.com/office/drawing/2014/main" id="{50336AD1-560E-DC4B-E251-9E3D944D363C}"/>
                </a:ext>
              </a:extLst>
            </p:cNvPr>
            <p:cNvSpPr txBox="1"/>
            <p:nvPr/>
          </p:nvSpPr>
          <p:spPr>
            <a:xfrm>
              <a:off x="7231872" y="5697087"/>
              <a:ext cx="1480644" cy="294301"/>
            </a:xfrm>
            <a:prstGeom prst="rect">
              <a:avLst/>
            </a:prstGeom>
            <a:solidFill>
              <a:srgbClr val="3C7BC7"/>
            </a:solidFill>
            <a:ln>
              <a:solidFill>
                <a:srgbClr val="3C7BC7"/>
              </a:solidFill>
            </a:ln>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altLang="zh-TW" sz="1400" dirty="0">
                  <a:solidFill>
                    <a:schemeClr val="bg1"/>
                  </a:solidFill>
                  <a:latin typeface="微軟正黑體" panose="020B0604030504040204" pitchFamily="34" charset="-120"/>
                  <a:ea typeface="微軟正黑體" panose="020B0604030504040204" pitchFamily="34" charset="-120"/>
                </a:rPr>
                <a:t>MSSQL</a:t>
              </a:r>
            </a:p>
            <a:p>
              <a:pPr algn="ctr"/>
              <a:r>
                <a:rPr lang="en-US" altLang="zh-TW" sz="1400" dirty="0">
                  <a:solidFill>
                    <a:schemeClr val="bg1"/>
                  </a:solidFill>
                  <a:latin typeface="微軟正黑體" panose="020B0604030504040204" pitchFamily="34" charset="-120"/>
                  <a:ea typeface="微軟正黑體" panose="020B0604030504040204" pitchFamily="34" charset="-120"/>
                </a:rPr>
                <a:t>(</a:t>
              </a:r>
              <a:r>
                <a:rPr lang="zh-TW" altLang="en-US" sz="1400" dirty="0">
                  <a:solidFill>
                    <a:schemeClr val="bg1"/>
                  </a:solidFill>
                  <a:latin typeface="微軟正黑體" panose="020B0604030504040204" pitchFamily="34" charset="-120"/>
                  <a:ea typeface="微軟正黑體" panose="020B0604030504040204" pitchFamily="34" charset="-120"/>
                </a:rPr>
                <a:t>全集團共用</a:t>
              </a:r>
              <a:r>
                <a:rPr lang="en-US" altLang="zh-TW" sz="1400" dirty="0">
                  <a:solidFill>
                    <a:schemeClr val="bg1"/>
                  </a:solidFill>
                  <a:latin typeface="微軟正黑體" panose="020B0604030504040204" pitchFamily="34" charset="-120"/>
                  <a:ea typeface="微軟正黑體" panose="020B0604030504040204" pitchFamily="34" charset="-120"/>
                </a:rPr>
                <a:t>)</a:t>
              </a:r>
            </a:p>
          </p:txBody>
        </p:sp>
        <p:pic>
          <p:nvPicPr>
            <p:cNvPr id="73" name="圖片 72" descr="一張含有 黑色, 黑暗 的圖片&#10;&#10;自動產生的描述">
              <a:extLst>
                <a:ext uri="{FF2B5EF4-FFF2-40B4-BE49-F238E27FC236}">
                  <a16:creationId xmlns:a16="http://schemas.microsoft.com/office/drawing/2014/main" id="{E8F4464E-40AE-FA0E-826C-E992F337C987}"/>
                </a:ext>
              </a:extLst>
            </p:cNvPr>
            <p:cNvPicPr>
              <a:picLocks noChangeAspect="1"/>
            </p:cNvPicPr>
            <p:nvPr/>
          </p:nvPicPr>
          <p:blipFill rotWithShape="1">
            <a:blip r:embed="rId4">
              <a:extLst>
                <a:ext uri="{28A0092B-C50C-407E-A947-70E740481C1C}">
                  <a14:useLocalDpi xmlns:a14="http://schemas.microsoft.com/office/drawing/2010/main" val="0"/>
                </a:ext>
              </a:extLst>
            </a:blip>
            <a:srcRect l="21822" t="11976" r="16529" b="10596"/>
            <a:stretch/>
          </p:blipFill>
          <p:spPr>
            <a:xfrm>
              <a:off x="7231875" y="4671570"/>
              <a:ext cx="424743" cy="392660"/>
            </a:xfrm>
            <a:prstGeom prst="rect">
              <a:avLst/>
            </a:prstGeom>
          </p:spPr>
        </p:pic>
      </p:grpSp>
      <p:grpSp>
        <p:nvGrpSpPr>
          <p:cNvPr id="81" name="群組 80">
            <a:extLst>
              <a:ext uri="{FF2B5EF4-FFF2-40B4-BE49-F238E27FC236}">
                <a16:creationId xmlns:a16="http://schemas.microsoft.com/office/drawing/2014/main" id="{AC06591D-C6DA-7609-743E-86208783DD7E}"/>
              </a:ext>
            </a:extLst>
          </p:cNvPr>
          <p:cNvGrpSpPr/>
          <p:nvPr/>
        </p:nvGrpSpPr>
        <p:grpSpPr>
          <a:xfrm>
            <a:off x="7526591" y="1712241"/>
            <a:ext cx="1048333" cy="1256763"/>
            <a:chOff x="10832707" y="2324984"/>
            <a:chExt cx="1074813" cy="1099678"/>
          </a:xfrm>
        </p:grpSpPr>
        <p:sp>
          <p:nvSpPr>
            <p:cNvPr id="82" name="矩形: 圓角 81">
              <a:extLst>
                <a:ext uri="{FF2B5EF4-FFF2-40B4-BE49-F238E27FC236}">
                  <a16:creationId xmlns:a16="http://schemas.microsoft.com/office/drawing/2014/main" id="{974A8664-2BEC-8A2D-3333-12E39273D4DE}"/>
                </a:ext>
              </a:extLst>
            </p:cNvPr>
            <p:cNvSpPr/>
            <p:nvPr/>
          </p:nvSpPr>
          <p:spPr bwMode="auto">
            <a:xfrm>
              <a:off x="10936810" y="2787114"/>
              <a:ext cx="810625" cy="637548"/>
            </a:xfrm>
            <a:prstGeom prst="roundRect">
              <a:avLst>
                <a:gd name="adj" fmla="val 3278"/>
              </a:avLst>
            </a:prstGeom>
            <a:noFill/>
            <a:ln w="222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endParaRPr>
            </a:p>
          </p:txBody>
        </p:sp>
        <p:grpSp>
          <p:nvGrpSpPr>
            <p:cNvPr id="83" name="群組 82">
              <a:extLst>
                <a:ext uri="{FF2B5EF4-FFF2-40B4-BE49-F238E27FC236}">
                  <a16:creationId xmlns:a16="http://schemas.microsoft.com/office/drawing/2014/main" id="{3053B57E-961A-E6E5-D192-2306D5A10BA5}"/>
                </a:ext>
              </a:extLst>
            </p:cNvPr>
            <p:cNvGrpSpPr/>
            <p:nvPr/>
          </p:nvGrpSpPr>
          <p:grpSpPr>
            <a:xfrm>
              <a:off x="10832707" y="2324984"/>
              <a:ext cx="1074813" cy="1040197"/>
              <a:chOff x="10832707" y="2324984"/>
              <a:chExt cx="1074813" cy="1040197"/>
            </a:xfrm>
          </p:grpSpPr>
          <p:sp>
            <p:nvSpPr>
              <p:cNvPr id="84" name="文字方塊 83">
                <a:extLst>
                  <a:ext uri="{FF2B5EF4-FFF2-40B4-BE49-F238E27FC236}">
                    <a16:creationId xmlns:a16="http://schemas.microsoft.com/office/drawing/2014/main" id="{6528828C-2415-ABAF-1F46-3072996B232B}"/>
                  </a:ext>
                </a:extLst>
              </p:cNvPr>
              <p:cNvSpPr txBox="1"/>
              <p:nvPr/>
            </p:nvSpPr>
            <p:spPr>
              <a:xfrm>
                <a:off x="10832707" y="2324984"/>
                <a:ext cx="1074813" cy="403961"/>
              </a:xfrm>
              <a:prstGeom prst="rect">
                <a:avLst/>
              </a:prstGeom>
              <a:solidFill>
                <a:schemeClr val="tx1"/>
              </a:solidFill>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zh-TW" altLang="en-US" sz="1200" dirty="0">
                    <a:solidFill>
                      <a:schemeClr val="bg1"/>
                    </a:solidFill>
                    <a:latin typeface="微軟正黑體" panose="020B0604030504040204" pitchFamily="34" charset="-120"/>
                    <a:ea typeface="微軟正黑體" panose="020B0604030504040204" pitchFamily="34" charset="-120"/>
                  </a:rPr>
                  <a:t>正式環境</a:t>
                </a:r>
                <a:br>
                  <a:rPr lang="en-US" altLang="zh-TW" sz="1200" dirty="0">
                    <a:solidFill>
                      <a:schemeClr val="bg1"/>
                    </a:solidFill>
                    <a:latin typeface="微軟正黑體" panose="020B0604030504040204" pitchFamily="34" charset="-120"/>
                    <a:ea typeface="微軟正黑體" panose="020B0604030504040204" pitchFamily="34" charset="-120"/>
                  </a:rPr>
                </a:br>
                <a:r>
                  <a:rPr lang="en-US" altLang="zh-TW" sz="1200" dirty="0">
                    <a:solidFill>
                      <a:schemeClr val="bg1"/>
                    </a:solidFill>
                    <a:latin typeface="微軟正黑體" panose="020B0604030504040204" pitchFamily="34" charset="-120"/>
                    <a:ea typeface="微軟正黑體" panose="020B0604030504040204" pitchFamily="34" charset="-120"/>
                  </a:rPr>
                  <a:t>AI</a:t>
                </a:r>
                <a:r>
                  <a:rPr lang="zh-TW" altLang="en-US" sz="1200" dirty="0">
                    <a:solidFill>
                      <a:schemeClr val="bg1"/>
                    </a:solidFill>
                    <a:latin typeface="微軟正黑體" panose="020B0604030504040204" pitchFamily="34" charset="-120"/>
                    <a:ea typeface="微軟正黑體" panose="020B0604030504040204" pitchFamily="34" charset="-120"/>
                  </a:rPr>
                  <a:t>組應用</a:t>
                </a:r>
                <a:endParaRPr lang="en-US" altLang="zh-TW" sz="1200" dirty="0">
                  <a:solidFill>
                    <a:schemeClr val="bg1"/>
                  </a:solidFill>
                  <a:latin typeface="微軟正黑體" panose="020B0604030504040204" pitchFamily="34" charset="-120"/>
                  <a:ea typeface="微軟正黑體" panose="020B0604030504040204" pitchFamily="34" charset="-120"/>
                </a:endParaRPr>
              </a:p>
            </p:txBody>
          </p:sp>
          <p:grpSp>
            <p:nvGrpSpPr>
              <p:cNvPr id="85" name="Google Shape;10665;p90">
                <a:extLst>
                  <a:ext uri="{FF2B5EF4-FFF2-40B4-BE49-F238E27FC236}">
                    <a16:creationId xmlns:a16="http://schemas.microsoft.com/office/drawing/2014/main" id="{94685D1A-55B7-DB1B-8CCF-B762F6DADBE2}"/>
                  </a:ext>
                </a:extLst>
              </p:cNvPr>
              <p:cNvGrpSpPr/>
              <p:nvPr/>
            </p:nvGrpSpPr>
            <p:grpSpPr>
              <a:xfrm>
                <a:off x="10970833" y="2780273"/>
                <a:ext cx="586126" cy="584908"/>
                <a:chOff x="2633105" y="2431859"/>
                <a:chExt cx="363243" cy="328585"/>
              </a:xfrm>
            </p:grpSpPr>
            <p:sp>
              <p:nvSpPr>
                <p:cNvPr id="86" name="Google Shape;10666;p90">
                  <a:extLst>
                    <a:ext uri="{FF2B5EF4-FFF2-40B4-BE49-F238E27FC236}">
                      <a16:creationId xmlns:a16="http://schemas.microsoft.com/office/drawing/2014/main" id="{DBEA4AEE-6BB5-922D-8920-CD8E1A6BB377}"/>
                    </a:ext>
                  </a:extLst>
                </p:cNvPr>
                <p:cNvSpPr/>
                <p:nvPr/>
              </p:nvSpPr>
              <p:spPr>
                <a:xfrm>
                  <a:off x="2633105" y="2498260"/>
                  <a:ext cx="250462" cy="262184"/>
                </a:xfrm>
                <a:custGeom>
                  <a:avLst/>
                  <a:gdLst/>
                  <a:ahLst/>
                  <a:cxnLst/>
                  <a:rect l="l" t="t" r="r" b="b"/>
                  <a:pathLst>
                    <a:path w="7906" h="8276" extrusionOk="0">
                      <a:moveTo>
                        <a:pt x="5322" y="6644"/>
                      </a:moveTo>
                      <a:lnTo>
                        <a:pt x="5465" y="7263"/>
                      </a:lnTo>
                      <a:lnTo>
                        <a:pt x="4560" y="7263"/>
                      </a:lnTo>
                      <a:lnTo>
                        <a:pt x="4691" y="6644"/>
                      </a:lnTo>
                      <a:close/>
                      <a:moveTo>
                        <a:pt x="6465" y="7608"/>
                      </a:moveTo>
                      <a:lnTo>
                        <a:pt x="6465" y="7954"/>
                      </a:lnTo>
                      <a:lnTo>
                        <a:pt x="3548" y="7954"/>
                      </a:lnTo>
                      <a:lnTo>
                        <a:pt x="3548" y="7608"/>
                      </a:lnTo>
                      <a:close/>
                      <a:moveTo>
                        <a:pt x="167" y="0"/>
                      </a:moveTo>
                      <a:cubicBezTo>
                        <a:pt x="84" y="0"/>
                        <a:pt x="0" y="72"/>
                        <a:pt x="0" y="167"/>
                      </a:cubicBezTo>
                      <a:lnTo>
                        <a:pt x="0" y="6489"/>
                      </a:lnTo>
                      <a:cubicBezTo>
                        <a:pt x="0" y="6585"/>
                        <a:pt x="84" y="6656"/>
                        <a:pt x="167" y="6656"/>
                      </a:cubicBezTo>
                      <a:lnTo>
                        <a:pt x="4346" y="6656"/>
                      </a:lnTo>
                      <a:lnTo>
                        <a:pt x="4203" y="7287"/>
                      </a:lnTo>
                      <a:lnTo>
                        <a:pt x="3370" y="7287"/>
                      </a:lnTo>
                      <a:cubicBezTo>
                        <a:pt x="3274" y="7287"/>
                        <a:pt x="3203" y="7358"/>
                        <a:pt x="3203" y="7442"/>
                      </a:cubicBezTo>
                      <a:lnTo>
                        <a:pt x="3203" y="8120"/>
                      </a:lnTo>
                      <a:cubicBezTo>
                        <a:pt x="3203" y="8204"/>
                        <a:pt x="3274" y="8275"/>
                        <a:pt x="3370" y="8275"/>
                      </a:cubicBezTo>
                      <a:lnTo>
                        <a:pt x="6632" y="8275"/>
                      </a:lnTo>
                      <a:cubicBezTo>
                        <a:pt x="6715" y="8275"/>
                        <a:pt x="6787" y="8204"/>
                        <a:pt x="6787" y="8120"/>
                      </a:cubicBezTo>
                      <a:lnTo>
                        <a:pt x="6787" y="7442"/>
                      </a:lnTo>
                      <a:cubicBezTo>
                        <a:pt x="6787" y="7358"/>
                        <a:pt x="6715" y="7287"/>
                        <a:pt x="6632" y="7287"/>
                      </a:cubicBezTo>
                      <a:lnTo>
                        <a:pt x="5787" y="7287"/>
                      </a:lnTo>
                      <a:lnTo>
                        <a:pt x="5644" y="6656"/>
                      </a:lnTo>
                      <a:lnTo>
                        <a:pt x="7727" y="6656"/>
                      </a:lnTo>
                      <a:cubicBezTo>
                        <a:pt x="7823" y="6656"/>
                        <a:pt x="7894" y="6585"/>
                        <a:pt x="7894" y="6489"/>
                      </a:cubicBezTo>
                      <a:cubicBezTo>
                        <a:pt x="7906" y="6394"/>
                        <a:pt x="7834" y="6311"/>
                        <a:pt x="7739" y="6311"/>
                      </a:cubicBezTo>
                      <a:lnTo>
                        <a:pt x="345" y="6311"/>
                      </a:lnTo>
                      <a:lnTo>
                        <a:pt x="345" y="334"/>
                      </a:lnTo>
                      <a:lnTo>
                        <a:pt x="4763" y="334"/>
                      </a:lnTo>
                      <a:cubicBezTo>
                        <a:pt x="4858" y="334"/>
                        <a:pt x="4929" y="262"/>
                        <a:pt x="4929" y="167"/>
                      </a:cubicBezTo>
                      <a:cubicBezTo>
                        <a:pt x="4929" y="72"/>
                        <a:pt x="4858" y="0"/>
                        <a:pt x="4763"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微軟正黑體" panose="020B0604030504040204" pitchFamily="34" charset="-120"/>
                    <a:ea typeface="微軟正黑體" panose="020B0604030504040204" pitchFamily="34" charset="-120"/>
                  </a:endParaRPr>
                </a:p>
              </p:txBody>
            </p:sp>
            <p:sp>
              <p:nvSpPr>
                <p:cNvPr id="87" name="Google Shape;10667;p90">
                  <a:extLst>
                    <a:ext uri="{FF2B5EF4-FFF2-40B4-BE49-F238E27FC236}">
                      <a16:creationId xmlns:a16="http://schemas.microsoft.com/office/drawing/2014/main" id="{E33800FE-2663-F94F-1DBD-401B0356546A}"/>
                    </a:ext>
                  </a:extLst>
                </p:cNvPr>
                <p:cNvSpPr/>
                <p:nvPr/>
              </p:nvSpPr>
              <p:spPr>
                <a:xfrm>
                  <a:off x="2772655" y="2680800"/>
                  <a:ext cx="38491" cy="10613"/>
                </a:xfrm>
                <a:custGeom>
                  <a:avLst/>
                  <a:gdLst/>
                  <a:ahLst/>
                  <a:cxnLst/>
                  <a:rect l="l" t="t" r="r" b="b"/>
                  <a:pathLst>
                    <a:path w="1215" h="335" extrusionOk="0">
                      <a:moveTo>
                        <a:pt x="167" y="1"/>
                      </a:moveTo>
                      <a:cubicBezTo>
                        <a:pt x="84" y="1"/>
                        <a:pt x="0" y="72"/>
                        <a:pt x="0" y="168"/>
                      </a:cubicBezTo>
                      <a:cubicBezTo>
                        <a:pt x="0" y="251"/>
                        <a:pt x="84" y="334"/>
                        <a:pt x="167" y="334"/>
                      </a:cubicBezTo>
                      <a:lnTo>
                        <a:pt x="1048" y="334"/>
                      </a:lnTo>
                      <a:cubicBezTo>
                        <a:pt x="1132" y="334"/>
                        <a:pt x="1215" y="251"/>
                        <a:pt x="1215" y="168"/>
                      </a:cubicBezTo>
                      <a:cubicBezTo>
                        <a:pt x="1215" y="72"/>
                        <a:pt x="1132" y="1"/>
                        <a:pt x="1048" y="1"/>
                      </a:cubicBez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微軟正黑體" panose="020B0604030504040204" pitchFamily="34" charset="-120"/>
                    <a:ea typeface="微軟正黑體" panose="020B0604030504040204" pitchFamily="34" charset="-120"/>
                  </a:endParaRPr>
                </a:p>
              </p:txBody>
            </p:sp>
            <p:sp>
              <p:nvSpPr>
                <p:cNvPr id="88" name="Google Shape;10668;p90">
                  <a:extLst>
                    <a:ext uri="{FF2B5EF4-FFF2-40B4-BE49-F238E27FC236}">
                      <a16:creationId xmlns:a16="http://schemas.microsoft.com/office/drawing/2014/main" id="{8F319B53-0090-A8F8-E54B-BE1FFCDB6EEF}"/>
                    </a:ext>
                  </a:extLst>
                </p:cNvPr>
                <p:cNvSpPr/>
                <p:nvPr/>
              </p:nvSpPr>
              <p:spPr>
                <a:xfrm>
                  <a:off x="2729286" y="2583131"/>
                  <a:ext cx="35862" cy="35862"/>
                </a:xfrm>
                <a:custGeom>
                  <a:avLst/>
                  <a:gdLst/>
                  <a:ahLst/>
                  <a:cxnLst/>
                  <a:rect l="l" t="t" r="r" b="b"/>
                  <a:pathLst>
                    <a:path w="1132" h="1132" extrusionOk="0">
                      <a:moveTo>
                        <a:pt x="798" y="334"/>
                      </a:moveTo>
                      <a:lnTo>
                        <a:pt x="798" y="810"/>
                      </a:lnTo>
                      <a:lnTo>
                        <a:pt x="334" y="810"/>
                      </a:lnTo>
                      <a:lnTo>
                        <a:pt x="334" y="334"/>
                      </a:lnTo>
                      <a:close/>
                      <a:moveTo>
                        <a:pt x="167" y="0"/>
                      </a:moveTo>
                      <a:cubicBezTo>
                        <a:pt x="84" y="0"/>
                        <a:pt x="0" y="84"/>
                        <a:pt x="0" y="167"/>
                      </a:cubicBezTo>
                      <a:lnTo>
                        <a:pt x="0" y="977"/>
                      </a:lnTo>
                      <a:cubicBezTo>
                        <a:pt x="0" y="1060"/>
                        <a:pt x="84" y="1131"/>
                        <a:pt x="167" y="1131"/>
                      </a:cubicBezTo>
                      <a:lnTo>
                        <a:pt x="953" y="1131"/>
                      </a:lnTo>
                      <a:cubicBezTo>
                        <a:pt x="1048" y="1131"/>
                        <a:pt x="1119" y="1060"/>
                        <a:pt x="1119" y="977"/>
                      </a:cubicBezTo>
                      <a:lnTo>
                        <a:pt x="1119" y="167"/>
                      </a:lnTo>
                      <a:cubicBezTo>
                        <a:pt x="1131" y="84"/>
                        <a:pt x="1060" y="0"/>
                        <a:pt x="953" y="0"/>
                      </a:cubicBez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微軟正黑體" panose="020B0604030504040204" pitchFamily="34" charset="-120"/>
                    <a:ea typeface="微軟正黑體" panose="020B0604030504040204" pitchFamily="34" charset="-120"/>
                  </a:endParaRPr>
                </a:p>
              </p:txBody>
            </p:sp>
            <p:sp>
              <p:nvSpPr>
                <p:cNvPr id="89" name="Google Shape;10669;p90">
                  <a:extLst>
                    <a:ext uri="{FF2B5EF4-FFF2-40B4-BE49-F238E27FC236}">
                      <a16:creationId xmlns:a16="http://schemas.microsoft.com/office/drawing/2014/main" id="{9125FE40-4A1E-A846-D18B-53965ABCA4F0}"/>
                    </a:ext>
                  </a:extLst>
                </p:cNvPr>
                <p:cNvSpPr/>
                <p:nvPr/>
              </p:nvSpPr>
              <p:spPr>
                <a:xfrm>
                  <a:off x="2774176" y="2583131"/>
                  <a:ext cx="35482" cy="35862"/>
                </a:xfrm>
                <a:custGeom>
                  <a:avLst/>
                  <a:gdLst/>
                  <a:ahLst/>
                  <a:cxnLst/>
                  <a:rect l="l" t="t" r="r" b="b"/>
                  <a:pathLst>
                    <a:path w="1120" h="1132" extrusionOk="0">
                      <a:moveTo>
                        <a:pt x="786" y="334"/>
                      </a:moveTo>
                      <a:lnTo>
                        <a:pt x="786" y="810"/>
                      </a:lnTo>
                      <a:lnTo>
                        <a:pt x="333" y="810"/>
                      </a:lnTo>
                      <a:lnTo>
                        <a:pt x="333" y="334"/>
                      </a:lnTo>
                      <a:close/>
                      <a:moveTo>
                        <a:pt x="167" y="0"/>
                      </a:moveTo>
                      <a:cubicBezTo>
                        <a:pt x="72" y="0"/>
                        <a:pt x="0" y="84"/>
                        <a:pt x="0" y="167"/>
                      </a:cubicBezTo>
                      <a:lnTo>
                        <a:pt x="0" y="977"/>
                      </a:lnTo>
                      <a:cubicBezTo>
                        <a:pt x="0" y="1060"/>
                        <a:pt x="72" y="1131"/>
                        <a:pt x="167" y="1131"/>
                      </a:cubicBezTo>
                      <a:lnTo>
                        <a:pt x="953" y="1131"/>
                      </a:lnTo>
                      <a:cubicBezTo>
                        <a:pt x="1048" y="1131"/>
                        <a:pt x="1119" y="1060"/>
                        <a:pt x="1119" y="977"/>
                      </a:cubicBezTo>
                      <a:lnTo>
                        <a:pt x="1119" y="167"/>
                      </a:lnTo>
                      <a:cubicBezTo>
                        <a:pt x="1119" y="84"/>
                        <a:pt x="1036" y="0"/>
                        <a:pt x="953" y="0"/>
                      </a:cubicBez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微軟正黑體" panose="020B0604030504040204" pitchFamily="34" charset="-120"/>
                    <a:ea typeface="微軟正黑體" panose="020B0604030504040204" pitchFamily="34" charset="-120"/>
                  </a:endParaRPr>
                </a:p>
              </p:txBody>
            </p:sp>
            <p:sp>
              <p:nvSpPr>
                <p:cNvPr id="90" name="Google Shape;10670;p90">
                  <a:extLst>
                    <a:ext uri="{FF2B5EF4-FFF2-40B4-BE49-F238E27FC236}">
                      <a16:creationId xmlns:a16="http://schemas.microsoft.com/office/drawing/2014/main" id="{AF353EB8-FFB8-BBE6-D6A3-98AD6BB95A01}"/>
                    </a:ext>
                  </a:extLst>
                </p:cNvPr>
                <p:cNvSpPr/>
                <p:nvPr/>
              </p:nvSpPr>
              <p:spPr>
                <a:xfrm>
                  <a:off x="2817926" y="2583131"/>
                  <a:ext cx="35862" cy="35862"/>
                </a:xfrm>
                <a:custGeom>
                  <a:avLst/>
                  <a:gdLst/>
                  <a:ahLst/>
                  <a:cxnLst/>
                  <a:rect l="l" t="t" r="r" b="b"/>
                  <a:pathLst>
                    <a:path w="1132" h="1132" extrusionOk="0">
                      <a:moveTo>
                        <a:pt x="798" y="334"/>
                      </a:moveTo>
                      <a:lnTo>
                        <a:pt x="798" y="810"/>
                      </a:lnTo>
                      <a:lnTo>
                        <a:pt x="334" y="810"/>
                      </a:lnTo>
                      <a:lnTo>
                        <a:pt x="334" y="334"/>
                      </a:lnTo>
                      <a:close/>
                      <a:moveTo>
                        <a:pt x="167" y="0"/>
                      </a:moveTo>
                      <a:cubicBezTo>
                        <a:pt x="84" y="0"/>
                        <a:pt x="0" y="84"/>
                        <a:pt x="0" y="167"/>
                      </a:cubicBezTo>
                      <a:lnTo>
                        <a:pt x="0" y="977"/>
                      </a:lnTo>
                      <a:cubicBezTo>
                        <a:pt x="0" y="1060"/>
                        <a:pt x="84" y="1131"/>
                        <a:pt x="167" y="1131"/>
                      </a:cubicBezTo>
                      <a:lnTo>
                        <a:pt x="953" y="1131"/>
                      </a:lnTo>
                      <a:cubicBezTo>
                        <a:pt x="1048" y="1131"/>
                        <a:pt x="1119" y="1060"/>
                        <a:pt x="1119" y="977"/>
                      </a:cubicBezTo>
                      <a:lnTo>
                        <a:pt x="1119" y="167"/>
                      </a:lnTo>
                      <a:cubicBezTo>
                        <a:pt x="1131" y="84"/>
                        <a:pt x="1060" y="0"/>
                        <a:pt x="953" y="0"/>
                      </a:cubicBez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微軟正黑體" panose="020B0604030504040204" pitchFamily="34" charset="-120"/>
                    <a:ea typeface="微軟正黑體" panose="020B0604030504040204" pitchFamily="34" charset="-120"/>
                  </a:endParaRPr>
                </a:p>
              </p:txBody>
            </p:sp>
            <p:sp>
              <p:nvSpPr>
                <p:cNvPr id="91" name="Google Shape;10671;p90">
                  <a:extLst>
                    <a:ext uri="{FF2B5EF4-FFF2-40B4-BE49-F238E27FC236}">
                      <a16:creationId xmlns:a16="http://schemas.microsoft.com/office/drawing/2014/main" id="{330BECF7-D914-0AD6-96A8-D69BD5633D43}"/>
                    </a:ext>
                  </a:extLst>
                </p:cNvPr>
                <p:cNvSpPr/>
                <p:nvPr/>
              </p:nvSpPr>
              <p:spPr>
                <a:xfrm>
                  <a:off x="2653475" y="2431859"/>
                  <a:ext cx="342873" cy="275394"/>
                </a:xfrm>
                <a:custGeom>
                  <a:avLst/>
                  <a:gdLst/>
                  <a:ahLst/>
                  <a:cxnLst/>
                  <a:rect l="l" t="t" r="r" b="b"/>
                  <a:pathLst>
                    <a:path w="10823" h="8693" extrusionOk="0">
                      <a:moveTo>
                        <a:pt x="6429" y="3001"/>
                      </a:moveTo>
                      <a:cubicBezTo>
                        <a:pt x="6715" y="3870"/>
                        <a:pt x="7489" y="4513"/>
                        <a:pt x="8406" y="4585"/>
                      </a:cubicBezTo>
                      <a:lnTo>
                        <a:pt x="8406" y="7359"/>
                      </a:lnTo>
                      <a:lnTo>
                        <a:pt x="310" y="7359"/>
                      </a:lnTo>
                      <a:lnTo>
                        <a:pt x="310" y="3001"/>
                      </a:lnTo>
                      <a:close/>
                      <a:moveTo>
                        <a:pt x="8608" y="1"/>
                      </a:moveTo>
                      <a:cubicBezTo>
                        <a:pt x="7430" y="1"/>
                        <a:pt x="6477" y="906"/>
                        <a:pt x="6358" y="2073"/>
                      </a:cubicBezTo>
                      <a:lnTo>
                        <a:pt x="4798" y="2073"/>
                      </a:lnTo>
                      <a:cubicBezTo>
                        <a:pt x="4703" y="2073"/>
                        <a:pt x="4632" y="2144"/>
                        <a:pt x="4632" y="2239"/>
                      </a:cubicBezTo>
                      <a:cubicBezTo>
                        <a:pt x="4632" y="2323"/>
                        <a:pt x="4703" y="2394"/>
                        <a:pt x="4798" y="2394"/>
                      </a:cubicBezTo>
                      <a:lnTo>
                        <a:pt x="6334" y="2394"/>
                      </a:lnTo>
                      <a:cubicBezTo>
                        <a:pt x="6334" y="2489"/>
                        <a:pt x="6358" y="2561"/>
                        <a:pt x="6370" y="2656"/>
                      </a:cubicBezTo>
                      <a:lnTo>
                        <a:pt x="167" y="2656"/>
                      </a:lnTo>
                      <a:cubicBezTo>
                        <a:pt x="72" y="2656"/>
                        <a:pt x="0" y="2727"/>
                        <a:pt x="0" y="2811"/>
                      </a:cubicBezTo>
                      <a:lnTo>
                        <a:pt x="0" y="7502"/>
                      </a:lnTo>
                      <a:cubicBezTo>
                        <a:pt x="0" y="7597"/>
                        <a:pt x="72" y="7668"/>
                        <a:pt x="167" y="7668"/>
                      </a:cubicBezTo>
                      <a:lnTo>
                        <a:pt x="8608" y="7668"/>
                      </a:lnTo>
                      <a:cubicBezTo>
                        <a:pt x="8692" y="7668"/>
                        <a:pt x="8763" y="7597"/>
                        <a:pt x="8763" y="7502"/>
                      </a:cubicBezTo>
                      <a:lnTo>
                        <a:pt x="8763" y="4561"/>
                      </a:lnTo>
                      <a:cubicBezTo>
                        <a:pt x="8858" y="4561"/>
                        <a:pt x="8966" y="4537"/>
                        <a:pt x="9049" y="4513"/>
                      </a:cubicBezTo>
                      <a:lnTo>
                        <a:pt x="9049" y="8371"/>
                      </a:lnTo>
                      <a:lnTo>
                        <a:pt x="7787" y="8371"/>
                      </a:lnTo>
                      <a:cubicBezTo>
                        <a:pt x="7692" y="8371"/>
                        <a:pt x="7620" y="8442"/>
                        <a:pt x="7620" y="8526"/>
                      </a:cubicBezTo>
                      <a:cubicBezTo>
                        <a:pt x="7620" y="8621"/>
                        <a:pt x="7692" y="8692"/>
                        <a:pt x="7787" y="8692"/>
                      </a:cubicBezTo>
                      <a:lnTo>
                        <a:pt x="9216" y="8692"/>
                      </a:lnTo>
                      <a:cubicBezTo>
                        <a:pt x="9299" y="8692"/>
                        <a:pt x="9382" y="8621"/>
                        <a:pt x="9382" y="8526"/>
                      </a:cubicBezTo>
                      <a:lnTo>
                        <a:pt x="9382" y="4406"/>
                      </a:lnTo>
                      <a:cubicBezTo>
                        <a:pt x="9632" y="4323"/>
                        <a:pt x="9858" y="4180"/>
                        <a:pt x="10061" y="4001"/>
                      </a:cubicBezTo>
                      <a:cubicBezTo>
                        <a:pt x="10466" y="3644"/>
                        <a:pt x="10728" y="3168"/>
                        <a:pt x="10823" y="2632"/>
                      </a:cubicBezTo>
                      <a:cubicBezTo>
                        <a:pt x="10823" y="2596"/>
                        <a:pt x="10763" y="2501"/>
                        <a:pt x="10668" y="2489"/>
                      </a:cubicBezTo>
                      <a:cubicBezTo>
                        <a:pt x="10656" y="2486"/>
                        <a:pt x="10643" y="2484"/>
                        <a:pt x="10630" y="2484"/>
                      </a:cubicBezTo>
                      <a:cubicBezTo>
                        <a:pt x="10558" y="2484"/>
                        <a:pt x="10488" y="2539"/>
                        <a:pt x="10478" y="2620"/>
                      </a:cubicBezTo>
                      <a:cubicBezTo>
                        <a:pt x="10359" y="3358"/>
                        <a:pt x="9835" y="3942"/>
                        <a:pt x="9168" y="4156"/>
                      </a:cubicBezTo>
                      <a:lnTo>
                        <a:pt x="9144" y="4156"/>
                      </a:lnTo>
                      <a:cubicBezTo>
                        <a:pt x="8966" y="4216"/>
                        <a:pt x="8763" y="4239"/>
                        <a:pt x="8573" y="4239"/>
                      </a:cubicBezTo>
                      <a:cubicBezTo>
                        <a:pt x="7513" y="4239"/>
                        <a:pt x="6656" y="3358"/>
                        <a:pt x="6656" y="2287"/>
                      </a:cubicBezTo>
                      <a:cubicBezTo>
                        <a:pt x="6656" y="1215"/>
                        <a:pt x="7513" y="346"/>
                        <a:pt x="8573" y="346"/>
                      </a:cubicBezTo>
                      <a:cubicBezTo>
                        <a:pt x="9513" y="346"/>
                        <a:pt x="10335" y="1061"/>
                        <a:pt x="10478" y="1989"/>
                      </a:cubicBezTo>
                      <a:cubicBezTo>
                        <a:pt x="10490" y="2084"/>
                        <a:pt x="10585" y="2144"/>
                        <a:pt x="10668" y="2144"/>
                      </a:cubicBezTo>
                      <a:cubicBezTo>
                        <a:pt x="10763" y="2132"/>
                        <a:pt x="10823" y="2037"/>
                        <a:pt x="10823" y="1953"/>
                      </a:cubicBezTo>
                      <a:cubicBezTo>
                        <a:pt x="10751" y="1418"/>
                        <a:pt x="10478" y="918"/>
                        <a:pt x="10073" y="572"/>
                      </a:cubicBezTo>
                      <a:cubicBezTo>
                        <a:pt x="9656" y="215"/>
                        <a:pt x="9144" y="1"/>
                        <a:pt x="8608"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微軟正黑體" panose="020B0604030504040204" pitchFamily="34" charset="-120"/>
                    <a:ea typeface="微軟正黑體" panose="020B0604030504040204" pitchFamily="34" charset="-120"/>
                  </a:endParaRPr>
                </a:p>
              </p:txBody>
            </p:sp>
            <p:sp>
              <p:nvSpPr>
                <p:cNvPr id="92" name="Google Shape;10672;p90">
                  <a:extLst>
                    <a:ext uri="{FF2B5EF4-FFF2-40B4-BE49-F238E27FC236}">
                      <a16:creationId xmlns:a16="http://schemas.microsoft.com/office/drawing/2014/main" id="{BAFAA244-66D6-6728-977A-2013D5040230}"/>
                    </a:ext>
                  </a:extLst>
                </p:cNvPr>
                <p:cNvSpPr/>
                <p:nvPr/>
              </p:nvSpPr>
              <p:spPr>
                <a:xfrm>
                  <a:off x="2881286" y="2460529"/>
                  <a:ext cx="87532" cy="87912"/>
                </a:xfrm>
                <a:custGeom>
                  <a:avLst/>
                  <a:gdLst/>
                  <a:ahLst/>
                  <a:cxnLst/>
                  <a:rect l="l" t="t" r="r" b="b"/>
                  <a:pathLst>
                    <a:path w="2763" h="2775" extrusionOk="0">
                      <a:moveTo>
                        <a:pt x="1414" y="703"/>
                      </a:moveTo>
                      <a:cubicBezTo>
                        <a:pt x="1786" y="703"/>
                        <a:pt x="2084" y="1020"/>
                        <a:pt x="2084" y="1406"/>
                      </a:cubicBezTo>
                      <a:cubicBezTo>
                        <a:pt x="2084" y="1787"/>
                        <a:pt x="1775" y="2108"/>
                        <a:pt x="1394" y="2108"/>
                      </a:cubicBezTo>
                      <a:cubicBezTo>
                        <a:pt x="1013" y="2108"/>
                        <a:pt x="715" y="1787"/>
                        <a:pt x="715" y="1406"/>
                      </a:cubicBezTo>
                      <a:cubicBezTo>
                        <a:pt x="715" y="1013"/>
                        <a:pt x="1024" y="703"/>
                        <a:pt x="1394" y="703"/>
                      </a:cubicBezTo>
                      <a:cubicBezTo>
                        <a:pt x="1400" y="703"/>
                        <a:pt x="1407" y="703"/>
                        <a:pt x="1414" y="703"/>
                      </a:cubicBezTo>
                      <a:close/>
                      <a:moveTo>
                        <a:pt x="1382" y="1"/>
                      </a:moveTo>
                      <a:cubicBezTo>
                        <a:pt x="1286" y="1"/>
                        <a:pt x="1215" y="72"/>
                        <a:pt x="1215" y="167"/>
                      </a:cubicBezTo>
                      <a:lnTo>
                        <a:pt x="1215" y="370"/>
                      </a:lnTo>
                      <a:cubicBezTo>
                        <a:pt x="1048" y="406"/>
                        <a:pt x="917" y="465"/>
                        <a:pt x="786" y="560"/>
                      </a:cubicBezTo>
                      <a:lnTo>
                        <a:pt x="632" y="406"/>
                      </a:lnTo>
                      <a:cubicBezTo>
                        <a:pt x="607" y="374"/>
                        <a:pt x="559" y="356"/>
                        <a:pt x="511" y="356"/>
                      </a:cubicBezTo>
                      <a:cubicBezTo>
                        <a:pt x="467" y="356"/>
                        <a:pt x="422" y="371"/>
                        <a:pt x="393" y="406"/>
                      </a:cubicBezTo>
                      <a:cubicBezTo>
                        <a:pt x="334" y="465"/>
                        <a:pt x="322" y="584"/>
                        <a:pt x="393" y="644"/>
                      </a:cubicBezTo>
                      <a:lnTo>
                        <a:pt x="548" y="798"/>
                      </a:lnTo>
                      <a:cubicBezTo>
                        <a:pt x="453" y="929"/>
                        <a:pt x="393" y="1072"/>
                        <a:pt x="370" y="1227"/>
                      </a:cubicBezTo>
                      <a:lnTo>
                        <a:pt x="155" y="1227"/>
                      </a:lnTo>
                      <a:cubicBezTo>
                        <a:pt x="72" y="1227"/>
                        <a:pt x="0" y="1299"/>
                        <a:pt x="0" y="1394"/>
                      </a:cubicBezTo>
                      <a:cubicBezTo>
                        <a:pt x="0" y="1477"/>
                        <a:pt x="72" y="1549"/>
                        <a:pt x="155" y="1549"/>
                      </a:cubicBezTo>
                      <a:lnTo>
                        <a:pt x="370" y="1549"/>
                      </a:lnTo>
                      <a:cubicBezTo>
                        <a:pt x="393" y="1715"/>
                        <a:pt x="453" y="1870"/>
                        <a:pt x="548" y="1989"/>
                      </a:cubicBezTo>
                      <a:lnTo>
                        <a:pt x="393" y="2132"/>
                      </a:lnTo>
                      <a:cubicBezTo>
                        <a:pt x="334" y="2191"/>
                        <a:pt x="334" y="2311"/>
                        <a:pt x="393" y="2370"/>
                      </a:cubicBezTo>
                      <a:cubicBezTo>
                        <a:pt x="429" y="2406"/>
                        <a:pt x="477" y="2418"/>
                        <a:pt x="512" y="2418"/>
                      </a:cubicBezTo>
                      <a:cubicBezTo>
                        <a:pt x="560" y="2418"/>
                        <a:pt x="608" y="2394"/>
                        <a:pt x="632" y="2370"/>
                      </a:cubicBezTo>
                      <a:lnTo>
                        <a:pt x="786" y="2227"/>
                      </a:lnTo>
                      <a:cubicBezTo>
                        <a:pt x="905" y="2311"/>
                        <a:pt x="1048" y="2370"/>
                        <a:pt x="1215" y="2406"/>
                      </a:cubicBezTo>
                      <a:lnTo>
                        <a:pt x="1215" y="2608"/>
                      </a:lnTo>
                      <a:cubicBezTo>
                        <a:pt x="1215" y="2703"/>
                        <a:pt x="1286" y="2775"/>
                        <a:pt x="1382" y="2775"/>
                      </a:cubicBezTo>
                      <a:cubicBezTo>
                        <a:pt x="1465" y="2775"/>
                        <a:pt x="1548" y="2703"/>
                        <a:pt x="1548" y="2608"/>
                      </a:cubicBezTo>
                      <a:lnTo>
                        <a:pt x="1548" y="2430"/>
                      </a:lnTo>
                      <a:cubicBezTo>
                        <a:pt x="1703" y="2394"/>
                        <a:pt x="1846" y="2346"/>
                        <a:pt x="1977" y="2251"/>
                      </a:cubicBezTo>
                      <a:lnTo>
                        <a:pt x="2120" y="2394"/>
                      </a:lnTo>
                      <a:cubicBezTo>
                        <a:pt x="2156" y="2430"/>
                        <a:pt x="2203" y="2442"/>
                        <a:pt x="2239" y="2442"/>
                      </a:cubicBezTo>
                      <a:cubicBezTo>
                        <a:pt x="2286" y="2442"/>
                        <a:pt x="2334" y="2430"/>
                        <a:pt x="2358" y="2394"/>
                      </a:cubicBezTo>
                      <a:cubicBezTo>
                        <a:pt x="2417" y="2346"/>
                        <a:pt x="2441" y="2215"/>
                        <a:pt x="2358" y="2156"/>
                      </a:cubicBezTo>
                      <a:lnTo>
                        <a:pt x="2215" y="2013"/>
                      </a:lnTo>
                      <a:cubicBezTo>
                        <a:pt x="2298" y="1882"/>
                        <a:pt x="2358" y="1727"/>
                        <a:pt x="2394" y="1584"/>
                      </a:cubicBezTo>
                      <a:lnTo>
                        <a:pt x="2596" y="1584"/>
                      </a:lnTo>
                      <a:cubicBezTo>
                        <a:pt x="2691" y="1584"/>
                        <a:pt x="2763" y="1501"/>
                        <a:pt x="2763" y="1418"/>
                      </a:cubicBezTo>
                      <a:cubicBezTo>
                        <a:pt x="2763" y="1299"/>
                        <a:pt x="2691" y="1227"/>
                        <a:pt x="2608" y="1227"/>
                      </a:cubicBezTo>
                      <a:lnTo>
                        <a:pt x="2394" y="1227"/>
                      </a:lnTo>
                      <a:cubicBezTo>
                        <a:pt x="2370" y="1060"/>
                        <a:pt x="2310" y="906"/>
                        <a:pt x="2215" y="798"/>
                      </a:cubicBezTo>
                      <a:lnTo>
                        <a:pt x="2370" y="644"/>
                      </a:lnTo>
                      <a:cubicBezTo>
                        <a:pt x="2417" y="584"/>
                        <a:pt x="2417" y="465"/>
                        <a:pt x="2370" y="406"/>
                      </a:cubicBezTo>
                      <a:cubicBezTo>
                        <a:pt x="2340" y="376"/>
                        <a:pt x="2292" y="361"/>
                        <a:pt x="2245" y="361"/>
                      </a:cubicBezTo>
                      <a:cubicBezTo>
                        <a:pt x="2197" y="361"/>
                        <a:pt x="2150" y="376"/>
                        <a:pt x="2120" y="406"/>
                      </a:cubicBezTo>
                      <a:lnTo>
                        <a:pt x="1977" y="560"/>
                      </a:lnTo>
                      <a:cubicBezTo>
                        <a:pt x="1858" y="465"/>
                        <a:pt x="1715" y="406"/>
                        <a:pt x="1548" y="370"/>
                      </a:cubicBezTo>
                      <a:lnTo>
                        <a:pt x="1548" y="167"/>
                      </a:lnTo>
                      <a:cubicBezTo>
                        <a:pt x="1548" y="72"/>
                        <a:pt x="1477" y="1"/>
                        <a:pt x="1382"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微軟正黑體" panose="020B0604030504040204" pitchFamily="34" charset="-120"/>
                    <a:ea typeface="微軟正黑體" panose="020B0604030504040204" pitchFamily="34" charset="-120"/>
                  </a:endParaRPr>
                </a:p>
              </p:txBody>
            </p:sp>
            <p:sp>
              <p:nvSpPr>
                <p:cNvPr id="93" name="Google Shape;10673;p90">
                  <a:extLst>
                    <a:ext uri="{FF2B5EF4-FFF2-40B4-BE49-F238E27FC236}">
                      <a16:creationId xmlns:a16="http://schemas.microsoft.com/office/drawing/2014/main" id="{D20FA9BF-6B19-51CF-8BEC-E2E8FA79AE27}"/>
                    </a:ext>
                  </a:extLst>
                </p:cNvPr>
                <p:cNvSpPr/>
                <p:nvPr/>
              </p:nvSpPr>
              <p:spPr>
                <a:xfrm>
                  <a:off x="2908436" y="2488059"/>
                  <a:ext cx="33612" cy="33993"/>
                </a:xfrm>
                <a:custGeom>
                  <a:avLst/>
                  <a:gdLst/>
                  <a:ahLst/>
                  <a:cxnLst/>
                  <a:rect l="l" t="t" r="r" b="b"/>
                  <a:pathLst>
                    <a:path w="1061" h="1073" extrusionOk="0">
                      <a:moveTo>
                        <a:pt x="525" y="346"/>
                      </a:moveTo>
                      <a:cubicBezTo>
                        <a:pt x="632" y="346"/>
                        <a:pt x="715" y="430"/>
                        <a:pt x="715" y="537"/>
                      </a:cubicBezTo>
                      <a:cubicBezTo>
                        <a:pt x="715" y="632"/>
                        <a:pt x="632" y="727"/>
                        <a:pt x="525" y="727"/>
                      </a:cubicBezTo>
                      <a:cubicBezTo>
                        <a:pt x="417" y="727"/>
                        <a:pt x="334" y="632"/>
                        <a:pt x="334" y="537"/>
                      </a:cubicBezTo>
                      <a:cubicBezTo>
                        <a:pt x="334" y="430"/>
                        <a:pt x="417" y="346"/>
                        <a:pt x="525" y="346"/>
                      </a:cubicBezTo>
                      <a:close/>
                      <a:moveTo>
                        <a:pt x="525" y="1"/>
                      </a:moveTo>
                      <a:cubicBezTo>
                        <a:pt x="239" y="1"/>
                        <a:pt x="1" y="239"/>
                        <a:pt x="1" y="537"/>
                      </a:cubicBezTo>
                      <a:cubicBezTo>
                        <a:pt x="1" y="834"/>
                        <a:pt x="239" y="1072"/>
                        <a:pt x="525" y="1072"/>
                      </a:cubicBezTo>
                      <a:cubicBezTo>
                        <a:pt x="810" y="1072"/>
                        <a:pt x="1048" y="834"/>
                        <a:pt x="1048" y="537"/>
                      </a:cubicBezTo>
                      <a:cubicBezTo>
                        <a:pt x="1060" y="239"/>
                        <a:pt x="822" y="1"/>
                        <a:pt x="525"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微軟正黑體" panose="020B0604030504040204" pitchFamily="34" charset="-120"/>
                    <a:ea typeface="微軟正黑體" panose="020B0604030504040204" pitchFamily="34" charset="-120"/>
                  </a:endParaRPr>
                </a:p>
              </p:txBody>
            </p:sp>
          </p:grpSp>
        </p:grpSp>
      </p:grpSp>
      <p:cxnSp>
        <p:nvCxnSpPr>
          <p:cNvPr id="94" name="接點: 肘形 355">
            <a:extLst>
              <a:ext uri="{FF2B5EF4-FFF2-40B4-BE49-F238E27FC236}">
                <a16:creationId xmlns:a16="http://schemas.microsoft.com/office/drawing/2014/main" id="{FE1E2B3C-DBE1-04CE-A893-835E1542047F}"/>
              </a:ext>
            </a:extLst>
          </p:cNvPr>
          <p:cNvCxnSpPr>
            <a:cxnSpLocks/>
            <a:stCxn id="69" idx="0"/>
            <a:endCxn id="82" idx="2"/>
          </p:cNvCxnSpPr>
          <p:nvPr/>
        </p:nvCxnSpPr>
        <p:spPr bwMode="auto">
          <a:xfrm flipV="1">
            <a:off x="8010853" y="2969004"/>
            <a:ext cx="12603" cy="1220357"/>
          </a:xfrm>
          <a:prstGeom prst="straightConnector1">
            <a:avLst/>
          </a:prstGeom>
          <a:ln w="28575">
            <a:solidFill>
              <a:srgbClr val="31859C"/>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95" name="文字方塊 94">
            <a:extLst>
              <a:ext uri="{FF2B5EF4-FFF2-40B4-BE49-F238E27FC236}">
                <a16:creationId xmlns:a16="http://schemas.microsoft.com/office/drawing/2014/main" id="{6CA7657C-058A-23AF-E449-4533CF4B071F}"/>
              </a:ext>
            </a:extLst>
          </p:cNvPr>
          <p:cNvSpPr txBox="1"/>
          <p:nvPr/>
        </p:nvSpPr>
        <p:spPr>
          <a:xfrm>
            <a:off x="7022237" y="3343161"/>
            <a:ext cx="1634225" cy="276999"/>
          </a:xfrm>
          <a:prstGeom prst="rect">
            <a:avLst/>
          </a:prstGeom>
          <a:noFill/>
        </p:spPr>
        <p:txBody>
          <a:bodyPr wrap="square" rtlCol="0">
            <a:spAutoFit/>
          </a:bodyPr>
          <a:lstStyle/>
          <a:p>
            <a:r>
              <a:rPr lang="en-US" altLang="zh-TW" sz="1200" dirty="0">
                <a:solidFill>
                  <a:schemeClr val="tx1">
                    <a:lumMod val="75000"/>
                    <a:lumOff val="25000"/>
                  </a:schemeClr>
                </a:solidFill>
                <a:highlight>
                  <a:srgbClr val="C0C0C0"/>
                </a:highlight>
                <a:latin typeface="微軟正黑體" panose="020B0604030504040204" pitchFamily="34" charset="-120"/>
                <a:ea typeface="微軟正黑體" panose="020B0604030504040204" pitchFamily="34" charset="-120"/>
              </a:rPr>
              <a:t>MSSQL</a:t>
            </a:r>
            <a:r>
              <a:rPr lang="zh-TW" altLang="en-US" sz="1200" dirty="0">
                <a:solidFill>
                  <a:schemeClr val="tx1">
                    <a:lumMod val="75000"/>
                    <a:lumOff val="25000"/>
                  </a:schemeClr>
                </a:solidFill>
                <a:highlight>
                  <a:srgbClr val="C0C0C0"/>
                </a:highlight>
                <a:latin typeface="微軟正黑體" panose="020B0604030504040204" pitchFamily="34" charset="-120"/>
                <a:ea typeface="微軟正黑體" panose="020B0604030504040204" pitchFamily="34" charset="-120"/>
              </a:rPr>
              <a:t>取用資料</a:t>
            </a:r>
            <a:endParaRPr lang="en-US" altLang="zh-TW" sz="1200" dirty="0">
              <a:solidFill>
                <a:schemeClr val="tx1">
                  <a:lumMod val="75000"/>
                  <a:lumOff val="25000"/>
                </a:schemeClr>
              </a:solidFill>
              <a:highlight>
                <a:srgbClr val="C0C0C0"/>
              </a:highlight>
              <a:latin typeface="微軟正黑體" panose="020B0604030504040204" pitchFamily="34" charset="-120"/>
              <a:ea typeface="微軟正黑體" panose="020B0604030504040204" pitchFamily="34" charset="-120"/>
            </a:endParaRPr>
          </a:p>
        </p:txBody>
      </p:sp>
      <p:pic>
        <p:nvPicPr>
          <p:cNvPr id="4" name="圖片 3" descr="一張含有 圖形, 字型, 標誌, 平面設計 的圖片&#10;&#10;自動產生的描述">
            <a:extLst>
              <a:ext uri="{FF2B5EF4-FFF2-40B4-BE49-F238E27FC236}">
                <a16:creationId xmlns:a16="http://schemas.microsoft.com/office/drawing/2014/main" id="{9994AD6E-3BB3-C2CF-D858-7292576AD6E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365144" y="2388876"/>
            <a:ext cx="579015" cy="366872"/>
          </a:xfrm>
          <a:prstGeom prst="rect">
            <a:avLst/>
          </a:prstGeom>
        </p:spPr>
      </p:pic>
      <p:sp>
        <p:nvSpPr>
          <p:cNvPr id="11" name="矩形: 圓角 10">
            <a:extLst>
              <a:ext uri="{FF2B5EF4-FFF2-40B4-BE49-F238E27FC236}">
                <a16:creationId xmlns:a16="http://schemas.microsoft.com/office/drawing/2014/main" id="{82CB3D86-E63D-96F1-457B-EAE46C1494FB}"/>
              </a:ext>
            </a:extLst>
          </p:cNvPr>
          <p:cNvSpPr/>
          <p:nvPr/>
        </p:nvSpPr>
        <p:spPr bwMode="auto">
          <a:xfrm>
            <a:off x="1808050" y="3473617"/>
            <a:ext cx="2704677" cy="1606841"/>
          </a:xfrm>
          <a:prstGeom prst="roundRect">
            <a:avLst>
              <a:gd name="adj" fmla="val 4461"/>
            </a:avLst>
          </a:prstGeom>
          <a:noFill/>
          <a:ln w="22225" cap="flat" cmpd="sng" algn="ctr">
            <a:solidFill>
              <a:srgbClr val="FF9B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endParaRPr>
          </a:p>
        </p:txBody>
      </p:sp>
      <p:sp>
        <p:nvSpPr>
          <p:cNvPr id="12" name="文字方塊 11">
            <a:extLst>
              <a:ext uri="{FF2B5EF4-FFF2-40B4-BE49-F238E27FC236}">
                <a16:creationId xmlns:a16="http://schemas.microsoft.com/office/drawing/2014/main" id="{375A1564-FAF8-C53F-E7F5-BCA56EF52F26}"/>
              </a:ext>
            </a:extLst>
          </p:cNvPr>
          <p:cNvSpPr txBox="1"/>
          <p:nvPr/>
        </p:nvSpPr>
        <p:spPr>
          <a:xfrm>
            <a:off x="3067985" y="3650432"/>
            <a:ext cx="1126344" cy="307777"/>
          </a:xfrm>
          <a:prstGeom prst="rect">
            <a:avLst/>
          </a:prstGeom>
          <a:noFill/>
        </p:spPr>
        <p:txBody>
          <a:bodyPr wrap="square" rtlCol="0">
            <a:spAutoFit/>
          </a:bodyPr>
          <a:lstStyle/>
          <a:p>
            <a:pPr algn="ctr"/>
            <a:r>
              <a:rPr lang="en-US" altLang="zh-TW" sz="1400" b="0" dirty="0">
                <a:solidFill>
                  <a:schemeClr val="tx1">
                    <a:lumMod val="85000"/>
                    <a:lumOff val="15000"/>
                  </a:schemeClr>
                </a:solidFill>
                <a:latin typeface="微軟正黑體" panose="020B0604030504040204" pitchFamily="34" charset="-120"/>
                <a:ea typeface="微軟正黑體" panose="020B0604030504040204" pitchFamily="34" charset="-120"/>
              </a:rPr>
              <a:t>.csv </a:t>
            </a:r>
            <a:r>
              <a:rPr lang="zh-TW" altLang="en-US" sz="1400" b="0" dirty="0">
                <a:solidFill>
                  <a:schemeClr val="tx1">
                    <a:lumMod val="85000"/>
                    <a:lumOff val="15000"/>
                  </a:schemeClr>
                </a:solidFill>
                <a:latin typeface="微軟正黑體" panose="020B0604030504040204" pitchFamily="34" charset="-120"/>
                <a:ea typeface="微軟正黑體" panose="020B0604030504040204" pitchFamily="34" charset="-120"/>
              </a:rPr>
              <a:t>整理檔</a:t>
            </a:r>
          </a:p>
        </p:txBody>
      </p:sp>
      <p:cxnSp>
        <p:nvCxnSpPr>
          <p:cNvPr id="7" name="直線單箭頭接點 2">
            <a:extLst>
              <a:ext uri="{FF2B5EF4-FFF2-40B4-BE49-F238E27FC236}">
                <a16:creationId xmlns:a16="http://schemas.microsoft.com/office/drawing/2014/main" id="{5F6FBD68-42F0-A413-1534-0CF316B4683D}"/>
              </a:ext>
            </a:extLst>
          </p:cNvPr>
          <p:cNvCxnSpPr>
            <a:cxnSpLocks/>
            <a:stCxn id="70" idx="1"/>
            <a:endCxn id="2" idx="3"/>
          </p:cNvCxnSpPr>
          <p:nvPr/>
        </p:nvCxnSpPr>
        <p:spPr bwMode="auto">
          <a:xfrm rot="10800000" flipV="1">
            <a:off x="5422587" y="4744939"/>
            <a:ext cx="1755308" cy="852394"/>
          </a:xfrm>
          <a:prstGeom prst="bentConnector3">
            <a:avLst>
              <a:gd name="adj1" fmla="val 50000"/>
            </a:avLst>
          </a:prstGeom>
          <a:solidFill>
            <a:schemeClr val="accent1"/>
          </a:solidFill>
          <a:ln w="28575" cap="flat" cmpd="sng" algn="ctr">
            <a:solidFill>
              <a:srgbClr val="3C7BC7"/>
            </a:solidFill>
            <a:prstDash val="dash"/>
            <a:round/>
            <a:headEnd type="triangle" w="med" len="med"/>
            <a:tailEnd type="none"/>
          </a:ln>
          <a:effectLst/>
        </p:spPr>
      </p:cxnSp>
      <p:cxnSp>
        <p:nvCxnSpPr>
          <p:cNvPr id="5" name="直線單箭頭接點 2">
            <a:extLst>
              <a:ext uri="{FF2B5EF4-FFF2-40B4-BE49-F238E27FC236}">
                <a16:creationId xmlns:a16="http://schemas.microsoft.com/office/drawing/2014/main" id="{B8592BD7-88EA-804B-1AD2-CBB498895F63}"/>
              </a:ext>
            </a:extLst>
          </p:cNvPr>
          <p:cNvCxnSpPr>
            <a:cxnSpLocks/>
          </p:cNvCxnSpPr>
          <p:nvPr/>
        </p:nvCxnSpPr>
        <p:spPr bwMode="auto">
          <a:xfrm rot="16200000" flipH="1">
            <a:off x="3909352" y="4832252"/>
            <a:ext cx="338825" cy="306328"/>
          </a:xfrm>
          <a:prstGeom prst="bentConnector3">
            <a:avLst>
              <a:gd name="adj1" fmla="val 50000"/>
            </a:avLst>
          </a:prstGeom>
          <a:solidFill>
            <a:schemeClr val="accent1"/>
          </a:solidFill>
          <a:ln w="28575" cap="flat" cmpd="sng" algn="ctr">
            <a:solidFill>
              <a:srgbClr val="3C7BC7"/>
            </a:solidFill>
            <a:prstDash val="dash"/>
            <a:round/>
            <a:headEnd type="triangle" w="med" len="med"/>
            <a:tailEnd type="none"/>
          </a:ln>
          <a:effectLst/>
        </p:spPr>
      </p:cxnSp>
      <p:sp>
        <p:nvSpPr>
          <p:cNvPr id="19" name="文字方塊 18">
            <a:extLst>
              <a:ext uri="{FF2B5EF4-FFF2-40B4-BE49-F238E27FC236}">
                <a16:creationId xmlns:a16="http://schemas.microsoft.com/office/drawing/2014/main" id="{652FB865-D2DD-F4CA-7F31-3417051E5410}"/>
              </a:ext>
            </a:extLst>
          </p:cNvPr>
          <p:cNvSpPr txBox="1"/>
          <p:nvPr/>
        </p:nvSpPr>
        <p:spPr>
          <a:xfrm>
            <a:off x="4519083" y="4586791"/>
            <a:ext cx="1485379" cy="523220"/>
          </a:xfrm>
          <a:prstGeom prst="rect">
            <a:avLst/>
          </a:prstGeom>
          <a:noFill/>
        </p:spPr>
        <p:txBody>
          <a:bodyPr wrap="square" rtlCol="0">
            <a:spAutoFit/>
          </a:bodyPr>
          <a:lstStyle/>
          <a:p>
            <a:r>
              <a:rPr lang="en-US" altLang="zh-TW" sz="1400" b="0" dirty="0">
                <a:solidFill>
                  <a:srgbClr val="C0504D"/>
                </a:solidFill>
                <a:latin typeface="微軟正黑體" panose="020B0604030504040204" pitchFamily="34" charset="-120"/>
                <a:ea typeface="微軟正黑體" panose="020B0604030504040204" pitchFamily="34" charset="-120"/>
              </a:rPr>
              <a:t>2.</a:t>
            </a:r>
            <a:r>
              <a:rPr lang="zh-TW" altLang="en-US" sz="1400" b="0" dirty="0">
                <a:solidFill>
                  <a:srgbClr val="C0504D"/>
                </a:solidFill>
                <a:latin typeface="微軟正黑體" panose="020B0604030504040204" pitchFamily="34" charset="-120"/>
                <a:ea typeface="微軟正黑體" panose="020B0604030504040204" pitchFamily="34" charset="-120"/>
              </a:rPr>
              <a:t>取得爬蟲整理檔及資料字典</a:t>
            </a:r>
          </a:p>
        </p:txBody>
      </p:sp>
      <p:sp>
        <p:nvSpPr>
          <p:cNvPr id="20" name="文字方塊 19">
            <a:extLst>
              <a:ext uri="{FF2B5EF4-FFF2-40B4-BE49-F238E27FC236}">
                <a16:creationId xmlns:a16="http://schemas.microsoft.com/office/drawing/2014/main" id="{D916686F-20BA-B459-AC6B-D75A456E1DF8}"/>
              </a:ext>
            </a:extLst>
          </p:cNvPr>
          <p:cNvSpPr txBox="1"/>
          <p:nvPr/>
        </p:nvSpPr>
        <p:spPr>
          <a:xfrm>
            <a:off x="168004" y="5239726"/>
            <a:ext cx="2842950" cy="1015663"/>
          </a:xfrm>
          <a:prstGeom prst="rect">
            <a:avLst/>
          </a:prstGeom>
          <a:noFill/>
        </p:spPr>
        <p:txBody>
          <a:bodyPr wrap="square" rtlCol="0">
            <a:spAutoFit/>
          </a:bodyPr>
          <a:lstStyle/>
          <a:p>
            <a:r>
              <a:rPr lang="en-US" altLang="zh-TW" sz="1200" b="0" dirty="0">
                <a:solidFill>
                  <a:srgbClr val="C0504D"/>
                </a:solidFill>
                <a:latin typeface="微軟正黑體" panose="020B0604030504040204" pitchFamily="34" charset="-120"/>
                <a:ea typeface="微軟正黑體" panose="020B0604030504040204" pitchFamily="34" charset="-120"/>
              </a:rPr>
              <a:t>1-</a:t>
            </a:r>
            <a:r>
              <a:rPr lang="en-US" altLang="zh-TW" sz="1200" dirty="0">
                <a:solidFill>
                  <a:srgbClr val="C0504D"/>
                </a:solidFill>
                <a:latin typeface="微軟正黑體" panose="020B0604030504040204" pitchFamily="34" charset="-120"/>
                <a:ea typeface="微軟正黑體" panose="020B0604030504040204" pitchFamily="34" charset="-120"/>
              </a:rPr>
              <a:t>1.</a:t>
            </a:r>
            <a:r>
              <a:rPr lang="zh-TW" altLang="en-US" sz="1200" dirty="0">
                <a:solidFill>
                  <a:srgbClr val="C0504D"/>
                </a:solidFill>
                <a:latin typeface="微軟正黑體" panose="020B0604030504040204" pitchFamily="34" charset="-120"/>
                <a:ea typeface="微軟正黑體" panose="020B0604030504040204" pitchFamily="34" charset="-120"/>
              </a:rPr>
              <a:t>當爬蟲爬取資料時，</a:t>
            </a:r>
            <a:r>
              <a:rPr lang="zh-TW" altLang="en-US" sz="1200" b="0" dirty="0">
                <a:solidFill>
                  <a:srgbClr val="C0504D"/>
                </a:solidFill>
                <a:latin typeface="微軟正黑體" panose="020B0604030504040204" pitchFamily="34" charset="-120"/>
                <a:ea typeface="微軟正黑體" panose="020B0604030504040204" pitchFamily="34" charset="-120"/>
              </a:rPr>
              <a:t>呼叫爬蟲館</a:t>
            </a:r>
            <a:r>
              <a:rPr lang="en-US" altLang="zh-TW" sz="1200" b="0" dirty="0">
                <a:solidFill>
                  <a:srgbClr val="C0504D"/>
                </a:solidFill>
                <a:latin typeface="微軟正黑體" panose="020B0604030504040204" pitchFamily="34" charset="-120"/>
                <a:ea typeface="微軟正黑體" panose="020B0604030504040204" pitchFamily="34" charset="-120"/>
              </a:rPr>
              <a:t>API</a:t>
            </a:r>
            <a:r>
              <a:rPr lang="zh-TW" altLang="en-US" sz="1200" b="0" dirty="0">
                <a:solidFill>
                  <a:srgbClr val="C0504D"/>
                </a:solidFill>
                <a:latin typeface="微軟正黑體" panose="020B0604030504040204" pitchFamily="34" charset="-120"/>
                <a:ea typeface="微軟正黑體" panose="020B0604030504040204" pitchFamily="34" charset="-120"/>
              </a:rPr>
              <a:t>從</a:t>
            </a:r>
            <a:r>
              <a:rPr lang="en-US" altLang="zh-TW" sz="1200" b="0" dirty="0">
                <a:solidFill>
                  <a:srgbClr val="C0504D"/>
                </a:solidFill>
                <a:latin typeface="微軟正黑體" panose="020B0604030504040204" pitchFamily="34" charset="-120"/>
                <a:ea typeface="微軟正黑體" panose="020B0604030504040204" pitchFamily="34" charset="-120"/>
              </a:rPr>
              <a:t>S3</a:t>
            </a:r>
            <a:r>
              <a:rPr lang="zh-TW" altLang="en-US" sz="1200" b="0" dirty="0">
                <a:solidFill>
                  <a:srgbClr val="C0504D"/>
                </a:solidFill>
                <a:latin typeface="微軟正黑體" panose="020B0604030504040204" pitchFamily="34" charset="-120"/>
                <a:ea typeface="微軟正黑體" panose="020B0604030504040204" pitchFamily="34" charset="-120"/>
              </a:rPr>
              <a:t>下載檔案寫入</a:t>
            </a:r>
            <a:r>
              <a:rPr lang="en-US" altLang="zh-TW" sz="1200" b="0" dirty="0">
                <a:solidFill>
                  <a:srgbClr val="C0504D"/>
                </a:solidFill>
                <a:latin typeface="微軟正黑體" panose="020B0604030504040204" pitchFamily="34" charset="-120"/>
                <a:ea typeface="微軟正黑體" panose="020B0604030504040204" pitchFamily="34" charset="-120"/>
              </a:rPr>
              <a:t>MySQL</a:t>
            </a:r>
            <a:r>
              <a:rPr lang="zh-TW" altLang="en-US" sz="1200" b="0" dirty="0">
                <a:solidFill>
                  <a:srgbClr val="C0504D"/>
                </a:solidFill>
                <a:latin typeface="微軟正黑體" panose="020B0604030504040204" pitchFamily="34" charset="-120"/>
                <a:ea typeface="微軟正黑體" panose="020B0604030504040204" pitchFamily="34" charset="-120"/>
              </a:rPr>
              <a:t>，接續</a:t>
            </a:r>
            <a:r>
              <a:rPr lang="en-US" altLang="zh-TW" sz="1200" b="0" dirty="0">
                <a:solidFill>
                  <a:srgbClr val="C0504D"/>
                </a:solidFill>
                <a:latin typeface="微軟正黑體" panose="020B0604030504040204" pitchFamily="34" charset="-120"/>
                <a:ea typeface="微軟正黑體" panose="020B0604030504040204" pitchFamily="34" charset="-120"/>
              </a:rPr>
              <a:t>1-2</a:t>
            </a:r>
            <a:r>
              <a:rPr lang="zh-TW" altLang="en-US" sz="1200" b="0" dirty="0">
                <a:solidFill>
                  <a:srgbClr val="C0504D"/>
                </a:solidFill>
                <a:latin typeface="微軟正黑體" panose="020B0604030504040204" pitchFamily="34" charset="-120"/>
                <a:ea typeface="微軟正黑體" panose="020B0604030504040204" pitchFamily="34" charset="-120"/>
              </a:rPr>
              <a:t>更新地端</a:t>
            </a:r>
            <a:r>
              <a:rPr lang="en-US" altLang="zh-TW" sz="1200" b="0" dirty="0">
                <a:solidFill>
                  <a:srgbClr val="C0504D"/>
                </a:solidFill>
                <a:latin typeface="微軟正黑體" panose="020B0604030504040204" pitchFamily="34" charset="-120"/>
                <a:ea typeface="微軟正黑體" panose="020B0604030504040204" pitchFamily="34" charset="-120"/>
              </a:rPr>
              <a:t>MSSQL</a:t>
            </a:r>
            <a:r>
              <a:rPr lang="zh-TW" altLang="en-US" sz="1200" b="0" dirty="0">
                <a:solidFill>
                  <a:srgbClr val="C0504D"/>
                </a:solidFill>
                <a:latin typeface="微軟正黑體" panose="020B0604030504040204" pitchFamily="34" charset="-120"/>
                <a:ea typeface="微軟正黑體" panose="020B0604030504040204" pitchFamily="34" charset="-120"/>
              </a:rPr>
              <a:t>資料</a:t>
            </a:r>
            <a:br>
              <a:rPr lang="en-US" altLang="zh-TW" sz="1200" b="0" dirty="0">
                <a:solidFill>
                  <a:srgbClr val="C0504D"/>
                </a:solidFill>
                <a:latin typeface="微軟正黑體" panose="020B0604030504040204" pitchFamily="34" charset="-120"/>
                <a:ea typeface="微軟正黑體" panose="020B0604030504040204" pitchFamily="34" charset="-120"/>
              </a:rPr>
            </a:br>
            <a:r>
              <a:rPr lang="en-US" altLang="zh-TW" sz="1200" b="0" dirty="0">
                <a:solidFill>
                  <a:srgbClr val="C0504D"/>
                </a:solidFill>
                <a:latin typeface="微軟正黑體" panose="020B0604030504040204" pitchFamily="34" charset="-120"/>
                <a:ea typeface="微軟正黑體" panose="020B0604030504040204" pitchFamily="34" charset="-120"/>
              </a:rPr>
              <a:t>1-2.</a:t>
            </a:r>
            <a:r>
              <a:rPr lang="zh-TW" altLang="en-US" sz="1200" b="0" dirty="0">
                <a:solidFill>
                  <a:srgbClr val="C0504D"/>
                </a:solidFill>
                <a:latin typeface="微軟正黑體" panose="020B0604030504040204" pitchFamily="34" charset="-120"/>
                <a:ea typeface="微軟正黑體" panose="020B0604030504040204" pitchFamily="34" charset="-120"/>
              </a:rPr>
              <a:t>呼叫</a:t>
            </a:r>
            <a:r>
              <a:rPr lang="en-US" altLang="zh-TW" sz="1200" b="0" dirty="0">
                <a:solidFill>
                  <a:srgbClr val="C0504D"/>
                </a:solidFill>
                <a:latin typeface="微軟正黑體" panose="020B0604030504040204" pitchFamily="34" charset="-120"/>
                <a:ea typeface="微軟正黑體" panose="020B0604030504040204" pitchFamily="34" charset="-120"/>
              </a:rPr>
              <a:t>API</a:t>
            </a:r>
            <a:r>
              <a:rPr lang="zh-TW" altLang="en-US" sz="1200" b="0" dirty="0">
                <a:solidFill>
                  <a:srgbClr val="C0504D"/>
                </a:solidFill>
                <a:latin typeface="微軟正黑體" panose="020B0604030504040204" pitchFamily="34" charset="-120"/>
                <a:ea typeface="微軟正黑體" panose="020B0604030504040204" pitchFamily="34" charset="-120"/>
              </a:rPr>
              <a:t>通知</a:t>
            </a:r>
            <a:r>
              <a:rPr lang="en-US" altLang="zh-TW" sz="1200" dirty="0">
                <a:solidFill>
                  <a:srgbClr val="C0504D"/>
                </a:solidFill>
                <a:latin typeface="微軟正黑體" panose="020B0604030504040204" pitchFamily="34" charset="-120"/>
                <a:ea typeface="微軟正黑體" panose="020B0604030504040204" pitchFamily="34" charset="-120"/>
              </a:rPr>
              <a:t>GW</a:t>
            </a:r>
            <a:r>
              <a:rPr lang="zh-TW" altLang="en-US" sz="1200" dirty="0">
                <a:solidFill>
                  <a:srgbClr val="C0504D"/>
                </a:solidFill>
                <a:latin typeface="微軟正黑體" panose="020B0604030504040204" pitchFamily="34" charset="-120"/>
                <a:ea typeface="微軟正黑體" panose="020B0604030504040204" pitchFamily="34" charset="-120"/>
              </a:rPr>
              <a:t>對地端</a:t>
            </a:r>
            <a:r>
              <a:rPr lang="en-US" altLang="zh-TW" sz="1200" dirty="0">
                <a:solidFill>
                  <a:srgbClr val="C0504D"/>
                </a:solidFill>
                <a:latin typeface="微軟正黑體" panose="020B0604030504040204" pitchFamily="34" charset="-120"/>
                <a:ea typeface="微軟正黑體" panose="020B0604030504040204" pitchFamily="34" charset="-120"/>
              </a:rPr>
              <a:t>MSSQL</a:t>
            </a:r>
            <a:r>
              <a:rPr lang="zh-TW" altLang="en-US" sz="1200" dirty="0">
                <a:solidFill>
                  <a:srgbClr val="C0504D"/>
                </a:solidFill>
                <a:latin typeface="微軟正黑體" panose="020B0604030504040204" pitchFamily="34" charset="-120"/>
                <a:ea typeface="微軟正黑體" panose="020B0604030504040204" pitchFamily="34" charset="-120"/>
              </a:rPr>
              <a:t>進行資料更新</a:t>
            </a:r>
            <a:endParaRPr lang="zh-TW" altLang="en-US" sz="1200" b="0" dirty="0">
              <a:solidFill>
                <a:srgbClr val="C0504D"/>
              </a:solidFill>
              <a:latin typeface="微軟正黑體" panose="020B0604030504040204" pitchFamily="34" charset="-120"/>
              <a:ea typeface="微軟正黑體" panose="020B0604030504040204" pitchFamily="34" charset="-120"/>
            </a:endParaRPr>
          </a:p>
        </p:txBody>
      </p:sp>
      <p:sp>
        <p:nvSpPr>
          <p:cNvPr id="2" name="矩形: 圓角 1">
            <a:extLst>
              <a:ext uri="{FF2B5EF4-FFF2-40B4-BE49-F238E27FC236}">
                <a16:creationId xmlns:a16="http://schemas.microsoft.com/office/drawing/2014/main" id="{2CC0F94C-3BCE-2BB1-B5DA-2D8A9268FF84}"/>
              </a:ext>
            </a:extLst>
          </p:cNvPr>
          <p:cNvSpPr/>
          <p:nvPr/>
        </p:nvSpPr>
        <p:spPr bwMode="auto">
          <a:xfrm>
            <a:off x="3445356" y="5154829"/>
            <a:ext cx="1977231" cy="885007"/>
          </a:xfrm>
          <a:prstGeom prst="roundRect">
            <a:avLst>
              <a:gd name="adj" fmla="val 4461"/>
            </a:avLst>
          </a:prstGeom>
          <a:solidFill>
            <a:srgbClr val="3C7BC7"/>
          </a:solidFill>
          <a:ln w="22225" cap="flat" cmpd="sng" algn="ctr">
            <a:solidFill>
              <a:srgbClr val="3B7BC8"/>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TW" sz="1800" dirty="0">
                <a:solidFill>
                  <a:schemeClr val="bg1"/>
                </a:solidFill>
                <a:latin typeface="微軟正黑體" panose="020B0604030504040204" pitchFamily="34" charset="-120"/>
                <a:ea typeface="微軟正黑體" panose="020B0604030504040204" pitchFamily="34" charset="-120"/>
              </a:rPr>
              <a:t>AP-</a:t>
            </a:r>
            <a:r>
              <a:rPr lang="en-US" altLang="zh-TW" sz="1800" dirty="0" err="1">
                <a:solidFill>
                  <a:schemeClr val="bg1"/>
                </a:solidFill>
                <a:latin typeface="微軟正黑體" panose="020B0604030504040204" pitchFamily="34" charset="-120"/>
                <a:ea typeface="微軟正黑體" panose="020B0604030504040204" pitchFamily="34" charset="-120"/>
              </a:rPr>
              <a:t>GW_Prod</a:t>
            </a:r>
            <a:br>
              <a:rPr lang="en-US" altLang="zh-TW" sz="1800" dirty="0">
                <a:solidFill>
                  <a:schemeClr val="bg1"/>
                </a:solidFill>
                <a:latin typeface="微軟正黑體" panose="020B0604030504040204" pitchFamily="34" charset="-120"/>
                <a:ea typeface="微軟正黑體" panose="020B0604030504040204" pitchFamily="34" charset="-120"/>
              </a:rPr>
            </a:br>
            <a:r>
              <a:rPr lang="en-US" altLang="zh-TW" sz="1800" dirty="0">
                <a:solidFill>
                  <a:schemeClr val="bg1"/>
                </a:solidFill>
                <a:latin typeface="微軟正黑體" panose="020B0604030504040204" pitchFamily="34" charset="-120"/>
                <a:ea typeface="微軟正黑體" panose="020B0604030504040204" pitchFamily="34" charset="-120"/>
              </a:rPr>
              <a:t>(Non DMZ)</a:t>
            </a:r>
            <a:endParaRPr kumimoji="0" lang="zh-TW" altLang="en-US" sz="1200" b="1" i="0" u="none" strike="noStrike" cap="none" normalizeH="0" baseline="0" dirty="0">
              <a:ln>
                <a:noFill/>
              </a:ln>
              <a:solidFill>
                <a:schemeClr val="bg1"/>
              </a:solidFill>
              <a:effectLst/>
              <a:latin typeface="微軟正黑體" panose="020B0604030504040204" pitchFamily="34" charset="-120"/>
              <a:ea typeface="微軟正黑體" panose="020B0604030504040204" pitchFamily="34" charset="-120"/>
            </a:endParaRPr>
          </a:p>
        </p:txBody>
      </p:sp>
      <p:sp>
        <p:nvSpPr>
          <p:cNvPr id="6" name="文字方塊 5">
            <a:extLst>
              <a:ext uri="{FF2B5EF4-FFF2-40B4-BE49-F238E27FC236}">
                <a16:creationId xmlns:a16="http://schemas.microsoft.com/office/drawing/2014/main" id="{C196C081-A07D-2BE5-8F72-AD1B12FE9BA1}"/>
              </a:ext>
            </a:extLst>
          </p:cNvPr>
          <p:cNvSpPr txBox="1"/>
          <p:nvPr/>
        </p:nvSpPr>
        <p:spPr>
          <a:xfrm>
            <a:off x="5469612" y="5706186"/>
            <a:ext cx="1886459" cy="523220"/>
          </a:xfrm>
          <a:prstGeom prst="rect">
            <a:avLst/>
          </a:prstGeom>
          <a:noFill/>
        </p:spPr>
        <p:txBody>
          <a:bodyPr wrap="square" rtlCol="0">
            <a:spAutoFit/>
          </a:bodyPr>
          <a:lstStyle/>
          <a:p>
            <a:r>
              <a:rPr lang="en-US" altLang="zh-TW" sz="1400" b="0" dirty="0">
                <a:solidFill>
                  <a:srgbClr val="C0504D"/>
                </a:solidFill>
                <a:latin typeface="微軟正黑體" panose="020B0604030504040204" pitchFamily="34" charset="-120"/>
                <a:ea typeface="微軟正黑體" panose="020B0604030504040204" pitchFamily="34" charset="-120"/>
              </a:rPr>
              <a:t>3.</a:t>
            </a:r>
            <a:r>
              <a:rPr lang="zh-TW" altLang="en-US" sz="1400" b="0" dirty="0">
                <a:solidFill>
                  <a:srgbClr val="C0504D"/>
                </a:solidFill>
                <a:latin typeface="微軟正黑體" panose="020B0604030504040204" pitchFamily="34" charset="-120"/>
                <a:ea typeface="微軟正黑體" panose="020B0604030504040204" pitchFamily="34" charset="-120"/>
              </a:rPr>
              <a:t>寫入整理檔及資料到地端</a:t>
            </a:r>
            <a:r>
              <a:rPr lang="en-US" altLang="zh-TW" sz="1400" b="0" dirty="0">
                <a:solidFill>
                  <a:srgbClr val="C0504D"/>
                </a:solidFill>
                <a:latin typeface="微軟正黑體" panose="020B0604030504040204" pitchFamily="34" charset="-120"/>
                <a:ea typeface="微軟正黑體" panose="020B0604030504040204" pitchFamily="34" charset="-120"/>
              </a:rPr>
              <a:t>MSSQL</a:t>
            </a:r>
            <a:r>
              <a:rPr lang="zh-TW" altLang="en-US" sz="1400" b="0" dirty="0">
                <a:solidFill>
                  <a:srgbClr val="C0504D"/>
                </a:solidFill>
                <a:latin typeface="微軟正黑體" panose="020B0604030504040204" pitchFamily="34" charset="-120"/>
                <a:ea typeface="微軟正黑體" panose="020B0604030504040204" pitchFamily="34" charset="-120"/>
              </a:rPr>
              <a:t>資料庫</a:t>
            </a:r>
          </a:p>
        </p:txBody>
      </p:sp>
    </p:spTree>
    <p:extLst>
      <p:ext uri="{BB962C8B-B14F-4D97-AF65-F5344CB8AC3E}">
        <p14:creationId xmlns:p14="http://schemas.microsoft.com/office/powerpoint/2010/main" val="13357062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g222eb5d9c60_0_38"/>
          <p:cNvSpPr txBox="1">
            <a:spLocks noGrp="1"/>
          </p:cNvSpPr>
          <p:nvPr>
            <p:ph type="title"/>
          </p:nvPr>
        </p:nvSpPr>
        <p:spPr>
          <a:xfrm>
            <a:off x="401390" y="60641"/>
            <a:ext cx="10717708" cy="600152"/>
          </a:xfrm>
          <a:prstGeom prst="rect">
            <a:avLst/>
          </a:prstGeom>
          <a:noFill/>
          <a:ln>
            <a:noFill/>
          </a:ln>
        </p:spPr>
        <p:txBody>
          <a:bodyPr spcFirstLastPara="1" wrap="square" lIns="88143" tIns="44059" rIns="88143" bIns="44059" anchor="ctr" anchorCtr="0">
            <a:noAutofit/>
          </a:bodyPr>
          <a:lstStyle/>
          <a:p>
            <a:pPr>
              <a:buSzPts val="1400"/>
            </a:pPr>
            <a:r>
              <a:rPr lang="zh-TW" altLang="en-US" b="1" dirty="0">
                <a:latin typeface="微軟正黑體" panose="020B0604030504040204" pitchFamily="34" charset="-120"/>
                <a:ea typeface="微軟正黑體" panose="020B0604030504040204" pitchFamily="34" charset="-120"/>
              </a:rPr>
              <a:t>使用情境</a:t>
            </a:r>
            <a:r>
              <a:rPr lang="en-US" altLang="zh-TW" b="1" dirty="0">
                <a:latin typeface="微軟正黑體" panose="020B0604030504040204" pitchFamily="34" charset="-120"/>
                <a:ea typeface="微軟正黑體" panose="020B0604030504040204" pitchFamily="34" charset="-120"/>
              </a:rPr>
              <a:t>_</a:t>
            </a:r>
            <a:r>
              <a:rPr lang="zh-TW" altLang="en-US" b="1" dirty="0">
                <a:latin typeface="微軟正黑體" panose="020B0604030504040204" pitchFamily="34" charset="-120"/>
                <a:ea typeface="微軟正黑體" panose="020B0604030504040204" pitchFamily="34" charset="-120"/>
              </a:rPr>
              <a:t>擴充案測試</a:t>
            </a:r>
            <a:endParaRPr b="1" dirty="0">
              <a:latin typeface="微軟正黑體" panose="020B0604030504040204" pitchFamily="34" charset="-120"/>
              <a:ea typeface="微軟正黑體" panose="020B0604030504040204" pitchFamily="34" charset="-120"/>
            </a:endParaRPr>
          </a:p>
        </p:txBody>
      </p:sp>
      <p:sp>
        <p:nvSpPr>
          <p:cNvPr id="13" name="矩形 12">
            <a:extLst>
              <a:ext uri="{FF2B5EF4-FFF2-40B4-BE49-F238E27FC236}">
                <a16:creationId xmlns:a16="http://schemas.microsoft.com/office/drawing/2014/main" id="{3667D8EF-A956-765C-9F2B-50C666D07050}"/>
              </a:ext>
            </a:extLst>
          </p:cNvPr>
          <p:cNvSpPr/>
          <p:nvPr/>
        </p:nvSpPr>
        <p:spPr bwMode="auto">
          <a:xfrm>
            <a:off x="1223118" y="5522593"/>
            <a:ext cx="6579218" cy="517243"/>
          </a:xfrm>
          <a:prstGeom prst="rect">
            <a:avLst/>
          </a:prstGeom>
          <a:solidFill>
            <a:schemeClr val="accent6">
              <a:lumMod val="60000"/>
              <a:lumOff val="40000"/>
            </a:schemeClr>
          </a:solidFill>
          <a:ln w="9525" cap="flat" cmpd="sng" algn="ctr">
            <a:noFill/>
            <a:prstDash val="solid"/>
            <a:round/>
            <a:headEnd type="none" w="med" len="med"/>
            <a:tailEnd type="none" w="med" len="med"/>
          </a:ln>
          <a:effectLst/>
        </p:spPr>
        <p:txBody>
          <a:bodyPr vert="horz" wrap="square" lIns="91440" tIns="45720" rIns="91440" bIns="45720" numCol="1" rtlCol="0" anchor="b"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TW" altLang="en-US" sz="1200" b="1"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圖二：爬蟲館</a:t>
            </a:r>
            <a:r>
              <a:rPr kumimoji="0" lang="en-US" altLang="zh-TW" sz="1200" b="1"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MySQL</a:t>
            </a:r>
            <a:r>
              <a:rPr kumimoji="0" lang="zh-TW" altLang="en-US" sz="1200" b="1"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資料庫與地端</a:t>
            </a:r>
            <a:r>
              <a:rPr lang="en-US" altLang="zh-TW" sz="1200">
                <a:latin typeface="微軟正黑體" panose="020B0604030504040204" pitchFamily="34" charset="-120"/>
                <a:ea typeface="微軟正黑體" panose="020B0604030504040204" pitchFamily="34" charset="-120"/>
              </a:rPr>
              <a:t>MS</a:t>
            </a:r>
            <a:r>
              <a:rPr kumimoji="0" lang="en-US" altLang="zh-TW" sz="1200" b="1" i="0" u="none" strike="noStrike" cap="none" normalizeH="0" baseline="0">
                <a:ln>
                  <a:noFill/>
                </a:ln>
                <a:solidFill>
                  <a:schemeClr val="tx1"/>
                </a:solidFill>
                <a:effectLst/>
                <a:latin typeface="微軟正黑體" panose="020B0604030504040204" pitchFamily="34" charset="-120"/>
                <a:ea typeface="微軟正黑體" panose="020B0604030504040204" pitchFamily="34" charset="-120"/>
              </a:rPr>
              <a:t>SQL</a:t>
            </a:r>
            <a:endParaRPr kumimoji="0" lang="zh-TW" altLang="en-US" sz="1200" b="1"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endParaRPr>
          </a:p>
        </p:txBody>
      </p:sp>
      <p:sp>
        <p:nvSpPr>
          <p:cNvPr id="14" name="矩形: 圓角 13">
            <a:extLst>
              <a:ext uri="{FF2B5EF4-FFF2-40B4-BE49-F238E27FC236}">
                <a16:creationId xmlns:a16="http://schemas.microsoft.com/office/drawing/2014/main" id="{12D9085A-58C9-B0FC-8F6A-543503AE68D5}"/>
              </a:ext>
            </a:extLst>
          </p:cNvPr>
          <p:cNvSpPr/>
          <p:nvPr/>
        </p:nvSpPr>
        <p:spPr bwMode="auto">
          <a:xfrm>
            <a:off x="1197730" y="660793"/>
            <a:ext cx="10322758" cy="5517632"/>
          </a:xfrm>
          <a:prstGeom prst="roundRect">
            <a:avLst>
              <a:gd name="adj" fmla="val 3050"/>
            </a:avLst>
          </a:prstGeom>
          <a:solidFill>
            <a:srgbClr val="E5EEF4"/>
          </a:solidFill>
          <a:ln w="2857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endParaRPr>
          </a:p>
        </p:txBody>
      </p:sp>
      <p:grpSp>
        <p:nvGrpSpPr>
          <p:cNvPr id="15" name="群組 14">
            <a:extLst>
              <a:ext uri="{FF2B5EF4-FFF2-40B4-BE49-F238E27FC236}">
                <a16:creationId xmlns:a16="http://schemas.microsoft.com/office/drawing/2014/main" id="{C223B4FA-0775-4951-3424-BCE73CDE989B}"/>
              </a:ext>
            </a:extLst>
          </p:cNvPr>
          <p:cNvGrpSpPr/>
          <p:nvPr/>
        </p:nvGrpSpPr>
        <p:grpSpPr>
          <a:xfrm>
            <a:off x="9267021" y="4744546"/>
            <a:ext cx="2225290" cy="1223250"/>
            <a:chOff x="9449577" y="-817353"/>
            <a:chExt cx="2281498" cy="1735791"/>
          </a:xfrm>
        </p:grpSpPr>
        <p:sp>
          <p:nvSpPr>
            <p:cNvPr id="27" name="矩形: 圓角 26">
              <a:extLst>
                <a:ext uri="{FF2B5EF4-FFF2-40B4-BE49-F238E27FC236}">
                  <a16:creationId xmlns:a16="http://schemas.microsoft.com/office/drawing/2014/main" id="{85B2D382-827E-34DF-4C85-DED8B31B834D}"/>
                </a:ext>
              </a:extLst>
            </p:cNvPr>
            <p:cNvSpPr/>
            <p:nvPr/>
          </p:nvSpPr>
          <p:spPr bwMode="auto">
            <a:xfrm>
              <a:off x="9449577" y="-817353"/>
              <a:ext cx="2281498" cy="1735791"/>
            </a:xfrm>
            <a:prstGeom prst="roundRect">
              <a:avLst>
                <a:gd name="adj" fmla="val 4461"/>
              </a:avLst>
            </a:prstGeom>
            <a:solidFill>
              <a:schemeClr val="accent1">
                <a:lumMod val="75000"/>
                <a:alpha val="20000"/>
              </a:schemeClr>
            </a:solidFill>
            <a:ln w="222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endParaRPr>
            </a:p>
          </p:txBody>
        </p:sp>
        <p:sp>
          <p:nvSpPr>
            <p:cNvPr id="28" name="文字方塊 27">
              <a:extLst>
                <a:ext uri="{FF2B5EF4-FFF2-40B4-BE49-F238E27FC236}">
                  <a16:creationId xmlns:a16="http://schemas.microsoft.com/office/drawing/2014/main" id="{6B918D03-CA7C-11EF-6D73-E350F55494B2}"/>
                </a:ext>
              </a:extLst>
            </p:cNvPr>
            <p:cNvSpPr txBox="1"/>
            <p:nvPr/>
          </p:nvSpPr>
          <p:spPr>
            <a:xfrm>
              <a:off x="9489507" y="-631785"/>
              <a:ext cx="1109688" cy="742449"/>
            </a:xfrm>
            <a:prstGeom prst="rect">
              <a:avLst/>
            </a:prstGeom>
            <a:noFill/>
          </p:spPr>
          <p:txBody>
            <a:bodyPr wrap="none" rtlCol="0">
              <a:spAutoFit/>
            </a:bodyPr>
            <a:lstStyle/>
            <a:p>
              <a:pPr algn="ctr"/>
              <a:r>
                <a:rPr lang="zh-TW" altLang="en-US" sz="1400" dirty="0">
                  <a:solidFill>
                    <a:schemeClr val="accent1">
                      <a:lumMod val="75000"/>
                    </a:schemeClr>
                  </a:solidFill>
                  <a:latin typeface="微軟正黑體" panose="020B0604030504040204" pitchFamily="34" charset="-120"/>
                  <a:ea typeface="微軟正黑體" panose="020B0604030504040204" pitchFamily="34" charset="-120"/>
                </a:rPr>
                <a:t>圖示說明：</a:t>
              </a:r>
              <a:endParaRPr lang="en-US" altLang="zh-TW" sz="1400" dirty="0">
                <a:solidFill>
                  <a:schemeClr val="accent1">
                    <a:lumMod val="75000"/>
                  </a:schemeClr>
                </a:solidFill>
                <a:latin typeface="微軟正黑體" panose="020B0604030504040204" pitchFamily="34" charset="-120"/>
                <a:ea typeface="微軟正黑體" panose="020B0604030504040204" pitchFamily="34" charset="-120"/>
              </a:endParaRPr>
            </a:p>
            <a:p>
              <a:pPr algn="ctr"/>
              <a:endParaRPr lang="en-US" altLang="zh-TW" sz="1400" dirty="0">
                <a:solidFill>
                  <a:schemeClr val="accent1">
                    <a:lumMod val="75000"/>
                  </a:schemeClr>
                </a:solidFill>
                <a:latin typeface="微軟正黑體" panose="020B0604030504040204" pitchFamily="34" charset="-120"/>
                <a:ea typeface="微軟正黑體" panose="020B0604030504040204" pitchFamily="34" charset="-120"/>
              </a:endParaRPr>
            </a:p>
          </p:txBody>
        </p:sp>
        <p:cxnSp>
          <p:nvCxnSpPr>
            <p:cNvPr id="29" name="直線單箭頭接點 28">
              <a:extLst>
                <a:ext uri="{FF2B5EF4-FFF2-40B4-BE49-F238E27FC236}">
                  <a16:creationId xmlns:a16="http://schemas.microsoft.com/office/drawing/2014/main" id="{6ECD4FA6-A6D2-2DCF-DD04-81A7F498E2F7}"/>
                </a:ext>
              </a:extLst>
            </p:cNvPr>
            <p:cNvCxnSpPr>
              <a:cxnSpLocks/>
            </p:cNvCxnSpPr>
            <p:nvPr/>
          </p:nvCxnSpPr>
          <p:spPr bwMode="auto">
            <a:xfrm>
              <a:off x="9643158" y="-59680"/>
              <a:ext cx="686510" cy="0"/>
            </a:xfrm>
            <a:prstGeom prst="straightConnector1">
              <a:avLst/>
            </a:prstGeom>
            <a:solidFill>
              <a:schemeClr val="accent1"/>
            </a:solidFill>
            <a:ln w="19050" cap="flat" cmpd="sng" algn="ctr">
              <a:solidFill>
                <a:schemeClr val="accent1">
                  <a:lumMod val="75000"/>
                </a:schemeClr>
              </a:solidFill>
              <a:prstDash val="solid"/>
              <a:round/>
              <a:headEnd type="none" w="med" len="med"/>
              <a:tailEnd type="none"/>
            </a:ln>
            <a:effectLst/>
          </p:spPr>
        </p:cxnSp>
        <p:cxnSp>
          <p:nvCxnSpPr>
            <p:cNvPr id="30" name="直線單箭頭接點 29">
              <a:extLst>
                <a:ext uri="{FF2B5EF4-FFF2-40B4-BE49-F238E27FC236}">
                  <a16:creationId xmlns:a16="http://schemas.microsoft.com/office/drawing/2014/main" id="{5DEB0AFD-8579-9A63-9541-B598D33A5ED2}"/>
                </a:ext>
              </a:extLst>
            </p:cNvPr>
            <p:cNvCxnSpPr>
              <a:cxnSpLocks/>
            </p:cNvCxnSpPr>
            <p:nvPr/>
          </p:nvCxnSpPr>
          <p:spPr bwMode="auto">
            <a:xfrm>
              <a:off x="9656018" y="151790"/>
              <a:ext cx="673649" cy="0"/>
            </a:xfrm>
            <a:prstGeom prst="straightConnector1">
              <a:avLst/>
            </a:prstGeom>
            <a:solidFill>
              <a:schemeClr val="accent1"/>
            </a:solidFill>
            <a:ln w="19050" cap="flat" cmpd="sng" algn="ctr">
              <a:solidFill>
                <a:schemeClr val="accent1">
                  <a:lumMod val="75000"/>
                </a:schemeClr>
              </a:solidFill>
              <a:prstDash val="sysDash"/>
              <a:round/>
              <a:headEnd type="none" w="med" len="med"/>
              <a:tailEnd type="none"/>
            </a:ln>
            <a:effectLst/>
          </p:spPr>
        </p:cxnSp>
        <p:sp>
          <p:nvSpPr>
            <p:cNvPr id="31" name="文字方塊 30">
              <a:extLst>
                <a:ext uri="{FF2B5EF4-FFF2-40B4-BE49-F238E27FC236}">
                  <a16:creationId xmlns:a16="http://schemas.microsoft.com/office/drawing/2014/main" id="{8F911CA9-0010-8784-8E80-F3AD1B892A27}"/>
                </a:ext>
              </a:extLst>
            </p:cNvPr>
            <p:cNvSpPr txBox="1"/>
            <p:nvPr/>
          </p:nvSpPr>
          <p:spPr>
            <a:xfrm>
              <a:off x="10378845" y="-167812"/>
              <a:ext cx="1340631" cy="436735"/>
            </a:xfrm>
            <a:prstGeom prst="rect">
              <a:avLst/>
            </a:prstGeom>
            <a:noFill/>
          </p:spPr>
          <p:txBody>
            <a:bodyPr wrap="square" rtlCol="0">
              <a:spAutoFit/>
            </a:bodyPr>
            <a:lstStyle/>
            <a:p>
              <a:r>
                <a:rPr lang="zh-TW" altLang="en-US" sz="1400" b="0" dirty="0">
                  <a:solidFill>
                    <a:schemeClr val="tx1">
                      <a:lumMod val="85000"/>
                      <a:lumOff val="15000"/>
                    </a:schemeClr>
                  </a:solidFill>
                  <a:latin typeface="微軟正黑體" panose="020B0604030504040204" pitchFamily="34" charset="-120"/>
                  <a:ea typeface="微軟正黑體" panose="020B0604030504040204" pitchFamily="34" charset="-120"/>
                </a:rPr>
                <a:t>尚未建置項目</a:t>
              </a:r>
            </a:p>
          </p:txBody>
        </p:sp>
        <p:cxnSp>
          <p:nvCxnSpPr>
            <p:cNvPr id="32" name="直線單箭頭接點 31">
              <a:extLst>
                <a:ext uri="{FF2B5EF4-FFF2-40B4-BE49-F238E27FC236}">
                  <a16:creationId xmlns:a16="http://schemas.microsoft.com/office/drawing/2014/main" id="{F729FA24-D099-5244-3902-70F9A86ED6AE}"/>
                </a:ext>
              </a:extLst>
            </p:cNvPr>
            <p:cNvCxnSpPr>
              <a:cxnSpLocks/>
            </p:cNvCxnSpPr>
            <p:nvPr/>
          </p:nvCxnSpPr>
          <p:spPr bwMode="auto">
            <a:xfrm>
              <a:off x="9696480" y="578988"/>
              <a:ext cx="592982" cy="0"/>
            </a:xfrm>
            <a:prstGeom prst="straightConnector1">
              <a:avLst/>
            </a:prstGeom>
            <a:solidFill>
              <a:schemeClr val="accent1"/>
            </a:solidFill>
            <a:ln w="19050" cap="flat" cmpd="sng" algn="ctr">
              <a:solidFill>
                <a:srgbClr val="FF9B00"/>
              </a:solidFill>
              <a:prstDash val="solid"/>
              <a:round/>
              <a:headEnd type="none" w="med" len="med"/>
              <a:tailEnd type="none"/>
            </a:ln>
            <a:effectLst/>
          </p:spPr>
        </p:cxnSp>
        <p:sp>
          <p:nvSpPr>
            <p:cNvPr id="33" name="文字方塊 32">
              <a:extLst>
                <a:ext uri="{FF2B5EF4-FFF2-40B4-BE49-F238E27FC236}">
                  <a16:creationId xmlns:a16="http://schemas.microsoft.com/office/drawing/2014/main" id="{5D20664A-4FA4-02B7-32EE-BE8743EE19FA}"/>
                </a:ext>
              </a:extLst>
            </p:cNvPr>
            <p:cNvSpPr txBox="1"/>
            <p:nvPr/>
          </p:nvSpPr>
          <p:spPr>
            <a:xfrm>
              <a:off x="10394457" y="389204"/>
              <a:ext cx="1164057" cy="436735"/>
            </a:xfrm>
            <a:prstGeom prst="rect">
              <a:avLst/>
            </a:prstGeom>
            <a:noFill/>
          </p:spPr>
          <p:txBody>
            <a:bodyPr wrap="square" rtlCol="0">
              <a:spAutoFit/>
            </a:bodyPr>
            <a:lstStyle/>
            <a:p>
              <a:r>
                <a:rPr lang="zh-TW" altLang="en-US" sz="1400" b="0" dirty="0">
                  <a:solidFill>
                    <a:schemeClr val="tx1">
                      <a:lumMod val="85000"/>
                      <a:lumOff val="15000"/>
                    </a:schemeClr>
                  </a:solidFill>
                  <a:latin typeface="微軟正黑體" panose="020B0604030504040204" pitchFamily="34" charset="-120"/>
                  <a:ea typeface="微軟正黑體" panose="020B0604030504040204" pitchFamily="34" charset="-120"/>
                </a:rPr>
                <a:t>已建置項目</a:t>
              </a:r>
            </a:p>
          </p:txBody>
        </p:sp>
      </p:grpSp>
      <p:cxnSp>
        <p:nvCxnSpPr>
          <p:cNvPr id="34" name="接點: 肘形 33">
            <a:extLst>
              <a:ext uri="{FF2B5EF4-FFF2-40B4-BE49-F238E27FC236}">
                <a16:creationId xmlns:a16="http://schemas.microsoft.com/office/drawing/2014/main" id="{4408DCA7-CF17-1990-9AFF-97966A2BC256}"/>
              </a:ext>
            </a:extLst>
          </p:cNvPr>
          <p:cNvCxnSpPr>
            <a:cxnSpLocks/>
            <a:stCxn id="40" idx="4"/>
            <a:endCxn id="36" idx="1"/>
          </p:cNvCxnSpPr>
          <p:nvPr/>
        </p:nvCxnSpPr>
        <p:spPr bwMode="auto">
          <a:xfrm rot="5400000">
            <a:off x="1268603" y="1884974"/>
            <a:ext cx="2614090" cy="1248770"/>
          </a:xfrm>
          <a:prstGeom prst="bentConnector4">
            <a:avLst>
              <a:gd name="adj1" fmla="val 36269"/>
              <a:gd name="adj2" fmla="val 140906"/>
            </a:avLst>
          </a:prstGeom>
          <a:ln w="28575">
            <a:solidFill>
              <a:srgbClr val="FF9B00"/>
            </a:solidFill>
            <a:headEnd type="triangle" w="med" len="med"/>
            <a:tailEnd type="triangle"/>
          </a:ln>
        </p:spPr>
        <p:style>
          <a:lnRef idx="1">
            <a:schemeClr val="accent6"/>
          </a:lnRef>
          <a:fillRef idx="0">
            <a:schemeClr val="accent6"/>
          </a:fillRef>
          <a:effectRef idx="0">
            <a:schemeClr val="accent6"/>
          </a:effectRef>
          <a:fontRef idx="minor">
            <a:schemeClr val="tx1"/>
          </a:fontRef>
        </p:style>
      </p:cxnSp>
      <p:pic>
        <p:nvPicPr>
          <p:cNvPr id="35" name="圖片 34" descr="一張含有 圖形, 字型, 標誌, 平面設計 的圖片&#10;&#10;自動產生的描述">
            <a:extLst>
              <a:ext uri="{FF2B5EF4-FFF2-40B4-BE49-F238E27FC236}">
                <a16:creationId xmlns:a16="http://schemas.microsoft.com/office/drawing/2014/main" id="{466801EB-5985-74AE-F10B-2036073D589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65144" y="2388876"/>
            <a:ext cx="579015" cy="366872"/>
          </a:xfrm>
          <a:prstGeom prst="rect">
            <a:avLst/>
          </a:prstGeom>
        </p:spPr>
      </p:pic>
      <p:sp>
        <p:nvSpPr>
          <p:cNvPr id="36" name="矩形: 圓角 35">
            <a:extLst>
              <a:ext uri="{FF2B5EF4-FFF2-40B4-BE49-F238E27FC236}">
                <a16:creationId xmlns:a16="http://schemas.microsoft.com/office/drawing/2014/main" id="{6B277F34-A136-99C7-8204-D3DD0AB84D13}"/>
              </a:ext>
            </a:extLst>
          </p:cNvPr>
          <p:cNvSpPr/>
          <p:nvPr/>
        </p:nvSpPr>
        <p:spPr bwMode="auto">
          <a:xfrm>
            <a:off x="1951263" y="3595228"/>
            <a:ext cx="1137519" cy="442352"/>
          </a:xfrm>
          <a:prstGeom prst="roundRect">
            <a:avLst>
              <a:gd name="adj" fmla="val 4461"/>
            </a:avLst>
          </a:prstGeom>
          <a:solidFill>
            <a:srgbClr val="FF9B00"/>
          </a:solidFill>
          <a:ln w="22225" cap="flat" cmpd="sng" algn="ctr">
            <a:solidFill>
              <a:srgbClr val="FF9B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TW" sz="1200" dirty="0">
                <a:latin typeface="微軟正黑體" panose="020B0604030504040204" pitchFamily="34" charset="-120"/>
                <a:ea typeface="微軟正黑體" panose="020B0604030504040204" pitchFamily="34" charset="-120"/>
              </a:rPr>
              <a:t>Lambda/</a:t>
            </a:r>
            <a:br>
              <a:rPr lang="en-US" altLang="zh-TW" sz="1200" dirty="0">
                <a:latin typeface="微軟正黑體" panose="020B0604030504040204" pitchFamily="34" charset="-120"/>
                <a:ea typeface="微軟正黑體" panose="020B0604030504040204" pitchFamily="34" charset="-120"/>
              </a:rPr>
            </a:br>
            <a:r>
              <a:rPr lang="en-US" altLang="zh-TW" sz="1200" dirty="0" err="1">
                <a:latin typeface="微軟正黑體" panose="020B0604030504040204" pitchFamily="34" charset="-120"/>
                <a:ea typeface="微軟正黑體" panose="020B0604030504040204" pitchFamily="34" charset="-120"/>
              </a:rPr>
              <a:t>Fargate</a:t>
            </a:r>
            <a:endParaRPr kumimoji="0" lang="zh-TW" altLang="en-US" sz="1200" b="1"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endParaRPr>
          </a:p>
        </p:txBody>
      </p:sp>
      <p:sp>
        <p:nvSpPr>
          <p:cNvPr id="37" name="矩形: 圓角 36">
            <a:extLst>
              <a:ext uri="{FF2B5EF4-FFF2-40B4-BE49-F238E27FC236}">
                <a16:creationId xmlns:a16="http://schemas.microsoft.com/office/drawing/2014/main" id="{6D5C996A-5C23-9F54-92B2-086064868191}"/>
              </a:ext>
            </a:extLst>
          </p:cNvPr>
          <p:cNvSpPr/>
          <p:nvPr/>
        </p:nvSpPr>
        <p:spPr bwMode="auto">
          <a:xfrm>
            <a:off x="1951264" y="4348441"/>
            <a:ext cx="614024" cy="456282"/>
          </a:xfrm>
          <a:prstGeom prst="roundRect">
            <a:avLst>
              <a:gd name="adj" fmla="val 4461"/>
            </a:avLst>
          </a:prstGeom>
          <a:solidFill>
            <a:srgbClr val="FF9B00"/>
          </a:solidFill>
          <a:ln w="22225" cap="flat" cmpd="sng" algn="ctr">
            <a:solidFill>
              <a:srgbClr val="FF9B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TW" sz="1200" b="1"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S3</a:t>
            </a:r>
            <a:endParaRPr kumimoji="0" lang="zh-TW" altLang="en-US" sz="1200" b="1"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endParaRPr>
          </a:p>
        </p:txBody>
      </p:sp>
      <p:sp>
        <p:nvSpPr>
          <p:cNvPr id="38" name="矩形: 圓角 37">
            <a:extLst>
              <a:ext uri="{FF2B5EF4-FFF2-40B4-BE49-F238E27FC236}">
                <a16:creationId xmlns:a16="http://schemas.microsoft.com/office/drawing/2014/main" id="{D9439372-0CF1-A448-7C54-FA6487FAF7C6}"/>
              </a:ext>
            </a:extLst>
          </p:cNvPr>
          <p:cNvSpPr/>
          <p:nvPr/>
        </p:nvSpPr>
        <p:spPr bwMode="auto">
          <a:xfrm>
            <a:off x="1916345" y="2346531"/>
            <a:ext cx="3135600" cy="918231"/>
          </a:xfrm>
          <a:prstGeom prst="roundRect">
            <a:avLst>
              <a:gd name="adj" fmla="val 4461"/>
            </a:avLst>
          </a:prstGeom>
          <a:solidFill>
            <a:srgbClr val="FF9B00"/>
          </a:solidFill>
          <a:ln w="22225" cap="flat" cmpd="sng" algn="ctr">
            <a:solidFill>
              <a:srgbClr val="FF9B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TW" altLang="en-US" sz="1800" b="1" i="0" u="none" strike="noStrike" cap="none" normalizeH="0" baseline="0" dirty="0">
                <a:ln>
                  <a:noFill/>
                </a:ln>
                <a:solidFill>
                  <a:schemeClr val="bg1"/>
                </a:solidFill>
                <a:effectLst/>
                <a:latin typeface="微軟正黑體" panose="020B0604030504040204" pitchFamily="34" charset="-120"/>
                <a:ea typeface="微軟正黑體" panose="020B0604030504040204" pitchFamily="34" charset="-120"/>
              </a:rPr>
              <a:t>爬蟲館 </a:t>
            </a:r>
            <a:r>
              <a:rPr kumimoji="0" lang="en-US" altLang="zh-TW" sz="1800" b="1" i="0" u="none" strike="noStrike" cap="none" normalizeH="0" baseline="0" dirty="0">
                <a:ln>
                  <a:noFill/>
                </a:ln>
                <a:solidFill>
                  <a:schemeClr val="bg1"/>
                </a:solidFill>
                <a:effectLst/>
                <a:latin typeface="微軟正黑體" panose="020B0604030504040204" pitchFamily="34" charset="-120"/>
                <a:ea typeface="微軟正黑體" panose="020B0604030504040204" pitchFamily="34" charset="-120"/>
              </a:rPr>
              <a:t>AP</a:t>
            </a:r>
            <a:r>
              <a:rPr kumimoji="0" lang="zh-TW" altLang="en-US" sz="1800" b="1" i="0" u="none" strike="noStrike" cap="none" normalizeH="0" baseline="0" dirty="0">
                <a:ln>
                  <a:noFill/>
                </a:ln>
                <a:solidFill>
                  <a:schemeClr val="bg1"/>
                </a:solidFill>
                <a:effectLst/>
                <a:latin typeface="微軟正黑體" panose="020B0604030504040204" pitchFamily="34" charset="-120"/>
                <a:ea typeface="微軟正黑體" panose="020B0604030504040204" pitchFamily="34" charset="-120"/>
              </a:rPr>
              <a:t>測試機</a:t>
            </a:r>
            <a:br>
              <a:rPr kumimoji="0" lang="en-US" altLang="zh-TW" sz="1800" b="1" i="0" u="none" strike="noStrike" cap="none" normalizeH="0" baseline="0" dirty="0">
                <a:ln>
                  <a:noFill/>
                </a:ln>
                <a:solidFill>
                  <a:schemeClr val="bg1"/>
                </a:solidFill>
                <a:effectLst/>
                <a:latin typeface="微軟正黑體" panose="020B0604030504040204" pitchFamily="34" charset="-120"/>
                <a:ea typeface="微軟正黑體" panose="020B0604030504040204" pitchFamily="34" charset="-120"/>
              </a:rPr>
            </a:br>
            <a:r>
              <a:rPr kumimoji="0" lang="en-US" altLang="zh-TW" sz="1800" b="1" i="0" u="none" strike="noStrike" cap="none" normalizeH="0" baseline="0" dirty="0" err="1">
                <a:ln>
                  <a:noFill/>
                </a:ln>
                <a:solidFill>
                  <a:schemeClr val="bg1"/>
                </a:solidFill>
                <a:effectLst/>
                <a:latin typeface="微軟正黑體" panose="020B0604030504040204" pitchFamily="34" charset="-120"/>
                <a:ea typeface="微軟正黑體" panose="020B0604030504040204" pitchFamily="34" charset="-120"/>
              </a:rPr>
              <a:t>aws</a:t>
            </a:r>
            <a:r>
              <a:rPr kumimoji="0" lang="en-US" altLang="zh-TW" sz="1800" b="1" i="0" u="none" strike="noStrike" cap="none" normalizeH="0" baseline="0" dirty="0">
                <a:ln>
                  <a:noFill/>
                </a:ln>
                <a:solidFill>
                  <a:schemeClr val="bg1"/>
                </a:solidFill>
                <a:effectLst/>
                <a:latin typeface="微軟正黑體" panose="020B0604030504040204" pitchFamily="34" charset="-120"/>
                <a:ea typeface="微軟正黑體" panose="020B0604030504040204" pitchFamily="34" charset="-120"/>
              </a:rPr>
              <a:t>-test-</a:t>
            </a:r>
            <a:r>
              <a:rPr kumimoji="0" lang="en-US" altLang="zh-TW" sz="1800" b="1" i="0" u="none" strike="noStrike" cap="none" normalizeH="0" baseline="0" dirty="0" err="1">
                <a:ln>
                  <a:noFill/>
                </a:ln>
                <a:solidFill>
                  <a:schemeClr val="bg1"/>
                </a:solidFill>
                <a:effectLst/>
                <a:latin typeface="微軟正黑體" panose="020B0604030504040204" pitchFamily="34" charset="-120"/>
                <a:ea typeface="微軟正黑體" panose="020B0604030504040204" pitchFamily="34" charset="-120"/>
              </a:rPr>
              <a:t>dmz</a:t>
            </a:r>
            <a:r>
              <a:rPr kumimoji="0" lang="en-US" altLang="zh-TW" sz="1800" b="1" i="0" u="none" strike="noStrike" cap="none" normalizeH="0" baseline="0" dirty="0">
                <a:ln>
                  <a:noFill/>
                </a:ln>
                <a:solidFill>
                  <a:schemeClr val="bg1"/>
                </a:solidFill>
                <a:effectLst/>
                <a:latin typeface="微軟正黑體" panose="020B0604030504040204" pitchFamily="34" charset="-120"/>
                <a:ea typeface="微軟正黑體" panose="020B0604030504040204" pitchFamily="34" charset="-120"/>
              </a:rPr>
              <a:t>-crawler</a:t>
            </a:r>
            <a:br>
              <a:rPr kumimoji="0" lang="en-US" altLang="zh-TW" sz="1800" b="1" i="0" u="none" strike="noStrike" cap="none" normalizeH="0" baseline="0" dirty="0">
                <a:ln>
                  <a:noFill/>
                </a:ln>
                <a:solidFill>
                  <a:schemeClr val="bg1"/>
                </a:solidFill>
                <a:effectLst/>
                <a:latin typeface="微軟正黑體" panose="020B0604030504040204" pitchFamily="34" charset="-120"/>
                <a:ea typeface="微軟正黑體" panose="020B0604030504040204" pitchFamily="34" charset="-120"/>
              </a:rPr>
            </a:br>
            <a:r>
              <a:rPr kumimoji="0" lang="en-US" altLang="zh-TW" b="1" i="0" u="none" strike="noStrike" cap="none" normalizeH="0" baseline="0" dirty="0">
                <a:ln>
                  <a:noFill/>
                </a:ln>
                <a:solidFill>
                  <a:schemeClr val="bg1"/>
                </a:solidFill>
                <a:effectLst/>
                <a:latin typeface="微軟正黑體" panose="020B0604030504040204" pitchFamily="34" charset="-120"/>
                <a:ea typeface="微軟正黑體" panose="020B0604030504040204" pitchFamily="34" charset="-120"/>
              </a:rPr>
              <a:t>(10.6.100.36)</a:t>
            </a:r>
            <a:endParaRPr kumimoji="0" lang="zh-TW" altLang="en-US" b="1" i="0" u="none" strike="noStrike" cap="none" normalizeH="0" baseline="0" dirty="0">
              <a:ln>
                <a:noFill/>
              </a:ln>
              <a:solidFill>
                <a:schemeClr val="bg1"/>
              </a:solidFill>
              <a:effectLst/>
              <a:latin typeface="微軟正黑體" panose="020B0604030504040204" pitchFamily="34" charset="-120"/>
              <a:ea typeface="微軟正黑體" panose="020B0604030504040204" pitchFamily="34" charset="-120"/>
            </a:endParaRPr>
          </a:p>
        </p:txBody>
      </p:sp>
      <p:sp>
        <p:nvSpPr>
          <p:cNvPr id="39" name="文字方塊 38">
            <a:extLst>
              <a:ext uri="{FF2B5EF4-FFF2-40B4-BE49-F238E27FC236}">
                <a16:creationId xmlns:a16="http://schemas.microsoft.com/office/drawing/2014/main" id="{B4C53E1C-C039-50AC-6E16-0817E4DAA56C}"/>
              </a:ext>
            </a:extLst>
          </p:cNvPr>
          <p:cNvSpPr txBox="1"/>
          <p:nvPr/>
        </p:nvSpPr>
        <p:spPr>
          <a:xfrm>
            <a:off x="3067985" y="3650432"/>
            <a:ext cx="1126344" cy="307777"/>
          </a:xfrm>
          <a:prstGeom prst="rect">
            <a:avLst/>
          </a:prstGeom>
          <a:noFill/>
        </p:spPr>
        <p:txBody>
          <a:bodyPr wrap="square" rtlCol="0">
            <a:spAutoFit/>
          </a:bodyPr>
          <a:lstStyle/>
          <a:p>
            <a:pPr algn="ctr"/>
            <a:r>
              <a:rPr lang="en-US" altLang="zh-TW" sz="1400" b="0" dirty="0">
                <a:solidFill>
                  <a:schemeClr val="tx1">
                    <a:lumMod val="85000"/>
                    <a:lumOff val="15000"/>
                  </a:schemeClr>
                </a:solidFill>
                <a:latin typeface="微軟正黑體" panose="020B0604030504040204" pitchFamily="34" charset="-120"/>
                <a:ea typeface="微軟正黑體" panose="020B0604030504040204" pitchFamily="34" charset="-120"/>
              </a:rPr>
              <a:t>.csv </a:t>
            </a:r>
            <a:r>
              <a:rPr lang="zh-TW" altLang="en-US" sz="1400" b="0" dirty="0">
                <a:solidFill>
                  <a:schemeClr val="tx1">
                    <a:lumMod val="85000"/>
                    <a:lumOff val="15000"/>
                  </a:schemeClr>
                </a:solidFill>
                <a:latin typeface="微軟正黑體" panose="020B0604030504040204" pitchFamily="34" charset="-120"/>
                <a:ea typeface="微軟正黑體" panose="020B0604030504040204" pitchFamily="34" charset="-120"/>
              </a:rPr>
              <a:t>整理檔</a:t>
            </a:r>
          </a:p>
        </p:txBody>
      </p:sp>
      <p:sp>
        <p:nvSpPr>
          <p:cNvPr id="40" name="橢圓 39">
            <a:extLst>
              <a:ext uri="{FF2B5EF4-FFF2-40B4-BE49-F238E27FC236}">
                <a16:creationId xmlns:a16="http://schemas.microsoft.com/office/drawing/2014/main" id="{08724E84-36E3-D6E8-E8D3-5D6BA70F4FD1}"/>
              </a:ext>
            </a:extLst>
          </p:cNvPr>
          <p:cNvSpPr/>
          <p:nvPr/>
        </p:nvSpPr>
        <p:spPr bwMode="auto">
          <a:xfrm>
            <a:off x="2600845" y="662499"/>
            <a:ext cx="1198376" cy="539815"/>
          </a:xfrm>
          <a:prstGeom prst="ellipse">
            <a:avLst/>
          </a:prstGeom>
          <a:solidFill>
            <a:srgbClr val="FF9B00"/>
          </a:solidFill>
          <a:ln>
            <a:noFill/>
            <a:headEnd type="none" w="med" len="med"/>
            <a:tailEnd type="none" w="med" len="med"/>
          </a:ln>
        </p:spPr>
        <p:style>
          <a:lnRef idx="1">
            <a:schemeClr val="accent6"/>
          </a:lnRef>
          <a:fillRef idx="3">
            <a:schemeClr val="accent6"/>
          </a:fillRef>
          <a:effectRef idx="2">
            <a:schemeClr val="accent6"/>
          </a:effectRef>
          <a:fontRef idx="minor">
            <a:schemeClr val="lt1"/>
          </a:fontRef>
        </p:style>
        <p:txBody>
          <a:bodyPr vert="horz" wrap="square" lIns="91440" tIns="45720" rIns="91440" bIns="45720" numCol="1" rtlCol="0" anchor="t" anchorCtr="0" compatLnSpc="1">
            <a:prstTxWarp prst="textNoShape">
              <a:avLst/>
            </a:prstTxWarp>
          </a:bodyPr>
          <a:lstStyle/>
          <a:p>
            <a:pPr algn="ctr"/>
            <a:r>
              <a:rPr lang="en-US" altLang="zh-TW" sz="1200" i="0" u="none" strike="noStrike" dirty="0">
                <a:solidFill>
                  <a:schemeClr val="bg1"/>
                </a:solidFill>
                <a:effectLst/>
                <a:latin typeface="微軟正黑體" panose="020B0604030504040204" pitchFamily="34" charset="-120"/>
                <a:ea typeface="微軟正黑體" panose="020B0604030504040204" pitchFamily="34" charset="-120"/>
              </a:rPr>
              <a:t>Data </a:t>
            </a:r>
          </a:p>
          <a:p>
            <a:pPr algn="ctr"/>
            <a:r>
              <a:rPr lang="en-US" altLang="zh-TW" sz="1200" dirty="0">
                <a:solidFill>
                  <a:schemeClr val="bg1"/>
                </a:solidFill>
                <a:latin typeface="微軟正黑體" panose="020B0604030504040204" pitchFamily="34" charset="-120"/>
                <a:ea typeface="微軟正黑體" panose="020B0604030504040204" pitchFamily="34" charset="-120"/>
              </a:rPr>
              <a:t>Source2</a:t>
            </a:r>
          </a:p>
        </p:txBody>
      </p:sp>
      <p:sp>
        <p:nvSpPr>
          <p:cNvPr id="41" name="矩形: 剪去同側角落 40">
            <a:extLst>
              <a:ext uri="{FF2B5EF4-FFF2-40B4-BE49-F238E27FC236}">
                <a16:creationId xmlns:a16="http://schemas.microsoft.com/office/drawing/2014/main" id="{EC2A94A6-C289-A62E-307F-7EF6DD809CC9}"/>
              </a:ext>
            </a:extLst>
          </p:cNvPr>
          <p:cNvSpPr/>
          <p:nvPr/>
        </p:nvSpPr>
        <p:spPr bwMode="auto">
          <a:xfrm>
            <a:off x="1574050" y="698437"/>
            <a:ext cx="909433" cy="573062"/>
          </a:xfrm>
          <a:prstGeom prst="snip2SameRect">
            <a:avLst/>
          </a:prstGeom>
          <a:solidFill>
            <a:srgbClr val="FF9B00"/>
          </a:solidFill>
          <a:ln>
            <a:noFill/>
            <a:headEnd type="none" w="med" len="med"/>
            <a:tailEnd type="none" w="med" len="med"/>
          </a:ln>
        </p:spPr>
        <p:style>
          <a:lnRef idx="1">
            <a:schemeClr val="accent6"/>
          </a:lnRef>
          <a:fillRef idx="3">
            <a:schemeClr val="accent6"/>
          </a:fillRef>
          <a:effectRef idx="2">
            <a:schemeClr val="accent6"/>
          </a:effectRef>
          <a:fontRef idx="minor">
            <a:schemeClr val="lt1"/>
          </a:fontRef>
        </p:style>
        <p:txBody>
          <a:bodyPr vert="horz" wrap="square" lIns="91440" tIns="45720" rIns="91440" bIns="45720" numCol="1" rtlCol="0" anchor="t" anchorCtr="0" compatLnSpc="1">
            <a:prstTxWarp prst="textNoShape">
              <a:avLst/>
            </a:prstTxWarp>
          </a:bodyPr>
          <a:lstStyle/>
          <a:p>
            <a:pPr algn="ctr"/>
            <a:r>
              <a:rPr lang="en-US" altLang="zh-TW" sz="1200" dirty="0">
                <a:solidFill>
                  <a:schemeClr val="bg1"/>
                </a:solidFill>
                <a:latin typeface="微軟正黑體" panose="020B0604030504040204" pitchFamily="34" charset="-120"/>
                <a:ea typeface="微軟正黑體" panose="020B0604030504040204" pitchFamily="34" charset="-120"/>
              </a:rPr>
              <a:t>Data </a:t>
            </a:r>
          </a:p>
          <a:p>
            <a:pPr algn="ctr"/>
            <a:r>
              <a:rPr lang="en-US" altLang="zh-TW" sz="1200" dirty="0">
                <a:solidFill>
                  <a:schemeClr val="bg1"/>
                </a:solidFill>
                <a:latin typeface="微軟正黑體" panose="020B0604030504040204" pitchFamily="34" charset="-120"/>
                <a:ea typeface="微軟正黑體" panose="020B0604030504040204" pitchFamily="34" charset="-120"/>
              </a:rPr>
              <a:t>Source1</a:t>
            </a:r>
          </a:p>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2400" b="1"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endParaRPr>
          </a:p>
        </p:txBody>
      </p:sp>
      <p:cxnSp>
        <p:nvCxnSpPr>
          <p:cNvPr id="42" name="接點: 肘形 41">
            <a:extLst>
              <a:ext uri="{FF2B5EF4-FFF2-40B4-BE49-F238E27FC236}">
                <a16:creationId xmlns:a16="http://schemas.microsoft.com/office/drawing/2014/main" id="{2332F841-867D-BF29-73A3-15BCFFAFAE5B}"/>
              </a:ext>
            </a:extLst>
          </p:cNvPr>
          <p:cNvCxnSpPr>
            <a:cxnSpLocks/>
            <a:stCxn id="41" idx="2"/>
            <a:endCxn id="37" idx="1"/>
          </p:cNvCxnSpPr>
          <p:nvPr/>
        </p:nvCxnSpPr>
        <p:spPr bwMode="auto">
          <a:xfrm rot="10800000" flipH="1" flipV="1">
            <a:off x="1574050" y="984968"/>
            <a:ext cx="377214" cy="3591614"/>
          </a:xfrm>
          <a:prstGeom prst="bentConnector3">
            <a:avLst>
              <a:gd name="adj1" fmla="val -60602"/>
            </a:avLst>
          </a:prstGeom>
          <a:ln w="28575">
            <a:solidFill>
              <a:srgbClr val="FF9B00"/>
            </a:solidFill>
            <a:headEnd type="triangle" w="med" len="med"/>
            <a:tailEnd type="triangle"/>
          </a:ln>
        </p:spPr>
        <p:style>
          <a:lnRef idx="1">
            <a:schemeClr val="accent6"/>
          </a:lnRef>
          <a:fillRef idx="0">
            <a:schemeClr val="accent6"/>
          </a:fillRef>
          <a:effectRef idx="0">
            <a:schemeClr val="accent6"/>
          </a:effectRef>
          <a:fontRef idx="minor">
            <a:schemeClr val="tx1"/>
          </a:fontRef>
        </p:style>
      </p:cxnSp>
      <p:sp>
        <p:nvSpPr>
          <p:cNvPr id="43" name="文字方塊 42">
            <a:extLst>
              <a:ext uri="{FF2B5EF4-FFF2-40B4-BE49-F238E27FC236}">
                <a16:creationId xmlns:a16="http://schemas.microsoft.com/office/drawing/2014/main" id="{6B09715A-E933-1A37-E595-6E8516A08135}"/>
              </a:ext>
            </a:extLst>
          </p:cNvPr>
          <p:cNvSpPr txBox="1"/>
          <p:nvPr/>
        </p:nvSpPr>
        <p:spPr>
          <a:xfrm>
            <a:off x="1422409" y="1848716"/>
            <a:ext cx="1634225" cy="276999"/>
          </a:xfrm>
          <a:prstGeom prst="rect">
            <a:avLst/>
          </a:prstGeom>
          <a:noFill/>
        </p:spPr>
        <p:txBody>
          <a:bodyPr wrap="square" rtlCol="0">
            <a:spAutoFit/>
          </a:bodyPr>
          <a:lstStyle/>
          <a:p>
            <a:r>
              <a:rPr lang="en-US" altLang="zh-TW" sz="1200" dirty="0">
                <a:solidFill>
                  <a:schemeClr val="tx1">
                    <a:lumMod val="75000"/>
                    <a:lumOff val="25000"/>
                  </a:schemeClr>
                </a:solidFill>
                <a:highlight>
                  <a:srgbClr val="C0C0C0"/>
                </a:highlight>
                <a:latin typeface="微軟正黑體" panose="020B0604030504040204" pitchFamily="34" charset="-120"/>
                <a:ea typeface="微軟正黑體" panose="020B0604030504040204" pitchFamily="34" charset="-120"/>
              </a:rPr>
              <a:t>①</a:t>
            </a:r>
            <a:r>
              <a:rPr lang="zh-TW" altLang="en-US" sz="1200" dirty="0">
                <a:solidFill>
                  <a:schemeClr val="tx1">
                    <a:lumMod val="75000"/>
                    <a:lumOff val="25000"/>
                  </a:schemeClr>
                </a:solidFill>
                <a:highlight>
                  <a:srgbClr val="C0C0C0"/>
                </a:highlight>
                <a:latin typeface="微軟正黑體" panose="020B0604030504040204" pitchFamily="34" charset="-120"/>
                <a:ea typeface="微軟正黑體" panose="020B0604030504040204" pitchFamily="34" charset="-120"/>
              </a:rPr>
              <a:t>爬蟲程式爬取資料</a:t>
            </a:r>
            <a:endParaRPr lang="en-US" altLang="zh-TW" sz="1200" dirty="0">
              <a:solidFill>
                <a:schemeClr val="tx1">
                  <a:lumMod val="75000"/>
                  <a:lumOff val="25000"/>
                </a:schemeClr>
              </a:solidFill>
              <a:highlight>
                <a:srgbClr val="C0C0C0"/>
              </a:highlight>
              <a:latin typeface="微軟正黑體" panose="020B0604030504040204" pitchFamily="34" charset="-120"/>
              <a:ea typeface="微軟正黑體" panose="020B0604030504040204" pitchFamily="34" charset="-120"/>
            </a:endParaRPr>
          </a:p>
        </p:txBody>
      </p:sp>
      <p:cxnSp>
        <p:nvCxnSpPr>
          <p:cNvPr id="44" name="直線單箭頭接點 43">
            <a:extLst>
              <a:ext uri="{FF2B5EF4-FFF2-40B4-BE49-F238E27FC236}">
                <a16:creationId xmlns:a16="http://schemas.microsoft.com/office/drawing/2014/main" id="{5D6300DA-AC43-D3C1-05AF-3C8B0C2C72B9}"/>
              </a:ext>
            </a:extLst>
          </p:cNvPr>
          <p:cNvCxnSpPr>
            <a:cxnSpLocks/>
          </p:cNvCxnSpPr>
          <p:nvPr/>
        </p:nvCxnSpPr>
        <p:spPr bwMode="auto">
          <a:xfrm>
            <a:off x="2258276" y="4353247"/>
            <a:ext cx="0" cy="310861"/>
          </a:xfrm>
          <a:prstGeom prst="straightConnector1">
            <a:avLst/>
          </a:prstGeom>
          <a:solidFill>
            <a:schemeClr val="accent1"/>
          </a:solidFill>
          <a:ln w="15875" cap="flat" cmpd="sng" algn="ctr">
            <a:solidFill>
              <a:srgbClr val="FF9B00"/>
            </a:solidFill>
            <a:prstDash val="solid"/>
            <a:round/>
            <a:headEnd type="none" w="med" len="med"/>
            <a:tailEnd type="triangle"/>
          </a:ln>
          <a:effectLst/>
        </p:spPr>
      </p:cxnSp>
      <p:sp>
        <p:nvSpPr>
          <p:cNvPr id="45" name="矩形: 圓角 44">
            <a:extLst>
              <a:ext uri="{FF2B5EF4-FFF2-40B4-BE49-F238E27FC236}">
                <a16:creationId xmlns:a16="http://schemas.microsoft.com/office/drawing/2014/main" id="{7CBE3330-347A-F19E-FB64-3AD165D16B16}"/>
              </a:ext>
            </a:extLst>
          </p:cNvPr>
          <p:cNvSpPr/>
          <p:nvPr/>
        </p:nvSpPr>
        <p:spPr bwMode="auto">
          <a:xfrm>
            <a:off x="1808050" y="3473617"/>
            <a:ext cx="2704677" cy="1606841"/>
          </a:xfrm>
          <a:prstGeom prst="roundRect">
            <a:avLst>
              <a:gd name="adj" fmla="val 4461"/>
            </a:avLst>
          </a:prstGeom>
          <a:noFill/>
          <a:ln w="22225" cap="flat" cmpd="sng" algn="ctr">
            <a:solidFill>
              <a:srgbClr val="FF9B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endParaRPr>
          </a:p>
        </p:txBody>
      </p:sp>
      <p:cxnSp>
        <p:nvCxnSpPr>
          <p:cNvPr id="46" name="直線單箭頭接點 45">
            <a:extLst>
              <a:ext uri="{FF2B5EF4-FFF2-40B4-BE49-F238E27FC236}">
                <a16:creationId xmlns:a16="http://schemas.microsoft.com/office/drawing/2014/main" id="{9BF1A769-C69F-F45D-D144-C01DC5C1A03F}"/>
              </a:ext>
            </a:extLst>
          </p:cNvPr>
          <p:cNvCxnSpPr>
            <a:cxnSpLocks/>
          </p:cNvCxnSpPr>
          <p:nvPr/>
        </p:nvCxnSpPr>
        <p:spPr bwMode="auto">
          <a:xfrm>
            <a:off x="2565288" y="4651137"/>
            <a:ext cx="990745" cy="7281"/>
          </a:xfrm>
          <a:prstGeom prst="straightConnector1">
            <a:avLst/>
          </a:prstGeom>
          <a:solidFill>
            <a:schemeClr val="accent1"/>
          </a:solidFill>
          <a:ln w="15875" cap="flat" cmpd="sng" algn="ctr">
            <a:solidFill>
              <a:srgbClr val="FF9B00"/>
            </a:solidFill>
            <a:prstDash val="solid"/>
            <a:round/>
            <a:headEnd type="none" w="med" len="med"/>
            <a:tailEnd type="triangle"/>
          </a:ln>
          <a:effectLst/>
        </p:spPr>
      </p:cxnSp>
      <p:pic>
        <p:nvPicPr>
          <p:cNvPr id="48" name="圖片 47" descr="一張含有 黑色, 黑暗 的圖片&#10;&#10;自動產生的描述">
            <a:extLst>
              <a:ext uri="{FF2B5EF4-FFF2-40B4-BE49-F238E27FC236}">
                <a16:creationId xmlns:a16="http://schemas.microsoft.com/office/drawing/2014/main" id="{2BA1C5BA-112A-590B-8B74-AFFFFACBE23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079530" y="4181042"/>
            <a:ext cx="340725" cy="303563"/>
          </a:xfrm>
          <a:prstGeom prst="rect">
            <a:avLst/>
          </a:prstGeom>
        </p:spPr>
      </p:pic>
      <p:sp>
        <p:nvSpPr>
          <p:cNvPr id="49" name="矩形: 圓角 48">
            <a:extLst>
              <a:ext uri="{FF2B5EF4-FFF2-40B4-BE49-F238E27FC236}">
                <a16:creationId xmlns:a16="http://schemas.microsoft.com/office/drawing/2014/main" id="{666D3DA2-AE47-D213-D1E9-013ED7718C65}"/>
              </a:ext>
            </a:extLst>
          </p:cNvPr>
          <p:cNvSpPr/>
          <p:nvPr/>
        </p:nvSpPr>
        <p:spPr bwMode="auto">
          <a:xfrm>
            <a:off x="2700310" y="4259585"/>
            <a:ext cx="776947" cy="365397"/>
          </a:xfrm>
          <a:prstGeom prst="roundRect">
            <a:avLst>
              <a:gd name="adj" fmla="val 8962"/>
            </a:avLst>
          </a:prstGeom>
          <a:solidFill>
            <a:schemeClr val="accent5">
              <a:lumMod val="20000"/>
              <a:lumOff val="80000"/>
            </a:schemeClr>
          </a:solidFill>
          <a:ln w="28575">
            <a:solidFill>
              <a:schemeClr val="accent3">
                <a:lumMod val="50000"/>
              </a:schemeClr>
            </a:solidFill>
            <a:prstDash val="sysDot"/>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a:lnSpc>
                <a:spcPct val="100000"/>
              </a:lnSpc>
              <a:spcBef>
                <a:spcPct val="0"/>
              </a:spcBef>
              <a:spcAft>
                <a:spcPct val="0"/>
              </a:spcAft>
              <a:buNone/>
              <a:tabLst/>
            </a:pPr>
            <a:r>
              <a:rPr lang="en-US" sz="1100" dirty="0" err="1">
                <a:solidFill>
                  <a:schemeClr val="tx1">
                    <a:lumMod val="85000"/>
                    <a:lumOff val="15000"/>
                  </a:schemeClr>
                </a:solidFill>
                <a:latin typeface="微軟正黑體" panose="020B0604030504040204" pitchFamily="34" charset="-120"/>
                <a:ea typeface="微軟正黑體" panose="020B0604030504040204" pitchFamily="34" charset="-120"/>
              </a:rPr>
              <a:t>優化</a:t>
            </a:r>
            <a:endParaRPr lang="en-US" sz="1100" dirty="0">
              <a:solidFill>
                <a:schemeClr val="tx1">
                  <a:lumMod val="85000"/>
                  <a:lumOff val="15000"/>
                </a:schemeClr>
              </a:solidFill>
              <a:latin typeface="微軟正黑體" panose="020B0604030504040204" pitchFamily="34" charset="-120"/>
              <a:ea typeface="微軟正黑體" panose="020B0604030504040204" pitchFamily="34" charset="-120"/>
            </a:endParaRPr>
          </a:p>
          <a:p>
            <a:pPr marL="0" marR="0" indent="0" algn="ctr" defTabSz="914400">
              <a:lnSpc>
                <a:spcPct val="100000"/>
              </a:lnSpc>
              <a:spcBef>
                <a:spcPct val="0"/>
              </a:spcBef>
              <a:spcAft>
                <a:spcPct val="0"/>
              </a:spcAft>
              <a:buNone/>
              <a:tabLst/>
            </a:pPr>
            <a:r>
              <a:rPr lang="en-US" sz="1100" dirty="0" err="1">
                <a:solidFill>
                  <a:schemeClr val="tx1">
                    <a:lumMod val="85000"/>
                    <a:lumOff val="15000"/>
                  </a:schemeClr>
                </a:solidFill>
                <a:latin typeface="微軟正黑體" panose="020B0604030504040204" pitchFamily="34" charset="-120"/>
                <a:ea typeface="微軟正黑體" panose="020B0604030504040204" pitchFamily="34" charset="-120"/>
              </a:rPr>
              <a:t>資料存儲</a:t>
            </a:r>
            <a:endParaRPr lang="zh-TW" dirty="0" err="1">
              <a:latin typeface="微軟正黑體" panose="020B0604030504040204" pitchFamily="34" charset="-120"/>
              <a:ea typeface="微軟正黑體" panose="020B0604030504040204" pitchFamily="34" charset="-120"/>
            </a:endParaRPr>
          </a:p>
        </p:txBody>
      </p:sp>
      <p:grpSp>
        <p:nvGrpSpPr>
          <p:cNvPr id="81" name="群組 80">
            <a:extLst>
              <a:ext uri="{FF2B5EF4-FFF2-40B4-BE49-F238E27FC236}">
                <a16:creationId xmlns:a16="http://schemas.microsoft.com/office/drawing/2014/main" id="{AC06591D-C6DA-7609-743E-86208783DD7E}"/>
              </a:ext>
            </a:extLst>
          </p:cNvPr>
          <p:cNvGrpSpPr/>
          <p:nvPr/>
        </p:nvGrpSpPr>
        <p:grpSpPr>
          <a:xfrm>
            <a:off x="7740487" y="1712241"/>
            <a:ext cx="1048333" cy="1256763"/>
            <a:chOff x="10832707" y="2324984"/>
            <a:chExt cx="1074813" cy="1099678"/>
          </a:xfrm>
        </p:grpSpPr>
        <p:sp>
          <p:nvSpPr>
            <p:cNvPr id="82" name="矩形: 圓角 81">
              <a:extLst>
                <a:ext uri="{FF2B5EF4-FFF2-40B4-BE49-F238E27FC236}">
                  <a16:creationId xmlns:a16="http://schemas.microsoft.com/office/drawing/2014/main" id="{974A8664-2BEC-8A2D-3333-12E39273D4DE}"/>
                </a:ext>
              </a:extLst>
            </p:cNvPr>
            <p:cNvSpPr/>
            <p:nvPr/>
          </p:nvSpPr>
          <p:spPr bwMode="auto">
            <a:xfrm>
              <a:off x="10936810" y="2787114"/>
              <a:ext cx="810625" cy="637548"/>
            </a:xfrm>
            <a:prstGeom prst="roundRect">
              <a:avLst>
                <a:gd name="adj" fmla="val 3278"/>
              </a:avLst>
            </a:prstGeom>
            <a:noFill/>
            <a:ln w="222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endParaRPr>
            </a:p>
          </p:txBody>
        </p:sp>
        <p:grpSp>
          <p:nvGrpSpPr>
            <p:cNvPr id="83" name="群組 82">
              <a:extLst>
                <a:ext uri="{FF2B5EF4-FFF2-40B4-BE49-F238E27FC236}">
                  <a16:creationId xmlns:a16="http://schemas.microsoft.com/office/drawing/2014/main" id="{3053B57E-961A-E6E5-D192-2306D5A10BA5}"/>
                </a:ext>
              </a:extLst>
            </p:cNvPr>
            <p:cNvGrpSpPr/>
            <p:nvPr/>
          </p:nvGrpSpPr>
          <p:grpSpPr>
            <a:xfrm>
              <a:off x="10832707" y="2324984"/>
              <a:ext cx="1074813" cy="1040197"/>
              <a:chOff x="10832707" y="2324984"/>
              <a:chExt cx="1074813" cy="1040197"/>
            </a:xfrm>
          </p:grpSpPr>
          <p:sp>
            <p:nvSpPr>
              <p:cNvPr id="84" name="文字方塊 83">
                <a:extLst>
                  <a:ext uri="{FF2B5EF4-FFF2-40B4-BE49-F238E27FC236}">
                    <a16:creationId xmlns:a16="http://schemas.microsoft.com/office/drawing/2014/main" id="{6528828C-2415-ABAF-1F46-3072996B232B}"/>
                  </a:ext>
                </a:extLst>
              </p:cNvPr>
              <p:cNvSpPr txBox="1"/>
              <p:nvPr/>
            </p:nvSpPr>
            <p:spPr>
              <a:xfrm>
                <a:off x="10832707" y="2324984"/>
                <a:ext cx="1074813" cy="403961"/>
              </a:xfrm>
              <a:prstGeom prst="rect">
                <a:avLst/>
              </a:prstGeom>
              <a:solidFill>
                <a:schemeClr val="tx1"/>
              </a:solidFill>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zh-TW" altLang="en-US" sz="1200" dirty="0">
                    <a:solidFill>
                      <a:schemeClr val="bg1"/>
                    </a:solidFill>
                    <a:latin typeface="微軟正黑體" panose="020B0604030504040204" pitchFamily="34" charset="-120"/>
                    <a:ea typeface="微軟正黑體" panose="020B0604030504040204" pitchFamily="34" charset="-120"/>
                  </a:rPr>
                  <a:t>測試環境</a:t>
                </a:r>
                <a:br>
                  <a:rPr lang="en-US" altLang="zh-TW" sz="1200" dirty="0">
                    <a:solidFill>
                      <a:schemeClr val="bg1"/>
                    </a:solidFill>
                    <a:latin typeface="微軟正黑體" panose="020B0604030504040204" pitchFamily="34" charset="-120"/>
                    <a:ea typeface="微軟正黑體" panose="020B0604030504040204" pitchFamily="34" charset="-120"/>
                  </a:rPr>
                </a:br>
                <a:r>
                  <a:rPr lang="en-US" altLang="zh-TW" sz="1200" dirty="0">
                    <a:solidFill>
                      <a:schemeClr val="bg1"/>
                    </a:solidFill>
                    <a:latin typeface="微軟正黑體" panose="020B0604030504040204" pitchFamily="34" charset="-120"/>
                    <a:ea typeface="微軟正黑體" panose="020B0604030504040204" pitchFamily="34" charset="-120"/>
                  </a:rPr>
                  <a:t>AI</a:t>
                </a:r>
                <a:r>
                  <a:rPr lang="zh-TW" altLang="en-US" sz="1200" dirty="0">
                    <a:solidFill>
                      <a:schemeClr val="bg1"/>
                    </a:solidFill>
                    <a:latin typeface="微軟正黑體" panose="020B0604030504040204" pitchFamily="34" charset="-120"/>
                    <a:ea typeface="微軟正黑體" panose="020B0604030504040204" pitchFamily="34" charset="-120"/>
                  </a:rPr>
                  <a:t>組應用</a:t>
                </a:r>
                <a:endParaRPr lang="en-US" altLang="zh-TW" sz="1200" dirty="0">
                  <a:solidFill>
                    <a:schemeClr val="bg1"/>
                  </a:solidFill>
                  <a:latin typeface="微軟正黑體" panose="020B0604030504040204" pitchFamily="34" charset="-120"/>
                  <a:ea typeface="微軟正黑體" panose="020B0604030504040204" pitchFamily="34" charset="-120"/>
                </a:endParaRPr>
              </a:p>
            </p:txBody>
          </p:sp>
          <p:grpSp>
            <p:nvGrpSpPr>
              <p:cNvPr id="85" name="Google Shape;10665;p90">
                <a:extLst>
                  <a:ext uri="{FF2B5EF4-FFF2-40B4-BE49-F238E27FC236}">
                    <a16:creationId xmlns:a16="http://schemas.microsoft.com/office/drawing/2014/main" id="{94685D1A-55B7-DB1B-8CCF-B762F6DADBE2}"/>
                  </a:ext>
                </a:extLst>
              </p:cNvPr>
              <p:cNvGrpSpPr/>
              <p:nvPr/>
            </p:nvGrpSpPr>
            <p:grpSpPr>
              <a:xfrm>
                <a:off x="10970833" y="2780273"/>
                <a:ext cx="586126" cy="584908"/>
                <a:chOff x="2633105" y="2431859"/>
                <a:chExt cx="363243" cy="328585"/>
              </a:xfrm>
            </p:grpSpPr>
            <p:sp>
              <p:nvSpPr>
                <p:cNvPr id="86" name="Google Shape;10666;p90">
                  <a:extLst>
                    <a:ext uri="{FF2B5EF4-FFF2-40B4-BE49-F238E27FC236}">
                      <a16:creationId xmlns:a16="http://schemas.microsoft.com/office/drawing/2014/main" id="{DBEA4AEE-6BB5-922D-8920-CD8E1A6BB377}"/>
                    </a:ext>
                  </a:extLst>
                </p:cNvPr>
                <p:cNvSpPr/>
                <p:nvPr/>
              </p:nvSpPr>
              <p:spPr>
                <a:xfrm>
                  <a:off x="2633105" y="2498260"/>
                  <a:ext cx="250462" cy="262184"/>
                </a:xfrm>
                <a:custGeom>
                  <a:avLst/>
                  <a:gdLst/>
                  <a:ahLst/>
                  <a:cxnLst/>
                  <a:rect l="l" t="t" r="r" b="b"/>
                  <a:pathLst>
                    <a:path w="7906" h="8276" extrusionOk="0">
                      <a:moveTo>
                        <a:pt x="5322" y="6644"/>
                      </a:moveTo>
                      <a:lnTo>
                        <a:pt x="5465" y="7263"/>
                      </a:lnTo>
                      <a:lnTo>
                        <a:pt x="4560" y="7263"/>
                      </a:lnTo>
                      <a:lnTo>
                        <a:pt x="4691" y="6644"/>
                      </a:lnTo>
                      <a:close/>
                      <a:moveTo>
                        <a:pt x="6465" y="7608"/>
                      </a:moveTo>
                      <a:lnTo>
                        <a:pt x="6465" y="7954"/>
                      </a:lnTo>
                      <a:lnTo>
                        <a:pt x="3548" y="7954"/>
                      </a:lnTo>
                      <a:lnTo>
                        <a:pt x="3548" y="7608"/>
                      </a:lnTo>
                      <a:close/>
                      <a:moveTo>
                        <a:pt x="167" y="0"/>
                      </a:moveTo>
                      <a:cubicBezTo>
                        <a:pt x="84" y="0"/>
                        <a:pt x="0" y="72"/>
                        <a:pt x="0" y="167"/>
                      </a:cubicBezTo>
                      <a:lnTo>
                        <a:pt x="0" y="6489"/>
                      </a:lnTo>
                      <a:cubicBezTo>
                        <a:pt x="0" y="6585"/>
                        <a:pt x="84" y="6656"/>
                        <a:pt x="167" y="6656"/>
                      </a:cubicBezTo>
                      <a:lnTo>
                        <a:pt x="4346" y="6656"/>
                      </a:lnTo>
                      <a:lnTo>
                        <a:pt x="4203" y="7287"/>
                      </a:lnTo>
                      <a:lnTo>
                        <a:pt x="3370" y="7287"/>
                      </a:lnTo>
                      <a:cubicBezTo>
                        <a:pt x="3274" y="7287"/>
                        <a:pt x="3203" y="7358"/>
                        <a:pt x="3203" y="7442"/>
                      </a:cubicBezTo>
                      <a:lnTo>
                        <a:pt x="3203" y="8120"/>
                      </a:lnTo>
                      <a:cubicBezTo>
                        <a:pt x="3203" y="8204"/>
                        <a:pt x="3274" y="8275"/>
                        <a:pt x="3370" y="8275"/>
                      </a:cubicBezTo>
                      <a:lnTo>
                        <a:pt x="6632" y="8275"/>
                      </a:lnTo>
                      <a:cubicBezTo>
                        <a:pt x="6715" y="8275"/>
                        <a:pt x="6787" y="8204"/>
                        <a:pt x="6787" y="8120"/>
                      </a:cubicBezTo>
                      <a:lnTo>
                        <a:pt x="6787" y="7442"/>
                      </a:lnTo>
                      <a:cubicBezTo>
                        <a:pt x="6787" y="7358"/>
                        <a:pt x="6715" y="7287"/>
                        <a:pt x="6632" y="7287"/>
                      </a:cubicBezTo>
                      <a:lnTo>
                        <a:pt x="5787" y="7287"/>
                      </a:lnTo>
                      <a:lnTo>
                        <a:pt x="5644" y="6656"/>
                      </a:lnTo>
                      <a:lnTo>
                        <a:pt x="7727" y="6656"/>
                      </a:lnTo>
                      <a:cubicBezTo>
                        <a:pt x="7823" y="6656"/>
                        <a:pt x="7894" y="6585"/>
                        <a:pt x="7894" y="6489"/>
                      </a:cubicBezTo>
                      <a:cubicBezTo>
                        <a:pt x="7906" y="6394"/>
                        <a:pt x="7834" y="6311"/>
                        <a:pt x="7739" y="6311"/>
                      </a:cubicBezTo>
                      <a:lnTo>
                        <a:pt x="345" y="6311"/>
                      </a:lnTo>
                      <a:lnTo>
                        <a:pt x="345" y="334"/>
                      </a:lnTo>
                      <a:lnTo>
                        <a:pt x="4763" y="334"/>
                      </a:lnTo>
                      <a:cubicBezTo>
                        <a:pt x="4858" y="334"/>
                        <a:pt x="4929" y="262"/>
                        <a:pt x="4929" y="167"/>
                      </a:cubicBezTo>
                      <a:cubicBezTo>
                        <a:pt x="4929" y="72"/>
                        <a:pt x="4858" y="0"/>
                        <a:pt x="4763"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微軟正黑體" panose="020B0604030504040204" pitchFamily="34" charset="-120"/>
                    <a:ea typeface="微軟正黑體" panose="020B0604030504040204" pitchFamily="34" charset="-120"/>
                  </a:endParaRPr>
                </a:p>
              </p:txBody>
            </p:sp>
            <p:sp>
              <p:nvSpPr>
                <p:cNvPr id="87" name="Google Shape;10667;p90">
                  <a:extLst>
                    <a:ext uri="{FF2B5EF4-FFF2-40B4-BE49-F238E27FC236}">
                      <a16:creationId xmlns:a16="http://schemas.microsoft.com/office/drawing/2014/main" id="{E33800FE-2663-F94F-1DBD-401B0356546A}"/>
                    </a:ext>
                  </a:extLst>
                </p:cNvPr>
                <p:cNvSpPr/>
                <p:nvPr/>
              </p:nvSpPr>
              <p:spPr>
                <a:xfrm>
                  <a:off x="2772655" y="2680800"/>
                  <a:ext cx="38491" cy="10613"/>
                </a:xfrm>
                <a:custGeom>
                  <a:avLst/>
                  <a:gdLst/>
                  <a:ahLst/>
                  <a:cxnLst/>
                  <a:rect l="l" t="t" r="r" b="b"/>
                  <a:pathLst>
                    <a:path w="1215" h="335" extrusionOk="0">
                      <a:moveTo>
                        <a:pt x="167" y="1"/>
                      </a:moveTo>
                      <a:cubicBezTo>
                        <a:pt x="84" y="1"/>
                        <a:pt x="0" y="72"/>
                        <a:pt x="0" y="168"/>
                      </a:cubicBezTo>
                      <a:cubicBezTo>
                        <a:pt x="0" y="251"/>
                        <a:pt x="84" y="334"/>
                        <a:pt x="167" y="334"/>
                      </a:cubicBezTo>
                      <a:lnTo>
                        <a:pt x="1048" y="334"/>
                      </a:lnTo>
                      <a:cubicBezTo>
                        <a:pt x="1132" y="334"/>
                        <a:pt x="1215" y="251"/>
                        <a:pt x="1215" y="168"/>
                      </a:cubicBezTo>
                      <a:cubicBezTo>
                        <a:pt x="1215" y="72"/>
                        <a:pt x="1132" y="1"/>
                        <a:pt x="1048" y="1"/>
                      </a:cubicBez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微軟正黑體" panose="020B0604030504040204" pitchFamily="34" charset="-120"/>
                    <a:ea typeface="微軟正黑體" panose="020B0604030504040204" pitchFamily="34" charset="-120"/>
                  </a:endParaRPr>
                </a:p>
              </p:txBody>
            </p:sp>
            <p:sp>
              <p:nvSpPr>
                <p:cNvPr id="88" name="Google Shape;10668;p90">
                  <a:extLst>
                    <a:ext uri="{FF2B5EF4-FFF2-40B4-BE49-F238E27FC236}">
                      <a16:creationId xmlns:a16="http://schemas.microsoft.com/office/drawing/2014/main" id="{8F319B53-0090-A8F8-E54B-BE1FFCDB6EEF}"/>
                    </a:ext>
                  </a:extLst>
                </p:cNvPr>
                <p:cNvSpPr/>
                <p:nvPr/>
              </p:nvSpPr>
              <p:spPr>
                <a:xfrm>
                  <a:off x="2729286" y="2583131"/>
                  <a:ext cx="35862" cy="35862"/>
                </a:xfrm>
                <a:custGeom>
                  <a:avLst/>
                  <a:gdLst/>
                  <a:ahLst/>
                  <a:cxnLst/>
                  <a:rect l="l" t="t" r="r" b="b"/>
                  <a:pathLst>
                    <a:path w="1132" h="1132" extrusionOk="0">
                      <a:moveTo>
                        <a:pt x="798" y="334"/>
                      </a:moveTo>
                      <a:lnTo>
                        <a:pt x="798" y="810"/>
                      </a:lnTo>
                      <a:lnTo>
                        <a:pt x="334" y="810"/>
                      </a:lnTo>
                      <a:lnTo>
                        <a:pt x="334" y="334"/>
                      </a:lnTo>
                      <a:close/>
                      <a:moveTo>
                        <a:pt x="167" y="0"/>
                      </a:moveTo>
                      <a:cubicBezTo>
                        <a:pt x="84" y="0"/>
                        <a:pt x="0" y="84"/>
                        <a:pt x="0" y="167"/>
                      </a:cubicBezTo>
                      <a:lnTo>
                        <a:pt x="0" y="977"/>
                      </a:lnTo>
                      <a:cubicBezTo>
                        <a:pt x="0" y="1060"/>
                        <a:pt x="84" y="1131"/>
                        <a:pt x="167" y="1131"/>
                      </a:cubicBezTo>
                      <a:lnTo>
                        <a:pt x="953" y="1131"/>
                      </a:lnTo>
                      <a:cubicBezTo>
                        <a:pt x="1048" y="1131"/>
                        <a:pt x="1119" y="1060"/>
                        <a:pt x="1119" y="977"/>
                      </a:cubicBezTo>
                      <a:lnTo>
                        <a:pt x="1119" y="167"/>
                      </a:lnTo>
                      <a:cubicBezTo>
                        <a:pt x="1131" y="84"/>
                        <a:pt x="1060" y="0"/>
                        <a:pt x="953" y="0"/>
                      </a:cubicBez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微軟正黑體" panose="020B0604030504040204" pitchFamily="34" charset="-120"/>
                    <a:ea typeface="微軟正黑體" panose="020B0604030504040204" pitchFamily="34" charset="-120"/>
                  </a:endParaRPr>
                </a:p>
              </p:txBody>
            </p:sp>
            <p:sp>
              <p:nvSpPr>
                <p:cNvPr id="89" name="Google Shape;10669;p90">
                  <a:extLst>
                    <a:ext uri="{FF2B5EF4-FFF2-40B4-BE49-F238E27FC236}">
                      <a16:creationId xmlns:a16="http://schemas.microsoft.com/office/drawing/2014/main" id="{9125FE40-4A1E-A846-D18B-53965ABCA4F0}"/>
                    </a:ext>
                  </a:extLst>
                </p:cNvPr>
                <p:cNvSpPr/>
                <p:nvPr/>
              </p:nvSpPr>
              <p:spPr>
                <a:xfrm>
                  <a:off x="2774176" y="2583131"/>
                  <a:ext cx="35482" cy="35862"/>
                </a:xfrm>
                <a:custGeom>
                  <a:avLst/>
                  <a:gdLst/>
                  <a:ahLst/>
                  <a:cxnLst/>
                  <a:rect l="l" t="t" r="r" b="b"/>
                  <a:pathLst>
                    <a:path w="1120" h="1132" extrusionOk="0">
                      <a:moveTo>
                        <a:pt x="786" y="334"/>
                      </a:moveTo>
                      <a:lnTo>
                        <a:pt x="786" y="810"/>
                      </a:lnTo>
                      <a:lnTo>
                        <a:pt x="333" y="810"/>
                      </a:lnTo>
                      <a:lnTo>
                        <a:pt x="333" y="334"/>
                      </a:lnTo>
                      <a:close/>
                      <a:moveTo>
                        <a:pt x="167" y="0"/>
                      </a:moveTo>
                      <a:cubicBezTo>
                        <a:pt x="72" y="0"/>
                        <a:pt x="0" y="84"/>
                        <a:pt x="0" y="167"/>
                      </a:cubicBezTo>
                      <a:lnTo>
                        <a:pt x="0" y="977"/>
                      </a:lnTo>
                      <a:cubicBezTo>
                        <a:pt x="0" y="1060"/>
                        <a:pt x="72" y="1131"/>
                        <a:pt x="167" y="1131"/>
                      </a:cubicBezTo>
                      <a:lnTo>
                        <a:pt x="953" y="1131"/>
                      </a:lnTo>
                      <a:cubicBezTo>
                        <a:pt x="1048" y="1131"/>
                        <a:pt x="1119" y="1060"/>
                        <a:pt x="1119" y="977"/>
                      </a:cubicBezTo>
                      <a:lnTo>
                        <a:pt x="1119" y="167"/>
                      </a:lnTo>
                      <a:cubicBezTo>
                        <a:pt x="1119" y="84"/>
                        <a:pt x="1036" y="0"/>
                        <a:pt x="953" y="0"/>
                      </a:cubicBez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微軟正黑體" panose="020B0604030504040204" pitchFamily="34" charset="-120"/>
                    <a:ea typeface="微軟正黑體" panose="020B0604030504040204" pitchFamily="34" charset="-120"/>
                  </a:endParaRPr>
                </a:p>
              </p:txBody>
            </p:sp>
            <p:sp>
              <p:nvSpPr>
                <p:cNvPr id="90" name="Google Shape;10670;p90">
                  <a:extLst>
                    <a:ext uri="{FF2B5EF4-FFF2-40B4-BE49-F238E27FC236}">
                      <a16:creationId xmlns:a16="http://schemas.microsoft.com/office/drawing/2014/main" id="{AF353EB8-FFB8-BBE6-D6A3-98AD6BB95A01}"/>
                    </a:ext>
                  </a:extLst>
                </p:cNvPr>
                <p:cNvSpPr/>
                <p:nvPr/>
              </p:nvSpPr>
              <p:spPr>
                <a:xfrm>
                  <a:off x="2817926" y="2583131"/>
                  <a:ext cx="35862" cy="35862"/>
                </a:xfrm>
                <a:custGeom>
                  <a:avLst/>
                  <a:gdLst/>
                  <a:ahLst/>
                  <a:cxnLst/>
                  <a:rect l="l" t="t" r="r" b="b"/>
                  <a:pathLst>
                    <a:path w="1132" h="1132" extrusionOk="0">
                      <a:moveTo>
                        <a:pt x="798" y="334"/>
                      </a:moveTo>
                      <a:lnTo>
                        <a:pt x="798" y="810"/>
                      </a:lnTo>
                      <a:lnTo>
                        <a:pt x="334" y="810"/>
                      </a:lnTo>
                      <a:lnTo>
                        <a:pt x="334" y="334"/>
                      </a:lnTo>
                      <a:close/>
                      <a:moveTo>
                        <a:pt x="167" y="0"/>
                      </a:moveTo>
                      <a:cubicBezTo>
                        <a:pt x="84" y="0"/>
                        <a:pt x="0" y="84"/>
                        <a:pt x="0" y="167"/>
                      </a:cubicBezTo>
                      <a:lnTo>
                        <a:pt x="0" y="977"/>
                      </a:lnTo>
                      <a:cubicBezTo>
                        <a:pt x="0" y="1060"/>
                        <a:pt x="84" y="1131"/>
                        <a:pt x="167" y="1131"/>
                      </a:cubicBezTo>
                      <a:lnTo>
                        <a:pt x="953" y="1131"/>
                      </a:lnTo>
                      <a:cubicBezTo>
                        <a:pt x="1048" y="1131"/>
                        <a:pt x="1119" y="1060"/>
                        <a:pt x="1119" y="977"/>
                      </a:cubicBezTo>
                      <a:lnTo>
                        <a:pt x="1119" y="167"/>
                      </a:lnTo>
                      <a:cubicBezTo>
                        <a:pt x="1131" y="84"/>
                        <a:pt x="1060" y="0"/>
                        <a:pt x="953" y="0"/>
                      </a:cubicBez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微軟正黑體" panose="020B0604030504040204" pitchFamily="34" charset="-120"/>
                    <a:ea typeface="微軟正黑體" panose="020B0604030504040204" pitchFamily="34" charset="-120"/>
                  </a:endParaRPr>
                </a:p>
              </p:txBody>
            </p:sp>
            <p:sp>
              <p:nvSpPr>
                <p:cNvPr id="91" name="Google Shape;10671;p90">
                  <a:extLst>
                    <a:ext uri="{FF2B5EF4-FFF2-40B4-BE49-F238E27FC236}">
                      <a16:creationId xmlns:a16="http://schemas.microsoft.com/office/drawing/2014/main" id="{330BECF7-D914-0AD6-96A8-D69BD5633D43}"/>
                    </a:ext>
                  </a:extLst>
                </p:cNvPr>
                <p:cNvSpPr/>
                <p:nvPr/>
              </p:nvSpPr>
              <p:spPr>
                <a:xfrm>
                  <a:off x="2653475" y="2431859"/>
                  <a:ext cx="342873" cy="275394"/>
                </a:xfrm>
                <a:custGeom>
                  <a:avLst/>
                  <a:gdLst/>
                  <a:ahLst/>
                  <a:cxnLst/>
                  <a:rect l="l" t="t" r="r" b="b"/>
                  <a:pathLst>
                    <a:path w="10823" h="8693" extrusionOk="0">
                      <a:moveTo>
                        <a:pt x="6429" y="3001"/>
                      </a:moveTo>
                      <a:cubicBezTo>
                        <a:pt x="6715" y="3870"/>
                        <a:pt x="7489" y="4513"/>
                        <a:pt x="8406" y="4585"/>
                      </a:cubicBezTo>
                      <a:lnTo>
                        <a:pt x="8406" y="7359"/>
                      </a:lnTo>
                      <a:lnTo>
                        <a:pt x="310" y="7359"/>
                      </a:lnTo>
                      <a:lnTo>
                        <a:pt x="310" y="3001"/>
                      </a:lnTo>
                      <a:close/>
                      <a:moveTo>
                        <a:pt x="8608" y="1"/>
                      </a:moveTo>
                      <a:cubicBezTo>
                        <a:pt x="7430" y="1"/>
                        <a:pt x="6477" y="906"/>
                        <a:pt x="6358" y="2073"/>
                      </a:cubicBezTo>
                      <a:lnTo>
                        <a:pt x="4798" y="2073"/>
                      </a:lnTo>
                      <a:cubicBezTo>
                        <a:pt x="4703" y="2073"/>
                        <a:pt x="4632" y="2144"/>
                        <a:pt x="4632" y="2239"/>
                      </a:cubicBezTo>
                      <a:cubicBezTo>
                        <a:pt x="4632" y="2323"/>
                        <a:pt x="4703" y="2394"/>
                        <a:pt x="4798" y="2394"/>
                      </a:cubicBezTo>
                      <a:lnTo>
                        <a:pt x="6334" y="2394"/>
                      </a:lnTo>
                      <a:cubicBezTo>
                        <a:pt x="6334" y="2489"/>
                        <a:pt x="6358" y="2561"/>
                        <a:pt x="6370" y="2656"/>
                      </a:cubicBezTo>
                      <a:lnTo>
                        <a:pt x="167" y="2656"/>
                      </a:lnTo>
                      <a:cubicBezTo>
                        <a:pt x="72" y="2656"/>
                        <a:pt x="0" y="2727"/>
                        <a:pt x="0" y="2811"/>
                      </a:cubicBezTo>
                      <a:lnTo>
                        <a:pt x="0" y="7502"/>
                      </a:lnTo>
                      <a:cubicBezTo>
                        <a:pt x="0" y="7597"/>
                        <a:pt x="72" y="7668"/>
                        <a:pt x="167" y="7668"/>
                      </a:cubicBezTo>
                      <a:lnTo>
                        <a:pt x="8608" y="7668"/>
                      </a:lnTo>
                      <a:cubicBezTo>
                        <a:pt x="8692" y="7668"/>
                        <a:pt x="8763" y="7597"/>
                        <a:pt x="8763" y="7502"/>
                      </a:cubicBezTo>
                      <a:lnTo>
                        <a:pt x="8763" y="4561"/>
                      </a:lnTo>
                      <a:cubicBezTo>
                        <a:pt x="8858" y="4561"/>
                        <a:pt x="8966" y="4537"/>
                        <a:pt x="9049" y="4513"/>
                      </a:cubicBezTo>
                      <a:lnTo>
                        <a:pt x="9049" y="8371"/>
                      </a:lnTo>
                      <a:lnTo>
                        <a:pt x="7787" y="8371"/>
                      </a:lnTo>
                      <a:cubicBezTo>
                        <a:pt x="7692" y="8371"/>
                        <a:pt x="7620" y="8442"/>
                        <a:pt x="7620" y="8526"/>
                      </a:cubicBezTo>
                      <a:cubicBezTo>
                        <a:pt x="7620" y="8621"/>
                        <a:pt x="7692" y="8692"/>
                        <a:pt x="7787" y="8692"/>
                      </a:cubicBezTo>
                      <a:lnTo>
                        <a:pt x="9216" y="8692"/>
                      </a:lnTo>
                      <a:cubicBezTo>
                        <a:pt x="9299" y="8692"/>
                        <a:pt x="9382" y="8621"/>
                        <a:pt x="9382" y="8526"/>
                      </a:cubicBezTo>
                      <a:lnTo>
                        <a:pt x="9382" y="4406"/>
                      </a:lnTo>
                      <a:cubicBezTo>
                        <a:pt x="9632" y="4323"/>
                        <a:pt x="9858" y="4180"/>
                        <a:pt x="10061" y="4001"/>
                      </a:cubicBezTo>
                      <a:cubicBezTo>
                        <a:pt x="10466" y="3644"/>
                        <a:pt x="10728" y="3168"/>
                        <a:pt x="10823" y="2632"/>
                      </a:cubicBezTo>
                      <a:cubicBezTo>
                        <a:pt x="10823" y="2596"/>
                        <a:pt x="10763" y="2501"/>
                        <a:pt x="10668" y="2489"/>
                      </a:cubicBezTo>
                      <a:cubicBezTo>
                        <a:pt x="10656" y="2486"/>
                        <a:pt x="10643" y="2484"/>
                        <a:pt x="10630" y="2484"/>
                      </a:cubicBezTo>
                      <a:cubicBezTo>
                        <a:pt x="10558" y="2484"/>
                        <a:pt x="10488" y="2539"/>
                        <a:pt x="10478" y="2620"/>
                      </a:cubicBezTo>
                      <a:cubicBezTo>
                        <a:pt x="10359" y="3358"/>
                        <a:pt x="9835" y="3942"/>
                        <a:pt x="9168" y="4156"/>
                      </a:cubicBezTo>
                      <a:lnTo>
                        <a:pt x="9144" y="4156"/>
                      </a:lnTo>
                      <a:cubicBezTo>
                        <a:pt x="8966" y="4216"/>
                        <a:pt x="8763" y="4239"/>
                        <a:pt x="8573" y="4239"/>
                      </a:cubicBezTo>
                      <a:cubicBezTo>
                        <a:pt x="7513" y="4239"/>
                        <a:pt x="6656" y="3358"/>
                        <a:pt x="6656" y="2287"/>
                      </a:cubicBezTo>
                      <a:cubicBezTo>
                        <a:pt x="6656" y="1215"/>
                        <a:pt x="7513" y="346"/>
                        <a:pt x="8573" y="346"/>
                      </a:cubicBezTo>
                      <a:cubicBezTo>
                        <a:pt x="9513" y="346"/>
                        <a:pt x="10335" y="1061"/>
                        <a:pt x="10478" y="1989"/>
                      </a:cubicBezTo>
                      <a:cubicBezTo>
                        <a:pt x="10490" y="2084"/>
                        <a:pt x="10585" y="2144"/>
                        <a:pt x="10668" y="2144"/>
                      </a:cubicBezTo>
                      <a:cubicBezTo>
                        <a:pt x="10763" y="2132"/>
                        <a:pt x="10823" y="2037"/>
                        <a:pt x="10823" y="1953"/>
                      </a:cubicBezTo>
                      <a:cubicBezTo>
                        <a:pt x="10751" y="1418"/>
                        <a:pt x="10478" y="918"/>
                        <a:pt x="10073" y="572"/>
                      </a:cubicBezTo>
                      <a:cubicBezTo>
                        <a:pt x="9656" y="215"/>
                        <a:pt x="9144" y="1"/>
                        <a:pt x="8608"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微軟正黑體" panose="020B0604030504040204" pitchFamily="34" charset="-120"/>
                    <a:ea typeface="微軟正黑體" panose="020B0604030504040204" pitchFamily="34" charset="-120"/>
                  </a:endParaRPr>
                </a:p>
              </p:txBody>
            </p:sp>
            <p:sp>
              <p:nvSpPr>
                <p:cNvPr id="92" name="Google Shape;10672;p90">
                  <a:extLst>
                    <a:ext uri="{FF2B5EF4-FFF2-40B4-BE49-F238E27FC236}">
                      <a16:creationId xmlns:a16="http://schemas.microsoft.com/office/drawing/2014/main" id="{BAFAA244-66D6-6728-977A-2013D5040230}"/>
                    </a:ext>
                  </a:extLst>
                </p:cNvPr>
                <p:cNvSpPr/>
                <p:nvPr/>
              </p:nvSpPr>
              <p:spPr>
                <a:xfrm>
                  <a:off x="2881286" y="2460529"/>
                  <a:ext cx="87532" cy="87912"/>
                </a:xfrm>
                <a:custGeom>
                  <a:avLst/>
                  <a:gdLst/>
                  <a:ahLst/>
                  <a:cxnLst/>
                  <a:rect l="l" t="t" r="r" b="b"/>
                  <a:pathLst>
                    <a:path w="2763" h="2775" extrusionOk="0">
                      <a:moveTo>
                        <a:pt x="1414" y="703"/>
                      </a:moveTo>
                      <a:cubicBezTo>
                        <a:pt x="1786" y="703"/>
                        <a:pt x="2084" y="1020"/>
                        <a:pt x="2084" y="1406"/>
                      </a:cubicBezTo>
                      <a:cubicBezTo>
                        <a:pt x="2084" y="1787"/>
                        <a:pt x="1775" y="2108"/>
                        <a:pt x="1394" y="2108"/>
                      </a:cubicBezTo>
                      <a:cubicBezTo>
                        <a:pt x="1013" y="2108"/>
                        <a:pt x="715" y="1787"/>
                        <a:pt x="715" y="1406"/>
                      </a:cubicBezTo>
                      <a:cubicBezTo>
                        <a:pt x="715" y="1013"/>
                        <a:pt x="1024" y="703"/>
                        <a:pt x="1394" y="703"/>
                      </a:cubicBezTo>
                      <a:cubicBezTo>
                        <a:pt x="1400" y="703"/>
                        <a:pt x="1407" y="703"/>
                        <a:pt x="1414" y="703"/>
                      </a:cubicBezTo>
                      <a:close/>
                      <a:moveTo>
                        <a:pt x="1382" y="1"/>
                      </a:moveTo>
                      <a:cubicBezTo>
                        <a:pt x="1286" y="1"/>
                        <a:pt x="1215" y="72"/>
                        <a:pt x="1215" y="167"/>
                      </a:cubicBezTo>
                      <a:lnTo>
                        <a:pt x="1215" y="370"/>
                      </a:lnTo>
                      <a:cubicBezTo>
                        <a:pt x="1048" y="406"/>
                        <a:pt x="917" y="465"/>
                        <a:pt x="786" y="560"/>
                      </a:cubicBezTo>
                      <a:lnTo>
                        <a:pt x="632" y="406"/>
                      </a:lnTo>
                      <a:cubicBezTo>
                        <a:pt x="607" y="374"/>
                        <a:pt x="559" y="356"/>
                        <a:pt x="511" y="356"/>
                      </a:cubicBezTo>
                      <a:cubicBezTo>
                        <a:pt x="467" y="356"/>
                        <a:pt x="422" y="371"/>
                        <a:pt x="393" y="406"/>
                      </a:cubicBezTo>
                      <a:cubicBezTo>
                        <a:pt x="334" y="465"/>
                        <a:pt x="322" y="584"/>
                        <a:pt x="393" y="644"/>
                      </a:cubicBezTo>
                      <a:lnTo>
                        <a:pt x="548" y="798"/>
                      </a:lnTo>
                      <a:cubicBezTo>
                        <a:pt x="453" y="929"/>
                        <a:pt x="393" y="1072"/>
                        <a:pt x="370" y="1227"/>
                      </a:cubicBezTo>
                      <a:lnTo>
                        <a:pt x="155" y="1227"/>
                      </a:lnTo>
                      <a:cubicBezTo>
                        <a:pt x="72" y="1227"/>
                        <a:pt x="0" y="1299"/>
                        <a:pt x="0" y="1394"/>
                      </a:cubicBezTo>
                      <a:cubicBezTo>
                        <a:pt x="0" y="1477"/>
                        <a:pt x="72" y="1549"/>
                        <a:pt x="155" y="1549"/>
                      </a:cubicBezTo>
                      <a:lnTo>
                        <a:pt x="370" y="1549"/>
                      </a:lnTo>
                      <a:cubicBezTo>
                        <a:pt x="393" y="1715"/>
                        <a:pt x="453" y="1870"/>
                        <a:pt x="548" y="1989"/>
                      </a:cubicBezTo>
                      <a:lnTo>
                        <a:pt x="393" y="2132"/>
                      </a:lnTo>
                      <a:cubicBezTo>
                        <a:pt x="334" y="2191"/>
                        <a:pt x="334" y="2311"/>
                        <a:pt x="393" y="2370"/>
                      </a:cubicBezTo>
                      <a:cubicBezTo>
                        <a:pt x="429" y="2406"/>
                        <a:pt x="477" y="2418"/>
                        <a:pt x="512" y="2418"/>
                      </a:cubicBezTo>
                      <a:cubicBezTo>
                        <a:pt x="560" y="2418"/>
                        <a:pt x="608" y="2394"/>
                        <a:pt x="632" y="2370"/>
                      </a:cubicBezTo>
                      <a:lnTo>
                        <a:pt x="786" y="2227"/>
                      </a:lnTo>
                      <a:cubicBezTo>
                        <a:pt x="905" y="2311"/>
                        <a:pt x="1048" y="2370"/>
                        <a:pt x="1215" y="2406"/>
                      </a:cubicBezTo>
                      <a:lnTo>
                        <a:pt x="1215" y="2608"/>
                      </a:lnTo>
                      <a:cubicBezTo>
                        <a:pt x="1215" y="2703"/>
                        <a:pt x="1286" y="2775"/>
                        <a:pt x="1382" y="2775"/>
                      </a:cubicBezTo>
                      <a:cubicBezTo>
                        <a:pt x="1465" y="2775"/>
                        <a:pt x="1548" y="2703"/>
                        <a:pt x="1548" y="2608"/>
                      </a:cubicBezTo>
                      <a:lnTo>
                        <a:pt x="1548" y="2430"/>
                      </a:lnTo>
                      <a:cubicBezTo>
                        <a:pt x="1703" y="2394"/>
                        <a:pt x="1846" y="2346"/>
                        <a:pt x="1977" y="2251"/>
                      </a:cubicBezTo>
                      <a:lnTo>
                        <a:pt x="2120" y="2394"/>
                      </a:lnTo>
                      <a:cubicBezTo>
                        <a:pt x="2156" y="2430"/>
                        <a:pt x="2203" y="2442"/>
                        <a:pt x="2239" y="2442"/>
                      </a:cubicBezTo>
                      <a:cubicBezTo>
                        <a:pt x="2286" y="2442"/>
                        <a:pt x="2334" y="2430"/>
                        <a:pt x="2358" y="2394"/>
                      </a:cubicBezTo>
                      <a:cubicBezTo>
                        <a:pt x="2417" y="2346"/>
                        <a:pt x="2441" y="2215"/>
                        <a:pt x="2358" y="2156"/>
                      </a:cubicBezTo>
                      <a:lnTo>
                        <a:pt x="2215" y="2013"/>
                      </a:lnTo>
                      <a:cubicBezTo>
                        <a:pt x="2298" y="1882"/>
                        <a:pt x="2358" y="1727"/>
                        <a:pt x="2394" y="1584"/>
                      </a:cubicBezTo>
                      <a:lnTo>
                        <a:pt x="2596" y="1584"/>
                      </a:lnTo>
                      <a:cubicBezTo>
                        <a:pt x="2691" y="1584"/>
                        <a:pt x="2763" y="1501"/>
                        <a:pt x="2763" y="1418"/>
                      </a:cubicBezTo>
                      <a:cubicBezTo>
                        <a:pt x="2763" y="1299"/>
                        <a:pt x="2691" y="1227"/>
                        <a:pt x="2608" y="1227"/>
                      </a:cubicBezTo>
                      <a:lnTo>
                        <a:pt x="2394" y="1227"/>
                      </a:lnTo>
                      <a:cubicBezTo>
                        <a:pt x="2370" y="1060"/>
                        <a:pt x="2310" y="906"/>
                        <a:pt x="2215" y="798"/>
                      </a:cubicBezTo>
                      <a:lnTo>
                        <a:pt x="2370" y="644"/>
                      </a:lnTo>
                      <a:cubicBezTo>
                        <a:pt x="2417" y="584"/>
                        <a:pt x="2417" y="465"/>
                        <a:pt x="2370" y="406"/>
                      </a:cubicBezTo>
                      <a:cubicBezTo>
                        <a:pt x="2340" y="376"/>
                        <a:pt x="2292" y="361"/>
                        <a:pt x="2245" y="361"/>
                      </a:cubicBezTo>
                      <a:cubicBezTo>
                        <a:pt x="2197" y="361"/>
                        <a:pt x="2150" y="376"/>
                        <a:pt x="2120" y="406"/>
                      </a:cubicBezTo>
                      <a:lnTo>
                        <a:pt x="1977" y="560"/>
                      </a:lnTo>
                      <a:cubicBezTo>
                        <a:pt x="1858" y="465"/>
                        <a:pt x="1715" y="406"/>
                        <a:pt x="1548" y="370"/>
                      </a:cubicBezTo>
                      <a:lnTo>
                        <a:pt x="1548" y="167"/>
                      </a:lnTo>
                      <a:cubicBezTo>
                        <a:pt x="1548" y="72"/>
                        <a:pt x="1477" y="1"/>
                        <a:pt x="1382"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微軟正黑體" panose="020B0604030504040204" pitchFamily="34" charset="-120"/>
                    <a:ea typeface="微軟正黑體" panose="020B0604030504040204" pitchFamily="34" charset="-120"/>
                  </a:endParaRPr>
                </a:p>
              </p:txBody>
            </p:sp>
            <p:sp>
              <p:nvSpPr>
                <p:cNvPr id="93" name="Google Shape;10673;p90">
                  <a:extLst>
                    <a:ext uri="{FF2B5EF4-FFF2-40B4-BE49-F238E27FC236}">
                      <a16:creationId xmlns:a16="http://schemas.microsoft.com/office/drawing/2014/main" id="{D20FA9BF-6B19-51CF-8BEC-E2E8FA79AE27}"/>
                    </a:ext>
                  </a:extLst>
                </p:cNvPr>
                <p:cNvSpPr/>
                <p:nvPr/>
              </p:nvSpPr>
              <p:spPr>
                <a:xfrm>
                  <a:off x="2908436" y="2488059"/>
                  <a:ext cx="33612" cy="33993"/>
                </a:xfrm>
                <a:custGeom>
                  <a:avLst/>
                  <a:gdLst/>
                  <a:ahLst/>
                  <a:cxnLst/>
                  <a:rect l="l" t="t" r="r" b="b"/>
                  <a:pathLst>
                    <a:path w="1061" h="1073" extrusionOk="0">
                      <a:moveTo>
                        <a:pt x="525" y="346"/>
                      </a:moveTo>
                      <a:cubicBezTo>
                        <a:pt x="632" y="346"/>
                        <a:pt x="715" y="430"/>
                        <a:pt x="715" y="537"/>
                      </a:cubicBezTo>
                      <a:cubicBezTo>
                        <a:pt x="715" y="632"/>
                        <a:pt x="632" y="727"/>
                        <a:pt x="525" y="727"/>
                      </a:cubicBezTo>
                      <a:cubicBezTo>
                        <a:pt x="417" y="727"/>
                        <a:pt x="334" y="632"/>
                        <a:pt x="334" y="537"/>
                      </a:cubicBezTo>
                      <a:cubicBezTo>
                        <a:pt x="334" y="430"/>
                        <a:pt x="417" y="346"/>
                        <a:pt x="525" y="346"/>
                      </a:cubicBezTo>
                      <a:close/>
                      <a:moveTo>
                        <a:pt x="525" y="1"/>
                      </a:moveTo>
                      <a:cubicBezTo>
                        <a:pt x="239" y="1"/>
                        <a:pt x="1" y="239"/>
                        <a:pt x="1" y="537"/>
                      </a:cubicBezTo>
                      <a:cubicBezTo>
                        <a:pt x="1" y="834"/>
                        <a:pt x="239" y="1072"/>
                        <a:pt x="525" y="1072"/>
                      </a:cubicBezTo>
                      <a:cubicBezTo>
                        <a:pt x="810" y="1072"/>
                        <a:pt x="1048" y="834"/>
                        <a:pt x="1048" y="537"/>
                      </a:cubicBezTo>
                      <a:cubicBezTo>
                        <a:pt x="1060" y="239"/>
                        <a:pt x="822" y="1"/>
                        <a:pt x="525"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微軟正黑體" panose="020B0604030504040204" pitchFamily="34" charset="-120"/>
                    <a:ea typeface="微軟正黑體" panose="020B0604030504040204" pitchFamily="34" charset="-120"/>
                  </a:endParaRPr>
                </a:p>
              </p:txBody>
            </p:sp>
          </p:grpSp>
        </p:grpSp>
      </p:grpSp>
      <p:sp>
        <p:nvSpPr>
          <p:cNvPr id="23" name="文字方塊 22">
            <a:extLst>
              <a:ext uri="{FF2B5EF4-FFF2-40B4-BE49-F238E27FC236}">
                <a16:creationId xmlns:a16="http://schemas.microsoft.com/office/drawing/2014/main" id="{8AA58461-5D48-87D8-F82E-0639D29C107A}"/>
              </a:ext>
            </a:extLst>
          </p:cNvPr>
          <p:cNvSpPr txBox="1"/>
          <p:nvPr/>
        </p:nvSpPr>
        <p:spPr>
          <a:xfrm>
            <a:off x="3556034" y="4474208"/>
            <a:ext cx="831345" cy="307777"/>
          </a:xfrm>
          <a:prstGeom prst="rect">
            <a:avLst/>
          </a:prstGeom>
          <a:solidFill>
            <a:srgbClr val="FF9B00"/>
          </a:solidFill>
          <a:ln>
            <a:noFill/>
          </a:ln>
        </p:spPr>
        <p:style>
          <a:lnRef idx="1">
            <a:schemeClr val="accent6"/>
          </a:lnRef>
          <a:fillRef idx="3">
            <a:schemeClr val="accent6"/>
          </a:fillRef>
          <a:effectRef idx="2">
            <a:schemeClr val="accent6"/>
          </a:effectRef>
          <a:fontRef idx="minor">
            <a:schemeClr val="lt1"/>
          </a:fontRef>
        </p:style>
        <p:txBody>
          <a:bodyPr wrap="square" rtlCol="0">
            <a:spAutoFit/>
          </a:bodyPr>
          <a:lstStyle/>
          <a:p>
            <a:pPr algn="ctr"/>
            <a:r>
              <a:rPr lang="en-US" altLang="zh-TW" sz="1400" b="0" dirty="0">
                <a:solidFill>
                  <a:schemeClr val="bg1"/>
                </a:solidFill>
                <a:latin typeface="微軟正黑體" panose="020B0604030504040204" pitchFamily="34" charset="-120"/>
                <a:ea typeface="微軟正黑體" panose="020B0604030504040204" pitchFamily="34" charset="-120"/>
              </a:rPr>
              <a:t>MySQL</a:t>
            </a:r>
          </a:p>
        </p:txBody>
      </p:sp>
      <p:grpSp>
        <p:nvGrpSpPr>
          <p:cNvPr id="24" name="群組 23">
            <a:extLst>
              <a:ext uri="{FF2B5EF4-FFF2-40B4-BE49-F238E27FC236}">
                <a16:creationId xmlns:a16="http://schemas.microsoft.com/office/drawing/2014/main" id="{72435971-FE47-C041-D166-D2D00CEAB620}"/>
              </a:ext>
            </a:extLst>
          </p:cNvPr>
          <p:cNvGrpSpPr/>
          <p:nvPr/>
        </p:nvGrpSpPr>
        <p:grpSpPr>
          <a:xfrm>
            <a:off x="7246756" y="3681484"/>
            <a:ext cx="1977231" cy="2149189"/>
            <a:chOff x="7093255" y="4671570"/>
            <a:chExt cx="1760772" cy="1382903"/>
          </a:xfrm>
        </p:grpSpPr>
        <p:sp>
          <p:nvSpPr>
            <p:cNvPr id="25" name="矩形: 圓角 24">
              <a:extLst>
                <a:ext uri="{FF2B5EF4-FFF2-40B4-BE49-F238E27FC236}">
                  <a16:creationId xmlns:a16="http://schemas.microsoft.com/office/drawing/2014/main" id="{C32EC538-D2F5-9EE7-E658-9ACC1EF285C6}"/>
                </a:ext>
              </a:extLst>
            </p:cNvPr>
            <p:cNvSpPr/>
            <p:nvPr/>
          </p:nvSpPr>
          <p:spPr bwMode="auto">
            <a:xfrm>
              <a:off x="7093255" y="4998365"/>
              <a:ext cx="1760772" cy="1056108"/>
            </a:xfrm>
            <a:prstGeom prst="roundRect">
              <a:avLst>
                <a:gd name="adj" fmla="val 4461"/>
              </a:avLst>
            </a:prstGeom>
            <a:noFill/>
            <a:ln w="22225" cap="flat" cmpd="sng" algn="ctr">
              <a:solidFill>
                <a:schemeClr val="accent1">
                  <a:lumMod val="75000"/>
                </a:schemeClr>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endParaRPr>
            </a:p>
          </p:txBody>
        </p:sp>
        <p:sp>
          <p:nvSpPr>
            <p:cNvPr id="26" name="矩形: 圓角 25">
              <a:extLst>
                <a:ext uri="{FF2B5EF4-FFF2-40B4-BE49-F238E27FC236}">
                  <a16:creationId xmlns:a16="http://schemas.microsoft.com/office/drawing/2014/main" id="{A3D66CBA-634F-8568-5877-98630AEFC7ED}"/>
                </a:ext>
              </a:extLst>
            </p:cNvPr>
            <p:cNvSpPr/>
            <p:nvPr/>
          </p:nvSpPr>
          <p:spPr bwMode="auto">
            <a:xfrm>
              <a:off x="7231872" y="5071123"/>
              <a:ext cx="1500003" cy="569461"/>
            </a:xfrm>
            <a:prstGeom prst="roundRect">
              <a:avLst>
                <a:gd name="adj" fmla="val 4461"/>
              </a:avLst>
            </a:prstGeom>
            <a:solidFill>
              <a:srgbClr val="3C7BC7"/>
            </a:solidFill>
            <a:ln w="22225" cap="flat" cmpd="sng" algn="ctr">
              <a:solidFill>
                <a:srgbClr val="3B7BC8"/>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auto" latinLnBrk="0" hangingPunct="1">
                <a:lnSpc>
                  <a:spcPct val="90000"/>
                </a:lnSpc>
                <a:spcBef>
                  <a:spcPts val="480"/>
                </a:spcBef>
                <a:spcAft>
                  <a:spcPts val="0"/>
                </a:spcAft>
                <a:buClr>
                  <a:srgbClr val="000000"/>
                </a:buClr>
                <a:buSzPts val="1400"/>
                <a:buFont typeface="Arial"/>
                <a:buNone/>
                <a:tabLst/>
                <a:defRPr/>
              </a:pPr>
              <a:r>
                <a:rPr lang="zh-TW" altLang="en-US" sz="1800" dirty="0">
                  <a:solidFill>
                    <a:schemeClr val="bg1"/>
                  </a:solidFill>
                  <a:latin typeface="微軟正黑體" panose="020B0604030504040204" pitchFamily="34" charset="-120"/>
                  <a:ea typeface="微軟正黑體" panose="020B0604030504040204" pitchFamily="34" charset="-120"/>
                </a:rPr>
                <a:t>地端測試</a:t>
              </a:r>
              <a:r>
                <a:rPr lang="en-US" altLang="zh-TW" sz="1800" dirty="0">
                  <a:solidFill>
                    <a:schemeClr val="bg1"/>
                  </a:solidFill>
                  <a:latin typeface="微軟正黑體" panose="020B0604030504040204" pitchFamily="34" charset="-120"/>
                  <a:ea typeface="微軟正黑體" panose="020B0604030504040204" pitchFamily="34" charset="-120"/>
                </a:rPr>
                <a:t>DB</a:t>
              </a:r>
              <a:br>
                <a:rPr lang="en-US" altLang="zh-TW" sz="1800" dirty="0">
                  <a:solidFill>
                    <a:schemeClr val="bg1"/>
                  </a:solidFill>
                  <a:latin typeface="微軟正黑體" panose="020B0604030504040204" pitchFamily="34" charset="-120"/>
                  <a:ea typeface="微軟正黑體" panose="020B0604030504040204" pitchFamily="34" charset="-120"/>
                </a:rPr>
              </a:br>
              <a:r>
                <a:rPr lang="en-US" altLang="zh-TW" sz="1800" dirty="0">
                  <a:solidFill>
                    <a:schemeClr val="bg1"/>
                  </a:solidFill>
                  <a:latin typeface="微軟正黑體" panose="020B0604030504040204" pitchFamily="34" charset="-120"/>
                  <a:ea typeface="微軟正黑體" panose="020B0604030504040204" pitchFamily="34" charset="-120"/>
                </a:rPr>
                <a:t>D100_SIT</a:t>
              </a:r>
              <a:br>
                <a:rPr lang="en-US" altLang="zh-TW" sz="1800" dirty="0">
                  <a:solidFill>
                    <a:schemeClr val="bg1"/>
                  </a:solidFill>
                  <a:latin typeface="微軟正黑體" panose="020B0604030504040204" pitchFamily="34" charset="-120"/>
                  <a:ea typeface="微軟正黑體" panose="020B0604030504040204" pitchFamily="34" charset="-120"/>
                </a:rPr>
              </a:br>
              <a:r>
                <a:rPr lang="en-US" altLang="zh-TW" sz="1800" dirty="0">
                  <a:solidFill>
                    <a:schemeClr val="bg1"/>
                  </a:solidFill>
                  <a:latin typeface="微軟正黑體" panose="020B0604030504040204" pitchFamily="34" charset="-120"/>
                  <a:ea typeface="微軟正黑體" panose="020B0604030504040204" pitchFamily="34" charset="-120"/>
                </a:rPr>
                <a:t> </a:t>
              </a:r>
              <a:r>
                <a:rPr lang="en-US" altLang="zh-TW" sz="1200" dirty="0">
                  <a:solidFill>
                    <a:schemeClr val="bg1"/>
                  </a:solidFill>
                  <a:latin typeface="微軟正黑體" panose="020B0604030504040204" pitchFamily="34" charset="-120"/>
                  <a:ea typeface="微軟正黑體" panose="020B0604030504040204" pitchFamily="34" charset="-120"/>
                </a:rPr>
                <a:t>(10.11.144.234)</a:t>
              </a:r>
            </a:p>
          </p:txBody>
        </p:sp>
        <p:sp>
          <p:nvSpPr>
            <p:cNvPr id="51" name="文字方塊 50">
              <a:extLst>
                <a:ext uri="{FF2B5EF4-FFF2-40B4-BE49-F238E27FC236}">
                  <a16:creationId xmlns:a16="http://schemas.microsoft.com/office/drawing/2014/main" id="{C80ABF60-966F-F3EA-427D-E68BA2D45FE6}"/>
                </a:ext>
              </a:extLst>
            </p:cNvPr>
            <p:cNvSpPr txBox="1"/>
            <p:nvPr/>
          </p:nvSpPr>
          <p:spPr>
            <a:xfrm>
              <a:off x="7231872" y="5697087"/>
              <a:ext cx="1480644" cy="294301"/>
            </a:xfrm>
            <a:prstGeom prst="rect">
              <a:avLst/>
            </a:prstGeom>
            <a:solidFill>
              <a:srgbClr val="3C7BC7"/>
            </a:solidFill>
            <a:ln>
              <a:solidFill>
                <a:srgbClr val="3C7BC7"/>
              </a:solidFill>
            </a:ln>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altLang="zh-TW" sz="1400" dirty="0">
                  <a:solidFill>
                    <a:schemeClr val="bg1"/>
                  </a:solidFill>
                  <a:latin typeface="微軟正黑體" panose="020B0604030504040204" pitchFamily="34" charset="-120"/>
                  <a:ea typeface="微軟正黑體" panose="020B0604030504040204" pitchFamily="34" charset="-120"/>
                </a:rPr>
                <a:t>MSSQL</a:t>
              </a:r>
            </a:p>
            <a:p>
              <a:pPr algn="ctr"/>
              <a:r>
                <a:rPr lang="en-US" altLang="zh-TW" sz="1400" dirty="0">
                  <a:solidFill>
                    <a:schemeClr val="bg1"/>
                  </a:solidFill>
                  <a:latin typeface="微軟正黑體" panose="020B0604030504040204" pitchFamily="34" charset="-120"/>
                  <a:ea typeface="微軟正黑體" panose="020B0604030504040204" pitchFamily="34" charset="-120"/>
                </a:rPr>
                <a:t>(</a:t>
              </a:r>
              <a:r>
                <a:rPr lang="zh-TW" altLang="en-US" sz="1400" dirty="0">
                  <a:solidFill>
                    <a:schemeClr val="bg1"/>
                  </a:solidFill>
                  <a:latin typeface="微軟正黑體" panose="020B0604030504040204" pitchFamily="34" charset="-120"/>
                  <a:ea typeface="微軟正黑體" panose="020B0604030504040204" pitchFamily="34" charset="-120"/>
                </a:rPr>
                <a:t>全集團共用</a:t>
              </a:r>
              <a:r>
                <a:rPr lang="en-US" altLang="zh-TW" sz="1400" dirty="0">
                  <a:solidFill>
                    <a:schemeClr val="bg1"/>
                  </a:solidFill>
                  <a:latin typeface="微軟正黑體" panose="020B0604030504040204" pitchFamily="34" charset="-120"/>
                  <a:ea typeface="微軟正黑體" panose="020B0604030504040204" pitchFamily="34" charset="-120"/>
                </a:rPr>
                <a:t>)</a:t>
              </a:r>
            </a:p>
          </p:txBody>
        </p:sp>
        <p:pic>
          <p:nvPicPr>
            <p:cNvPr id="52" name="圖片 51" descr="一張含有 黑色, 黑暗 的圖片&#10;&#10;自動產生的描述">
              <a:extLst>
                <a:ext uri="{FF2B5EF4-FFF2-40B4-BE49-F238E27FC236}">
                  <a16:creationId xmlns:a16="http://schemas.microsoft.com/office/drawing/2014/main" id="{6FFE959B-515F-A819-6469-B7D4F48152D3}"/>
                </a:ext>
              </a:extLst>
            </p:cNvPr>
            <p:cNvPicPr>
              <a:picLocks noChangeAspect="1"/>
            </p:cNvPicPr>
            <p:nvPr/>
          </p:nvPicPr>
          <p:blipFill rotWithShape="1">
            <a:blip r:embed="rId5">
              <a:extLst>
                <a:ext uri="{28A0092B-C50C-407E-A947-70E740481C1C}">
                  <a14:useLocalDpi xmlns:a14="http://schemas.microsoft.com/office/drawing/2010/main" val="0"/>
                </a:ext>
              </a:extLst>
            </a:blip>
            <a:srcRect l="21822" t="11976" r="16529" b="10596"/>
            <a:stretch/>
          </p:blipFill>
          <p:spPr>
            <a:xfrm>
              <a:off x="7231875" y="4671570"/>
              <a:ext cx="424743" cy="392660"/>
            </a:xfrm>
            <a:prstGeom prst="rect">
              <a:avLst/>
            </a:prstGeom>
          </p:spPr>
        </p:pic>
      </p:grpSp>
      <p:cxnSp>
        <p:nvCxnSpPr>
          <p:cNvPr id="55" name="接點: 肘形 355">
            <a:extLst>
              <a:ext uri="{FF2B5EF4-FFF2-40B4-BE49-F238E27FC236}">
                <a16:creationId xmlns:a16="http://schemas.microsoft.com/office/drawing/2014/main" id="{6C4E9CF9-E8C4-F39C-9238-FA49874CEE87}"/>
              </a:ext>
            </a:extLst>
          </p:cNvPr>
          <p:cNvCxnSpPr>
            <a:cxnSpLocks/>
            <a:stCxn id="25" idx="0"/>
            <a:endCxn id="82" idx="2"/>
          </p:cNvCxnSpPr>
          <p:nvPr/>
        </p:nvCxnSpPr>
        <p:spPr bwMode="auto">
          <a:xfrm flipV="1">
            <a:off x="8235372" y="2969004"/>
            <a:ext cx="1980" cy="1220357"/>
          </a:xfrm>
          <a:prstGeom prst="straightConnector1">
            <a:avLst/>
          </a:prstGeom>
          <a:ln w="28575">
            <a:solidFill>
              <a:srgbClr val="31859C"/>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3" name="文字方塊 52">
            <a:extLst>
              <a:ext uri="{FF2B5EF4-FFF2-40B4-BE49-F238E27FC236}">
                <a16:creationId xmlns:a16="http://schemas.microsoft.com/office/drawing/2014/main" id="{71C46DDC-BDA4-8A8B-C4A3-1C6A670A0486}"/>
              </a:ext>
            </a:extLst>
          </p:cNvPr>
          <p:cNvSpPr txBox="1"/>
          <p:nvPr/>
        </p:nvSpPr>
        <p:spPr>
          <a:xfrm>
            <a:off x="7246756" y="3343161"/>
            <a:ext cx="1634225" cy="276999"/>
          </a:xfrm>
          <a:prstGeom prst="rect">
            <a:avLst/>
          </a:prstGeom>
          <a:noFill/>
        </p:spPr>
        <p:txBody>
          <a:bodyPr wrap="square" rtlCol="0">
            <a:spAutoFit/>
          </a:bodyPr>
          <a:lstStyle/>
          <a:p>
            <a:r>
              <a:rPr lang="en-US" altLang="zh-TW" sz="1200" dirty="0">
                <a:solidFill>
                  <a:schemeClr val="tx1">
                    <a:lumMod val="75000"/>
                    <a:lumOff val="25000"/>
                  </a:schemeClr>
                </a:solidFill>
                <a:highlight>
                  <a:srgbClr val="C0C0C0"/>
                </a:highlight>
                <a:latin typeface="微軟正黑體" panose="020B0604030504040204" pitchFamily="34" charset="-120"/>
                <a:ea typeface="微軟正黑體" panose="020B0604030504040204" pitchFamily="34" charset="-120"/>
              </a:rPr>
              <a:t>MSSQL</a:t>
            </a:r>
            <a:r>
              <a:rPr lang="zh-TW" altLang="en-US" sz="1200" dirty="0">
                <a:solidFill>
                  <a:schemeClr val="tx1">
                    <a:lumMod val="75000"/>
                    <a:lumOff val="25000"/>
                  </a:schemeClr>
                </a:solidFill>
                <a:highlight>
                  <a:srgbClr val="C0C0C0"/>
                </a:highlight>
                <a:latin typeface="微軟正黑體" panose="020B0604030504040204" pitchFamily="34" charset="-120"/>
                <a:ea typeface="微軟正黑體" panose="020B0604030504040204" pitchFamily="34" charset="-120"/>
              </a:rPr>
              <a:t>取用資料</a:t>
            </a:r>
            <a:endParaRPr lang="en-US" altLang="zh-TW" sz="1200" dirty="0">
              <a:solidFill>
                <a:schemeClr val="tx1">
                  <a:lumMod val="75000"/>
                  <a:lumOff val="25000"/>
                </a:schemeClr>
              </a:solidFill>
              <a:highlight>
                <a:srgbClr val="C0C0C0"/>
              </a:highlight>
              <a:latin typeface="微軟正黑體" panose="020B0604030504040204" pitchFamily="34" charset="-120"/>
              <a:ea typeface="微軟正黑體" panose="020B0604030504040204" pitchFamily="34" charset="-120"/>
            </a:endParaRPr>
          </a:p>
        </p:txBody>
      </p:sp>
      <p:sp>
        <p:nvSpPr>
          <p:cNvPr id="3" name="矩形: 圓角 2">
            <a:extLst>
              <a:ext uri="{FF2B5EF4-FFF2-40B4-BE49-F238E27FC236}">
                <a16:creationId xmlns:a16="http://schemas.microsoft.com/office/drawing/2014/main" id="{74FE78FB-83C0-B60B-E163-B88FD4BF3A36}"/>
              </a:ext>
            </a:extLst>
          </p:cNvPr>
          <p:cNvSpPr/>
          <p:nvPr/>
        </p:nvSpPr>
        <p:spPr bwMode="auto">
          <a:xfrm>
            <a:off x="3445356" y="5154829"/>
            <a:ext cx="1977231" cy="885007"/>
          </a:xfrm>
          <a:prstGeom prst="roundRect">
            <a:avLst>
              <a:gd name="adj" fmla="val 4461"/>
            </a:avLst>
          </a:prstGeom>
          <a:solidFill>
            <a:srgbClr val="3C7BC7"/>
          </a:solidFill>
          <a:ln w="22225" cap="flat" cmpd="sng" algn="ctr">
            <a:solidFill>
              <a:srgbClr val="3B7BC8"/>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TW" sz="1800" dirty="0">
                <a:solidFill>
                  <a:schemeClr val="bg1"/>
                </a:solidFill>
                <a:latin typeface="微軟正黑體" panose="020B0604030504040204" pitchFamily="34" charset="-120"/>
                <a:ea typeface="微軟正黑體" panose="020B0604030504040204" pitchFamily="34" charset="-120"/>
              </a:rPr>
              <a:t>AP-</a:t>
            </a:r>
            <a:r>
              <a:rPr lang="en-US" altLang="zh-TW" sz="1800" dirty="0" err="1">
                <a:solidFill>
                  <a:schemeClr val="bg1"/>
                </a:solidFill>
                <a:latin typeface="微軟正黑體" panose="020B0604030504040204" pitchFamily="34" charset="-120"/>
                <a:ea typeface="微軟正黑體" panose="020B0604030504040204" pitchFamily="34" charset="-120"/>
              </a:rPr>
              <a:t>GW_Test</a:t>
            </a:r>
            <a:br>
              <a:rPr lang="en-US" altLang="zh-TW" sz="1800" dirty="0">
                <a:solidFill>
                  <a:schemeClr val="bg1"/>
                </a:solidFill>
                <a:latin typeface="微軟正黑體" panose="020B0604030504040204" pitchFamily="34" charset="-120"/>
                <a:ea typeface="微軟正黑體" panose="020B0604030504040204" pitchFamily="34" charset="-120"/>
              </a:rPr>
            </a:br>
            <a:r>
              <a:rPr lang="en-US" altLang="zh-TW" sz="1800" dirty="0">
                <a:solidFill>
                  <a:schemeClr val="bg1"/>
                </a:solidFill>
                <a:latin typeface="微軟正黑體" panose="020B0604030504040204" pitchFamily="34" charset="-120"/>
                <a:ea typeface="微軟正黑體" panose="020B0604030504040204" pitchFamily="34" charset="-120"/>
              </a:rPr>
              <a:t>(Non DMZ)</a:t>
            </a:r>
            <a:endParaRPr kumimoji="0" lang="zh-TW" altLang="en-US" sz="1200" b="1" i="0" u="none" strike="noStrike" cap="none" normalizeH="0" baseline="0" dirty="0">
              <a:ln>
                <a:noFill/>
              </a:ln>
              <a:solidFill>
                <a:schemeClr val="bg1"/>
              </a:solidFill>
              <a:effectLst/>
              <a:latin typeface="微軟正黑體" panose="020B0604030504040204" pitchFamily="34" charset="-120"/>
              <a:ea typeface="微軟正黑體" panose="020B0604030504040204" pitchFamily="34" charset="-120"/>
            </a:endParaRPr>
          </a:p>
        </p:txBody>
      </p:sp>
      <p:cxnSp>
        <p:nvCxnSpPr>
          <p:cNvPr id="4" name="直線單箭頭接點 2">
            <a:extLst>
              <a:ext uri="{FF2B5EF4-FFF2-40B4-BE49-F238E27FC236}">
                <a16:creationId xmlns:a16="http://schemas.microsoft.com/office/drawing/2014/main" id="{212A73AC-563C-5806-CFDE-9E28E65D189F}"/>
              </a:ext>
            </a:extLst>
          </p:cNvPr>
          <p:cNvCxnSpPr>
            <a:cxnSpLocks/>
            <a:stCxn id="26" idx="1"/>
            <a:endCxn id="3" idx="3"/>
          </p:cNvCxnSpPr>
          <p:nvPr/>
        </p:nvCxnSpPr>
        <p:spPr bwMode="auto">
          <a:xfrm rot="10800000" flipV="1">
            <a:off x="5422588" y="4744939"/>
            <a:ext cx="1979827" cy="852394"/>
          </a:xfrm>
          <a:prstGeom prst="bentConnector3">
            <a:avLst>
              <a:gd name="adj1" fmla="val 50000"/>
            </a:avLst>
          </a:prstGeom>
          <a:solidFill>
            <a:schemeClr val="accent1"/>
          </a:solidFill>
          <a:ln w="28575" cap="flat" cmpd="sng" algn="ctr">
            <a:solidFill>
              <a:srgbClr val="3C7BC7"/>
            </a:solidFill>
            <a:prstDash val="dash"/>
            <a:round/>
            <a:headEnd type="triangle" w="med" len="med"/>
            <a:tailEnd type="none"/>
          </a:ln>
          <a:effectLst/>
        </p:spPr>
      </p:cxnSp>
      <p:sp>
        <p:nvSpPr>
          <p:cNvPr id="5" name="文字方塊 4">
            <a:extLst>
              <a:ext uri="{FF2B5EF4-FFF2-40B4-BE49-F238E27FC236}">
                <a16:creationId xmlns:a16="http://schemas.microsoft.com/office/drawing/2014/main" id="{C1BF47D8-961E-E6F3-3F23-2B0D21345EE1}"/>
              </a:ext>
            </a:extLst>
          </p:cNvPr>
          <p:cNvSpPr txBox="1"/>
          <p:nvPr/>
        </p:nvSpPr>
        <p:spPr>
          <a:xfrm>
            <a:off x="5469612" y="5706186"/>
            <a:ext cx="1886459" cy="523220"/>
          </a:xfrm>
          <a:prstGeom prst="rect">
            <a:avLst/>
          </a:prstGeom>
          <a:noFill/>
        </p:spPr>
        <p:txBody>
          <a:bodyPr wrap="square" rtlCol="0">
            <a:spAutoFit/>
          </a:bodyPr>
          <a:lstStyle/>
          <a:p>
            <a:r>
              <a:rPr lang="en-US" altLang="zh-TW" sz="1400" b="0" dirty="0">
                <a:solidFill>
                  <a:srgbClr val="C0504D"/>
                </a:solidFill>
                <a:latin typeface="微軟正黑體" panose="020B0604030504040204" pitchFamily="34" charset="-120"/>
                <a:ea typeface="微軟正黑體" panose="020B0604030504040204" pitchFamily="34" charset="-120"/>
              </a:rPr>
              <a:t>3.</a:t>
            </a:r>
            <a:r>
              <a:rPr lang="zh-TW" altLang="en-US" sz="1400" b="0" dirty="0">
                <a:solidFill>
                  <a:srgbClr val="C0504D"/>
                </a:solidFill>
                <a:latin typeface="微軟正黑體" panose="020B0604030504040204" pitchFamily="34" charset="-120"/>
                <a:ea typeface="微軟正黑體" panose="020B0604030504040204" pitchFamily="34" charset="-120"/>
              </a:rPr>
              <a:t>寫入整理檔及資料到地端</a:t>
            </a:r>
            <a:r>
              <a:rPr lang="en-US" altLang="zh-TW" sz="1400" b="0" dirty="0">
                <a:solidFill>
                  <a:srgbClr val="C0504D"/>
                </a:solidFill>
                <a:latin typeface="微軟正黑體" panose="020B0604030504040204" pitchFamily="34" charset="-120"/>
                <a:ea typeface="微軟正黑體" panose="020B0604030504040204" pitchFamily="34" charset="-120"/>
              </a:rPr>
              <a:t>MSSQL</a:t>
            </a:r>
            <a:r>
              <a:rPr lang="zh-TW" altLang="en-US" sz="1400" b="0" dirty="0">
                <a:solidFill>
                  <a:srgbClr val="C0504D"/>
                </a:solidFill>
                <a:latin typeface="微軟正黑體" panose="020B0604030504040204" pitchFamily="34" charset="-120"/>
                <a:ea typeface="微軟正黑體" panose="020B0604030504040204" pitchFamily="34" charset="-120"/>
              </a:rPr>
              <a:t>資料庫</a:t>
            </a:r>
          </a:p>
        </p:txBody>
      </p:sp>
      <p:cxnSp>
        <p:nvCxnSpPr>
          <p:cNvPr id="6" name="直線單箭頭接點 2">
            <a:extLst>
              <a:ext uri="{FF2B5EF4-FFF2-40B4-BE49-F238E27FC236}">
                <a16:creationId xmlns:a16="http://schemas.microsoft.com/office/drawing/2014/main" id="{0C2A7F84-6ED4-8B55-8F00-2A76BE1DE0C1}"/>
              </a:ext>
            </a:extLst>
          </p:cNvPr>
          <p:cNvCxnSpPr>
            <a:cxnSpLocks/>
            <a:stCxn id="3" idx="1"/>
          </p:cNvCxnSpPr>
          <p:nvPr/>
        </p:nvCxnSpPr>
        <p:spPr bwMode="auto">
          <a:xfrm rot="10800000">
            <a:off x="3088784" y="4636265"/>
            <a:ext cx="356572" cy="961068"/>
          </a:xfrm>
          <a:prstGeom prst="bentConnector2">
            <a:avLst/>
          </a:prstGeom>
          <a:solidFill>
            <a:schemeClr val="accent1"/>
          </a:solidFill>
          <a:ln w="28575" cap="flat" cmpd="sng" algn="ctr">
            <a:solidFill>
              <a:srgbClr val="3C7BC7"/>
            </a:solidFill>
            <a:prstDash val="dash"/>
            <a:round/>
            <a:headEnd type="triangle" w="med" len="med"/>
            <a:tailEnd type="none"/>
          </a:ln>
          <a:effectLst/>
        </p:spPr>
      </p:cxnSp>
      <p:cxnSp>
        <p:nvCxnSpPr>
          <p:cNvPr id="8" name="直線單箭頭接點 2">
            <a:extLst>
              <a:ext uri="{FF2B5EF4-FFF2-40B4-BE49-F238E27FC236}">
                <a16:creationId xmlns:a16="http://schemas.microsoft.com/office/drawing/2014/main" id="{18CC4DAC-6EF2-D114-6E5E-6387329D3D19}"/>
              </a:ext>
            </a:extLst>
          </p:cNvPr>
          <p:cNvCxnSpPr>
            <a:cxnSpLocks/>
          </p:cNvCxnSpPr>
          <p:nvPr/>
        </p:nvCxnSpPr>
        <p:spPr bwMode="auto">
          <a:xfrm rot="16200000" flipH="1">
            <a:off x="3909352" y="4832252"/>
            <a:ext cx="338825" cy="306328"/>
          </a:xfrm>
          <a:prstGeom prst="bentConnector3">
            <a:avLst>
              <a:gd name="adj1" fmla="val 50000"/>
            </a:avLst>
          </a:prstGeom>
          <a:solidFill>
            <a:schemeClr val="accent1"/>
          </a:solidFill>
          <a:ln w="28575" cap="flat" cmpd="sng" algn="ctr">
            <a:solidFill>
              <a:srgbClr val="3C7BC7"/>
            </a:solidFill>
            <a:prstDash val="dash"/>
            <a:round/>
            <a:headEnd type="triangle" w="med" len="med"/>
            <a:tailEnd type="none"/>
          </a:ln>
          <a:effectLst/>
        </p:spPr>
      </p:cxnSp>
      <p:sp>
        <p:nvSpPr>
          <p:cNvPr id="9" name="文字方塊 8">
            <a:extLst>
              <a:ext uri="{FF2B5EF4-FFF2-40B4-BE49-F238E27FC236}">
                <a16:creationId xmlns:a16="http://schemas.microsoft.com/office/drawing/2014/main" id="{CDF1A9E6-36D3-1929-295A-4C460AFD289A}"/>
              </a:ext>
            </a:extLst>
          </p:cNvPr>
          <p:cNvSpPr txBox="1"/>
          <p:nvPr/>
        </p:nvSpPr>
        <p:spPr>
          <a:xfrm>
            <a:off x="4519083" y="4586791"/>
            <a:ext cx="1485379" cy="523220"/>
          </a:xfrm>
          <a:prstGeom prst="rect">
            <a:avLst/>
          </a:prstGeom>
          <a:noFill/>
        </p:spPr>
        <p:txBody>
          <a:bodyPr wrap="square" rtlCol="0">
            <a:spAutoFit/>
          </a:bodyPr>
          <a:lstStyle/>
          <a:p>
            <a:r>
              <a:rPr lang="en-US" altLang="zh-TW" sz="1400" b="0" dirty="0">
                <a:solidFill>
                  <a:srgbClr val="C0504D"/>
                </a:solidFill>
                <a:latin typeface="微軟正黑體" panose="020B0604030504040204" pitchFamily="34" charset="-120"/>
                <a:ea typeface="微軟正黑體" panose="020B0604030504040204" pitchFamily="34" charset="-120"/>
              </a:rPr>
              <a:t>2.</a:t>
            </a:r>
            <a:r>
              <a:rPr lang="zh-TW" altLang="en-US" sz="1400" b="0" dirty="0">
                <a:solidFill>
                  <a:srgbClr val="C0504D"/>
                </a:solidFill>
                <a:latin typeface="微軟正黑體" panose="020B0604030504040204" pitchFamily="34" charset="-120"/>
                <a:ea typeface="微軟正黑體" panose="020B0604030504040204" pitchFamily="34" charset="-120"/>
              </a:rPr>
              <a:t>取得爬蟲整理檔及資料字典</a:t>
            </a:r>
          </a:p>
        </p:txBody>
      </p:sp>
      <p:sp>
        <p:nvSpPr>
          <p:cNvPr id="10" name="文字方塊 9">
            <a:extLst>
              <a:ext uri="{FF2B5EF4-FFF2-40B4-BE49-F238E27FC236}">
                <a16:creationId xmlns:a16="http://schemas.microsoft.com/office/drawing/2014/main" id="{FCEF560E-DB36-20FC-B726-1E1591D87E96}"/>
              </a:ext>
            </a:extLst>
          </p:cNvPr>
          <p:cNvSpPr txBox="1"/>
          <p:nvPr/>
        </p:nvSpPr>
        <p:spPr>
          <a:xfrm>
            <a:off x="168004" y="5239726"/>
            <a:ext cx="2842950" cy="1015663"/>
          </a:xfrm>
          <a:prstGeom prst="rect">
            <a:avLst/>
          </a:prstGeom>
          <a:noFill/>
        </p:spPr>
        <p:txBody>
          <a:bodyPr wrap="square" rtlCol="0">
            <a:spAutoFit/>
          </a:bodyPr>
          <a:lstStyle/>
          <a:p>
            <a:r>
              <a:rPr lang="en-US" altLang="zh-TW" sz="1200" b="0" dirty="0">
                <a:solidFill>
                  <a:srgbClr val="C0504D"/>
                </a:solidFill>
                <a:latin typeface="微軟正黑體" panose="020B0604030504040204" pitchFamily="34" charset="-120"/>
                <a:ea typeface="微軟正黑體" panose="020B0604030504040204" pitchFamily="34" charset="-120"/>
              </a:rPr>
              <a:t>1-</a:t>
            </a:r>
            <a:r>
              <a:rPr lang="en-US" altLang="zh-TW" sz="1200" dirty="0">
                <a:solidFill>
                  <a:srgbClr val="C0504D"/>
                </a:solidFill>
                <a:latin typeface="微軟正黑體" panose="020B0604030504040204" pitchFamily="34" charset="-120"/>
                <a:ea typeface="微軟正黑體" panose="020B0604030504040204" pitchFamily="34" charset="-120"/>
              </a:rPr>
              <a:t>1.</a:t>
            </a:r>
            <a:r>
              <a:rPr lang="zh-TW" altLang="en-US" sz="1200" dirty="0">
                <a:solidFill>
                  <a:srgbClr val="C0504D"/>
                </a:solidFill>
                <a:latin typeface="微軟正黑體" panose="020B0604030504040204" pitchFamily="34" charset="-120"/>
                <a:ea typeface="微軟正黑體" panose="020B0604030504040204" pitchFamily="34" charset="-120"/>
              </a:rPr>
              <a:t>當爬蟲爬取資料時，</a:t>
            </a:r>
            <a:r>
              <a:rPr lang="zh-TW" altLang="en-US" sz="1200" b="0" dirty="0">
                <a:solidFill>
                  <a:srgbClr val="C0504D"/>
                </a:solidFill>
                <a:latin typeface="微軟正黑體" panose="020B0604030504040204" pitchFamily="34" charset="-120"/>
                <a:ea typeface="微軟正黑體" panose="020B0604030504040204" pitchFamily="34" charset="-120"/>
              </a:rPr>
              <a:t>呼叫爬蟲館</a:t>
            </a:r>
            <a:r>
              <a:rPr lang="en-US" altLang="zh-TW" sz="1200" b="0" dirty="0">
                <a:solidFill>
                  <a:srgbClr val="C0504D"/>
                </a:solidFill>
                <a:latin typeface="微軟正黑體" panose="020B0604030504040204" pitchFamily="34" charset="-120"/>
                <a:ea typeface="微軟正黑體" panose="020B0604030504040204" pitchFamily="34" charset="-120"/>
              </a:rPr>
              <a:t>API</a:t>
            </a:r>
            <a:r>
              <a:rPr lang="zh-TW" altLang="en-US" sz="1200" b="0" dirty="0">
                <a:solidFill>
                  <a:srgbClr val="C0504D"/>
                </a:solidFill>
                <a:latin typeface="微軟正黑體" panose="020B0604030504040204" pitchFamily="34" charset="-120"/>
                <a:ea typeface="微軟正黑體" panose="020B0604030504040204" pitchFamily="34" charset="-120"/>
              </a:rPr>
              <a:t>從</a:t>
            </a:r>
            <a:r>
              <a:rPr lang="en-US" altLang="zh-TW" sz="1200" b="0" dirty="0">
                <a:solidFill>
                  <a:srgbClr val="C0504D"/>
                </a:solidFill>
                <a:latin typeface="微軟正黑體" panose="020B0604030504040204" pitchFamily="34" charset="-120"/>
                <a:ea typeface="微軟正黑體" panose="020B0604030504040204" pitchFamily="34" charset="-120"/>
              </a:rPr>
              <a:t>S3</a:t>
            </a:r>
            <a:r>
              <a:rPr lang="zh-TW" altLang="en-US" sz="1200" b="0" dirty="0">
                <a:solidFill>
                  <a:srgbClr val="C0504D"/>
                </a:solidFill>
                <a:latin typeface="微軟正黑體" panose="020B0604030504040204" pitchFamily="34" charset="-120"/>
                <a:ea typeface="微軟正黑體" panose="020B0604030504040204" pitchFamily="34" charset="-120"/>
              </a:rPr>
              <a:t>下載檔案寫入</a:t>
            </a:r>
            <a:r>
              <a:rPr lang="en-US" altLang="zh-TW" sz="1200" b="0" dirty="0">
                <a:solidFill>
                  <a:srgbClr val="C0504D"/>
                </a:solidFill>
                <a:latin typeface="微軟正黑體" panose="020B0604030504040204" pitchFamily="34" charset="-120"/>
                <a:ea typeface="微軟正黑體" panose="020B0604030504040204" pitchFamily="34" charset="-120"/>
              </a:rPr>
              <a:t>MySQL</a:t>
            </a:r>
            <a:r>
              <a:rPr lang="zh-TW" altLang="en-US" sz="1200" b="0" dirty="0">
                <a:solidFill>
                  <a:srgbClr val="C0504D"/>
                </a:solidFill>
                <a:latin typeface="微軟正黑體" panose="020B0604030504040204" pitchFamily="34" charset="-120"/>
                <a:ea typeface="微軟正黑體" panose="020B0604030504040204" pitchFamily="34" charset="-120"/>
              </a:rPr>
              <a:t>，接續</a:t>
            </a:r>
            <a:r>
              <a:rPr lang="en-US" altLang="zh-TW" sz="1200" b="0" dirty="0">
                <a:solidFill>
                  <a:srgbClr val="C0504D"/>
                </a:solidFill>
                <a:latin typeface="微軟正黑體" panose="020B0604030504040204" pitchFamily="34" charset="-120"/>
                <a:ea typeface="微軟正黑體" panose="020B0604030504040204" pitchFamily="34" charset="-120"/>
              </a:rPr>
              <a:t>1-2</a:t>
            </a:r>
            <a:r>
              <a:rPr lang="zh-TW" altLang="en-US" sz="1200" b="0" dirty="0">
                <a:solidFill>
                  <a:srgbClr val="C0504D"/>
                </a:solidFill>
                <a:latin typeface="微軟正黑體" panose="020B0604030504040204" pitchFamily="34" charset="-120"/>
                <a:ea typeface="微軟正黑體" panose="020B0604030504040204" pitchFamily="34" charset="-120"/>
              </a:rPr>
              <a:t>更新地端</a:t>
            </a:r>
            <a:r>
              <a:rPr lang="en-US" altLang="zh-TW" sz="1200" b="0" dirty="0">
                <a:solidFill>
                  <a:srgbClr val="C0504D"/>
                </a:solidFill>
                <a:latin typeface="微軟正黑體" panose="020B0604030504040204" pitchFamily="34" charset="-120"/>
                <a:ea typeface="微軟正黑體" panose="020B0604030504040204" pitchFamily="34" charset="-120"/>
              </a:rPr>
              <a:t>MSSQL</a:t>
            </a:r>
            <a:r>
              <a:rPr lang="zh-TW" altLang="en-US" sz="1200" b="0" dirty="0">
                <a:solidFill>
                  <a:srgbClr val="C0504D"/>
                </a:solidFill>
                <a:latin typeface="微軟正黑體" panose="020B0604030504040204" pitchFamily="34" charset="-120"/>
                <a:ea typeface="微軟正黑體" panose="020B0604030504040204" pitchFamily="34" charset="-120"/>
              </a:rPr>
              <a:t>資料</a:t>
            </a:r>
            <a:br>
              <a:rPr lang="en-US" altLang="zh-TW" sz="1200" b="0" dirty="0">
                <a:solidFill>
                  <a:srgbClr val="C0504D"/>
                </a:solidFill>
                <a:latin typeface="微軟正黑體" panose="020B0604030504040204" pitchFamily="34" charset="-120"/>
                <a:ea typeface="微軟正黑體" panose="020B0604030504040204" pitchFamily="34" charset="-120"/>
              </a:rPr>
            </a:br>
            <a:r>
              <a:rPr lang="en-US" altLang="zh-TW" sz="1200" b="0" dirty="0">
                <a:solidFill>
                  <a:srgbClr val="C0504D"/>
                </a:solidFill>
                <a:latin typeface="微軟正黑體" panose="020B0604030504040204" pitchFamily="34" charset="-120"/>
                <a:ea typeface="微軟正黑體" panose="020B0604030504040204" pitchFamily="34" charset="-120"/>
              </a:rPr>
              <a:t>1-2.</a:t>
            </a:r>
            <a:r>
              <a:rPr lang="zh-TW" altLang="en-US" sz="1200" b="0" dirty="0">
                <a:solidFill>
                  <a:srgbClr val="C0504D"/>
                </a:solidFill>
                <a:latin typeface="微軟正黑體" panose="020B0604030504040204" pitchFamily="34" charset="-120"/>
                <a:ea typeface="微軟正黑體" panose="020B0604030504040204" pitchFamily="34" charset="-120"/>
              </a:rPr>
              <a:t>呼叫</a:t>
            </a:r>
            <a:r>
              <a:rPr lang="en-US" altLang="zh-TW" sz="1200" b="0" dirty="0">
                <a:solidFill>
                  <a:srgbClr val="C0504D"/>
                </a:solidFill>
                <a:latin typeface="微軟正黑體" panose="020B0604030504040204" pitchFamily="34" charset="-120"/>
                <a:ea typeface="微軟正黑體" panose="020B0604030504040204" pitchFamily="34" charset="-120"/>
              </a:rPr>
              <a:t>API</a:t>
            </a:r>
            <a:r>
              <a:rPr lang="zh-TW" altLang="en-US" sz="1200" b="0" dirty="0">
                <a:solidFill>
                  <a:srgbClr val="C0504D"/>
                </a:solidFill>
                <a:latin typeface="微軟正黑體" panose="020B0604030504040204" pitchFamily="34" charset="-120"/>
                <a:ea typeface="微軟正黑體" panose="020B0604030504040204" pitchFamily="34" charset="-120"/>
              </a:rPr>
              <a:t>通知</a:t>
            </a:r>
            <a:r>
              <a:rPr lang="en-US" altLang="zh-TW" sz="1200" dirty="0">
                <a:solidFill>
                  <a:srgbClr val="C0504D"/>
                </a:solidFill>
                <a:latin typeface="微軟正黑體" panose="020B0604030504040204" pitchFamily="34" charset="-120"/>
                <a:ea typeface="微軟正黑體" panose="020B0604030504040204" pitchFamily="34" charset="-120"/>
              </a:rPr>
              <a:t>GW</a:t>
            </a:r>
            <a:r>
              <a:rPr lang="zh-TW" altLang="en-US" sz="1200" dirty="0">
                <a:solidFill>
                  <a:srgbClr val="C0504D"/>
                </a:solidFill>
                <a:latin typeface="微軟正黑體" panose="020B0604030504040204" pitchFamily="34" charset="-120"/>
                <a:ea typeface="微軟正黑體" panose="020B0604030504040204" pitchFamily="34" charset="-120"/>
              </a:rPr>
              <a:t>對地端</a:t>
            </a:r>
            <a:r>
              <a:rPr lang="en-US" altLang="zh-TW" sz="1200" dirty="0">
                <a:solidFill>
                  <a:srgbClr val="C0504D"/>
                </a:solidFill>
                <a:latin typeface="微軟正黑體" panose="020B0604030504040204" pitchFamily="34" charset="-120"/>
                <a:ea typeface="微軟正黑體" panose="020B0604030504040204" pitchFamily="34" charset="-120"/>
              </a:rPr>
              <a:t>MSSQL</a:t>
            </a:r>
            <a:r>
              <a:rPr lang="zh-TW" altLang="en-US" sz="1200" dirty="0">
                <a:solidFill>
                  <a:srgbClr val="C0504D"/>
                </a:solidFill>
                <a:latin typeface="微軟正黑體" panose="020B0604030504040204" pitchFamily="34" charset="-120"/>
                <a:ea typeface="微軟正黑體" panose="020B0604030504040204" pitchFamily="34" charset="-120"/>
              </a:rPr>
              <a:t>進行資料更新</a:t>
            </a:r>
            <a:endParaRPr lang="zh-TW" altLang="en-US" sz="1200" b="0" dirty="0">
              <a:solidFill>
                <a:srgbClr val="C0504D"/>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0889899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9532AE6-B175-D658-BF3C-8B832E69877C}"/>
              </a:ext>
            </a:extLst>
          </p:cNvPr>
          <p:cNvSpPr>
            <a:spLocks noGrp="1"/>
          </p:cNvSpPr>
          <p:nvPr>
            <p:ph type="title"/>
          </p:nvPr>
        </p:nvSpPr>
        <p:spPr>
          <a:xfrm>
            <a:off x="224817" y="90288"/>
            <a:ext cx="11161712" cy="540000"/>
          </a:xfrm>
        </p:spPr>
        <p:txBody>
          <a:bodyPr/>
          <a:lstStyle/>
          <a:p>
            <a:r>
              <a:rPr lang="zh-TW" altLang="en-US" b="1" dirty="0"/>
              <a:t>爬蟲館擴充案功能列表</a:t>
            </a:r>
          </a:p>
        </p:txBody>
      </p:sp>
      <p:graphicFrame>
        <p:nvGraphicFramePr>
          <p:cNvPr id="4" name="表格 3">
            <a:extLst>
              <a:ext uri="{FF2B5EF4-FFF2-40B4-BE49-F238E27FC236}">
                <a16:creationId xmlns:a16="http://schemas.microsoft.com/office/drawing/2014/main" id="{7D1344F6-842D-35C2-1D19-1FFEE0AC4AAA}"/>
              </a:ext>
            </a:extLst>
          </p:cNvPr>
          <p:cNvGraphicFramePr>
            <a:graphicFrameLocks noGrp="1"/>
          </p:cNvGraphicFramePr>
          <p:nvPr>
            <p:extLst>
              <p:ext uri="{D42A27DB-BD31-4B8C-83A1-F6EECF244321}">
                <p14:modId xmlns:p14="http://schemas.microsoft.com/office/powerpoint/2010/main" val="12252062"/>
              </p:ext>
            </p:extLst>
          </p:nvPr>
        </p:nvGraphicFramePr>
        <p:xfrm>
          <a:off x="224817" y="1007753"/>
          <a:ext cx="11070853" cy="3779520"/>
        </p:xfrm>
        <a:graphic>
          <a:graphicData uri="http://schemas.openxmlformats.org/drawingml/2006/table">
            <a:tbl>
              <a:tblPr firstRow="1" bandRow="1">
                <a:tableStyleId>{5C22544A-7EE6-4342-B048-85BDC9FD1C3A}</a:tableStyleId>
              </a:tblPr>
              <a:tblGrid>
                <a:gridCol w="1160131">
                  <a:extLst>
                    <a:ext uri="{9D8B030D-6E8A-4147-A177-3AD203B41FA5}">
                      <a16:colId xmlns:a16="http://schemas.microsoft.com/office/drawing/2014/main" val="2654981811"/>
                    </a:ext>
                  </a:extLst>
                </a:gridCol>
                <a:gridCol w="2336369">
                  <a:extLst>
                    <a:ext uri="{9D8B030D-6E8A-4147-A177-3AD203B41FA5}">
                      <a16:colId xmlns:a16="http://schemas.microsoft.com/office/drawing/2014/main" val="3778882543"/>
                    </a:ext>
                  </a:extLst>
                </a:gridCol>
                <a:gridCol w="1923325">
                  <a:extLst>
                    <a:ext uri="{9D8B030D-6E8A-4147-A177-3AD203B41FA5}">
                      <a16:colId xmlns:a16="http://schemas.microsoft.com/office/drawing/2014/main" val="2386445714"/>
                    </a:ext>
                  </a:extLst>
                </a:gridCol>
                <a:gridCol w="5651028">
                  <a:extLst>
                    <a:ext uri="{9D8B030D-6E8A-4147-A177-3AD203B41FA5}">
                      <a16:colId xmlns:a16="http://schemas.microsoft.com/office/drawing/2014/main" val="23876330"/>
                    </a:ext>
                  </a:extLst>
                </a:gridCol>
              </a:tblGrid>
              <a:tr h="422543">
                <a:tc>
                  <a:txBody>
                    <a:bodyPr/>
                    <a:lstStyle/>
                    <a:p>
                      <a:endParaRPr lang="zh-TW" altLang="en-US" sz="2200" dirty="0">
                        <a:latin typeface="微軟正黑體" panose="020B0604030504040204" pitchFamily="34" charset="-120"/>
                        <a:ea typeface="微軟正黑體" panose="020B0604030504040204" pitchFamily="34" charset="-120"/>
                      </a:endParaRPr>
                    </a:p>
                  </a:txBody>
                  <a:tcPr marL="109728" marR="109728" marT="54864" marB="54864" anchor="ctr">
                    <a:solidFill>
                      <a:schemeClr val="accent4">
                        <a:lumMod val="90000"/>
                      </a:schemeClr>
                    </a:solidFill>
                  </a:tcPr>
                </a:tc>
                <a:tc>
                  <a:txBody>
                    <a:bodyPr/>
                    <a:lstStyle/>
                    <a:p>
                      <a:pPr algn="ctr"/>
                      <a:r>
                        <a:rPr lang="zh-TW" altLang="en-US" sz="2200" b="1" dirty="0">
                          <a:solidFill>
                            <a:srgbClr val="000000"/>
                          </a:solidFill>
                          <a:latin typeface="微軟正黑體" panose="020B0604030504040204" pitchFamily="34" charset="-120"/>
                          <a:ea typeface="微軟正黑體" panose="020B0604030504040204" pitchFamily="34" charset="-120"/>
                        </a:rPr>
                        <a:t>功能</a:t>
                      </a:r>
                    </a:p>
                  </a:txBody>
                  <a:tcPr marL="109728" marR="109728" marT="54864" marB="54864" anchor="ctr">
                    <a:solidFill>
                      <a:schemeClr val="accent4">
                        <a:lumMod val="90000"/>
                      </a:schemeClr>
                    </a:solidFill>
                  </a:tcPr>
                </a:tc>
                <a:tc>
                  <a:txBody>
                    <a:bodyPr/>
                    <a:lstStyle/>
                    <a:p>
                      <a:pPr algn="ctr"/>
                      <a:r>
                        <a:rPr lang="zh-TW" altLang="en-US" sz="2200" b="1" dirty="0">
                          <a:solidFill>
                            <a:srgbClr val="000000"/>
                          </a:solidFill>
                          <a:latin typeface="微軟正黑體" panose="020B0604030504040204" pitchFamily="34" charset="-120"/>
                          <a:ea typeface="微軟正黑體" panose="020B0604030504040204" pitchFamily="34" charset="-120"/>
                        </a:rPr>
                        <a:t>角色</a:t>
                      </a:r>
                    </a:p>
                  </a:txBody>
                  <a:tcPr marL="109728" marR="109728" marT="54864" marB="54864" anchor="ctr">
                    <a:solidFill>
                      <a:schemeClr val="accent4">
                        <a:lumMod val="90000"/>
                      </a:schemeClr>
                    </a:solidFill>
                  </a:tcPr>
                </a:tc>
                <a:tc>
                  <a:txBody>
                    <a:bodyPr/>
                    <a:lstStyle/>
                    <a:p>
                      <a:pPr algn="ctr"/>
                      <a:r>
                        <a:rPr lang="zh-TW" altLang="en-US" sz="2200" b="1" dirty="0">
                          <a:solidFill>
                            <a:srgbClr val="000000"/>
                          </a:solidFill>
                          <a:latin typeface="微軟正黑體" panose="020B0604030504040204" pitchFamily="34" charset="-120"/>
                          <a:ea typeface="微軟正黑體" panose="020B0604030504040204" pitchFamily="34" charset="-120"/>
                        </a:rPr>
                        <a:t>細項功能</a:t>
                      </a:r>
                    </a:p>
                  </a:txBody>
                  <a:tcPr marL="109728" marR="109728" marT="54864" marB="54864" anchor="ctr">
                    <a:solidFill>
                      <a:srgbClr val="EEB0B2"/>
                    </a:solidFill>
                  </a:tcPr>
                </a:tc>
                <a:extLst>
                  <a:ext uri="{0D108BD9-81ED-4DB2-BD59-A6C34878D82A}">
                    <a16:rowId xmlns:a16="http://schemas.microsoft.com/office/drawing/2014/main" val="1305822914"/>
                  </a:ext>
                </a:extLst>
              </a:tr>
              <a:tr h="654073">
                <a:tc>
                  <a:txBody>
                    <a:bodyPr/>
                    <a:lstStyle/>
                    <a:p>
                      <a:r>
                        <a:rPr lang="zh-TW" altLang="en-US" sz="2200" b="1" dirty="0">
                          <a:latin typeface="微軟正黑體" panose="020B0604030504040204" pitchFamily="34" charset="-120"/>
                          <a:ea typeface="微軟正黑體" panose="020B0604030504040204" pitchFamily="34" charset="-120"/>
                        </a:rPr>
                        <a:t>  前台</a:t>
                      </a:r>
                    </a:p>
                  </a:txBody>
                  <a:tcPr marL="109728" marR="109728" marT="54864" marB="54864" anchor="ctr">
                    <a:solidFill>
                      <a:schemeClr val="accent4">
                        <a:lumMod val="90000"/>
                      </a:schemeClr>
                    </a:solidFill>
                  </a:tcPr>
                </a:tc>
                <a:tc>
                  <a:txBody>
                    <a:bodyPr/>
                    <a:lstStyle/>
                    <a:p>
                      <a:r>
                        <a:rPr lang="zh-TW" altLang="en-US" sz="1900" dirty="0">
                          <a:solidFill>
                            <a:schemeClr val="tx1"/>
                          </a:solidFill>
                          <a:latin typeface="微軟正黑體" panose="020B0604030504040204" pitchFamily="34" charset="-120"/>
                          <a:ea typeface="微軟正黑體" panose="020B0604030504040204" pitchFamily="34" charset="-120"/>
                        </a:rPr>
                        <a:t>指定</a:t>
                      </a:r>
                      <a:r>
                        <a:rPr lang="en-US" altLang="zh-TW" sz="1900" dirty="0">
                          <a:solidFill>
                            <a:schemeClr val="tx1"/>
                          </a:solidFill>
                          <a:latin typeface="微軟正黑體" panose="020B0604030504040204" pitchFamily="34" charset="-120"/>
                          <a:ea typeface="微軟正黑體" panose="020B0604030504040204" pitchFamily="34" charset="-120"/>
                        </a:rPr>
                        <a:t>PK</a:t>
                      </a:r>
                      <a:r>
                        <a:rPr lang="zh-TW" altLang="en-US" sz="1900" dirty="0">
                          <a:solidFill>
                            <a:schemeClr val="tx1"/>
                          </a:solidFill>
                          <a:latin typeface="微軟正黑體" panose="020B0604030504040204" pitchFamily="34" charset="-120"/>
                          <a:ea typeface="微軟正黑體" panose="020B0604030504040204" pitchFamily="34" charset="-120"/>
                        </a:rPr>
                        <a:t>，決定資料保存方式</a:t>
                      </a:r>
                    </a:p>
                  </a:txBody>
                  <a:tcPr marL="109728" marR="109728" marT="54864" marB="54864">
                    <a:solidFill>
                      <a:schemeClr val="bg1"/>
                    </a:solidFill>
                  </a:tcPr>
                </a:tc>
                <a:tc>
                  <a:txBody>
                    <a:bodyPr/>
                    <a:lstStyle/>
                    <a:p>
                      <a:pPr marL="0" marR="0" lvl="0" indent="0" algn="l" defTabSz="1015980" rtl="0" eaLnBrk="1" fontAlgn="auto" latinLnBrk="0" hangingPunct="1">
                        <a:lnSpc>
                          <a:spcPct val="100000"/>
                        </a:lnSpc>
                        <a:spcBef>
                          <a:spcPts val="0"/>
                        </a:spcBef>
                        <a:spcAft>
                          <a:spcPts val="0"/>
                        </a:spcAft>
                        <a:buClrTx/>
                        <a:buSzTx/>
                        <a:buFontTx/>
                        <a:buNone/>
                        <a:tabLst/>
                        <a:defRPr/>
                      </a:pPr>
                      <a:r>
                        <a:rPr lang="zh-TW" altLang="en-US" sz="1900" dirty="0">
                          <a:solidFill>
                            <a:schemeClr val="tx1"/>
                          </a:solidFill>
                          <a:latin typeface="微軟正黑體" panose="020B0604030504040204" pitchFamily="34" charset="-120"/>
                          <a:ea typeface="微軟正黑體" panose="020B0604030504040204" pitchFamily="34" charset="-120"/>
                        </a:rPr>
                        <a:t>爬蟲館擁有者、</a:t>
                      </a:r>
                      <a:br>
                        <a:rPr lang="en-US" altLang="zh-TW" sz="1900" dirty="0">
                          <a:solidFill>
                            <a:schemeClr val="tx1"/>
                          </a:solidFill>
                          <a:latin typeface="微軟正黑體" panose="020B0604030504040204" pitchFamily="34" charset="-120"/>
                          <a:ea typeface="微軟正黑體" panose="020B0604030504040204" pitchFamily="34" charset="-120"/>
                        </a:rPr>
                      </a:br>
                      <a:r>
                        <a:rPr lang="zh-TW" altLang="en-US" sz="1900" dirty="0">
                          <a:solidFill>
                            <a:schemeClr val="tx1"/>
                          </a:solidFill>
                          <a:latin typeface="微軟正黑體" panose="020B0604030504040204" pitchFamily="34" charset="-120"/>
                          <a:ea typeface="微軟正黑體" panose="020B0604030504040204" pitchFamily="34" charset="-120"/>
                        </a:rPr>
                        <a:t>爬蟲館使用者</a:t>
                      </a:r>
                    </a:p>
                  </a:txBody>
                  <a:tcPr marL="109728" marR="109728" marT="54864" marB="54864">
                    <a:solidFill>
                      <a:schemeClr val="bg1"/>
                    </a:solidFill>
                  </a:tcPr>
                </a:tc>
                <a:tc>
                  <a:txBody>
                    <a:bodyPr/>
                    <a:lstStyle/>
                    <a:p>
                      <a:pPr marL="342900" marR="0" lvl="0" indent="-342900" algn="l" defTabSz="914400" rtl="0" eaLnBrk="1" fontAlgn="auto" latinLnBrk="0" hangingPunct="1">
                        <a:lnSpc>
                          <a:spcPct val="100000"/>
                        </a:lnSpc>
                        <a:spcBef>
                          <a:spcPts val="0"/>
                        </a:spcBef>
                        <a:spcAft>
                          <a:spcPts val="0"/>
                        </a:spcAft>
                        <a:buClr>
                          <a:srgbClr val="000000"/>
                        </a:buClr>
                        <a:buSzTx/>
                        <a:buFont typeface="+mj-lt"/>
                        <a:buAutoNum type="arabicParenR"/>
                        <a:tabLst/>
                        <a:defRPr/>
                      </a:pPr>
                      <a:r>
                        <a:rPr lang="zh-TW" altLang="en-US" sz="1900" dirty="0">
                          <a:solidFill>
                            <a:schemeClr val="tx1"/>
                          </a:solidFill>
                          <a:latin typeface="微軟正黑體" panose="020B0604030504040204" pitchFamily="34" charset="-120"/>
                          <a:ea typeface="微軟正黑體" panose="020B0604030504040204" pitchFamily="34" charset="-120"/>
                        </a:rPr>
                        <a:t>指定</a:t>
                      </a:r>
                      <a:r>
                        <a:rPr lang="en-US" altLang="zh-TW" sz="1900" dirty="0">
                          <a:solidFill>
                            <a:schemeClr val="tx1"/>
                          </a:solidFill>
                          <a:latin typeface="微軟正黑體" panose="020B0604030504040204" pitchFamily="34" charset="-120"/>
                          <a:ea typeface="微軟正黑體" panose="020B0604030504040204" pitchFamily="34" charset="-120"/>
                        </a:rPr>
                        <a:t>PK</a:t>
                      </a:r>
                      <a:r>
                        <a:rPr lang="zh-TW" altLang="en-US" sz="1900" dirty="0">
                          <a:solidFill>
                            <a:schemeClr val="tx1"/>
                          </a:solidFill>
                          <a:latin typeface="微軟正黑體" panose="020B0604030504040204" pitchFamily="34" charset="-120"/>
                          <a:ea typeface="微軟正黑體" panose="020B0604030504040204" pitchFamily="34" charset="-120"/>
                        </a:rPr>
                        <a:t>，連動到資料庫變更</a:t>
                      </a:r>
                      <a:r>
                        <a:rPr lang="en-US" altLang="zh-TW" sz="1900" dirty="0">
                          <a:solidFill>
                            <a:schemeClr val="tx1"/>
                          </a:solidFill>
                          <a:latin typeface="微軟正黑體" panose="020B0604030504040204" pitchFamily="34" charset="-120"/>
                          <a:ea typeface="微軟正黑體" panose="020B0604030504040204" pitchFamily="34" charset="-120"/>
                        </a:rPr>
                        <a:t>PK</a:t>
                      </a:r>
                      <a:r>
                        <a:rPr lang="zh-TW" altLang="en-US" sz="1900" dirty="0">
                          <a:solidFill>
                            <a:schemeClr val="tx1"/>
                          </a:solidFill>
                          <a:latin typeface="微軟正黑體" panose="020B0604030504040204" pitchFamily="34" charset="-120"/>
                          <a:ea typeface="微軟正黑體" panose="020B0604030504040204" pitchFamily="34" charset="-120"/>
                        </a:rPr>
                        <a:t>的設定</a:t>
                      </a:r>
                    </a:p>
                    <a:p>
                      <a:pPr marL="342900" indent="-342900">
                        <a:buFont typeface="+mj-lt"/>
                        <a:buAutoNum type="arabicParenR"/>
                      </a:pPr>
                      <a:r>
                        <a:rPr lang="zh-TW" altLang="en-US" sz="1900" dirty="0">
                          <a:solidFill>
                            <a:schemeClr val="tx1"/>
                          </a:solidFill>
                          <a:latin typeface="微軟正黑體" panose="020B0604030504040204" pitchFamily="34" charset="-120"/>
                          <a:ea typeface="微軟正黑體" panose="020B0604030504040204" pitchFamily="34" charset="-120"/>
                        </a:rPr>
                        <a:t>提供兩種資料儲存方式：保留歷史、僅保留最新</a:t>
                      </a:r>
                      <a:endParaRPr lang="en-US" altLang="zh-TW" sz="1900" dirty="0">
                        <a:solidFill>
                          <a:schemeClr val="tx1"/>
                        </a:solidFill>
                        <a:latin typeface="微軟正黑體" panose="020B0604030504040204" pitchFamily="34" charset="-120"/>
                        <a:ea typeface="微軟正黑體" panose="020B0604030504040204" pitchFamily="34" charset="-120"/>
                      </a:endParaRPr>
                    </a:p>
                    <a:p>
                      <a:pPr marL="342900" indent="-342900">
                        <a:buFont typeface="+mj-lt"/>
                        <a:buAutoNum type="arabicParenR"/>
                      </a:pPr>
                      <a:r>
                        <a:rPr lang="zh-TW" altLang="en-US" sz="1900" dirty="0">
                          <a:solidFill>
                            <a:schemeClr val="tx1"/>
                          </a:solidFill>
                          <a:latin typeface="微軟正黑體" panose="020B0604030504040204" pitchFamily="34" charset="-120"/>
                          <a:ea typeface="微軟正黑體" panose="020B0604030504040204" pitchFamily="34" charset="-120"/>
                        </a:rPr>
                        <a:t>資料庫</a:t>
                      </a:r>
                      <a:r>
                        <a:rPr lang="zh-TW" altLang="en-US" sz="1900" kern="1200" dirty="0">
                          <a:solidFill>
                            <a:schemeClr val="tx1"/>
                          </a:solidFill>
                          <a:latin typeface="微軟正黑體" panose="020B0604030504040204" pitchFamily="34" charset="-120"/>
                          <a:ea typeface="微軟正黑體" panose="020B0604030504040204" pitchFamily="34" charset="-120"/>
                          <a:cs typeface="+mn-cs"/>
                        </a:rPr>
                        <a:t>加入</a:t>
                      </a:r>
                      <a:r>
                        <a:rPr lang="zh-TW" altLang="zh-TW" sz="1900" kern="1200" dirty="0">
                          <a:solidFill>
                            <a:schemeClr val="tx1"/>
                          </a:solidFill>
                          <a:latin typeface="微軟正黑體" panose="020B0604030504040204" pitchFamily="34" charset="-120"/>
                          <a:ea typeface="微軟正黑體" panose="020B0604030504040204" pitchFamily="34" charset="-120"/>
                          <a:cs typeface="+mn-cs"/>
                        </a:rPr>
                        <a:t>三個欄位</a:t>
                      </a:r>
                      <a:r>
                        <a:rPr lang="zh-TW" altLang="en-US" sz="1900" kern="1200" dirty="0">
                          <a:solidFill>
                            <a:schemeClr val="tx1"/>
                          </a:solidFill>
                          <a:latin typeface="微軟正黑體" panose="020B0604030504040204" pitchFamily="34" charset="-120"/>
                          <a:ea typeface="微軟正黑體" panose="020B0604030504040204" pitchFamily="34" charset="-120"/>
                          <a:cs typeface="+mn-cs"/>
                        </a:rPr>
                        <a:t>：</a:t>
                      </a:r>
                      <a:r>
                        <a:rPr lang="zh-TW" altLang="zh-TW" sz="1900" kern="1200" dirty="0">
                          <a:solidFill>
                            <a:schemeClr val="tx1"/>
                          </a:solidFill>
                          <a:latin typeface="微軟正黑體" panose="020B0604030504040204" pitchFamily="34" charset="-120"/>
                          <a:ea typeface="微軟正黑體" panose="020B0604030504040204" pitchFamily="34" charset="-120"/>
                          <a:cs typeface="+mn-cs"/>
                        </a:rPr>
                        <a:t>建立時間、修改時間、是否刪除</a:t>
                      </a:r>
                      <a:endParaRPr lang="zh-TW" altLang="en-US" sz="1900" kern="1200" dirty="0">
                        <a:solidFill>
                          <a:schemeClr val="tx1"/>
                        </a:solidFill>
                        <a:latin typeface="微軟正黑體" panose="020B0604030504040204" pitchFamily="34" charset="-120"/>
                        <a:ea typeface="微軟正黑體" panose="020B0604030504040204" pitchFamily="34" charset="-120"/>
                        <a:cs typeface="+mn-cs"/>
                      </a:endParaRPr>
                    </a:p>
                  </a:txBody>
                  <a:tcPr marL="109728" marR="109728" marT="54864" marB="54864">
                    <a:solidFill>
                      <a:schemeClr val="bg1"/>
                    </a:solidFill>
                  </a:tcPr>
                </a:tc>
                <a:extLst>
                  <a:ext uri="{0D108BD9-81ED-4DB2-BD59-A6C34878D82A}">
                    <a16:rowId xmlns:a16="http://schemas.microsoft.com/office/drawing/2014/main" val="2558308092"/>
                  </a:ext>
                </a:extLst>
              </a:tr>
              <a:tr h="654073">
                <a:tc rowSpan="3">
                  <a:txBody>
                    <a:bodyPr/>
                    <a:lstStyle/>
                    <a:p>
                      <a:r>
                        <a:rPr lang="zh-TW" altLang="en-US" sz="2200" b="1" dirty="0">
                          <a:latin typeface="微軟正黑體" panose="020B0604030504040204" pitchFamily="34" charset="-120"/>
                          <a:ea typeface="微軟正黑體" panose="020B0604030504040204" pitchFamily="34" charset="-120"/>
                        </a:rPr>
                        <a:t>  後台</a:t>
                      </a:r>
                    </a:p>
                  </a:txBody>
                  <a:tcPr marL="109728" marR="109728" marT="54864" marB="54864" anchor="ctr">
                    <a:solidFill>
                      <a:schemeClr val="accent4">
                        <a:lumMod val="90000"/>
                      </a:schemeClr>
                    </a:solidFill>
                  </a:tcPr>
                </a:tc>
                <a:tc>
                  <a:txBody>
                    <a:bodyPr/>
                    <a:lstStyle/>
                    <a:p>
                      <a:r>
                        <a:rPr lang="zh-TW" altLang="en-US" sz="1900" dirty="0">
                          <a:solidFill>
                            <a:schemeClr val="tx1"/>
                          </a:solidFill>
                          <a:latin typeface="微軟正黑體" panose="020B0604030504040204" pitchFamily="34" charset="-120"/>
                          <a:ea typeface="微軟正黑體" panose="020B0604030504040204" pitchFamily="34" charset="-120"/>
                        </a:rPr>
                        <a:t>雲端</a:t>
                      </a:r>
                      <a:r>
                        <a:rPr lang="en-US" altLang="zh-TW" sz="1900" dirty="0">
                          <a:solidFill>
                            <a:schemeClr val="tx1"/>
                          </a:solidFill>
                          <a:latin typeface="微軟正黑體" panose="020B0604030504040204" pitchFamily="34" charset="-120"/>
                          <a:ea typeface="微軟正黑體" panose="020B0604030504040204" pitchFamily="34" charset="-120"/>
                        </a:rPr>
                        <a:t>MySQL</a:t>
                      </a:r>
                      <a:r>
                        <a:rPr lang="zh-TW" altLang="en-US" sz="1900" dirty="0">
                          <a:solidFill>
                            <a:schemeClr val="tx1"/>
                          </a:solidFill>
                          <a:latin typeface="微軟正黑體" panose="020B0604030504040204" pitchFamily="34" charset="-120"/>
                          <a:ea typeface="微軟正黑體" panose="020B0604030504040204" pitchFamily="34" charset="-120"/>
                        </a:rPr>
                        <a:t>資料庫優化</a:t>
                      </a:r>
                    </a:p>
                  </a:txBody>
                  <a:tcPr marL="109728" marR="109728" marT="54864" marB="54864">
                    <a:solidFill>
                      <a:schemeClr val="accent4"/>
                    </a:solidFill>
                  </a:tcPr>
                </a:tc>
                <a:tc>
                  <a:txBody>
                    <a:bodyPr/>
                    <a:lstStyle/>
                    <a:p>
                      <a:r>
                        <a:rPr lang="zh-TW" altLang="en-US" sz="1900" dirty="0">
                          <a:solidFill>
                            <a:schemeClr val="tx1"/>
                          </a:solidFill>
                          <a:latin typeface="微軟正黑體" panose="020B0604030504040204" pitchFamily="34" charset="-120"/>
                          <a:ea typeface="微軟正黑體" panose="020B0604030504040204" pitchFamily="34" charset="-120"/>
                        </a:rPr>
                        <a:t>爬蟲館管理者</a:t>
                      </a:r>
                    </a:p>
                  </a:txBody>
                  <a:tcPr marL="109728" marR="109728" marT="54864" marB="54864">
                    <a:solidFill>
                      <a:schemeClr val="accent4"/>
                    </a:solidFill>
                  </a:tcPr>
                </a:tc>
                <a:tc>
                  <a:txBody>
                    <a:bodyPr/>
                    <a:lstStyle/>
                    <a:p>
                      <a:pPr marL="342900" indent="-342900">
                        <a:buFont typeface="+mj-lt"/>
                        <a:buAutoNum type="arabicParenR"/>
                      </a:pPr>
                      <a:r>
                        <a:rPr lang="zh-TW" altLang="en-US" sz="1900" dirty="0">
                          <a:solidFill>
                            <a:schemeClr val="tx1"/>
                          </a:solidFill>
                          <a:latin typeface="微軟正黑體" panose="020B0604030504040204" pitchFamily="34" charset="-120"/>
                          <a:ea typeface="微軟正黑體" panose="020B0604030504040204" pitchFamily="34" charset="-120"/>
                        </a:rPr>
                        <a:t>加入</a:t>
                      </a:r>
                      <a:r>
                        <a:rPr lang="en-US" altLang="zh-TW" sz="1900" dirty="0">
                          <a:solidFill>
                            <a:schemeClr val="tx1"/>
                          </a:solidFill>
                          <a:latin typeface="微軟正黑體" panose="020B0604030504040204" pitchFamily="34" charset="-120"/>
                          <a:ea typeface="微軟正黑體" panose="020B0604030504040204" pitchFamily="34" charset="-120"/>
                        </a:rPr>
                        <a:t>PK</a:t>
                      </a:r>
                      <a:r>
                        <a:rPr lang="zh-TW" altLang="en-US" sz="1900" dirty="0">
                          <a:solidFill>
                            <a:schemeClr val="tx1"/>
                          </a:solidFill>
                          <a:latin typeface="微軟正黑體" panose="020B0604030504040204" pitchFamily="34" charset="-120"/>
                          <a:ea typeface="微軟正黑體" panose="020B0604030504040204" pitchFamily="34" charset="-120"/>
                        </a:rPr>
                        <a:t>設定</a:t>
                      </a:r>
                      <a:endParaRPr lang="en-US" altLang="zh-TW" sz="1900" dirty="0">
                        <a:solidFill>
                          <a:schemeClr val="tx1"/>
                        </a:solidFill>
                        <a:latin typeface="微軟正黑體" panose="020B0604030504040204" pitchFamily="34" charset="-120"/>
                        <a:ea typeface="微軟正黑體" panose="020B0604030504040204" pitchFamily="34" charset="-120"/>
                      </a:endParaRPr>
                    </a:p>
                    <a:p>
                      <a:pPr marL="342900" indent="-342900">
                        <a:buFont typeface="+mj-lt"/>
                        <a:buAutoNum type="arabicParenR"/>
                      </a:pPr>
                      <a:r>
                        <a:rPr lang="zh-TW" altLang="en-US" sz="1900" dirty="0">
                          <a:solidFill>
                            <a:schemeClr val="tx1"/>
                          </a:solidFill>
                          <a:latin typeface="微軟正黑體" panose="020B0604030504040204" pitchFamily="34" charset="-120"/>
                          <a:ea typeface="微軟正黑體" panose="020B0604030504040204" pitchFamily="34" charset="-120"/>
                        </a:rPr>
                        <a:t>舊資料依據資料儲存方式處理</a:t>
                      </a:r>
                    </a:p>
                  </a:txBody>
                  <a:tcPr marL="109728" marR="109728" marT="54864" marB="54864">
                    <a:solidFill>
                      <a:schemeClr val="accent4"/>
                    </a:solidFill>
                  </a:tcPr>
                </a:tc>
                <a:extLst>
                  <a:ext uri="{0D108BD9-81ED-4DB2-BD59-A6C34878D82A}">
                    <a16:rowId xmlns:a16="http://schemas.microsoft.com/office/drawing/2014/main" val="135603599"/>
                  </a:ext>
                </a:extLst>
              </a:tr>
              <a:tr h="654073">
                <a:tc vMerge="1">
                  <a:txBody>
                    <a:bodyPr/>
                    <a:lstStyle/>
                    <a:p>
                      <a:endParaRPr lang="zh-TW" altLang="en-US" dirty="0"/>
                    </a:p>
                  </a:txBody>
                  <a:tcPr/>
                </a:tc>
                <a:tc>
                  <a:txBody>
                    <a:bodyPr/>
                    <a:lstStyle/>
                    <a:p>
                      <a:r>
                        <a:rPr lang="zh-TW" altLang="en-US" sz="1900" dirty="0">
                          <a:solidFill>
                            <a:schemeClr val="tx1"/>
                          </a:solidFill>
                          <a:latin typeface="微軟正黑體" panose="020B0604030504040204" pitchFamily="34" charset="-120"/>
                          <a:ea typeface="微軟正黑體" panose="020B0604030504040204" pitchFamily="34" charset="-120"/>
                        </a:rPr>
                        <a:t>寫入地端</a:t>
                      </a:r>
                      <a:r>
                        <a:rPr lang="en-US" altLang="zh-TW" sz="1900" dirty="0">
                          <a:solidFill>
                            <a:schemeClr val="tx1"/>
                          </a:solidFill>
                          <a:latin typeface="微軟正黑體" panose="020B0604030504040204" pitchFamily="34" charset="-120"/>
                          <a:ea typeface="微軟正黑體" panose="020B0604030504040204" pitchFamily="34" charset="-120"/>
                        </a:rPr>
                        <a:t>MSSQL</a:t>
                      </a:r>
                      <a:endParaRPr lang="zh-TW" altLang="en-US" sz="1900" dirty="0">
                        <a:solidFill>
                          <a:schemeClr val="tx1"/>
                        </a:solidFill>
                        <a:latin typeface="微軟正黑體" panose="020B0604030504040204" pitchFamily="34" charset="-120"/>
                        <a:ea typeface="微軟正黑體" panose="020B0604030504040204" pitchFamily="34" charset="-120"/>
                      </a:endParaRPr>
                    </a:p>
                  </a:txBody>
                  <a:tcPr marL="109728" marR="109728" marT="54864" marB="54864">
                    <a:noFill/>
                  </a:tcPr>
                </a:tc>
                <a:tc>
                  <a:txBody>
                    <a:bodyPr/>
                    <a:lstStyle/>
                    <a:p>
                      <a:r>
                        <a:rPr lang="zh-TW" altLang="en-US" sz="1900" dirty="0">
                          <a:solidFill>
                            <a:schemeClr val="tx1"/>
                          </a:solidFill>
                          <a:latin typeface="微軟正黑體" panose="020B0604030504040204" pitchFamily="34" charset="-120"/>
                          <a:ea typeface="微軟正黑體" panose="020B0604030504040204" pitchFamily="34" charset="-120"/>
                        </a:rPr>
                        <a:t>爬蟲館管理者</a:t>
                      </a:r>
                    </a:p>
                  </a:txBody>
                  <a:tcPr marL="109728" marR="109728" marT="54864" marB="54864">
                    <a:noFill/>
                  </a:tcPr>
                </a:tc>
                <a:tc>
                  <a:txBody>
                    <a:bodyPr/>
                    <a:lstStyle/>
                    <a:p>
                      <a:pPr marL="342900" indent="-342900" algn="l" defTabSz="914400" rtl="0" eaLnBrk="1" latinLnBrk="0" hangingPunct="1">
                        <a:buFont typeface="+mj-lt"/>
                        <a:buAutoNum type="arabicParenR"/>
                      </a:pPr>
                      <a:r>
                        <a:rPr lang="zh-TW" altLang="en-US" sz="1900" kern="1200" dirty="0">
                          <a:solidFill>
                            <a:schemeClr val="tx1"/>
                          </a:solidFill>
                          <a:latin typeface="微軟正黑體" panose="020B0604030504040204" pitchFamily="34" charset="-120"/>
                          <a:ea typeface="微軟正黑體" panose="020B0604030504040204" pitchFamily="34" charset="-120"/>
                          <a:cs typeface="+mn-cs"/>
                        </a:rPr>
                        <a:t>資料寫入雲端</a:t>
                      </a:r>
                      <a:r>
                        <a:rPr lang="en-US" altLang="zh-TW" sz="1900" kern="1200" dirty="0">
                          <a:solidFill>
                            <a:schemeClr val="tx1"/>
                          </a:solidFill>
                          <a:latin typeface="微軟正黑體" panose="020B0604030504040204" pitchFamily="34" charset="-120"/>
                          <a:ea typeface="微軟正黑體" panose="020B0604030504040204" pitchFamily="34" charset="-120"/>
                          <a:cs typeface="+mn-cs"/>
                        </a:rPr>
                        <a:t>MYSQL</a:t>
                      </a:r>
                      <a:r>
                        <a:rPr lang="zh-TW" altLang="en-US" sz="1900" kern="1200" dirty="0">
                          <a:solidFill>
                            <a:schemeClr val="tx1"/>
                          </a:solidFill>
                          <a:latin typeface="微軟正黑體" panose="020B0604030504040204" pitchFamily="34" charset="-120"/>
                          <a:ea typeface="微軟正黑體" panose="020B0604030504040204" pitchFamily="34" charset="-120"/>
                          <a:cs typeface="+mn-cs"/>
                        </a:rPr>
                        <a:t>時，同時寫入地端</a:t>
                      </a:r>
                      <a:r>
                        <a:rPr lang="en-US" altLang="zh-TW" sz="1900" kern="1200" dirty="0">
                          <a:solidFill>
                            <a:schemeClr val="tx1"/>
                          </a:solidFill>
                          <a:latin typeface="微軟正黑體" panose="020B0604030504040204" pitchFamily="34" charset="-120"/>
                          <a:ea typeface="微軟正黑體" panose="020B0604030504040204" pitchFamily="34" charset="-120"/>
                          <a:cs typeface="+mn-cs"/>
                        </a:rPr>
                        <a:t>MSSQL</a:t>
                      </a:r>
                    </a:p>
                    <a:p>
                      <a:pPr marL="342900" indent="-342900" algn="l" defTabSz="914400" rtl="0" eaLnBrk="1" latinLnBrk="0" hangingPunct="1">
                        <a:buFont typeface="+mj-lt"/>
                        <a:buAutoNum type="arabicParenR"/>
                      </a:pPr>
                      <a:r>
                        <a:rPr lang="zh-TW" altLang="en-US" sz="1900" kern="1200" dirty="0">
                          <a:solidFill>
                            <a:schemeClr val="tx1"/>
                          </a:solidFill>
                          <a:latin typeface="微軟正黑體" panose="020B0604030504040204" pitchFamily="34" charset="-120"/>
                          <a:ea typeface="微軟正黑體" panose="020B0604030504040204" pitchFamily="34" charset="-120"/>
                          <a:cs typeface="+mn-cs"/>
                        </a:rPr>
                        <a:t>包含在指定</a:t>
                      </a:r>
                      <a:r>
                        <a:rPr lang="en-US" altLang="zh-TW" sz="1900" kern="1200" dirty="0">
                          <a:solidFill>
                            <a:schemeClr val="tx1"/>
                          </a:solidFill>
                          <a:latin typeface="微軟正黑體" panose="020B0604030504040204" pitchFamily="34" charset="-120"/>
                          <a:ea typeface="微軟正黑體" panose="020B0604030504040204" pitchFamily="34" charset="-120"/>
                          <a:cs typeface="+mn-cs"/>
                        </a:rPr>
                        <a:t>PK</a:t>
                      </a:r>
                      <a:r>
                        <a:rPr lang="zh-TW" altLang="en-US" sz="1900" kern="1200" dirty="0">
                          <a:solidFill>
                            <a:schemeClr val="tx1"/>
                          </a:solidFill>
                          <a:latin typeface="微軟正黑體" panose="020B0604030504040204" pitchFamily="34" charset="-120"/>
                          <a:ea typeface="微軟正黑體" panose="020B0604030504040204" pitchFamily="34" charset="-120"/>
                          <a:cs typeface="+mn-cs"/>
                        </a:rPr>
                        <a:t>後影響到雲端</a:t>
                      </a:r>
                      <a:r>
                        <a:rPr lang="en-US" altLang="zh-TW" sz="1900" kern="1200" dirty="0">
                          <a:solidFill>
                            <a:schemeClr val="tx1"/>
                          </a:solidFill>
                          <a:latin typeface="微軟正黑體" panose="020B0604030504040204" pitchFamily="34" charset="-120"/>
                          <a:ea typeface="微軟正黑體" panose="020B0604030504040204" pitchFamily="34" charset="-120"/>
                          <a:cs typeface="+mn-cs"/>
                        </a:rPr>
                        <a:t>MYSQL</a:t>
                      </a:r>
                      <a:r>
                        <a:rPr lang="zh-TW" altLang="en-US" sz="1900" kern="1200" dirty="0">
                          <a:solidFill>
                            <a:schemeClr val="tx1"/>
                          </a:solidFill>
                          <a:latin typeface="微軟正黑體" panose="020B0604030504040204" pitchFamily="34" charset="-120"/>
                          <a:ea typeface="微軟正黑體" panose="020B0604030504040204" pitchFamily="34" charset="-120"/>
                          <a:cs typeface="+mn-cs"/>
                        </a:rPr>
                        <a:t>的所有操作</a:t>
                      </a:r>
                    </a:p>
                  </a:txBody>
                  <a:tcPr marL="109728" marR="109728" marT="54864" marB="54864">
                    <a:noFill/>
                  </a:tcPr>
                </a:tc>
                <a:extLst>
                  <a:ext uri="{0D108BD9-81ED-4DB2-BD59-A6C34878D82A}">
                    <a16:rowId xmlns:a16="http://schemas.microsoft.com/office/drawing/2014/main" val="3643250994"/>
                  </a:ext>
                </a:extLst>
              </a:tr>
              <a:tr h="487103">
                <a:tc vMerge="1">
                  <a:txBody>
                    <a:bodyPr/>
                    <a:lstStyle/>
                    <a:p>
                      <a:endParaRPr lang="zh-TW" altLang="en-US" dirty="0"/>
                    </a:p>
                  </a:txBody>
                  <a:tcPr/>
                </a:tc>
                <a:tc>
                  <a:txBody>
                    <a:bodyPr/>
                    <a:lstStyle/>
                    <a:p>
                      <a:r>
                        <a:rPr lang="zh-TW" altLang="en-US" sz="1900" dirty="0">
                          <a:latin typeface="微軟正黑體" panose="020B0604030504040204" pitchFamily="34" charset="-120"/>
                          <a:ea typeface="微軟正黑體" panose="020B0604030504040204" pitchFamily="34" charset="-120"/>
                        </a:rPr>
                        <a:t>一次性資料搬移</a:t>
                      </a:r>
                    </a:p>
                  </a:txBody>
                  <a:tcPr marL="109728" marR="109728" marT="54864" marB="54864">
                    <a:solidFill>
                      <a:schemeClr val="accent4"/>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900" dirty="0">
                          <a:solidFill>
                            <a:schemeClr val="tx1"/>
                          </a:solidFill>
                          <a:latin typeface="微軟正黑體" panose="020B0604030504040204" pitchFamily="34" charset="-120"/>
                          <a:ea typeface="微軟正黑體" panose="020B0604030504040204" pitchFamily="34" charset="-120"/>
                        </a:rPr>
                        <a:t>爬蟲館</a:t>
                      </a:r>
                      <a:r>
                        <a:rPr lang="zh-TW" altLang="en-US" sz="1900" strike="noStrike" dirty="0">
                          <a:solidFill>
                            <a:schemeClr val="tx1"/>
                          </a:solidFill>
                          <a:latin typeface="微軟正黑體" panose="020B0604030504040204" pitchFamily="34" charset="-120"/>
                          <a:ea typeface="微軟正黑體" panose="020B0604030504040204" pitchFamily="34" charset="-120"/>
                        </a:rPr>
                        <a:t>擁有</a:t>
                      </a:r>
                      <a:r>
                        <a:rPr lang="zh-TW" altLang="en-US" sz="1900" dirty="0">
                          <a:solidFill>
                            <a:schemeClr val="tx1"/>
                          </a:solidFill>
                          <a:latin typeface="微軟正黑體" panose="020B0604030504040204" pitchFamily="34" charset="-120"/>
                          <a:ea typeface="微軟正黑體" panose="020B0604030504040204" pitchFamily="34" charset="-120"/>
                        </a:rPr>
                        <a:t>者、</a:t>
                      </a:r>
                      <a:br>
                        <a:rPr lang="en-US" altLang="zh-TW" sz="1900" dirty="0">
                          <a:solidFill>
                            <a:schemeClr val="tx1"/>
                          </a:solidFill>
                          <a:latin typeface="微軟正黑體" panose="020B0604030504040204" pitchFamily="34" charset="-120"/>
                          <a:ea typeface="微軟正黑體" panose="020B0604030504040204" pitchFamily="34" charset="-120"/>
                        </a:rPr>
                      </a:br>
                      <a:r>
                        <a:rPr lang="zh-TW" altLang="en-US" sz="1900" dirty="0">
                          <a:solidFill>
                            <a:schemeClr val="tx1"/>
                          </a:solidFill>
                          <a:latin typeface="微軟正黑體" panose="020B0604030504040204" pitchFamily="34" charset="-120"/>
                          <a:ea typeface="微軟正黑體" panose="020B0604030504040204" pitchFamily="34" charset="-120"/>
                        </a:rPr>
                        <a:t>爬蟲館管理者</a:t>
                      </a:r>
                    </a:p>
                  </a:txBody>
                  <a:tcPr marL="109728" marR="109728" marT="54864" marB="54864">
                    <a:solidFill>
                      <a:schemeClr val="accent4"/>
                    </a:solidFill>
                  </a:tcPr>
                </a:tc>
                <a:tc>
                  <a:txBody>
                    <a:bodyPr/>
                    <a:lstStyle/>
                    <a:p>
                      <a:r>
                        <a:rPr lang="zh-TW" altLang="en-US" sz="1900" dirty="0">
                          <a:latin typeface="微軟正黑體" panose="020B0604030504040204" pitchFamily="34" charset="-120"/>
                          <a:ea typeface="微軟正黑體" panose="020B0604030504040204" pitchFamily="34" charset="-120"/>
                        </a:rPr>
                        <a:t>優化後的爬蟲雲端</a:t>
                      </a:r>
                      <a:r>
                        <a:rPr lang="en-US" altLang="zh-TW" sz="1900" dirty="0">
                          <a:latin typeface="微軟正黑體" panose="020B0604030504040204" pitchFamily="34" charset="-120"/>
                          <a:ea typeface="微軟正黑體" panose="020B0604030504040204" pitchFamily="34" charset="-120"/>
                        </a:rPr>
                        <a:t>MYSQL</a:t>
                      </a:r>
                      <a:r>
                        <a:rPr lang="zh-TW" altLang="en-US" sz="1900" dirty="0">
                          <a:latin typeface="微軟正黑體" panose="020B0604030504040204" pitchFamily="34" charset="-120"/>
                          <a:ea typeface="微軟正黑體" panose="020B0604030504040204" pitchFamily="34" charset="-120"/>
                        </a:rPr>
                        <a:t>資料庫一次性搬移到地端</a:t>
                      </a:r>
                      <a:r>
                        <a:rPr lang="en-US" altLang="zh-TW" sz="1900" dirty="0">
                          <a:latin typeface="微軟正黑體" panose="020B0604030504040204" pitchFamily="34" charset="-120"/>
                          <a:ea typeface="微軟正黑體" panose="020B0604030504040204" pitchFamily="34" charset="-120"/>
                        </a:rPr>
                        <a:t>MSSQL</a:t>
                      </a:r>
                      <a:r>
                        <a:rPr lang="zh-TW" altLang="en-US" sz="1900" dirty="0">
                          <a:latin typeface="微軟正黑體" panose="020B0604030504040204" pitchFamily="34" charset="-120"/>
                          <a:ea typeface="微軟正黑體" panose="020B0604030504040204" pitchFamily="34" charset="-120"/>
                        </a:rPr>
                        <a:t>，其中包含</a:t>
                      </a:r>
                      <a:r>
                        <a:rPr lang="en-US" altLang="zh-TW" sz="1900" dirty="0">
                          <a:latin typeface="微軟正黑體" panose="020B0604030504040204" pitchFamily="34" charset="-120"/>
                          <a:ea typeface="微軟正黑體" panose="020B0604030504040204" pitchFamily="34" charset="-120"/>
                        </a:rPr>
                        <a:t>schema</a:t>
                      </a:r>
                      <a:r>
                        <a:rPr lang="zh-TW" altLang="en-US" sz="1900" dirty="0">
                          <a:latin typeface="微軟正黑體" panose="020B0604030504040204" pitchFamily="34" charset="-120"/>
                          <a:ea typeface="微軟正黑體" panose="020B0604030504040204" pitchFamily="34" charset="-120"/>
                        </a:rPr>
                        <a:t>設定</a:t>
                      </a:r>
                    </a:p>
                  </a:txBody>
                  <a:tcPr marL="109728" marR="109728" marT="54864" marB="54864">
                    <a:solidFill>
                      <a:schemeClr val="accent4"/>
                    </a:solidFill>
                  </a:tcPr>
                </a:tc>
                <a:extLst>
                  <a:ext uri="{0D108BD9-81ED-4DB2-BD59-A6C34878D82A}">
                    <a16:rowId xmlns:a16="http://schemas.microsoft.com/office/drawing/2014/main" val="3375662940"/>
                  </a:ext>
                </a:extLst>
              </a:tr>
            </a:tbl>
          </a:graphicData>
        </a:graphic>
      </p:graphicFrame>
      <p:sp>
        <p:nvSpPr>
          <p:cNvPr id="3" name="矩形 2">
            <a:extLst>
              <a:ext uri="{FF2B5EF4-FFF2-40B4-BE49-F238E27FC236}">
                <a16:creationId xmlns:a16="http://schemas.microsoft.com/office/drawing/2014/main" id="{6A9AF391-D36D-BE68-D1E5-A2C8FCD0F8DF}"/>
              </a:ext>
            </a:extLst>
          </p:cNvPr>
          <p:cNvSpPr/>
          <p:nvPr/>
        </p:nvSpPr>
        <p:spPr>
          <a:xfrm>
            <a:off x="418878" y="5012982"/>
            <a:ext cx="9778856" cy="11352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u"/>
            </a:pPr>
            <a:r>
              <a:rPr lang="zh-TW" altLang="en-US" sz="1600" b="0" i="0" dirty="0">
                <a:solidFill>
                  <a:srgbClr val="534340"/>
                </a:solidFill>
                <a:effectLst/>
                <a:latin typeface="微軟正黑體" panose="020B0604030504040204" pitchFamily="34" charset="-120"/>
                <a:ea typeface="微軟正黑體" panose="020B0604030504040204" pitchFamily="34" charset="-120"/>
              </a:rPr>
              <a:t>爬蟲館使用者</a:t>
            </a:r>
            <a:r>
              <a:rPr lang="zh-TW" altLang="en-US" sz="1600" dirty="0">
                <a:solidFill>
                  <a:srgbClr val="534340"/>
                </a:solidFill>
                <a:latin typeface="微軟正黑體" panose="020B0604030504040204" pitchFamily="34" charset="-120"/>
                <a:ea typeface="微軟正黑體" panose="020B0604030504040204" pitchFamily="34" charset="-120"/>
              </a:rPr>
              <a:t>：於爬蟲館訂閱服務使用</a:t>
            </a:r>
            <a:r>
              <a:rPr lang="zh-TW" altLang="zh-TW" sz="1600" dirty="0">
                <a:solidFill>
                  <a:srgbClr val="534340"/>
                </a:solidFill>
                <a:latin typeface="微軟正黑體" panose="020B0604030504040204" pitchFamily="34" charset="-120"/>
                <a:ea typeface="微軟正黑體" panose="020B0604030504040204" pitchFamily="34" charset="-120"/>
              </a:rPr>
              <a:t>資料</a:t>
            </a:r>
            <a:r>
              <a:rPr lang="zh-TW" altLang="en-US" sz="1600" dirty="0">
                <a:solidFill>
                  <a:srgbClr val="534340"/>
                </a:solidFill>
                <a:latin typeface="微軟正黑體" panose="020B0604030504040204" pitchFamily="34" charset="-120"/>
                <a:ea typeface="微軟正黑體" panose="020B0604030504040204" pitchFamily="34" charset="-120"/>
              </a:rPr>
              <a:t>之單位人員。</a:t>
            </a:r>
            <a:r>
              <a:rPr lang="en-US" altLang="zh-TW" sz="1600" dirty="0">
                <a:solidFill>
                  <a:srgbClr val="534340"/>
                </a:solidFill>
                <a:latin typeface="微軟正黑體" panose="020B0604030504040204" pitchFamily="34" charset="-120"/>
                <a:ea typeface="微軟正黑體" panose="020B0604030504040204" pitchFamily="34" charset="-120"/>
              </a:rPr>
              <a:t>(</a:t>
            </a:r>
            <a:r>
              <a:rPr lang="zh-TW" altLang="en-US" sz="1600" dirty="0">
                <a:solidFill>
                  <a:srgbClr val="534340"/>
                </a:solidFill>
                <a:latin typeface="微軟正黑體" panose="020B0604030504040204" pitchFamily="34" charset="-120"/>
                <a:ea typeface="微軟正黑體" panose="020B0604030504040204" pitchFamily="34" charset="-120"/>
              </a:rPr>
              <a:t>各業務單位</a:t>
            </a:r>
            <a:r>
              <a:rPr lang="en-US" altLang="zh-TW" sz="1600" dirty="0">
                <a:solidFill>
                  <a:srgbClr val="534340"/>
                </a:solidFill>
                <a:latin typeface="微軟正黑體" panose="020B0604030504040204" pitchFamily="34" charset="-120"/>
                <a:ea typeface="微軟正黑體" panose="020B0604030504040204" pitchFamily="34" charset="-120"/>
              </a:rPr>
              <a:t>)</a:t>
            </a:r>
          </a:p>
          <a:p>
            <a:pPr marL="285750" indent="-285750" algn="l">
              <a:buFont typeface="Wingdings" panose="05000000000000000000" pitchFamily="2" charset="2"/>
              <a:buChar char="u"/>
            </a:pPr>
            <a:r>
              <a:rPr lang="zh-TW" altLang="en-US" sz="1600" b="0" i="0" dirty="0">
                <a:solidFill>
                  <a:srgbClr val="534340"/>
                </a:solidFill>
                <a:effectLst/>
                <a:latin typeface="微軟正黑體" panose="020B0604030504040204" pitchFamily="34" charset="-120"/>
                <a:ea typeface="微軟正黑體" panose="020B0604030504040204" pitchFamily="34" charset="-120"/>
              </a:rPr>
              <a:t>爬蟲館擁有者</a:t>
            </a:r>
            <a:r>
              <a:rPr lang="zh-TW" altLang="en-US" sz="1600" dirty="0">
                <a:solidFill>
                  <a:srgbClr val="534340"/>
                </a:solidFill>
                <a:latin typeface="微軟正黑體" panose="020B0604030504040204" pitchFamily="34" charset="-120"/>
                <a:ea typeface="微軟正黑體" panose="020B0604030504040204" pitchFamily="34" charset="-120"/>
              </a:rPr>
              <a:t>：</a:t>
            </a:r>
            <a:r>
              <a:rPr lang="zh-TW" altLang="zh-TW" sz="1600" dirty="0">
                <a:solidFill>
                  <a:srgbClr val="534340"/>
                </a:solidFill>
                <a:latin typeface="微軟正黑體" panose="020B0604030504040204" pitchFamily="34" charset="-120"/>
                <a:ea typeface="微軟正黑體" panose="020B0604030504040204" pitchFamily="34" charset="-120"/>
              </a:rPr>
              <a:t>負責訂定</a:t>
            </a:r>
            <a:r>
              <a:rPr lang="zh-TW" altLang="en-US" sz="1600" dirty="0">
                <a:solidFill>
                  <a:srgbClr val="534340"/>
                </a:solidFill>
                <a:latin typeface="微軟正黑體" panose="020B0604030504040204" pitchFamily="34" charset="-120"/>
                <a:ea typeface="微軟正黑體" panose="020B0604030504040204" pitchFamily="34" charset="-120"/>
              </a:rPr>
              <a:t>與監管爬蟲館</a:t>
            </a:r>
            <a:r>
              <a:rPr lang="zh-TW" altLang="zh-TW" sz="1600" dirty="0">
                <a:solidFill>
                  <a:srgbClr val="534340"/>
                </a:solidFill>
                <a:latin typeface="微軟正黑體" panose="020B0604030504040204" pitchFamily="34" charset="-120"/>
                <a:ea typeface="微軟正黑體" panose="020B0604030504040204" pitchFamily="34" charset="-120"/>
              </a:rPr>
              <a:t>資料業務規則</a:t>
            </a:r>
            <a:r>
              <a:rPr lang="zh-TW" altLang="en-US" sz="1600" dirty="0">
                <a:solidFill>
                  <a:srgbClr val="534340"/>
                </a:solidFill>
                <a:latin typeface="微軟正黑體" panose="020B0604030504040204" pitchFamily="34" charset="-120"/>
                <a:ea typeface="微軟正黑體" panose="020B0604030504040204" pitchFamily="34" charset="-120"/>
              </a:rPr>
              <a:t>，</a:t>
            </a:r>
            <a:r>
              <a:rPr lang="zh-TW" altLang="zh-TW" sz="1600" dirty="0">
                <a:solidFill>
                  <a:srgbClr val="534340"/>
                </a:solidFill>
                <a:latin typeface="微軟正黑體" panose="020B0604030504040204" pitchFamily="34" charset="-120"/>
                <a:ea typeface="微軟正黑體" panose="020B0604030504040204" pitchFamily="34" charset="-120"/>
              </a:rPr>
              <a:t>及使用</a:t>
            </a:r>
            <a:r>
              <a:rPr lang="zh-TW" altLang="en-US" sz="1600" dirty="0">
                <a:solidFill>
                  <a:srgbClr val="534340"/>
                </a:solidFill>
                <a:latin typeface="微軟正黑體" panose="020B0604030504040204" pitchFamily="34" charset="-120"/>
                <a:ea typeface="微軟正黑體" panose="020B0604030504040204" pitchFamily="34" charset="-120"/>
              </a:rPr>
              <a:t>者</a:t>
            </a:r>
            <a:r>
              <a:rPr lang="zh-TW" altLang="zh-TW" sz="1600" dirty="0">
                <a:solidFill>
                  <a:srgbClr val="534340"/>
                </a:solidFill>
                <a:latin typeface="微軟正黑體" panose="020B0604030504040204" pitchFamily="34" charset="-120"/>
                <a:ea typeface="微軟正黑體" panose="020B0604030504040204" pitchFamily="34" charset="-120"/>
              </a:rPr>
              <a:t>權限申請之評估及審核</a:t>
            </a:r>
            <a:r>
              <a:rPr lang="zh-TW" altLang="en-US" sz="1600" dirty="0">
                <a:solidFill>
                  <a:srgbClr val="534340"/>
                </a:solidFill>
                <a:latin typeface="微軟正黑體" panose="020B0604030504040204" pitchFamily="34" charset="-120"/>
                <a:ea typeface="微軟正黑體" panose="020B0604030504040204" pitchFamily="34" charset="-120"/>
              </a:rPr>
              <a:t>。</a:t>
            </a:r>
            <a:r>
              <a:rPr lang="en-US" altLang="zh-TW" sz="1600" dirty="0">
                <a:solidFill>
                  <a:srgbClr val="534340"/>
                </a:solidFill>
                <a:latin typeface="微軟正黑體" panose="020B0604030504040204" pitchFamily="34" charset="-120"/>
                <a:ea typeface="微軟正黑體" panose="020B0604030504040204" pitchFamily="34" charset="-120"/>
              </a:rPr>
              <a:t>(</a:t>
            </a:r>
            <a:r>
              <a:rPr lang="zh-TW" altLang="en-US" sz="1600" dirty="0">
                <a:solidFill>
                  <a:srgbClr val="534340"/>
                </a:solidFill>
                <a:latin typeface="微軟正黑體" panose="020B0604030504040204" pitchFamily="34" charset="-120"/>
                <a:ea typeface="微軟正黑體" panose="020B0604030504040204" pitchFamily="34" charset="-120"/>
              </a:rPr>
              <a:t>數科處</a:t>
            </a:r>
            <a:r>
              <a:rPr lang="en-US" altLang="zh-TW" sz="1600" dirty="0">
                <a:solidFill>
                  <a:srgbClr val="534340"/>
                </a:solidFill>
                <a:latin typeface="微軟正黑體" panose="020B0604030504040204" pitchFamily="34" charset="-120"/>
                <a:ea typeface="微軟正黑體" panose="020B0604030504040204" pitchFamily="34" charset="-120"/>
              </a:rPr>
              <a:t>)</a:t>
            </a:r>
          </a:p>
          <a:p>
            <a:pPr marL="285750" indent="-285750" algn="l">
              <a:buFont typeface="Wingdings" panose="05000000000000000000" pitchFamily="2" charset="2"/>
              <a:buChar char="u"/>
            </a:pPr>
            <a:r>
              <a:rPr lang="zh-TW" altLang="en-US" sz="1600" b="0" i="0" dirty="0">
                <a:solidFill>
                  <a:srgbClr val="534340"/>
                </a:solidFill>
                <a:effectLst/>
                <a:latin typeface="微軟正黑體" panose="020B0604030504040204" pitchFamily="34" charset="-120"/>
                <a:ea typeface="微軟正黑體" panose="020B0604030504040204" pitchFamily="34" charset="-120"/>
              </a:rPr>
              <a:t>爬蟲館</a:t>
            </a:r>
            <a:r>
              <a:rPr lang="zh-TW" altLang="en-US" sz="1600" dirty="0">
                <a:solidFill>
                  <a:srgbClr val="534340"/>
                </a:solidFill>
                <a:latin typeface="微軟正黑體" panose="020B0604030504040204" pitchFamily="34" charset="-120"/>
                <a:ea typeface="微軟正黑體" panose="020B0604030504040204" pitchFamily="34" charset="-120"/>
              </a:rPr>
              <a:t>管理</a:t>
            </a:r>
            <a:r>
              <a:rPr lang="zh-TW" altLang="en-US" sz="1600" b="0" i="0" dirty="0">
                <a:solidFill>
                  <a:srgbClr val="534340"/>
                </a:solidFill>
                <a:effectLst/>
                <a:latin typeface="微軟正黑體" panose="020B0604030504040204" pitchFamily="34" charset="-120"/>
                <a:ea typeface="微軟正黑體" panose="020B0604030504040204" pitchFamily="34" charset="-120"/>
              </a:rPr>
              <a:t>者：負責</a:t>
            </a:r>
            <a:r>
              <a:rPr lang="zh-TW" altLang="zh-TW" sz="1600" dirty="0">
                <a:solidFill>
                  <a:srgbClr val="534340"/>
                </a:solidFill>
                <a:latin typeface="微軟正黑體" panose="020B0604030504040204" pitchFamily="34" charset="-120"/>
                <a:ea typeface="微軟正黑體" panose="020B0604030504040204" pitchFamily="34" charset="-120"/>
              </a:rPr>
              <a:t>實際執行</a:t>
            </a:r>
            <a:r>
              <a:rPr lang="zh-TW" altLang="en-US" sz="1600" dirty="0">
                <a:solidFill>
                  <a:srgbClr val="534340"/>
                </a:solidFill>
                <a:latin typeface="微軟正黑體" panose="020B0604030504040204" pitchFamily="34" charset="-120"/>
                <a:ea typeface="微軟正黑體" panose="020B0604030504040204" pitchFamily="34" charset="-120"/>
              </a:rPr>
              <a:t>爬蟲館平台程式資料集上下架</a:t>
            </a:r>
            <a:r>
              <a:rPr lang="zh-TW" altLang="zh-TW" sz="1600" dirty="0">
                <a:solidFill>
                  <a:srgbClr val="534340"/>
                </a:solidFill>
                <a:latin typeface="微軟正黑體" panose="020B0604030504040204" pitchFamily="34" charset="-120"/>
                <a:ea typeface="微軟正黑體" panose="020B0604030504040204" pitchFamily="34" charset="-120"/>
              </a:rPr>
              <a:t>、權限設定</a:t>
            </a:r>
            <a:r>
              <a:rPr lang="zh-TW" altLang="en-US" sz="1600" dirty="0">
                <a:solidFill>
                  <a:srgbClr val="534340"/>
                </a:solidFill>
                <a:latin typeface="微軟正黑體" panose="020B0604030504040204" pitchFamily="34" charset="-120"/>
                <a:ea typeface="微軟正黑體" panose="020B0604030504040204" pitchFamily="34" charset="-120"/>
              </a:rPr>
              <a:t>、效能監控等</a:t>
            </a:r>
            <a:r>
              <a:rPr lang="zh-TW" altLang="zh-TW" sz="1600" dirty="0">
                <a:solidFill>
                  <a:srgbClr val="534340"/>
                </a:solidFill>
                <a:latin typeface="微軟正黑體" panose="020B0604030504040204" pitchFamily="34" charset="-120"/>
                <a:ea typeface="微軟正黑體" panose="020B0604030504040204" pitchFamily="34" charset="-120"/>
              </a:rPr>
              <a:t>維運作業</a:t>
            </a:r>
            <a:r>
              <a:rPr lang="zh-TW" altLang="en-US" sz="1600" dirty="0">
                <a:solidFill>
                  <a:srgbClr val="534340"/>
                </a:solidFill>
                <a:latin typeface="微軟正黑體" panose="020B0604030504040204" pitchFamily="34" charset="-120"/>
                <a:ea typeface="微軟正黑體" panose="020B0604030504040204" pitchFamily="34" charset="-120"/>
              </a:rPr>
              <a:t>。</a:t>
            </a:r>
            <a:r>
              <a:rPr lang="en-US" altLang="zh-TW" sz="1600" dirty="0">
                <a:solidFill>
                  <a:srgbClr val="534340"/>
                </a:solidFill>
                <a:latin typeface="微軟正黑體" panose="020B0604030504040204" pitchFamily="34" charset="-120"/>
                <a:ea typeface="微軟正黑體" panose="020B0604030504040204" pitchFamily="34" charset="-120"/>
              </a:rPr>
              <a:t>(</a:t>
            </a:r>
            <a:r>
              <a:rPr lang="zh-TW" altLang="en-US" sz="1600" dirty="0">
                <a:solidFill>
                  <a:srgbClr val="534340"/>
                </a:solidFill>
                <a:latin typeface="微軟正黑體" panose="020B0604030504040204" pitchFamily="34" charset="-120"/>
                <a:ea typeface="微軟正黑體" panose="020B0604030504040204" pitchFamily="34" charset="-120"/>
              </a:rPr>
              <a:t>資訊處</a:t>
            </a:r>
            <a:r>
              <a:rPr lang="en-US" altLang="zh-TW" sz="1600" dirty="0">
                <a:solidFill>
                  <a:srgbClr val="534340"/>
                </a:solidFill>
                <a:latin typeface="微軟正黑體" panose="020B0604030504040204" pitchFamily="34" charset="-120"/>
                <a:ea typeface="微軟正黑體" panose="020B0604030504040204" pitchFamily="34" charset="-120"/>
              </a:rPr>
              <a:t>)</a:t>
            </a:r>
            <a:endParaRPr lang="zh-TW" altLang="en-US" sz="1600" dirty="0">
              <a:solidFill>
                <a:srgbClr val="534340"/>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7662807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8969EBC-D28E-035D-DB58-0050C8F09D9C}"/>
              </a:ext>
            </a:extLst>
          </p:cNvPr>
          <p:cNvSpPr>
            <a:spLocks noGrp="1"/>
          </p:cNvSpPr>
          <p:nvPr>
            <p:ph type="title"/>
          </p:nvPr>
        </p:nvSpPr>
        <p:spPr/>
        <p:txBody>
          <a:bodyPr/>
          <a:lstStyle/>
          <a:p>
            <a:r>
              <a:rPr lang="zh-TW" altLang="en-US" b="1" dirty="0"/>
              <a:t>開發測試說明</a:t>
            </a:r>
            <a:endParaRPr lang="zh-TW" altLang="en-US" dirty="0"/>
          </a:p>
        </p:txBody>
      </p:sp>
      <p:graphicFrame>
        <p:nvGraphicFramePr>
          <p:cNvPr id="3" name="表格 2">
            <a:extLst>
              <a:ext uri="{FF2B5EF4-FFF2-40B4-BE49-F238E27FC236}">
                <a16:creationId xmlns:a16="http://schemas.microsoft.com/office/drawing/2014/main" id="{EAE727A9-09F0-82F9-E860-70C0ACE6FB01}"/>
              </a:ext>
            </a:extLst>
          </p:cNvPr>
          <p:cNvGraphicFramePr>
            <a:graphicFrameLocks noGrp="1"/>
          </p:cNvGraphicFramePr>
          <p:nvPr>
            <p:extLst>
              <p:ext uri="{D42A27DB-BD31-4B8C-83A1-F6EECF244321}">
                <p14:modId xmlns:p14="http://schemas.microsoft.com/office/powerpoint/2010/main" val="1488695942"/>
              </p:ext>
            </p:extLst>
          </p:nvPr>
        </p:nvGraphicFramePr>
        <p:xfrm>
          <a:off x="311091" y="662132"/>
          <a:ext cx="10898305" cy="3667760"/>
        </p:xfrm>
        <a:graphic>
          <a:graphicData uri="http://schemas.openxmlformats.org/drawingml/2006/table">
            <a:tbl>
              <a:tblPr firstRow="1" bandRow="1">
                <a:tableStyleId>{91DB7C30-2B5D-4D34-8F22-85940E495A18}</a:tableStyleId>
              </a:tblPr>
              <a:tblGrid>
                <a:gridCol w="2087880">
                  <a:extLst>
                    <a:ext uri="{9D8B030D-6E8A-4147-A177-3AD203B41FA5}">
                      <a16:colId xmlns:a16="http://schemas.microsoft.com/office/drawing/2014/main" val="3312434528"/>
                    </a:ext>
                  </a:extLst>
                </a:gridCol>
                <a:gridCol w="8810425">
                  <a:extLst>
                    <a:ext uri="{9D8B030D-6E8A-4147-A177-3AD203B41FA5}">
                      <a16:colId xmlns:a16="http://schemas.microsoft.com/office/drawing/2014/main" val="662163524"/>
                    </a:ext>
                  </a:extLst>
                </a:gridCol>
              </a:tblGrid>
              <a:tr h="370840">
                <a:tc>
                  <a:txBody>
                    <a:bodyPr/>
                    <a:lstStyle/>
                    <a:p>
                      <a:pPr algn="ctr"/>
                      <a:r>
                        <a:rPr lang="zh-TW" altLang="en-US" b="1" dirty="0">
                          <a:latin typeface="微軟正黑體" panose="020B0604030504040204" pitchFamily="34" charset="-120"/>
                          <a:ea typeface="微軟正黑體" panose="020B0604030504040204" pitchFamily="34" charset="-120"/>
                        </a:rPr>
                        <a:t>開發項目</a:t>
                      </a:r>
                    </a:p>
                  </a:txBody>
                  <a:tcPr anchor="ctr"/>
                </a:tc>
                <a:tc>
                  <a:txBody>
                    <a:bodyPr/>
                    <a:lstStyle/>
                    <a:p>
                      <a:pPr marL="288000" lvl="3" indent="0" algn="ctr">
                        <a:buFont typeface="Arial" panose="020B0604020202020204" pitchFamily="34" charset="0"/>
                        <a:buNone/>
                      </a:pPr>
                      <a:r>
                        <a:rPr lang="zh-TW" altLang="en-US" sz="1600" b="1" dirty="0">
                          <a:solidFill>
                            <a:schemeClr val="tx1"/>
                          </a:solidFill>
                          <a:latin typeface="微軟正黑體" panose="020B0604030504040204" pitchFamily="34" charset="-120"/>
                          <a:ea typeface="微軟正黑體" panose="020B0604030504040204" pitchFamily="34" charset="-120"/>
                        </a:rPr>
                        <a:t>內容</a:t>
                      </a:r>
                      <a:endParaRPr lang="en-US" altLang="zh-TW" sz="1600" b="1" dirty="0">
                        <a:solidFill>
                          <a:schemeClr val="tx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2222991161"/>
                  </a:ext>
                </a:extLst>
              </a:tr>
              <a:tr h="370840">
                <a:tc>
                  <a:txBody>
                    <a:bodyPr/>
                    <a:lstStyle/>
                    <a:p>
                      <a:pPr algn="ctr"/>
                      <a:r>
                        <a:rPr lang="zh-TW" altLang="en-US" sz="1400" b="0" dirty="0">
                          <a:latin typeface="微軟正黑體" panose="020B0604030504040204" pitchFamily="34" charset="-120"/>
                          <a:ea typeface="微軟正黑體" panose="020B0604030504040204" pitchFamily="34" charset="-120"/>
                        </a:rPr>
                        <a:t>爬蟲</a:t>
                      </a:r>
                      <a:r>
                        <a:rPr lang="en-US" altLang="zh-TW" sz="1400" b="0" dirty="0">
                          <a:latin typeface="微軟正黑體" panose="020B0604030504040204" pitchFamily="34" charset="-120"/>
                          <a:ea typeface="微軟正黑體" panose="020B0604030504040204" pitchFamily="34" charset="-120"/>
                        </a:rPr>
                        <a:t>MySQL</a:t>
                      </a:r>
                      <a:r>
                        <a:rPr lang="zh-TW" altLang="en-US" sz="1400" b="0" dirty="0">
                          <a:latin typeface="微軟正黑體" panose="020B0604030504040204" pitchFamily="34" charset="-120"/>
                          <a:ea typeface="微軟正黑體" panose="020B0604030504040204" pitchFamily="34" charset="-120"/>
                        </a:rPr>
                        <a:t>資料庫優化</a:t>
                      </a:r>
                    </a:p>
                  </a:txBody>
                  <a:tcPr anchor="ctr"/>
                </a:tc>
                <a:tc>
                  <a:txBody>
                    <a:bodyPr/>
                    <a:lstStyle/>
                    <a:p>
                      <a:pPr marL="285750" lvl="3" indent="-285750">
                        <a:buFont typeface="Wingdings" panose="05000000000000000000" pitchFamily="2" charset="2"/>
                        <a:buChar char="n"/>
                      </a:pPr>
                      <a:r>
                        <a:rPr lang="zh-TW" altLang="en-US" sz="1400" dirty="0">
                          <a:solidFill>
                            <a:schemeClr val="tx1"/>
                          </a:solidFill>
                          <a:latin typeface="微軟正黑體" panose="020B0604030504040204" pitchFamily="34" charset="-120"/>
                          <a:ea typeface="微軟正黑體" panose="020B0604030504040204" pitchFamily="34" charset="-120"/>
                        </a:rPr>
                        <a:t>爬蟲館選取方式決定資料處理方式</a:t>
                      </a:r>
                      <a:endParaRPr lang="en-US" altLang="zh-TW" sz="1400" dirty="0">
                        <a:solidFill>
                          <a:schemeClr val="tx1"/>
                        </a:solidFill>
                        <a:latin typeface="微軟正黑體" panose="020B0604030504040204" pitchFamily="34" charset="-120"/>
                        <a:ea typeface="微軟正黑體" panose="020B0604030504040204" pitchFamily="34" charset="-120"/>
                      </a:endParaRPr>
                    </a:p>
                    <a:p>
                      <a:pPr marL="573750" lvl="3" indent="-285750">
                        <a:buFont typeface="Arial" panose="020B0604020202020204" pitchFamily="34" charset="0"/>
                        <a:buChar char="•"/>
                      </a:pPr>
                      <a:r>
                        <a:rPr lang="zh-TW" altLang="en-US" sz="1400" dirty="0">
                          <a:solidFill>
                            <a:schemeClr val="tx1"/>
                          </a:solidFill>
                          <a:latin typeface="微軟正黑體" panose="020B0604030504040204" pitchFamily="34" charset="-120"/>
                          <a:ea typeface="微軟正黑體" panose="020B0604030504040204" pitchFamily="34" charset="-120"/>
                        </a:rPr>
                        <a:t>爬蟲館上增加指定</a:t>
                      </a:r>
                      <a:r>
                        <a:rPr lang="en-US" altLang="zh-TW" sz="1400" dirty="0">
                          <a:solidFill>
                            <a:schemeClr val="tx1"/>
                          </a:solidFill>
                          <a:latin typeface="微軟正黑體" panose="020B0604030504040204" pitchFamily="34" charset="-120"/>
                          <a:ea typeface="微軟正黑體" panose="020B0604030504040204" pitchFamily="34" charset="-120"/>
                        </a:rPr>
                        <a:t>PK</a:t>
                      </a:r>
                      <a:r>
                        <a:rPr lang="zh-TW" altLang="en-US" sz="1400" dirty="0">
                          <a:solidFill>
                            <a:schemeClr val="tx1"/>
                          </a:solidFill>
                          <a:latin typeface="微軟正黑體" panose="020B0604030504040204" pitchFamily="34" charset="-120"/>
                          <a:ea typeface="微軟正黑體" panose="020B0604030504040204" pitchFamily="34" charset="-120"/>
                        </a:rPr>
                        <a:t>，資料保存方式</a:t>
                      </a:r>
                    </a:p>
                    <a:p>
                      <a:pPr marL="573750" lvl="3" indent="-285750">
                        <a:buFont typeface="Arial" panose="020B0604020202020204" pitchFamily="34" charset="0"/>
                        <a:buChar char="•"/>
                      </a:pPr>
                      <a:r>
                        <a:rPr lang="zh-TW" altLang="en-US" sz="1400" dirty="0">
                          <a:solidFill>
                            <a:schemeClr val="tx1"/>
                          </a:solidFill>
                          <a:latin typeface="微軟正黑體" panose="020B0604030504040204" pitchFamily="34" charset="-120"/>
                          <a:ea typeface="微軟正黑體" panose="020B0604030504040204" pitchFamily="34" charset="-120"/>
                        </a:rPr>
                        <a:t>若選保留歷史則資料每次累積</a:t>
                      </a:r>
                      <a:endParaRPr lang="en-US" altLang="zh-TW" sz="1400" dirty="0">
                        <a:solidFill>
                          <a:schemeClr val="tx1"/>
                        </a:solidFill>
                        <a:latin typeface="微軟正黑體" panose="020B0604030504040204" pitchFamily="34" charset="-120"/>
                        <a:ea typeface="微軟正黑體" panose="020B0604030504040204" pitchFamily="34" charset="-120"/>
                      </a:endParaRPr>
                    </a:p>
                    <a:p>
                      <a:pPr marL="573750" lvl="3" indent="-285750">
                        <a:buFont typeface="Arial" panose="020B0604020202020204" pitchFamily="34" charset="0"/>
                        <a:buChar char="•"/>
                      </a:pPr>
                      <a:r>
                        <a:rPr lang="zh-TW" altLang="en-US" sz="1400" dirty="0">
                          <a:solidFill>
                            <a:schemeClr val="tx1"/>
                          </a:solidFill>
                          <a:latin typeface="微軟正黑體" panose="020B0604030504040204" pitchFamily="34" charset="-120"/>
                          <a:ea typeface="微軟正黑體" panose="020B0604030504040204" pitchFamily="34" charset="-120"/>
                        </a:rPr>
                        <a:t>若選僅保留最新，則寫入最新資料，並對既有重複資料做覆蓋，舊有不重複資料不異動</a:t>
                      </a:r>
                      <a:endParaRPr lang="en-US" altLang="zh-TW" sz="1400" dirty="0">
                        <a:solidFill>
                          <a:schemeClr val="tx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1323977813"/>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400" b="0" dirty="0">
                          <a:latin typeface="微軟正黑體" panose="020B0604030504040204" pitchFamily="34" charset="-120"/>
                          <a:ea typeface="微軟正黑體" panose="020B0604030504040204" pitchFamily="34" charset="-120"/>
                        </a:rPr>
                        <a:t>地端</a:t>
                      </a:r>
                      <a:r>
                        <a:rPr lang="en-US" altLang="zh-TW" sz="1400" b="0" dirty="0">
                          <a:latin typeface="微軟正黑體" panose="020B0604030504040204" pitchFamily="34" charset="-120"/>
                          <a:ea typeface="微軟正黑體" panose="020B0604030504040204" pitchFamily="34" charset="-120"/>
                        </a:rPr>
                        <a:t>MSSQL</a:t>
                      </a:r>
                      <a:r>
                        <a:rPr lang="zh-TW" altLang="en-US" sz="1400" b="0" dirty="0">
                          <a:latin typeface="微軟正黑體" panose="020B0604030504040204" pitchFamily="34" charset="-120"/>
                          <a:ea typeface="微軟正黑體" panose="020B0604030504040204" pitchFamily="34" charset="-120"/>
                        </a:rPr>
                        <a:t>環境建置</a:t>
                      </a:r>
                      <a:endParaRPr lang="en-US" altLang="zh-TW" sz="1400" b="0" dirty="0">
                        <a:latin typeface="微軟正黑體" panose="020B0604030504040204" pitchFamily="34" charset="-120"/>
                        <a:ea typeface="微軟正黑體" panose="020B0604030504040204" pitchFamily="34" charset="-120"/>
                      </a:endParaRPr>
                    </a:p>
                  </a:txBody>
                  <a:tcPr anchor="ctr"/>
                </a:tc>
                <a:tc>
                  <a:txBody>
                    <a:bodyPr/>
                    <a:lstStyle/>
                    <a:p>
                      <a:pPr marL="285750" lvl="1" indent="-285750">
                        <a:buFont typeface="Wingdings" panose="05000000000000000000" pitchFamily="2" charset="2"/>
                        <a:buChar char="n"/>
                      </a:pPr>
                      <a:r>
                        <a:rPr lang="zh-TW" altLang="zh-TW" sz="1400" b="0" i="0" u="none" strike="noStrike" cap="none" dirty="0">
                          <a:solidFill>
                            <a:schemeClr val="tx1"/>
                          </a:solidFill>
                          <a:latin typeface="微軟正黑體" panose="020B0604030504040204" pitchFamily="34" charset="-120"/>
                          <a:ea typeface="微軟正黑體" panose="020B0604030504040204" pitchFamily="34" charset="-120"/>
                          <a:cs typeface="Arial"/>
                          <a:sym typeface="Arial"/>
                        </a:rPr>
                        <a:t>含</a:t>
                      </a:r>
                      <a:r>
                        <a:rPr lang="en-US" altLang="zh-TW" sz="1400" b="0" i="0" u="none" strike="noStrike" cap="none" dirty="0">
                          <a:solidFill>
                            <a:schemeClr val="tx1"/>
                          </a:solidFill>
                          <a:latin typeface="微軟正黑體" panose="020B0604030504040204" pitchFamily="34" charset="-120"/>
                          <a:ea typeface="微軟正黑體" panose="020B0604030504040204" pitchFamily="34" charset="-120"/>
                          <a:cs typeface="Arial"/>
                          <a:sym typeface="Arial"/>
                        </a:rPr>
                        <a:t>DB</a:t>
                      </a:r>
                      <a:r>
                        <a:rPr lang="zh-TW" altLang="zh-TW" sz="1400" b="0" i="0" u="none" strike="noStrike" cap="none" dirty="0">
                          <a:solidFill>
                            <a:schemeClr val="tx1"/>
                          </a:solidFill>
                          <a:latin typeface="微軟正黑體" panose="020B0604030504040204" pitchFamily="34" charset="-120"/>
                          <a:ea typeface="微軟正黑體" panose="020B0604030504040204" pitchFamily="34" charset="-120"/>
                          <a:cs typeface="Arial"/>
                          <a:sym typeface="Arial"/>
                        </a:rPr>
                        <a:t>設定權限</a:t>
                      </a:r>
                      <a:r>
                        <a:rPr lang="en-US" altLang="zh-TW" sz="1400" b="0" i="0" u="none" strike="noStrike" cap="none" dirty="0">
                          <a:solidFill>
                            <a:schemeClr val="tx1"/>
                          </a:solidFill>
                          <a:latin typeface="微軟正黑體" panose="020B0604030504040204" pitchFamily="34" charset="-120"/>
                          <a:ea typeface="微軟正黑體" panose="020B0604030504040204" pitchFamily="34" charset="-120"/>
                          <a:cs typeface="Arial"/>
                          <a:sym typeface="Arial"/>
                        </a:rPr>
                        <a:t>.</a:t>
                      </a:r>
                      <a:r>
                        <a:rPr lang="zh-TW" altLang="zh-TW" sz="1400" b="0" i="0" u="none" strike="noStrike" cap="none" dirty="0">
                          <a:solidFill>
                            <a:schemeClr val="tx1"/>
                          </a:solidFill>
                          <a:latin typeface="微軟正黑體" panose="020B0604030504040204" pitchFamily="34" charset="-120"/>
                          <a:ea typeface="微軟正黑體" panose="020B0604030504040204" pitchFamily="34" charset="-120"/>
                          <a:cs typeface="Arial"/>
                          <a:sym typeface="Arial"/>
                        </a:rPr>
                        <a:t>程式開發完成，確認</a:t>
                      </a:r>
                      <a:r>
                        <a:rPr lang="en-US" altLang="zh-TW" sz="1400" b="0" i="0" u="none" strike="noStrike" cap="none" dirty="0">
                          <a:solidFill>
                            <a:schemeClr val="tx1"/>
                          </a:solidFill>
                          <a:latin typeface="微軟正黑體" panose="020B0604030504040204" pitchFamily="34" charset="-120"/>
                          <a:ea typeface="微軟正黑體" panose="020B0604030504040204" pitchFamily="34" charset="-120"/>
                          <a:cs typeface="Arial"/>
                          <a:sym typeface="Arial"/>
                        </a:rPr>
                        <a:t>D100</a:t>
                      </a:r>
                      <a:r>
                        <a:rPr lang="zh-TW" altLang="zh-TW" sz="1400" b="0" i="0" u="none" strike="noStrike" cap="none" dirty="0">
                          <a:solidFill>
                            <a:schemeClr val="tx1"/>
                          </a:solidFill>
                          <a:latin typeface="微軟正黑體" panose="020B0604030504040204" pitchFamily="34" charset="-120"/>
                          <a:ea typeface="微軟正黑體" panose="020B0604030504040204" pitchFamily="34" charset="-120"/>
                          <a:cs typeface="Arial"/>
                          <a:sym typeface="Arial"/>
                        </a:rPr>
                        <a:t>主機空間、資源、</a:t>
                      </a:r>
                      <a:r>
                        <a:rPr lang="en-US" altLang="zh-TW" sz="1400" b="0" i="0" u="none" strike="noStrike" cap="none" dirty="0">
                          <a:solidFill>
                            <a:schemeClr val="tx1"/>
                          </a:solidFill>
                          <a:latin typeface="微軟正黑體" panose="020B0604030504040204" pitchFamily="34" charset="-120"/>
                          <a:ea typeface="微軟正黑體" panose="020B0604030504040204" pitchFamily="34" charset="-120"/>
                          <a:cs typeface="Arial"/>
                          <a:sym typeface="Arial"/>
                        </a:rPr>
                        <a:t>IP</a:t>
                      </a:r>
                      <a:r>
                        <a:rPr lang="zh-TW" altLang="zh-TW" sz="1400" b="0" i="0" u="none" strike="noStrike" cap="none" dirty="0">
                          <a:solidFill>
                            <a:schemeClr val="tx1"/>
                          </a:solidFill>
                          <a:latin typeface="微軟正黑體" panose="020B0604030504040204" pitchFamily="34" charset="-120"/>
                          <a:ea typeface="微軟正黑體" panose="020B0604030504040204" pitchFamily="34" charset="-120"/>
                          <a:cs typeface="Arial"/>
                          <a:sym typeface="Arial"/>
                        </a:rPr>
                        <a:t>等資訊</a:t>
                      </a:r>
                      <a:endParaRPr lang="en-US" altLang="zh-TW" sz="1400" b="0" i="0" u="none" strike="noStrike" cap="none" dirty="0">
                        <a:solidFill>
                          <a:schemeClr val="tx1"/>
                        </a:solidFill>
                        <a:latin typeface="微軟正黑體" panose="020B0604030504040204" pitchFamily="34" charset="-120"/>
                        <a:ea typeface="微軟正黑體" panose="020B0604030504040204" pitchFamily="34" charset="-120"/>
                        <a:cs typeface="Arial"/>
                        <a:sym typeface="Arial"/>
                      </a:endParaRPr>
                    </a:p>
                    <a:p>
                      <a:pPr marL="285750" lvl="1" indent="-285750">
                        <a:buFont typeface="Wingdings" panose="05000000000000000000" pitchFamily="2" charset="2"/>
                        <a:buChar char="n"/>
                      </a:pPr>
                      <a:r>
                        <a:rPr lang="en-US" altLang="zh-TW" sz="1400" b="0" i="0" u="none" strike="noStrike" cap="none" dirty="0">
                          <a:solidFill>
                            <a:schemeClr val="tx1"/>
                          </a:solidFill>
                          <a:latin typeface="微軟正黑體" panose="020B0604030504040204" pitchFamily="34" charset="-120"/>
                          <a:ea typeface="微軟正黑體" panose="020B0604030504040204" pitchFamily="34" charset="-120"/>
                          <a:cs typeface="Arial"/>
                          <a:sym typeface="Arial"/>
                        </a:rPr>
                        <a:t>SQL Server</a:t>
                      </a:r>
                      <a:r>
                        <a:rPr lang="zh-TW" altLang="en-US" sz="1400" b="0" i="0" u="none" strike="noStrike" cap="none" dirty="0">
                          <a:solidFill>
                            <a:schemeClr val="tx1"/>
                          </a:solidFill>
                          <a:latin typeface="微軟正黑體" panose="020B0604030504040204" pitchFamily="34" charset="-120"/>
                          <a:ea typeface="微軟正黑體" panose="020B0604030504040204" pitchFamily="34" charset="-120"/>
                          <a:cs typeface="Arial"/>
                          <a:sym typeface="Arial"/>
                        </a:rPr>
                        <a:t>需開通</a:t>
                      </a:r>
                      <a:r>
                        <a:rPr lang="en-US" altLang="zh-TW" sz="1400" b="0" i="0" u="none" strike="noStrike" cap="none" dirty="0">
                          <a:solidFill>
                            <a:schemeClr val="tx1"/>
                          </a:solidFill>
                          <a:latin typeface="微軟正黑體" panose="020B0604030504040204" pitchFamily="34" charset="-120"/>
                          <a:ea typeface="微軟正黑體" panose="020B0604030504040204" pitchFamily="34" charset="-120"/>
                          <a:cs typeface="Arial"/>
                          <a:sym typeface="Arial"/>
                        </a:rPr>
                        <a:t>Mail Server SMTP</a:t>
                      </a:r>
                      <a:r>
                        <a:rPr lang="zh-TW" altLang="en-US" sz="1400" b="0" i="0" u="none" strike="noStrike" cap="none" dirty="0">
                          <a:solidFill>
                            <a:schemeClr val="tx1"/>
                          </a:solidFill>
                          <a:latin typeface="微軟正黑體" panose="020B0604030504040204" pitchFamily="34" charset="-120"/>
                          <a:ea typeface="微軟正黑體" panose="020B0604030504040204" pitchFamily="34" charset="-120"/>
                          <a:cs typeface="Arial"/>
                          <a:sym typeface="Arial"/>
                        </a:rPr>
                        <a:t>連線，可發送告警信件</a:t>
                      </a:r>
                      <a:endParaRPr lang="en-US" altLang="zh-TW" sz="1400" b="0" i="0" u="none" strike="noStrike" cap="none" dirty="0">
                        <a:solidFill>
                          <a:schemeClr val="tx1"/>
                        </a:solidFill>
                        <a:latin typeface="微軟正黑體" panose="020B0604030504040204" pitchFamily="34" charset="-120"/>
                        <a:ea typeface="微軟正黑體" panose="020B0604030504040204" pitchFamily="34" charset="-120"/>
                        <a:cs typeface="Arial"/>
                        <a:sym typeface="Arial"/>
                      </a:endParaRPr>
                    </a:p>
                  </a:txBody>
                  <a:tcPr/>
                </a:tc>
                <a:extLst>
                  <a:ext uri="{0D108BD9-81ED-4DB2-BD59-A6C34878D82A}">
                    <a16:rowId xmlns:a16="http://schemas.microsoft.com/office/drawing/2014/main" val="63811024"/>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400" b="0" dirty="0">
                          <a:latin typeface="微軟正黑體" panose="020B0604030504040204" pitchFamily="34" charset="-120"/>
                          <a:ea typeface="微軟正黑體" panose="020B0604030504040204" pitchFamily="34" charset="-120"/>
                        </a:rPr>
                        <a:t>寫入地端</a:t>
                      </a:r>
                      <a:r>
                        <a:rPr lang="en-US" altLang="zh-TW" sz="1400" b="0" dirty="0">
                          <a:latin typeface="微軟正黑體" panose="020B0604030504040204" pitchFamily="34" charset="-120"/>
                          <a:ea typeface="微軟正黑體" panose="020B0604030504040204" pitchFamily="34" charset="-120"/>
                        </a:rPr>
                        <a:t>MSSQL</a:t>
                      </a:r>
                    </a:p>
                  </a:txBody>
                  <a:tcPr anchor="ctr"/>
                </a:tc>
                <a:tc>
                  <a:txBody>
                    <a:bodyPr/>
                    <a:lstStyle/>
                    <a:p>
                      <a:pPr marL="285750" lvl="1" indent="-285750">
                        <a:buFont typeface="Wingdings" panose="05000000000000000000" pitchFamily="2" charset="2"/>
                        <a:buChar char="n"/>
                      </a:pPr>
                      <a:r>
                        <a:rPr lang="zh-TW" altLang="en-US" sz="1400" dirty="0">
                          <a:solidFill>
                            <a:schemeClr val="tx1"/>
                          </a:solidFill>
                          <a:latin typeface="微軟正黑體" panose="020B0604030504040204" pitchFamily="34" charset="-120"/>
                          <a:ea typeface="微軟正黑體" panose="020B0604030504040204" pitchFamily="34" charset="-120"/>
                        </a:rPr>
                        <a:t>爬蟲資料寫入雲端</a:t>
                      </a:r>
                      <a:r>
                        <a:rPr lang="en-US" altLang="zh-TW" sz="1400" dirty="0">
                          <a:solidFill>
                            <a:schemeClr val="tx1"/>
                          </a:solidFill>
                          <a:latin typeface="微軟正黑體" panose="020B0604030504040204" pitchFamily="34" charset="-120"/>
                          <a:ea typeface="微軟正黑體" panose="020B0604030504040204" pitchFamily="34" charset="-120"/>
                        </a:rPr>
                        <a:t>MYSQL</a:t>
                      </a:r>
                      <a:r>
                        <a:rPr lang="zh-TW" altLang="en-US" sz="1400" dirty="0">
                          <a:solidFill>
                            <a:schemeClr val="tx1"/>
                          </a:solidFill>
                          <a:latin typeface="微軟正黑體" panose="020B0604030504040204" pitchFamily="34" charset="-120"/>
                          <a:ea typeface="微軟正黑體" panose="020B0604030504040204" pitchFamily="34" charset="-120"/>
                        </a:rPr>
                        <a:t>時，同時寫入地端</a:t>
                      </a:r>
                      <a:r>
                        <a:rPr lang="en-US" altLang="zh-TW" sz="1400" dirty="0">
                          <a:solidFill>
                            <a:schemeClr val="tx1"/>
                          </a:solidFill>
                          <a:latin typeface="微軟正黑體" panose="020B0604030504040204" pitchFamily="34" charset="-120"/>
                          <a:ea typeface="微軟正黑體" panose="020B0604030504040204" pitchFamily="34" charset="-120"/>
                        </a:rPr>
                        <a:t>MSSQL</a:t>
                      </a:r>
                      <a:r>
                        <a:rPr lang="zh-TW" altLang="en-US" sz="1400" dirty="0">
                          <a:solidFill>
                            <a:schemeClr val="tx1"/>
                          </a:solidFill>
                          <a:latin typeface="微軟正黑體" panose="020B0604030504040204" pitchFamily="34" charset="-120"/>
                          <a:ea typeface="微軟正黑體" panose="020B0604030504040204" pitchFamily="34" charset="-120"/>
                        </a:rPr>
                        <a:t>，其中包含在爬蟲館影響到雲端</a:t>
                      </a:r>
                      <a:r>
                        <a:rPr lang="en-US" altLang="zh-TW" sz="1400" dirty="0">
                          <a:solidFill>
                            <a:schemeClr val="tx1"/>
                          </a:solidFill>
                          <a:latin typeface="微軟正黑體" panose="020B0604030504040204" pitchFamily="34" charset="-120"/>
                          <a:ea typeface="微軟正黑體" panose="020B0604030504040204" pitchFamily="34" charset="-120"/>
                        </a:rPr>
                        <a:t>MYSQL</a:t>
                      </a:r>
                      <a:r>
                        <a:rPr lang="zh-TW" altLang="en-US" sz="1400" dirty="0">
                          <a:solidFill>
                            <a:schemeClr val="tx1"/>
                          </a:solidFill>
                          <a:latin typeface="微軟正黑體" panose="020B0604030504040204" pitchFamily="34" charset="-120"/>
                          <a:ea typeface="微軟正黑體" panose="020B0604030504040204" pitchFamily="34" charset="-120"/>
                        </a:rPr>
                        <a:t>的所有操作，如新增的爬蟲資料集、</a:t>
                      </a:r>
                      <a:r>
                        <a:rPr lang="en-US" altLang="zh-TW" sz="1400" dirty="0">
                          <a:solidFill>
                            <a:schemeClr val="tx1"/>
                          </a:solidFill>
                          <a:latin typeface="微軟正黑體" panose="020B0604030504040204" pitchFamily="34" charset="-120"/>
                          <a:ea typeface="微軟正黑體" panose="020B0604030504040204" pitchFamily="34" charset="-120"/>
                        </a:rPr>
                        <a:t>PK</a:t>
                      </a:r>
                      <a:r>
                        <a:rPr lang="zh-TW" altLang="en-US" sz="1400" dirty="0">
                          <a:solidFill>
                            <a:schemeClr val="tx1"/>
                          </a:solidFill>
                          <a:latin typeface="微軟正黑體" panose="020B0604030504040204" pitchFamily="34" charset="-120"/>
                          <a:ea typeface="微軟正黑體" panose="020B0604030504040204" pitchFamily="34" charset="-120"/>
                        </a:rPr>
                        <a:t>更換等操作，在雲端做新舊資料比較後，再將更新的內容寫入地端</a:t>
                      </a:r>
                      <a:r>
                        <a:rPr lang="en-US" altLang="zh-TW" sz="1400" dirty="0">
                          <a:solidFill>
                            <a:schemeClr val="tx1"/>
                          </a:solidFill>
                          <a:latin typeface="微軟正黑體" panose="020B0604030504040204" pitchFamily="34" charset="-120"/>
                          <a:ea typeface="微軟正黑體" panose="020B0604030504040204" pitchFamily="34" charset="-120"/>
                        </a:rPr>
                        <a:t>MSSQL</a:t>
                      </a:r>
                    </a:p>
                  </a:txBody>
                  <a:tcPr/>
                </a:tc>
                <a:extLst>
                  <a:ext uri="{0D108BD9-81ED-4DB2-BD59-A6C34878D82A}">
                    <a16:rowId xmlns:a16="http://schemas.microsoft.com/office/drawing/2014/main" val="835269470"/>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400" b="0" dirty="0">
                          <a:latin typeface="微軟正黑體" panose="020B0604030504040204" pitchFamily="34" charset="-120"/>
                          <a:ea typeface="微軟正黑體" panose="020B0604030504040204" pitchFamily="34" charset="-120"/>
                        </a:rPr>
                        <a:t>一次性資料搬移</a:t>
                      </a:r>
                    </a:p>
                  </a:txBody>
                  <a:tcPr anchor="ctr"/>
                </a:tc>
                <a:tc>
                  <a:txBody>
                    <a:bodyPr/>
                    <a:lstStyle/>
                    <a:p>
                      <a:pPr marL="285750" lvl="1" indent="-285750">
                        <a:buFont typeface="Wingdings" panose="05000000000000000000" pitchFamily="2" charset="2"/>
                        <a:buChar char="n"/>
                      </a:pPr>
                      <a:r>
                        <a:rPr lang="zh-TW" altLang="en-US" sz="1400" dirty="0">
                          <a:solidFill>
                            <a:schemeClr val="tx1"/>
                          </a:solidFill>
                          <a:latin typeface="微軟正黑體" panose="020B0604030504040204" pitchFamily="34" charset="-120"/>
                          <a:ea typeface="微軟正黑體" panose="020B0604030504040204" pitchFamily="34" charset="-120"/>
                        </a:rPr>
                        <a:t>針對優化後的爬蟲雲端</a:t>
                      </a:r>
                      <a:r>
                        <a:rPr lang="en-US" altLang="zh-TW" sz="1400" dirty="0">
                          <a:solidFill>
                            <a:schemeClr val="tx1"/>
                          </a:solidFill>
                          <a:latin typeface="微軟正黑體" panose="020B0604030504040204" pitchFamily="34" charset="-120"/>
                          <a:ea typeface="微軟正黑體" panose="020B0604030504040204" pitchFamily="34" charset="-120"/>
                        </a:rPr>
                        <a:t>MYSQL</a:t>
                      </a:r>
                      <a:r>
                        <a:rPr lang="zh-TW" altLang="en-US" sz="1400" dirty="0">
                          <a:solidFill>
                            <a:schemeClr val="tx1"/>
                          </a:solidFill>
                          <a:latin typeface="微軟正黑體" panose="020B0604030504040204" pitchFamily="34" charset="-120"/>
                          <a:ea typeface="微軟正黑體" panose="020B0604030504040204" pitchFamily="34" charset="-120"/>
                        </a:rPr>
                        <a:t>資料庫一次性搬移到地端</a:t>
                      </a:r>
                      <a:r>
                        <a:rPr lang="en-US" altLang="zh-TW" sz="1400" dirty="0">
                          <a:solidFill>
                            <a:schemeClr val="tx1"/>
                          </a:solidFill>
                          <a:latin typeface="微軟正黑體" panose="020B0604030504040204" pitchFamily="34" charset="-120"/>
                          <a:ea typeface="微軟正黑體" panose="020B0604030504040204" pitchFamily="34" charset="-120"/>
                        </a:rPr>
                        <a:t>MSSQL</a:t>
                      </a:r>
                      <a:r>
                        <a:rPr lang="zh-TW" altLang="en-US" sz="1400" dirty="0">
                          <a:solidFill>
                            <a:schemeClr val="tx1"/>
                          </a:solidFill>
                          <a:latin typeface="微軟正黑體" panose="020B0604030504040204" pitchFamily="34" charset="-120"/>
                          <a:ea typeface="微軟正黑體" panose="020B0604030504040204" pitchFamily="34" charset="-120"/>
                        </a:rPr>
                        <a:t>，其中包含</a:t>
                      </a:r>
                      <a:r>
                        <a:rPr lang="en-US" altLang="zh-TW" sz="1400" dirty="0">
                          <a:solidFill>
                            <a:schemeClr val="tx1"/>
                          </a:solidFill>
                          <a:latin typeface="微軟正黑體" panose="020B0604030504040204" pitchFamily="34" charset="-120"/>
                          <a:ea typeface="微軟正黑體" panose="020B0604030504040204" pitchFamily="34" charset="-120"/>
                        </a:rPr>
                        <a:t>schema</a:t>
                      </a:r>
                      <a:r>
                        <a:rPr lang="zh-TW" altLang="en-US" sz="1400" dirty="0">
                          <a:solidFill>
                            <a:schemeClr val="tx1"/>
                          </a:solidFill>
                          <a:latin typeface="微軟正黑體" panose="020B0604030504040204" pitchFamily="34" charset="-120"/>
                          <a:ea typeface="微軟正黑體" panose="020B0604030504040204" pitchFamily="34" charset="-120"/>
                        </a:rPr>
                        <a:t>設定，需與雲端</a:t>
                      </a:r>
                      <a:r>
                        <a:rPr lang="en-US" altLang="zh-TW" sz="1400" dirty="0">
                          <a:solidFill>
                            <a:schemeClr val="tx1"/>
                          </a:solidFill>
                          <a:latin typeface="微軟正黑體" panose="020B0604030504040204" pitchFamily="34" charset="-120"/>
                          <a:ea typeface="微軟正黑體" panose="020B0604030504040204" pitchFamily="34" charset="-120"/>
                        </a:rPr>
                        <a:t>MYSQL</a:t>
                      </a:r>
                      <a:r>
                        <a:rPr lang="zh-TW" altLang="en-US" sz="1400" dirty="0">
                          <a:solidFill>
                            <a:schemeClr val="tx1"/>
                          </a:solidFill>
                          <a:latin typeface="微軟正黑體" panose="020B0604030504040204" pitchFamily="34" charset="-120"/>
                          <a:ea typeface="微軟正黑體" panose="020B0604030504040204" pitchFamily="34" charset="-120"/>
                        </a:rPr>
                        <a:t>一致</a:t>
                      </a:r>
                      <a:endParaRPr lang="en-US" altLang="zh-TW" sz="1400" dirty="0">
                        <a:solidFill>
                          <a:schemeClr val="tx1"/>
                        </a:solidFill>
                        <a:latin typeface="微軟正黑體" panose="020B0604030504040204" pitchFamily="34" charset="-120"/>
                        <a:ea typeface="微軟正黑體" panose="020B0604030504040204" pitchFamily="34" charset="-120"/>
                      </a:endParaRPr>
                    </a:p>
                    <a:p>
                      <a:pPr marL="285750" lvl="1" indent="-285750">
                        <a:buFont typeface="Wingdings" panose="05000000000000000000" pitchFamily="2" charset="2"/>
                        <a:buChar char="n"/>
                      </a:pPr>
                      <a:r>
                        <a:rPr lang="zh-TW" altLang="zh-TW" sz="1400" dirty="0">
                          <a:solidFill>
                            <a:schemeClr val="tx1"/>
                          </a:solidFill>
                          <a:latin typeface="微軟正黑體" panose="020B0604030504040204" pitchFamily="34" charset="-120"/>
                          <a:ea typeface="微軟正黑體" panose="020B0604030504040204" pitchFamily="34" charset="-120"/>
                        </a:rPr>
                        <a:t>爬蟲館存放公開資料，因此全集團使用者皆可申請讀取地端</a:t>
                      </a:r>
                      <a:r>
                        <a:rPr lang="en-US" altLang="zh-TW" sz="1400" dirty="0">
                          <a:solidFill>
                            <a:schemeClr val="tx1"/>
                          </a:solidFill>
                          <a:latin typeface="微軟正黑體" panose="020B0604030504040204" pitchFamily="34" charset="-120"/>
                          <a:ea typeface="微軟正黑體" panose="020B0604030504040204" pitchFamily="34" charset="-120"/>
                        </a:rPr>
                        <a:t>DB</a:t>
                      </a:r>
                      <a:r>
                        <a:rPr lang="zh-TW" altLang="zh-TW" sz="1400" dirty="0">
                          <a:solidFill>
                            <a:schemeClr val="tx1"/>
                          </a:solidFill>
                          <a:latin typeface="微軟正黑體" panose="020B0604030504040204" pitchFamily="34" charset="-120"/>
                          <a:ea typeface="微軟正黑體" panose="020B0604030504040204" pitchFamily="34" charset="-120"/>
                        </a:rPr>
                        <a:t>資料</a:t>
                      </a:r>
                      <a:endParaRPr lang="en-US" altLang="zh-TW" sz="1400" dirty="0">
                        <a:solidFill>
                          <a:schemeClr val="tx1"/>
                        </a:solidFill>
                        <a:latin typeface="微軟正黑體" panose="020B0604030504040204" pitchFamily="34" charset="-120"/>
                        <a:ea typeface="微軟正黑體" panose="020B0604030504040204" pitchFamily="34" charset="-120"/>
                      </a:endParaRPr>
                    </a:p>
                    <a:p>
                      <a:pPr marL="285750" lvl="1" indent="-285750">
                        <a:buFont typeface="Wingdings" panose="05000000000000000000" pitchFamily="2" charset="2"/>
                        <a:buChar char="n"/>
                      </a:pPr>
                      <a:r>
                        <a:rPr lang="zh-TW" altLang="zh-TW" sz="1400" dirty="0">
                          <a:solidFill>
                            <a:schemeClr val="tx1"/>
                          </a:solidFill>
                          <a:latin typeface="微軟正黑體" panose="020B0604030504040204" pitchFamily="34" charset="-120"/>
                          <a:ea typeface="微軟正黑體" panose="020B0604030504040204" pitchFamily="34" charset="-120"/>
                        </a:rPr>
                        <a:t>未來若納管之資料集有授權限制，將依規範設定使用者讀取權限</a:t>
                      </a:r>
                      <a:endParaRPr lang="zh-TW" altLang="en-US" sz="1400" dirty="0">
                        <a:solidFill>
                          <a:schemeClr val="tx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1517937245"/>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400" b="0" dirty="0">
                          <a:latin typeface="微軟正黑體" panose="020B0604030504040204" pitchFamily="34" charset="-120"/>
                          <a:ea typeface="微軟正黑體" panose="020B0604030504040204" pitchFamily="34" charset="-120"/>
                        </a:rPr>
                        <a:t>資訊處</a:t>
                      </a:r>
                      <a:r>
                        <a:rPr lang="en-US" altLang="zh-TW" sz="1400" b="0" dirty="0">
                          <a:latin typeface="微軟正黑體" panose="020B0604030504040204" pitchFamily="34" charset="-120"/>
                          <a:ea typeface="微軟正黑體" panose="020B0604030504040204" pitchFamily="34" charset="-120"/>
                        </a:rPr>
                        <a:t>(</a:t>
                      </a:r>
                      <a:r>
                        <a:rPr lang="zh-TW" altLang="en-US" sz="1400" b="0" dirty="0">
                          <a:latin typeface="微軟正黑體" panose="020B0604030504040204" pitchFamily="34" charset="-120"/>
                          <a:ea typeface="微軟正黑體" panose="020B0604030504040204" pitchFamily="34" charset="-120"/>
                        </a:rPr>
                        <a:t>自行開發</a:t>
                      </a:r>
                      <a:r>
                        <a:rPr lang="en-US" altLang="zh-TW" sz="1400" b="0" dirty="0">
                          <a:latin typeface="微軟正黑體" panose="020B0604030504040204" pitchFamily="34" charset="-120"/>
                          <a:ea typeface="微軟正黑體" panose="020B0604030504040204" pitchFamily="34" charset="-120"/>
                        </a:rPr>
                        <a:t>)</a:t>
                      </a:r>
                      <a:endParaRPr lang="zh-TW" altLang="en-US" sz="1400" b="0" dirty="0">
                        <a:latin typeface="微軟正黑體" panose="020B0604030504040204" pitchFamily="34" charset="-120"/>
                        <a:ea typeface="微軟正黑體" panose="020B0604030504040204" pitchFamily="34" charset="-120"/>
                      </a:endParaRPr>
                    </a:p>
                  </a:txBody>
                  <a:tcPr anchor="ctr"/>
                </a:tc>
                <a:tc>
                  <a:txBody>
                    <a:bodyPr/>
                    <a:lstStyle/>
                    <a:p>
                      <a:pPr marL="0" marR="0" lvl="1" indent="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None/>
                        <a:tabLst/>
                        <a:defRPr/>
                      </a:pPr>
                      <a:r>
                        <a:rPr lang="zh-TW" altLang="en-US" sz="1400" b="0" dirty="0">
                          <a:solidFill>
                            <a:schemeClr val="tx1">
                              <a:lumMod val="85000"/>
                              <a:lumOff val="15000"/>
                            </a:schemeClr>
                          </a:solidFill>
                          <a:latin typeface="微軟正黑體" panose="020B0604030504040204" pitchFamily="34" charset="-120"/>
                          <a:ea typeface="微軟正黑體" panose="020B0604030504040204" pitchFamily="34" charset="-120"/>
                        </a:rPr>
                        <a:t>以上功能偏向於原平台的擴充，故以資訊需求單</a:t>
                      </a:r>
                      <a:r>
                        <a:rPr lang="en-US" altLang="zh-TW" sz="1400" b="0" dirty="0">
                          <a:solidFill>
                            <a:schemeClr val="tx1">
                              <a:lumMod val="85000"/>
                              <a:lumOff val="15000"/>
                            </a:schemeClr>
                          </a:solidFill>
                          <a:latin typeface="微軟正黑體" panose="020B0604030504040204" pitchFamily="34" charset="-120"/>
                          <a:ea typeface="微軟正黑體" panose="020B0604030504040204" pitchFamily="34" charset="-120"/>
                        </a:rPr>
                        <a:t>CR</a:t>
                      </a:r>
                      <a:r>
                        <a:rPr lang="zh-TW" altLang="en-US" sz="1400" b="0" dirty="0">
                          <a:solidFill>
                            <a:schemeClr val="tx1">
                              <a:lumMod val="85000"/>
                              <a:lumOff val="15000"/>
                            </a:schemeClr>
                          </a:solidFill>
                          <a:latin typeface="微軟正黑體" panose="020B0604030504040204" pitchFamily="34" charset="-120"/>
                          <a:ea typeface="微軟正黑體" panose="020B0604030504040204" pitchFamily="34" charset="-120"/>
                        </a:rPr>
                        <a:t> 的方式進行開發建置。</a:t>
                      </a:r>
                      <a:endParaRPr lang="en-US" altLang="zh-TW" sz="1400" b="0" dirty="0">
                        <a:solidFill>
                          <a:schemeClr val="tx1">
                            <a:lumMod val="85000"/>
                            <a:lumOff val="15000"/>
                          </a:schemeClr>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2238450746"/>
                  </a:ext>
                </a:extLst>
              </a:tr>
            </a:tbl>
          </a:graphicData>
        </a:graphic>
      </p:graphicFrame>
      <p:graphicFrame>
        <p:nvGraphicFramePr>
          <p:cNvPr id="4" name="表格 3">
            <a:extLst>
              <a:ext uri="{FF2B5EF4-FFF2-40B4-BE49-F238E27FC236}">
                <a16:creationId xmlns:a16="http://schemas.microsoft.com/office/drawing/2014/main" id="{EAF5A9E6-4EA8-2CE1-29DD-7BC37A238821}"/>
              </a:ext>
            </a:extLst>
          </p:cNvPr>
          <p:cNvGraphicFramePr>
            <a:graphicFrameLocks noGrp="1"/>
          </p:cNvGraphicFramePr>
          <p:nvPr>
            <p:extLst>
              <p:ext uri="{D42A27DB-BD31-4B8C-83A1-F6EECF244321}">
                <p14:modId xmlns:p14="http://schemas.microsoft.com/office/powerpoint/2010/main" val="1697878452"/>
              </p:ext>
            </p:extLst>
          </p:nvPr>
        </p:nvGraphicFramePr>
        <p:xfrm>
          <a:off x="311090" y="4424792"/>
          <a:ext cx="10898305" cy="1595120"/>
        </p:xfrm>
        <a:graphic>
          <a:graphicData uri="http://schemas.openxmlformats.org/drawingml/2006/table">
            <a:tbl>
              <a:tblPr firstRow="1" bandRow="1">
                <a:tableStyleId>{91DB7C30-2B5D-4D34-8F22-85940E495A18}</a:tableStyleId>
              </a:tblPr>
              <a:tblGrid>
                <a:gridCol w="2087880">
                  <a:extLst>
                    <a:ext uri="{9D8B030D-6E8A-4147-A177-3AD203B41FA5}">
                      <a16:colId xmlns:a16="http://schemas.microsoft.com/office/drawing/2014/main" val="888219194"/>
                    </a:ext>
                  </a:extLst>
                </a:gridCol>
                <a:gridCol w="8810425">
                  <a:extLst>
                    <a:ext uri="{9D8B030D-6E8A-4147-A177-3AD203B41FA5}">
                      <a16:colId xmlns:a16="http://schemas.microsoft.com/office/drawing/2014/main" val="3289141346"/>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600" b="1" dirty="0">
                          <a:latin typeface="微軟正黑體" panose="020B0604030504040204" pitchFamily="34" charset="-120"/>
                          <a:ea typeface="微軟正黑體" panose="020B0604030504040204" pitchFamily="34" charset="-120"/>
                        </a:rPr>
                        <a:t>測試項目</a:t>
                      </a:r>
                    </a:p>
                  </a:txBody>
                  <a:tcPr anchor="ctr"/>
                </a:tc>
                <a:tc>
                  <a:txBody>
                    <a:bodyPr/>
                    <a:lstStyle/>
                    <a:p>
                      <a:pPr marL="0" marR="0" lvl="1" indent="0" algn="ctr" defTabSz="914400" rtl="0" eaLnBrk="1" fontAlgn="auto" latinLnBrk="0" hangingPunct="1">
                        <a:lnSpc>
                          <a:spcPct val="100000"/>
                        </a:lnSpc>
                        <a:spcBef>
                          <a:spcPts val="0"/>
                        </a:spcBef>
                        <a:spcAft>
                          <a:spcPts val="0"/>
                        </a:spcAft>
                        <a:buClr>
                          <a:srgbClr val="000000"/>
                        </a:buClr>
                        <a:buSzTx/>
                        <a:buFont typeface="Wingdings" panose="05000000000000000000" pitchFamily="2" charset="2"/>
                        <a:buNone/>
                        <a:tabLst/>
                        <a:defRPr/>
                      </a:pPr>
                      <a:r>
                        <a:rPr lang="zh-TW" altLang="en-US" sz="1600" b="1" dirty="0">
                          <a:solidFill>
                            <a:schemeClr val="tx1"/>
                          </a:solidFill>
                          <a:latin typeface="微軟正黑體" panose="020B0604030504040204" pitchFamily="34" charset="-120"/>
                          <a:ea typeface="微軟正黑體" panose="020B0604030504040204" pitchFamily="34" charset="-120"/>
                        </a:rPr>
                        <a:t>內容</a:t>
                      </a:r>
                      <a:endParaRPr lang="en-US" altLang="zh-TW" sz="1600" b="1" dirty="0">
                        <a:solidFill>
                          <a:schemeClr val="tx1"/>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2267185889"/>
                  </a:ext>
                </a:extLst>
              </a:tr>
              <a:tr h="370840">
                <a:tc>
                  <a:txBody>
                    <a:bodyPr/>
                    <a:lstStyle/>
                    <a:p>
                      <a:pPr algn="ctr"/>
                      <a:r>
                        <a:rPr lang="zh-TW" sz="1400" b="0" kern="0" dirty="0">
                          <a:effectLst/>
                          <a:latin typeface="微軟正黑體" panose="020B0604030504040204" pitchFamily="34" charset="-120"/>
                          <a:ea typeface="微軟正黑體" panose="020B0604030504040204" pitchFamily="34" charset="-120"/>
                          <a:cs typeface="Times New Roman" panose="02020603050405020304" pitchFamily="18" charset="0"/>
                        </a:rPr>
                        <a:t>財管處爬蟲</a:t>
                      </a:r>
                      <a:r>
                        <a:rPr lang="en-US" sz="1400" b="0" kern="0" dirty="0">
                          <a:effectLst/>
                          <a:latin typeface="微軟正黑體" panose="020B0604030504040204" pitchFamily="34" charset="-120"/>
                          <a:ea typeface="微軟正黑體" panose="020B0604030504040204" pitchFamily="34" charset="-120"/>
                          <a:cs typeface="Times New Roman" panose="02020603050405020304" pitchFamily="18" charset="0"/>
                        </a:rPr>
                        <a:t>6</a:t>
                      </a:r>
                      <a:r>
                        <a:rPr lang="zh-TW" sz="1400" b="0" kern="0" dirty="0">
                          <a:effectLst/>
                          <a:latin typeface="微軟正黑體" panose="020B0604030504040204" pitchFamily="34" charset="-120"/>
                          <a:ea typeface="微軟正黑體" panose="020B0604030504040204" pitchFamily="34" charset="-120"/>
                          <a:cs typeface="Times New Roman" panose="02020603050405020304" pitchFamily="18" charset="0"/>
                        </a:rPr>
                        <a:t>支</a:t>
                      </a:r>
                      <a:endParaRPr lang="zh-TW" sz="1400" b="0" kern="100" dirty="0">
                        <a:effectLst/>
                        <a:latin typeface="微軟正黑體" panose="020B0604030504040204" pitchFamily="34" charset="-120"/>
                        <a:ea typeface="微軟正黑體" panose="020B0604030504040204" pitchFamily="34" charset="-120"/>
                        <a:cs typeface="Times New Roman" panose="02020603050405020304" pitchFamily="18" charset="0"/>
                      </a:endParaRPr>
                    </a:p>
                    <a:p>
                      <a:pPr algn="ctr"/>
                      <a:r>
                        <a:rPr lang="zh-TW" sz="1400" b="0" kern="0" dirty="0">
                          <a:effectLst/>
                          <a:latin typeface="微軟正黑體" panose="020B0604030504040204" pitchFamily="34" charset="-120"/>
                          <a:ea typeface="微軟正黑體" panose="020B0604030504040204" pitchFamily="34" charset="-120"/>
                          <a:cs typeface="Times New Roman" panose="02020603050405020304" pitchFamily="18" charset="0"/>
                        </a:rPr>
                        <a:t>手動</a:t>
                      </a:r>
                      <a:r>
                        <a:rPr lang="en-US" sz="1400" b="0" kern="0" dirty="0">
                          <a:effectLst/>
                          <a:latin typeface="微軟正黑體" panose="020B0604030504040204" pitchFamily="34" charset="-120"/>
                          <a:ea typeface="微軟正黑體" panose="020B0604030504040204" pitchFamily="34" charset="-120"/>
                          <a:cs typeface="Times New Roman" panose="02020603050405020304" pitchFamily="18" charset="0"/>
                        </a:rPr>
                        <a:t>/</a:t>
                      </a:r>
                      <a:r>
                        <a:rPr lang="zh-TW" sz="1400" b="0" kern="0" dirty="0">
                          <a:effectLst/>
                          <a:latin typeface="微軟正黑體" panose="020B0604030504040204" pitchFamily="34" charset="-120"/>
                          <a:ea typeface="微軟正黑體" panose="020B0604030504040204" pitchFamily="34" charset="-120"/>
                          <a:cs typeface="Times New Roman" panose="02020603050405020304" pitchFamily="18" charset="0"/>
                        </a:rPr>
                        <a:t>自動訂閱</a:t>
                      </a:r>
                      <a:endParaRPr lang="zh-TW" sz="1400" b="0" kern="100"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tc>
                <a:tc>
                  <a:txBody>
                    <a:bodyPr/>
                    <a:lstStyle/>
                    <a:p>
                      <a:pPr algn="l"/>
                      <a:r>
                        <a:rPr lang="zh-TW" sz="1400" b="0" kern="0" dirty="0">
                          <a:effectLst/>
                          <a:latin typeface="微軟正黑體" panose="020B0604030504040204" pitchFamily="34" charset="-120"/>
                          <a:ea typeface="微軟正黑體" panose="020B0604030504040204" pitchFamily="34" charset="-120"/>
                          <a:cs typeface="Times New Roman" panose="02020603050405020304" pitchFamily="18" charset="0"/>
                        </a:rPr>
                        <a:t>財管處維持爬蟲館平台訂閱功能，進行資料修前後比對驗證</a:t>
                      </a:r>
                      <a:endParaRPr lang="zh-TW" sz="1400" b="0" kern="100"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tc>
                <a:extLst>
                  <a:ext uri="{0D108BD9-81ED-4DB2-BD59-A6C34878D82A}">
                    <a16:rowId xmlns:a16="http://schemas.microsoft.com/office/drawing/2014/main" val="2384381651"/>
                  </a:ext>
                </a:extLst>
              </a:tr>
              <a:tr h="370840">
                <a:tc>
                  <a:txBody>
                    <a:bodyPr/>
                    <a:lstStyle/>
                    <a:p>
                      <a:pPr algn="ctr"/>
                      <a:r>
                        <a:rPr lang="zh-TW" sz="1400" b="0" kern="0" dirty="0">
                          <a:effectLst/>
                          <a:latin typeface="微軟正黑體" panose="020B0604030504040204" pitchFamily="34" charset="-120"/>
                          <a:ea typeface="微軟正黑體" panose="020B0604030504040204" pitchFamily="34" charset="-120"/>
                          <a:cs typeface="Times New Roman" panose="02020603050405020304" pitchFamily="18" charset="0"/>
                        </a:rPr>
                        <a:t>財管處爬蟲</a:t>
                      </a:r>
                      <a:r>
                        <a:rPr lang="en-US" sz="1400" b="0" kern="0" dirty="0">
                          <a:effectLst/>
                          <a:latin typeface="微軟正黑體" panose="020B0604030504040204" pitchFamily="34" charset="-120"/>
                          <a:ea typeface="微軟正黑體" panose="020B0604030504040204" pitchFamily="34" charset="-120"/>
                          <a:cs typeface="Times New Roman" panose="02020603050405020304" pitchFamily="18" charset="0"/>
                        </a:rPr>
                        <a:t>6</a:t>
                      </a:r>
                      <a:r>
                        <a:rPr lang="zh-TW" sz="1400" b="0" kern="0" dirty="0">
                          <a:effectLst/>
                          <a:latin typeface="微軟正黑體" panose="020B0604030504040204" pitchFamily="34" charset="-120"/>
                          <a:ea typeface="微軟正黑體" panose="020B0604030504040204" pitchFamily="34" charset="-120"/>
                          <a:cs typeface="Times New Roman" panose="02020603050405020304" pitchFamily="18" charset="0"/>
                        </a:rPr>
                        <a:t>支</a:t>
                      </a:r>
                      <a:endParaRPr lang="zh-TW" sz="1400" b="0" kern="100" dirty="0">
                        <a:effectLst/>
                        <a:latin typeface="微軟正黑體" panose="020B0604030504040204" pitchFamily="34" charset="-120"/>
                        <a:ea typeface="微軟正黑體" panose="020B0604030504040204" pitchFamily="34" charset="-120"/>
                        <a:cs typeface="Times New Roman" panose="02020603050405020304" pitchFamily="18" charset="0"/>
                      </a:endParaRPr>
                    </a:p>
                    <a:p>
                      <a:pPr algn="ctr"/>
                      <a:r>
                        <a:rPr lang="en-US" sz="1400" b="0" kern="0" dirty="0">
                          <a:effectLst/>
                          <a:latin typeface="微軟正黑體" panose="020B0604030504040204" pitchFamily="34" charset="-120"/>
                          <a:ea typeface="微軟正黑體" panose="020B0604030504040204" pitchFamily="34" charset="-120"/>
                          <a:cs typeface="Times New Roman" panose="02020603050405020304" pitchFamily="18" charset="0"/>
                        </a:rPr>
                        <a:t>DB Link</a:t>
                      </a:r>
                      <a:endParaRPr lang="zh-TW" sz="1400" b="0" kern="100"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tc>
                <a:tc>
                  <a:txBody>
                    <a:bodyPr/>
                    <a:lstStyle/>
                    <a:p>
                      <a:pPr algn="l"/>
                      <a:r>
                        <a:rPr lang="zh-TW" sz="1400" b="0" kern="0" dirty="0">
                          <a:effectLst/>
                          <a:latin typeface="微軟正黑體" panose="020B0604030504040204" pitchFamily="34" charset="-120"/>
                          <a:ea typeface="微軟正黑體" panose="020B0604030504040204" pitchFamily="34" charset="-120"/>
                          <a:cs typeface="Times New Roman" panose="02020603050405020304" pitchFamily="18" charset="0"/>
                        </a:rPr>
                        <a:t>數據組，開通地端資料庫開發機查詢權限，驗測</a:t>
                      </a:r>
                      <a:r>
                        <a:rPr lang="en-US" sz="1400" b="0" kern="0" dirty="0">
                          <a:effectLst/>
                          <a:latin typeface="微軟正黑體" panose="020B0604030504040204" pitchFamily="34" charset="-120"/>
                          <a:ea typeface="微軟正黑體" panose="020B0604030504040204" pitchFamily="34" charset="-120"/>
                          <a:cs typeface="Times New Roman" panose="02020603050405020304" pitchFamily="18" charset="0"/>
                        </a:rPr>
                        <a:t>DB Link</a:t>
                      </a:r>
                      <a:r>
                        <a:rPr lang="zh-TW" sz="1400" b="0" kern="0" dirty="0">
                          <a:effectLst/>
                          <a:latin typeface="微軟正黑體" panose="020B0604030504040204" pitchFamily="34" charset="-120"/>
                          <a:ea typeface="微軟正黑體" panose="020B0604030504040204" pitchFamily="34" charset="-120"/>
                          <a:cs typeface="Times New Roman" panose="02020603050405020304" pitchFamily="18" charset="0"/>
                        </a:rPr>
                        <a:t>連線功能，驗測財管處爬蟲</a:t>
                      </a:r>
                      <a:r>
                        <a:rPr lang="en-US" sz="1400" b="0" kern="0" dirty="0">
                          <a:effectLst/>
                          <a:latin typeface="微軟正黑體" panose="020B0604030504040204" pitchFamily="34" charset="-120"/>
                          <a:ea typeface="微軟正黑體" panose="020B0604030504040204" pitchFamily="34" charset="-120"/>
                          <a:cs typeface="Times New Roman" panose="02020603050405020304" pitchFamily="18" charset="0"/>
                        </a:rPr>
                        <a:t>6</a:t>
                      </a:r>
                      <a:r>
                        <a:rPr lang="zh-TW" sz="1400" b="0" kern="0" dirty="0">
                          <a:effectLst/>
                          <a:latin typeface="微軟正黑體" panose="020B0604030504040204" pitchFamily="34" charset="-120"/>
                          <a:ea typeface="微軟正黑體" panose="020B0604030504040204" pitchFamily="34" charset="-120"/>
                          <a:cs typeface="Times New Roman" panose="02020603050405020304" pitchFamily="18" charset="0"/>
                        </a:rPr>
                        <a:t>支爬蟲資料、資料字典</a:t>
                      </a:r>
                      <a:endParaRPr lang="zh-TW" sz="1400" b="0" kern="100"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tc>
                <a:extLst>
                  <a:ext uri="{0D108BD9-81ED-4DB2-BD59-A6C34878D82A}">
                    <a16:rowId xmlns:a16="http://schemas.microsoft.com/office/drawing/2014/main" val="948843679"/>
                  </a:ext>
                </a:extLst>
              </a:tr>
              <a:tr h="370840">
                <a:tc>
                  <a:txBody>
                    <a:bodyPr/>
                    <a:lstStyle/>
                    <a:p>
                      <a:pPr algn="ctr"/>
                      <a:r>
                        <a:rPr lang="zh-TW" sz="1400" b="0" kern="0" dirty="0">
                          <a:effectLst/>
                          <a:latin typeface="微軟正黑體" panose="020B0604030504040204" pitchFamily="34" charset="-120"/>
                          <a:ea typeface="微軟正黑體" panose="020B0604030504040204" pitchFamily="34" charset="-120"/>
                          <a:cs typeface="Times New Roman" panose="02020603050405020304" pitchFamily="18" charset="0"/>
                        </a:rPr>
                        <a:t>地端資料庫</a:t>
                      </a:r>
                      <a:r>
                        <a:rPr lang="en-US" sz="1400" b="0" kern="0" dirty="0">
                          <a:effectLst/>
                          <a:latin typeface="微軟正黑體" panose="020B0604030504040204" pitchFamily="34" charset="-120"/>
                          <a:ea typeface="微軟正黑體" panose="020B0604030504040204" pitchFamily="34" charset="-120"/>
                          <a:cs typeface="Times New Roman" panose="02020603050405020304" pitchFamily="18" charset="0"/>
                        </a:rPr>
                        <a:t>DB Link</a:t>
                      </a:r>
                      <a:endParaRPr lang="zh-TW" sz="1400" b="0" kern="100"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tc>
                <a:tc>
                  <a:txBody>
                    <a:bodyPr/>
                    <a:lstStyle/>
                    <a:p>
                      <a:pPr algn="l"/>
                      <a:r>
                        <a:rPr lang="zh-TW" sz="1400" b="0" kern="0" dirty="0">
                          <a:effectLst/>
                          <a:latin typeface="微軟正黑體" panose="020B0604030504040204" pitchFamily="34" charset="-120"/>
                          <a:ea typeface="微軟正黑體" panose="020B0604030504040204" pitchFamily="34" charset="-120"/>
                          <a:cs typeface="Times New Roman" panose="02020603050405020304" pitchFamily="18" charset="0"/>
                        </a:rPr>
                        <a:t>數科處</a:t>
                      </a:r>
                      <a:r>
                        <a:rPr lang="en-US" sz="1400" b="0" kern="0" dirty="0">
                          <a:effectLst/>
                          <a:latin typeface="微軟正黑體" panose="020B0604030504040204" pitchFamily="34" charset="-120"/>
                          <a:ea typeface="微軟正黑體" panose="020B0604030504040204" pitchFamily="34" charset="-120"/>
                          <a:cs typeface="Times New Roman" panose="02020603050405020304" pitchFamily="18" charset="0"/>
                        </a:rPr>
                        <a:t>-AI</a:t>
                      </a:r>
                      <a:r>
                        <a:rPr lang="zh-TW" sz="1400" b="0" kern="0" dirty="0">
                          <a:effectLst/>
                          <a:latin typeface="微軟正黑體" panose="020B0604030504040204" pitchFamily="34" charset="-120"/>
                          <a:ea typeface="微軟正黑體" panose="020B0604030504040204" pitchFamily="34" charset="-120"/>
                          <a:cs typeface="Times New Roman" panose="02020603050405020304" pitchFamily="18" charset="0"/>
                        </a:rPr>
                        <a:t>組，開通地端資料庫開發機查詢權限，驗測</a:t>
                      </a:r>
                      <a:r>
                        <a:rPr lang="en-US" sz="1400" b="0" kern="0" dirty="0">
                          <a:effectLst/>
                          <a:latin typeface="微軟正黑體" panose="020B0604030504040204" pitchFamily="34" charset="-120"/>
                          <a:ea typeface="微軟正黑體" panose="020B0604030504040204" pitchFamily="34" charset="-120"/>
                          <a:cs typeface="Times New Roman" panose="02020603050405020304" pitchFamily="18" charset="0"/>
                        </a:rPr>
                        <a:t>DB Link</a:t>
                      </a:r>
                      <a:r>
                        <a:rPr lang="zh-TW" sz="1400" b="0" kern="0" dirty="0">
                          <a:effectLst/>
                          <a:latin typeface="微軟正黑體" panose="020B0604030504040204" pitchFamily="34" charset="-120"/>
                          <a:ea typeface="微軟正黑體" panose="020B0604030504040204" pitchFamily="34" charset="-120"/>
                          <a:cs typeface="Times New Roman" panose="02020603050405020304" pitchFamily="18" charset="0"/>
                        </a:rPr>
                        <a:t>連線功能，驗測爬蟲資料、資料字典</a:t>
                      </a:r>
                      <a:endParaRPr lang="zh-TW" sz="1400" b="0" kern="100"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tc>
                <a:extLst>
                  <a:ext uri="{0D108BD9-81ED-4DB2-BD59-A6C34878D82A}">
                    <a16:rowId xmlns:a16="http://schemas.microsoft.com/office/drawing/2014/main" val="3760934619"/>
                  </a:ext>
                </a:extLst>
              </a:tr>
            </a:tbl>
          </a:graphicData>
        </a:graphic>
      </p:graphicFrame>
    </p:spTree>
    <p:extLst>
      <p:ext uri="{BB962C8B-B14F-4D97-AF65-F5344CB8AC3E}">
        <p14:creationId xmlns:p14="http://schemas.microsoft.com/office/powerpoint/2010/main" val="27280734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2139B53-0282-489A-A5E8-7C9843D087B6}"/>
              </a:ext>
            </a:extLst>
          </p:cNvPr>
          <p:cNvSpPr>
            <a:spLocks noGrp="1"/>
          </p:cNvSpPr>
          <p:nvPr>
            <p:ph type="title"/>
          </p:nvPr>
        </p:nvSpPr>
        <p:spPr/>
        <p:txBody>
          <a:bodyPr/>
          <a:lstStyle/>
          <a:p>
            <a:r>
              <a:rPr lang="zh-TW" altLang="en-US" b="1" dirty="0"/>
              <a:t>年度成本估算</a:t>
            </a:r>
          </a:p>
        </p:txBody>
      </p:sp>
      <p:graphicFrame>
        <p:nvGraphicFramePr>
          <p:cNvPr id="3" name="表格 2">
            <a:extLst>
              <a:ext uri="{FF2B5EF4-FFF2-40B4-BE49-F238E27FC236}">
                <a16:creationId xmlns:a16="http://schemas.microsoft.com/office/drawing/2014/main" id="{2005E301-E2C0-A115-93FB-E7444DAA3B4F}"/>
              </a:ext>
            </a:extLst>
          </p:cNvPr>
          <p:cNvGraphicFramePr>
            <a:graphicFrameLocks noGrp="1"/>
          </p:cNvGraphicFramePr>
          <p:nvPr>
            <p:extLst>
              <p:ext uri="{D42A27DB-BD31-4B8C-83A1-F6EECF244321}">
                <p14:modId xmlns:p14="http://schemas.microsoft.com/office/powerpoint/2010/main" val="697711859"/>
              </p:ext>
            </p:extLst>
          </p:nvPr>
        </p:nvGraphicFramePr>
        <p:xfrm>
          <a:off x="1137684" y="1019294"/>
          <a:ext cx="8814390" cy="3741839"/>
        </p:xfrm>
        <a:graphic>
          <a:graphicData uri="http://schemas.openxmlformats.org/drawingml/2006/table">
            <a:tbl>
              <a:tblPr firstRow="1" bandRow="1">
                <a:tableStyleId>{91DB7C30-2B5D-4D34-8F22-85940E495A18}</a:tableStyleId>
              </a:tblPr>
              <a:tblGrid>
                <a:gridCol w="1392865">
                  <a:extLst>
                    <a:ext uri="{9D8B030D-6E8A-4147-A177-3AD203B41FA5}">
                      <a16:colId xmlns:a16="http://schemas.microsoft.com/office/drawing/2014/main" val="3848090723"/>
                    </a:ext>
                  </a:extLst>
                </a:gridCol>
                <a:gridCol w="2562446">
                  <a:extLst>
                    <a:ext uri="{9D8B030D-6E8A-4147-A177-3AD203B41FA5}">
                      <a16:colId xmlns:a16="http://schemas.microsoft.com/office/drawing/2014/main" val="4200304485"/>
                    </a:ext>
                  </a:extLst>
                </a:gridCol>
                <a:gridCol w="3147237">
                  <a:extLst>
                    <a:ext uri="{9D8B030D-6E8A-4147-A177-3AD203B41FA5}">
                      <a16:colId xmlns:a16="http://schemas.microsoft.com/office/drawing/2014/main" val="1030043791"/>
                    </a:ext>
                  </a:extLst>
                </a:gridCol>
                <a:gridCol w="1711842">
                  <a:extLst>
                    <a:ext uri="{9D8B030D-6E8A-4147-A177-3AD203B41FA5}">
                      <a16:colId xmlns:a16="http://schemas.microsoft.com/office/drawing/2014/main" val="3959814504"/>
                    </a:ext>
                  </a:extLst>
                </a:gridCol>
              </a:tblGrid>
              <a:tr h="235651">
                <a:tc>
                  <a:txBody>
                    <a:bodyPr/>
                    <a:lstStyle/>
                    <a:p>
                      <a:endParaRPr lang="zh-TW" sz="1400" kern="100" dirty="0">
                        <a:effectLst/>
                        <a:latin typeface="Calibri" panose="020F0502020204030204" pitchFamily="34" charset="0"/>
                        <a:cs typeface="Times New Roman" panose="02020603050405020304" pitchFamily="18" charset="0"/>
                      </a:endParaRPr>
                    </a:p>
                  </a:txBody>
                  <a:tcPr marL="78268" marR="78268" marT="38853" marB="38853"/>
                </a:tc>
                <a:tc>
                  <a:txBody>
                    <a:bodyPr/>
                    <a:lstStyle/>
                    <a:p>
                      <a:r>
                        <a:rPr lang="en-US" sz="1400" kern="100">
                          <a:effectLst/>
                        </a:rPr>
                        <a:t> </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8268" marR="78268" marT="38853" marB="38853"/>
                </a:tc>
                <a:tc>
                  <a:txBody>
                    <a:bodyPr/>
                    <a:lstStyle/>
                    <a:p>
                      <a:r>
                        <a:rPr lang="en-US" sz="1400" kern="100">
                          <a:effectLst/>
                        </a:rPr>
                        <a:t> </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0" marR="0" marT="0" marB="0"/>
                </a:tc>
                <a:tc>
                  <a:txBody>
                    <a:bodyPr/>
                    <a:lstStyle/>
                    <a:p>
                      <a:pPr algn="r"/>
                      <a:r>
                        <a:rPr lang="zh-TW" sz="1400" b="1" kern="100" dirty="0">
                          <a:effectLst/>
                        </a:rPr>
                        <a:t>年度費用估計</a:t>
                      </a:r>
                      <a:r>
                        <a:rPr lang="en-US" sz="1400" b="1" kern="100" dirty="0">
                          <a:effectLst/>
                        </a:rPr>
                        <a:t>(TWD)</a:t>
                      </a:r>
                      <a:endParaRPr lang="zh-TW" sz="1400" b="1"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0" marR="0" marT="0" marB="0"/>
                </a:tc>
                <a:extLst>
                  <a:ext uri="{0D108BD9-81ED-4DB2-BD59-A6C34878D82A}">
                    <a16:rowId xmlns:a16="http://schemas.microsoft.com/office/drawing/2014/main" val="953278768"/>
                  </a:ext>
                </a:extLst>
              </a:tr>
              <a:tr h="405602">
                <a:tc rowSpan="4">
                  <a:txBody>
                    <a:bodyPr/>
                    <a:lstStyle/>
                    <a:p>
                      <a:pPr algn="ctr"/>
                      <a:r>
                        <a:rPr lang="zh-TW" sz="1400" b="1" kern="100" dirty="0">
                          <a:effectLst/>
                        </a:rPr>
                        <a:t>維運費用</a:t>
                      </a:r>
                    </a:p>
                    <a:p>
                      <a:pPr algn="ctr"/>
                      <a:r>
                        <a:rPr lang="en-US" sz="1400" b="1" kern="100" dirty="0">
                          <a:effectLst/>
                        </a:rPr>
                        <a:t>(</a:t>
                      </a:r>
                      <a:r>
                        <a:rPr lang="zh-TW" sz="1400" b="1" kern="100" dirty="0">
                          <a:effectLst/>
                        </a:rPr>
                        <a:t>每年</a:t>
                      </a:r>
                      <a:r>
                        <a:rPr lang="en-US" sz="1400" b="1" kern="100" dirty="0">
                          <a:effectLst/>
                        </a:rPr>
                        <a:t>)</a:t>
                      </a:r>
                      <a:endParaRPr lang="zh-TW" sz="1400" b="1"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78268" marR="78268" marT="38853" marB="38853" anchor="ctr"/>
                </a:tc>
                <a:tc>
                  <a:txBody>
                    <a:bodyPr/>
                    <a:lstStyle/>
                    <a:p>
                      <a:pPr marL="457200" algn="l"/>
                      <a:r>
                        <a:rPr lang="en-US" altLang="zh-TW" sz="1400" b="1" kern="100" dirty="0">
                          <a:effectLst/>
                        </a:rPr>
                        <a:t>    </a:t>
                      </a:r>
                      <a:r>
                        <a:rPr lang="zh-TW" sz="1400" b="1" kern="100" dirty="0">
                          <a:effectLst/>
                        </a:rPr>
                        <a:t>平台保固</a:t>
                      </a:r>
                      <a:endParaRPr lang="en-US" altLang="zh-TW" sz="1400" b="1" kern="100" dirty="0">
                        <a:effectLst/>
                      </a:endParaRPr>
                    </a:p>
                    <a:p>
                      <a:pPr marL="457200" algn="l"/>
                      <a:r>
                        <a:rPr lang="zh-TW" altLang="zh-TW" sz="1400" kern="100" dirty="0">
                          <a:effectLst/>
                        </a:rPr>
                        <a:t>【</a:t>
                      </a:r>
                      <a:r>
                        <a:rPr lang="zh-TW" altLang="zh-TW" sz="1400" b="1" kern="100" dirty="0">
                          <a:effectLst/>
                        </a:rPr>
                        <a:t>既有成本</a:t>
                      </a:r>
                      <a:r>
                        <a:rPr lang="zh-TW" altLang="zh-TW" sz="1400" kern="100" dirty="0">
                          <a:effectLst/>
                        </a:rPr>
                        <a:t>】</a:t>
                      </a:r>
                      <a:endParaRPr lang="zh-TW" altLang="en-US" sz="1400" b="1" i="0" u="none" strike="noStrike" kern="100" cap="none" dirty="0">
                        <a:solidFill>
                          <a:srgbClr val="000000"/>
                        </a:solidFill>
                        <a:effectLst/>
                        <a:latin typeface="Arial"/>
                        <a:ea typeface="新細明體" panose="02020500000000000000" pitchFamily="18" charset="-120"/>
                        <a:cs typeface="Arial"/>
                        <a:sym typeface="Arial"/>
                      </a:endParaRPr>
                    </a:p>
                  </a:txBody>
                  <a:tcPr marL="78268" marR="78268" marT="38853" marB="38853" anchor="ctr"/>
                </a:tc>
                <a:tc>
                  <a:txBody>
                    <a:bodyPr/>
                    <a:lstStyle/>
                    <a:p>
                      <a:r>
                        <a:rPr lang="zh-TW" sz="1400" kern="100" dirty="0">
                          <a:effectLst/>
                        </a:rPr>
                        <a:t>年度維護費</a:t>
                      </a:r>
                    </a:p>
                    <a:p>
                      <a:r>
                        <a:rPr lang="en-US" sz="1400" kern="100" dirty="0">
                          <a:effectLst/>
                        </a:rPr>
                        <a:t>(2026.02.28~2027.02.27)</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0" marR="0" marT="0" marB="0"/>
                </a:tc>
                <a:tc>
                  <a:txBody>
                    <a:bodyPr/>
                    <a:lstStyle/>
                    <a:p>
                      <a:pPr algn="r"/>
                      <a:r>
                        <a:rPr lang="en-US" altLang="zh-TW" sz="1400" kern="100" dirty="0">
                          <a:effectLst/>
                        </a:rPr>
                        <a:t>282</a:t>
                      </a:r>
                      <a:r>
                        <a:rPr lang="en-US" sz="1400" kern="100" dirty="0">
                          <a:effectLst/>
                        </a:rPr>
                        <a:t>,</a:t>
                      </a:r>
                      <a:r>
                        <a:rPr lang="en-US" altLang="zh-TW" sz="1400" kern="100" dirty="0">
                          <a:effectLst/>
                        </a:rPr>
                        <a:t>3</a:t>
                      </a:r>
                      <a:r>
                        <a:rPr lang="en-US" sz="1400" kern="100" dirty="0">
                          <a:effectLst/>
                        </a:rPr>
                        <a:t>00</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0" marR="0" marT="0" marB="0" anchor="ctr"/>
                </a:tc>
                <a:extLst>
                  <a:ext uri="{0D108BD9-81ED-4DB2-BD59-A6C34878D82A}">
                    <a16:rowId xmlns:a16="http://schemas.microsoft.com/office/drawing/2014/main" val="394891221"/>
                  </a:ext>
                </a:extLst>
              </a:tr>
              <a:tr h="471343">
                <a:tc vMerge="1">
                  <a:txBody>
                    <a:bodyPr/>
                    <a:lstStyle/>
                    <a:p>
                      <a:endParaRPr lang="zh-TW" altLang="en-US"/>
                    </a:p>
                  </a:txBody>
                  <a:tcPr/>
                </a:tc>
                <a:tc>
                  <a:txBody>
                    <a:bodyPr/>
                    <a:lstStyle/>
                    <a:p>
                      <a:pPr marL="457200" algn="l"/>
                      <a:r>
                        <a:rPr lang="en-US" sz="1400" b="1" kern="100" dirty="0">
                          <a:effectLst/>
                        </a:rPr>
                        <a:t>   AWS</a:t>
                      </a:r>
                      <a:r>
                        <a:rPr lang="zh-TW" sz="1400" b="1" kern="100" dirty="0">
                          <a:effectLst/>
                        </a:rPr>
                        <a:t>環境</a:t>
                      </a:r>
                      <a:endParaRPr lang="en-US" altLang="zh-TW" sz="1400" b="1" kern="100" dirty="0">
                        <a:effectLst/>
                      </a:endParaRPr>
                    </a:p>
                    <a:p>
                      <a:pPr marL="457200" algn="l"/>
                      <a:r>
                        <a:rPr lang="zh-TW" altLang="zh-TW" sz="1400" kern="100" dirty="0">
                          <a:effectLst/>
                        </a:rPr>
                        <a:t>【</a:t>
                      </a:r>
                      <a:r>
                        <a:rPr lang="zh-TW" altLang="zh-TW" sz="1400" b="1" kern="100" dirty="0">
                          <a:effectLst/>
                        </a:rPr>
                        <a:t>既有成本</a:t>
                      </a:r>
                      <a:r>
                        <a:rPr lang="zh-TW" altLang="zh-TW" sz="1400" kern="100" dirty="0">
                          <a:effectLst/>
                        </a:rPr>
                        <a:t>】</a:t>
                      </a:r>
                      <a:endParaRPr lang="zh-TW" sz="1400" b="1"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78268" marR="78268" marT="38853" marB="38853" anchor="ctr"/>
                </a:tc>
                <a:tc>
                  <a:txBody>
                    <a:bodyPr/>
                    <a:lstStyle/>
                    <a:p>
                      <a:r>
                        <a:rPr lang="zh-TW" sz="1400" kern="100" dirty="0">
                          <a:effectLst/>
                        </a:rPr>
                        <a:t>爬蟲館：依使用者計量計費</a:t>
                      </a:r>
                    </a:p>
                    <a:p>
                      <a:r>
                        <a:rPr lang="zh-TW" sz="1400" kern="100" dirty="0">
                          <a:effectLst/>
                        </a:rPr>
                        <a:t>每月</a:t>
                      </a:r>
                      <a:r>
                        <a:rPr lang="en-US" sz="1400" kern="100" dirty="0">
                          <a:effectLst/>
                        </a:rPr>
                        <a:t>NT$28,282</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0" marR="0" marT="0" marB="0"/>
                </a:tc>
                <a:tc>
                  <a:txBody>
                    <a:bodyPr/>
                    <a:lstStyle/>
                    <a:p>
                      <a:pPr algn="r"/>
                      <a:r>
                        <a:rPr lang="en-US" sz="1400" kern="100" dirty="0">
                          <a:effectLst/>
                        </a:rPr>
                        <a:t>339,384</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0" marR="0" marT="0" marB="0" anchor="ctr"/>
                </a:tc>
                <a:extLst>
                  <a:ext uri="{0D108BD9-81ED-4DB2-BD59-A6C34878D82A}">
                    <a16:rowId xmlns:a16="http://schemas.microsoft.com/office/drawing/2014/main" val="1395643101"/>
                  </a:ext>
                </a:extLst>
              </a:tr>
              <a:tr h="877326">
                <a:tc vMerge="1">
                  <a:txBody>
                    <a:bodyPr/>
                    <a:lstStyle/>
                    <a:p>
                      <a:endParaRPr lang="zh-TW" altLang="en-US"/>
                    </a:p>
                  </a:txBody>
                  <a:tcPr/>
                </a:tc>
                <a:tc>
                  <a:txBody>
                    <a:bodyPr/>
                    <a:lstStyle/>
                    <a:p>
                      <a:pPr marL="457200" algn="l"/>
                      <a:r>
                        <a:rPr lang="zh-TW" sz="1400" b="1" kern="100" dirty="0">
                          <a:effectLst/>
                        </a:rPr>
                        <a:t>大數軟體資料訂閱</a:t>
                      </a:r>
                      <a:endParaRPr lang="en-US" altLang="zh-TW" sz="1400" b="1" kern="100" dirty="0">
                        <a:effectLst/>
                      </a:endParaRPr>
                    </a:p>
                    <a:p>
                      <a:pPr marL="45720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kern="100" dirty="0">
                          <a:effectLst/>
                        </a:rPr>
                        <a:t>   </a:t>
                      </a:r>
                      <a:r>
                        <a:rPr lang="zh-TW" altLang="zh-TW" sz="1400" kern="100" dirty="0">
                          <a:effectLst/>
                        </a:rPr>
                        <a:t>【</a:t>
                      </a:r>
                      <a:r>
                        <a:rPr lang="zh-TW" altLang="zh-TW" sz="1400" b="1" kern="100" dirty="0">
                          <a:effectLst/>
                        </a:rPr>
                        <a:t>既有成本】</a:t>
                      </a:r>
                    </a:p>
                  </a:txBody>
                  <a:tcPr marL="78268" marR="78268" marT="38853" marB="38853" anchor="ctr"/>
                </a:tc>
                <a:tc>
                  <a:txBody>
                    <a:bodyPr/>
                    <a:lstStyle/>
                    <a:p>
                      <a:pPr marL="342900" lvl="0" indent="-342900">
                        <a:buFont typeface="Wingdings" panose="05000000000000000000" pitchFamily="2" charset="2"/>
                        <a:buChar char=""/>
                        <a:tabLst>
                          <a:tab pos="457200" algn="l"/>
                        </a:tabLst>
                      </a:pPr>
                      <a:r>
                        <a:rPr lang="zh-TW" sz="1400" kern="100" dirty="0">
                          <a:effectLst/>
                        </a:rPr>
                        <a:t>商工行政：</a:t>
                      </a:r>
                      <a:r>
                        <a:rPr lang="en-US" sz="1400" kern="100" dirty="0">
                          <a:effectLst/>
                        </a:rPr>
                        <a:t>NT$ 4,500</a:t>
                      </a:r>
                      <a:endParaRPr lang="zh-TW" sz="1400" kern="100" dirty="0">
                        <a:effectLst/>
                      </a:endParaRPr>
                    </a:p>
                    <a:p>
                      <a:pPr marL="342900" lvl="0" indent="-342900">
                        <a:buFont typeface="Wingdings" panose="05000000000000000000" pitchFamily="2" charset="2"/>
                        <a:buChar char=""/>
                        <a:tabLst>
                          <a:tab pos="457200" algn="l"/>
                        </a:tabLst>
                      </a:pPr>
                      <a:r>
                        <a:rPr lang="zh-TW" sz="1400" kern="100" dirty="0">
                          <a:effectLst/>
                        </a:rPr>
                        <a:t>政府資料開放：</a:t>
                      </a:r>
                      <a:r>
                        <a:rPr lang="en-US" sz="1400" kern="100" dirty="0">
                          <a:effectLst/>
                        </a:rPr>
                        <a:t>NT$ 4,500</a:t>
                      </a:r>
                      <a:endParaRPr lang="zh-TW" sz="1400" kern="100" dirty="0">
                        <a:effectLst/>
                      </a:endParaRPr>
                    </a:p>
                    <a:p>
                      <a:pPr marL="342900" lvl="0" indent="-342900">
                        <a:buFont typeface="Wingdings" panose="05000000000000000000" pitchFamily="2" charset="2"/>
                        <a:buChar char=""/>
                        <a:tabLst>
                          <a:tab pos="457200" algn="l"/>
                        </a:tabLst>
                      </a:pPr>
                      <a:r>
                        <a:rPr lang="zh-TW" sz="1400" kern="100" dirty="0">
                          <a:effectLst/>
                        </a:rPr>
                        <a:t>比房網資料：</a:t>
                      </a:r>
                      <a:r>
                        <a:rPr lang="en-US" sz="1400" kern="100" dirty="0">
                          <a:effectLst/>
                        </a:rPr>
                        <a:t>NT$ 9,500</a:t>
                      </a:r>
                      <a:endParaRPr lang="zh-TW" sz="1400" kern="100" dirty="0">
                        <a:effectLst/>
                      </a:endParaRPr>
                    </a:p>
                    <a:p>
                      <a:pPr marL="342900" lvl="0" indent="-342900">
                        <a:buFont typeface="Wingdings" panose="05000000000000000000" pitchFamily="2" charset="2"/>
                        <a:buChar char=""/>
                        <a:tabLst>
                          <a:tab pos="457200" algn="l"/>
                        </a:tabLst>
                      </a:pPr>
                      <a:r>
                        <a:rPr lang="zh-TW" sz="1400" u="none" kern="100" dirty="0">
                          <a:effectLst/>
                        </a:rPr>
                        <a:t>每月</a:t>
                      </a:r>
                      <a:r>
                        <a:rPr lang="en-US" sz="1400" u="none" kern="100" dirty="0">
                          <a:effectLst/>
                        </a:rPr>
                        <a:t>NT$ 18,500</a:t>
                      </a:r>
                      <a:endParaRPr lang="zh-TW" sz="1400" u="none"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0" marR="0" marT="0" marB="0"/>
                </a:tc>
                <a:tc>
                  <a:txBody>
                    <a:bodyPr/>
                    <a:lstStyle/>
                    <a:p>
                      <a:pPr algn="r"/>
                      <a:r>
                        <a:rPr lang="en-US" sz="1400" kern="100" dirty="0">
                          <a:effectLst/>
                        </a:rPr>
                        <a:t>222,000</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0" marR="0" marT="0" marB="0" anchor="ctr"/>
                </a:tc>
                <a:extLst>
                  <a:ext uri="{0D108BD9-81ED-4DB2-BD59-A6C34878D82A}">
                    <a16:rowId xmlns:a16="http://schemas.microsoft.com/office/drawing/2014/main" val="1147869102"/>
                  </a:ext>
                </a:extLst>
              </a:tr>
              <a:tr h="294710">
                <a:tc vMerge="1">
                  <a:txBody>
                    <a:bodyPr/>
                    <a:lstStyle/>
                    <a:p>
                      <a:endParaRPr lang="zh-TW" sz="1400" kern="100" dirty="0">
                        <a:effectLst/>
                        <a:latin typeface="Calibri" panose="020F0502020204030204" pitchFamily="34" charset="0"/>
                        <a:cs typeface="Times New Roman" panose="02020603050405020304" pitchFamily="18" charset="0"/>
                      </a:endParaRPr>
                    </a:p>
                  </a:txBody>
                  <a:tcPr marL="78268" marR="78268" marT="38853" marB="38853"/>
                </a:tc>
                <a:tc>
                  <a:txBody>
                    <a:bodyPr/>
                    <a:lstStyle/>
                    <a:p>
                      <a:pPr algn="ctr"/>
                      <a:endParaRPr lang="zh-TW" sz="1400" b="1" kern="100" dirty="0">
                        <a:effectLst/>
                        <a:latin typeface="Calibri" panose="020F0502020204030204" pitchFamily="34" charset="0"/>
                        <a:cs typeface="Times New Roman" panose="02020603050405020304" pitchFamily="18" charset="0"/>
                      </a:endParaRPr>
                    </a:p>
                  </a:txBody>
                  <a:tcPr marL="7883" marR="7883" marT="7883" marB="0" anchor="ctr"/>
                </a:tc>
                <a:tc>
                  <a:txBody>
                    <a:bodyPr/>
                    <a:lstStyle/>
                    <a:p>
                      <a:pPr algn="ctr"/>
                      <a:r>
                        <a:rPr lang="zh-TW" sz="1400" kern="100" dirty="0">
                          <a:effectLst/>
                        </a:rPr>
                        <a:t>合計</a:t>
                      </a:r>
                      <a:r>
                        <a:rPr lang="en-US" altLang="zh-TW" sz="1400" kern="100" dirty="0">
                          <a:effectLst/>
                        </a:rPr>
                        <a:t>(A)</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0" marR="0" marT="0" marB="0">
                    <a:solidFill>
                      <a:srgbClr val="92D050"/>
                    </a:solidFill>
                  </a:tcPr>
                </a:tc>
                <a:tc>
                  <a:txBody>
                    <a:bodyPr/>
                    <a:lstStyle/>
                    <a:p>
                      <a:pPr algn="r"/>
                      <a:r>
                        <a:rPr lang="en-US" altLang="zh-TW" sz="1400" kern="100" dirty="0">
                          <a:effectLst/>
                        </a:rPr>
                        <a:t>843</a:t>
                      </a:r>
                      <a:r>
                        <a:rPr lang="en-US" sz="1400" kern="100" dirty="0">
                          <a:effectLst/>
                        </a:rPr>
                        <a:t>,</a:t>
                      </a:r>
                      <a:r>
                        <a:rPr lang="en-US" altLang="zh-TW" sz="1400" kern="100" dirty="0">
                          <a:effectLst/>
                        </a:rPr>
                        <a:t>6</a:t>
                      </a:r>
                      <a:r>
                        <a:rPr lang="en-US" sz="1400" kern="100" dirty="0">
                          <a:effectLst/>
                        </a:rPr>
                        <a:t>84</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0" marR="0" marT="0" marB="0">
                    <a:solidFill>
                      <a:srgbClr val="92D050"/>
                    </a:solidFill>
                  </a:tcPr>
                </a:tc>
                <a:extLst>
                  <a:ext uri="{0D108BD9-81ED-4DB2-BD59-A6C34878D82A}">
                    <a16:rowId xmlns:a16="http://schemas.microsoft.com/office/drawing/2014/main" val="408126633"/>
                  </a:ext>
                </a:extLst>
              </a:tr>
              <a:tr h="294710">
                <a:tc>
                  <a:txBody>
                    <a:bodyPr/>
                    <a:lstStyle/>
                    <a:p>
                      <a:r>
                        <a:rPr lang="en-US" sz="1400" kern="100">
                          <a:effectLst/>
                        </a:rPr>
                        <a:t> </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8268" marR="78268" marT="38853" marB="38853"/>
                </a:tc>
                <a:tc>
                  <a:txBody>
                    <a:bodyPr/>
                    <a:lstStyle/>
                    <a:p>
                      <a:pPr algn="ctr"/>
                      <a:r>
                        <a:rPr lang="zh-TW" sz="1400" b="1" kern="100" dirty="0">
                          <a:effectLst/>
                        </a:rPr>
                        <a:t>第一年投資成本</a:t>
                      </a:r>
                      <a:r>
                        <a:rPr lang="en-US" altLang="zh-TW" sz="1400" b="1" kern="100" dirty="0">
                          <a:effectLst/>
                        </a:rPr>
                        <a:t>(B)</a:t>
                      </a:r>
                      <a:endParaRPr lang="zh-TW" sz="1400" b="1"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7883" marR="7883" marT="7883" marB="0" anchor="ctr">
                    <a:solidFill>
                      <a:srgbClr val="FFFF00"/>
                    </a:solidFill>
                  </a:tcPr>
                </a:tc>
                <a:tc>
                  <a:txBody>
                    <a:bodyPr/>
                    <a:lstStyle/>
                    <a:p>
                      <a:pPr algn="ctr"/>
                      <a:r>
                        <a:rPr lang="zh-TW" sz="1400" kern="100" dirty="0">
                          <a:solidFill>
                            <a:srgbClr val="FF0000"/>
                          </a:solidFill>
                          <a:effectLst/>
                        </a:rPr>
                        <a:t>總計</a:t>
                      </a:r>
                      <a:endParaRPr lang="zh-TW" sz="1400" kern="100" dirty="0">
                        <a:solidFill>
                          <a:srgbClr val="FF0000"/>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0" marR="0" marT="0" marB="0">
                    <a:solidFill>
                      <a:srgbClr val="FFFF00"/>
                    </a:solidFill>
                  </a:tcPr>
                </a:tc>
                <a:tc>
                  <a:txBody>
                    <a:bodyPr/>
                    <a:lstStyle/>
                    <a:p>
                      <a:pPr algn="r"/>
                      <a:r>
                        <a:rPr lang="en-US" sz="1400" kern="100" dirty="0">
                          <a:solidFill>
                            <a:srgbClr val="FF0000"/>
                          </a:solidFill>
                          <a:effectLst/>
                        </a:rPr>
                        <a:t>843,684</a:t>
                      </a:r>
                    </a:p>
                  </a:txBody>
                  <a:tcPr marL="0" marR="0" marT="0" marB="0">
                    <a:solidFill>
                      <a:srgbClr val="FFFF00"/>
                    </a:solidFill>
                  </a:tcPr>
                </a:tc>
                <a:extLst>
                  <a:ext uri="{0D108BD9-81ED-4DB2-BD59-A6C34878D82A}">
                    <a16:rowId xmlns:a16="http://schemas.microsoft.com/office/drawing/2014/main" val="2673785119"/>
                  </a:ext>
                </a:extLst>
              </a:tr>
              <a:tr h="385755">
                <a:tc>
                  <a:txBody>
                    <a:bodyPr/>
                    <a:lstStyle/>
                    <a:p>
                      <a:r>
                        <a:rPr lang="en-US" sz="1400" kern="100">
                          <a:effectLst/>
                        </a:rPr>
                        <a:t> </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8268" marR="78268" marT="38853" marB="38853"/>
                </a:tc>
                <a:tc>
                  <a:txBody>
                    <a:bodyPr/>
                    <a:lstStyle/>
                    <a:p>
                      <a:pPr algn="ctr"/>
                      <a:r>
                        <a:rPr lang="zh-TW" sz="1400" b="1" kern="100" dirty="0">
                          <a:effectLst/>
                        </a:rPr>
                        <a:t>第二年投資成本</a:t>
                      </a:r>
                      <a:r>
                        <a:rPr lang="en-US" altLang="zh-TW" sz="1400" b="1" kern="100" dirty="0">
                          <a:effectLst/>
                        </a:rPr>
                        <a:t>(C)</a:t>
                      </a:r>
                      <a:endParaRPr lang="zh-TW" sz="1400" b="1"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7883" marR="7883" marT="7883" marB="0" anchor="ctr"/>
                </a:tc>
                <a:tc>
                  <a:txBody>
                    <a:bodyPr/>
                    <a:lstStyle/>
                    <a:p>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0" marR="0" marT="0" marB="0"/>
                </a:tc>
                <a:tc>
                  <a:txBody>
                    <a:bodyPr/>
                    <a:lstStyle/>
                    <a:p>
                      <a:pPr algn="r"/>
                      <a:r>
                        <a:rPr lang="en-US" altLang="zh-TW" sz="1400" kern="100" dirty="0">
                          <a:effectLst/>
                        </a:rPr>
                        <a:t>843,684</a:t>
                      </a:r>
                    </a:p>
                  </a:txBody>
                  <a:tcPr marL="0" marR="0" marT="0" marB="0"/>
                </a:tc>
                <a:extLst>
                  <a:ext uri="{0D108BD9-81ED-4DB2-BD59-A6C34878D82A}">
                    <a16:rowId xmlns:a16="http://schemas.microsoft.com/office/drawing/2014/main" val="675054509"/>
                  </a:ext>
                </a:extLst>
              </a:tr>
              <a:tr h="294710">
                <a:tc>
                  <a:txBody>
                    <a:bodyPr/>
                    <a:lstStyle/>
                    <a:p>
                      <a:r>
                        <a:rPr lang="en-US" sz="1400" kern="100">
                          <a:effectLst/>
                        </a:rPr>
                        <a:t> </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8268" marR="78268" marT="38853" marB="38853"/>
                </a:tc>
                <a:tc>
                  <a:txBody>
                    <a:bodyPr/>
                    <a:lstStyle/>
                    <a:p>
                      <a:pPr algn="ctr"/>
                      <a:r>
                        <a:rPr lang="zh-TW" sz="1400" b="1" kern="100" dirty="0">
                          <a:effectLst/>
                        </a:rPr>
                        <a:t>第三年投資成本</a:t>
                      </a:r>
                      <a:r>
                        <a:rPr lang="en-US" altLang="zh-TW" sz="1400" b="1" kern="100" dirty="0">
                          <a:effectLst/>
                        </a:rPr>
                        <a:t>(D)</a:t>
                      </a:r>
                      <a:endParaRPr lang="zh-TW" sz="1400" b="1"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7883" marR="7883" marT="7883" marB="0" anchor="ctr"/>
                </a:tc>
                <a:tc>
                  <a:txBody>
                    <a:bodyPr/>
                    <a:lstStyle/>
                    <a:p>
                      <a:pPr algn="ctr"/>
                      <a:r>
                        <a:rPr lang="en-US" sz="1400" kern="100" dirty="0">
                          <a:effectLst/>
                        </a:rPr>
                        <a:t> </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0" marR="0" marT="0" marB="0"/>
                </a:tc>
                <a:tc>
                  <a:txBody>
                    <a:bodyPr/>
                    <a:lstStyle/>
                    <a:p>
                      <a:pPr algn="r"/>
                      <a:r>
                        <a:rPr lang="en-US" altLang="zh-TW" sz="1400" kern="100" dirty="0">
                          <a:effectLst/>
                        </a:rPr>
                        <a:t>843,684</a:t>
                      </a:r>
                    </a:p>
                  </a:txBody>
                  <a:tcPr marL="0" marR="0" marT="0" marB="0"/>
                </a:tc>
                <a:extLst>
                  <a:ext uri="{0D108BD9-81ED-4DB2-BD59-A6C34878D82A}">
                    <a16:rowId xmlns:a16="http://schemas.microsoft.com/office/drawing/2014/main" val="4138855291"/>
                  </a:ext>
                </a:extLst>
              </a:tr>
              <a:tr h="294710">
                <a:tc>
                  <a:txBody>
                    <a:bodyPr/>
                    <a:lstStyle/>
                    <a:p>
                      <a:r>
                        <a:rPr lang="en-US" sz="1400" kern="100" dirty="0">
                          <a:effectLst/>
                        </a:rPr>
                        <a:t> </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78268" marR="78268" marT="38853" marB="38853"/>
                </a:tc>
                <a:tc>
                  <a:txBody>
                    <a:bodyPr/>
                    <a:lstStyle/>
                    <a:p>
                      <a:pPr algn="ctr"/>
                      <a:r>
                        <a:rPr lang="zh-TW" sz="1400" b="1" kern="100" dirty="0">
                          <a:effectLst/>
                        </a:rPr>
                        <a:t>三年</a:t>
                      </a:r>
                      <a:r>
                        <a:rPr lang="zh-TW" altLang="en-US" sz="1400" b="1" kern="100" dirty="0">
                          <a:effectLst/>
                        </a:rPr>
                        <a:t>總</a:t>
                      </a:r>
                      <a:r>
                        <a:rPr lang="zh-TW" sz="1400" b="1" kern="100" dirty="0">
                          <a:effectLst/>
                        </a:rPr>
                        <a:t>投資成本</a:t>
                      </a:r>
                      <a:endParaRPr lang="zh-TW" sz="1400" b="1"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7883" marR="7883" marT="7883" marB="0" anchor="ctr">
                    <a:solidFill>
                      <a:srgbClr val="CBDDE9"/>
                    </a:solidFill>
                  </a:tcPr>
                </a:tc>
                <a:tc>
                  <a:txBody>
                    <a:bodyPr/>
                    <a:lstStyle/>
                    <a:p>
                      <a:pPr algn="ctr"/>
                      <a:r>
                        <a:rPr lang="zh-TW" sz="1400" kern="100" dirty="0">
                          <a:solidFill>
                            <a:srgbClr val="FF0000"/>
                          </a:solidFill>
                          <a:effectLst/>
                        </a:rPr>
                        <a:t>總計</a:t>
                      </a:r>
                      <a:endParaRPr lang="zh-TW" sz="1400" kern="100" dirty="0">
                        <a:solidFill>
                          <a:srgbClr val="FF0000"/>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0" marR="0" marT="0" marB="0">
                    <a:solidFill>
                      <a:srgbClr val="CBDDE9"/>
                    </a:solidFill>
                  </a:tcPr>
                </a:tc>
                <a:tc>
                  <a:txBody>
                    <a:bodyPr/>
                    <a:lstStyle/>
                    <a:p>
                      <a:pPr algn="r"/>
                      <a:r>
                        <a:rPr lang="en-US" altLang="zh-TW" sz="1400" kern="100" dirty="0">
                          <a:solidFill>
                            <a:srgbClr val="FF0000"/>
                          </a:solidFill>
                          <a:effectLst/>
                        </a:rPr>
                        <a:t>2</a:t>
                      </a:r>
                      <a:r>
                        <a:rPr lang="en-US" sz="1400" kern="100" dirty="0">
                          <a:solidFill>
                            <a:srgbClr val="FF0000"/>
                          </a:solidFill>
                          <a:effectLst/>
                        </a:rPr>
                        <a:t>,</a:t>
                      </a:r>
                      <a:r>
                        <a:rPr lang="en-US" altLang="zh-TW" sz="1400" kern="100" dirty="0">
                          <a:solidFill>
                            <a:srgbClr val="FF0000"/>
                          </a:solidFill>
                          <a:effectLst/>
                        </a:rPr>
                        <a:t>531</a:t>
                      </a:r>
                      <a:r>
                        <a:rPr lang="en-US" sz="1400" kern="100" dirty="0">
                          <a:solidFill>
                            <a:srgbClr val="FF0000"/>
                          </a:solidFill>
                          <a:effectLst/>
                        </a:rPr>
                        <a:t>,</a:t>
                      </a:r>
                      <a:r>
                        <a:rPr lang="en-US" altLang="zh-TW" sz="1400" kern="100" dirty="0">
                          <a:solidFill>
                            <a:srgbClr val="FF0000"/>
                          </a:solidFill>
                          <a:effectLst/>
                        </a:rPr>
                        <a:t>052</a:t>
                      </a:r>
                      <a:endParaRPr lang="zh-TW" sz="1400" kern="100" dirty="0">
                        <a:solidFill>
                          <a:srgbClr val="FF0000"/>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0" marR="0" marT="0" marB="0">
                    <a:solidFill>
                      <a:srgbClr val="CBDDE9"/>
                    </a:solidFill>
                  </a:tcPr>
                </a:tc>
                <a:extLst>
                  <a:ext uri="{0D108BD9-81ED-4DB2-BD59-A6C34878D82A}">
                    <a16:rowId xmlns:a16="http://schemas.microsoft.com/office/drawing/2014/main" val="4005652400"/>
                  </a:ext>
                </a:extLst>
              </a:tr>
            </a:tbl>
          </a:graphicData>
        </a:graphic>
      </p:graphicFrame>
    </p:spTree>
    <p:extLst>
      <p:ext uri="{BB962C8B-B14F-4D97-AF65-F5344CB8AC3E}">
        <p14:creationId xmlns:p14="http://schemas.microsoft.com/office/powerpoint/2010/main" val="27568048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41DDD2C-6C43-ED67-E34F-299DD0A69510}"/>
              </a:ext>
            </a:extLst>
          </p:cNvPr>
          <p:cNvSpPr>
            <a:spLocks noGrp="1"/>
          </p:cNvSpPr>
          <p:nvPr>
            <p:ph type="title"/>
          </p:nvPr>
        </p:nvSpPr>
        <p:spPr>
          <a:xfrm>
            <a:off x="440267" y="71438"/>
            <a:ext cx="10900833" cy="540000"/>
          </a:xfrm>
          <a:noFill/>
          <a:ln>
            <a:noFill/>
          </a:ln>
        </p:spPr>
        <p:txBody>
          <a:bodyPr spcFirstLastPara="1" wrap="square" lIns="88143" tIns="44059" rIns="88143" bIns="44059" anchor="ctr" anchorCtr="0">
            <a:noAutofit/>
          </a:bodyPr>
          <a:lstStyle/>
          <a:p>
            <a:pPr>
              <a:buSzPts val="1400"/>
            </a:pPr>
            <a:r>
              <a:rPr lang="zh-TW" altLang="en-US" b="1" dirty="0">
                <a:solidFill>
                  <a:schemeClr val="tx1"/>
                </a:solidFill>
              </a:rPr>
              <a:t>專案時程</a:t>
            </a:r>
          </a:p>
        </p:txBody>
      </p:sp>
      <p:graphicFrame>
        <p:nvGraphicFramePr>
          <p:cNvPr id="30" name="表格 29">
            <a:extLst>
              <a:ext uri="{FF2B5EF4-FFF2-40B4-BE49-F238E27FC236}">
                <a16:creationId xmlns:a16="http://schemas.microsoft.com/office/drawing/2014/main" id="{6E69CE76-BAF2-32CE-9BDC-6ED94C374894}"/>
              </a:ext>
            </a:extLst>
          </p:cNvPr>
          <p:cNvGraphicFramePr>
            <a:graphicFrameLocks noGrp="1"/>
          </p:cNvGraphicFramePr>
          <p:nvPr>
            <p:extLst>
              <p:ext uri="{D42A27DB-BD31-4B8C-83A1-F6EECF244321}">
                <p14:modId xmlns:p14="http://schemas.microsoft.com/office/powerpoint/2010/main" val="1792235470"/>
              </p:ext>
            </p:extLst>
          </p:nvPr>
        </p:nvGraphicFramePr>
        <p:xfrm>
          <a:off x="647087" y="2187332"/>
          <a:ext cx="10198708" cy="3760882"/>
        </p:xfrm>
        <a:graphic>
          <a:graphicData uri="http://schemas.openxmlformats.org/drawingml/2006/table">
            <a:tbl>
              <a:tblPr firstRow="1" bandRow="1">
                <a:tableStyleId>{5C22544A-7EE6-4342-B048-85BDC9FD1C3A}</a:tableStyleId>
              </a:tblPr>
              <a:tblGrid>
                <a:gridCol w="599924">
                  <a:extLst>
                    <a:ext uri="{9D8B030D-6E8A-4147-A177-3AD203B41FA5}">
                      <a16:colId xmlns:a16="http://schemas.microsoft.com/office/drawing/2014/main" val="3448692554"/>
                    </a:ext>
                  </a:extLst>
                </a:gridCol>
                <a:gridCol w="599924">
                  <a:extLst>
                    <a:ext uri="{9D8B030D-6E8A-4147-A177-3AD203B41FA5}">
                      <a16:colId xmlns:a16="http://schemas.microsoft.com/office/drawing/2014/main" val="2736596486"/>
                    </a:ext>
                  </a:extLst>
                </a:gridCol>
                <a:gridCol w="599924">
                  <a:extLst>
                    <a:ext uri="{9D8B030D-6E8A-4147-A177-3AD203B41FA5}">
                      <a16:colId xmlns:a16="http://schemas.microsoft.com/office/drawing/2014/main" val="3173777523"/>
                    </a:ext>
                  </a:extLst>
                </a:gridCol>
                <a:gridCol w="599924">
                  <a:extLst>
                    <a:ext uri="{9D8B030D-6E8A-4147-A177-3AD203B41FA5}">
                      <a16:colId xmlns:a16="http://schemas.microsoft.com/office/drawing/2014/main" val="3263157560"/>
                    </a:ext>
                  </a:extLst>
                </a:gridCol>
                <a:gridCol w="599924">
                  <a:extLst>
                    <a:ext uri="{9D8B030D-6E8A-4147-A177-3AD203B41FA5}">
                      <a16:colId xmlns:a16="http://schemas.microsoft.com/office/drawing/2014/main" val="4114689084"/>
                    </a:ext>
                  </a:extLst>
                </a:gridCol>
                <a:gridCol w="599924">
                  <a:extLst>
                    <a:ext uri="{9D8B030D-6E8A-4147-A177-3AD203B41FA5}">
                      <a16:colId xmlns:a16="http://schemas.microsoft.com/office/drawing/2014/main" val="792606937"/>
                    </a:ext>
                  </a:extLst>
                </a:gridCol>
                <a:gridCol w="599924">
                  <a:extLst>
                    <a:ext uri="{9D8B030D-6E8A-4147-A177-3AD203B41FA5}">
                      <a16:colId xmlns:a16="http://schemas.microsoft.com/office/drawing/2014/main" val="2855124468"/>
                    </a:ext>
                  </a:extLst>
                </a:gridCol>
                <a:gridCol w="599924">
                  <a:extLst>
                    <a:ext uri="{9D8B030D-6E8A-4147-A177-3AD203B41FA5}">
                      <a16:colId xmlns:a16="http://schemas.microsoft.com/office/drawing/2014/main" val="599428759"/>
                    </a:ext>
                  </a:extLst>
                </a:gridCol>
                <a:gridCol w="599924">
                  <a:extLst>
                    <a:ext uri="{9D8B030D-6E8A-4147-A177-3AD203B41FA5}">
                      <a16:colId xmlns:a16="http://schemas.microsoft.com/office/drawing/2014/main" val="2934274034"/>
                    </a:ext>
                  </a:extLst>
                </a:gridCol>
                <a:gridCol w="599924">
                  <a:extLst>
                    <a:ext uri="{9D8B030D-6E8A-4147-A177-3AD203B41FA5}">
                      <a16:colId xmlns:a16="http://schemas.microsoft.com/office/drawing/2014/main" val="802696393"/>
                    </a:ext>
                  </a:extLst>
                </a:gridCol>
                <a:gridCol w="599924">
                  <a:extLst>
                    <a:ext uri="{9D8B030D-6E8A-4147-A177-3AD203B41FA5}">
                      <a16:colId xmlns:a16="http://schemas.microsoft.com/office/drawing/2014/main" val="2991725138"/>
                    </a:ext>
                  </a:extLst>
                </a:gridCol>
                <a:gridCol w="599924">
                  <a:extLst>
                    <a:ext uri="{9D8B030D-6E8A-4147-A177-3AD203B41FA5}">
                      <a16:colId xmlns:a16="http://schemas.microsoft.com/office/drawing/2014/main" val="3140556800"/>
                    </a:ext>
                  </a:extLst>
                </a:gridCol>
                <a:gridCol w="599924">
                  <a:extLst>
                    <a:ext uri="{9D8B030D-6E8A-4147-A177-3AD203B41FA5}">
                      <a16:colId xmlns:a16="http://schemas.microsoft.com/office/drawing/2014/main" val="1275871784"/>
                    </a:ext>
                  </a:extLst>
                </a:gridCol>
                <a:gridCol w="599924">
                  <a:extLst>
                    <a:ext uri="{9D8B030D-6E8A-4147-A177-3AD203B41FA5}">
                      <a16:colId xmlns:a16="http://schemas.microsoft.com/office/drawing/2014/main" val="3987286735"/>
                    </a:ext>
                  </a:extLst>
                </a:gridCol>
                <a:gridCol w="599924">
                  <a:extLst>
                    <a:ext uri="{9D8B030D-6E8A-4147-A177-3AD203B41FA5}">
                      <a16:colId xmlns:a16="http://schemas.microsoft.com/office/drawing/2014/main" val="4044212710"/>
                    </a:ext>
                  </a:extLst>
                </a:gridCol>
                <a:gridCol w="599924">
                  <a:extLst>
                    <a:ext uri="{9D8B030D-6E8A-4147-A177-3AD203B41FA5}">
                      <a16:colId xmlns:a16="http://schemas.microsoft.com/office/drawing/2014/main" val="1662094171"/>
                    </a:ext>
                  </a:extLst>
                </a:gridCol>
                <a:gridCol w="599924">
                  <a:extLst>
                    <a:ext uri="{9D8B030D-6E8A-4147-A177-3AD203B41FA5}">
                      <a16:colId xmlns:a16="http://schemas.microsoft.com/office/drawing/2014/main" val="669450157"/>
                    </a:ext>
                  </a:extLst>
                </a:gridCol>
              </a:tblGrid>
              <a:tr h="855536">
                <a:tc>
                  <a:txBody>
                    <a:bodyPr/>
                    <a:lstStyle/>
                    <a:p>
                      <a:pPr algn="ctr"/>
                      <a:r>
                        <a:rPr lang="en-US" altLang="zh-TW" sz="1200" dirty="0">
                          <a:latin typeface="微軟正黑體" panose="020B0604030504040204" pitchFamily="34" charset="-120"/>
                          <a:ea typeface="微軟正黑體" panose="020B0604030504040204" pitchFamily="34" charset="-120"/>
                        </a:rPr>
                        <a:t>1</a:t>
                      </a:r>
                      <a:r>
                        <a:rPr lang="zh-TW" altLang="en-US" sz="1200" dirty="0">
                          <a:latin typeface="微軟正黑體" panose="020B0604030504040204" pitchFamily="34" charset="-120"/>
                          <a:ea typeface="微軟正黑體" panose="020B0604030504040204" pitchFamily="34" charset="-120"/>
                        </a:rPr>
                        <a:t>月</a:t>
                      </a:r>
                    </a:p>
                  </a:txBody>
                  <a:tcPr anchor="ctr">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solidFill>
                      <a:srgbClr val="44546A"/>
                    </a:solidFill>
                  </a:tcPr>
                </a:tc>
                <a:tc>
                  <a:txBody>
                    <a:bodyPr/>
                    <a:lstStyle/>
                    <a:p>
                      <a:pPr algn="ctr"/>
                      <a:r>
                        <a:rPr lang="en-US" altLang="zh-TW" sz="1200" dirty="0">
                          <a:latin typeface="微軟正黑體" panose="020B0604030504040204" pitchFamily="34" charset="-120"/>
                          <a:ea typeface="微軟正黑體" panose="020B0604030504040204" pitchFamily="34" charset="-120"/>
                        </a:rPr>
                        <a:t>2</a:t>
                      </a:r>
                      <a:r>
                        <a:rPr lang="zh-TW" altLang="en-US" sz="1200" dirty="0">
                          <a:latin typeface="微軟正黑體" panose="020B0604030504040204" pitchFamily="34" charset="-120"/>
                          <a:ea typeface="微軟正黑體" panose="020B0604030504040204" pitchFamily="34" charset="-120"/>
                        </a:rPr>
                        <a:t>月</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solidFill>
                      <a:srgbClr val="44546A"/>
                    </a:solidFill>
                  </a:tcPr>
                </a:tc>
                <a:tc>
                  <a:txBody>
                    <a:bodyPr/>
                    <a:lstStyle/>
                    <a:p>
                      <a:pPr algn="ctr"/>
                      <a:r>
                        <a:rPr lang="en-US" altLang="zh-TW" sz="1200" dirty="0">
                          <a:latin typeface="微軟正黑體" panose="020B0604030504040204" pitchFamily="34" charset="-120"/>
                          <a:ea typeface="微軟正黑體" panose="020B0604030504040204" pitchFamily="34" charset="-120"/>
                        </a:rPr>
                        <a:t>3</a:t>
                      </a:r>
                      <a:r>
                        <a:rPr lang="zh-TW" altLang="en-US" sz="1200" dirty="0">
                          <a:latin typeface="微軟正黑體" panose="020B0604030504040204" pitchFamily="34" charset="-120"/>
                          <a:ea typeface="微軟正黑體" panose="020B0604030504040204" pitchFamily="34" charset="-120"/>
                        </a:rPr>
                        <a:t>月</a:t>
                      </a:r>
                    </a:p>
                  </a:txBody>
                  <a:tcPr anchor="ctr">
                    <a:lnL w="12700" cap="flat" cmpd="sng" algn="ctr">
                      <a:solidFill>
                        <a:schemeClr val="bg1"/>
                      </a:solidFill>
                      <a:prstDash val="solid"/>
                      <a:round/>
                      <a:headEnd type="none" w="med" len="med"/>
                      <a:tailEnd type="none" w="med" len="med"/>
                    </a:lnL>
                    <a:lnB w="38100" cap="flat" cmpd="sng" algn="ctr">
                      <a:solidFill>
                        <a:schemeClr val="bg1"/>
                      </a:solidFill>
                      <a:prstDash val="solid"/>
                      <a:round/>
                      <a:headEnd type="none" w="med" len="med"/>
                      <a:tailEnd type="none" w="med" len="med"/>
                    </a:lnB>
                    <a:solidFill>
                      <a:srgbClr val="44546A"/>
                    </a:solidFill>
                  </a:tcPr>
                </a:tc>
                <a:tc>
                  <a:txBody>
                    <a:bodyPr/>
                    <a:lstStyle/>
                    <a:p>
                      <a:pPr algn="ctr"/>
                      <a:r>
                        <a:rPr lang="en-US" altLang="zh-TW" sz="1200" dirty="0">
                          <a:latin typeface="微軟正黑體" panose="020B0604030504040204" pitchFamily="34" charset="-120"/>
                          <a:ea typeface="微軟正黑體" panose="020B0604030504040204" pitchFamily="34" charset="-120"/>
                        </a:rPr>
                        <a:t>4</a:t>
                      </a:r>
                      <a:r>
                        <a:rPr lang="zh-TW" altLang="en-US" sz="1200" dirty="0">
                          <a:latin typeface="微軟正黑體" panose="020B0604030504040204" pitchFamily="34" charset="-120"/>
                          <a:ea typeface="微軟正黑體" panose="020B0604030504040204" pitchFamily="34" charset="-120"/>
                        </a:rPr>
                        <a:t>月</a:t>
                      </a:r>
                    </a:p>
                  </a:txBody>
                  <a:tcPr anchor="ctr">
                    <a:lnB w="38100" cap="flat" cmpd="sng" algn="ctr">
                      <a:solidFill>
                        <a:schemeClr val="bg1"/>
                      </a:solidFill>
                      <a:prstDash val="solid"/>
                      <a:round/>
                      <a:headEnd type="none" w="med" len="med"/>
                      <a:tailEnd type="none" w="med" len="med"/>
                    </a:lnB>
                    <a:solidFill>
                      <a:srgbClr val="44546A"/>
                    </a:solidFill>
                  </a:tcPr>
                </a:tc>
                <a:tc>
                  <a:txBody>
                    <a:bodyPr/>
                    <a:lstStyle/>
                    <a:p>
                      <a:pPr algn="ctr"/>
                      <a:r>
                        <a:rPr lang="en-US" altLang="zh-TW" sz="1200" dirty="0">
                          <a:latin typeface="微軟正黑體" panose="020B0604030504040204" pitchFamily="34" charset="-120"/>
                          <a:ea typeface="微軟正黑體" panose="020B0604030504040204" pitchFamily="34" charset="-120"/>
                        </a:rPr>
                        <a:t>5</a:t>
                      </a:r>
                      <a:r>
                        <a:rPr lang="zh-TW" altLang="en-US" sz="1200" dirty="0">
                          <a:latin typeface="微軟正黑體" panose="020B0604030504040204" pitchFamily="34" charset="-120"/>
                          <a:ea typeface="微軟正黑體" panose="020B0604030504040204" pitchFamily="34" charset="-120"/>
                        </a:rPr>
                        <a:t>月</a:t>
                      </a:r>
                    </a:p>
                  </a:txBody>
                  <a:tcPr anchor="ctr">
                    <a:solidFill>
                      <a:srgbClr val="44546A"/>
                    </a:solidFill>
                  </a:tcPr>
                </a:tc>
                <a:tc>
                  <a:txBody>
                    <a:bodyPr/>
                    <a:lstStyle/>
                    <a:p>
                      <a:pPr algn="ctr"/>
                      <a:r>
                        <a:rPr lang="en-US" altLang="zh-TW" sz="1200" dirty="0">
                          <a:latin typeface="微軟正黑體" panose="020B0604030504040204" pitchFamily="34" charset="-120"/>
                          <a:ea typeface="微軟正黑體" panose="020B0604030504040204" pitchFamily="34" charset="-120"/>
                        </a:rPr>
                        <a:t>6</a:t>
                      </a:r>
                      <a:r>
                        <a:rPr lang="zh-TW" altLang="en-US" sz="1200" dirty="0">
                          <a:latin typeface="微軟正黑體" panose="020B0604030504040204" pitchFamily="34" charset="-120"/>
                          <a:ea typeface="微軟正黑體" panose="020B0604030504040204" pitchFamily="34" charset="-120"/>
                        </a:rPr>
                        <a:t>月</a:t>
                      </a:r>
                    </a:p>
                  </a:txBody>
                  <a:tcPr anchor="ctr">
                    <a:solidFill>
                      <a:srgbClr val="44546A"/>
                    </a:solidFill>
                  </a:tcPr>
                </a:tc>
                <a:tc>
                  <a:txBody>
                    <a:bodyPr/>
                    <a:lstStyle/>
                    <a:p>
                      <a:pPr algn="ctr"/>
                      <a:r>
                        <a:rPr lang="en-US" altLang="zh-TW" sz="1200" dirty="0">
                          <a:latin typeface="微軟正黑體" panose="020B0604030504040204" pitchFamily="34" charset="-120"/>
                          <a:ea typeface="微軟正黑體" panose="020B0604030504040204" pitchFamily="34" charset="-120"/>
                        </a:rPr>
                        <a:t>7</a:t>
                      </a:r>
                      <a:r>
                        <a:rPr lang="zh-TW" altLang="en-US" sz="1200" dirty="0">
                          <a:latin typeface="微軟正黑體" panose="020B0604030504040204" pitchFamily="34" charset="-120"/>
                          <a:ea typeface="微軟正黑體" panose="020B0604030504040204" pitchFamily="34" charset="-120"/>
                        </a:rPr>
                        <a:t>月</a:t>
                      </a:r>
                    </a:p>
                  </a:txBody>
                  <a:tcPr anchor="ctr">
                    <a:solidFill>
                      <a:srgbClr val="44546A"/>
                    </a:solidFill>
                  </a:tcPr>
                </a:tc>
                <a:tc>
                  <a:txBody>
                    <a:bodyPr/>
                    <a:lstStyle/>
                    <a:p>
                      <a:pPr algn="ctr"/>
                      <a:r>
                        <a:rPr lang="en-US" altLang="zh-TW" sz="1200" dirty="0">
                          <a:latin typeface="微軟正黑體" panose="020B0604030504040204" pitchFamily="34" charset="-120"/>
                          <a:ea typeface="微軟正黑體" panose="020B0604030504040204" pitchFamily="34" charset="-120"/>
                        </a:rPr>
                        <a:t>8</a:t>
                      </a:r>
                      <a:r>
                        <a:rPr lang="zh-TW" altLang="en-US" sz="1200" dirty="0">
                          <a:latin typeface="微軟正黑體" panose="020B0604030504040204" pitchFamily="34" charset="-120"/>
                          <a:ea typeface="微軟正黑體" panose="020B0604030504040204" pitchFamily="34" charset="-120"/>
                        </a:rPr>
                        <a:t>月</a:t>
                      </a:r>
                    </a:p>
                  </a:txBody>
                  <a:tcPr anchor="ctr">
                    <a:solidFill>
                      <a:srgbClr val="44546A"/>
                    </a:solidFill>
                  </a:tcPr>
                </a:tc>
                <a:tc>
                  <a:txBody>
                    <a:bodyPr/>
                    <a:lstStyle/>
                    <a:p>
                      <a:pPr algn="ctr"/>
                      <a:r>
                        <a:rPr lang="en-US" altLang="zh-TW" sz="1200" dirty="0">
                          <a:latin typeface="微軟正黑體" panose="020B0604030504040204" pitchFamily="34" charset="-120"/>
                          <a:ea typeface="微軟正黑體" panose="020B0604030504040204" pitchFamily="34" charset="-120"/>
                        </a:rPr>
                        <a:t>9</a:t>
                      </a:r>
                      <a:r>
                        <a:rPr lang="zh-TW" altLang="en-US" sz="1200" dirty="0">
                          <a:latin typeface="微軟正黑體" panose="020B0604030504040204" pitchFamily="34" charset="-120"/>
                          <a:ea typeface="微軟正黑體" panose="020B0604030504040204" pitchFamily="34" charset="-120"/>
                        </a:rPr>
                        <a:t>月</a:t>
                      </a:r>
                    </a:p>
                  </a:txBody>
                  <a:tcPr anchor="ctr">
                    <a:solidFill>
                      <a:srgbClr val="44546A"/>
                    </a:solidFill>
                  </a:tcPr>
                </a:tc>
                <a:tc>
                  <a:txBody>
                    <a:bodyPr/>
                    <a:lstStyle/>
                    <a:p>
                      <a:pPr algn="ctr"/>
                      <a:r>
                        <a:rPr lang="en-US" altLang="zh-TW" sz="1200" dirty="0">
                          <a:latin typeface="微軟正黑體" panose="020B0604030504040204" pitchFamily="34" charset="-120"/>
                          <a:ea typeface="微軟正黑體" panose="020B0604030504040204" pitchFamily="34" charset="-120"/>
                        </a:rPr>
                        <a:t>10</a:t>
                      </a:r>
                      <a:r>
                        <a:rPr lang="zh-TW" altLang="en-US" sz="1200" dirty="0">
                          <a:latin typeface="微軟正黑體" panose="020B0604030504040204" pitchFamily="34" charset="-120"/>
                          <a:ea typeface="微軟正黑體" panose="020B0604030504040204" pitchFamily="34" charset="-120"/>
                        </a:rPr>
                        <a:t>月</a:t>
                      </a:r>
                    </a:p>
                  </a:txBody>
                  <a:tcPr anchor="ctr">
                    <a:solidFill>
                      <a:srgbClr val="44546A"/>
                    </a:solidFill>
                  </a:tcPr>
                </a:tc>
                <a:tc>
                  <a:txBody>
                    <a:bodyPr/>
                    <a:lstStyle/>
                    <a:p>
                      <a:pPr algn="ctr"/>
                      <a:r>
                        <a:rPr lang="en-US" altLang="zh-TW" sz="1200" dirty="0">
                          <a:latin typeface="微軟正黑體" panose="020B0604030504040204" pitchFamily="34" charset="-120"/>
                          <a:ea typeface="微軟正黑體" panose="020B0604030504040204" pitchFamily="34" charset="-120"/>
                        </a:rPr>
                        <a:t>11</a:t>
                      </a:r>
                      <a:r>
                        <a:rPr lang="zh-TW" altLang="en-US" sz="1200" dirty="0">
                          <a:latin typeface="微軟正黑體" panose="020B0604030504040204" pitchFamily="34" charset="-120"/>
                          <a:ea typeface="微軟正黑體" panose="020B0604030504040204" pitchFamily="34" charset="-120"/>
                        </a:rPr>
                        <a:t>月</a:t>
                      </a:r>
                    </a:p>
                  </a:txBody>
                  <a:tcPr anchor="ctr">
                    <a:solidFill>
                      <a:srgbClr val="44546A"/>
                    </a:solidFill>
                  </a:tcPr>
                </a:tc>
                <a:tc>
                  <a:txBody>
                    <a:bodyPr/>
                    <a:lstStyle/>
                    <a:p>
                      <a:pPr algn="ctr"/>
                      <a:r>
                        <a:rPr lang="en-US" altLang="zh-TW" sz="1200" dirty="0">
                          <a:latin typeface="微軟正黑體" panose="020B0604030504040204" pitchFamily="34" charset="-120"/>
                          <a:ea typeface="微軟正黑體" panose="020B0604030504040204" pitchFamily="34" charset="-120"/>
                        </a:rPr>
                        <a:t>12</a:t>
                      </a:r>
                      <a:r>
                        <a:rPr lang="zh-TW" altLang="en-US" sz="1200" dirty="0">
                          <a:latin typeface="微軟正黑體" panose="020B0604030504040204" pitchFamily="34" charset="-120"/>
                          <a:ea typeface="微軟正黑體" panose="020B0604030504040204" pitchFamily="34" charset="-120"/>
                        </a:rPr>
                        <a:t>月</a:t>
                      </a:r>
                    </a:p>
                  </a:txBody>
                  <a:tcPr anchor="ctr">
                    <a:lnR w="57150" cap="flat" cmpd="sng" algn="ctr">
                      <a:solidFill>
                        <a:schemeClr val="bg1"/>
                      </a:solidFill>
                      <a:prstDash val="solid"/>
                      <a:round/>
                      <a:headEnd type="none" w="med" len="med"/>
                      <a:tailEnd type="none" w="med" len="med"/>
                    </a:lnR>
                    <a:solidFill>
                      <a:srgbClr val="44546A"/>
                    </a:solidFill>
                  </a:tcPr>
                </a:tc>
                <a:tc>
                  <a:txBody>
                    <a:bodyPr/>
                    <a:lstStyle/>
                    <a:p>
                      <a:pPr algn="ctr"/>
                      <a:r>
                        <a:rPr lang="en-US" altLang="zh-TW" sz="1200" dirty="0">
                          <a:latin typeface="微軟正黑體" panose="020B0604030504040204" pitchFamily="34" charset="-120"/>
                          <a:ea typeface="微軟正黑體" panose="020B0604030504040204" pitchFamily="34" charset="-120"/>
                        </a:rPr>
                        <a:t>1</a:t>
                      </a:r>
                      <a:r>
                        <a:rPr lang="zh-TW" altLang="en-US" sz="1200" dirty="0">
                          <a:latin typeface="微軟正黑體" panose="020B0604030504040204" pitchFamily="34" charset="-120"/>
                          <a:ea typeface="微軟正黑體" panose="020B0604030504040204" pitchFamily="34" charset="-120"/>
                        </a:rPr>
                        <a:t>月</a:t>
                      </a:r>
                    </a:p>
                  </a:txBody>
                  <a:tcPr anchor="ctr">
                    <a:lnL w="57150" cap="flat" cmpd="sng" algn="ctr">
                      <a:solidFill>
                        <a:schemeClr val="bg1"/>
                      </a:solidFill>
                      <a:prstDash val="solid"/>
                      <a:round/>
                      <a:headEnd type="none" w="med" len="med"/>
                      <a:tailEnd type="none" w="med" len="med"/>
                    </a:lnL>
                    <a:solidFill>
                      <a:srgbClr val="44546A"/>
                    </a:solidFill>
                  </a:tcPr>
                </a:tc>
                <a:tc>
                  <a:txBody>
                    <a:bodyPr/>
                    <a:lstStyle/>
                    <a:p>
                      <a:pPr algn="ctr"/>
                      <a:r>
                        <a:rPr lang="en-US" altLang="zh-TW" sz="1200" dirty="0">
                          <a:latin typeface="微軟正黑體" panose="020B0604030504040204" pitchFamily="34" charset="-120"/>
                          <a:ea typeface="微軟正黑體" panose="020B0604030504040204" pitchFamily="34" charset="-120"/>
                        </a:rPr>
                        <a:t>2</a:t>
                      </a:r>
                      <a:r>
                        <a:rPr lang="zh-TW" altLang="en-US" sz="1200" dirty="0">
                          <a:latin typeface="微軟正黑體" panose="020B0604030504040204" pitchFamily="34" charset="-120"/>
                          <a:ea typeface="微軟正黑體" panose="020B0604030504040204" pitchFamily="34" charset="-120"/>
                        </a:rPr>
                        <a:t>月</a:t>
                      </a:r>
                    </a:p>
                  </a:txBody>
                  <a:tcPr anchor="ctr">
                    <a:solidFill>
                      <a:srgbClr val="44546A"/>
                    </a:solidFill>
                  </a:tcPr>
                </a:tc>
                <a:tc>
                  <a:txBody>
                    <a:bodyPr/>
                    <a:lstStyle/>
                    <a:p>
                      <a:pPr algn="ctr"/>
                      <a:r>
                        <a:rPr lang="en-US" altLang="zh-TW" sz="1200" dirty="0">
                          <a:latin typeface="微軟正黑體" panose="020B0604030504040204" pitchFamily="34" charset="-120"/>
                          <a:ea typeface="微軟正黑體" panose="020B0604030504040204" pitchFamily="34" charset="-120"/>
                        </a:rPr>
                        <a:t>3</a:t>
                      </a:r>
                      <a:r>
                        <a:rPr lang="zh-TW" altLang="en-US" sz="1200" dirty="0">
                          <a:latin typeface="微軟正黑體" panose="020B0604030504040204" pitchFamily="34" charset="-120"/>
                          <a:ea typeface="微軟正黑體" panose="020B0604030504040204" pitchFamily="34" charset="-120"/>
                        </a:rPr>
                        <a:t>月</a:t>
                      </a:r>
                    </a:p>
                  </a:txBody>
                  <a:tcPr anchor="ctr">
                    <a:solidFill>
                      <a:srgbClr val="44546A"/>
                    </a:solidFill>
                  </a:tcPr>
                </a:tc>
                <a:tc>
                  <a:txBody>
                    <a:bodyPr/>
                    <a:lstStyle/>
                    <a:p>
                      <a:pPr algn="ctr"/>
                      <a:r>
                        <a:rPr lang="en-US" altLang="zh-TW" sz="1200" dirty="0">
                          <a:latin typeface="微軟正黑體" panose="020B0604030504040204" pitchFamily="34" charset="-120"/>
                          <a:ea typeface="微軟正黑體" panose="020B0604030504040204" pitchFamily="34" charset="-120"/>
                        </a:rPr>
                        <a:t>4</a:t>
                      </a:r>
                      <a:r>
                        <a:rPr lang="zh-TW" altLang="en-US" sz="1200" dirty="0">
                          <a:latin typeface="微軟正黑體" panose="020B0604030504040204" pitchFamily="34" charset="-120"/>
                          <a:ea typeface="微軟正黑體" panose="020B0604030504040204" pitchFamily="34" charset="-120"/>
                        </a:rPr>
                        <a:t>月</a:t>
                      </a:r>
                    </a:p>
                  </a:txBody>
                  <a:tcPr anchor="ctr">
                    <a:solidFill>
                      <a:srgbClr val="44546A"/>
                    </a:solidFill>
                  </a:tcPr>
                </a:tc>
                <a:tc>
                  <a:txBody>
                    <a:bodyPr/>
                    <a:lstStyle/>
                    <a:p>
                      <a:pPr algn="ctr"/>
                      <a:r>
                        <a:rPr lang="en-US" altLang="zh-TW" sz="1200" dirty="0">
                          <a:latin typeface="微軟正黑體" panose="020B0604030504040204" pitchFamily="34" charset="-120"/>
                          <a:ea typeface="微軟正黑體" panose="020B0604030504040204" pitchFamily="34" charset="-120"/>
                        </a:rPr>
                        <a:t>5</a:t>
                      </a:r>
                      <a:r>
                        <a:rPr lang="zh-TW" altLang="en-US" sz="1200" dirty="0">
                          <a:latin typeface="微軟正黑體" panose="020B0604030504040204" pitchFamily="34" charset="-120"/>
                          <a:ea typeface="微軟正黑體" panose="020B0604030504040204" pitchFamily="34" charset="-120"/>
                        </a:rPr>
                        <a:t>月</a:t>
                      </a:r>
                    </a:p>
                  </a:txBody>
                  <a:tcPr anchor="ctr">
                    <a:solidFill>
                      <a:srgbClr val="44546A"/>
                    </a:solidFill>
                  </a:tcPr>
                </a:tc>
                <a:extLst>
                  <a:ext uri="{0D108BD9-81ED-4DB2-BD59-A6C34878D82A}">
                    <a16:rowId xmlns:a16="http://schemas.microsoft.com/office/drawing/2014/main" val="811520573"/>
                  </a:ext>
                </a:extLst>
              </a:tr>
              <a:tr h="2905346">
                <a:tc>
                  <a:txBody>
                    <a:bodyPr/>
                    <a:lstStyle/>
                    <a:p>
                      <a:pPr algn="ctr"/>
                      <a:endParaRPr lang="zh-TW" altLang="en-US" sz="1100" b="1" dirty="0">
                        <a:solidFill>
                          <a:schemeClr val="tx1"/>
                        </a:solidFill>
                        <a:latin typeface="微軟正黑體" panose="020B0604030504040204" pitchFamily="34" charset="-120"/>
                        <a:ea typeface="微軟正黑體" panose="020B0604030504040204" pitchFamily="34" charset="-120"/>
                      </a:endParaRPr>
                    </a:p>
                  </a:txBody>
                  <a:tcPr marL="36000" marR="36000" marT="36000" marB="36000" anchor="ctr">
                    <a:lnT w="38100" cap="flat" cmpd="sng" algn="ctr">
                      <a:solidFill>
                        <a:schemeClr val="bg1"/>
                      </a:solidFill>
                      <a:prstDash val="solid"/>
                      <a:round/>
                      <a:headEnd type="none" w="med" len="med"/>
                      <a:tailEnd type="none" w="med" len="med"/>
                    </a:lnT>
                    <a:solidFill>
                      <a:schemeClr val="bg1">
                        <a:lumMod val="85000"/>
                      </a:schemeClr>
                    </a:solidFill>
                  </a:tcPr>
                </a:tc>
                <a:tc>
                  <a:txBody>
                    <a:bodyPr/>
                    <a:lstStyle/>
                    <a:p>
                      <a:pPr algn="ctr"/>
                      <a:endParaRPr lang="zh-TW" altLang="en-US" sz="1100" b="1" dirty="0">
                        <a:solidFill>
                          <a:schemeClr val="tx1"/>
                        </a:solidFill>
                        <a:latin typeface="微軟正黑體" panose="020B0604030504040204" pitchFamily="34" charset="-120"/>
                        <a:ea typeface="微軟正黑體" panose="020B0604030504040204" pitchFamily="34" charset="-120"/>
                      </a:endParaRPr>
                    </a:p>
                  </a:txBody>
                  <a:tcPr marL="36000" marR="36000" marT="36000" marB="36000" anchor="ctr">
                    <a:lnT w="38100" cap="flat" cmpd="sng" algn="ctr">
                      <a:solidFill>
                        <a:schemeClr val="bg1"/>
                      </a:solidFill>
                      <a:prstDash val="solid"/>
                      <a:round/>
                      <a:headEnd type="none" w="med" len="med"/>
                      <a:tailEnd type="none" w="med" len="med"/>
                    </a:lnT>
                    <a:solidFill>
                      <a:schemeClr val="bg1">
                        <a:lumMod val="85000"/>
                      </a:schemeClr>
                    </a:solidFill>
                  </a:tcPr>
                </a:tc>
                <a:tc>
                  <a:txBody>
                    <a:bodyPr/>
                    <a:lstStyle/>
                    <a:p>
                      <a:pPr algn="ctr"/>
                      <a:endParaRPr lang="zh-TW" altLang="en-US" sz="1100" b="1" dirty="0">
                        <a:solidFill>
                          <a:schemeClr val="tx1"/>
                        </a:solidFill>
                        <a:latin typeface="微軟正黑體" panose="020B0604030504040204" pitchFamily="34" charset="-120"/>
                        <a:ea typeface="微軟正黑體" panose="020B0604030504040204" pitchFamily="34" charset="-120"/>
                      </a:endParaRPr>
                    </a:p>
                  </a:txBody>
                  <a:tcPr marL="36000" marR="36000" marT="36000" marB="36000" anchor="ctr">
                    <a:lnT w="38100" cap="flat" cmpd="sng" algn="ctr">
                      <a:solidFill>
                        <a:schemeClr val="bg1"/>
                      </a:solidFill>
                      <a:prstDash val="solid"/>
                      <a:round/>
                      <a:headEnd type="none" w="med" len="med"/>
                      <a:tailEnd type="none" w="med" len="med"/>
                    </a:lnT>
                    <a:solidFill>
                      <a:schemeClr val="bg1">
                        <a:lumMod val="85000"/>
                      </a:schemeClr>
                    </a:solidFill>
                  </a:tcPr>
                </a:tc>
                <a:tc>
                  <a:txBody>
                    <a:bodyPr/>
                    <a:lstStyle/>
                    <a:p>
                      <a:pPr algn="ctr"/>
                      <a:endParaRPr lang="zh-TW" altLang="en-US" sz="1100" b="1" dirty="0">
                        <a:solidFill>
                          <a:schemeClr val="tx1"/>
                        </a:solidFill>
                        <a:latin typeface="微軟正黑體" panose="020B0604030504040204" pitchFamily="34" charset="-120"/>
                        <a:ea typeface="微軟正黑體" panose="020B0604030504040204" pitchFamily="34" charset="-120"/>
                      </a:endParaRPr>
                    </a:p>
                  </a:txBody>
                  <a:tcPr marL="36000" marR="36000" marT="36000" marB="36000" anchor="ctr">
                    <a:lnT w="38100" cap="flat" cmpd="sng" algn="ctr">
                      <a:solidFill>
                        <a:schemeClr val="bg1"/>
                      </a:solidFill>
                      <a:prstDash val="solid"/>
                      <a:round/>
                      <a:headEnd type="none" w="med" len="med"/>
                      <a:tailEnd type="none" w="med" len="med"/>
                    </a:lnT>
                    <a:solidFill>
                      <a:schemeClr val="bg1">
                        <a:lumMod val="85000"/>
                      </a:schemeClr>
                    </a:solidFill>
                  </a:tcPr>
                </a:tc>
                <a:tc>
                  <a:txBody>
                    <a:bodyPr/>
                    <a:lstStyle/>
                    <a:p>
                      <a:pPr algn="ctr"/>
                      <a:endParaRPr lang="zh-TW" altLang="en-US" sz="1100" dirty="0">
                        <a:solidFill>
                          <a:schemeClr val="tx1"/>
                        </a:solidFill>
                        <a:latin typeface="微軟正黑體" panose="020B0604030504040204" pitchFamily="34" charset="-120"/>
                        <a:ea typeface="微軟正黑體" panose="020B0604030504040204" pitchFamily="34" charset="-120"/>
                      </a:endParaRPr>
                    </a:p>
                  </a:txBody>
                  <a:tcPr marL="36000" marR="36000" marT="36000" marB="36000" anchor="ctr">
                    <a:solidFill>
                      <a:schemeClr val="bg1">
                        <a:lumMod val="85000"/>
                      </a:schemeClr>
                    </a:solidFill>
                  </a:tcPr>
                </a:tc>
                <a:tc>
                  <a:txBody>
                    <a:bodyPr/>
                    <a:lstStyle/>
                    <a:p>
                      <a:pPr algn="ctr"/>
                      <a:endParaRPr lang="zh-TW" altLang="en-US" sz="1100" dirty="0">
                        <a:solidFill>
                          <a:schemeClr val="tx1"/>
                        </a:solidFill>
                        <a:latin typeface="微軟正黑體" panose="020B0604030504040204" pitchFamily="34" charset="-120"/>
                        <a:ea typeface="微軟正黑體" panose="020B0604030504040204" pitchFamily="34" charset="-120"/>
                      </a:endParaRPr>
                    </a:p>
                  </a:txBody>
                  <a:tcPr marL="36000" marR="36000" marT="36000" marB="36000" anchor="ctr">
                    <a:solidFill>
                      <a:schemeClr val="bg1">
                        <a:lumMod val="85000"/>
                      </a:schemeClr>
                    </a:solidFill>
                  </a:tcPr>
                </a:tc>
                <a:tc>
                  <a:txBody>
                    <a:bodyPr/>
                    <a:lstStyle/>
                    <a:p>
                      <a:pPr algn="ctr"/>
                      <a:endParaRPr lang="zh-TW" altLang="en-US" sz="1100" b="1" dirty="0">
                        <a:solidFill>
                          <a:schemeClr val="tx1"/>
                        </a:solidFill>
                        <a:latin typeface="微軟正黑體" panose="020B0604030504040204" pitchFamily="34" charset="-120"/>
                        <a:ea typeface="微軟正黑體" panose="020B0604030504040204" pitchFamily="34" charset="-120"/>
                      </a:endParaRPr>
                    </a:p>
                  </a:txBody>
                  <a:tcPr marL="36000" marR="36000" marT="36000" marB="36000" anchor="ctr">
                    <a:solidFill>
                      <a:schemeClr val="bg1">
                        <a:lumMod val="85000"/>
                      </a:schemeClr>
                    </a:solidFill>
                  </a:tcPr>
                </a:tc>
                <a:tc>
                  <a:txBody>
                    <a:bodyPr/>
                    <a:lstStyle/>
                    <a:p>
                      <a:pPr algn="ctr"/>
                      <a:endParaRPr lang="zh-TW" altLang="en-US" sz="1100" b="1" dirty="0">
                        <a:solidFill>
                          <a:schemeClr val="tx1"/>
                        </a:solidFill>
                        <a:latin typeface="微軟正黑體" panose="020B0604030504040204" pitchFamily="34" charset="-120"/>
                        <a:ea typeface="微軟正黑體" panose="020B0604030504040204" pitchFamily="34" charset="-120"/>
                      </a:endParaRPr>
                    </a:p>
                  </a:txBody>
                  <a:tcPr marL="36000" marR="36000" marT="36000" marB="36000" anchor="ctr">
                    <a:solidFill>
                      <a:schemeClr val="bg1">
                        <a:lumMod val="85000"/>
                      </a:schemeClr>
                    </a:solidFill>
                  </a:tcPr>
                </a:tc>
                <a:tc>
                  <a:txBody>
                    <a:bodyPr/>
                    <a:lstStyle/>
                    <a:p>
                      <a:pPr algn="ctr"/>
                      <a:endParaRPr lang="zh-TW" altLang="en-US" sz="1100" dirty="0">
                        <a:solidFill>
                          <a:schemeClr val="tx1"/>
                        </a:solidFill>
                        <a:latin typeface="微軟正黑體" panose="020B0604030504040204" pitchFamily="34" charset="-120"/>
                        <a:ea typeface="微軟正黑體" panose="020B0604030504040204" pitchFamily="34" charset="-120"/>
                      </a:endParaRPr>
                    </a:p>
                  </a:txBody>
                  <a:tcPr marL="36000" marR="36000" marT="36000" marB="36000" anchor="ctr">
                    <a:solidFill>
                      <a:schemeClr val="bg1">
                        <a:lumMod val="85000"/>
                      </a:schemeClr>
                    </a:solidFill>
                  </a:tcPr>
                </a:tc>
                <a:tc>
                  <a:txBody>
                    <a:bodyPr/>
                    <a:lstStyle/>
                    <a:p>
                      <a:endParaRPr lang="zh-TW" altLang="en-US" sz="2000"/>
                    </a:p>
                  </a:txBody>
                  <a:tcPr marL="36000" marR="36000" marT="36000" marB="36000" anchor="ctr">
                    <a:solidFill>
                      <a:schemeClr val="bg1">
                        <a:lumMod val="85000"/>
                      </a:schemeClr>
                    </a:solidFill>
                  </a:tcPr>
                </a:tc>
                <a:tc>
                  <a:txBody>
                    <a:bodyPr/>
                    <a:lstStyle/>
                    <a:p>
                      <a:endParaRPr lang="zh-TW" altLang="en-US" sz="2000" dirty="0"/>
                    </a:p>
                  </a:txBody>
                  <a:tcPr marL="36000" marR="36000" marT="36000" marB="36000" anchor="ctr">
                    <a:solidFill>
                      <a:schemeClr val="bg1">
                        <a:lumMod val="85000"/>
                      </a:schemeClr>
                    </a:solidFill>
                  </a:tcPr>
                </a:tc>
                <a:tc>
                  <a:txBody>
                    <a:bodyPr/>
                    <a:lstStyle/>
                    <a:p>
                      <a:endParaRPr lang="zh-TW" altLang="en-US" sz="2000" dirty="0"/>
                    </a:p>
                  </a:txBody>
                  <a:tcPr marL="36000" marR="36000" marT="36000" marB="36000" anchor="ctr">
                    <a:lnR w="57150" cap="flat" cmpd="sng" algn="ctr">
                      <a:solidFill>
                        <a:schemeClr val="bg1"/>
                      </a:solidFill>
                      <a:prstDash val="solid"/>
                      <a:round/>
                      <a:headEnd type="none" w="med" len="med"/>
                      <a:tailEnd type="none" w="med" len="med"/>
                    </a:lnR>
                    <a:solidFill>
                      <a:schemeClr val="bg1">
                        <a:lumMod val="85000"/>
                      </a:schemeClr>
                    </a:solidFill>
                  </a:tcPr>
                </a:tc>
                <a:tc>
                  <a:txBody>
                    <a:bodyPr/>
                    <a:lstStyle/>
                    <a:p>
                      <a:pPr algn="ctr"/>
                      <a:endParaRPr lang="zh-TW" altLang="en-US" sz="1100" b="1" dirty="0">
                        <a:solidFill>
                          <a:schemeClr val="tx1"/>
                        </a:solidFill>
                        <a:latin typeface="微軟正黑體" panose="020B0604030504040204" pitchFamily="34" charset="-120"/>
                        <a:ea typeface="微軟正黑體" panose="020B0604030504040204" pitchFamily="34" charset="-120"/>
                      </a:endParaRPr>
                    </a:p>
                  </a:txBody>
                  <a:tcPr marL="36000" marR="36000" marT="36000" marB="36000" anchor="ctr">
                    <a:lnL w="57150" cap="flat" cmpd="sng" algn="ctr">
                      <a:solidFill>
                        <a:schemeClr val="bg1"/>
                      </a:solidFill>
                      <a:prstDash val="solid"/>
                      <a:round/>
                      <a:headEnd type="none" w="med" len="med"/>
                      <a:tailEnd type="none" w="med" len="med"/>
                    </a:lnL>
                    <a:solidFill>
                      <a:schemeClr val="bg1">
                        <a:lumMod val="85000"/>
                      </a:schemeClr>
                    </a:solidFill>
                  </a:tcPr>
                </a:tc>
                <a:tc>
                  <a:txBody>
                    <a:bodyPr/>
                    <a:lstStyle/>
                    <a:p>
                      <a:pPr algn="ctr"/>
                      <a:endParaRPr lang="zh-TW" altLang="en-US" sz="1100" b="1" dirty="0">
                        <a:solidFill>
                          <a:schemeClr val="tx1"/>
                        </a:solidFill>
                        <a:latin typeface="微軟正黑體" panose="020B0604030504040204" pitchFamily="34" charset="-120"/>
                        <a:ea typeface="微軟正黑體" panose="020B0604030504040204" pitchFamily="34" charset="-120"/>
                      </a:endParaRPr>
                    </a:p>
                  </a:txBody>
                  <a:tcPr marL="36000" marR="36000" marT="36000" marB="36000" anchor="ctr">
                    <a:solidFill>
                      <a:schemeClr val="bg1">
                        <a:lumMod val="85000"/>
                      </a:schemeClr>
                    </a:solidFill>
                  </a:tcPr>
                </a:tc>
                <a:tc>
                  <a:txBody>
                    <a:bodyPr/>
                    <a:lstStyle/>
                    <a:p>
                      <a:pPr algn="ctr"/>
                      <a:endParaRPr lang="zh-TW" altLang="en-US" sz="1100" b="1" dirty="0">
                        <a:solidFill>
                          <a:schemeClr val="tx1"/>
                        </a:solidFill>
                        <a:latin typeface="微軟正黑體" panose="020B0604030504040204" pitchFamily="34" charset="-120"/>
                        <a:ea typeface="微軟正黑體" panose="020B0604030504040204" pitchFamily="34" charset="-120"/>
                      </a:endParaRPr>
                    </a:p>
                  </a:txBody>
                  <a:tcPr marL="36000" marR="36000" marT="36000" marB="36000" anchor="ctr">
                    <a:solidFill>
                      <a:schemeClr val="bg1">
                        <a:lumMod val="85000"/>
                      </a:schemeClr>
                    </a:solidFill>
                  </a:tcPr>
                </a:tc>
                <a:tc>
                  <a:txBody>
                    <a:bodyPr/>
                    <a:lstStyle/>
                    <a:p>
                      <a:pPr algn="ctr"/>
                      <a:endParaRPr lang="zh-TW" altLang="en-US" sz="1100" b="1" dirty="0">
                        <a:solidFill>
                          <a:schemeClr val="tx1"/>
                        </a:solidFill>
                        <a:latin typeface="微軟正黑體" panose="020B0604030504040204" pitchFamily="34" charset="-120"/>
                        <a:ea typeface="微軟正黑體" panose="020B0604030504040204" pitchFamily="34" charset="-120"/>
                      </a:endParaRPr>
                    </a:p>
                  </a:txBody>
                  <a:tcPr marL="36000" marR="36000" marT="36000" marB="36000" anchor="ctr">
                    <a:solidFill>
                      <a:schemeClr val="bg1">
                        <a:lumMod val="85000"/>
                      </a:schemeClr>
                    </a:solidFill>
                  </a:tcPr>
                </a:tc>
                <a:tc>
                  <a:txBody>
                    <a:bodyPr/>
                    <a:lstStyle/>
                    <a:p>
                      <a:pPr algn="ctr"/>
                      <a:endParaRPr lang="zh-TW" altLang="en-US" sz="1100" b="1" dirty="0">
                        <a:solidFill>
                          <a:schemeClr val="tx1"/>
                        </a:solidFill>
                        <a:latin typeface="微軟正黑體" panose="020B0604030504040204" pitchFamily="34" charset="-120"/>
                        <a:ea typeface="微軟正黑體" panose="020B0604030504040204" pitchFamily="34" charset="-120"/>
                      </a:endParaRPr>
                    </a:p>
                  </a:txBody>
                  <a:tcPr marL="36000" marR="36000" marT="36000" marB="36000" anchor="ctr">
                    <a:solidFill>
                      <a:schemeClr val="bg1">
                        <a:lumMod val="85000"/>
                      </a:schemeClr>
                    </a:solidFill>
                  </a:tcPr>
                </a:tc>
                <a:extLst>
                  <a:ext uri="{0D108BD9-81ED-4DB2-BD59-A6C34878D82A}">
                    <a16:rowId xmlns:a16="http://schemas.microsoft.com/office/drawing/2014/main" val="2211884978"/>
                  </a:ext>
                </a:extLst>
              </a:tr>
            </a:tbl>
          </a:graphicData>
        </a:graphic>
      </p:graphicFrame>
      <p:cxnSp>
        <p:nvCxnSpPr>
          <p:cNvPr id="31" name="Straight Connector 73">
            <a:extLst>
              <a:ext uri="{FF2B5EF4-FFF2-40B4-BE49-F238E27FC236}">
                <a16:creationId xmlns:a16="http://schemas.microsoft.com/office/drawing/2014/main" id="{BDC44527-3F0F-8844-4C7F-4D1B8CA7F558}"/>
              </a:ext>
            </a:extLst>
          </p:cNvPr>
          <p:cNvCxnSpPr>
            <a:cxnSpLocks/>
          </p:cNvCxnSpPr>
          <p:nvPr/>
        </p:nvCxnSpPr>
        <p:spPr bwMode="auto">
          <a:xfrm>
            <a:off x="713356" y="2142618"/>
            <a:ext cx="7078009" cy="0"/>
          </a:xfrm>
          <a:prstGeom prst="line">
            <a:avLst/>
          </a:prstGeom>
          <a:noFill/>
          <a:ln w="38100" algn="ctr">
            <a:solidFill>
              <a:srgbClr val="57687C"/>
            </a:solidFill>
            <a:miter lim="800000"/>
            <a:headEnd type="oval" w="med" len="med"/>
            <a:tailEnd type="oval" w="med" len="med"/>
          </a:ln>
          <a:extLst>
            <a:ext uri="{909E8E84-426E-40DD-AFC4-6F175D3DCCD1}">
              <a14:hiddenFill xmlns:a14="http://schemas.microsoft.com/office/drawing/2010/main">
                <a:noFill/>
              </a14:hiddenFill>
            </a:ext>
          </a:extLst>
        </p:spPr>
      </p:cxnSp>
      <p:sp>
        <p:nvSpPr>
          <p:cNvPr id="32" name="文字方塊 31">
            <a:extLst>
              <a:ext uri="{FF2B5EF4-FFF2-40B4-BE49-F238E27FC236}">
                <a16:creationId xmlns:a16="http://schemas.microsoft.com/office/drawing/2014/main" id="{481A5F88-31A9-1FFD-0D02-649B5636F866}"/>
              </a:ext>
            </a:extLst>
          </p:cNvPr>
          <p:cNvSpPr txBox="1"/>
          <p:nvPr/>
        </p:nvSpPr>
        <p:spPr>
          <a:xfrm>
            <a:off x="712353" y="1837030"/>
            <a:ext cx="1019504" cy="307777"/>
          </a:xfrm>
          <a:prstGeom prst="rect">
            <a:avLst/>
          </a:prstGeom>
          <a:noFill/>
        </p:spPr>
        <p:txBody>
          <a:bodyPr wrap="square" rtlCol="0">
            <a:spAutoFit/>
          </a:bodyPr>
          <a:lstStyle/>
          <a:p>
            <a:r>
              <a:rPr lang="en-US" altLang="zh-TW" sz="1400" b="1" dirty="0">
                <a:solidFill>
                  <a:srgbClr val="57687C"/>
                </a:solidFill>
                <a:latin typeface="微軟正黑體" panose="020B0604030504040204" pitchFamily="34" charset="-120"/>
                <a:ea typeface="微軟正黑體" panose="020B0604030504040204" pitchFamily="34" charset="-120"/>
              </a:rPr>
              <a:t>2025</a:t>
            </a:r>
            <a:r>
              <a:rPr lang="zh-TW" altLang="en-US" sz="1400" b="1" dirty="0">
                <a:solidFill>
                  <a:srgbClr val="57687C"/>
                </a:solidFill>
                <a:latin typeface="微軟正黑體" panose="020B0604030504040204" pitchFamily="34" charset="-120"/>
                <a:ea typeface="微軟正黑體" panose="020B0604030504040204" pitchFamily="34" charset="-120"/>
              </a:rPr>
              <a:t>年</a:t>
            </a:r>
          </a:p>
        </p:txBody>
      </p:sp>
      <p:cxnSp>
        <p:nvCxnSpPr>
          <p:cNvPr id="33" name="Straight Connector 73">
            <a:extLst>
              <a:ext uri="{FF2B5EF4-FFF2-40B4-BE49-F238E27FC236}">
                <a16:creationId xmlns:a16="http://schemas.microsoft.com/office/drawing/2014/main" id="{B10C03D8-EE2F-CCEA-744C-6CAFC76A1E8C}"/>
              </a:ext>
            </a:extLst>
          </p:cNvPr>
          <p:cNvCxnSpPr>
            <a:cxnSpLocks/>
          </p:cNvCxnSpPr>
          <p:nvPr/>
        </p:nvCxnSpPr>
        <p:spPr bwMode="auto">
          <a:xfrm>
            <a:off x="7867904" y="2142618"/>
            <a:ext cx="2977891" cy="0"/>
          </a:xfrm>
          <a:prstGeom prst="line">
            <a:avLst/>
          </a:prstGeom>
          <a:noFill/>
          <a:ln w="38100" algn="ctr">
            <a:solidFill>
              <a:srgbClr val="57687C"/>
            </a:solidFill>
            <a:miter lim="800000"/>
            <a:headEnd type="oval" w="med" len="med"/>
            <a:tailEnd type="triangle" w="med" len="med"/>
          </a:ln>
          <a:extLst>
            <a:ext uri="{909E8E84-426E-40DD-AFC4-6F175D3DCCD1}">
              <a14:hiddenFill xmlns:a14="http://schemas.microsoft.com/office/drawing/2010/main">
                <a:noFill/>
              </a14:hiddenFill>
            </a:ext>
          </a:extLst>
        </p:spPr>
      </p:cxnSp>
      <p:sp>
        <p:nvSpPr>
          <p:cNvPr id="34" name="文字方塊 33">
            <a:extLst>
              <a:ext uri="{FF2B5EF4-FFF2-40B4-BE49-F238E27FC236}">
                <a16:creationId xmlns:a16="http://schemas.microsoft.com/office/drawing/2014/main" id="{83241927-BCD6-A5FA-F880-A8EBD8224AC9}"/>
              </a:ext>
            </a:extLst>
          </p:cNvPr>
          <p:cNvSpPr txBox="1"/>
          <p:nvPr/>
        </p:nvSpPr>
        <p:spPr>
          <a:xfrm>
            <a:off x="7917043" y="1837030"/>
            <a:ext cx="789784" cy="307777"/>
          </a:xfrm>
          <a:prstGeom prst="rect">
            <a:avLst/>
          </a:prstGeom>
          <a:noFill/>
        </p:spPr>
        <p:txBody>
          <a:bodyPr wrap="square" rtlCol="0">
            <a:spAutoFit/>
          </a:bodyPr>
          <a:lstStyle/>
          <a:p>
            <a:r>
              <a:rPr lang="en-US" altLang="zh-TW" sz="1400" b="1" dirty="0">
                <a:solidFill>
                  <a:srgbClr val="57687C"/>
                </a:solidFill>
                <a:latin typeface="微軟正黑體" panose="020B0604030504040204" pitchFamily="34" charset="-120"/>
                <a:ea typeface="微軟正黑體" panose="020B0604030504040204" pitchFamily="34" charset="-120"/>
              </a:rPr>
              <a:t>2026</a:t>
            </a:r>
            <a:r>
              <a:rPr lang="zh-TW" altLang="en-US" sz="1400" b="1" dirty="0">
                <a:solidFill>
                  <a:srgbClr val="57687C"/>
                </a:solidFill>
                <a:latin typeface="微軟正黑體" panose="020B0604030504040204" pitchFamily="34" charset="-120"/>
                <a:ea typeface="微軟正黑體" panose="020B0604030504040204" pitchFamily="34" charset="-120"/>
              </a:rPr>
              <a:t>年</a:t>
            </a:r>
          </a:p>
        </p:txBody>
      </p:sp>
      <p:sp>
        <p:nvSpPr>
          <p:cNvPr id="37" name="文字方塊 36">
            <a:extLst>
              <a:ext uri="{FF2B5EF4-FFF2-40B4-BE49-F238E27FC236}">
                <a16:creationId xmlns:a16="http://schemas.microsoft.com/office/drawing/2014/main" id="{F2D864E3-A10B-12C8-B677-708AF22630AA}"/>
              </a:ext>
            </a:extLst>
          </p:cNvPr>
          <p:cNvSpPr txBox="1"/>
          <p:nvPr/>
        </p:nvSpPr>
        <p:spPr>
          <a:xfrm>
            <a:off x="9056057" y="1136806"/>
            <a:ext cx="940463" cy="461665"/>
          </a:xfrm>
          <a:prstGeom prst="rect">
            <a:avLst/>
          </a:prstGeom>
          <a:noFill/>
        </p:spPr>
        <p:txBody>
          <a:bodyPr wrap="square" rtlCol="0">
            <a:spAutoFit/>
          </a:bodyPr>
          <a:lstStyle/>
          <a:p>
            <a:pPr lvl="0" algn="ctr">
              <a:defRPr/>
            </a:pPr>
            <a:r>
              <a:rPr lang="zh-TW" altLang="en-US" sz="1200" b="1" dirty="0">
                <a:solidFill>
                  <a:prstClr val="white"/>
                </a:solidFill>
                <a:latin typeface="Arial" panose="020B0604020202020204"/>
                <a:ea typeface="微軟正黑體" panose="020B0604030504040204" pitchFamily="34" charset="-120"/>
              </a:rPr>
              <a:t>雲端服務</a:t>
            </a:r>
            <a:r>
              <a:rPr lang="en-US" altLang="zh-TW" sz="1200" b="1" dirty="0">
                <a:solidFill>
                  <a:prstClr val="white"/>
                </a:solidFill>
                <a:latin typeface="Arial" panose="020B0604020202020204"/>
                <a:ea typeface="微軟正黑體" panose="020B0604030504040204" pitchFamily="34" charset="-120"/>
              </a:rPr>
              <a:t>2022</a:t>
            </a:r>
            <a:r>
              <a:rPr lang="zh-TW" altLang="en-US" sz="1200" b="1" dirty="0">
                <a:solidFill>
                  <a:prstClr val="white"/>
                </a:solidFill>
                <a:latin typeface="Arial" panose="020B0604020202020204"/>
                <a:ea typeface="微軟正黑體" panose="020B0604030504040204" pitchFamily="34" charset="-120"/>
              </a:rPr>
              <a:t> 策略</a:t>
            </a:r>
            <a:endParaRPr lang="en-US" altLang="zh-TW" sz="1200" b="1" dirty="0">
              <a:solidFill>
                <a:prstClr val="white"/>
              </a:solidFill>
              <a:latin typeface="Arial" panose="020B0604020202020204"/>
              <a:ea typeface="微軟正黑體" panose="020B0604030504040204" pitchFamily="34" charset="-120"/>
            </a:endParaRPr>
          </a:p>
        </p:txBody>
      </p:sp>
      <p:grpSp>
        <p:nvGrpSpPr>
          <p:cNvPr id="39" name="群組 38">
            <a:extLst>
              <a:ext uri="{FF2B5EF4-FFF2-40B4-BE49-F238E27FC236}">
                <a16:creationId xmlns:a16="http://schemas.microsoft.com/office/drawing/2014/main" id="{56A6E7D4-A835-D463-E736-006BB7FF1AD3}"/>
              </a:ext>
            </a:extLst>
          </p:cNvPr>
          <p:cNvGrpSpPr/>
          <p:nvPr/>
        </p:nvGrpSpPr>
        <p:grpSpPr>
          <a:xfrm>
            <a:off x="8802789" y="742760"/>
            <a:ext cx="1082214" cy="1433559"/>
            <a:chOff x="8641592" y="772942"/>
            <a:chExt cx="1082214" cy="1433559"/>
          </a:xfrm>
        </p:grpSpPr>
        <p:grpSp>
          <p:nvGrpSpPr>
            <p:cNvPr id="40" name="群組 39">
              <a:extLst>
                <a:ext uri="{FF2B5EF4-FFF2-40B4-BE49-F238E27FC236}">
                  <a16:creationId xmlns:a16="http://schemas.microsoft.com/office/drawing/2014/main" id="{25FB1312-1A96-0B56-3B1F-515CDD6A82AB}"/>
                </a:ext>
              </a:extLst>
            </p:cNvPr>
            <p:cNvGrpSpPr/>
            <p:nvPr/>
          </p:nvGrpSpPr>
          <p:grpSpPr>
            <a:xfrm>
              <a:off x="8641592" y="772942"/>
              <a:ext cx="1082214" cy="1433559"/>
              <a:chOff x="763927" y="1155654"/>
              <a:chExt cx="1082214" cy="1433559"/>
            </a:xfrm>
          </p:grpSpPr>
          <p:grpSp>
            <p:nvGrpSpPr>
              <p:cNvPr id="42" name="群組 41">
                <a:extLst>
                  <a:ext uri="{FF2B5EF4-FFF2-40B4-BE49-F238E27FC236}">
                    <a16:creationId xmlns:a16="http://schemas.microsoft.com/office/drawing/2014/main" id="{3969146E-6FF7-2355-1404-D3FEC2FC6E5E}"/>
                  </a:ext>
                </a:extLst>
              </p:cNvPr>
              <p:cNvGrpSpPr/>
              <p:nvPr/>
            </p:nvGrpSpPr>
            <p:grpSpPr>
              <a:xfrm>
                <a:off x="829578" y="1410337"/>
                <a:ext cx="936625" cy="1178876"/>
                <a:chOff x="829578" y="1410337"/>
                <a:chExt cx="936625" cy="1178876"/>
              </a:xfrm>
            </p:grpSpPr>
            <p:cxnSp>
              <p:nvCxnSpPr>
                <p:cNvPr id="44" name="Straight Connector 75">
                  <a:extLst>
                    <a:ext uri="{FF2B5EF4-FFF2-40B4-BE49-F238E27FC236}">
                      <a16:creationId xmlns:a16="http://schemas.microsoft.com/office/drawing/2014/main" id="{3F13DA07-75CC-52A2-B1DE-6BCEB2FB332C}"/>
                    </a:ext>
                  </a:extLst>
                </p:cNvPr>
                <p:cNvCxnSpPr>
                  <a:cxnSpLocks noChangeShapeType="1"/>
                  <a:endCxn id="45" idx="4"/>
                </p:cNvCxnSpPr>
                <p:nvPr/>
              </p:nvCxnSpPr>
              <p:spPr bwMode="auto">
                <a:xfrm>
                  <a:off x="1297891" y="2346961"/>
                  <a:ext cx="2381" cy="242252"/>
                </a:xfrm>
                <a:prstGeom prst="line">
                  <a:avLst/>
                </a:prstGeom>
                <a:noFill/>
                <a:ln w="38100" algn="ctr">
                  <a:solidFill>
                    <a:schemeClr val="bg1">
                      <a:lumMod val="50000"/>
                    </a:schemeClr>
                  </a:solidFill>
                  <a:miter lim="800000"/>
                  <a:headEnd type="none" w="lg" len="lg"/>
                  <a:tailEnd/>
                </a:ln>
                <a:extLst>
                  <a:ext uri="{909E8E84-426E-40DD-AFC4-6F175D3DCCD1}">
                    <a14:hiddenFill xmlns:a14="http://schemas.microsoft.com/office/drawing/2010/main">
                      <a:noFill/>
                    </a14:hiddenFill>
                  </a:ext>
                </a:extLst>
              </p:spPr>
            </p:cxnSp>
            <p:sp>
              <p:nvSpPr>
                <p:cNvPr id="45" name="Oval 76">
                  <a:extLst>
                    <a:ext uri="{FF2B5EF4-FFF2-40B4-BE49-F238E27FC236}">
                      <a16:creationId xmlns:a16="http://schemas.microsoft.com/office/drawing/2014/main" id="{9B95D0D0-87BF-ADA0-1874-459F30AF157F}"/>
                    </a:ext>
                  </a:extLst>
                </p:cNvPr>
                <p:cNvSpPr/>
                <p:nvPr/>
              </p:nvSpPr>
              <p:spPr>
                <a:xfrm>
                  <a:off x="1228041" y="2444751"/>
                  <a:ext cx="144462" cy="144462"/>
                </a:xfrm>
                <a:prstGeom prst="ellipse">
                  <a:avLst/>
                </a:prstGeom>
                <a:solidFill>
                  <a:schemeClr val="bg1"/>
                </a:solidFill>
                <a:ln w="38100" cap="flat" cmpd="sng" algn="ctr">
                  <a:solidFill>
                    <a:schemeClr val="bg1">
                      <a:lumMod val="50000"/>
                    </a:schemeClr>
                  </a:solidFill>
                  <a:prstDash val="solid"/>
                  <a:miter lim="800000"/>
                </a:ln>
                <a:effectLst/>
              </p:spPr>
              <p:txBody>
                <a:bodyPr anchor="ctr"/>
                <a:lstStyle/>
                <a:p>
                  <a:pPr algn="ctr" defTabSz="914364">
                    <a:defRPr/>
                  </a:pPr>
                  <a:endParaRPr lang="ko-KR" altLang="en-US" kern="0" dirty="0">
                    <a:solidFill>
                      <a:sysClr val="window" lastClr="FFFFFF"/>
                    </a:solidFill>
                    <a:latin typeface="Arial"/>
                    <a:ea typeface="Arial Unicode MS"/>
                  </a:endParaRPr>
                </a:p>
              </p:txBody>
            </p:sp>
            <p:grpSp>
              <p:nvGrpSpPr>
                <p:cNvPr id="46" name="Group 2">
                  <a:extLst>
                    <a:ext uri="{FF2B5EF4-FFF2-40B4-BE49-F238E27FC236}">
                      <a16:creationId xmlns:a16="http://schemas.microsoft.com/office/drawing/2014/main" id="{B2943164-39E2-2173-9FD3-653E74BEBBAB}"/>
                    </a:ext>
                  </a:extLst>
                </p:cNvPr>
                <p:cNvGrpSpPr>
                  <a:grpSpLocks/>
                </p:cNvGrpSpPr>
                <p:nvPr/>
              </p:nvGrpSpPr>
              <p:grpSpPr bwMode="auto">
                <a:xfrm>
                  <a:off x="829578" y="1410337"/>
                  <a:ext cx="936625" cy="936625"/>
                  <a:chOff x="911404" y="2243102"/>
                  <a:chExt cx="936104" cy="936105"/>
                </a:xfrm>
              </p:grpSpPr>
              <p:sp>
                <p:nvSpPr>
                  <p:cNvPr id="47" name="Oval 78">
                    <a:extLst>
                      <a:ext uri="{FF2B5EF4-FFF2-40B4-BE49-F238E27FC236}">
                        <a16:creationId xmlns:a16="http://schemas.microsoft.com/office/drawing/2014/main" id="{5A1B9016-1B7E-8A3E-C8B8-7287EBB76F10}"/>
                      </a:ext>
                    </a:extLst>
                  </p:cNvPr>
                  <p:cNvSpPr/>
                  <p:nvPr/>
                </p:nvSpPr>
                <p:spPr>
                  <a:xfrm>
                    <a:off x="911404" y="2243102"/>
                    <a:ext cx="936104" cy="936105"/>
                  </a:xfrm>
                  <a:prstGeom prst="ellipse">
                    <a:avLst/>
                  </a:prstGeom>
                  <a:solidFill>
                    <a:sysClr val="window" lastClr="FFFFFF"/>
                  </a:solidFill>
                  <a:ln w="38100" cap="flat" cmpd="sng" algn="ctr">
                    <a:solidFill>
                      <a:schemeClr val="bg1">
                        <a:lumMod val="50000"/>
                      </a:schemeClr>
                    </a:solidFill>
                    <a:prstDash val="solid"/>
                    <a:miter lim="800000"/>
                  </a:ln>
                  <a:effectLst/>
                </p:spPr>
                <p:txBody>
                  <a:bodyPr anchor="ctr"/>
                  <a:lstStyle/>
                  <a:p>
                    <a:pPr algn="ctr" defTabSz="914364">
                      <a:defRPr/>
                    </a:pPr>
                    <a:endParaRPr lang="ko-KR" altLang="en-US" kern="0" dirty="0">
                      <a:solidFill>
                        <a:sysClr val="window" lastClr="FFFFFF"/>
                      </a:solidFill>
                      <a:latin typeface="Arial"/>
                      <a:ea typeface="Arial Unicode MS"/>
                    </a:endParaRPr>
                  </a:p>
                </p:txBody>
              </p:sp>
              <p:sp>
                <p:nvSpPr>
                  <p:cNvPr id="48" name="Oval 79">
                    <a:extLst>
                      <a:ext uri="{FF2B5EF4-FFF2-40B4-BE49-F238E27FC236}">
                        <a16:creationId xmlns:a16="http://schemas.microsoft.com/office/drawing/2014/main" id="{79360747-4DBD-F8EF-0BED-E47ECED15104}"/>
                      </a:ext>
                    </a:extLst>
                  </p:cNvPr>
                  <p:cNvSpPr/>
                  <p:nvPr/>
                </p:nvSpPr>
                <p:spPr>
                  <a:xfrm>
                    <a:off x="994460" y="2314497"/>
                    <a:ext cx="791722" cy="793308"/>
                  </a:xfrm>
                  <a:prstGeom prst="ellipse">
                    <a:avLst/>
                  </a:prstGeom>
                  <a:solidFill>
                    <a:srgbClr val="58798F"/>
                  </a:solidFill>
                  <a:ln w="12700" cap="flat" cmpd="sng" algn="ctr">
                    <a:noFill/>
                    <a:prstDash val="solid"/>
                    <a:miter lim="800000"/>
                  </a:ln>
                  <a:effectLst/>
                </p:spPr>
                <p:txBody>
                  <a:bodyPr anchor="ctr"/>
                  <a:lstStyle/>
                  <a:p>
                    <a:pPr algn="ctr" defTabSz="914364">
                      <a:defRPr/>
                    </a:pPr>
                    <a:endParaRPr lang="ko-KR" altLang="en-US" kern="0" dirty="0">
                      <a:solidFill>
                        <a:sysClr val="window" lastClr="FFFFFF"/>
                      </a:solidFill>
                      <a:latin typeface="Arial"/>
                      <a:ea typeface="Arial Unicode MS"/>
                    </a:endParaRPr>
                  </a:p>
                </p:txBody>
              </p:sp>
            </p:grpSp>
          </p:grpSp>
          <p:sp>
            <p:nvSpPr>
              <p:cNvPr id="43" name="TextBox 462">
                <a:extLst>
                  <a:ext uri="{FF2B5EF4-FFF2-40B4-BE49-F238E27FC236}">
                    <a16:creationId xmlns:a16="http://schemas.microsoft.com/office/drawing/2014/main" id="{712860DB-F6F5-06B3-DCAF-0DCDB9B41873}"/>
                  </a:ext>
                </a:extLst>
              </p:cNvPr>
              <p:cNvSpPr txBox="1">
                <a:spLocks noChangeArrowheads="1"/>
              </p:cNvSpPr>
              <p:nvPr/>
            </p:nvSpPr>
            <p:spPr bwMode="auto">
              <a:xfrm>
                <a:off x="763927" y="1155654"/>
                <a:ext cx="108221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algn="ctr" defTabSz="914364" eaLnBrk="1" hangingPunct="1">
                  <a:defRPr/>
                </a:pPr>
                <a:r>
                  <a:rPr lang="en-US" altLang="zh-TW" sz="1200" dirty="0">
                    <a:solidFill>
                      <a:schemeClr val="bg1">
                        <a:lumMod val="50000"/>
                      </a:schemeClr>
                    </a:solidFill>
                    <a:latin typeface="微軟正黑體" pitchFamily="34" charset="-120"/>
                    <a:ea typeface="微軟正黑體" pitchFamily="34" charset="-120"/>
                    <a:cs typeface="Arial" charset="0"/>
                  </a:rPr>
                  <a:t>2026</a:t>
                </a:r>
                <a:r>
                  <a:rPr lang="zh-TW" altLang="en-US" sz="1200" dirty="0">
                    <a:solidFill>
                      <a:schemeClr val="bg1">
                        <a:lumMod val="50000"/>
                      </a:schemeClr>
                    </a:solidFill>
                    <a:latin typeface="微軟正黑體" pitchFamily="34" charset="-120"/>
                    <a:ea typeface="微軟正黑體" pitchFamily="34" charset="-120"/>
                    <a:cs typeface="Arial" charset="0"/>
                  </a:rPr>
                  <a:t>年</a:t>
                </a:r>
                <a:r>
                  <a:rPr lang="en-US" altLang="zh-TW" sz="1200" dirty="0">
                    <a:solidFill>
                      <a:schemeClr val="bg1">
                        <a:lumMod val="50000"/>
                      </a:schemeClr>
                    </a:solidFill>
                    <a:latin typeface="微軟正黑體" pitchFamily="34" charset="-120"/>
                    <a:ea typeface="微軟正黑體" pitchFamily="34" charset="-120"/>
                    <a:cs typeface="Arial" charset="0"/>
                  </a:rPr>
                  <a:t>3</a:t>
                </a:r>
                <a:r>
                  <a:rPr lang="zh-TW" altLang="en-US" sz="1200" dirty="0">
                    <a:solidFill>
                      <a:schemeClr val="bg1">
                        <a:lumMod val="50000"/>
                      </a:schemeClr>
                    </a:solidFill>
                    <a:latin typeface="微軟正黑體" pitchFamily="34" charset="-120"/>
                    <a:ea typeface="微軟正黑體" pitchFamily="34" charset="-120"/>
                    <a:cs typeface="Arial" charset="0"/>
                  </a:rPr>
                  <a:t>月</a:t>
                </a:r>
              </a:p>
            </p:txBody>
          </p:sp>
        </p:grpSp>
        <p:sp>
          <p:nvSpPr>
            <p:cNvPr id="41" name="文字方塊 40">
              <a:extLst>
                <a:ext uri="{FF2B5EF4-FFF2-40B4-BE49-F238E27FC236}">
                  <a16:creationId xmlns:a16="http://schemas.microsoft.com/office/drawing/2014/main" id="{457630E2-1033-3745-C0F2-6995E80FCD6A}"/>
                </a:ext>
              </a:extLst>
            </p:cNvPr>
            <p:cNvSpPr txBox="1"/>
            <p:nvPr/>
          </p:nvSpPr>
          <p:spPr>
            <a:xfrm>
              <a:off x="8706370" y="1224942"/>
              <a:ext cx="940463" cy="461665"/>
            </a:xfrm>
            <a:prstGeom prst="rect">
              <a:avLst/>
            </a:prstGeom>
            <a:noFill/>
          </p:spPr>
          <p:txBody>
            <a:bodyPr wrap="square" rtlCol="0">
              <a:spAutoFit/>
            </a:bodyPr>
            <a:lstStyle/>
            <a:p>
              <a:pPr algn="ctr" defTabSz="914364">
                <a:defRPr/>
              </a:pPr>
              <a:r>
                <a:rPr lang="zh-TW" altLang="en-US" sz="1200" b="1" dirty="0">
                  <a:solidFill>
                    <a:prstClr val="white"/>
                  </a:solidFill>
                  <a:latin typeface="Arial" panose="020B0604020202020204"/>
                  <a:ea typeface="微軟正黑體" panose="020B0604030504040204" pitchFamily="34" charset="-120"/>
                </a:rPr>
                <a:t>爬蟲擴充案上線</a:t>
              </a:r>
              <a:endParaRPr lang="zh-TW" altLang="en-US" sz="1400" b="1" dirty="0">
                <a:solidFill>
                  <a:prstClr val="white"/>
                </a:solidFill>
                <a:latin typeface="Arial" panose="020B0604020202020204"/>
                <a:ea typeface="微軟正黑體" panose="020B0604030504040204" pitchFamily="34" charset="-120"/>
              </a:endParaRPr>
            </a:p>
          </p:txBody>
        </p:sp>
      </p:grpSp>
      <p:sp>
        <p:nvSpPr>
          <p:cNvPr id="49" name="文字方塊 48">
            <a:extLst>
              <a:ext uri="{FF2B5EF4-FFF2-40B4-BE49-F238E27FC236}">
                <a16:creationId xmlns:a16="http://schemas.microsoft.com/office/drawing/2014/main" id="{D317CA3E-C7CB-B7C2-B972-3EA7947087AA}"/>
              </a:ext>
            </a:extLst>
          </p:cNvPr>
          <p:cNvSpPr txBox="1"/>
          <p:nvPr/>
        </p:nvSpPr>
        <p:spPr>
          <a:xfrm>
            <a:off x="647087" y="3037463"/>
            <a:ext cx="2995611" cy="286232"/>
          </a:xfrm>
          <a:prstGeom prst="rect">
            <a:avLst/>
          </a:prstGeom>
          <a:solidFill>
            <a:srgbClr val="58798F"/>
          </a:solidFill>
        </p:spPr>
        <p:txBody>
          <a:bodyPr wrap="square" rtlCol="0">
            <a:spAutoFit/>
          </a:bodyPr>
          <a:lstStyle/>
          <a:p>
            <a:pPr algn="ctr"/>
            <a:r>
              <a:rPr lang="zh-TW" altLang="en-US" sz="1260" dirty="0">
                <a:solidFill>
                  <a:schemeClr val="bg1"/>
                </a:solidFill>
                <a:latin typeface="微軟正黑體" panose="020B0604030504040204" pitchFamily="34" charset="-120"/>
                <a:ea typeface="微軟正黑體" panose="020B0604030504040204" pitchFamily="34" charset="-120"/>
              </a:rPr>
              <a:t>爬蟲館擴充案需求盤點</a:t>
            </a:r>
          </a:p>
        </p:txBody>
      </p:sp>
      <p:sp>
        <p:nvSpPr>
          <p:cNvPr id="50" name="文字方塊 49">
            <a:extLst>
              <a:ext uri="{FF2B5EF4-FFF2-40B4-BE49-F238E27FC236}">
                <a16:creationId xmlns:a16="http://schemas.microsoft.com/office/drawing/2014/main" id="{76745E75-63B5-2C03-2926-4597CDF2C9D6}"/>
              </a:ext>
            </a:extLst>
          </p:cNvPr>
          <p:cNvSpPr txBox="1"/>
          <p:nvPr/>
        </p:nvSpPr>
        <p:spPr>
          <a:xfrm>
            <a:off x="4279392" y="3553463"/>
            <a:ext cx="2106232" cy="286232"/>
          </a:xfrm>
          <a:prstGeom prst="rect">
            <a:avLst/>
          </a:prstGeom>
          <a:solidFill>
            <a:srgbClr val="58798F"/>
          </a:solidFill>
        </p:spPr>
        <p:txBody>
          <a:bodyPr wrap="square" rtlCol="0">
            <a:spAutoFit/>
          </a:bodyPr>
          <a:lstStyle>
            <a:defPPr marR="0" lvl="0" algn="l" rtl="0">
              <a:lnSpc>
                <a:spcPct val="100000"/>
              </a:lnSpc>
              <a:spcBef>
                <a:spcPts val="0"/>
              </a:spcBef>
              <a:spcAft>
                <a:spcPts val="0"/>
              </a:spcAft>
              <a:defRPr/>
            </a:defPPr>
            <a:lvl1pPr algn="ctr">
              <a:defRPr sz="1260">
                <a:solidFill>
                  <a:schemeClr val="bg1"/>
                </a:solidFill>
                <a:latin typeface="微軟正黑體" panose="020B0604030504040204" pitchFamily="34" charset="-120"/>
                <a:ea typeface="微軟正黑體" panose="020B0604030504040204" pitchFamily="34" charset="-120"/>
              </a:defRPr>
            </a:lvl1pPr>
          </a:lstStyle>
          <a:p>
            <a:r>
              <a:rPr lang="zh-TW" altLang="en-US" dirty="0"/>
              <a:t>合規、架審、請採購</a:t>
            </a:r>
          </a:p>
        </p:txBody>
      </p:sp>
      <p:sp>
        <p:nvSpPr>
          <p:cNvPr id="51" name="文字方塊 50">
            <a:extLst>
              <a:ext uri="{FF2B5EF4-FFF2-40B4-BE49-F238E27FC236}">
                <a16:creationId xmlns:a16="http://schemas.microsoft.com/office/drawing/2014/main" id="{9006CFF2-FDC9-4D67-1AB3-C407EFF0962A}"/>
              </a:ext>
            </a:extLst>
          </p:cNvPr>
          <p:cNvSpPr txBox="1"/>
          <p:nvPr/>
        </p:nvSpPr>
        <p:spPr>
          <a:xfrm>
            <a:off x="6385624" y="4232958"/>
            <a:ext cx="1424028" cy="286232"/>
          </a:xfrm>
          <a:prstGeom prst="rect">
            <a:avLst/>
          </a:prstGeom>
          <a:solidFill>
            <a:srgbClr val="58798F"/>
          </a:solidFill>
        </p:spPr>
        <p:txBody>
          <a:bodyPr wrap="square" rtlCol="0">
            <a:spAutoFit/>
          </a:bodyPr>
          <a:lstStyle>
            <a:defPPr marR="0" lvl="0" algn="l" rtl="0">
              <a:lnSpc>
                <a:spcPct val="100000"/>
              </a:lnSpc>
              <a:spcBef>
                <a:spcPts val="0"/>
              </a:spcBef>
              <a:spcAft>
                <a:spcPts val="0"/>
              </a:spcAft>
              <a:defRPr/>
            </a:defPPr>
            <a:lvl1pPr algn="ctr">
              <a:defRPr sz="1260">
                <a:solidFill>
                  <a:schemeClr val="bg1"/>
                </a:solidFill>
                <a:latin typeface="微軟正黑體" panose="020B0604030504040204" pitchFamily="34" charset="-120"/>
                <a:ea typeface="微軟正黑體" panose="020B0604030504040204" pitchFamily="34" charset="-120"/>
              </a:defRPr>
            </a:lvl1pPr>
          </a:lstStyle>
          <a:p>
            <a:r>
              <a:rPr lang="zh-TW" altLang="en-US" dirty="0"/>
              <a:t>程式開發</a:t>
            </a:r>
          </a:p>
        </p:txBody>
      </p:sp>
      <p:sp>
        <p:nvSpPr>
          <p:cNvPr id="52" name="文字方塊 51">
            <a:extLst>
              <a:ext uri="{FF2B5EF4-FFF2-40B4-BE49-F238E27FC236}">
                <a16:creationId xmlns:a16="http://schemas.microsoft.com/office/drawing/2014/main" id="{00EC0447-2C5C-14E2-EB9B-34D332F2300D}"/>
              </a:ext>
            </a:extLst>
          </p:cNvPr>
          <p:cNvSpPr txBox="1"/>
          <p:nvPr/>
        </p:nvSpPr>
        <p:spPr>
          <a:xfrm>
            <a:off x="7867904" y="4527403"/>
            <a:ext cx="1424029" cy="286232"/>
          </a:xfrm>
          <a:prstGeom prst="rect">
            <a:avLst/>
          </a:prstGeom>
          <a:solidFill>
            <a:srgbClr val="58798F"/>
          </a:solidFill>
        </p:spPr>
        <p:txBody>
          <a:bodyPr wrap="square" rtlCol="0">
            <a:spAutoFit/>
          </a:bodyPr>
          <a:lstStyle>
            <a:defPPr marR="0" lvl="0" algn="l" rtl="0">
              <a:lnSpc>
                <a:spcPct val="100000"/>
              </a:lnSpc>
              <a:spcBef>
                <a:spcPts val="0"/>
              </a:spcBef>
              <a:spcAft>
                <a:spcPts val="0"/>
              </a:spcAft>
              <a:defRPr/>
            </a:defPPr>
            <a:lvl1pPr algn="ctr">
              <a:defRPr sz="1260">
                <a:solidFill>
                  <a:schemeClr val="bg1"/>
                </a:solidFill>
                <a:latin typeface="微軟正黑體" panose="020B0604030504040204" pitchFamily="34" charset="-120"/>
                <a:ea typeface="微軟正黑體" panose="020B0604030504040204" pitchFamily="34" charset="-120"/>
              </a:defRPr>
            </a:lvl1pPr>
          </a:lstStyle>
          <a:p>
            <a:r>
              <a:rPr lang="zh-TW" altLang="en-US" dirty="0"/>
              <a:t>測試</a:t>
            </a:r>
            <a:r>
              <a:rPr lang="en-US" altLang="zh-TW" dirty="0"/>
              <a:t>(SIT</a:t>
            </a:r>
            <a:r>
              <a:rPr lang="zh-TW" altLang="en-US" dirty="0"/>
              <a:t>、</a:t>
            </a:r>
            <a:r>
              <a:rPr lang="en-US" altLang="zh-TW" dirty="0"/>
              <a:t>UAT)</a:t>
            </a:r>
            <a:endParaRPr lang="zh-TW" altLang="en-US" dirty="0"/>
          </a:p>
        </p:txBody>
      </p:sp>
      <p:sp>
        <p:nvSpPr>
          <p:cNvPr id="54" name="文字方塊 53">
            <a:extLst>
              <a:ext uri="{FF2B5EF4-FFF2-40B4-BE49-F238E27FC236}">
                <a16:creationId xmlns:a16="http://schemas.microsoft.com/office/drawing/2014/main" id="{AD32C30D-11EA-52F5-0AB7-629AEFE7603F}"/>
              </a:ext>
            </a:extLst>
          </p:cNvPr>
          <p:cNvSpPr txBox="1"/>
          <p:nvPr/>
        </p:nvSpPr>
        <p:spPr>
          <a:xfrm>
            <a:off x="3686725" y="3037463"/>
            <a:ext cx="1143893" cy="461665"/>
          </a:xfrm>
          <a:prstGeom prst="rect">
            <a:avLst/>
          </a:prstGeom>
          <a:solidFill>
            <a:srgbClr val="58798F"/>
          </a:solidFill>
        </p:spPr>
        <p:txBody>
          <a:bodyPr wrap="square" rtlCol="0">
            <a:spAutoFit/>
          </a:bodyPr>
          <a:lstStyle>
            <a:defPPr marR="0" lvl="0" algn="l" rtl="0">
              <a:lnSpc>
                <a:spcPct val="100000"/>
              </a:lnSpc>
              <a:spcBef>
                <a:spcPts val="0"/>
              </a:spcBef>
              <a:spcAft>
                <a:spcPts val="0"/>
              </a:spcAft>
              <a:defRPr/>
            </a:defPPr>
            <a:lvl1pPr algn="ctr">
              <a:defRPr sz="1260">
                <a:solidFill>
                  <a:schemeClr val="bg1"/>
                </a:solidFill>
                <a:latin typeface="微軟正黑體" panose="020B0604030504040204" pitchFamily="34" charset="-120"/>
                <a:ea typeface="微軟正黑體" panose="020B0604030504040204" pitchFamily="34" charset="-120"/>
              </a:defRPr>
            </a:lvl1pPr>
          </a:lstStyle>
          <a:p>
            <a:r>
              <a:rPr lang="zh-TW" altLang="en-US" sz="1200" dirty="0"/>
              <a:t>架構規劃設計、</a:t>
            </a:r>
            <a:r>
              <a:rPr lang="en-US" altLang="zh-TW" sz="1200" dirty="0"/>
              <a:t>CR</a:t>
            </a:r>
            <a:r>
              <a:rPr lang="zh-TW" altLang="en-US" sz="1200" dirty="0"/>
              <a:t>需求訪談</a:t>
            </a:r>
            <a:endParaRPr lang="en-US" altLang="zh-TW" sz="1200" dirty="0"/>
          </a:p>
        </p:txBody>
      </p:sp>
      <p:sp>
        <p:nvSpPr>
          <p:cNvPr id="56" name="文字方塊 55">
            <a:extLst>
              <a:ext uri="{FF2B5EF4-FFF2-40B4-BE49-F238E27FC236}">
                <a16:creationId xmlns:a16="http://schemas.microsoft.com/office/drawing/2014/main" id="{9DEF717F-7262-3068-091E-D3CE37BFA78E}"/>
              </a:ext>
            </a:extLst>
          </p:cNvPr>
          <p:cNvSpPr txBox="1"/>
          <p:nvPr/>
        </p:nvSpPr>
        <p:spPr>
          <a:xfrm>
            <a:off x="9642764" y="5335005"/>
            <a:ext cx="1180762" cy="480131"/>
          </a:xfrm>
          <a:prstGeom prst="rect">
            <a:avLst/>
          </a:prstGeom>
          <a:solidFill>
            <a:srgbClr val="58798F"/>
          </a:solidFill>
        </p:spPr>
        <p:txBody>
          <a:bodyPr wrap="square" rtlCol="0">
            <a:spAutoFit/>
          </a:bodyPr>
          <a:lstStyle>
            <a:defPPr marR="0" lvl="0" algn="l" rtl="0">
              <a:lnSpc>
                <a:spcPct val="100000"/>
              </a:lnSpc>
              <a:spcBef>
                <a:spcPts val="0"/>
              </a:spcBef>
              <a:spcAft>
                <a:spcPts val="0"/>
              </a:spcAft>
              <a:defRPr/>
            </a:defPPr>
            <a:lvl1pPr algn="ctr">
              <a:defRPr sz="1260">
                <a:solidFill>
                  <a:schemeClr val="bg1"/>
                </a:solidFill>
                <a:latin typeface="微軟正黑體" panose="020B0604030504040204" pitchFamily="34" charset="-120"/>
                <a:ea typeface="微軟正黑體" panose="020B0604030504040204" pitchFamily="34" charset="-120"/>
              </a:defRPr>
            </a:lvl1pPr>
          </a:lstStyle>
          <a:p>
            <a:r>
              <a:rPr lang="zh-TW" altLang="en-US" dirty="0"/>
              <a:t>教育訓練</a:t>
            </a:r>
            <a:br>
              <a:rPr lang="en-US" altLang="zh-TW" dirty="0"/>
            </a:br>
            <a:r>
              <a:rPr lang="zh-TW" altLang="en-US" dirty="0"/>
              <a:t>文件驗收</a:t>
            </a:r>
          </a:p>
        </p:txBody>
      </p:sp>
      <p:sp>
        <p:nvSpPr>
          <p:cNvPr id="3" name="文字方塊 2">
            <a:extLst>
              <a:ext uri="{FF2B5EF4-FFF2-40B4-BE49-F238E27FC236}">
                <a16:creationId xmlns:a16="http://schemas.microsoft.com/office/drawing/2014/main" id="{45D3E95C-B84D-911B-BBC9-1288008615EB}"/>
              </a:ext>
            </a:extLst>
          </p:cNvPr>
          <p:cNvSpPr txBox="1"/>
          <p:nvPr/>
        </p:nvSpPr>
        <p:spPr>
          <a:xfrm>
            <a:off x="5836408" y="3879339"/>
            <a:ext cx="985016" cy="286232"/>
          </a:xfrm>
          <a:prstGeom prst="rect">
            <a:avLst/>
          </a:prstGeom>
          <a:solidFill>
            <a:srgbClr val="58798F"/>
          </a:solidFill>
        </p:spPr>
        <p:txBody>
          <a:bodyPr wrap="square" rtlCol="0">
            <a:spAutoFit/>
          </a:bodyPr>
          <a:lstStyle>
            <a:defPPr marR="0" lvl="0" algn="l" rtl="0">
              <a:lnSpc>
                <a:spcPct val="100000"/>
              </a:lnSpc>
              <a:spcBef>
                <a:spcPts val="0"/>
              </a:spcBef>
              <a:spcAft>
                <a:spcPts val="0"/>
              </a:spcAft>
              <a:defRPr/>
            </a:defPPr>
            <a:lvl1pPr algn="ctr">
              <a:defRPr sz="1260">
                <a:solidFill>
                  <a:schemeClr val="bg1"/>
                </a:solidFill>
                <a:latin typeface="微軟正黑體" panose="020B0604030504040204" pitchFamily="34" charset="-120"/>
                <a:ea typeface="微軟正黑體" panose="020B0604030504040204" pitchFamily="34" charset="-120"/>
              </a:defRPr>
            </a:lvl1pPr>
          </a:lstStyle>
          <a:p>
            <a:r>
              <a:rPr lang="zh-TW" altLang="en-US" dirty="0"/>
              <a:t>環境建置</a:t>
            </a:r>
          </a:p>
        </p:txBody>
      </p:sp>
      <p:sp>
        <p:nvSpPr>
          <p:cNvPr id="8" name="文字方塊 7">
            <a:extLst>
              <a:ext uri="{FF2B5EF4-FFF2-40B4-BE49-F238E27FC236}">
                <a16:creationId xmlns:a16="http://schemas.microsoft.com/office/drawing/2014/main" id="{27B6A904-1576-603F-97B2-BD42BC2034C2}"/>
              </a:ext>
            </a:extLst>
          </p:cNvPr>
          <p:cNvSpPr txBox="1"/>
          <p:nvPr/>
        </p:nvSpPr>
        <p:spPr>
          <a:xfrm>
            <a:off x="9328728" y="4828452"/>
            <a:ext cx="314036" cy="480131"/>
          </a:xfrm>
          <a:prstGeom prst="rect">
            <a:avLst/>
          </a:prstGeom>
          <a:solidFill>
            <a:srgbClr val="58798F"/>
          </a:solidFill>
        </p:spPr>
        <p:txBody>
          <a:bodyPr wrap="square" rtlCol="0">
            <a:spAutoFit/>
          </a:bodyPr>
          <a:lstStyle>
            <a:defPPr marR="0" lvl="0" algn="l" rtl="0">
              <a:lnSpc>
                <a:spcPct val="100000"/>
              </a:lnSpc>
              <a:spcBef>
                <a:spcPts val="0"/>
              </a:spcBef>
              <a:spcAft>
                <a:spcPts val="0"/>
              </a:spcAft>
              <a:defRPr/>
            </a:defPPr>
            <a:lvl1pPr algn="ctr">
              <a:defRPr sz="1260">
                <a:solidFill>
                  <a:schemeClr val="bg1"/>
                </a:solidFill>
                <a:latin typeface="微軟正黑體" panose="020B0604030504040204" pitchFamily="34" charset="-120"/>
                <a:ea typeface="微軟正黑體" panose="020B0604030504040204" pitchFamily="34" charset="-120"/>
              </a:defRPr>
            </a:lvl1pPr>
          </a:lstStyle>
          <a:p>
            <a:r>
              <a:rPr lang="zh-TW" altLang="en-US" dirty="0"/>
              <a:t>上線</a:t>
            </a:r>
          </a:p>
        </p:txBody>
      </p:sp>
    </p:spTree>
    <p:extLst>
      <p:ext uri="{BB962C8B-B14F-4D97-AF65-F5344CB8AC3E}">
        <p14:creationId xmlns:p14="http://schemas.microsoft.com/office/powerpoint/2010/main" val="37499470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2E83F07-6F4A-D00B-4F07-E366EDE2B8B3}"/>
              </a:ext>
            </a:extLst>
          </p:cNvPr>
          <p:cNvSpPr>
            <a:spLocks noGrp="1"/>
          </p:cNvSpPr>
          <p:nvPr>
            <p:ph type="title"/>
          </p:nvPr>
        </p:nvSpPr>
        <p:spPr/>
        <p:txBody>
          <a:bodyPr/>
          <a:lstStyle/>
          <a:p>
            <a:r>
              <a:rPr lang="zh-TW" altLang="en-US" b="1" dirty="0"/>
              <a:t>附件</a:t>
            </a:r>
          </a:p>
        </p:txBody>
      </p:sp>
    </p:spTree>
    <p:extLst>
      <p:ext uri="{BB962C8B-B14F-4D97-AF65-F5344CB8AC3E}">
        <p14:creationId xmlns:p14="http://schemas.microsoft.com/office/powerpoint/2010/main" val="14754810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1">
            <a:extLst>
              <a:ext uri="{FF2B5EF4-FFF2-40B4-BE49-F238E27FC236}">
                <a16:creationId xmlns:a16="http://schemas.microsoft.com/office/drawing/2014/main" id="{C77FB4C2-C850-4788-BE2F-3C1FFA4729A7}"/>
              </a:ext>
            </a:extLst>
          </p:cNvPr>
          <p:cNvSpPr>
            <a:spLocks noGrp="1"/>
          </p:cNvSpPr>
          <p:nvPr>
            <p:ph type="title"/>
          </p:nvPr>
        </p:nvSpPr>
        <p:spPr>
          <a:xfrm>
            <a:off x="345905" y="142608"/>
            <a:ext cx="10717638" cy="600229"/>
          </a:xfrm>
        </p:spPr>
        <p:txBody>
          <a:bodyPr/>
          <a:lstStyle/>
          <a:p>
            <a:r>
              <a:rPr lang="zh-TW" altLang="en-US" dirty="0"/>
              <a:t>爬蟲程式</a:t>
            </a:r>
            <a:r>
              <a:rPr lang="en-US" altLang="zh-TW" dirty="0"/>
              <a:t>ADO</a:t>
            </a:r>
            <a:r>
              <a:rPr lang="zh-TW" altLang="en-US" dirty="0"/>
              <a:t>換版流程</a:t>
            </a:r>
            <a:r>
              <a:rPr lang="en-US" altLang="zh-TW" dirty="0"/>
              <a:t>(</a:t>
            </a:r>
            <a:r>
              <a:rPr lang="zh-TW" altLang="en-US" dirty="0"/>
              <a:t>包含</a:t>
            </a:r>
            <a:r>
              <a:rPr lang="en-US" altLang="zh-TW" dirty="0" err="1"/>
              <a:t>Fargate</a:t>
            </a:r>
            <a:r>
              <a:rPr lang="zh-TW" altLang="en-US" dirty="0"/>
              <a:t>和</a:t>
            </a:r>
            <a:r>
              <a:rPr lang="en-US" altLang="zh-TW" dirty="0"/>
              <a:t>Lambda</a:t>
            </a:r>
            <a:r>
              <a:rPr lang="zh-TW" altLang="en-US" dirty="0"/>
              <a:t>流程</a:t>
            </a:r>
            <a:r>
              <a:rPr lang="en-US" altLang="zh-TW" dirty="0"/>
              <a:t>)</a:t>
            </a:r>
            <a:endParaRPr lang="zh-TW" altLang="en-US" dirty="0"/>
          </a:p>
        </p:txBody>
      </p:sp>
      <p:sp>
        <p:nvSpPr>
          <p:cNvPr id="4" name="手繪多邊形: 圖案 3">
            <a:extLst>
              <a:ext uri="{FF2B5EF4-FFF2-40B4-BE49-F238E27FC236}">
                <a16:creationId xmlns:a16="http://schemas.microsoft.com/office/drawing/2014/main" id="{461158BE-5010-4EDB-A499-59E27332FA64}"/>
              </a:ext>
            </a:extLst>
          </p:cNvPr>
          <p:cNvSpPr/>
          <p:nvPr/>
        </p:nvSpPr>
        <p:spPr>
          <a:xfrm>
            <a:off x="345904" y="1727917"/>
            <a:ext cx="1730217" cy="1035360"/>
          </a:xfrm>
          <a:custGeom>
            <a:avLst/>
            <a:gdLst>
              <a:gd name="connsiteX0" fmla="*/ 0 w 2648148"/>
              <a:gd name="connsiteY0" fmla="*/ 0 h 1588889"/>
              <a:gd name="connsiteX1" fmla="*/ 2648148 w 2648148"/>
              <a:gd name="connsiteY1" fmla="*/ 0 h 1588889"/>
              <a:gd name="connsiteX2" fmla="*/ 2648148 w 2648148"/>
              <a:gd name="connsiteY2" fmla="*/ 1588889 h 1588889"/>
              <a:gd name="connsiteX3" fmla="*/ 0 w 2648148"/>
              <a:gd name="connsiteY3" fmla="*/ 1588889 h 1588889"/>
              <a:gd name="connsiteX4" fmla="*/ 0 w 2648148"/>
              <a:gd name="connsiteY4" fmla="*/ 0 h 1588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8148" h="1588889">
                <a:moveTo>
                  <a:pt x="0" y="0"/>
                </a:moveTo>
                <a:lnTo>
                  <a:pt x="2648148" y="0"/>
                </a:lnTo>
                <a:lnTo>
                  <a:pt x="2648148" y="1588889"/>
                </a:lnTo>
                <a:lnTo>
                  <a:pt x="0" y="1588889"/>
                </a:lnTo>
                <a:lnTo>
                  <a:pt x="0" y="0"/>
                </a:lnTo>
                <a:close/>
              </a:path>
            </a:pathLst>
          </a:custGeom>
          <a:solidFill>
            <a:srgbClr val="00B050"/>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3420" tIns="123420" rIns="123420" bIns="123420" numCol="1" spcCol="1270" anchor="ctr" anchorCtr="0">
            <a:noAutofit/>
          </a:bodyPr>
          <a:lstStyle/>
          <a:p>
            <a:pPr algn="ctr" defTabSz="771376">
              <a:lnSpc>
                <a:spcPct val="90000"/>
              </a:lnSpc>
              <a:spcBef>
                <a:spcPct val="0"/>
              </a:spcBef>
              <a:spcAft>
                <a:spcPct val="35000"/>
              </a:spcAft>
            </a:pPr>
            <a:r>
              <a:rPr lang="zh-TW" altLang="en-US" sz="1735" kern="1200" dirty="0">
                <a:solidFill>
                  <a:srgbClr val="FFFFFF"/>
                </a:solidFill>
                <a:latin typeface="微軟正黑體" panose="020B0604030504040204" pitchFamily="34" charset="-120"/>
                <a:ea typeface="微軟正黑體" panose="020B0604030504040204" pitchFamily="34" charset="-120"/>
              </a:rPr>
              <a:t>數科處</a:t>
            </a:r>
            <a:br>
              <a:rPr lang="en-US" altLang="zh-TW" sz="1735" kern="1200" dirty="0">
                <a:solidFill>
                  <a:srgbClr val="FFFFFF"/>
                </a:solidFill>
                <a:latin typeface="微軟正黑體" panose="020B0604030504040204" pitchFamily="34" charset="-120"/>
                <a:ea typeface="微軟正黑體" panose="020B0604030504040204" pitchFamily="34" charset="-120"/>
              </a:rPr>
            </a:br>
            <a:r>
              <a:rPr lang="zh-TW" altLang="en-US" sz="1735" kern="1200" dirty="0">
                <a:solidFill>
                  <a:srgbClr val="FFFFFF"/>
                </a:solidFill>
                <a:latin typeface="微軟正黑體" panose="020B0604030504040204" pitchFamily="34" charset="-120"/>
                <a:ea typeface="微軟正黑體" panose="020B0604030504040204" pitchFamily="34" charset="-120"/>
              </a:rPr>
              <a:t>提供爬蟲程式原始碼</a:t>
            </a:r>
          </a:p>
        </p:txBody>
      </p:sp>
      <p:sp>
        <p:nvSpPr>
          <p:cNvPr id="5" name="手繪多邊形: 圖案 4">
            <a:extLst>
              <a:ext uri="{FF2B5EF4-FFF2-40B4-BE49-F238E27FC236}">
                <a16:creationId xmlns:a16="http://schemas.microsoft.com/office/drawing/2014/main" id="{C0F6A9E6-4E0A-4B71-8264-BD8A030BF9DB}"/>
              </a:ext>
            </a:extLst>
          </p:cNvPr>
          <p:cNvSpPr/>
          <p:nvPr/>
        </p:nvSpPr>
        <p:spPr>
          <a:xfrm>
            <a:off x="2498912" y="1705480"/>
            <a:ext cx="2401538" cy="1147100"/>
          </a:xfrm>
          <a:custGeom>
            <a:avLst/>
            <a:gdLst>
              <a:gd name="connsiteX0" fmla="*/ 0 w 2648148"/>
              <a:gd name="connsiteY0" fmla="*/ 0 h 1588889"/>
              <a:gd name="connsiteX1" fmla="*/ 2648148 w 2648148"/>
              <a:gd name="connsiteY1" fmla="*/ 0 h 1588889"/>
              <a:gd name="connsiteX2" fmla="*/ 2648148 w 2648148"/>
              <a:gd name="connsiteY2" fmla="*/ 1588889 h 1588889"/>
              <a:gd name="connsiteX3" fmla="*/ 0 w 2648148"/>
              <a:gd name="connsiteY3" fmla="*/ 1588889 h 1588889"/>
              <a:gd name="connsiteX4" fmla="*/ 0 w 2648148"/>
              <a:gd name="connsiteY4" fmla="*/ 0 h 1588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8148" h="1588889">
                <a:moveTo>
                  <a:pt x="0" y="0"/>
                </a:moveTo>
                <a:lnTo>
                  <a:pt x="2648148" y="0"/>
                </a:lnTo>
                <a:lnTo>
                  <a:pt x="2648148" y="1588889"/>
                </a:lnTo>
                <a:lnTo>
                  <a:pt x="0" y="1588889"/>
                </a:lnTo>
                <a:lnTo>
                  <a:pt x="0" y="0"/>
                </a:lnTo>
                <a:close/>
              </a:path>
            </a:pathLst>
          </a:custGeom>
          <a:solidFill>
            <a:schemeClr val="accent1"/>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3420" tIns="123420" rIns="123420" bIns="123420" numCol="1" spcCol="1270" anchor="ctr" anchorCtr="0">
            <a:noAutofit/>
          </a:bodyPr>
          <a:lstStyle/>
          <a:p>
            <a:pPr algn="ctr" defTabSz="771376">
              <a:lnSpc>
                <a:spcPct val="90000"/>
              </a:lnSpc>
              <a:spcBef>
                <a:spcPct val="0"/>
              </a:spcBef>
              <a:spcAft>
                <a:spcPct val="35000"/>
              </a:spcAft>
            </a:pPr>
            <a:r>
              <a:rPr lang="zh-TW" altLang="en-US" sz="1735" kern="1200" dirty="0">
                <a:solidFill>
                  <a:srgbClr val="FFFFFF"/>
                </a:solidFill>
                <a:latin typeface="微軟正黑體" panose="020B0604030504040204" pitchFamily="34" charset="-120"/>
                <a:ea typeface="微軟正黑體" panose="020B0604030504040204" pitchFamily="34" charset="-120"/>
              </a:rPr>
              <a:t>對爬蟲程式進行原始碼掃描</a:t>
            </a:r>
            <a:r>
              <a:rPr lang="en-US" altLang="zh-TW" sz="1735" kern="1200" dirty="0">
                <a:solidFill>
                  <a:srgbClr val="FFFFFF"/>
                </a:solidFill>
                <a:latin typeface="微軟正黑體" panose="020B0604030504040204" pitchFamily="34" charset="-120"/>
                <a:ea typeface="微軟正黑體" panose="020B0604030504040204" pitchFamily="34" charset="-120"/>
              </a:rPr>
              <a:t>(Fortify)&amp;</a:t>
            </a:r>
            <a:r>
              <a:rPr lang="zh-TW" altLang="en-US" sz="1735" kern="1200" dirty="0">
                <a:solidFill>
                  <a:srgbClr val="FFFFFF"/>
                </a:solidFill>
                <a:latin typeface="微軟正黑體" panose="020B0604030504040204" pitchFamily="34" charset="-120"/>
                <a:ea typeface="微軟正黑體" panose="020B0604030504040204" pitchFamily="34" charset="-120"/>
              </a:rPr>
              <a:t>套件掃描</a:t>
            </a:r>
            <a:r>
              <a:rPr lang="en-US" altLang="zh-TW" sz="1735" kern="1200" dirty="0">
                <a:solidFill>
                  <a:srgbClr val="FFFFFF"/>
                </a:solidFill>
                <a:latin typeface="微軟正黑體" panose="020B0604030504040204" pitchFamily="34" charset="-120"/>
                <a:ea typeface="微軟正黑體" panose="020B0604030504040204" pitchFamily="34" charset="-120"/>
              </a:rPr>
              <a:t>(White Source)</a:t>
            </a:r>
            <a:endParaRPr lang="zh-TW" altLang="en-US" sz="1735" kern="1200" dirty="0">
              <a:solidFill>
                <a:srgbClr val="FFFFFF"/>
              </a:solidFill>
              <a:latin typeface="微軟正黑體" panose="020B0604030504040204" pitchFamily="34" charset="-120"/>
              <a:ea typeface="微軟正黑體" panose="020B0604030504040204" pitchFamily="34" charset="-120"/>
            </a:endParaRPr>
          </a:p>
        </p:txBody>
      </p:sp>
      <p:sp>
        <p:nvSpPr>
          <p:cNvPr id="7" name="手繪多邊形: 圖案 6">
            <a:extLst>
              <a:ext uri="{FF2B5EF4-FFF2-40B4-BE49-F238E27FC236}">
                <a16:creationId xmlns:a16="http://schemas.microsoft.com/office/drawing/2014/main" id="{712F0B26-02E6-4257-B704-DFF375C10CE1}"/>
              </a:ext>
            </a:extLst>
          </p:cNvPr>
          <p:cNvSpPr/>
          <p:nvPr/>
        </p:nvSpPr>
        <p:spPr>
          <a:xfrm>
            <a:off x="5662881" y="1711391"/>
            <a:ext cx="2279492" cy="1068411"/>
          </a:xfrm>
          <a:custGeom>
            <a:avLst/>
            <a:gdLst>
              <a:gd name="connsiteX0" fmla="*/ 0 w 2648148"/>
              <a:gd name="connsiteY0" fmla="*/ 0 h 1588889"/>
              <a:gd name="connsiteX1" fmla="*/ 2648148 w 2648148"/>
              <a:gd name="connsiteY1" fmla="*/ 0 h 1588889"/>
              <a:gd name="connsiteX2" fmla="*/ 2648148 w 2648148"/>
              <a:gd name="connsiteY2" fmla="*/ 1588889 h 1588889"/>
              <a:gd name="connsiteX3" fmla="*/ 0 w 2648148"/>
              <a:gd name="connsiteY3" fmla="*/ 1588889 h 1588889"/>
              <a:gd name="connsiteX4" fmla="*/ 0 w 2648148"/>
              <a:gd name="connsiteY4" fmla="*/ 0 h 1588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8148" h="1588889">
                <a:moveTo>
                  <a:pt x="0" y="0"/>
                </a:moveTo>
                <a:lnTo>
                  <a:pt x="2648148" y="0"/>
                </a:lnTo>
                <a:lnTo>
                  <a:pt x="2648148" y="1588889"/>
                </a:lnTo>
                <a:lnTo>
                  <a:pt x="0" y="1588889"/>
                </a:lnTo>
                <a:lnTo>
                  <a:pt x="0" y="0"/>
                </a:lnTo>
                <a:close/>
              </a:path>
            </a:pathLst>
          </a:custGeom>
          <a:solidFill>
            <a:schemeClr val="accent1"/>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3420" tIns="123420" rIns="123420" bIns="123420" numCol="1" spcCol="1270" anchor="ctr" anchorCtr="0">
            <a:noAutofit/>
          </a:bodyPr>
          <a:lstStyle/>
          <a:p>
            <a:pPr algn="ctr" defTabSz="771376">
              <a:lnSpc>
                <a:spcPct val="90000"/>
              </a:lnSpc>
              <a:spcBef>
                <a:spcPct val="0"/>
              </a:spcBef>
              <a:spcAft>
                <a:spcPct val="35000"/>
              </a:spcAft>
            </a:pPr>
            <a:r>
              <a:rPr lang="zh-TW" altLang="en-US" sz="1735" kern="1200" dirty="0">
                <a:solidFill>
                  <a:srgbClr val="FFFFFF"/>
                </a:solidFill>
                <a:latin typeface="微軟正黑體" panose="020B0604030504040204" pitchFamily="34" charset="-120"/>
                <a:ea typeface="微軟正黑體" panose="020B0604030504040204" pitchFamily="34" charset="-120"/>
              </a:rPr>
              <a:t>上傳爬蟲程式</a:t>
            </a:r>
            <a:r>
              <a:rPr lang="en-US" altLang="zh-TW" sz="1735" kern="1200" dirty="0">
                <a:solidFill>
                  <a:srgbClr val="FFFFFF"/>
                </a:solidFill>
                <a:latin typeface="微軟正黑體" panose="020B0604030504040204" pitchFamily="34" charset="-120"/>
                <a:ea typeface="微軟正黑體" panose="020B0604030504040204" pitchFamily="34" charset="-120"/>
              </a:rPr>
              <a:t>(ZIP)</a:t>
            </a:r>
            <a:r>
              <a:rPr lang="zh-TW" altLang="en-US" sz="1735" kern="1200" dirty="0">
                <a:solidFill>
                  <a:srgbClr val="FFFFFF"/>
                </a:solidFill>
                <a:latin typeface="微軟正黑體" panose="020B0604030504040204" pitchFamily="34" charset="-120"/>
                <a:ea typeface="微軟正黑體" panose="020B0604030504040204" pitchFamily="34" charset="-120"/>
              </a:rPr>
              <a:t>至</a:t>
            </a:r>
            <a:r>
              <a:rPr lang="en-US" altLang="zh-TW" sz="1735" kern="1200" dirty="0">
                <a:solidFill>
                  <a:srgbClr val="FFFFFF"/>
                </a:solidFill>
                <a:latin typeface="微軟正黑體" panose="020B0604030504040204" pitchFamily="34" charset="-120"/>
                <a:ea typeface="微軟正黑體" panose="020B0604030504040204" pitchFamily="34" charset="-120"/>
              </a:rPr>
              <a:t>Build Server</a:t>
            </a:r>
          </a:p>
        </p:txBody>
      </p:sp>
      <p:sp>
        <p:nvSpPr>
          <p:cNvPr id="8" name="手繪多邊形: 圖案 7">
            <a:extLst>
              <a:ext uri="{FF2B5EF4-FFF2-40B4-BE49-F238E27FC236}">
                <a16:creationId xmlns:a16="http://schemas.microsoft.com/office/drawing/2014/main" id="{69443EE7-012F-456E-A8E6-2CA2A09A6DE4}"/>
              </a:ext>
            </a:extLst>
          </p:cNvPr>
          <p:cNvSpPr/>
          <p:nvPr/>
        </p:nvSpPr>
        <p:spPr>
          <a:xfrm>
            <a:off x="8471895" y="1624954"/>
            <a:ext cx="2121715" cy="1261045"/>
          </a:xfrm>
          <a:custGeom>
            <a:avLst/>
            <a:gdLst>
              <a:gd name="connsiteX0" fmla="*/ 0 w 2648148"/>
              <a:gd name="connsiteY0" fmla="*/ 0 h 1588889"/>
              <a:gd name="connsiteX1" fmla="*/ 2648148 w 2648148"/>
              <a:gd name="connsiteY1" fmla="*/ 0 h 1588889"/>
              <a:gd name="connsiteX2" fmla="*/ 2648148 w 2648148"/>
              <a:gd name="connsiteY2" fmla="*/ 1588889 h 1588889"/>
              <a:gd name="connsiteX3" fmla="*/ 0 w 2648148"/>
              <a:gd name="connsiteY3" fmla="*/ 1588889 h 1588889"/>
              <a:gd name="connsiteX4" fmla="*/ 0 w 2648148"/>
              <a:gd name="connsiteY4" fmla="*/ 0 h 1588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8148" h="1588889">
                <a:moveTo>
                  <a:pt x="0" y="0"/>
                </a:moveTo>
                <a:lnTo>
                  <a:pt x="2648148" y="0"/>
                </a:lnTo>
                <a:lnTo>
                  <a:pt x="2648148" y="1588889"/>
                </a:lnTo>
                <a:lnTo>
                  <a:pt x="0" y="1588889"/>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3420" tIns="123420" rIns="123420" bIns="123420" numCol="1" spcCol="1270" anchor="ctr" anchorCtr="0">
            <a:noAutofit/>
          </a:bodyPr>
          <a:lstStyle/>
          <a:p>
            <a:pPr algn="ctr" defTabSz="771376">
              <a:lnSpc>
                <a:spcPct val="90000"/>
              </a:lnSpc>
              <a:spcBef>
                <a:spcPct val="0"/>
              </a:spcBef>
              <a:spcAft>
                <a:spcPct val="35000"/>
              </a:spcAft>
            </a:pPr>
            <a:r>
              <a:rPr lang="zh-TW" altLang="en-US" sz="1735" kern="1200" dirty="0">
                <a:solidFill>
                  <a:srgbClr val="FFFFFF"/>
                </a:solidFill>
                <a:latin typeface="微軟正黑體" panose="020B0604030504040204" pitchFamily="34" charset="-120"/>
                <a:ea typeface="微軟正黑體" panose="020B0604030504040204" pitchFamily="34" charset="-120"/>
              </a:rPr>
              <a:t>從行內</a:t>
            </a:r>
            <a:r>
              <a:rPr lang="en-US" altLang="zh-TW" sz="1735" kern="1200" dirty="0">
                <a:solidFill>
                  <a:srgbClr val="FFFFFF"/>
                </a:solidFill>
                <a:latin typeface="微軟正黑體" panose="020B0604030504040204" pitchFamily="34" charset="-120"/>
                <a:ea typeface="微軟正黑體" panose="020B0604030504040204" pitchFamily="34" charset="-120"/>
              </a:rPr>
              <a:t>Quay</a:t>
            </a:r>
          </a:p>
          <a:p>
            <a:pPr algn="ctr" defTabSz="771376">
              <a:lnSpc>
                <a:spcPct val="90000"/>
              </a:lnSpc>
              <a:spcBef>
                <a:spcPct val="0"/>
              </a:spcBef>
              <a:spcAft>
                <a:spcPct val="35000"/>
              </a:spcAft>
            </a:pPr>
            <a:r>
              <a:rPr lang="en-US" altLang="zh-TW" sz="1735" kern="1200" dirty="0">
                <a:solidFill>
                  <a:srgbClr val="FFFFFF"/>
                </a:solidFill>
                <a:latin typeface="微軟正黑體" panose="020B0604030504040204" pitchFamily="34" charset="-120"/>
                <a:ea typeface="微軟正黑體" panose="020B0604030504040204" pitchFamily="34" charset="-120"/>
              </a:rPr>
              <a:t>Pull Base Image</a:t>
            </a:r>
            <a:r>
              <a:rPr lang="zh-TW" altLang="en-US" sz="1735" kern="1200" dirty="0">
                <a:solidFill>
                  <a:srgbClr val="FFFFFF"/>
                </a:solidFill>
                <a:latin typeface="微軟正黑體" panose="020B0604030504040204" pitchFamily="34" charset="-120"/>
                <a:ea typeface="微軟正黑體" panose="020B0604030504040204" pitchFamily="34" charset="-120"/>
              </a:rPr>
              <a:t>至</a:t>
            </a:r>
            <a:endParaRPr lang="en-US" altLang="zh-TW" sz="1735" kern="1200" dirty="0">
              <a:solidFill>
                <a:srgbClr val="FFFFFF"/>
              </a:solidFill>
              <a:latin typeface="微軟正黑體" panose="020B0604030504040204" pitchFamily="34" charset="-120"/>
              <a:ea typeface="微軟正黑體" panose="020B0604030504040204" pitchFamily="34" charset="-120"/>
            </a:endParaRPr>
          </a:p>
          <a:p>
            <a:pPr algn="ctr" defTabSz="771376">
              <a:lnSpc>
                <a:spcPct val="90000"/>
              </a:lnSpc>
              <a:spcBef>
                <a:spcPct val="0"/>
              </a:spcBef>
              <a:spcAft>
                <a:spcPct val="35000"/>
              </a:spcAft>
            </a:pPr>
            <a:r>
              <a:rPr lang="en-US" altLang="zh-TW" sz="1735" kern="1200" dirty="0">
                <a:solidFill>
                  <a:srgbClr val="FFFFFF"/>
                </a:solidFill>
                <a:latin typeface="微軟正黑體" panose="020B0604030504040204" pitchFamily="34" charset="-120"/>
                <a:ea typeface="微軟正黑體" panose="020B0604030504040204" pitchFamily="34" charset="-120"/>
              </a:rPr>
              <a:t>Build Server</a:t>
            </a:r>
          </a:p>
        </p:txBody>
      </p:sp>
      <p:sp>
        <p:nvSpPr>
          <p:cNvPr id="9" name="手繪多邊形: 圖案 8">
            <a:extLst>
              <a:ext uri="{FF2B5EF4-FFF2-40B4-BE49-F238E27FC236}">
                <a16:creationId xmlns:a16="http://schemas.microsoft.com/office/drawing/2014/main" id="{2DBEAD30-D93E-4AD0-BDAB-146692FC7E02}"/>
              </a:ext>
            </a:extLst>
          </p:cNvPr>
          <p:cNvSpPr/>
          <p:nvPr/>
        </p:nvSpPr>
        <p:spPr>
          <a:xfrm>
            <a:off x="349941" y="3644090"/>
            <a:ext cx="2326034" cy="1287954"/>
          </a:xfrm>
          <a:custGeom>
            <a:avLst/>
            <a:gdLst>
              <a:gd name="connsiteX0" fmla="*/ 0 w 2648148"/>
              <a:gd name="connsiteY0" fmla="*/ 0 h 1588889"/>
              <a:gd name="connsiteX1" fmla="*/ 2648148 w 2648148"/>
              <a:gd name="connsiteY1" fmla="*/ 0 h 1588889"/>
              <a:gd name="connsiteX2" fmla="*/ 2648148 w 2648148"/>
              <a:gd name="connsiteY2" fmla="*/ 1588889 h 1588889"/>
              <a:gd name="connsiteX3" fmla="*/ 0 w 2648148"/>
              <a:gd name="connsiteY3" fmla="*/ 1588889 h 1588889"/>
              <a:gd name="connsiteX4" fmla="*/ 0 w 2648148"/>
              <a:gd name="connsiteY4" fmla="*/ 0 h 1588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8148" h="1588889">
                <a:moveTo>
                  <a:pt x="0" y="0"/>
                </a:moveTo>
                <a:lnTo>
                  <a:pt x="2648148" y="0"/>
                </a:lnTo>
                <a:lnTo>
                  <a:pt x="2648148" y="1588889"/>
                </a:lnTo>
                <a:lnTo>
                  <a:pt x="0" y="1588889"/>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3420" tIns="123420" rIns="123420" bIns="123420" numCol="1" spcCol="1270" anchor="ctr" anchorCtr="0">
            <a:noAutofit/>
          </a:bodyPr>
          <a:lstStyle/>
          <a:p>
            <a:pPr algn="ctr" defTabSz="771376">
              <a:lnSpc>
                <a:spcPct val="90000"/>
              </a:lnSpc>
              <a:spcBef>
                <a:spcPct val="0"/>
              </a:spcBef>
              <a:spcAft>
                <a:spcPct val="35000"/>
              </a:spcAft>
            </a:pPr>
            <a:r>
              <a:rPr lang="en-US" altLang="zh-TW" sz="1735" kern="1200" dirty="0">
                <a:solidFill>
                  <a:srgbClr val="FFFFFF"/>
                </a:solidFill>
                <a:latin typeface="微軟正黑體" panose="020B0604030504040204" pitchFamily="34" charset="-120"/>
                <a:ea typeface="微軟正黑體" panose="020B0604030504040204" pitchFamily="34" charset="-120"/>
              </a:rPr>
              <a:t>Build Crawler Image</a:t>
            </a:r>
          </a:p>
          <a:p>
            <a:pPr algn="ctr" defTabSz="771376">
              <a:lnSpc>
                <a:spcPct val="90000"/>
              </a:lnSpc>
              <a:spcBef>
                <a:spcPct val="0"/>
              </a:spcBef>
              <a:spcAft>
                <a:spcPct val="35000"/>
              </a:spcAft>
            </a:pPr>
            <a:r>
              <a:rPr lang="en-US" altLang="zh-TW" sz="1735" kern="1200" dirty="0">
                <a:solidFill>
                  <a:srgbClr val="FFFFFF"/>
                </a:solidFill>
                <a:latin typeface="微軟正黑體" panose="020B0604030504040204" pitchFamily="34" charset="-120"/>
                <a:ea typeface="微軟正黑體" panose="020B0604030504040204" pitchFamily="34" charset="-120"/>
              </a:rPr>
              <a:t>(Base Image+</a:t>
            </a:r>
            <a:r>
              <a:rPr lang="zh-TW" altLang="en-US" sz="1735" kern="1200" dirty="0">
                <a:solidFill>
                  <a:srgbClr val="FFFFFF"/>
                </a:solidFill>
                <a:latin typeface="微軟正黑體" panose="020B0604030504040204" pitchFamily="34" charset="-120"/>
                <a:ea typeface="微軟正黑體" panose="020B0604030504040204" pitchFamily="34" charset="-120"/>
              </a:rPr>
              <a:t>爬蟲程式</a:t>
            </a:r>
            <a:r>
              <a:rPr lang="en-US" altLang="zh-TW" sz="1735" kern="1200" dirty="0">
                <a:solidFill>
                  <a:srgbClr val="FFFFFF"/>
                </a:solidFill>
                <a:latin typeface="微軟正黑體" panose="020B0604030504040204" pitchFamily="34" charset="-120"/>
                <a:ea typeface="微軟正黑體" panose="020B0604030504040204" pitchFamily="34" charset="-120"/>
              </a:rPr>
              <a:t>+</a:t>
            </a:r>
            <a:r>
              <a:rPr lang="zh-TW" altLang="en-US" sz="1735" kern="1200" dirty="0">
                <a:solidFill>
                  <a:srgbClr val="FFFFFF"/>
                </a:solidFill>
                <a:latin typeface="微軟正黑體" panose="020B0604030504040204" pitchFamily="34" charset="-120"/>
                <a:ea typeface="微軟正黑體" panose="020B0604030504040204" pitchFamily="34" charset="-120"/>
              </a:rPr>
              <a:t>套件</a:t>
            </a:r>
            <a:r>
              <a:rPr lang="en-US" altLang="zh-TW" sz="1735" kern="1200" dirty="0">
                <a:solidFill>
                  <a:srgbClr val="FFFFFF"/>
                </a:solidFill>
                <a:latin typeface="微軟正黑體" panose="020B0604030504040204" pitchFamily="34" charset="-120"/>
                <a:ea typeface="微軟正黑體" panose="020B0604030504040204" pitchFamily="34" charset="-120"/>
              </a:rPr>
              <a:t>)</a:t>
            </a:r>
          </a:p>
          <a:p>
            <a:pPr algn="ctr" defTabSz="771376">
              <a:lnSpc>
                <a:spcPct val="90000"/>
              </a:lnSpc>
              <a:spcBef>
                <a:spcPct val="0"/>
              </a:spcBef>
              <a:spcAft>
                <a:spcPct val="35000"/>
              </a:spcAft>
            </a:pPr>
            <a:r>
              <a:rPr lang="en-US" altLang="zh-TW" sz="1735" kern="1200" dirty="0">
                <a:solidFill>
                  <a:srgbClr val="FFFF00"/>
                </a:solidFill>
                <a:latin typeface="微軟正黑體" panose="020B0604030504040204" pitchFamily="34" charset="-120"/>
                <a:ea typeface="微軟正黑體" panose="020B0604030504040204" pitchFamily="34" charset="-120"/>
              </a:rPr>
              <a:t>(For </a:t>
            </a:r>
            <a:r>
              <a:rPr lang="en-US" altLang="zh-TW" sz="1735" kern="1200" dirty="0" err="1">
                <a:solidFill>
                  <a:srgbClr val="FFFF00"/>
                </a:solidFill>
                <a:latin typeface="微軟正黑體" panose="020B0604030504040204" pitchFamily="34" charset="-120"/>
                <a:ea typeface="微軟正黑體" panose="020B0604030504040204" pitchFamily="34" charset="-120"/>
              </a:rPr>
              <a:t>Fargate</a:t>
            </a:r>
            <a:r>
              <a:rPr lang="en-US" altLang="zh-TW" sz="1735" kern="1200" dirty="0">
                <a:solidFill>
                  <a:srgbClr val="FFFF00"/>
                </a:solidFill>
                <a:latin typeface="微軟正黑體" panose="020B0604030504040204" pitchFamily="34" charset="-120"/>
                <a:ea typeface="微軟正黑體" panose="020B0604030504040204" pitchFamily="34" charset="-120"/>
              </a:rPr>
              <a:t>)</a:t>
            </a:r>
          </a:p>
        </p:txBody>
      </p:sp>
      <p:sp>
        <p:nvSpPr>
          <p:cNvPr id="10" name="手繪多邊形: 圖案 9">
            <a:extLst>
              <a:ext uri="{FF2B5EF4-FFF2-40B4-BE49-F238E27FC236}">
                <a16:creationId xmlns:a16="http://schemas.microsoft.com/office/drawing/2014/main" id="{44DE58D8-3376-4C0D-AAFA-263218FE41F5}"/>
              </a:ext>
            </a:extLst>
          </p:cNvPr>
          <p:cNvSpPr/>
          <p:nvPr/>
        </p:nvSpPr>
        <p:spPr>
          <a:xfrm>
            <a:off x="7726117" y="3873241"/>
            <a:ext cx="1811839" cy="681398"/>
          </a:xfrm>
          <a:custGeom>
            <a:avLst/>
            <a:gdLst>
              <a:gd name="connsiteX0" fmla="*/ 0 w 2648148"/>
              <a:gd name="connsiteY0" fmla="*/ 0 h 1588889"/>
              <a:gd name="connsiteX1" fmla="*/ 2648148 w 2648148"/>
              <a:gd name="connsiteY1" fmla="*/ 0 h 1588889"/>
              <a:gd name="connsiteX2" fmla="*/ 2648148 w 2648148"/>
              <a:gd name="connsiteY2" fmla="*/ 1588889 h 1588889"/>
              <a:gd name="connsiteX3" fmla="*/ 0 w 2648148"/>
              <a:gd name="connsiteY3" fmla="*/ 1588889 h 1588889"/>
              <a:gd name="connsiteX4" fmla="*/ 0 w 2648148"/>
              <a:gd name="connsiteY4" fmla="*/ 0 h 1588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8148" h="1588889">
                <a:moveTo>
                  <a:pt x="0" y="0"/>
                </a:moveTo>
                <a:lnTo>
                  <a:pt x="2648148" y="0"/>
                </a:lnTo>
                <a:lnTo>
                  <a:pt x="2648148" y="1588889"/>
                </a:lnTo>
                <a:lnTo>
                  <a:pt x="0" y="1588889"/>
                </a:lnTo>
                <a:lnTo>
                  <a:pt x="0" y="0"/>
                </a:lnTo>
                <a:close/>
              </a:path>
            </a:pathLst>
          </a:custGeom>
          <a:solidFill>
            <a:schemeClr val="accent1"/>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3420" tIns="123420" rIns="123420" bIns="123420" numCol="1" spcCol="1270" anchor="ctr" anchorCtr="0">
            <a:noAutofit/>
          </a:bodyPr>
          <a:lstStyle/>
          <a:p>
            <a:pPr algn="ctr" defTabSz="771376">
              <a:lnSpc>
                <a:spcPct val="90000"/>
              </a:lnSpc>
              <a:spcBef>
                <a:spcPct val="0"/>
              </a:spcBef>
              <a:spcAft>
                <a:spcPct val="35000"/>
              </a:spcAft>
            </a:pPr>
            <a:r>
              <a:rPr lang="en-US" altLang="zh-TW" sz="1735" kern="1200" dirty="0">
                <a:solidFill>
                  <a:srgbClr val="FFFFFF"/>
                </a:solidFill>
                <a:latin typeface="微軟正黑體" panose="020B0604030504040204" pitchFamily="34" charset="-120"/>
                <a:ea typeface="微軟正黑體" panose="020B0604030504040204" pitchFamily="34" charset="-120"/>
              </a:rPr>
              <a:t>Push Crawler Image</a:t>
            </a:r>
            <a:endParaRPr lang="zh-TW" altLang="en-US" sz="1735" kern="1200" dirty="0">
              <a:solidFill>
                <a:srgbClr val="FFFFFF"/>
              </a:solidFill>
              <a:latin typeface="微軟正黑體" panose="020B0604030504040204" pitchFamily="34" charset="-120"/>
              <a:ea typeface="微軟正黑體" panose="020B0604030504040204" pitchFamily="34" charset="-120"/>
            </a:endParaRPr>
          </a:p>
        </p:txBody>
      </p:sp>
      <p:sp>
        <p:nvSpPr>
          <p:cNvPr id="11" name="矩形 10">
            <a:extLst>
              <a:ext uri="{FF2B5EF4-FFF2-40B4-BE49-F238E27FC236}">
                <a16:creationId xmlns:a16="http://schemas.microsoft.com/office/drawing/2014/main" id="{9836E759-B09F-4CCE-BAFB-E76F80CAFD61}"/>
              </a:ext>
            </a:extLst>
          </p:cNvPr>
          <p:cNvSpPr/>
          <p:nvPr/>
        </p:nvSpPr>
        <p:spPr bwMode="auto">
          <a:xfrm>
            <a:off x="258540" y="3328801"/>
            <a:ext cx="11050939" cy="1842094"/>
          </a:xfrm>
          <a:prstGeom prst="rect">
            <a:avLst/>
          </a:prstGeom>
          <a:noFill/>
          <a:ln w="38100" cap="flat" cmpd="sng" algn="ctr">
            <a:solidFill>
              <a:schemeClr val="accent3">
                <a:lumMod val="60000"/>
                <a:lumOff val="40000"/>
              </a:schemeClr>
            </a:solidFill>
            <a:prstDash val="solid"/>
            <a:round/>
            <a:headEnd type="none" w="med" len="med"/>
            <a:tailEnd type="none" w="med" len="med"/>
          </a:ln>
          <a:effectLst/>
        </p:spPr>
        <p:txBody>
          <a:bodyPr vert="horz" wrap="square" lIns="88157" tIns="44079" rIns="88157" bIns="44079" numCol="1" rtlCol="0" anchor="t" anchorCtr="0" compatLnSpc="1">
            <a:prstTxWarp prst="textNoShape">
              <a:avLst/>
            </a:prstTxWarp>
          </a:bodyPr>
          <a:lstStyle/>
          <a:p>
            <a:pPr defTabSz="881573" fontAlgn="base">
              <a:spcBef>
                <a:spcPct val="0"/>
              </a:spcBef>
              <a:spcAft>
                <a:spcPct val="0"/>
              </a:spcAft>
              <a:buClrTx/>
            </a:pPr>
            <a:endParaRPr lang="zh-TW" altLang="en-US" sz="3856" b="1">
              <a:latin typeface="Arial" charset="0"/>
              <a:ea typeface="华文楷体" pitchFamily="2" charset="-122"/>
            </a:endParaRPr>
          </a:p>
        </p:txBody>
      </p:sp>
      <p:grpSp>
        <p:nvGrpSpPr>
          <p:cNvPr id="12" name="群組 11">
            <a:extLst>
              <a:ext uri="{FF2B5EF4-FFF2-40B4-BE49-F238E27FC236}">
                <a16:creationId xmlns:a16="http://schemas.microsoft.com/office/drawing/2014/main" id="{04808E90-E333-4596-ABD4-7D906B10C095}"/>
              </a:ext>
            </a:extLst>
          </p:cNvPr>
          <p:cNvGrpSpPr/>
          <p:nvPr/>
        </p:nvGrpSpPr>
        <p:grpSpPr>
          <a:xfrm>
            <a:off x="7340043" y="842468"/>
            <a:ext cx="1775871" cy="552871"/>
            <a:chOff x="4159475" y="2864062"/>
            <a:chExt cx="2776151" cy="660388"/>
          </a:xfrm>
        </p:grpSpPr>
        <p:sp>
          <p:nvSpPr>
            <p:cNvPr id="2" name="矩形: 圓角 1">
              <a:extLst>
                <a:ext uri="{FF2B5EF4-FFF2-40B4-BE49-F238E27FC236}">
                  <a16:creationId xmlns:a16="http://schemas.microsoft.com/office/drawing/2014/main" id="{5DBE51AE-0D18-4508-AC0C-CCA958E49F36}"/>
                </a:ext>
              </a:extLst>
            </p:cNvPr>
            <p:cNvSpPr/>
            <p:nvPr/>
          </p:nvSpPr>
          <p:spPr>
            <a:xfrm>
              <a:off x="4159475" y="2864062"/>
              <a:ext cx="2776151" cy="660388"/>
            </a:xfrm>
            <a:prstGeom prst="roundRect">
              <a:avLst/>
            </a:prstGeom>
            <a:solidFill>
              <a:srgbClr val="FFFFFF"/>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81573"/>
              <a:endParaRPr lang="zh-TW" altLang="en-US" sz="1350">
                <a:solidFill>
                  <a:srgbClr val="FFFFFF"/>
                </a:solidFill>
                <a:latin typeface="Arial"/>
                <a:ea typeface="新細明體" panose="02020500000000000000" pitchFamily="18" charset="-120"/>
              </a:endParaRPr>
            </a:p>
          </p:txBody>
        </p:sp>
        <p:sp>
          <p:nvSpPr>
            <p:cNvPr id="6" name="文字方塊 5">
              <a:extLst>
                <a:ext uri="{FF2B5EF4-FFF2-40B4-BE49-F238E27FC236}">
                  <a16:creationId xmlns:a16="http://schemas.microsoft.com/office/drawing/2014/main" id="{716E1985-281B-47CD-B7D2-A1D96D2E24C6}"/>
                </a:ext>
              </a:extLst>
            </p:cNvPr>
            <p:cNvSpPr txBox="1"/>
            <p:nvPr/>
          </p:nvSpPr>
          <p:spPr>
            <a:xfrm>
              <a:off x="4332283" y="2920163"/>
              <a:ext cx="2553693" cy="571129"/>
            </a:xfrm>
            <a:prstGeom prst="rect">
              <a:avLst/>
            </a:prstGeom>
            <a:noFill/>
          </p:spPr>
          <p:txBody>
            <a:bodyPr wrap="square" rtlCol="0">
              <a:spAutoFit/>
            </a:bodyPr>
            <a:lstStyle/>
            <a:p>
              <a:pPr algn="ctr" defTabSz="881573"/>
              <a:r>
                <a:rPr lang="en-US" altLang="zh-TW" sz="2507" dirty="0">
                  <a:latin typeface="微軟正黑體" panose="020B0604030504040204" pitchFamily="34" charset="-120"/>
                  <a:ea typeface="微軟正黑體" panose="020B0604030504040204" pitchFamily="34" charset="-120"/>
                </a:rPr>
                <a:t>ADO</a:t>
              </a:r>
              <a:r>
                <a:rPr lang="zh-TW" altLang="en-US" sz="2507" dirty="0">
                  <a:latin typeface="微軟正黑體" panose="020B0604030504040204" pitchFamily="34" charset="-120"/>
                  <a:ea typeface="微軟正黑體" panose="020B0604030504040204" pitchFamily="34" charset="-120"/>
                </a:rPr>
                <a:t>流程</a:t>
              </a:r>
              <a:endParaRPr lang="en-US" altLang="zh-TW" sz="2507" dirty="0">
                <a:latin typeface="微軟正黑體" panose="020B0604030504040204" pitchFamily="34" charset="-120"/>
                <a:ea typeface="微軟正黑體" panose="020B0604030504040204" pitchFamily="34" charset="-120"/>
              </a:endParaRPr>
            </a:p>
          </p:txBody>
        </p:sp>
      </p:grpSp>
      <p:sp>
        <p:nvSpPr>
          <p:cNvPr id="13" name="手繪多邊形: 圖案 12">
            <a:extLst>
              <a:ext uri="{FF2B5EF4-FFF2-40B4-BE49-F238E27FC236}">
                <a16:creationId xmlns:a16="http://schemas.microsoft.com/office/drawing/2014/main" id="{ABF11E6A-8A3C-48D7-AEF6-C5C282880D20}"/>
              </a:ext>
            </a:extLst>
          </p:cNvPr>
          <p:cNvSpPr/>
          <p:nvPr/>
        </p:nvSpPr>
        <p:spPr>
          <a:xfrm>
            <a:off x="3057558" y="3760935"/>
            <a:ext cx="1992780" cy="937687"/>
          </a:xfrm>
          <a:custGeom>
            <a:avLst/>
            <a:gdLst>
              <a:gd name="connsiteX0" fmla="*/ 0 w 2648148"/>
              <a:gd name="connsiteY0" fmla="*/ 0 h 1588889"/>
              <a:gd name="connsiteX1" fmla="*/ 2648148 w 2648148"/>
              <a:gd name="connsiteY1" fmla="*/ 0 h 1588889"/>
              <a:gd name="connsiteX2" fmla="*/ 2648148 w 2648148"/>
              <a:gd name="connsiteY2" fmla="*/ 1588889 h 1588889"/>
              <a:gd name="connsiteX3" fmla="*/ 0 w 2648148"/>
              <a:gd name="connsiteY3" fmla="*/ 1588889 h 1588889"/>
              <a:gd name="connsiteX4" fmla="*/ 0 w 2648148"/>
              <a:gd name="connsiteY4" fmla="*/ 0 h 1588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8148" h="1588889">
                <a:moveTo>
                  <a:pt x="0" y="0"/>
                </a:moveTo>
                <a:lnTo>
                  <a:pt x="2648148" y="0"/>
                </a:lnTo>
                <a:lnTo>
                  <a:pt x="2648148" y="1588889"/>
                </a:lnTo>
                <a:lnTo>
                  <a:pt x="0" y="1588889"/>
                </a:lnTo>
                <a:lnTo>
                  <a:pt x="0" y="0"/>
                </a:lnTo>
                <a:close/>
              </a:path>
            </a:pathLst>
          </a:custGeom>
          <a:solidFill>
            <a:srgbClr val="D4383C"/>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3420" tIns="123420" rIns="123420" bIns="123420" numCol="1" spcCol="1270" anchor="ctr" anchorCtr="0">
            <a:noAutofit/>
          </a:bodyPr>
          <a:lstStyle/>
          <a:p>
            <a:pPr algn="ctr" defTabSz="771376">
              <a:lnSpc>
                <a:spcPct val="90000"/>
              </a:lnSpc>
              <a:spcBef>
                <a:spcPct val="0"/>
              </a:spcBef>
              <a:spcAft>
                <a:spcPct val="35000"/>
              </a:spcAft>
            </a:pPr>
            <a:r>
              <a:rPr lang="zh-TW" altLang="en-US" sz="1735" kern="1200" dirty="0">
                <a:solidFill>
                  <a:srgbClr val="FFFFFF"/>
                </a:solidFill>
                <a:latin typeface="微軟正黑體" panose="020B0604030504040204" pitchFamily="34" charset="-120"/>
                <a:ea typeface="微軟正黑體" panose="020B0604030504040204" pitchFamily="34" charset="-120"/>
              </a:rPr>
              <a:t>資管科</a:t>
            </a:r>
            <a:r>
              <a:rPr lang="en-US" altLang="zh-TW" sz="1735" kern="1200" dirty="0">
                <a:solidFill>
                  <a:srgbClr val="FFFFFF"/>
                </a:solidFill>
                <a:latin typeface="微軟正黑體" panose="020B0604030504040204" pitchFamily="34" charset="-120"/>
                <a:ea typeface="微軟正黑體" panose="020B0604030504040204" pitchFamily="34" charset="-120"/>
              </a:rPr>
              <a:t>-&gt;DBA-&gt;</a:t>
            </a:r>
            <a:r>
              <a:rPr lang="zh-TW" altLang="en-US" sz="1735" kern="1200" dirty="0">
                <a:solidFill>
                  <a:srgbClr val="FFFFFF"/>
                </a:solidFill>
                <a:latin typeface="微軟正黑體" panose="020B0604030504040204" pitchFamily="34" charset="-120"/>
                <a:ea typeface="微軟正黑體" panose="020B0604030504040204" pitchFamily="34" charset="-120"/>
              </a:rPr>
              <a:t>系統科皆核准後才繼續進行部署</a:t>
            </a:r>
            <a:endParaRPr lang="en-US" altLang="zh-TW" sz="1735" kern="1200" dirty="0">
              <a:solidFill>
                <a:srgbClr val="FFFFFF"/>
              </a:solidFill>
              <a:latin typeface="微軟正黑體" panose="020B0604030504040204" pitchFamily="34" charset="-120"/>
              <a:ea typeface="微軟正黑體" panose="020B0604030504040204" pitchFamily="34" charset="-120"/>
            </a:endParaRPr>
          </a:p>
        </p:txBody>
      </p:sp>
      <p:cxnSp>
        <p:nvCxnSpPr>
          <p:cNvPr id="15" name="直線單箭頭接點 14">
            <a:extLst>
              <a:ext uri="{FF2B5EF4-FFF2-40B4-BE49-F238E27FC236}">
                <a16:creationId xmlns:a16="http://schemas.microsoft.com/office/drawing/2014/main" id="{638C1AE5-DE61-45DA-B14A-E24F74380A0D}"/>
              </a:ext>
            </a:extLst>
          </p:cNvPr>
          <p:cNvCxnSpPr>
            <a:cxnSpLocks/>
          </p:cNvCxnSpPr>
          <p:nvPr/>
        </p:nvCxnSpPr>
        <p:spPr>
          <a:xfrm flipV="1">
            <a:off x="9529157" y="3848153"/>
            <a:ext cx="324610" cy="38498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直線單箭頭接點 15">
            <a:extLst>
              <a:ext uri="{FF2B5EF4-FFF2-40B4-BE49-F238E27FC236}">
                <a16:creationId xmlns:a16="http://schemas.microsoft.com/office/drawing/2014/main" id="{89F1700B-A497-411C-A3B1-23CC35991240}"/>
              </a:ext>
            </a:extLst>
          </p:cNvPr>
          <p:cNvCxnSpPr>
            <a:cxnSpLocks/>
          </p:cNvCxnSpPr>
          <p:nvPr/>
        </p:nvCxnSpPr>
        <p:spPr>
          <a:xfrm>
            <a:off x="9529156" y="4233142"/>
            <a:ext cx="314108" cy="45204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手繪多邊形: 圖案 18">
            <a:extLst>
              <a:ext uri="{FF2B5EF4-FFF2-40B4-BE49-F238E27FC236}">
                <a16:creationId xmlns:a16="http://schemas.microsoft.com/office/drawing/2014/main" id="{42D8471C-9625-47D9-878C-D68FC2E42A2E}"/>
              </a:ext>
            </a:extLst>
          </p:cNvPr>
          <p:cNvSpPr/>
          <p:nvPr/>
        </p:nvSpPr>
        <p:spPr>
          <a:xfrm>
            <a:off x="9880152" y="3602921"/>
            <a:ext cx="1254850" cy="522525"/>
          </a:xfrm>
          <a:custGeom>
            <a:avLst/>
            <a:gdLst>
              <a:gd name="connsiteX0" fmla="*/ 0 w 2648148"/>
              <a:gd name="connsiteY0" fmla="*/ 0 h 1588889"/>
              <a:gd name="connsiteX1" fmla="*/ 2648148 w 2648148"/>
              <a:gd name="connsiteY1" fmla="*/ 0 h 1588889"/>
              <a:gd name="connsiteX2" fmla="*/ 2648148 w 2648148"/>
              <a:gd name="connsiteY2" fmla="*/ 1588889 h 1588889"/>
              <a:gd name="connsiteX3" fmla="*/ 0 w 2648148"/>
              <a:gd name="connsiteY3" fmla="*/ 1588889 h 1588889"/>
              <a:gd name="connsiteX4" fmla="*/ 0 w 2648148"/>
              <a:gd name="connsiteY4" fmla="*/ 0 h 1588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8148" h="1588889">
                <a:moveTo>
                  <a:pt x="0" y="0"/>
                </a:moveTo>
                <a:lnTo>
                  <a:pt x="2648148" y="0"/>
                </a:lnTo>
                <a:lnTo>
                  <a:pt x="2648148" y="1588889"/>
                </a:lnTo>
                <a:lnTo>
                  <a:pt x="0" y="1588889"/>
                </a:lnTo>
                <a:lnTo>
                  <a:pt x="0" y="0"/>
                </a:lnTo>
                <a:close/>
              </a:path>
            </a:pathLst>
          </a:custGeom>
          <a:solidFill>
            <a:schemeClr val="accent1"/>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3420" tIns="123420" rIns="123420" bIns="123420" numCol="1" spcCol="1270" anchor="ctr" anchorCtr="0">
            <a:noAutofit/>
          </a:bodyPr>
          <a:lstStyle/>
          <a:p>
            <a:pPr algn="ctr" defTabSz="771376">
              <a:lnSpc>
                <a:spcPct val="90000"/>
              </a:lnSpc>
              <a:spcBef>
                <a:spcPct val="0"/>
              </a:spcBef>
              <a:spcAft>
                <a:spcPct val="35000"/>
              </a:spcAft>
            </a:pPr>
            <a:r>
              <a:rPr lang="zh-TW" altLang="en-US" sz="1735" kern="1200" dirty="0">
                <a:solidFill>
                  <a:srgbClr val="FFFFFF"/>
                </a:solidFill>
                <a:latin typeface="微軟正黑體" panose="020B0604030504040204" pitchFamily="34" charset="-120"/>
                <a:ea typeface="微軟正黑體" panose="020B0604030504040204" pitchFamily="34" charset="-120"/>
              </a:rPr>
              <a:t>行內</a:t>
            </a:r>
            <a:r>
              <a:rPr lang="en-US" altLang="zh-TW" sz="1735" kern="1200" dirty="0">
                <a:solidFill>
                  <a:srgbClr val="FFFFFF"/>
                </a:solidFill>
                <a:latin typeface="微軟正黑體" panose="020B0604030504040204" pitchFamily="34" charset="-120"/>
                <a:ea typeface="微軟正黑體" panose="020B0604030504040204" pitchFamily="34" charset="-120"/>
              </a:rPr>
              <a:t>Quay</a:t>
            </a:r>
            <a:endParaRPr lang="zh-TW" altLang="en-US" sz="1735" kern="1200" dirty="0">
              <a:solidFill>
                <a:srgbClr val="FFFFFF"/>
              </a:solidFill>
              <a:latin typeface="微軟正黑體" panose="020B0604030504040204" pitchFamily="34" charset="-120"/>
              <a:ea typeface="微軟正黑體" panose="020B0604030504040204" pitchFamily="34" charset="-120"/>
            </a:endParaRPr>
          </a:p>
        </p:txBody>
      </p:sp>
      <p:sp>
        <p:nvSpPr>
          <p:cNvPr id="20" name="手繪多邊形: 圖案 19">
            <a:extLst>
              <a:ext uri="{FF2B5EF4-FFF2-40B4-BE49-F238E27FC236}">
                <a16:creationId xmlns:a16="http://schemas.microsoft.com/office/drawing/2014/main" id="{5A9AE993-3411-4036-BA99-7C0808032FD0}"/>
              </a:ext>
            </a:extLst>
          </p:cNvPr>
          <p:cNvSpPr/>
          <p:nvPr/>
        </p:nvSpPr>
        <p:spPr>
          <a:xfrm>
            <a:off x="9880152" y="4451464"/>
            <a:ext cx="1254850" cy="418704"/>
          </a:xfrm>
          <a:custGeom>
            <a:avLst/>
            <a:gdLst>
              <a:gd name="connsiteX0" fmla="*/ 0 w 2648148"/>
              <a:gd name="connsiteY0" fmla="*/ 0 h 1588889"/>
              <a:gd name="connsiteX1" fmla="*/ 2648148 w 2648148"/>
              <a:gd name="connsiteY1" fmla="*/ 0 h 1588889"/>
              <a:gd name="connsiteX2" fmla="*/ 2648148 w 2648148"/>
              <a:gd name="connsiteY2" fmla="*/ 1588889 h 1588889"/>
              <a:gd name="connsiteX3" fmla="*/ 0 w 2648148"/>
              <a:gd name="connsiteY3" fmla="*/ 1588889 h 1588889"/>
              <a:gd name="connsiteX4" fmla="*/ 0 w 2648148"/>
              <a:gd name="connsiteY4" fmla="*/ 0 h 1588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8148" h="1588889">
                <a:moveTo>
                  <a:pt x="0" y="0"/>
                </a:moveTo>
                <a:lnTo>
                  <a:pt x="2648148" y="0"/>
                </a:lnTo>
                <a:lnTo>
                  <a:pt x="2648148" y="1588889"/>
                </a:lnTo>
                <a:lnTo>
                  <a:pt x="0" y="1588889"/>
                </a:lnTo>
                <a:lnTo>
                  <a:pt x="0" y="0"/>
                </a:lnTo>
                <a:close/>
              </a:path>
            </a:pathLst>
          </a:custGeom>
          <a:solidFill>
            <a:schemeClr val="accent1"/>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3420" tIns="123420" rIns="123420" bIns="123420" numCol="1" spcCol="1270" anchor="ctr" anchorCtr="0">
            <a:noAutofit/>
          </a:bodyPr>
          <a:lstStyle/>
          <a:p>
            <a:pPr algn="ctr" defTabSz="771376">
              <a:lnSpc>
                <a:spcPct val="90000"/>
              </a:lnSpc>
              <a:spcBef>
                <a:spcPct val="0"/>
              </a:spcBef>
              <a:spcAft>
                <a:spcPct val="35000"/>
              </a:spcAft>
            </a:pPr>
            <a:r>
              <a:rPr lang="en-US" altLang="zh-TW" sz="1735" kern="1200" dirty="0">
                <a:solidFill>
                  <a:srgbClr val="FFFFFF"/>
                </a:solidFill>
                <a:latin typeface="微軟正黑體" panose="020B0604030504040204" pitchFamily="34" charset="-120"/>
                <a:ea typeface="微軟正黑體" panose="020B0604030504040204" pitchFamily="34" charset="-120"/>
              </a:rPr>
              <a:t>AWS</a:t>
            </a:r>
            <a:r>
              <a:rPr lang="zh-TW" altLang="en-US" sz="1735" kern="1200" dirty="0">
                <a:solidFill>
                  <a:srgbClr val="FFFFFF"/>
                </a:solidFill>
                <a:latin typeface="微軟正黑體" panose="020B0604030504040204" pitchFamily="34" charset="-120"/>
                <a:ea typeface="微軟正黑體" panose="020B0604030504040204" pitchFamily="34" charset="-120"/>
              </a:rPr>
              <a:t> </a:t>
            </a:r>
            <a:r>
              <a:rPr lang="en-US" altLang="zh-TW" sz="1735" kern="1200" dirty="0">
                <a:solidFill>
                  <a:srgbClr val="FFFFFF"/>
                </a:solidFill>
                <a:latin typeface="微軟正黑體" panose="020B0604030504040204" pitchFamily="34" charset="-120"/>
                <a:ea typeface="微軟正黑體" panose="020B0604030504040204" pitchFamily="34" charset="-120"/>
              </a:rPr>
              <a:t>ECR</a:t>
            </a:r>
          </a:p>
        </p:txBody>
      </p:sp>
      <p:sp>
        <p:nvSpPr>
          <p:cNvPr id="21" name="矩形 20">
            <a:extLst>
              <a:ext uri="{FF2B5EF4-FFF2-40B4-BE49-F238E27FC236}">
                <a16:creationId xmlns:a16="http://schemas.microsoft.com/office/drawing/2014/main" id="{609DBC1D-94E4-4BEE-BB87-26962B274882}"/>
              </a:ext>
            </a:extLst>
          </p:cNvPr>
          <p:cNvSpPr/>
          <p:nvPr/>
        </p:nvSpPr>
        <p:spPr bwMode="auto">
          <a:xfrm>
            <a:off x="5375639" y="1515698"/>
            <a:ext cx="5505213" cy="1524597"/>
          </a:xfrm>
          <a:prstGeom prst="rect">
            <a:avLst/>
          </a:prstGeom>
          <a:noFill/>
          <a:ln w="38100" cap="flat" cmpd="sng" algn="ctr">
            <a:solidFill>
              <a:schemeClr val="accent3">
                <a:lumMod val="60000"/>
                <a:lumOff val="40000"/>
              </a:schemeClr>
            </a:solidFill>
            <a:prstDash val="solid"/>
            <a:round/>
            <a:headEnd type="none" w="med" len="med"/>
            <a:tailEnd type="none" w="med" len="med"/>
          </a:ln>
          <a:effectLst/>
        </p:spPr>
        <p:txBody>
          <a:bodyPr vert="horz" wrap="square" lIns="88157" tIns="44079" rIns="88157" bIns="44079" numCol="1" rtlCol="0" anchor="t" anchorCtr="0" compatLnSpc="1">
            <a:prstTxWarp prst="textNoShape">
              <a:avLst/>
            </a:prstTxWarp>
          </a:bodyPr>
          <a:lstStyle/>
          <a:p>
            <a:pPr defTabSz="881573" fontAlgn="base">
              <a:spcBef>
                <a:spcPct val="0"/>
              </a:spcBef>
              <a:spcAft>
                <a:spcPct val="0"/>
              </a:spcAft>
              <a:buClrTx/>
            </a:pPr>
            <a:endParaRPr lang="zh-TW" altLang="en-US" sz="3856" b="1">
              <a:latin typeface="Arial" charset="0"/>
              <a:ea typeface="华文楷体" pitchFamily="2" charset="-122"/>
            </a:endParaRPr>
          </a:p>
        </p:txBody>
      </p:sp>
      <p:cxnSp>
        <p:nvCxnSpPr>
          <p:cNvPr id="22" name="直線單箭頭接點 21">
            <a:extLst>
              <a:ext uri="{FF2B5EF4-FFF2-40B4-BE49-F238E27FC236}">
                <a16:creationId xmlns:a16="http://schemas.microsoft.com/office/drawing/2014/main" id="{747F1D7A-1DEB-4234-A20B-57BE99B7AC14}"/>
              </a:ext>
            </a:extLst>
          </p:cNvPr>
          <p:cNvCxnSpPr>
            <a:cxnSpLocks/>
          </p:cNvCxnSpPr>
          <p:nvPr/>
        </p:nvCxnSpPr>
        <p:spPr>
          <a:xfrm>
            <a:off x="2093178" y="2255477"/>
            <a:ext cx="38985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直線單箭頭接點 23">
            <a:extLst>
              <a:ext uri="{FF2B5EF4-FFF2-40B4-BE49-F238E27FC236}">
                <a16:creationId xmlns:a16="http://schemas.microsoft.com/office/drawing/2014/main" id="{1CEF5338-C0F7-4206-A726-329712A8700B}"/>
              </a:ext>
            </a:extLst>
          </p:cNvPr>
          <p:cNvCxnSpPr>
            <a:cxnSpLocks/>
          </p:cNvCxnSpPr>
          <p:nvPr/>
        </p:nvCxnSpPr>
        <p:spPr>
          <a:xfrm>
            <a:off x="4924993" y="2275026"/>
            <a:ext cx="45064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直線單箭頭接點 25">
            <a:extLst>
              <a:ext uri="{FF2B5EF4-FFF2-40B4-BE49-F238E27FC236}">
                <a16:creationId xmlns:a16="http://schemas.microsoft.com/office/drawing/2014/main" id="{C9B94F01-D48A-4F72-BCA7-FA5CB1B998A8}"/>
              </a:ext>
            </a:extLst>
          </p:cNvPr>
          <p:cNvCxnSpPr>
            <a:cxnSpLocks/>
          </p:cNvCxnSpPr>
          <p:nvPr/>
        </p:nvCxnSpPr>
        <p:spPr>
          <a:xfrm>
            <a:off x="8033055" y="2275026"/>
            <a:ext cx="38985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 name="直線單箭頭接點 30">
            <a:extLst>
              <a:ext uri="{FF2B5EF4-FFF2-40B4-BE49-F238E27FC236}">
                <a16:creationId xmlns:a16="http://schemas.microsoft.com/office/drawing/2014/main" id="{B518288D-17A4-40C8-8302-69F5FB478326}"/>
              </a:ext>
            </a:extLst>
          </p:cNvPr>
          <p:cNvCxnSpPr>
            <a:cxnSpLocks/>
          </p:cNvCxnSpPr>
          <p:nvPr/>
        </p:nvCxnSpPr>
        <p:spPr>
          <a:xfrm>
            <a:off x="2675975" y="4249847"/>
            <a:ext cx="38985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6" name="文字方塊 35">
            <a:extLst>
              <a:ext uri="{FF2B5EF4-FFF2-40B4-BE49-F238E27FC236}">
                <a16:creationId xmlns:a16="http://schemas.microsoft.com/office/drawing/2014/main" id="{8909F562-B624-4C24-A1F6-B6732122AD94}"/>
              </a:ext>
            </a:extLst>
          </p:cNvPr>
          <p:cNvSpPr txBox="1"/>
          <p:nvPr/>
        </p:nvSpPr>
        <p:spPr>
          <a:xfrm>
            <a:off x="258540" y="924653"/>
            <a:ext cx="2807285" cy="504436"/>
          </a:xfrm>
          <a:prstGeom prst="rect">
            <a:avLst/>
          </a:prstGeom>
          <a:noFill/>
        </p:spPr>
        <p:txBody>
          <a:bodyPr wrap="square" rtlCol="0">
            <a:spAutoFit/>
          </a:bodyPr>
          <a:lstStyle/>
          <a:p>
            <a:pPr defTabSz="881573"/>
            <a:r>
              <a:rPr lang="zh-TW" altLang="en-US" sz="1350" dirty="0">
                <a:solidFill>
                  <a:srgbClr val="4F81BD"/>
                </a:solidFill>
              </a:rPr>
              <a:t>*藍色流程皆為創新金融科執行</a:t>
            </a:r>
            <a:endParaRPr lang="en-US" altLang="zh-TW" sz="1350" dirty="0">
              <a:solidFill>
                <a:srgbClr val="4F81BD"/>
              </a:solidFill>
            </a:endParaRPr>
          </a:p>
          <a:p>
            <a:pPr defTabSz="881573"/>
            <a:r>
              <a:rPr lang="zh-TW" altLang="en-US" sz="1350" dirty="0">
                <a:solidFill>
                  <a:srgbClr val="FF0000"/>
                </a:solidFill>
              </a:rPr>
              <a:t>*紅色流程為資訊處</a:t>
            </a:r>
            <a:r>
              <a:rPr lang="en-US" altLang="zh-TW" sz="1350" dirty="0">
                <a:solidFill>
                  <a:srgbClr val="FF0000"/>
                </a:solidFill>
              </a:rPr>
              <a:t>ADO</a:t>
            </a:r>
            <a:r>
              <a:rPr lang="zh-TW" altLang="en-US" sz="1350" dirty="0">
                <a:solidFill>
                  <a:srgbClr val="FF0000"/>
                </a:solidFill>
              </a:rPr>
              <a:t>審核流程</a:t>
            </a:r>
          </a:p>
        </p:txBody>
      </p:sp>
      <p:cxnSp>
        <p:nvCxnSpPr>
          <p:cNvPr id="39" name="直線接點 38">
            <a:extLst>
              <a:ext uri="{FF2B5EF4-FFF2-40B4-BE49-F238E27FC236}">
                <a16:creationId xmlns:a16="http://schemas.microsoft.com/office/drawing/2014/main" id="{F6F123CE-85EA-4499-97D1-AFAAD11638EB}"/>
              </a:ext>
            </a:extLst>
          </p:cNvPr>
          <p:cNvCxnSpPr>
            <a:cxnSpLocks/>
            <a:stCxn id="21" idx="3"/>
          </p:cNvCxnSpPr>
          <p:nvPr/>
        </p:nvCxnSpPr>
        <p:spPr>
          <a:xfrm flipV="1">
            <a:off x="10880852" y="2275026"/>
            <a:ext cx="428873" cy="2970"/>
          </a:xfrm>
          <a:prstGeom prst="line">
            <a:avLst/>
          </a:prstGeom>
        </p:spPr>
        <p:style>
          <a:lnRef idx="1">
            <a:schemeClr val="dk1"/>
          </a:lnRef>
          <a:fillRef idx="0">
            <a:schemeClr val="dk1"/>
          </a:fillRef>
          <a:effectRef idx="0">
            <a:schemeClr val="dk1"/>
          </a:effectRef>
          <a:fontRef idx="minor">
            <a:schemeClr val="tx1"/>
          </a:fontRef>
        </p:style>
      </p:cxnSp>
      <p:cxnSp>
        <p:nvCxnSpPr>
          <p:cNvPr id="41" name="直線接點 40">
            <a:extLst>
              <a:ext uri="{FF2B5EF4-FFF2-40B4-BE49-F238E27FC236}">
                <a16:creationId xmlns:a16="http://schemas.microsoft.com/office/drawing/2014/main" id="{9E14631B-3FF8-4339-8AC5-66E3844C21C7}"/>
              </a:ext>
            </a:extLst>
          </p:cNvPr>
          <p:cNvCxnSpPr/>
          <p:nvPr/>
        </p:nvCxnSpPr>
        <p:spPr>
          <a:xfrm>
            <a:off x="11309602" y="2275026"/>
            <a:ext cx="0" cy="869123"/>
          </a:xfrm>
          <a:prstGeom prst="line">
            <a:avLst/>
          </a:prstGeom>
        </p:spPr>
        <p:style>
          <a:lnRef idx="1">
            <a:schemeClr val="dk1"/>
          </a:lnRef>
          <a:fillRef idx="0">
            <a:schemeClr val="dk1"/>
          </a:fillRef>
          <a:effectRef idx="0">
            <a:schemeClr val="dk1"/>
          </a:effectRef>
          <a:fontRef idx="minor">
            <a:schemeClr val="tx1"/>
          </a:fontRef>
        </p:style>
      </p:cxnSp>
      <p:cxnSp>
        <p:nvCxnSpPr>
          <p:cNvPr id="42" name="直線接點 41">
            <a:extLst>
              <a:ext uri="{FF2B5EF4-FFF2-40B4-BE49-F238E27FC236}">
                <a16:creationId xmlns:a16="http://schemas.microsoft.com/office/drawing/2014/main" id="{E940D704-7DFD-4C9E-A93A-38554D0C45AD}"/>
              </a:ext>
            </a:extLst>
          </p:cNvPr>
          <p:cNvCxnSpPr>
            <a:cxnSpLocks/>
          </p:cNvCxnSpPr>
          <p:nvPr/>
        </p:nvCxnSpPr>
        <p:spPr>
          <a:xfrm>
            <a:off x="1495397" y="3133931"/>
            <a:ext cx="9814084" cy="9813"/>
          </a:xfrm>
          <a:prstGeom prst="line">
            <a:avLst/>
          </a:prstGeom>
        </p:spPr>
        <p:style>
          <a:lnRef idx="1">
            <a:schemeClr val="dk1"/>
          </a:lnRef>
          <a:fillRef idx="0">
            <a:schemeClr val="dk1"/>
          </a:fillRef>
          <a:effectRef idx="0">
            <a:schemeClr val="dk1"/>
          </a:effectRef>
          <a:fontRef idx="minor">
            <a:schemeClr val="tx1"/>
          </a:fontRef>
        </p:style>
      </p:cxnSp>
      <p:cxnSp>
        <p:nvCxnSpPr>
          <p:cNvPr id="48" name="直線單箭頭接點 47">
            <a:extLst>
              <a:ext uri="{FF2B5EF4-FFF2-40B4-BE49-F238E27FC236}">
                <a16:creationId xmlns:a16="http://schemas.microsoft.com/office/drawing/2014/main" id="{D8C719DC-97A6-452D-A121-F146C4B5CC61}"/>
              </a:ext>
            </a:extLst>
          </p:cNvPr>
          <p:cNvCxnSpPr/>
          <p:nvPr/>
        </p:nvCxnSpPr>
        <p:spPr>
          <a:xfrm>
            <a:off x="1495397" y="3142001"/>
            <a:ext cx="0" cy="48809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手繪多邊形: 圖案 34">
            <a:extLst>
              <a:ext uri="{FF2B5EF4-FFF2-40B4-BE49-F238E27FC236}">
                <a16:creationId xmlns:a16="http://schemas.microsoft.com/office/drawing/2014/main" id="{D76CA0F8-A0AB-4831-8926-866784A44571}"/>
              </a:ext>
            </a:extLst>
          </p:cNvPr>
          <p:cNvSpPr/>
          <p:nvPr/>
        </p:nvSpPr>
        <p:spPr>
          <a:xfrm>
            <a:off x="5448991" y="3760934"/>
            <a:ext cx="1858067" cy="937688"/>
          </a:xfrm>
          <a:custGeom>
            <a:avLst/>
            <a:gdLst>
              <a:gd name="connsiteX0" fmla="*/ 0 w 2648148"/>
              <a:gd name="connsiteY0" fmla="*/ 0 h 1588889"/>
              <a:gd name="connsiteX1" fmla="*/ 2648148 w 2648148"/>
              <a:gd name="connsiteY1" fmla="*/ 0 h 1588889"/>
              <a:gd name="connsiteX2" fmla="*/ 2648148 w 2648148"/>
              <a:gd name="connsiteY2" fmla="*/ 1588889 h 1588889"/>
              <a:gd name="connsiteX3" fmla="*/ 0 w 2648148"/>
              <a:gd name="connsiteY3" fmla="*/ 1588889 h 1588889"/>
              <a:gd name="connsiteX4" fmla="*/ 0 w 2648148"/>
              <a:gd name="connsiteY4" fmla="*/ 0 h 1588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8148" h="1588889">
                <a:moveTo>
                  <a:pt x="0" y="0"/>
                </a:moveTo>
                <a:lnTo>
                  <a:pt x="2648148" y="0"/>
                </a:lnTo>
                <a:lnTo>
                  <a:pt x="2648148" y="1588889"/>
                </a:lnTo>
                <a:lnTo>
                  <a:pt x="0" y="1588889"/>
                </a:lnTo>
                <a:lnTo>
                  <a:pt x="0" y="0"/>
                </a:lnTo>
                <a:close/>
              </a:path>
            </a:pathLst>
          </a:custGeom>
          <a:solidFill>
            <a:schemeClr val="accent1"/>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3420" tIns="123420" rIns="123420" bIns="123420" numCol="1" spcCol="1270" anchor="ctr" anchorCtr="0">
            <a:noAutofit/>
          </a:bodyPr>
          <a:lstStyle/>
          <a:p>
            <a:pPr algn="ctr" defTabSz="771376">
              <a:lnSpc>
                <a:spcPct val="90000"/>
              </a:lnSpc>
              <a:spcBef>
                <a:spcPct val="0"/>
              </a:spcBef>
              <a:spcAft>
                <a:spcPct val="35000"/>
              </a:spcAft>
            </a:pPr>
            <a:r>
              <a:rPr lang="zh-TW" altLang="en-US" sz="1735" kern="1200" dirty="0">
                <a:solidFill>
                  <a:srgbClr val="FFFFFF"/>
                </a:solidFill>
                <a:latin typeface="微軟正黑體" panose="020B0604030504040204" pitchFamily="34" charset="-120"/>
                <a:ea typeface="微軟正黑體" panose="020B0604030504040204" pitchFamily="34" charset="-120"/>
              </a:rPr>
              <a:t>上傳爬蟲程式</a:t>
            </a:r>
            <a:r>
              <a:rPr lang="en-US" altLang="zh-TW" sz="1735" kern="1200" dirty="0">
                <a:solidFill>
                  <a:srgbClr val="FFFFFF"/>
                </a:solidFill>
                <a:latin typeface="微軟正黑體" panose="020B0604030504040204" pitchFamily="34" charset="-120"/>
                <a:ea typeface="微軟正黑體" panose="020B0604030504040204" pitchFamily="34" charset="-120"/>
              </a:rPr>
              <a:t>(ZIP)</a:t>
            </a:r>
            <a:r>
              <a:rPr lang="zh-TW" altLang="en-US" sz="1735" kern="1200" dirty="0">
                <a:solidFill>
                  <a:srgbClr val="FFFFFF"/>
                </a:solidFill>
                <a:latin typeface="微軟正黑體" panose="020B0604030504040204" pitchFamily="34" charset="-120"/>
                <a:ea typeface="微軟正黑體" panose="020B0604030504040204" pitchFamily="34" charset="-120"/>
              </a:rPr>
              <a:t>至</a:t>
            </a:r>
            <a:r>
              <a:rPr lang="en-US" altLang="zh-TW" sz="1735" kern="1200" dirty="0">
                <a:solidFill>
                  <a:srgbClr val="FFFFFF"/>
                </a:solidFill>
                <a:latin typeface="微軟正黑體" panose="020B0604030504040204" pitchFamily="34" charset="-120"/>
                <a:ea typeface="微軟正黑體" panose="020B0604030504040204" pitchFamily="34" charset="-120"/>
              </a:rPr>
              <a:t>AWS S3</a:t>
            </a:r>
            <a:r>
              <a:rPr lang="en-US" altLang="zh-TW" sz="1735" kern="1200" dirty="0">
                <a:solidFill>
                  <a:srgbClr val="FFFF00"/>
                </a:solidFill>
                <a:latin typeface="微軟正黑體" panose="020B0604030504040204" pitchFamily="34" charset="-120"/>
                <a:ea typeface="微軟正黑體" panose="020B0604030504040204" pitchFamily="34" charset="-120"/>
              </a:rPr>
              <a:t>(For Lambda)</a:t>
            </a:r>
          </a:p>
        </p:txBody>
      </p:sp>
      <p:cxnSp>
        <p:nvCxnSpPr>
          <p:cNvPr id="37" name="直線單箭頭接點 36">
            <a:extLst>
              <a:ext uri="{FF2B5EF4-FFF2-40B4-BE49-F238E27FC236}">
                <a16:creationId xmlns:a16="http://schemas.microsoft.com/office/drawing/2014/main" id="{63A9FF6B-93D6-4D53-B029-FA03BD6D6E1F}"/>
              </a:ext>
            </a:extLst>
          </p:cNvPr>
          <p:cNvCxnSpPr>
            <a:cxnSpLocks/>
          </p:cNvCxnSpPr>
          <p:nvPr/>
        </p:nvCxnSpPr>
        <p:spPr>
          <a:xfrm>
            <a:off x="5050338" y="4241084"/>
            <a:ext cx="38985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直線單箭頭接點 37">
            <a:extLst>
              <a:ext uri="{FF2B5EF4-FFF2-40B4-BE49-F238E27FC236}">
                <a16:creationId xmlns:a16="http://schemas.microsoft.com/office/drawing/2014/main" id="{06729D5B-526B-485C-B2A2-BCC483A56D3F}"/>
              </a:ext>
            </a:extLst>
          </p:cNvPr>
          <p:cNvCxnSpPr>
            <a:cxnSpLocks/>
          </p:cNvCxnSpPr>
          <p:nvPr/>
        </p:nvCxnSpPr>
        <p:spPr>
          <a:xfrm>
            <a:off x="7315016" y="4233142"/>
            <a:ext cx="38985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2265185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圖表 5">
            <a:extLst>
              <a:ext uri="{FF2B5EF4-FFF2-40B4-BE49-F238E27FC236}">
                <a16:creationId xmlns:a16="http://schemas.microsoft.com/office/drawing/2014/main" id="{9B054AB7-8BF5-52DA-5136-2F1AEBC5D68C}"/>
              </a:ext>
            </a:extLst>
          </p:cNvPr>
          <p:cNvGraphicFramePr>
            <a:graphicFrameLocks/>
          </p:cNvGraphicFramePr>
          <p:nvPr>
            <p:extLst>
              <p:ext uri="{D42A27DB-BD31-4B8C-83A1-F6EECF244321}">
                <p14:modId xmlns:p14="http://schemas.microsoft.com/office/powerpoint/2010/main" val="1605188289"/>
              </p:ext>
            </p:extLst>
          </p:nvPr>
        </p:nvGraphicFramePr>
        <p:xfrm>
          <a:off x="161100" y="861593"/>
          <a:ext cx="3637246" cy="266219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圖表 3">
            <a:extLst>
              <a:ext uri="{FF2B5EF4-FFF2-40B4-BE49-F238E27FC236}">
                <a16:creationId xmlns:a16="http://schemas.microsoft.com/office/drawing/2014/main" id="{644271A4-9C0C-6AD2-6CEF-BA3BBF6F00DA}"/>
              </a:ext>
            </a:extLst>
          </p:cNvPr>
          <p:cNvGraphicFramePr>
            <a:graphicFrameLocks/>
          </p:cNvGraphicFramePr>
          <p:nvPr>
            <p:extLst>
              <p:ext uri="{D42A27DB-BD31-4B8C-83A1-F6EECF244321}">
                <p14:modId xmlns:p14="http://schemas.microsoft.com/office/powerpoint/2010/main" val="1514184112"/>
              </p:ext>
            </p:extLst>
          </p:nvPr>
        </p:nvGraphicFramePr>
        <p:xfrm>
          <a:off x="8862891" y="842332"/>
          <a:ext cx="2530674" cy="2709661"/>
        </p:xfrm>
        <a:graphic>
          <a:graphicData uri="http://schemas.openxmlformats.org/drawingml/2006/chart">
            <c:chart xmlns:c="http://schemas.openxmlformats.org/drawingml/2006/chart" xmlns:r="http://schemas.openxmlformats.org/officeDocument/2006/relationships" r:id="rId4"/>
          </a:graphicData>
        </a:graphic>
      </p:graphicFrame>
      <p:sp>
        <p:nvSpPr>
          <p:cNvPr id="2" name="標題 1">
            <a:extLst>
              <a:ext uri="{FF2B5EF4-FFF2-40B4-BE49-F238E27FC236}">
                <a16:creationId xmlns:a16="http://schemas.microsoft.com/office/drawing/2014/main" id="{E03EA0DF-11A3-BED7-816A-C630828D828D}"/>
              </a:ext>
            </a:extLst>
          </p:cNvPr>
          <p:cNvSpPr>
            <a:spLocks noGrp="1"/>
          </p:cNvSpPr>
          <p:nvPr>
            <p:ph type="title"/>
          </p:nvPr>
        </p:nvSpPr>
        <p:spPr/>
        <p:txBody>
          <a:bodyPr/>
          <a:lstStyle/>
          <a:p>
            <a:r>
              <a:rPr lang="zh-TW" altLang="en-US" b="1" dirty="0"/>
              <a:t>爬蟲館營運分析統計</a:t>
            </a:r>
          </a:p>
        </p:txBody>
      </p:sp>
      <p:sp>
        <p:nvSpPr>
          <p:cNvPr id="18" name="矩形 17">
            <a:extLst>
              <a:ext uri="{FF2B5EF4-FFF2-40B4-BE49-F238E27FC236}">
                <a16:creationId xmlns:a16="http://schemas.microsoft.com/office/drawing/2014/main" id="{CE749734-D76E-AE83-F163-76591D92704C}"/>
              </a:ext>
            </a:extLst>
          </p:cNvPr>
          <p:cNvSpPr/>
          <p:nvPr/>
        </p:nvSpPr>
        <p:spPr>
          <a:xfrm>
            <a:off x="161100" y="3663461"/>
            <a:ext cx="11232465" cy="2245763"/>
          </a:xfrm>
          <a:prstGeom prst="rect">
            <a:avLst/>
          </a:prstGeom>
          <a:noFill/>
          <a:ln w="3175">
            <a:solidFill>
              <a:schemeClr val="bg1">
                <a:lumMod val="8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TW" altLang="en-US" sz="1600" dirty="0">
                <a:solidFill>
                  <a:schemeClr val="tx1">
                    <a:lumMod val="95000"/>
                    <a:lumOff val="5000"/>
                  </a:schemeClr>
                </a:solidFill>
                <a:latin typeface="微軟正黑體" panose="020B0604030504040204" pitchFamily="34" charset="-120"/>
                <a:ea typeface="微軟正黑體" panose="020B0604030504040204" pitchFamily="34" charset="-120"/>
              </a:rPr>
              <a:t>說明：</a:t>
            </a:r>
            <a:endParaRPr lang="en-US" altLang="zh-TW" sz="1600" dirty="0">
              <a:solidFill>
                <a:schemeClr val="tx1">
                  <a:lumMod val="95000"/>
                  <a:lumOff val="5000"/>
                </a:schemeClr>
              </a:solidFill>
              <a:latin typeface="微軟正黑體" panose="020B0604030504040204" pitchFamily="34" charset="-120"/>
              <a:ea typeface="微軟正黑體" panose="020B0604030504040204" pitchFamily="34" charset="-120"/>
            </a:endParaRPr>
          </a:p>
          <a:p>
            <a:pPr marL="285750" indent="-285750">
              <a:lnSpc>
                <a:spcPct val="150000"/>
              </a:lnSpc>
              <a:buFont typeface="Wingdings" panose="05000000000000000000" pitchFamily="2" charset="2"/>
              <a:buChar char="l"/>
            </a:pPr>
            <a:r>
              <a:rPr lang="zh-TW" altLang="en-US" sz="1600" dirty="0">
                <a:solidFill>
                  <a:schemeClr val="tx1">
                    <a:lumMod val="95000"/>
                    <a:lumOff val="5000"/>
                  </a:schemeClr>
                </a:solidFill>
                <a:latin typeface="微軟正黑體" panose="020B0604030504040204" pitchFamily="34" charset="-120"/>
                <a:ea typeface="微軟正黑體" panose="020B0604030504040204" pitchFamily="34" charset="-120"/>
              </a:rPr>
              <a:t>圖一、</a:t>
            </a:r>
            <a:r>
              <a:rPr lang="en-US" altLang="zh-TW" sz="1600" dirty="0">
                <a:solidFill>
                  <a:schemeClr val="tx1">
                    <a:lumMod val="95000"/>
                    <a:lumOff val="5000"/>
                  </a:schemeClr>
                </a:solidFill>
                <a:latin typeface="微軟正黑體" panose="020B0604030504040204" pitchFamily="34" charset="-120"/>
                <a:ea typeface="微軟正黑體" panose="020B0604030504040204" pitchFamily="34" charset="-120"/>
              </a:rPr>
              <a:t>2025</a:t>
            </a:r>
            <a:r>
              <a:rPr lang="zh-TW" altLang="en-US" sz="1600" dirty="0">
                <a:solidFill>
                  <a:schemeClr val="tx1">
                    <a:lumMod val="95000"/>
                    <a:lumOff val="5000"/>
                  </a:schemeClr>
                </a:solidFill>
                <a:latin typeface="微軟正黑體" panose="020B0604030504040204" pitchFamily="34" charset="-120"/>
                <a:ea typeface="微軟正黑體" panose="020B0604030504040204" pitchFamily="34" charset="-120"/>
              </a:rPr>
              <a:t>年前三名資料集</a:t>
            </a:r>
            <a:r>
              <a:rPr lang="zh-TW" altLang="en-US" sz="1600" dirty="0">
                <a:solidFill>
                  <a:schemeClr val="tx1">
                    <a:lumMod val="95000"/>
                    <a:lumOff val="5000"/>
                  </a:schemeClr>
                </a:solidFill>
                <a:highlight>
                  <a:srgbClr val="FFFF00"/>
                </a:highlight>
                <a:latin typeface="微軟正黑體" panose="020B0604030504040204" pitchFamily="34" charset="-120"/>
                <a:ea typeface="微軟正黑體" panose="020B0604030504040204" pitchFamily="34" charset="-120"/>
              </a:rPr>
              <a:t>總使用量達</a:t>
            </a:r>
            <a:r>
              <a:rPr lang="en-US" altLang="zh-TW" sz="1600" dirty="0">
                <a:solidFill>
                  <a:schemeClr val="tx1">
                    <a:lumMod val="95000"/>
                    <a:lumOff val="5000"/>
                  </a:schemeClr>
                </a:solidFill>
                <a:highlight>
                  <a:srgbClr val="FFFF00"/>
                </a:highlight>
                <a:latin typeface="微軟正黑體" panose="020B0604030504040204" pitchFamily="34" charset="-120"/>
                <a:ea typeface="微軟正黑體" panose="020B0604030504040204" pitchFamily="34" charset="-120"/>
              </a:rPr>
              <a:t>1,173</a:t>
            </a:r>
            <a:r>
              <a:rPr lang="zh-TW" altLang="en-US" sz="1600" dirty="0">
                <a:solidFill>
                  <a:schemeClr val="tx1">
                    <a:lumMod val="95000"/>
                    <a:lumOff val="5000"/>
                  </a:schemeClr>
                </a:solidFill>
                <a:highlight>
                  <a:srgbClr val="FFFF00"/>
                </a:highlight>
                <a:latin typeface="微軟正黑體" panose="020B0604030504040204" pitchFamily="34" charset="-120"/>
                <a:ea typeface="微軟正黑體" panose="020B0604030504040204" pitchFamily="34" charset="-120"/>
              </a:rPr>
              <a:t>次</a:t>
            </a:r>
            <a:r>
              <a:rPr lang="zh-TW" altLang="en-US" sz="1600" dirty="0">
                <a:solidFill>
                  <a:schemeClr val="tx1">
                    <a:lumMod val="95000"/>
                    <a:lumOff val="5000"/>
                  </a:schemeClr>
                </a:solidFill>
                <a:latin typeface="微軟正黑體" panose="020B0604030504040204" pitchFamily="34" charset="-120"/>
                <a:ea typeface="微軟正黑體" panose="020B0604030504040204" pitchFamily="34" charset="-120"/>
              </a:rPr>
              <a:t>，其中</a:t>
            </a:r>
            <a:r>
              <a:rPr lang="en-US" altLang="zh-TW" sz="1600" dirty="0">
                <a:solidFill>
                  <a:schemeClr val="tx1">
                    <a:lumMod val="95000"/>
                    <a:lumOff val="5000"/>
                  </a:schemeClr>
                </a:solidFill>
                <a:latin typeface="微軟正黑體" panose="020B0604030504040204" pitchFamily="34" charset="-120"/>
                <a:ea typeface="微軟正黑體" panose="020B0604030504040204" pitchFamily="34" charset="-120"/>
              </a:rPr>
              <a:t>【</a:t>
            </a:r>
            <a:r>
              <a:rPr lang="zh-TW" altLang="en-US" sz="1600" dirty="0">
                <a:solidFill>
                  <a:schemeClr val="tx1">
                    <a:lumMod val="95000"/>
                    <a:lumOff val="5000"/>
                  </a:schemeClr>
                </a:solidFill>
                <a:latin typeface="微軟正黑體" panose="020B0604030504040204" pitchFamily="34" charset="-120"/>
                <a:ea typeface="微軟正黑體" panose="020B0604030504040204" pitchFamily="34" charset="-120"/>
              </a:rPr>
              <a:t>銀行局金融簡表</a:t>
            </a:r>
            <a:r>
              <a:rPr lang="en-US" altLang="zh-TW" sz="1600" dirty="0">
                <a:solidFill>
                  <a:schemeClr val="tx1">
                    <a:lumMod val="95000"/>
                    <a:lumOff val="5000"/>
                  </a:schemeClr>
                </a:solidFill>
                <a:latin typeface="微軟正黑體" panose="020B0604030504040204" pitchFamily="34" charset="-120"/>
                <a:ea typeface="微軟正黑體" panose="020B0604030504040204" pitchFamily="34" charset="-120"/>
              </a:rPr>
              <a:t>】</a:t>
            </a:r>
            <a:r>
              <a:rPr lang="zh-TW" altLang="en-US" sz="1600" dirty="0">
                <a:solidFill>
                  <a:schemeClr val="tx1">
                    <a:lumMod val="95000"/>
                    <a:lumOff val="5000"/>
                  </a:schemeClr>
                </a:solidFill>
                <a:latin typeface="微軟正黑體" panose="020B0604030504040204" pitchFamily="34" charset="-120"/>
                <a:ea typeface="微軟正黑體" panose="020B0604030504040204" pitchFamily="34" charset="-120"/>
              </a:rPr>
              <a:t>為最常被使用的資料集，使用次數達</a:t>
            </a:r>
            <a:r>
              <a:rPr lang="en-US" altLang="zh-TW" sz="1600" dirty="0">
                <a:solidFill>
                  <a:schemeClr val="tx1">
                    <a:lumMod val="95000"/>
                    <a:lumOff val="5000"/>
                  </a:schemeClr>
                </a:solidFill>
                <a:latin typeface="微軟正黑體" panose="020B0604030504040204" pitchFamily="34" charset="-120"/>
                <a:ea typeface="微軟正黑體" panose="020B0604030504040204" pitchFamily="34" charset="-120"/>
              </a:rPr>
              <a:t>598</a:t>
            </a:r>
            <a:r>
              <a:rPr lang="zh-TW" altLang="en-US" sz="1600" dirty="0">
                <a:solidFill>
                  <a:schemeClr val="tx1">
                    <a:lumMod val="95000"/>
                    <a:lumOff val="5000"/>
                  </a:schemeClr>
                </a:solidFill>
                <a:latin typeface="微軟正黑體" panose="020B0604030504040204" pitchFamily="34" charset="-120"/>
                <a:ea typeface="微軟正黑體" panose="020B0604030504040204" pitchFamily="34" charset="-120"/>
              </a:rPr>
              <a:t>次。</a:t>
            </a:r>
          </a:p>
          <a:p>
            <a:pPr marL="285750" indent="-285750">
              <a:lnSpc>
                <a:spcPct val="150000"/>
              </a:lnSpc>
              <a:buFont typeface="Wingdings" panose="05000000000000000000" pitchFamily="2" charset="2"/>
              <a:buChar char="l"/>
            </a:pPr>
            <a:r>
              <a:rPr lang="zh-TW" altLang="en-US" sz="1600" dirty="0">
                <a:solidFill>
                  <a:schemeClr val="tx1">
                    <a:lumMod val="95000"/>
                    <a:lumOff val="5000"/>
                  </a:schemeClr>
                </a:solidFill>
                <a:latin typeface="微軟正黑體" panose="020B0604030504040204" pitchFamily="34" charset="-120"/>
                <a:ea typeface="微軟正黑體" panose="020B0604030504040204" pitchFamily="34" charset="-120"/>
              </a:rPr>
              <a:t>圖二、</a:t>
            </a:r>
            <a:r>
              <a:rPr lang="en-US" altLang="zh-TW" sz="1600" dirty="0">
                <a:solidFill>
                  <a:schemeClr val="tx1">
                    <a:lumMod val="95000"/>
                    <a:lumOff val="5000"/>
                  </a:schemeClr>
                </a:solidFill>
                <a:latin typeface="微軟正黑體" panose="020B0604030504040204" pitchFamily="34" charset="-120"/>
                <a:ea typeface="微軟正黑體" panose="020B0604030504040204" pitchFamily="34" charset="-120"/>
              </a:rPr>
              <a:t>2024</a:t>
            </a:r>
            <a:r>
              <a:rPr lang="zh-TW" altLang="en-US" sz="1600" dirty="0">
                <a:solidFill>
                  <a:schemeClr val="tx1">
                    <a:lumMod val="95000"/>
                    <a:lumOff val="5000"/>
                  </a:schemeClr>
                </a:solidFill>
                <a:latin typeface="微軟正黑體" panose="020B0604030504040204" pitchFamily="34" charset="-120"/>
                <a:ea typeface="微軟正黑體" panose="020B0604030504040204" pitchFamily="34" charset="-120"/>
              </a:rPr>
              <a:t>至</a:t>
            </a:r>
            <a:r>
              <a:rPr lang="en-US" altLang="zh-TW" sz="1600" dirty="0">
                <a:solidFill>
                  <a:schemeClr val="tx1">
                    <a:lumMod val="95000"/>
                    <a:lumOff val="5000"/>
                  </a:schemeClr>
                </a:solidFill>
                <a:latin typeface="微軟正黑體" panose="020B0604030504040204" pitchFamily="34" charset="-120"/>
                <a:ea typeface="微軟正黑體" panose="020B0604030504040204" pitchFamily="34" charset="-120"/>
              </a:rPr>
              <a:t>2025</a:t>
            </a:r>
            <a:r>
              <a:rPr lang="zh-TW" altLang="en-US" sz="1600" dirty="0">
                <a:solidFill>
                  <a:schemeClr val="tx1">
                    <a:lumMod val="95000"/>
                    <a:lumOff val="5000"/>
                  </a:schemeClr>
                </a:solidFill>
                <a:latin typeface="微軟正黑體" panose="020B0604030504040204" pitchFamily="34" charset="-120"/>
                <a:ea typeface="微軟正黑體" panose="020B0604030504040204" pitchFamily="34" charset="-120"/>
              </a:rPr>
              <a:t>年</a:t>
            </a:r>
            <a:r>
              <a:rPr lang="en-US" altLang="zh-TW" sz="1600" dirty="0">
                <a:solidFill>
                  <a:schemeClr val="tx1">
                    <a:lumMod val="95000"/>
                    <a:lumOff val="5000"/>
                  </a:schemeClr>
                </a:solidFill>
                <a:latin typeface="微軟正黑體" panose="020B0604030504040204" pitchFamily="34" charset="-120"/>
                <a:ea typeface="微軟正黑體" panose="020B0604030504040204" pitchFamily="34" charset="-120"/>
              </a:rPr>
              <a:t>8</a:t>
            </a:r>
            <a:r>
              <a:rPr lang="zh-TW" altLang="en-US" sz="1600" dirty="0">
                <a:solidFill>
                  <a:schemeClr val="tx1">
                    <a:lumMod val="95000"/>
                    <a:lumOff val="5000"/>
                  </a:schemeClr>
                </a:solidFill>
                <a:latin typeface="微軟正黑體" panose="020B0604030504040204" pitchFamily="34" charset="-120"/>
                <a:ea typeface="微軟正黑體" panose="020B0604030504040204" pitchFamily="34" charset="-120"/>
              </a:rPr>
              <a:t>月統計，共有</a:t>
            </a:r>
            <a:r>
              <a:rPr lang="en-US" altLang="zh-TW" sz="1600" dirty="0">
                <a:solidFill>
                  <a:schemeClr val="tx1">
                    <a:lumMod val="95000"/>
                    <a:lumOff val="5000"/>
                  </a:schemeClr>
                </a:solidFill>
                <a:latin typeface="微軟正黑體" panose="020B0604030504040204" pitchFamily="34" charset="-120"/>
                <a:ea typeface="微軟正黑體" panose="020B0604030504040204" pitchFamily="34" charset="-120"/>
              </a:rPr>
              <a:t>22</a:t>
            </a:r>
            <a:r>
              <a:rPr lang="zh-TW" altLang="en-US" sz="1600" dirty="0">
                <a:solidFill>
                  <a:schemeClr val="tx1">
                    <a:lumMod val="95000"/>
                    <a:lumOff val="5000"/>
                  </a:schemeClr>
                </a:solidFill>
                <a:latin typeface="微軟正黑體" panose="020B0604030504040204" pitchFamily="34" charset="-120"/>
                <a:ea typeface="微軟正黑體" panose="020B0604030504040204" pitchFamily="34" charset="-120"/>
              </a:rPr>
              <a:t>位有效的使用者，累計訂閱</a:t>
            </a:r>
            <a:r>
              <a:rPr lang="en-US" altLang="zh-TW" sz="1600" dirty="0">
                <a:solidFill>
                  <a:schemeClr val="tx1">
                    <a:lumMod val="95000"/>
                    <a:lumOff val="5000"/>
                  </a:schemeClr>
                </a:solidFill>
                <a:latin typeface="微軟正黑體" panose="020B0604030504040204" pitchFamily="34" charset="-120"/>
                <a:ea typeface="微軟正黑體" panose="020B0604030504040204" pitchFamily="34" charset="-120"/>
              </a:rPr>
              <a:t>93</a:t>
            </a:r>
            <a:r>
              <a:rPr lang="zh-TW" altLang="en-US" sz="1600" dirty="0">
                <a:solidFill>
                  <a:schemeClr val="tx1">
                    <a:lumMod val="95000"/>
                    <a:lumOff val="5000"/>
                  </a:schemeClr>
                </a:solidFill>
                <a:latin typeface="微軟正黑體" panose="020B0604030504040204" pitchFamily="34" charset="-120"/>
                <a:ea typeface="微軟正黑體" panose="020B0604030504040204" pitchFamily="34" charset="-120"/>
              </a:rPr>
              <a:t>項資料集，顯示</a:t>
            </a:r>
            <a:r>
              <a:rPr lang="zh-TW" altLang="en-US" sz="1600" dirty="0">
                <a:solidFill>
                  <a:schemeClr val="tx1">
                    <a:lumMod val="95000"/>
                    <a:lumOff val="5000"/>
                  </a:schemeClr>
                </a:solidFill>
                <a:highlight>
                  <a:srgbClr val="FFFF00"/>
                </a:highlight>
                <a:latin typeface="微軟正黑體" panose="020B0604030504040204" pitchFamily="34" charset="-120"/>
                <a:ea typeface="微軟正黑體" panose="020B0604030504040204" pitchFamily="34" charset="-120"/>
              </a:rPr>
              <a:t>用戶對資料集需求持續提升</a:t>
            </a:r>
            <a:r>
              <a:rPr lang="zh-TW" altLang="en-US" sz="1600" dirty="0">
                <a:solidFill>
                  <a:schemeClr val="tx1">
                    <a:lumMod val="95000"/>
                    <a:lumOff val="5000"/>
                  </a:schemeClr>
                </a:solidFill>
                <a:latin typeface="微軟正黑體" panose="020B0604030504040204" pitchFamily="34" charset="-120"/>
                <a:ea typeface="微軟正黑體" panose="020B0604030504040204" pitchFamily="34" charset="-120"/>
              </a:rPr>
              <a:t>。</a:t>
            </a:r>
          </a:p>
          <a:p>
            <a:pPr marL="285750" indent="-285750">
              <a:lnSpc>
                <a:spcPct val="150000"/>
              </a:lnSpc>
              <a:buFont typeface="Wingdings" panose="05000000000000000000" pitchFamily="2" charset="2"/>
              <a:buChar char="l"/>
            </a:pPr>
            <a:r>
              <a:rPr lang="zh-TW" altLang="en-US" sz="1600" dirty="0">
                <a:solidFill>
                  <a:schemeClr val="tx1">
                    <a:lumMod val="95000"/>
                    <a:lumOff val="5000"/>
                  </a:schemeClr>
                </a:solidFill>
                <a:latin typeface="微軟正黑體" panose="020B0604030504040204" pitchFamily="34" charset="-120"/>
                <a:ea typeface="微軟正黑體" panose="020B0604030504040204" pitchFamily="34" charset="-120"/>
              </a:rPr>
              <a:t>圖三、</a:t>
            </a:r>
            <a:r>
              <a:rPr lang="en-US" altLang="zh-TW" sz="1600" dirty="0">
                <a:solidFill>
                  <a:schemeClr val="tx1">
                    <a:lumMod val="95000"/>
                    <a:lumOff val="5000"/>
                  </a:schemeClr>
                </a:solidFill>
                <a:latin typeface="微軟正黑體" panose="020B0604030504040204" pitchFamily="34" charset="-120"/>
                <a:ea typeface="微軟正黑體" panose="020B0604030504040204" pitchFamily="34" charset="-120"/>
              </a:rPr>
              <a:t>2025</a:t>
            </a:r>
            <a:r>
              <a:rPr lang="zh-TW" altLang="en-US" sz="1600" dirty="0">
                <a:solidFill>
                  <a:schemeClr val="tx1">
                    <a:lumMod val="95000"/>
                    <a:lumOff val="5000"/>
                  </a:schemeClr>
                </a:solidFill>
                <a:latin typeface="微軟正黑體" panose="020B0604030504040204" pitchFamily="34" charset="-120"/>
                <a:ea typeface="微軟正黑體" panose="020B0604030504040204" pitchFamily="34" charset="-120"/>
              </a:rPr>
              <a:t>年障礙率為</a:t>
            </a:r>
            <a:r>
              <a:rPr lang="en-US" altLang="zh-TW" sz="1600" dirty="0">
                <a:solidFill>
                  <a:schemeClr val="tx1">
                    <a:lumMod val="95000"/>
                    <a:lumOff val="5000"/>
                  </a:schemeClr>
                </a:solidFill>
                <a:latin typeface="微軟正黑體" panose="020B0604030504040204" pitchFamily="34" charset="-120"/>
                <a:ea typeface="微軟正黑體" panose="020B0604030504040204" pitchFamily="34" charset="-120"/>
              </a:rPr>
              <a:t>4.69%</a:t>
            </a:r>
            <a:r>
              <a:rPr lang="zh-TW" altLang="en-US" sz="1600" dirty="0">
                <a:solidFill>
                  <a:schemeClr val="tx1">
                    <a:lumMod val="95000"/>
                    <a:lumOff val="5000"/>
                  </a:schemeClr>
                </a:solidFill>
                <a:latin typeface="微軟正黑體" panose="020B0604030504040204" pitchFamily="34" charset="-120"/>
                <a:ea typeface="微軟正黑體" panose="020B0604030504040204" pitchFamily="34" charset="-120"/>
              </a:rPr>
              <a:t>，較</a:t>
            </a:r>
            <a:r>
              <a:rPr lang="en-US" altLang="zh-TW" sz="1600" dirty="0">
                <a:solidFill>
                  <a:schemeClr val="tx1">
                    <a:lumMod val="95000"/>
                    <a:lumOff val="5000"/>
                  </a:schemeClr>
                </a:solidFill>
                <a:latin typeface="微軟正黑體" panose="020B0604030504040204" pitchFamily="34" charset="-120"/>
                <a:ea typeface="微軟正黑體" panose="020B0604030504040204" pitchFamily="34" charset="-120"/>
              </a:rPr>
              <a:t>2024</a:t>
            </a:r>
            <a:r>
              <a:rPr lang="zh-TW" altLang="en-US" sz="1600" dirty="0">
                <a:solidFill>
                  <a:schemeClr val="tx1">
                    <a:lumMod val="95000"/>
                    <a:lumOff val="5000"/>
                  </a:schemeClr>
                </a:solidFill>
                <a:latin typeface="微軟正黑體" panose="020B0604030504040204" pitchFamily="34" charset="-120"/>
                <a:ea typeface="微軟正黑體" panose="020B0604030504040204" pitchFamily="34" charset="-120"/>
              </a:rPr>
              <a:t>年度的</a:t>
            </a:r>
            <a:r>
              <a:rPr lang="en-US" altLang="zh-TW" sz="1600" dirty="0">
                <a:solidFill>
                  <a:schemeClr val="tx1">
                    <a:lumMod val="95000"/>
                    <a:lumOff val="5000"/>
                  </a:schemeClr>
                </a:solidFill>
                <a:latin typeface="微軟正黑體" panose="020B0604030504040204" pitchFamily="34" charset="-120"/>
                <a:ea typeface="微軟正黑體" panose="020B0604030504040204" pitchFamily="34" charset="-120"/>
              </a:rPr>
              <a:t>10.33%</a:t>
            </a:r>
            <a:r>
              <a:rPr lang="zh-TW" altLang="en-US" sz="1600" dirty="0">
                <a:solidFill>
                  <a:schemeClr val="tx1">
                    <a:lumMod val="95000"/>
                    <a:lumOff val="5000"/>
                  </a:schemeClr>
                </a:solidFill>
                <a:latin typeface="微軟正黑體" panose="020B0604030504040204" pitchFamily="34" charset="-120"/>
                <a:ea typeface="微軟正黑體" panose="020B0604030504040204" pitchFamily="34" charset="-120"/>
              </a:rPr>
              <a:t>下降</a:t>
            </a:r>
            <a:r>
              <a:rPr lang="en-US" altLang="zh-TW" sz="1600" dirty="0">
                <a:solidFill>
                  <a:schemeClr val="tx1">
                    <a:lumMod val="95000"/>
                    <a:lumOff val="5000"/>
                  </a:schemeClr>
                </a:solidFill>
                <a:latin typeface="微軟正黑體" panose="020B0604030504040204" pitchFamily="34" charset="-120"/>
                <a:ea typeface="微軟正黑體" panose="020B0604030504040204" pitchFamily="34" charset="-120"/>
              </a:rPr>
              <a:t>5.64%</a:t>
            </a:r>
            <a:r>
              <a:rPr lang="zh-TW" altLang="en-US" sz="1600" dirty="0">
                <a:solidFill>
                  <a:schemeClr val="tx1">
                    <a:lumMod val="95000"/>
                    <a:lumOff val="5000"/>
                  </a:schemeClr>
                </a:solidFill>
                <a:latin typeface="微軟正黑體" panose="020B0604030504040204" pitchFamily="34" charset="-120"/>
                <a:ea typeface="微軟正黑體" panose="020B0604030504040204" pitchFamily="34" charset="-120"/>
              </a:rPr>
              <a:t>，反映</a:t>
            </a:r>
            <a:r>
              <a:rPr lang="zh-TW" altLang="en-US" sz="1600" dirty="0">
                <a:solidFill>
                  <a:schemeClr val="tx1">
                    <a:lumMod val="95000"/>
                    <a:lumOff val="5000"/>
                  </a:schemeClr>
                </a:solidFill>
                <a:highlight>
                  <a:srgbClr val="FFFF00"/>
                </a:highlight>
                <a:latin typeface="微軟正黑體" panose="020B0604030504040204" pitchFamily="34" charset="-120"/>
                <a:ea typeface="微軟正黑體" panose="020B0604030504040204" pitchFamily="34" charset="-120"/>
              </a:rPr>
              <a:t>系統穩定性明顯改善，相關優化作業成效顯著</a:t>
            </a:r>
            <a:r>
              <a:rPr lang="zh-TW" altLang="en-US" sz="1600" dirty="0">
                <a:solidFill>
                  <a:schemeClr val="tx1">
                    <a:lumMod val="95000"/>
                    <a:lumOff val="5000"/>
                  </a:schemeClr>
                </a:solidFill>
                <a:latin typeface="微軟正黑體" panose="020B0604030504040204" pitchFamily="34" charset="-120"/>
                <a:ea typeface="微軟正黑體" panose="020B0604030504040204" pitchFamily="34" charset="-120"/>
              </a:rPr>
              <a:t>。</a:t>
            </a:r>
            <a:endParaRPr lang="en-US" altLang="zh-TW" sz="1600" dirty="0">
              <a:solidFill>
                <a:schemeClr val="tx1">
                  <a:lumMod val="95000"/>
                  <a:lumOff val="5000"/>
                </a:schemeClr>
              </a:solidFill>
              <a:latin typeface="微軟正黑體" panose="020B0604030504040204" pitchFamily="34" charset="-120"/>
              <a:ea typeface="微軟正黑體" panose="020B0604030504040204" pitchFamily="34" charset="-120"/>
            </a:endParaRPr>
          </a:p>
          <a:p>
            <a:pPr marL="285750" indent="-285750">
              <a:lnSpc>
                <a:spcPct val="150000"/>
              </a:lnSpc>
              <a:buFont typeface="Wingdings" panose="05000000000000000000" pitchFamily="2" charset="2"/>
              <a:buChar char="l"/>
            </a:pPr>
            <a:endParaRPr lang="en-US" altLang="zh-TW" sz="1600" dirty="0">
              <a:solidFill>
                <a:schemeClr val="tx1">
                  <a:lumMod val="95000"/>
                  <a:lumOff val="5000"/>
                </a:schemeClr>
              </a:solidFill>
              <a:latin typeface="微軟正黑體" panose="020B0604030504040204" pitchFamily="34" charset="-120"/>
              <a:ea typeface="微軟正黑體" panose="020B0604030504040204" pitchFamily="34" charset="-120"/>
            </a:endParaRPr>
          </a:p>
        </p:txBody>
      </p:sp>
      <p:graphicFrame>
        <p:nvGraphicFramePr>
          <p:cNvPr id="3" name="圖表 2">
            <a:extLst>
              <a:ext uri="{FF2B5EF4-FFF2-40B4-BE49-F238E27FC236}">
                <a16:creationId xmlns:a16="http://schemas.microsoft.com/office/drawing/2014/main" id="{B9227EBF-BF08-17B1-6173-3526D7777C7B}"/>
              </a:ext>
            </a:extLst>
          </p:cNvPr>
          <p:cNvGraphicFramePr>
            <a:graphicFrameLocks/>
          </p:cNvGraphicFramePr>
          <p:nvPr>
            <p:extLst>
              <p:ext uri="{D42A27DB-BD31-4B8C-83A1-F6EECF244321}">
                <p14:modId xmlns:p14="http://schemas.microsoft.com/office/powerpoint/2010/main" val="1694992058"/>
              </p:ext>
            </p:extLst>
          </p:nvPr>
        </p:nvGraphicFramePr>
        <p:xfrm>
          <a:off x="3951940" y="842332"/>
          <a:ext cx="4844588" cy="2698550"/>
        </p:xfrm>
        <a:graphic>
          <a:graphicData uri="http://schemas.openxmlformats.org/drawingml/2006/chart">
            <c:chart xmlns:c="http://schemas.openxmlformats.org/drawingml/2006/chart" xmlns:r="http://schemas.openxmlformats.org/officeDocument/2006/relationships" r:id="rId5"/>
          </a:graphicData>
        </a:graphic>
      </p:graphicFrame>
      <p:sp>
        <p:nvSpPr>
          <p:cNvPr id="28" name="矩形: 圓角 27">
            <a:extLst>
              <a:ext uri="{FF2B5EF4-FFF2-40B4-BE49-F238E27FC236}">
                <a16:creationId xmlns:a16="http://schemas.microsoft.com/office/drawing/2014/main" id="{1D5A6178-A679-6ED0-8815-F1B0384A2EF7}"/>
              </a:ext>
            </a:extLst>
          </p:cNvPr>
          <p:cNvSpPr/>
          <p:nvPr/>
        </p:nvSpPr>
        <p:spPr>
          <a:xfrm>
            <a:off x="8146983" y="3240021"/>
            <a:ext cx="571065" cy="273170"/>
          </a:xfrm>
          <a:prstGeom prst="round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chemeClr val="bg1"/>
                </a:solidFill>
                <a:latin typeface="微軟正黑體" panose="020B0604030504040204" pitchFamily="34" charset="-120"/>
                <a:ea typeface="微軟正黑體" panose="020B0604030504040204" pitchFamily="34" charset="-120"/>
              </a:rPr>
              <a:t>圖二</a:t>
            </a:r>
            <a:endParaRPr lang="en-US" altLang="zh-TW" b="1" dirty="0">
              <a:solidFill>
                <a:schemeClr val="bg1"/>
              </a:solidFill>
              <a:latin typeface="微軟正黑體" panose="020B0604030504040204" pitchFamily="34" charset="-120"/>
              <a:ea typeface="微軟正黑體" panose="020B0604030504040204" pitchFamily="34" charset="-120"/>
            </a:endParaRPr>
          </a:p>
        </p:txBody>
      </p:sp>
      <p:sp>
        <p:nvSpPr>
          <p:cNvPr id="26" name="矩形: 圓角 25">
            <a:extLst>
              <a:ext uri="{FF2B5EF4-FFF2-40B4-BE49-F238E27FC236}">
                <a16:creationId xmlns:a16="http://schemas.microsoft.com/office/drawing/2014/main" id="{C7C4CE7B-5AEB-F5FD-D66E-5511828C2AA2}"/>
              </a:ext>
            </a:extLst>
          </p:cNvPr>
          <p:cNvSpPr/>
          <p:nvPr/>
        </p:nvSpPr>
        <p:spPr>
          <a:xfrm>
            <a:off x="3139385" y="3216891"/>
            <a:ext cx="580904" cy="273170"/>
          </a:xfrm>
          <a:prstGeom prst="round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chemeClr val="bg1"/>
                </a:solidFill>
                <a:latin typeface="微軟正黑體" panose="020B0604030504040204" pitchFamily="34" charset="-120"/>
                <a:ea typeface="微軟正黑體" panose="020B0604030504040204" pitchFamily="34" charset="-120"/>
              </a:rPr>
              <a:t>圖一</a:t>
            </a:r>
          </a:p>
        </p:txBody>
      </p:sp>
      <p:sp>
        <p:nvSpPr>
          <p:cNvPr id="27" name="矩形: 圓角 26">
            <a:extLst>
              <a:ext uri="{FF2B5EF4-FFF2-40B4-BE49-F238E27FC236}">
                <a16:creationId xmlns:a16="http://schemas.microsoft.com/office/drawing/2014/main" id="{073D4814-B900-7F96-545E-D81668E4846B}"/>
              </a:ext>
            </a:extLst>
          </p:cNvPr>
          <p:cNvSpPr/>
          <p:nvPr/>
        </p:nvSpPr>
        <p:spPr>
          <a:xfrm>
            <a:off x="10741460" y="3239193"/>
            <a:ext cx="571065" cy="273170"/>
          </a:xfrm>
          <a:prstGeom prst="round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chemeClr val="bg1"/>
                </a:solidFill>
                <a:latin typeface="微軟正黑體" panose="020B0604030504040204" pitchFamily="34" charset="-120"/>
                <a:ea typeface="微軟正黑體" panose="020B0604030504040204" pitchFamily="34" charset="-120"/>
              </a:rPr>
              <a:t>圖三</a:t>
            </a:r>
          </a:p>
        </p:txBody>
      </p:sp>
      <p:sp>
        <p:nvSpPr>
          <p:cNvPr id="5" name="矩形 4">
            <a:extLst>
              <a:ext uri="{FF2B5EF4-FFF2-40B4-BE49-F238E27FC236}">
                <a16:creationId xmlns:a16="http://schemas.microsoft.com/office/drawing/2014/main" id="{66D27BFE-A4D2-1C64-BD98-7304F63436B7}"/>
              </a:ext>
            </a:extLst>
          </p:cNvPr>
          <p:cNvSpPr/>
          <p:nvPr/>
        </p:nvSpPr>
        <p:spPr>
          <a:xfrm>
            <a:off x="8718048" y="71438"/>
            <a:ext cx="2832865" cy="6186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TW" altLang="en-US" sz="1000" b="0" i="0" dirty="0">
                <a:solidFill>
                  <a:schemeClr val="tx1"/>
                </a:solidFill>
                <a:effectLst/>
                <a:latin typeface="微軟正黑體" panose="020B0604030504040204" pitchFamily="34" charset="-120"/>
                <a:ea typeface="微軟正黑體" panose="020B0604030504040204" pitchFamily="34" charset="-120"/>
              </a:rPr>
              <a:t>註</a:t>
            </a:r>
            <a:r>
              <a:rPr lang="en-US" altLang="zh-TW" sz="1000" b="0" i="0" dirty="0">
                <a:solidFill>
                  <a:schemeClr val="tx1"/>
                </a:solidFill>
                <a:effectLst/>
                <a:latin typeface="微軟正黑體" panose="020B0604030504040204" pitchFamily="34" charset="-120"/>
                <a:ea typeface="微軟正黑體" panose="020B0604030504040204" pitchFamily="34" charset="-120"/>
              </a:rPr>
              <a:t>1. </a:t>
            </a:r>
            <a:r>
              <a:rPr lang="zh-TW" altLang="en-US" sz="1000" b="0" i="0" dirty="0">
                <a:solidFill>
                  <a:schemeClr val="tx1"/>
                </a:solidFill>
                <a:effectLst/>
                <a:latin typeface="微軟正黑體" panose="020B0604030504040204" pitchFamily="34" charset="-120"/>
                <a:ea typeface="微軟正黑體" panose="020B0604030504040204" pitchFamily="34" charset="-120"/>
              </a:rPr>
              <a:t>網站改版可能導致爬蟲擷取失敗，這類情況會記錄在障礙率中，作為穩定性監控依據。</a:t>
            </a:r>
          </a:p>
        </p:txBody>
      </p:sp>
    </p:spTree>
    <p:extLst>
      <p:ext uri="{BB962C8B-B14F-4D97-AF65-F5344CB8AC3E}">
        <p14:creationId xmlns:p14="http://schemas.microsoft.com/office/powerpoint/2010/main" val="15544161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圓角 27">
            <a:extLst>
              <a:ext uri="{FF2B5EF4-FFF2-40B4-BE49-F238E27FC236}">
                <a16:creationId xmlns:a16="http://schemas.microsoft.com/office/drawing/2014/main" id="{CC5CBDE9-FDB4-6B17-010B-B9C1C8CF10A7}"/>
              </a:ext>
            </a:extLst>
          </p:cNvPr>
          <p:cNvSpPr/>
          <p:nvPr/>
        </p:nvSpPr>
        <p:spPr bwMode="auto">
          <a:xfrm>
            <a:off x="5862297" y="719137"/>
            <a:ext cx="5472111" cy="5378344"/>
          </a:xfrm>
          <a:prstGeom prst="roundRect">
            <a:avLst>
              <a:gd name="adj" fmla="val 4515"/>
            </a:avLst>
          </a:prstGeom>
          <a:noFill/>
          <a:ln w="9525" cap="flat" cmpd="sng" algn="ctr">
            <a:solidFill>
              <a:schemeClr val="tx1"/>
            </a:solidFill>
            <a:prstDash val="solid"/>
            <a:round/>
            <a:headEnd type="none" w="med" len="med"/>
            <a:tailEnd type="none" w="med" len="med"/>
          </a:ln>
          <a:effectLst/>
        </p:spPr>
        <p:txBody>
          <a:bodyPr rot="0" spcFirstLastPara="0" vertOverflow="overflow" horzOverflow="overflow" vert="horz" wrap="square" lIns="93297" tIns="46649" rIns="93297" bIns="46649"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837" b="0" i="0" u="none" strike="noStrike" kern="1200" cap="none" spc="0" normalizeH="0" baseline="0" noProof="0">
              <a:ln>
                <a:noFill/>
              </a:ln>
              <a:solidFill>
                <a:prstClr val="black"/>
              </a:solidFill>
              <a:effectLst/>
              <a:uLnTx/>
              <a:uFillTx/>
              <a:latin typeface="Times New Roman"/>
              <a:ea typeface="標楷體"/>
              <a:cs typeface="+mn-cs"/>
            </a:endParaRPr>
          </a:p>
        </p:txBody>
      </p:sp>
      <p:sp>
        <p:nvSpPr>
          <p:cNvPr id="2" name="標題 1">
            <a:extLst>
              <a:ext uri="{FF2B5EF4-FFF2-40B4-BE49-F238E27FC236}">
                <a16:creationId xmlns:a16="http://schemas.microsoft.com/office/drawing/2014/main" id="{35A4CEEB-78AF-F4CE-3882-B7CB019D3ACF}"/>
              </a:ext>
            </a:extLst>
          </p:cNvPr>
          <p:cNvSpPr>
            <a:spLocks noGrp="1"/>
          </p:cNvSpPr>
          <p:nvPr>
            <p:ph type="title"/>
          </p:nvPr>
        </p:nvSpPr>
        <p:spPr/>
        <p:txBody>
          <a:bodyPr/>
          <a:lstStyle/>
          <a:p>
            <a:r>
              <a:rPr lang="zh-TW" altLang="en-US" b="1" dirty="0"/>
              <a:t>爬蟲館營運分析比較</a:t>
            </a:r>
          </a:p>
        </p:txBody>
      </p:sp>
      <p:sp>
        <p:nvSpPr>
          <p:cNvPr id="3" name="矩形: 圓角 2">
            <a:extLst>
              <a:ext uri="{FF2B5EF4-FFF2-40B4-BE49-F238E27FC236}">
                <a16:creationId xmlns:a16="http://schemas.microsoft.com/office/drawing/2014/main" id="{E65DFCAB-1B73-5CD9-B5FF-D19D9D0ED184}"/>
              </a:ext>
            </a:extLst>
          </p:cNvPr>
          <p:cNvSpPr/>
          <p:nvPr/>
        </p:nvSpPr>
        <p:spPr bwMode="auto">
          <a:xfrm>
            <a:off x="179388" y="719137"/>
            <a:ext cx="5472112" cy="2676934"/>
          </a:xfrm>
          <a:prstGeom prst="roundRect">
            <a:avLst>
              <a:gd name="adj" fmla="val 4515"/>
            </a:avLst>
          </a:prstGeom>
          <a:solidFill>
            <a:srgbClr val="F9FAFC"/>
          </a:solidFill>
          <a:ln w="9525" cap="flat" cmpd="sng" algn="ctr">
            <a:solidFill>
              <a:schemeClr val="tx1"/>
            </a:solidFill>
            <a:prstDash val="solid"/>
            <a:round/>
            <a:headEnd type="none" w="med" len="med"/>
            <a:tailEnd type="none" w="med" len="med"/>
          </a:ln>
          <a:effectLst/>
        </p:spPr>
        <p:txBody>
          <a:bodyPr rot="0" spcFirstLastPara="0" vertOverflow="overflow" horzOverflow="overflow" vert="horz" wrap="square" lIns="93297" tIns="46649" rIns="93297" bIns="46649"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837" b="0" i="0" u="none" strike="noStrike" kern="1200" cap="none" spc="0" normalizeH="0" baseline="0" noProof="0">
              <a:ln>
                <a:noFill/>
              </a:ln>
              <a:solidFill>
                <a:prstClr val="black"/>
              </a:solidFill>
              <a:effectLst/>
              <a:uLnTx/>
              <a:uFillTx/>
              <a:latin typeface="Times New Roman"/>
              <a:ea typeface="標楷體"/>
              <a:cs typeface="+mn-cs"/>
            </a:endParaRPr>
          </a:p>
        </p:txBody>
      </p:sp>
      <p:sp>
        <p:nvSpPr>
          <p:cNvPr id="4" name="矩形: 圓角 3">
            <a:extLst>
              <a:ext uri="{FF2B5EF4-FFF2-40B4-BE49-F238E27FC236}">
                <a16:creationId xmlns:a16="http://schemas.microsoft.com/office/drawing/2014/main" id="{1323310F-9FA5-DCDA-27DA-575E23EF0AFE}"/>
              </a:ext>
            </a:extLst>
          </p:cNvPr>
          <p:cNvSpPr/>
          <p:nvPr/>
        </p:nvSpPr>
        <p:spPr bwMode="auto">
          <a:xfrm>
            <a:off x="323817" y="888027"/>
            <a:ext cx="5124676" cy="399425"/>
          </a:xfrm>
          <a:prstGeom prst="roundRect">
            <a:avLst>
              <a:gd name="adj" fmla="val 50000"/>
            </a:avLst>
          </a:prstGeom>
          <a:solidFill>
            <a:srgbClr val="953735"/>
          </a:solidFill>
          <a:ln w="9525" cap="flat" cmpd="sng" algn="ctr">
            <a:noFill/>
            <a:prstDash val="solid"/>
            <a:round/>
            <a:headEnd type="none" w="med" len="med"/>
            <a:tailEnd type="none" w="med" len="med"/>
          </a:ln>
          <a:effectLst/>
        </p:spPr>
        <p:txBody>
          <a:bodyPr vert="horz" wrap="square" lIns="93297" tIns="46649" rIns="93297" bIns="46649" numCol="1" rtlCol="0"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400" b="1" kern="1200" dirty="0">
                <a:solidFill>
                  <a:schemeClr val="bg1"/>
                </a:solidFill>
                <a:latin typeface="微軟正黑體" panose="020B0604030504040204" pitchFamily="34" charset="-120"/>
                <a:ea typeface="微軟正黑體" panose="020B0604030504040204" pitchFamily="34" charset="-120"/>
                <a:cs typeface="+mn-cs"/>
              </a:rPr>
              <a:t>爬蟲館現況</a:t>
            </a:r>
            <a:endParaRPr kumimoji="0" lang="zh-TW" altLang="en-US" sz="2041" b="1" i="0" u="none" strike="noStrike" kern="1200" cap="none" spc="0" normalizeH="0" baseline="0" noProof="0" dirty="0">
              <a:ln>
                <a:noFill/>
              </a:ln>
              <a:solidFill>
                <a:schemeClr val="bg1"/>
              </a:solidFill>
              <a:effectLst/>
              <a:uLnTx/>
              <a:uFillTx/>
              <a:latin typeface="Times New Roman"/>
              <a:ea typeface="標楷體"/>
              <a:cs typeface="+mn-cs"/>
            </a:endParaRPr>
          </a:p>
        </p:txBody>
      </p:sp>
      <p:sp>
        <p:nvSpPr>
          <p:cNvPr id="8" name="矩形 7">
            <a:extLst>
              <a:ext uri="{FF2B5EF4-FFF2-40B4-BE49-F238E27FC236}">
                <a16:creationId xmlns:a16="http://schemas.microsoft.com/office/drawing/2014/main" id="{85785336-0325-E46E-46C8-97FA8007F7DE}"/>
              </a:ext>
            </a:extLst>
          </p:cNvPr>
          <p:cNvSpPr/>
          <p:nvPr/>
        </p:nvSpPr>
        <p:spPr bwMode="auto">
          <a:xfrm>
            <a:off x="258279" y="1726098"/>
            <a:ext cx="2497754" cy="1867196"/>
          </a:xfrm>
          <a:prstGeom prst="rect">
            <a:avLst/>
          </a:prstGeom>
          <a:noFill/>
          <a:ln w="9525" cap="flat" cmpd="sng" algn="ctr">
            <a:noFill/>
            <a:prstDash val="solid"/>
            <a:round/>
            <a:headEnd type="none" w="med" len="med"/>
            <a:tailEnd type="none" w="med" len="med"/>
          </a:ln>
          <a:effectLst/>
        </p:spPr>
        <p:txBody>
          <a:bodyPr vert="horz" wrap="square" lIns="93297" tIns="46649" rIns="93297" bIns="46649" numCol="1" rtlCol="0" anchor="t" anchorCtr="0" compatLnSpc="1">
            <a:prstTxWarp prst="textNoShape">
              <a:avLst/>
            </a:prstTxWarp>
          </a:bodyPr>
          <a:lstStyle/>
          <a:p>
            <a:pPr marL="349861" lvl="1" indent="-349861">
              <a:lnSpc>
                <a:spcPct val="120000"/>
              </a:lnSpc>
              <a:spcBef>
                <a:spcPts val="612"/>
              </a:spcBef>
              <a:buClrTx/>
              <a:buFont typeface="Wingdings" panose="05000000000000000000" pitchFamily="2" charset="2"/>
              <a:buChar char="þ"/>
              <a:defRPr/>
            </a:pPr>
            <a:r>
              <a:rPr lang="zh-TW" altLang="zh-TW" sz="1632" kern="1200" dirty="0">
                <a:solidFill>
                  <a:prstClr val="black"/>
                </a:solidFill>
                <a:latin typeface="微軟正黑體" panose="020B0604030504040204" pitchFamily="34" charset="-120"/>
                <a:ea typeface="微軟正黑體" panose="020B0604030504040204" pitchFamily="34" charset="-120"/>
                <a:cs typeface="+mn-cs"/>
              </a:rPr>
              <a:t>查詢公開資訊使用者</a:t>
            </a:r>
            <a:endParaRPr lang="zh-TW" altLang="en-US" sz="1632" kern="1200" dirty="0">
              <a:solidFill>
                <a:prstClr val="black"/>
              </a:solidFill>
              <a:latin typeface="微軟正黑體" panose="020B0604030504040204" pitchFamily="34" charset="-120"/>
              <a:ea typeface="微軟正黑體" panose="020B0604030504040204" pitchFamily="34" charset="-120"/>
              <a:cs typeface="+mn-cs"/>
            </a:endParaRPr>
          </a:p>
        </p:txBody>
      </p:sp>
      <p:sp>
        <p:nvSpPr>
          <p:cNvPr id="9" name="矩形 8">
            <a:extLst>
              <a:ext uri="{FF2B5EF4-FFF2-40B4-BE49-F238E27FC236}">
                <a16:creationId xmlns:a16="http://schemas.microsoft.com/office/drawing/2014/main" id="{B8EF1BC8-7D3F-1135-4A66-8DCCF86EBCA9}"/>
              </a:ext>
            </a:extLst>
          </p:cNvPr>
          <p:cNvSpPr/>
          <p:nvPr/>
        </p:nvSpPr>
        <p:spPr bwMode="auto">
          <a:xfrm>
            <a:off x="323819" y="2797242"/>
            <a:ext cx="4989354" cy="469903"/>
          </a:xfrm>
          <a:prstGeom prst="rect">
            <a:avLst/>
          </a:prstGeom>
          <a:noFill/>
          <a:ln w="9525" cap="flat" cmpd="sng" algn="ctr">
            <a:noFill/>
            <a:prstDash val="solid"/>
            <a:round/>
            <a:headEnd type="none" w="med" len="med"/>
            <a:tailEnd type="none" w="med" len="med"/>
          </a:ln>
          <a:effectLst/>
        </p:spPr>
        <p:txBody>
          <a:bodyPr vert="horz" wrap="square" lIns="93297" tIns="46649" rIns="93297" bIns="46649" numCol="1" rtlCol="0" anchor="t" anchorCtr="0" compatLnSpc="1">
            <a:prstTxWarp prst="textNoShape">
              <a:avLst/>
            </a:prstTxWarp>
          </a:bodyPr>
          <a:lstStyle/>
          <a:p>
            <a:pPr marL="349861" marR="0" lvl="1" indent="-349861" algn="l" defTabSz="914400" rtl="0" eaLnBrk="1" fontAlgn="auto" latinLnBrk="1" hangingPunct="1">
              <a:lnSpc>
                <a:spcPct val="120000"/>
              </a:lnSpc>
              <a:spcBef>
                <a:spcPts val="612"/>
              </a:spcBef>
              <a:spcAft>
                <a:spcPts val="0"/>
              </a:spcAft>
              <a:buClrTx/>
              <a:buSzTx/>
              <a:buFont typeface="Wingdings" panose="05000000000000000000" pitchFamily="2" charset="2"/>
              <a:buChar char="þ"/>
              <a:tabLst/>
              <a:defRPr/>
            </a:pPr>
            <a:r>
              <a:rPr kumimoji="0" lang="zh-TW" altLang="en-US" sz="1632"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判斷排除重複資料</a:t>
            </a:r>
            <a:r>
              <a:rPr lang="zh-TW" altLang="en-US" sz="1632" kern="1200" dirty="0">
                <a:solidFill>
                  <a:prstClr val="black"/>
                </a:solidFill>
                <a:latin typeface="微軟正黑體" panose="020B0604030504040204" pitchFamily="34" charset="-120"/>
                <a:ea typeface="微軟正黑體" panose="020B0604030504040204" pitchFamily="34" charset="-120"/>
                <a:cs typeface="+mn-cs"/>
              </a:rPr>
              <a:t>，</a:t>
            </a:r>
            <a:r>
              <a:rPr kumimoji="0" lang="zh-TW" altLang="en-US" sz="1632"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清整後才能應用</a:t>
            </a:r>
            <a:endParaRPr kumimoji="0" lang="en-US" altLang="zh-TW" sz="1632"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p:txBody>
      </p:sp>
      <p:sp>
        <p:nvSpPr>
          <p:cNvPr id="10" name="矩形 9">
            <a:extLst>
              <a:ext uri="{FF2B5EF4-FFF2-40B4-BE49-F238E27FC236}">
                <a16:creationId xmlns:a16="http://schemas.microsoft.com/office/drawing/2014/main" id="{4760137C-FD66-63C4-BD43-35890535C202}"/>
              </a:ext>
            </a:extLst>
          </p:cNvPr>
          <p:cNvSpPr/>
          <p:nvPr/>
        </p:nvSpPr>
        <p:spPr bwMode="auto">
          <a:xfrm>
            <a:off x="2802945" y="1707049"/>
            <a:ext cx="2645547" cy="935009"/>
          </a:xfrm>
          <a:prstGeom prst="rect">
            <a:avLst/>
          </a:prstGeom>
          <a:noFill/>
          <a:ln w="9525" cap="flat" cmpd="sng" algn="ctr">
            <a:noFill/>
            <a:prstDash val="solid"/>
            <a:round/>
            <a:headEnd type="none" w="med" len="med"/>
            <a:tailEnd type="none" w="med" len="med"/>
          </a:ln>
          <a:effectLst/>
        </p:spPr>
        <p:txBody>
          <a:bodyPr vert="horz" wrap="square" lIns="93297" tIns="46649" rIns="93297" bIns="46649" numCol="1" rtlCol="0" anchor="t" anchorCtr="0" compatLnSpc="1">
            <a:prstTxWarp prst="textNoShape">
              <a:avLst/>
            </a:prstTxWarp>
          </a:bodyPr>
          <a:lstStyle/>
          <a:p>
            <a:pPr marL="349861" marR="0" lvl="1" indent="-349861" algn="l" defTabSz="914400" rtl="0" eaLnBrk="1" fontAlgn="auto" latinLnBrk="0" hangingPunct="1">
              <a:lnSpc>
                <a:spcPct val="120000"/>
              </a:lnSpc>
              <a:spcBef>
                <a:spcPts val="612"/>
              </a:spcBef>
              <a:spcAft>
                <a:spcPts val="0"/>
              </a:spcAft>
              <a:buClrTx/>
              <a:buSzTx/>
              <a:buFont typeface="Wingdings" panose="05000000000000000000" pitchFamily="2" charset="2"/>
              <a:buChar char="þ"/>
              <a:tabLst/>
              <a:defRPr/>
            </a:pPr>
            <a:r>
              <a:rPr kumimoji="0" lang="zh-TW" altLang="en-US" sz="1632"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下載</a:t>
            </a:r>
            <a:r>
              <a:rPr kumimoji="0" lang="en-US" altLang="zh-TW" sz="1632"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CSV</a:t>
            </a:r>
            <a:r>
              <a:rPr kumimoji="0" lang="zh-TW" altLang="en-US" sz="1632"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檔</a:t>
            </a:r>
            <a:endParaRPr lang="en-US" altLang="zh-TW" sz="1632" kern="1200" dirty="0">
              <a:solidFill>
                <a:prstClr val="black"/>
              </a:solidFill>
              <a:latin typeface="微軟正黑體" panose="020B0604030504040204" pitchFamily="34" charset="-120"/>
              <a:ea typeface="微軟正黑體" panose="020B0604030504040204" pitchFamily="34" charset="-120"/>
              <a:cs typeface="+mn-cs"/>
            </a:endParaRPr>
          </a:p>
          <a:p>
            <a:pPr marL="349861" marR="0" lvl="1" indent="-349861" algn="l" defTabSz="914400" rtl="0" eaLnBrk="1" fontAlgn="auto" latinLnBrk="0" hangingPunct="1">
              <a:lnSpc>
                <a:spcPct val="120000"/>
              </a:lnSpc>
              <a:spcBef>
                <a:spcPts val="612"/>
              </a:spcBef>
              <a:spcAft>
                <a:spcPts val="0"/>
              </a:spcAft>
              <a:buClrTx/>
              <a:buSzTx/>
              <a:buFont typeface="Wingdings" panose="05000000000000000000" pitchFamily="2" charset="2"/>
              <a:buChar char="þ"/>
              <a:tabLst/>
              <a:defRPr/>
            </a:pPr>
            <a:r>
              <a:rPr kumimoji="0" lang="zh-TW" altLang="en-US" sz="1632"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訂閱批次</a:t>
            </a:r>
            <a:r>
              <a:rPr kumimoji="0" lang="en-US" altLang="zh-TW" sz="1632"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Outlook</a:t>
            </a:r>
            <a:r>
              <a:rPr kumimoji="0" lang="zh-TW" altLang="en-US" sz="1632"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收檔</a:t>
            </a:r>
          </a:p>
        </p:txBody>
      </p:sp>
      <p:sp>
        <p:nvSpPr>
          <p:cNvPr id="11" name="矩形 10">
            <a:extLst>
              <a:ext uri="{FF2B5EF4-FFF2-40B4-BE49-F238E27FC236}">
                <a16:creationId xmlns:a16="http://schemas.microsoft.com/office/drawing/2014/main" id="{7C4D66F0-9BC3-877C-1457-7B2D2ED01C3D}"/>
              </a:ext>
            </a:extLst>
          </p:cNvPr>
          <p:cNvSpPr/>
          <p:nvPr/>
        </p:nvSpPr>
        <p:spPr>
          <a:xfrm>
            <a:off x="298890" y="1349947"/>
            <a:ext cx="655949" cy="375039"/>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837" b="1"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對象</a:t>
            </a:r>
            <a:endParaRPr kumimoji="0" lang="zh-TW" altLang="en-US" sz="1837" b="1" i="0" u="none" strike="noStrike" kern="1200" cap="none" spc="0" normalizeH="0" baseline="0" noProof="0" dirty="0">
              <a:ln>
                <a:noFill/>
              </a:ln>
              <a:solidFill>
                <a:prstClr val="black"/>
              </a:solidFill>
              <a:effectLst/>
              <a:uLnTx/>
              <a:uFillTx/>
              <a:latin typeface="Times New Roman"/>
              <a:ea typeface="標楷體"/>
              <a:cs typeface="+mn-cs"/>
            </a:endParaRPr>
          </a:p>
        </p:txBody>
      </p:sp>
      <p:sp>
        <p:nvSpPr>
          <p:cNvPr id="12" name="矩形 11">
            <a:extLst>
              <a:ext uri="{FF2B5EF4-FFF2-40B4-BE49-F238E27FC236}">
                <a16:creationId xmlns:a16="http://schemas.microsoft.com/office/drawing/2014/main" id="{B6DF0454-6D83-49DF-C6A5-EB18325D7096}"/>
              </a:ext>
            </a:extLst>
          </p:cNvPr>
          <p:cNvSpPr/>
          <p:nvPr/>
        </p:nvSpPr>
        <p:spPr>
          <a:xfrm>
            <a:off x="2879388" y="1349947"/>
            <a:ext cx="655949" cy="375039"/>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837" b="1"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功能</a:t>
            </a:r>
            <a:endParaRPr kumimoji="0" lang="zh-TW" altLang="en-US" sz="1837" b="1" i="0" u="none" strike="noStrike" kern="1200" cap="none" spc="0" normalizeH="0" baseline="0" noProof="0" dirty="0">
              <a:ln>
                <a:noFill/>
              </a:ln>
              <a:solidFill>
                <a:prstClr val="black"/>
              </a:solidFill>
              <a:effectLst/>
              <a:uLnTx/>
              <a:uFillTx/>
              <a:latin typeface="Times New Roman"/>
              <a:ea typeface="標楷體"/>
              <a:cs typeface="+mn-cs"/>
            </a:endParaRPr>
          </a:p>
        </p:txBody>
      </p:sp>
      <p:sp>
        <p:nvSpPr>
          <p:cNvPr id="13" name="矩形 12">
            <a:extLst>
              <a:ext uri="{FF2B5EF4-FFF2-40B4-BE49-F238E27FC236}">
                <a16:creationId xmlns:a16="http://schemas.microsoft.com/office/drawing/2014/main" id="{38548E07-4FC5-4637-1634-5E47973DF9BB}"/>
              </a:ext>
            </a:extLst>
          </p:cNvPr>
          <p:cNvSpPr/>
          <p:nvPr/>
        </p:nvSpPr>
        <p:spPr>
          <a:xfrm>
            <a:off x="258280" y="2488394"/>
            <a:ext cx="655949" cy="375039"/>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837" b="1"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痛點</a:t>
            </a:r>
            <a:endParaRPr kumimoji="0" lang="zh-TW" altLang="en-US" sz="1837" b="1" i="0" u="none" strike="noStrike" kern="1200" cap="none" spc="0" normalizeH="0" baseline="0" noProof="0" dirty="0">
              <a:ln>
                <a:noFill/>
              </a:ln>
              <a:solidFill>
                <a:prstClr val="black"/>
              </a:solidFill>
              <a:effectLst/>
              <a:uLnTx/>
              <a:uFillTx/>
              <a:latin typeface="Times New Roman"/>
              <a:ea typeface="標楷體"/>
              <a:cs typeface="+mn-cs"/>
            </a:endParaRPr>
          </a:p>
        </p:txBody>
      </p:sp>
      <p:sp>
        <p:nvSpPr>
          <p:cNvPr id="14" name="矩形: 圓角 13">
            <a:extLst>
              <a:ext uri="{FF2B5EF4-FFF2-40B4-BE49-F238E27FC236}">
                <a16:creationId xmlns:a16="http://schemas.microsoft.com/office/drawing/2014/main" id="{D0D5843C-89B1-A07D-91A4-EE05CCFB614E}"/>
              </a:ext>
            </a:extLst>
          </p:cNvPr>
          <p:cNvSpPr/>
          <p:nvPr/>
        </p:nvSpPr>
        <p:spPr bwMode="auto">
          <a:xfrm>
            <a:off x="179388" y="3475370"/>
            <a:ext cx="5472112" cy="2643648"/>
          </a:xfrm>
          <a:prstGeom prst="roundRect">
            <a:avLst>
              <a:gd name="adj" fmla="val 4515"/>
            </a:avLst>
          </a:prstGeom>
          <a:solidFill>
            <a:srgbClr val="F9FAFC"/>
          </a:solidFill>
          <a:ln w="9525" cap="flat" cmpd="sng" algn="ctr">
            <a:solidFill>
              <a:schemeClr val="tx1"/>
            </a:solidFill>
            <a:prstDash val="solid"/>
            <a:round/>
            <a:headEnd type="none" w="med" len="med"/>
            <a:tailEnd type="none" w="med" len="med"/>
          </a:ln>
          <a:effectLst/>
        </p:spPr>
        <p:txBody>
          <a:bodyPr rot="0" spcFirstLastPara="0" vertOverflow="overflow" horzOverflow="overflow" vert="horz" wrap="square" lIns="93297" tIns="46649" rIns="93297" bIns="46649"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837" b="0" i="0" u="none" strike="noStrike" kern="1200" cap="none" spc="0" normalizeH="0" baseline="0" noProof="0">
              <a:ln>
                <a:noFill/>
              </a:ln>
              <a:solidFill>
                <a:prstClr val="black"/>
              </a:solidFill>
              <a:effectLst/>
              <a:uLnTx/>
              <a:uFillTx/>
              <a:latin typeface="Times New Roman"/>
              <a:ea typeface="標楷體"/>
              <a:cs typeface="+mn-cs"/>
            </a:endParaRPr>
          </a:p>
        </p:txBody>
      </p:sp>
      <p:sp>
        <p:nvSpPr>
          <p:cNvPr id="15" name="矩形: 圓角 14">
            <a:extLst>
              <a:ext uri="{FF2B5EF4-FFF2-40B4-BE49-F238E27FC236}">
                <a16:creationId xmlns:a16="http://schemas.microsoft.com/office/drawing/2014/main" id="{6C6AB4B1-8A12-88FE-2C1A-8564605AE8A1}"/>
              </a:ext>
            </a:extLst>
          </p:cNvPr>
          <p:cNvSpPr/>
          <p:nvPr/>
        </p:nvSpPr>
        <p:spPr bwMode="auto">
          <a:xfrm>
            <a:off x="323817" y="3569859"/>
            <a:ext cx="5124676" cy="399425"/>
          </a:xfrm>
          <a:prstGeom prst="roundRect">
            <a:avLst>
              <a:gd name="adj" fmla="val 50000"/>
            </a:avLst>
          </a:prstGeom>
          <a:solidFill>
            <a:srgbClr val="953735"/>
          </a:solidFill>
          <a:ln w="9525" cap="flat" cmpd="sng" algn="ctr">
            <a:noFill/>
            <a:prstDash val="solid"/>
            <a:round/>
            <a:headEnd type="none" w="med" len="med"/>
            <a:tailEnd type="none" w="med" len="med"/>
          </a:ln>
          <a:effectLst/>
        </p:spPr>
        <p:txBody>
          <a:bodyPr vert="horz" wrap="square" lIns="93297" tIns="46649" rIns="93297" bIns="46649" numCol="1" rtlCol="0"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400" b="1" kern="1200" dirty="0">
                <a:solidFill>
                  <a:schemeClr val="bg1"/>
                </a:solidFill>
                <a:latin typeface="微軟正黑體" panose="020B0604030504040204" pitchFamily="34" charset="-120"/>
                <a:ea typeface="微軟正黑體" panose="020B0604030504040204" pitchFamily="34" charset="-120"/>
                <a:cs typeface="+mn-cs"/>
              </a:rPr>
              <a:t>爬蟲館未來</a:t>
            </a:r>
            <a:endParaRPr kumimoji="0" lang="zh-TW" altLang="en-US" sz="2041" b="1" i="0" u="none" strike="noStrike" kern="1200" cap="none" spc="0" normalizeH="0" baseline="0" noProof="0" dirty="0">
              <a:ln>
                <a:noFill/>
              </a:ln>
              <a:solidFill>
                <a:schemeClr val="bg1"/>
              </a:solidFill>
              <a:effectLst/>
              <a:uLnTx/>
              <a:uFillTx/>
              <a:latin typeface="Times New Roman"/>
              <a:ea typeface="標楷體"/>
              <a:cs typeface="+mn-cs"/>
            </a:endParaRPr>
          </a:p>
        </p:txBody>
      </p:sp>
      <p:sp>
        <p:nvSpPr>
          <p:cNvPr id="19" name="矩形 18">
            <a:extLst>
              <a:ext uri="{FF2B5EF4-FFF2-40B4-BE49-F238E27FC236}">
                <a16:creationId xmlns:a16="http://schemas.microsoft.com/office/drawing/2014/main" id="{8C6165FD-3A11-2AEC-693D-B97576DDB019}"/>
              </a:ext>
            </a:extLst>
          </p:cNvPr>
          <p:cNvSpPr/>
          <p:nvPr/>
        </p:nvSpPr>
        <p:spPr bwMode="auto">
          <a:xfrm>
            <a:off x="258279" y="4341255"/>
            <a:ext cx="2497754" cy="1867196"/>
          </a:xfrm>
          <a:prstGeom prst="rect">
            <a:avLst/>
          </a:prstGeom>
          <a:noFill/>
          <a:ln w="9525" cap="flat" cmpd="sng" algn="ctr">
            <a:noFill/>
            <a:prstDash val="solid"/>
            <a:round/>
            <a:headEnd type="none" w="med" len="med"/>
            <a:tailEnd type="none" w="med" len="med"/>
          </a:ln>
          <a:effectLst/>
        </p:spPr>
        <p:txBody>
          <a:bodyPr vert="horz" wrap="square" lIns="93297" tIns="46649" rIns="93297" bIns="46649" numCol="1" rtlCol="0" anchor="t" anchorCtr="0" compatLnSpc="1">
            <a:prstTxWarp prst="textNoShape">
              <a:avLst/>
            </a:prstTxWarp>
          </a:bodyPr>
          <a:lstStyle/>
          <a:p>
            <a:pPr marL="349861" lvl="1" indent="-349861">
              <a:lnSpc>
                <a:spcPct val="120000"/>
              </a:lnSpc>
              <a:spcBef>
                <a:spcPts val="612"/>
              </a:spcBef>
              <a:buClrTx/>
              <a:buFont typeface="Wingdings" panose="05000000000000000000" pitchFamily="2" charset="2"/>
              <a:buChar char="þ"/>
              <a:defRPr/>
            </a:pPr>
            <a:r>
              <a:rPr lang="zh-TW" altLang="en-US" sz="1632" kern="1200" dirty="0">
                <a:solidFill>
                  <a:prstClr val="black"/>
                </a:solidFill>
                <a:latin typeface="微軟正黑體" panose="020B0604030504040204" pitchFamily="34" charset="-120"/>
                <a:ea typeface="微軟正黑體" panose="020B0604030504040204" pitchFamily="34" charset="-120"/>
                <a:cs typeface="+mn-cs"/>
              </a:rPr>
              <a:t>內部資料庫</a:t>
            </a:r>
            <a:endParaRPr lang="en-US" altLang="zh-TW" sz="1632" kern="1200" dirty="0">
              <a:solidFill>
                <a:prstClr val="black"/>
              </a:solidFill>
              <a:latin typeface="微軟正黑體" panose="020B0604030504040204" pitchFamily="34" charset="-120"/>
              <a:ea typeface="微軟正黑體" panose="020B0604030504040204" pitchFamily="34" charset="-120"/>
              <a:cs typeface="+mn-cs"/>
            </a:endParaRPr>
          </a:p>
          <a:p>
            <a:pPr lvl="1">
              <a:lnSpc>
                <a:spcPct val="120000"/>
              </a:lnSpc>
              <a:spcBef>
                <a:spcPts val="612"/>
              </a:spcBef>
              <a:buClrTx/>
              <a:defRPr/>
            </a:pPr>
            <a:r>
              <a:rPr lang="zh-TW" altLang="en-US" sz="1632" kern="1200" dirty="0">
                <a:solidFill>
                  <a:prstClr val="black"/>
                </a:solidFill>
                <a:latin typeface="微軟正黑體" panose="020B0604030504040204" pitchFamily="34" charset="-120"/>
                <a:ea typeface="微軟正黑體" panose="020B0604030504040204" pitchFamily="34" charset="-120"/>
                <a:cs typeface="+mn-cs"/>
              </a:rPr>
              <a:t>      </a:t>
            </a:r>
            <a:r>
              <a:rPr lang="en-US" altLang="zh-TW" sz="1632" kern="1200" dirty="0">
                <a:solidFill>
                  <a:prstClr val="black"/>
                </a:solidFill>
                <a:latin typeface="微軟正黑體" panose="020B0604030504040204" pitchFamily="34" charset="-120"/>
                <a:ea typeface="微軟正黑體" panose="020B0604030504040204" pitchFamily="34" charset="-120"/>
                <a:cs typeface="+mn-cs"/>
              </a:rPr>
              <a:t>(AI</a:t>
            </a:r>
            <a:r>
              <a:rPr lang="zh-TW" altLang="en-US" sz="1632" kern="1200" dirty="0">
                <a:solidFill>
                  <a:prstClr val="black"/>
                </a:solidFill>
                <a:latin typeface="微軟正黑體" panose="020B0604030504040204" pitchFamily="34" charset="-120"/>
                <a:ea typeface="微軟正黑體" panose="020B0604030504040204" pitchFamily="34" charset="-120"/>
                <a:cs typeface="+mn-cs"/>
              </a:rPr>
              <a:t>模型、報表應用</a:t>
            </a:r>
            <a:r>
              <a:rPr lang="en-US" altLang="zh-TW" sz="1632" kern="1200" dirty="0">
                <a:solidFill>
                  <a:prstClr val="black"/>
                </a:solidFill>
                <a:latin typeface="微軟正黑體" panose="020B0604030504040204" pitchFamily="34" charset="-120"/>
                <a:ea typeface="微軟正黑體" panose="020B0604030504040204" pitchFamily="34" charset="-120"/>
                <a:cs typeface="+mn-cs"/>
              </a:rPr>
              <a:t>)</a:t>
            </a:r>
            <a:endParaRPr lang="zh-TW" altLang="en-US" sz="1632" kern="1200" dirty="0">
              <a:solidFill>
                <a:prstClr val="black"/>
              </a:solidFill>
              <a:latin typeface="微軟正黑體" panose="020B0604030504040204" pitchFamily="34" charset="-120"/>
              <a:ea typeface="微軟正黑體" panose="020B0604030504040204" pitchFamily="34" charset="-120"/>
              <a:cs typeface="+mn-cs"/>
            </a:endParaRPr>
          </a:p>
        </p:txBody>
      </p:sp>
      <p:sp>
        <p:nvSpPr>
          <p:cNvPr id="20" name="矩形 19">
            <a:extLst>
              <a:ext uri="{FF2B5EF4-FFF2-40B4-BE49-F238E27FC236}">
                <a16:creationId xmlns:a16="http://schemas.microsoft.com/office/drawing/2014/main" id="{B8C6D48A-25EA-F32A-6C53-13088004D3F2}"/>
              </a:ext>
            </a:extLst>
          </p:cNvPr>
          <p:cNvSpPr/>
          <p:nvPr/>
        </p:nvSpPr>
        <p:spPr bwMode="auto">
          <a:xfrm>
            <a:off x="261356" y="5583365"/>
            <a:ext cx="4989354" cy="469903"/>
          </a:xfrm>
          <a:prstGeom prst="rect">
            <a:avLst/>
          </a:prstGeom>
          <a:noFill/>
          <a:ln w="9525" cap="flat" cmpd="sng" algn="ctr">
            <a:noFill/>
            <a:prstDash val="solid"/>
            <a:round/>
            <a:headEnd type="none" w="med" len="med"/>
            <a:tailEnd type="none" w="med" len="med"/>
          </a:ln>
          <a:effectLst/>
        </p:spPr>
        <p:txBody>
          <a:bodyPr vert="horz" wrap="square" lIns="93297" tIns="46649" rIns="93297" bIns="46649" numCol="1" rtlCol="0" anchor="t" anchorCtr="0" compatLnSpc="1">
            <a:prstTxWarp prst="textNoShape">
              <a:avLst/>
            </a:prstTxWarp>
          </a:bodyPr>
          <a:lstStyle/>
          <a:p>
            <a:pPr marL="349861" marR="0" lvl="1" indent="-349861" algn="l" defTabSz="914400" rtl="0" eaLnBrk="1" fontAlgn="auto" latinLnBrk="1" hangingPunct="1">
              <a:lnSpc>
                <a:spcPct val="120000"/>
              </a:lnSpc>
              <a:spcBef>
                <a:spcPts val="612"/>
              </a:spcBef>
              <a:spcAft>
                <a:spcPts val="0"/>
              </a:spcAft>
              <a:buClrTx/>
              <a:buSzTx/>
              <a:buFont typeface="Wingdings" panose="05000000000000000000" pitchFamily="2" charset="2"/>
              <a:buChar char="þ"/>
              <a:tabLst/>
              <a:defRPr/>
            </a:pPr>
            <a:r>
              <a:rPr kumimoji="0" lang="zh-TW" altLang="en-US" sz="1632"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優化資料存儲方式、設定</a:t>
            </a:r>
            <a:r>
              <a:rPr kumimoji="0" lang="en-US" altLang="zh-TW" sz="1632"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PKEY</a:t>
            </a:r>
          </a:p>
        </p:txBody>
      </p:sp>
      <p:sp>
        <p:nvSpPr>
          <p:cNvPr id="21" name="矩形 20">
            <a:extLst>
              <a:ext uri="{FF2B5EF4-FFF2-40B4-BE49-F238E27FC236}">
                <a16:creationId xmlns:a16="http://schemas.microsoft.com/office/drawing/2014/main" id="{999052A5-247E-06E4-F2DC-600CB2A7F2CB}"/>
              </a:ext>
            </a:extLst>
          </p:cNvPr>
          <p:cNvSpPr/>
          <p:nvPr/>
        </p:nvSpPr>
        <p:spPr>
          <a:xfrm>
            <a:off x="298890" y="4012729"/>
            <a:ext cx="655949" cy="375039"/>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837" b="1"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對象</a:t>
            </a:r>
            <a:endParaRPr kumimoji="0" lang="zh-TW" altLang="en-US" sz="1837" b="1" i="0" u="none" strike="noStrike" kern="1200" cap="none" spc="0" normalizeH="0" baseline="0" noProof="0" dirty="0">
              <a:ln>
                <a:noFill/>
              </a:ln>
              <a:solidFill>
                <a:prstClr val="black"/>
              </a:solidFill>
              <a:effectLst/>
              <a:uLnTx/>
              <a:uFillTx/>
              <a:latin typeface="Times New Roman"/>
              <a:ea typeface="標楷體"/>
              <a:cs typeface="+mn-cs"/>
            </a:endParaRPr>
          </a:p>
        </p:txBody>
      </p:sp>
      <p:sp>
        <p:nvSpPr>
          <p:cNvPr id="22" name="矩形 21">
            <a:extLst>
              <a:ext uri="{FF2B5EF4-FFF2-40B4-BE49-F238E27FC236}">
                <a16:creationId xmlns:a16="http://schemas.microsoft.com/office/drawing/2014/main" id="{939BCBFB-63D3-C2A8-67D0-319CB89A8F75}"/>
              </a:ext>
            </a:extLst>
          </p:cNvPr>
          <p:cNvSpPr/>
          <p:nvPr/>
        </p:nvSpPr>
        <p:spPr>
          <a:xfrm>
            <a:off x="2879388" y="4012729"/>
            <a:ext cx="655949" cy="375039"/>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837" b="1"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功能</a:t>
            </a:r>
            <a:endParaRPr kumimoji="0" lang="zh-TW" altLang="en-US" sz="1837" b="1" i="0" u="none" strike="noStrike" kern="1200" cap="none" spc="0" normalizeH="0" baseline="0" noProof="0" dirty="0">
              <a:ln>
                <a:noFill/>
              </a:ln>
              <a:solidFill>
                <a:prstClr val="black"/>
              </a:solidFill>
              <a:effectLst/>
              <a:uLnTx/>
              <a:uFillTx/>
              <a:latin typeface="Times New Roman"/>
              <a:ea typeface="標楷體"/>
              <a:cs typeface="+mn-cs"/>
            </a:endParaRPr>
          </a:p>
        </p:txBody>
      </p:sp>
      <p:sp>
        <p:nvSpPr>
          <p:cNvPr id="23" name="矩形 22">
            <a:extLst>
              <a:ext uri="{FF2B5EF4-FFF2-40B4-BE49-F238E27FC236}">
                <a16:creationId xmlns:a16="http://schemas.microsoft.com/office/drawing/2014/main" id="{A2D751D0-C778-69CB-C8FB-D0F826394D48}"/>
              </a:ext>
            </a:extLst>
          </p:cNvPr>
          <p:cNvSpPr/>
          <p:nvPr/>
        </p:nvSpPr>
        <p:spPr>
          <a:xfrm>
            <a:off x="258280" y="5208326"/>
            <a:ext cx="655949" cy="375039"/>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837" b="1"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解方</a:t>
            </a:r>
            <a:endParaRPr kumimoji="0" lang="zh-TW" altLang="en-US" sz="1837" b="1" i="0" u="none" strike="noStrike" kern="1200" cap="none" spc="0" normalizeH="0" baseline="0" noProof="0" dirty="0">
              <a:ln>
                <a:noFill/>
              </a:ln>
              <a:solidFill>
                <a:prstClr val="black"/>
              </a:solidFill>
              <a:effectLst/>
              <a:uLnTx/>
              <a:uFillTx/>
              <a:latin typeface="Times New Roman"/>
              <a:ea typeface="標楷體"/>
              <a:cs typeface="+mn-cs"/>
            </a:endParaRPr>
          </a:p>
        </p:txBody>
      </p:sp>
      <p:sp>
        <p:nvSpPr>
          <p:cNvPr id="24" name="矩形 23">
            <a:extLst>
              <a:ext uri="{FF2B5EF4-FFF2-40B4-BE49-F238E27FC236}">
                <a16:creationId xmlns:a16="http://schemas.microsoft.com/office/drawing/2014/main" id="{F7717236-C41D-B613-2F35-CCA3C163BADC}"/>
              </a:ext>
            </a:extLst>
          </p:cNvPr>
          <p:cNvSpPr/>
          <p:nvPr/>
        </p:nvSpPr>
        <p:spPr bwMode="auto">
          <a:xfrm>
            <a:off x="2834924" y="4341255"/>
            <a:ext cx="2497754" cy="1867196"/>
          </a:xfrm>
          <a:prstGeom prst="rect">
            <a:avLst/>
          </a:prstGeom>
          <a:noFill/>
          <a:ln w="9525" cap="flat" cmpd="sng" algn="ctr">
            <a:noFill/>
            <a:prstDash val="solid"/>
            <a:round/>
            <a:headEnd type="none" w="med" len="med"/>
            <a:tailEnd type="none" w="med" len="med"/>
          </a:ln>
          <a:effectLst/>
        </p:spPr>
        <p:txBody>
          <a:bodyPr vert="horz" wrap="square" lIns="93297" tIns="46649" rIns="93297" bIns="46649" numCol="1" rtlCol="0" anchor="t" anchorCtr="0" compatLnSpc="1">
            <a:prstTxWarp prst="textNoShape">
              <a:avLst/>
            </a:prstTxWarp>
          </a:bodyPr>
          <a:lstStyle/>
          <a:p>
            <a:pPr marL="349861" lvl="1" indent="-349861">
              <a:lnSpc>
                <a:spcPct val="120000"/>
              </a:lnSpc>
              <a:spcBef>
                <a:spcPts val="612"/>
              </a:spcBef>
              <a:buClrTx/>
              <a:buFont typeface="Wingdings" panose="05000000000000000000" pitchFamily="2" charset="2"/>
              <a:buChar char="þ"/>
              <a:defRPr/>
            </a:pPr>
            <a:r>
              <a:rPr lang="zh-TW" altLang="en-US" sz="1632" kern="1200" dirty="0">
                <a:solidFill>
                  <a:prstClr val="black"/>
                </a:solidFill>
                <a:latin typeface="微軟正黑體" panose="020B0604030504040204" pitchFamily="34" charset="-120"/>
                <a:ea typeface="微軟正黑體" panose="020B0604030504040204" pitchFamily="34" charset="-120"/>
                <a:cs typeface="+mn-cs"/>
              </a:rPr>
              <a:t>原功能外，增加地端資料庫與</a:t>
            </a:r>
            <a:r>
              <a:rPr lang="en-US" altLang="zh-TW" sz="1632" kern="1200" dirty="0">
                <a:solidFill>
                  <a:prstClr val="black"/>
                </a:solidFill>
                <a:latin typeface="微軟正黑體" panose="020B0604030504040204" pitchFamily="34" charset="-120"/>
                <a:ea typeface="微軟正黑體" panose="020B0604030504040204" pitchFamily="34" charset="-120"/>
                <a:cs typeface="+mn-cs"/>
              </a:rPr>
              <a:t>DB LINK</a:t>
            </a:r>
            <a:endParaRPr lang="zh-TW" altLang="en-US" sz="1632" kern="1200" dirty="0">
              <a:solidFill>
                <a:prstClr val="black"/>
              </a:solidFill>
              <a:latin typeface="微軟正黑體" panose="020B0604030504040204" pitchFamily="34" charset="-120"/>
              <a:ea typeface="微軟正黑體" panose="020B0604030504040204" pitchFamily="34" charset="-120"/>
              <a:cs typeface="+mn-cs"/>
            </a:endParaRPr>
          </a:p>
        </p:txBody>
      </p:sp>
      <p:graphicFrame>
        <p:nvGraphicFramePr>
          <p:cNvPr id="25" name="表格 25">
            <a:extLst>
              <a:ext uri="{FF2B5EF4-FFF2-40B4-BE49-F238E27FC236}">
                <a16:creationId xmlns:a16="http://schemas.microsoft.com/office/drawing/2014/main" id="{299FF433-F3D7-DF2E-D577-036B7EBA7F40}"/>
              </a:ext>
            </a:extLst>
          </p:cNvPr>
          <p:cNvGraphicFramePr>
            <a:graphicFrameLocks noGrp="1"/>
          </p:cNvGraphicFramePr>
          <p:nvPr>
            <p:extLst>
              <p:ext uri="{D42A27DB-BD31-4B8C-83A1-F6EECF244321}">
                <p14:modId xmlns:p14="http://schemas.microsoft.com/office/powerpoint/2010/main" val="971213776"/>
              </p:ext>
            </p:extLst>
          </p:nvPr>
        </p:nvGraphicFramePr>
        <p:xfrm>
          <a:off x="6097449" y="1395723"/>
          <a:ext cx="5003340" cy="1565757"/>
        </p:xfrm>
        <a:graphic>
          <a:graphicData uri="http://schemas.openxmlformats.org/drawingml/2006/table">
            <a:tbl>
              <a:tblPr firstRow="1" bandRow="1">
                <a:tableStyleId>{72833802-FEF1-4C79-8D5D-14CF1EAF98D9}</a:tableStyleId>
              </a:tblPr>
              <a:tblGrid>
                <a:gridCol w="1281759">
                  <a:extLst>
                    <a:ext uri="{9D8B030D-6E8A-4147-A177-3AD203B41FA5}">
                      <a16:colId xmlns:a16="http://schemas.microsoft.com/office/drawing/2014/main" val="4016241104"/>
                    </a:ext>
                  </a:extLst>
                </a:gridCol>
                <a:gridCol w="1219911">
                  <a:extLst>
                    <a:ext uri="{9D8B030D-6E8A-4147-A177-3AD203B41FA5}">
                      <a16:colId xmlns:a16="http://schemas.microsoft.com/office/drawing/2014/main" val="3221712249"/>
                    </a:ext>
                  </a:extLst>
                </a:gridCol>
                <a:gridCol w="1250835">
                  <a:extLst>
                    <a:ext uri="{9D8B030D-6E8A-4147-A177-3AD203B41FA5}">
                      <a16:colId xmlns:a16="http://schemas.microsoft.com/office/drawing/2014/main" val="2686276486"/>
                    </a:ext>
                  </a:extLst>
                </a:gridCol>
                <a:gridCol w="1250835">
                  <a:extLst>
                    <a:ext uri="{9D8B030D-6E8A-4147-A177-3AD203B41FA5}">
                      <a16:colId xmlns:a16="http://schemas.microsoft.com/office/drawing/2014/main" val="1563655243"/>
                    </a:ext>
                  </a:extLst>
                </a:gridCol>
              </a:tblGrid>
              <a:tr h="437997">
                <a:tc>
                  <a:txBody>
                    <a:bodyPr/>
                    <a:lstStyle/>
                    <a:p>
                      <a:pPr marR="0" algn="ctr" rtl="0">
                        <a:lnSpc>
                          <a:spcPct val="100000"/>
                        </a:lnSpc>
                        <a:spcBef>
                          <a:spcPts val="0"/>
                        </a:spcBef>
                        <a:spcAft>
                          <a:spcPts val="0"/>
                        </a:spcAft>
                        <a:buClr>
                          <a:srgbClr val="000000"/>
                        </a:buClr>
                        <a:buFont typeface="Arial"/>
                      </a:pPr>
                      <a:r>
                        <a:rPr lang="zh-TW" altLang="en-US" sz="135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時間區間</a:t>
                      </a:r>
                    </a:p>
                  </a:txBody>
                  <a:tcPr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rgbClr val="F6D6D7"/>
                    </a:solidFill>
                  </a:tcPr>
                </a:tc>
                <a:tc>
                  <a:txBody>
                    <a:bodyPr/>
                    <a:lstStyle/>
                    <a:p>
                      <a:pPr algn="ctr"/>
                      <a:r>
                        <a:rPr lang="zh-TW" altLang="en-US" b="0" dirty="0">
                          <a:solidFill>
                            <a:schemeClr val="tx1"/>
                          </a:solidFill>
                          <a:latin typeface="微軟正黑體" panose="020B0604030504040204" pitchFamily="34" charset="-120"/>
                          <a:ea typeface="微軟正黑體" panose="020B0604030504040204" pitchFamily="34" charset="-120"/>
                        </a:rPr>
                        <a:t>使用者數量</a:t>
                      </a:r>
                    </a:p>
                  </a:txBody>
                  <a:tcPr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rgbClr val="F6D6D7"/>
                    </a:solidFill>
                  </a:tcPr>
                </a:tc>
                <a:tc>
                  <a:txBody>
                    <a:bodyPr/>
                    <a:lstStyle/>
                    <a:p>
                      <a:pPr algn="ctr"/>
                      <a:r>
                        <a:rPr lang="zh-TW" altLang="en-US" b="0" dirty="0">
                          <a:solidFill>
                            <a:schemeClr val="tx1"/>
                          </a:solidFill>
                          <a:latin typeface="微軟正黑體" panose="020B0604030504040204" pitchFamily="34" charset="-120"/>
                          <a:ea typeface="微軟正黑體" panose="020B0604030504040204" pitchFamily="34" charset="-120"/>
                        </a:rPr>
                        <a:t>資料集</a:t>
                      </a:r>
                      <a:endParaRPr lang="en-US" altLang="zh-TW" b="0" dirty="0">
                        <a:solidFill>
                          <a:schemeClr val="tx1"/>
                        </a:solidFill>
                        <a:latin typeface="微軟正黑體" panose="020B0604030504040204" pitchFamily="34" charset="-120"/>
                        <a:ea typeface="微軟正黑體" panose="020B0604030504040204" pitchFamily="34" charset="-120"/>
                      </a:endParaRPr>
                    </a:p>
                    <a:p>
                      <a:pPr algn="ctr"/>
                      <a:r>
                        <a:rPr lang="zh-TW" altLang="en-US" b="0" dirty="0">
                          <a:solidFill>
                            <a:schemeClr val="tx1"/>
                          </a:solidFill>
                          <a:latin typeface="微軟正黑體" panose="020B0604030504040204" pitchFamily="34" charset="-120"/>
                          <a:ea typeface="微軟正黑體" panose="020B0604030504040204" pitchFamily="34" charset="-120"/>
                        </a:rPr>
                        <a:t>訂閱數量</a:t>
                      </a:r>
                    </a:p>
                  </a:txBody>
                  <a:tcPr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rgbClr val="F6D6D7"/>
                    </a:solidFill>
                  </a:tcPr>
                </a:tc>
                <a:tc>
                  <a:txBody>
                    <a:bodyPr/>
                    <a:lstStyle/>
                    <a:p>
                      <a:pPr algn="ctr"/>
                      <a:r>
                        <a:rPr lang="zh-TW" altLang="en-US" b="0" dirty="0">
                          <a:solidFill>
                            <a:schemeClr val="tx1"/>
                          </a:solidFill>
                          <a:latin typeface="微軟正黑體" panose="020B0604030504040204" pitchFamily="34" charset="-120"/>
                          <a:ea typeface="微軟正黑體" panose="020B0604030504040204" pitchFamily="34" charset="-120"/>
                        </a:rPr>
                        <a:t>訂閱</a:t>
                      </a:r>
                      <a:endParaRPr lang="en-US" altLang="zh-TW" b="0" dirty="0">
                        <a:solidFill>
                          <a:schemeClr val="tx1"/>
                        </a:solidFill>
                        <a:latin typeface="微軟正黑體" panose="020B0604030504040204" pitchFamily="34" charset="-120"/>
                        <a:ea typeface="微軟正黑體" panose="020B0604030504040204" pitchFamily="34" charset="-120"/>
                      </a:endParaRPr>
                    </a:p>
                    <a:p>
                      <a:pPr algn="ctr"/>
                      <a:r>
                        <a:rPr lang="zh-TW" altLang="en-US" b="0" dirty="0">
                          <a:solidFill>
                            <a:schemeClr val="tx1"/>
                          </a:solidFill>
                          <a:latin typeface="微軟正黑體" panose="020B0604030504040204" pitchFamily="34" charset="-120"/>
                          <a:ea typeface="微軟正黑體" panose="020B0604030504040204" pitchFamily="34" charset="-120"/>
                        </a:rPr>
                        <a:t>成長比例</a:t>
                      </a:r>
                    </a:p>
                  </a:txBody>
                  <a:tcPr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rgbClr val="F6D6D7"/>
                    </a:solidFill>
                  </a:tcPr>
                </a:tc>
                <a:extLst>
                  <a:ext uri="{0D108BD9-81ED-4DB2-BD59-A6C34878D82A}">
                    <a16:rowId xmlns:a16="http://schemas.microsoft.com/office/drawing/2014/main" val="3038808839"/>
                  </a:ext>
                </a:extLst>
              </a:tr>
              <a:tr h="257645">
                <a:tc>
                  <a:txBody>
                    <a:bodyPr/>
                    <a:lstStyle/>
                    <a:p>
                      <a:pPr algn="ctr"/>
                      <a:r>
                        <a:rPr lang="en-US" altLang="zh-TW" dirty="0">
                          <a:solidFill>
                            <a:schemeClr val="tx1"/>
                          </a:solidFill>
                          <a:latin typeface="微軟正黑體" panose="020B0604030504040204" pitchFamily="34" charset="-120"/>
                          <a:ea typeface="微軟正黑體" panose="020B0604030504040204" pitchFamily="34" charset="-120"/>
                        </a:rPr>
                        <a:t>2023</a:t>
                      </a:r>
                      <a:r>
                        <a:rPr lang="zh-TW" altLang="en-US" dirty="0">
                          <a:solidFill>
                            <a:schemeClr val="tx1"/>
                          </a:solidFill>
                          <a:latin typeface="微軟正黑體" panose="020B0604030504040204" pitchFamily="34" charset="-120"/>
                          <a:ea typeface="微軟正黑體" panose="020B0604030504040204" pitchFamily="34" charset="-120"/>
                        </a:rPr>
                        <a:t>年</a:t>
                      </a:r>
                    </a:p>
                  </a:txBody>
                  <a:tcPr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tc>
                  <a:txBody>
                    <a:bodyPr/>
                    <a:lstStyle/>
                    <a:p>
                      <a:pPr algn="r"/>
                      <a:r>
                        <a:rPr lang="en-US" altLang="zh-TW" dirty="0">
                          <a:solidFill>
                            <a:schemeClr val="tx1"/>
                          </a:solidFill>
                        </a:rPr>
                        <a:t>20</a:t>
                      </a:r>
                      <a:endParaRPr lang="zh-TW" altLang="en-US" dirty="0">
                        <a:solidFill>
                          <a:schemeClr val="tx1"/>
                        </a:solidFill>
                      </a:endParaRPr>
                    </a:p>
                  </a:txBody>
                  <a:tcPr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tc>
                  <a:txBody>
                    <a:bodyPr/>
                    <a:lstStyle/>
                    <a:p>
                      <a:pPr algn="r"/>
                      <a:r>
                        <a:rPr lang="en-US" altLang="zh-TW" dirty="0">
                          <a:solidFill>
                            <a:schemeClr val="tx1"/>
                          </a:solidFill>
                        </a:rPr>
                        <a:t>31</a:t>
                      </a:r>
                      <a:endParaRPr lang="zh-TW" altLang="en-US" dirty="0">
                        <a:solidFill>
                          <a:schemeClr val="tx1"/>
                        </a:solidFill>
                      </a:endParaRPr>
                    </a:p>
                  </a:txBody>
                  <a:tcPr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tc>
                  <a:txBody>
                    <a:bodyPr/>
                    <a:lstStyle/>
                    <a:p>
                      <a:pPr algn="r"/>
                      <a:r>
                        <a:rPr lang="en-US" altLang="zh-TW" dirty="0"/>
                        <a:t>-</a:t>
                      </a:r>
                      <a:endParaRPr lang="zh-TW" altLang="en-US" dirty="0"/>
                    </a:p>
                  </a:txBody>
                  <a:tcPr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916485016"/>
                  </a:ext>
                </a:extLst>
              </a:tr>
              <a:tr h="437997">
                <a:tc>
                  <a:txBody>
                    <a:bodyPr/>
                    <a:lstStyle/>
                    <a:p>
                      <a:pPr algn="ctr"/>
                      <a:r>
                        <a:rPr lang="en-US" altLang="zh-TW" dirty="0">
                          <a:solidFill>
                            <a:schemeClr val="tx1"/>
                          </a:solidFill>
                          <a:latin typeface="微軟正黑體" panose="020B0604030504040204" pitchFamily="34" charset="-120"/>
                          <a:ea typeface="微軟正黑體" panose="020B0604030504040204" pitchFamily="34" charset="-120"/>
                        </a:rPr>
                        <a:t>2024-2025</a:t>
                      </a:r>
                      <a:r>
                        <a:rPr lang="zh-TW" altLang="en-US" dirty="0">
                          <a:solidFill>
                            <a:schemeClr val="tx1"/>
                          </a:solidFill>
                          <a:latin typeface="微軟正黑體" panose="020B0604030504040204" pitchFamily="34" charset="-120"/>
                          <a:ea typeface="微軟正黑體" panose="020B0604030504040204" pitchFamily="34" charset="-120"/>
                        </a:rPr>
                        <a:t>年</a:t>
                      </a:r>
                    </a:p>
                  </a:txBody>
                  <a:tcPr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tc>
                  <a:txBody>
                    <a:bodyPr/>
                    <a:lstStyle/>
                    <a:p>
                      <a:pPr algn="r"/>
                      <a:r>
                        <a:rPr lang="en-US" altLang="zh-TW" dirty="0">
                          <a:solidFill>
                            <a:schemeClr val="tx1"/>
                          </a:solidFill>
                        </a:rPr>
                        <a:t>22</a:t>
                      </a:r>
                      <a:endParaRPr lang="zh-TW" altLang="en-US" dirty="0">
                        <a:solidFill>
                          <a:schemeClr val="tx1"/>
                        </a:solidFill>
                      </a:endParaRPr>
                    </a:p>
                  </a:txBody>
                  <a:tcPr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tc>
                  <a:txBody>
                    <a:bodyPr/>
                    <a:lstStyle/>
                    <a:p>
                      <a:pPr algn="r"/>
                      <a:r>
                        <a:rPr lang="en-US" altLang="zh-TW" dirty="0">
                          <a:solidFill>
                            <a:schemeClr val="tx1"/>
                          </a:solidFill>
                        </a:rPr>
                        <a:t>93</a:t>
                      </a:r>
                      <a:endParaRPr lang="zh-TW" altLang="en-US" dirty="0">
                        <a:solidFill>
                          <a:schemeClr val="tx1"/>
                        </a:solidFill>
                      </a:endParaRPr>
                    </a:p>
                  </a:txBody>
                  <a:tcPr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tc>
                  <a:txBody>
                    <a:bodyPr/>
                    <a:lstStyle/>
                    <a:p>
                      <a:pPr algn="r"/>
                      <a:r>
                        <a:rPr lang="en-US" altLang="zh-TW" sz="1350" b="1" i="0" u="none" strike="noStrike" cap="none" dirty="0">
                          <a:solidFill>
                            <a:srgbClr val="00B050"/>
                          </a:solidFill>
                          <a:effectLst/>
                          <a:latin typeface="+mn-lt"/>
                          <a:ea typeface="+mn-ea"/>
                          <a:cs typeface="+mn-cs"/>
                          <a:sym typeface="Arial"/>
                        </a:rPr>
                        <a:t>200</a:t>
                      </a:r>
                      <a:r>
                        <a:rPr lang="en-US" altLang="zh-TW" b="1" dirty="0">
                          <a:solidFill>
                            <a:srgbClr val="00B050"/>
                          </a:solidFill>
                        </a:rPr>
                        <a:t>%</a:t>
                      </a:r>
                      <a:r>
                        <a:rPr lang="en-US" altLang="zh-TW" b="1" dirty="0">
                          <a:solidFill>
                            <a:srgbClr val="00B050"/>
                          </a:solidFill>
                          <a:latin typeface="標楷體" panose="03000509000000000000" pitchFamily="65" charset="-120"/>
                          <a:ea typeface="標楷體" panose="03000509000000000000" pitchFamily="65" charset="-120"/>
                        </a:rPr>
                        <a:t>↑</a:t>
                      </a:r>
                      <a:endParaRPr lang="zh-TW" altLang="en-US" b="1" dirty="0">
                        <a:solidFill>
                          <a:srgbClr val="00B050"/>
                        </a:solidFill>
                      </a:endParaRPr>
                    </a:p>
                  </a:txBody>
                  <a:tcPr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33102611"/>
                  </a:ext>
                </a:extLst>
              </a:tr>
              <a:tr h="257645">
                <a:tc>
                  <a:txBody>
                    <a:bodyPr/>
                    <a:lstStyle/>
                    <a:p>
                      <a:pPr algn="ctr"/>
                      <a:r>
                        <a:rPr lang="zh-TW" altLang="en-US" dirty="0">
                          <a:solidFill>
                            <a:schemeClr val="tx1"/>
                          </a:solidFill>
                          <a:latin typeface="微軟正黑體" panose="020B0604030504040204" pitchFamily="34" charset="-120"/>
                          <a:ea typeface="微軟正黑體" panose="020B0604030504040204" pitchFamily="34" charset="-120"/>
                        </a:rPr>
                        <a:t>總計</a:t>
                      </a:r>
                    </a:p>
                  </a:txBody>
                  <a:tcPr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r"/>
                      <a:r>
                        <a:rPr lang="en-US" altLang="zh-TW" dirty="0">
                          <a:solidFill>
                            <a:schemeClr val="tx1"/>
                          </a:solidFill>
                        </a:rPr>
                        <a:t>42</a:t>
                      </a:r>
                      <a:endParaRPr lang="zh-TW" altLang="en-US" dirty="0">
                        <a:solidFill>
                          <a:schemeClr val="tx1"/>
                        </a:solidFill>
                      </a:endParaRPr>
                    </a:p>
                  </a:txBody>
                  <a:tcPr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r"/>
                      <a:r>
                        <a:rPr lang="en-US" altLang="zh-TW" dirty="0">
                          <a:solidFill>
                            <a:schemeClr val="tx1"/>
                          </a:solidFill>
                        </a:rPr>
                        <a:t>124</a:t>
                      </a:r>
                      <a:endParaRPr lang="zh-TW" altLang="en-US" dirty="0">
                        <a:solidFill>
                          <a:schemeClr val="tx1"/>
                        </a:solidFill>
                      </a:endParaRPr>
                    </a:p>
                  </a:txBody>
                  <a:tcPr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r"/>
                      <a:r>
                        <a:rPr lang="en-US" altLang="zh-TW" dirty="0"/>
                        <a:t>-</a:t>
                      </a:r>
                      <a:endParaRPr lang="zh-TW" altLang="en-US" dirty="0"/>
                    </a:p>
                  </a:txBody>
                  <a:tcPr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6315737"/>
                  </a:ext>
                </a:extLst>
              </a:tr>
            </a:tbl>
          </a:graphicData>
        </a:graphic>
      </p:graphicFrame>
      <p:graphicFrame>
        <p:nvGraphicFramePr>
          <p:cNvPr id="26" name="表格 25">
            <a:extLst>
              <a:ext uri="{FF2B5EF4-FFF2-40B4-BE49-F238E27FC236}">
                <a16:creationId xmlns:a16="http://schemas.microsoft.com/office/drawing/2014/main" id="{66AA254F-AE75-356B-CF53-51E7B0E66940}"/>
              </a:ext>
            </a:extLst>
          </p:cNvPr>
          <p:cNvGraphicFramePr>
            <a:graphicFrameLocks noGrp="1"/>
          </p:cNvGraphicFramePr>
          <p:nvPr>
            <p:extLst>
              <p:ext uri="{D42A27DB-BD31-4B8C-83A1-F6EECF244321}">
                <p14:modId xmlns:p14="http://schemas.microsoft.com/office/powerpoint/2010/main" val="717836543"/>
              </p:ext>
            </p:extLst>
          </p:nvPr>
        </p:nvGraphicFramePr>
        <p:xfrm>
          <a:off x="6114530" y="3039706"/>
          <a:ext cx="5003340" cy="1219200"/>
        </p:xfrm>
        <a:graphic>
          <a:graphicData uri="http://schemas.openxmlformats.org/drawingml/2006/table">
            <a:tbl>
              <a:tblPr firstRow="1" bandRow="1">
                <a:tableStyleId>{72833802-FEF1-4C79-8D5D-14CF1EAF98D9}</a:tableStyleId>
              </a:tblPr>
              <a:tblGrid>
                <a:gridCol w="1250835">
                  <a:extLst>
                    <a:ext uri="{9D8B030D-6E8A-4147-A177-3AD203B41FA5}">
                      <a16:colId xmlns:a16="http://schemas.microsoft.com/office/drawing/2014/main" val="4016241104"/>
                    </a:ext>
                  </a:extLst>
                </a:gridCol>
                <a:gridCol w="1250835">
                  <a:extLst>
                    <a:ext uri="{9D8B030D-6E8A-4147-A177-3AD203B41FA5}">
                      <a16:colId xmlns:a16="http://schemas.microsoft.com/office/drawing/2014/main" val="3221712249"/>
                    </a:ext>
                  </a:extLst>
                </a:gridCol>
                <a:gridCol w="1250835">
                  <a:extLst>
                    <a:ext uri="{9D8B030D-6E8A-4147-A177-3AD203B41FA5}">
                      <a16:colId xmlns:a16="http://schemas.microsoft.com/office/drawing/2014/main" val="2686276486"/>
                    </a:ext>
                  </a:extLst>
                </a:gridCol>
                <a:gridCol w="1250835">
                  <a:extLst>
                    <a:ext uri="{9D8B030D-6E8A-4147-A177-3AD203B41FA5}">
                      <a16:colId xmlns:a16="http://schemas.microsoft.com/office/drawing/2014/main" val="4119670277"/>
                    </a:ext>
                  </a:extLst>
                </a:gridCol>
              </a:tblGrid>
              <a:tr h="27687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35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時間區間</a:t>
                      </a:r>
                    </a:p>
                  </a:txBody>
                  <a:tcPr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rgbClr val="F6D6D7"/>
                    </a:solidFill>
                  </a:tcPr>
                </a:tc>
                <a:tc>
                  <a:txBody>
                    <a:bodyPr/>
                    <a:lstStyle/>
                    <a:p>
                      <a:pPr algn="ctr"/>
                      <a:r>
                        <a:rPr lang="zh-TW" altLang="en-US" b="0" dirty="0">
                          <a:solidFill>
                            <a:schemeClr val="tx1"/>
                          </a:solidFill>
                          <a:latin typeface="微軟正黑體" panose="020B0604030504040204" pitchFamily="34" charset="-120"/>
                          <a:ea typeface="微軟正黑體" panose="020B0604030504040204" pitchFamily="34" charset="-120"/>
                        </a:rPr>
                        <a:t>爬蟲障礙數</a:t>
                      </a:r>
                    </a:p>
                  </a:txBody>
                  <a:tcPr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rgbClr val="F6D6D7"/>
                    </a:solidFill>
                  </a:tcPr>
                </a:tc>
                <a:tc>
                  <a:txBody>
                    <a:bodyPr/>
                    <a:lstStyle/>
                    <a:p>
                      <a:pPr algn="ctr"/>
                      <a:r>
                        <a:rPr lang="zh-TW" altLang="en-US" b="0" dirty="0">
                          <a:solidFill>
                            <a:schemeClr val="tx1"/>
                          </a:solidFill>
                          <a:latin typeface="微軟正黑體" panose="020B0604030504040204" pitchFamily="34" charset="-120"/>
                          <a:ea typeface="微軟正黑體" panose="020B0604030504040204" pitchFamily="34" charset="-120"/>
                        </a:rPr>
                        <a:t>障礙率</a:t>
                      </a:r>
                    </a:p>
                  </a:txBody>
                  <a:tcPr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rgbClr val="F6D6D7"/>
                    </a:solidFill>
                  </a:tcPr>
                </a:tc>
                <a:tc>
                  <a:txBody>
                    <a:bodyPr/>
                    <a:lstStyle/>
                    <a:p>
                      <a:pPr algn="ctr"/>
                      <a:r>
                        <a:rPr lang="zh-TW" altLang="en-US" b="0" dirty="0">
                          <a:solidFill>
                            <a:schemeClr val="tx1"/>
                          </a:solidFill>
                          <a:latin typeface="微軟正黑體" panose="020B0604030504040204" pitchFamily="34" charset="-120"/>
                          <a:ea typeface="微軟正黑體" panose="020B0604030504040204" pitchFamily="34" charset="-120"/>
                        </a:rPr>
                        <a:t>升降比例</a:t>
                      </a:r>
                    </a:p>
                  </a:txBody>
                  <a:tcPr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rgbClr val="F6D6D7"/>
                    </a:solidFill>
                  </a:tcPr>
                </a:tc>
                <a:extLst>
                  <a:ext uri="{0D108BD9-81ED-4DB2-BD59-A6C34878D82A}">
                    <a16:rowId xmlns:a16="http://schemas.microsoft.com/office/drawing/2014/main" val="3038808839"/>
                  </a:ext>
                </a:extLst>
              </a:tr>
              <a:tr h="276872">
                <a:tc>
                  <a:txBody>
                    <a:bodyPr/>
                    <a:lstStyle/>
                    <a:p>
                      <a:pPr algn="ctr"/>
                      <a:r>
                        <a:rPr lang="en-US" altLang="zh-TW" b="0" dirty="0">
                          <a:solidFill>
                            <a:schemeClr val="tx1"/>
                          </a:solidFill>
                          <a:latin typeface="微軟正黑體" panose="020B0604030504040204" pitchFamily="34" charset="-120"/>
                          <a:ea typeface="微軟正黑體" panose="020B0604030504040204" pitchFamily="34" charset="-120"/>
                        </a:rPr>
                        <a:t>2023</a:t>
                      </a:r>
                      <a:r>
                        <a:rPr lang="zh-TW" altLang="en-US" b="0" dirty="0">
                          <a:solidFill>
                            <a:schemeClr val="tx1"/>
                          </a:solidFill>
                          <a:latin typeface="微軟正黑體" panose="020B0604030504040204" pitchFamily="34" charset="-120"/>
                          <a:ea typeface="微軟正黑體" panose="020B0604030504040204" pitchFamily="34" charset="-120"/>
                        </a:rPr>
                        <a:t>年</a:t>
                      </a:r>
                    </a:p>
                  </a:txBody>
                  <a:tcPr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tc>
                  <a:txBody>
                    <a:bodyPr/>
                    <a:lstStyle/>
                    <a:p>
                      <a:pPr algn="r"/>
                      <a:r>
                        <a:rPr lang="en-US" altLang="zh-TW" b="0" dirty="0">
                          <a:solidFill>
                            <a:schemeClr val="tx1"/>
                          </a:solidFill>
                        </a:rPr>
                        <a:t>0</a:t>
                      </a:r>
                      <a:endParaRPr lang="zh-TW" altLang="en-US" b="0" dirty="0">
                        <a:solidFill>
                          <a:schemeClr val="tx1"/>
                        </a:solidFill>
                      </a:endParaRPr>
                    </a:p>
                  </a:txBody>
                  <a:tcPr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tc>
                  <a:txBody>
                    <a:bodyPr/>
                    <a:lstStyle/>
                    <a:p>
                      <a:pPr algn="r"/>
                      <a:r>
                        <a:rPr lang="en-US" altLang="zh-TW" b="0" dirty="0">
                          <a:solidFill>
                            <a:schemeClr val="tx1"/>
                          </a:solidFill>
                        </a:rPr>
                        <a:t>0%</a:t>
                      </a:r>
                      <a:endParaRPr lang="zh-TW" altLang="en-US" b="0" dirty="0">
                        <a:solidFill>
                          <a:schemeClr val="tx1"/>
                        </a:solidFill>
                      </a:endParaRPr>
                    </a:p>
                  </a:txBody>
                  <a:tcPr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tc>
                  <a:txBody>
                    <a:bodyPr/>
                    <a:lstStyle/>
                    <a:p>
                      <a:pPr algn="r"/>
                      <a:r>
                        <a:rPr lang="en-US" altLang="zh-TW" dirty="0"/>
                        <a:t>-</a:t>
                      </a:r>
                      <a:endParaRPr lang="zh-TW" altLang="en-US" dirty="0"/>
                    </a:p>
                  </a:txBody>
                  <a:tcPr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916485016"/>
                  </a:ext>
                </a:extLst>
              </a:tr>
              <a:tr h="276872">
                <a:tc>
                  <a:txBody>
                    <a:bodyPr/>
                    <a:lstStyle/>
                    <a:p>
                      <a:pPr algn="ctr"/>
                      <a:r>
                        <a:rPr lang="en-US" altLang="zh-TW" b="0" dirty="0">
                          <a:solidFill>
                            <a:schemeClr val="tx1"/>
                          </a:solidFill>
                          <a:latin typeface="微軟正黑體" panose="020B0604030504040204" pitchFamily="34" charset="-120"/>
                          <a:ea typeface="微軟正黑體" panose="020B0604030504040204" pitchFamily="34" charset="-120"/>
                        </a:rPr>
                        <a:t>2024</a:t>
                      </a:r>
                      <a:r>
                        <a:rPr lang="zh-TW" altLang="en-US" b="0" dirty="0">
                          <a:solidFill>
                            <a:schemeClr val="tx1"/>
                          </a:solidFill>
                          <a:latin typeface="微軟正黑體" panose="020B0604030504040204" pitchFamily="34" charset="-120"/>
                          <a:ea typeface="微軟正黑體" panose="020B0604030504040204" pitchFamily="34" charset="-120"/>
                        </a:rPr>
                        <a:t>年</a:t>
                      </a:r>
                    </a:p>
                  </a:txBody>
                  <a:tcPr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tc>
                  <a:txBody>
                    <a:bodyPr/>
                    <a:lstStyle/>
                    <a:p>
                      <a:pPr algn="r"/>
                      <a:r>
                        <a:rPr lang="en-US" altLang="zh-TW" b="0" dirty="0">
                          <a:solidFill>
                            <a:schemeClr val="tx1"/>
                          </a:solidFill>
                        </a:rPr>
                        <a:t>22</a:t>
                      </a:r>
                      <a:endParaRPr lang="zh-TW" altLang="en-US" b="0" dirty="0">
                        <a:solidFill>
                          <a:schemeClr val="tx1"/>
                        </a:solidFill>
                      </a:endParaRPr>
                    </a:p>
                  </a:txBody>
                  <a:tcPr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tc>
                  <a:txBody>
                    <a:bodyPr/>
                    <a:lstStyle/>
                    <a:p>
                      <a:pPr algn="r"/>
                      <a:r>
                        <a:rPr lang="en-US" altLang="zh-TW" b="0" dirty="0">
                          <a:solidFill>
                            <a:schemeClr val="tx1"/>
                          </a:solidFill>
                        </a:rPr>
                        <a:t>10.33%</a:t>
                      </a:r>
                      <a:endParaRPr lang="zh-TW" altLang="en-US" b="0" dirty="0">
                        <a:solidFill>
                          <a:schemeClr val="tx1"/>
                        </a:solidFill>
                      </a:endParaRPr>
                    </a:p>
                  </a:txBody>
                  <a:tcPr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tc>
                  <a:txBody>
                    <a:bodyPr/>
                    <a:lstStyle/>
                    <a:p>
                      <a:pPr algn="r"/>
                      <a:r>
                        <a:rPr lang="en-US" altLang="zh-TW" b="1" dirty="0">
                          <a:solidFill>
                            <a:srgbClr val="FF0000"/>
                          </a:solidFill>
                        </a:rPr>
                        <a:t>10.33%</a:t>
                      </a:r>
                      <a:r>
                        <a:rPr lang="en-US" altLang="zh-TW" b="1" dirty="0">
                          <a:solidFill>
                            <a:srgbClr val="FF0000"/>
                          </a:solidFill>
                          <a:latin typeface="標楷體" panose="03000509000000000000" pitchFamily="65" charset="-120"/>
                          <a:ea typeface="標楷體" panose="03000509000000000000" pitchFamily="65" charset="-120"/>
                        </a:rPr>
                        <a:t>↑</a:t>
                      </a:r>
                      <a:endParaRPr lang="zh-TW" altLang="en-US" b="1" dirty="0">
                        <a:solidFill>
                          <a:srgbClr val="FF0000"/>
                        </a:solidFill>
                      </a:endParaRPr>
                    </a:p>
                  </a:txBody>
                  <a:tcPr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33102611"/>
                  </a:ext>
                </a:extLst>
              </a:tr>
              <a:tr h="276872">
                <a:tc>
                  <a:txBody>
                    <a:bodyPr/>
                    <a:lstStyle/>
                    <a:p>
                      <a:pPr algn="ctr"/>
                      <a:r>
                        <a:rPr lang="en-US" altLang="zh-TW" b="0" dirty="0">
                          <a:solidFill>
                            <a:schemeClr val="tx1"/>
                          </a:solidFill>
                          <a:latin typeface="微軟正黑體" panose="020B0604030504040204" pitchFamily="34" charset="-120"/>
                          <a:ea typeface="微軟正黑體" panose="020B0604030504040204" pitchFamily="34" charset="-120"/>
                        </a:rPr>
                        <a:t>2025</a:t>
                      </a:r>
                      <a:r>
                        <a:rPr lang="zh-TW" altLang="en-US" b="0" dirty="0">
                          <a:solidFill>
                            <a:schemeClr val="tx1"/>
                          </a:solidFill>
                          <a:latin typeface="微軟正黑體" panose="020B0604030504040204" pitchFamily="34" charset="-120"/>
                          <a:ea typeface="微軟正黑體" panose="020B0604030504040204" pitchFamily="34" charset="-120"/>
                        </a:rPr>
                        <a:t>年</a:t>
                      </a:r>
                    </a:p>
                  </a:txBody>
                  <a:tcPr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tc>
                  <a:txBody>
                    <a:bodyPr/>
                    <a:lstStyle/>
                    <a:p>
                      <a:pPr algn="r"/>
                      <a:r>
                        <a:rPr lang="en-US" altLang="zh-TW" b="0" dirty="0">
                          <a:solidFill>
                            <a:schemeClr val="tx1"/>
                          </a:solidFill>
                        </a:rPr>
                        <a:t>10</a:t>
                      </a:r>
                      <a:endParaRPr lang="zh-TW" altLang="en-US" b="0" dirty="0">
                        <a:solidFill>
                          <a:schemeClr val="tx1"/>
                        </a:solidFill>
                      </a:endParaRPr>
                    </a:p>
                  </a:txBody>
                  <a:tcPr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tc>
                  <a:txBody>
                    <a:bodyPr/>
                    <a:lstStyle/>
                    <a:p>
                      <a:pPr algn="r"/>
                      <a:r>
                        <a:rPr lang="en-US" altLang="zh-TW" b="0" dirty="0">
                          <a:solidFill>
                            <a:schemeClr val="tx1"/>
                          </a:solidFill>
                        </a:rPr>
                        <a:t>4.69%</a:t>
                      </a:r>
                      <a:endParaRPr lang="zh-TW" altLang="en-US" b="0" dirty="0">
                        <a:solidFill>
                          <a:schemeClr val="tx1"/>
                        </a:solidFill>
                      </a:endParaRPr>
                    </a:p>
                  </a:txBody>
                  <a:tcPr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tc>
                  <a:txBody>
                    <a:bodyPr/>
                    <a:lstStyle/>
                    <a:p>
                      <a:pPr algn="r"/>
                      <a:r>
                        <a:rPr lang="en-US" altLang="zh-TW" b="1" dirty="0">
                          <a:solidFill>
                            <a:srgbClr val="00B050"/>
                          </a:solidFill>
                        </a:rPr>
                        <a:t>-5.64%</a:t>
                      </a:r>
                      <a:endParaRPr lang="zh-TW" altLang="en-US" b="1" dirty="0">
                        <a:solidFill>
                          <a:srgbClr val="00B050"/>
                        </a:solidFill>
                      </a:endParaRPr>
                    </a:p>
                  </a:txBody>
                  <a:tcPr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5063393"/>
                  </a:ext>
                </a:extLst>
              </a:tr>
            </a:tbl>
          </a:graphicData>
        </a:graphic>
      </p:graphicFrame>
      <p:sp>
        <p:nvSpPr>
          <p:cNvPr id="29" name="矩形: 圓角 28">
            <a:extLst>
              <a:ext uri="{FF2B5EF4-FFF2-40B4-BE49-F238E27FC236}">
                <a16:creationId xmlns:a16="http://schemas.microsoft.com/office/drawing/2014/main" id="{9E5613F5-8CB3-35B3-3451-390B1F031257}"/>
              </a:ext>
            </a:extLst>
          </p:cNvPr>
          <p:cNvSpPr/>
          <p:nvPr/>
        </p:nvSpPr>
        <p:spPr bwMode="auto">
          <a:xfrm>
            <a:off x="5993194" y="888026"/>
            <a:ext cx="5124676" cy="399425"/>
          </a:xfrm>
          <a:prstGeom prst="roundRect">
            <a:avLst>
              <a:gd name="adj" fmla="val 50000"/>
            </a:avLst>
          </a:prstGeom>
          <a:solidFill>
            <a:srgbClr val="953735"/>
          </a:solidFill>
          <a:ln w="9525" cap="flat" cmpd="sng" algn="ctr">
            <a:noFill/>
            <a:prstDash val="solid"/>
            <a:round/>
            <a:headEnd type="none" w="med" len="med"/>
            <a:tailEnd type="none" w="med" len="med"/>
          </a:ln>
          <a:effectLst/>
        </p:spPr>
        <p:txBody>
          <a:bodyPr vert="horz" wrap="square" lIns="93297" tIns="46649" rIns="93297" bIns="46649" numCol="1" rtlCol="0"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400" b="1" kern="1200" dirty="0">
                <a:solidFill>
                  <a:schemeClr val="bg1"/>
                </a:solidFill>
                <a:latin typeface="微軟正黑體" panose="020B0604030504040204" pitchFamily="34" charset="-120"/>
                <a:ea typeface="微軟正黑體" panose="020B0604030504040204" pitchFamily="34" charset="-120"/>
                <a:cs typeface="+mn-cs"/>
              </a:rPr>
              <a:t>各項指標</a:t>
            </a:r>
            <a:endParaRPr kumimoji="0" lang="zh-TW" altLang="en-US" sz="2041" b="1" i="0" u="none" strike="noStrike" kern="1200" cap="none" spc="0" normalizeH="0" baseline="0" noProof="0" dirty="0">
              <a:ln>
                <a:noFill/>
              </a:ln>
              <a:solidFill>
                <a:schemeClr val="bg1"/>
              </a:solidFill>
              <a:effectLst/>
              <a:uLnTx/>
              <a:uFillTx/>
              <a:latin typeface="Times New Roman"/>
              <a:ea typeface="標楷體"/>
              <a:cs typeface="+mn-cs"/>
            </a:endParaRPr>
          </a:p>
        </p:txBody>
      </p:sp>
      <p:sp>
        <p:nvSpPr>
          <p:cNvPr id="33" name="矩形 32">
            <a:extLst>
              <a:ext uri="{FF2B5EF4-FFF2-40B4-BE49-F238E27FC236}">
                <a16:creationId xmlns:a16="http://schemas.microsoft.com/office/drawing/2014/main" id="{0CA19BB2-FC55-DE5B-DFC8-13E2F47AE1F9}"/>
              </a:ext>
            </a:extLst>
          </p:cNvPr>
          <p:cNvSpPr/>
          <p:nvPr/>
        </p:nvSpPr>
        <p:spPr bwMode="auto">
          <a:xfrm>
            <a:off x="5964567" y="4284503"/>
            <a:ext cx="5269104" cy="1443766"/>
          </a:xfrm>
          <a:prstGeom prst="rect">
            <a:avLst/>
          </a:prstGeom>
          <a:noFill/>
          <a:ln w="9525" cap="flat" cmpd="sng" algn="ctr">
            <a:noFill/>
            <a:prstDash val="solid"/>
            <a:round/>
            <a:headEnd type="none" w="med" len="med"/>
            <a:tailEnd type="none" w="med" len="med"/>
          </a:ln>
          <a:effectLst/>
        </p:spPr>
        <p:txBody>
          <a:bodyPr vert="horz" wrap="square" lIns="93297" tIns="46649" rIns="93297" bIns="46649" numCol="1" rtlCol="0" anchor="t" anchorCtr="0" compatLnSpc="1">
            <a:prstTxWarp prst="textNoShape">
              <a:avLst/>
            </a:prstTxWarp>
          </a:bodyPr>
          <a:lstStyle/>
          <a:p>
            <a:pPr marL="349861" marR="0" lvl="1" indent="-349861" algn="l" defTabSz="914400" rtl="0" eaLnBrk="1" fontAlgn="auto" latinLnBrk="0" hangingPunct="1">
              <a:lnSpc>
                <a:spcPct val="120000"/>
              </a:lnSpc>
              <a:spcBef>
                <a:spcPts val="612"/>
              </a:spcBef>
              <a:spcAft>
                <a:spcPts val="0"/>
              </a:spcAft>
              <a:buClrTx/>
              <a:buSzTx/>
              <a:buFont typeface="Wingdings" panose="05000000000000000000" pitchFamily="2" charset="2"/>
              <a:buChar char="þ"/>
              <a:tabLst/>
              <a:defRPr/>
            </a:pPr>
            <a:r>
              <a:rPr lang="en-US" altLang="zh-TW" kern="1200" dirty="0">
                <a:solidFill>
                  <a:prstClr val="black"/>
                </a:solidFill>
                <a:latin typeface="微軟正黑體" panose="020B0604030504040204" pitchFamily="34" charset="-120"/>
                <a:ea typeface="微軟正黑體" panose="020B0604030504040204" pitchFamily="34" charset="-120"/>
                <a:cs typeface="+mn-cs"/>
              </a:rPr>
              <a:t>2024-2025</a:t>
            </a:r>
            <a:r>
              <a:rPr lang="zh-TW" altLang="en-US" kern="1200" dirty="0">
                <a:solidFill>
                  <a:prstClr val="black"/>
                </a:solidFill>
                <a:latin typeface="微軟正黑體" panose="020B0604030504040204" pitchFamily="34" charset="-120"/>
                <a:ea typeface="微軟正黑體" panose="020B0604030504040204" pitchFamily="34" charset="-120"/>
                <a:cs typeface="+mn-cs"/>
              </a:rPr>
              <a:t>年使用者數量穩定，資料集訂閱數成長</a:t>
            </a:r>
            <a:r>
              <a:rPr lang="en-US" altLang="zh-TW" kern="1200" dirty="0">
                <a:solidFill>
                  <a:prstClr val="black"/>
                </a:solidFill>
                <a:latin typeface="微軟正黑體" panose="020B0604030504040204" pitchFamily="34" charset="-120"/>
                <a:ea typeface="微軟正黑體" panose="020B0604030504040204" pitchFamily="34" charset="-120"/>
                <a:cs typeface="+mn-cs"/>
              </a:rPr>
              <a:t>200%</a:t>
            </a:r>
            <a:r>
              <a:rPr lang="zh-TW" altLang="en-US" kern="1200" dirty="0">
                <a:solidFill>
                  <a:prstClr val="black"/>
                </a:solidFill>
                <a:latin typeface="微軟正黑體" panose="020B0604030504040204" pitchFamily="34" charset="-120"/>
                <a:ea typeface="微軟正黑體" panose="020B0604030504040204" pitchFamily="34" charset="-120"/>
                <a:cs typeface="+mn-cs"/>
              </a:rPr>
              <a:t>，</a:t>
            </a:r>
            <a:r>
              <a:rPr lang="zh-TW" altLang="en-US" kern="1200" dirty="0">
                <a:solidFill>
                  <a:prstClr val="black"/>
                </a:solidFill>
                <a:highlight>
                  <a:srgbClr val="FFFF00"/>
                </a:highlight>
                <a:latin typeface="微軟正黑體" panose="020B0604030504040204" pitchFamily="34" charset="-120"/>
                <a:ea typeface="微軟正黑體" panose="020B0604030504040204" pitchFamily="34" charset="-120"/>
                <a:cs typeface="+mn-cs"/>
              </a:rPr>
              <a:t>顯示用戶需求提升</a:t>
            </a:r>
            <a:r>
              <a:rPr lang="zh-TW" altLang="en-US" kern="1200" dirty="0">
                <a:solidFill>
                  <a:prstClr val="black"/>
                </a:solidFill>
                <a:latin typeface="微軟正黑體" panose="020B0604030504040204" pitchFamily="34" charset="-120"/>
                <a:ea typeface="微軟正黑體" panose="020B0604030504040204" pitchFamily="34" charset="-120"/>
                <a:cs typeface="+mn-cs"/>
              </a:rPr>
              <a:t>。</a:t>
            </a:r>
          </a:p>
          <a:p>
            <a:pPr marL="349861" marR="0" lvl="1" indent="-349861" algn="l" defTabSz="914400" rtl="0" eaLnBrk="1" fontAlgn="auto" latinLnBrk="0" hangingPunct="1">
              <a:lnSpc>
                <a:spcPct val="120000"/>
              </a:lnSpc>
              <a:spcBef>
                <a:spcPts val="612"/>
              </a:spcBef>
              <a:spcAft>
                <a:spcPts val="0"/>
              </a:spcAft>
              <a:buClrTx/>
              <a:buSzTx/>
              <a:buFont typeface="Wingdings" panose="05000000000000000000" pitchFamily="2" charset="2"/>
              <a:buChar char="þ"/>
              <a:tabLst/>
              <a:defRPr/>
            </a:pPr>
            <a:r>
              <a:rPr lang="zh-TW" altLang="en-US" kern="1200" dirty="0">
                <a:solidFill>
                  <a:prstClr val="black"/>
                </a:solidFill>
                <a:latin typeface="微軟正黑體" panose="020B0604030504040204" pitchFamily="34" charset="-120"/>
                <a:ea typeface="微軟正黑體" panose="020B0604030504040204" pitchFamily="34" charset="-120"/>
                <a:cs typeface="+mn-cs"/>
              </a:rPr>
              <a:t>爬蟲館</a:t>
            </a:r>
            <a:r>
              <a:rPr lang="en-US" altLang="zh-TW" kern="1200" dirty="0">
                <a:solidFill>
                  <a:prstClr val="black"/>
                </a:solidFill>
                <a:latin typeface="微軟正黑體" panose="020B0604030504040204" pitchFamily="34" charset="-120"/>
                <a:ea typeface="微軟正黑體" panose="020B0604030504040204" pitchFamily="34" charset="-120"/>
                <a:cs typeface="+mn-cs"/>
              </a:rPr>
              <a:t>2023</a:t>
            </a:r>
            <a:r>
              <a:rPr lang="zh-TW" altLang="en-US" kern="1200" dirty="0">
                <a:solidFill>
                  <a:prstClr val="black"/>
                </a:solidFill>
                <a:latin typeface="微軟正黑體" panose="020B0604030504040204" pitchFamily="34" charset="-120"/>
                <a:ea typeface="微軟正黑體" panose="020B0604030504040204" pitchFamily="34" charset="-120"/>
                <a:cs typeface="+mn-cs"/>
              </a:rPr>
              <a:t>年底建置，</a:t>
            </a:r>
            <a:r>
              <a:rPr lang="en-US" altLang="zh-TW" kern="1200" dirty="0">
                <a:solidFill>
                  <a:prstClr val="black"/>
                </a:solidFill>
                <a:latin typeface="微軟正黑體" panose="020B0604030504040204" pitchFamily="34" charset="-120"/>
                <a:ea typeface="微軟正黑體" panose="020B0604030504040204" pitchFamily="34" charset="-120"/>
                <a:cs typeface="+mn-cs"/>
              </a:rPr>
              <a:t>2024</a:t>
            </a:r>
            <a:r>
              <a:rPr lang="zh-TW" altLang="en-US" kern="1200" dirty="0">
                <a:solidFill>
                  <a:prstClr val="black"/>
                </a:solidFill>
                <a:latin typeface="微軟正黑體" panose="020B0604030504040204" pitchFamily="34" charset="-120"/>
                <a:ea typeface="微軟正黑體" panose="020B0604030504040204" pitchFamily="34" charset="-120"/>
                <a:cs typeface="+mn-cs"/>
              </a:rPr>
              <a:t>年起統計障礙率，</a:t>
            </a:r>
            <a:r>
              <a:rPr lang="en-US" altLang="zh-TW" kern="1200" dirty="0">
                <a:solidFill>
                  <a:prstClr val="black"/>
                </a:solidFill>
                <a:latin typeface="微軟正黑體" panose="020B0604030504040204" pitchFamily="34" charset="-120"/>
                <a:ea typeface="微軟正黑體" panose="020B0604030504040204" pitchFamily="34" charset="-120"/>
                <a:cs typeface="+mn-cs"/>
              </a:rPr>
              <a:t>2025</a:t>
            </a:r>
            <a:r>
              <a:rPr lang="zh-TW" altLang="en-US" kern="1200" dirty="0">
                <a:solidFill>
                  <a:prstClr val="black"/>
                </a:solidFill>
                <a:latin typeface="微軟正黑體" panose="020B0604030504040204" pitchFamily="34" charset="-120"/>
                <a:ea typeface="微軟正黑體" panose="020B0604030504040204" pitchFamily="34" charset="-120"/>
                <a:cs typeface="+mn-cs"/>
              </a:rPr>
              <a:t>年障礙率由</a:t>
            </a:r>
            <a:r>
              <a:rPr lang="en-US" altLang="zh-TW" kern="1200" dirty="0">
                <a:solidFill>
                  <a:prstClr val="black"/>
                </a:solidFill>
                <a:latin typeface="微軟正黑體" panose="020B0604030504040204" pitchFamily="34" charset="-120"/>
                <a:ea typeface="微軟正黑體" panose="020B0604030504040204" pitchFamily="34" charset="-120"/>
                <a:cs typeface="+mn-cs"/>
              </a:rPr>
              <a:t>10.33%</a:t>
            </a:r>
            <a:r>
              <a:rPr lang="zh-TW" altLang="en-US" kern="1200" dirty="0">
                <a:solidFill>
                  <a:prstClr val="black"/>
                </a:solidFill>
                <a:latin typeface="微軟正黑體" panose="020B0604030504040204" pitchFamily="34" charset="-120"/>
                <a:ea typeface="微軟正黑體" panose="020B0604030504040204" pitchFamily="34" charset="-120"/>
                <a:cs typeface="+mn-cs"/>
              </a:rPr>
              <a:t>降至</a:t>
            </a:r>
            <a:r>
              <a:rPr lang="en-US" altLang="zh-TW" kern="1200" dirty="0">
                <a:solidFill>
                  <a:prstClr val="black"/>
                </a:solidFill>
                <a:latin typeface="微軟正黑體" panose="020B0604030504040204" pitchFamily="34" charset="-120"/>
                <a:ea typeface="微軟正黑體" panose="020B0604030504040204" pitchFamily="34" charset="-120"/>
                <a:cs typeface="+mn-cs"/>
              </a:rPr>
              <a:t>4.69%</a:t>
            </a:r>
            <a:r>
              <a:rPr lang="zh-TW" altLang="en-US" kern="1200" dirty="0">
                <a:solidFill>
                  <a:prstClr val="black"/>
                </a:solidFill>
                <a:latin typeface="微軟正黑體" panose="020B0604030504040204" pitchFamily="34" charset="-120"/>
                <a:ea typeface="微軟正黑體" panose="020B0604030504040204" pitchFamily="34" charset="-120"/>
                <a:cs typeface="+mn-cs"/>
              </a:rPr>
              <a:t>，</a:t>
            </a:r>
            <a:r>
              <a:rPr lang="zh-TW" altLang="en-US" kern="1200" dirty="0">
                <a:solidFill>
                  <a:prstClr val="black"/>
                </a:solidFill>
                <a:highlight>
                  <a:srgbClr val="FFFF00"/>
                </a:highlight>
                <a:latin typeface="微軟正黑體" panose="020B0604030504040204" pitchFamily="34" charset="-120"/>
                <a:ea typeface="微軟正黑體" panose="020B0604030504040204" pitchFamily="34" charset="-120"/>
                <a:cs typeface="+mn-cs"/>
              </a:rPr>
              <a:t>改善</a:t>
            </a:r>
            <a:r>
              <a:rPr lang="en-US" altLang="zh-TW" kern="1200" dirty="0">
                <a:solidFill>
                  <a:prstClr val="black"/>
                </a:solidFill>
                <a:highlight>
                  <a:srgbClr val="FFFF00"/>
                </a:highlight>
                <a:latin typeface="微軟正黑體" panose="020B0604030504040204" pitchFamily="34" charset="-120"/>
                <a:ea typeface="微軟正黑體" panose="020B0604030504040204" pitchFamily="34" charset="-120"/>
                <a:cs typeface="+mn-cs"/>
              </a:rPr>
              <a:t>5.64%</a:t>
            </a:r>
            <a:r>
              <a:rPr lang="zh-TW" altLang="en-US" kern="1200" dirty="0">
                <a:solidFill>
                  <a:prstClr val="black"/>
                </a:solidFill>
                <a:latin typeface="微軟正黑體" panose="020B0604030504040204" pitchFamily="34" charset="-120"/>
                <a:ea typeface="微軟正黑體" panose="020B0604030504040204" pitchFamily="34" charset="-120"/>
                <a:cs typeface="+mn-cs"/>
              </a:rPr>
              <a:t>。</a:t>
            </a:r>
          </a:p>
          <a:p>
            <a:pPr marL="349861" marR="0" lvl="1" indent="-349861" algn="l" defTabSz="914400" rtl="0" eaLnBrk="1" fontAlgn="auto" latinLnBrk="0" hangingPunct="1">
              <a:lnSpc>
                <a:spcPct val="120000"/>
              </a:lnSpc>
              <a:spcBef>
                <a:spcPts val="612"/>
              </a:spcBef>
              <a:spcAft>
                <a:spcPts val="0"/>
              </a:spcAft>
              <a:buClrTx/>
              <a:buSzTx/>
              <a:buFont typeface="Wingdings" panose="05000000000000000000" pitchFamily="2" charset="2"/>
              <a:buChar char="þ"/>
              <a:tabLst/>
              <a:defRPr/>
            </a:pPr>
            <a:r>
              <a:rPr lang="zh-TW" altLang="en-US" kern="1200" dirty="0">
                <a:solidFill>
                  <a:prstClr val="black"/>
                </a:solidFill>
                <a:latin typeface="微軟正黑體" panose="020B0604030504040204" pitchFamily="34" charset="-120"/>
                <a:ea typeface="微軟正黑體" panose="020B0604030504040204" pitchFamily="34" charset="-120"/>
                <a:cs typeface="+mn-cs"/>
              </a:rPr>
              <a:t>整體而言，資料集訂閱與系統穩定性均有明顯進步，未來將</a:t>
            </a:r>
            <a:r>
              <a:rPr lang="zh-TW" altLang="en-US" kern="1200" dirty="0">
                <a:solidFill>
                  <a:prstClr val="black"/>
                </a:solidFill>
                <a:highlight>
                  <a:srgbClr val="FFFF00"/>
                </a:highlight>
                <a:latin typeface="微軟正黑體" panose="020B0604030504040204" pitchFamily="34" charset="-120"/>
                <a:ea typeface="微軟正黑體" panose="020B0604030504040204" pitchFamily="34" charset="-120"/>
                <a:cs typeface="+mn-cs"/>
              </a:rPr>
              <a:t>持續優化儲存方式並擴充功能</a:t>
            </a:r>
            <a:r>
              <a:rPr lang="zh-TW" altLang="en-US" kern="1200" dirty="0">
                <a:solidFill>
                  <a:prstClr val="black"/>
                </a:solidFill>
                <a:latin typeface="微軟正黑體" panose="020B0604030504040204" pitchFamily="34" charset="-120"/>
                <a:ea typeface="微軟正黑體" panose="020B0604030504040204" pitchFamily="34" charset="-120"/>
                <a:cs typeface="+mn-cs"/>
              </a:rPr>
              <a:t>。</a:t>
            </a:r>
            <a:endParaRPr kumimoji="0" lang="en-US" altLang="zh-TW"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p:txBody>
      </p:sp>
    </p:spTree>
    <p:extLst>
      <p:ext uri="{BB962C8B-B14F-4D97-AF65-F5344CB8AC3E}">
        <p14:creationId xmlns:p14="http://schemas.microsoft.com/office/powerpoint/2010/main" val="16628760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93;g223df3c542d_0_35">
            <a:extLst>
              <a:ext uri="{FF2B5EF4-FFF2-40B4-BE49-F238E27FC236}">
                <a16:creationId xmlns:a16="http://schemas.microsoft.com/office/drawing/2014/main" id="{EB33424D-C843-4C83-8BBE-034D02E13555}"/>
              </a:ext>
            </a:extLst>
          </p:cNvPr>
          <p:cNvSpPr txBox="1">
            <a:spLocks noGrp="1"/>
          </p:cNvSpPr>
          <p:nvPr>
            <p:ph type="title"/>
          </p:nvPr>
        </p:nvSpPr>
        <p:spPr>
          <a:xfrm>
            <a:off x="353014" y="145505"/>
            <a:ext cx="6391052" cy="612342"/>
          </a:xfrm>
          <a:prstGeom prst="rect">
            <a:avLst/>
          </a:prstGeom>
        </p:spPr>
        <p:txBody>
          <a:bodyPr spcFirstLastPara="1" vert="horz" wrap="square" lIns="89933" tIns="44954" rIns="89933" bIns="44954" rtlCol="0" anchor="ctr" anchorCtr="0">
            <a:noAutofit/>
          </a:bodyPr>
          <a:lstStyle/>
          <a:p>
            <a:r>
              <a:rPr lang="zh-TW" dirty="0">
                <a:solidFill>
                  <a:schemeClr val="tx1"/>
                </a:solidFill>
              </a:rPr>
              <a:t>爬蟲館現況統計</a:t>
            </a:r>
            <a:r>
              <a:rPr lang="en-US" altLang="zh-TW" dirty="0">
                <a:solidFill>
                  <a:schemeClr val="tx1"/>
                </a:solidFill>
              </a:rPr>
              <a:t>(截至2025/10/9)</a:t>
            </a:r>
            <a:endParaRPr dirty="0">
              <a:solidFill>
                <a:schemeClr val="tx1"/>
              </a:solidFill>
            </a:endParaRPr>
          </a:p>
        </p:txBody>
      </p:sp>
      <p:sp>
        <p:nvSpPr>
          <p:cNvPr id="4" name="Google Shape;96;g223df3c542d_0_35">
            <a:extLst>
              <a:ext uri="{FF2B5EF4-FFF2-40B4-BE49-F238E27FC236}">
                <a16:creationId xmlns:a16="http://schemas.microsoft.com/office/drawing/2014/main" id="{871350C0-9B9B-47E0-BED2-8417C934DF39}"/>
              </a:ext>
            </a:extLst>
          </p:cNvPr>
          <p:cNvSpPr/>
          <p:nvPr/>
        </p:nvSpPr>
        <p:spPr>
          <a:xfrm>
            <a:off x="586899" y="957036"/>
            <a:ext cx="2280570" cy="360618"/>
          </a:xfrm>
          <a:prstGeom prst="roundRect">
            <a:avLst>
              <a:gd name="adj" fmla="val 50000"/>
            </a:avLst>
          </a:prstGeom>
          <a:solidFill>
            <a:srgbClr val="23293A"/>
          </a:solidFill>
          <a:ln w="9525" cap="flat" cmpd="sng">
            <a:solidFill>
              <a:schemeClr val="dk1"/>
            </a:solidFill>
            <a:prstDash val="solid"/>
            <a:round/>
            <a:headEnd type="none" w="sm" len="sm"/>
            <a:tailEnd type="none" w="sm" len="sm"/>
          </a:ln>
        </p:spPr>
        <p:txBody>
          <a:bodyPr spcFirstLastPara="1" wrap="square" lIns="89933" tIns="44954" rIns="89933" bIns="44954" anchor="ctr" anchorCtr="0">
            <a:noAutofit/>
          </a:bodyPr>
          <a:lstStyle/>
          <a:p>
            <a:pPr algn="ctr" defTabSz="881573">
              <a:buSzPts val="2000"/>
              <a:defRPr/>
            </a:pPr>
            <a:r>
              <a:rPr lang="zh-TW" altLang="en-US" sz="1968" b="1" kern="1200" dirty="0">
                <a:solidFill>
                  <a:srgbClr val="FFFFFF"/>
                </a:solidFill>
                <a:latin typeface="Microsoft JhengHei"/>
                <a:ea typeface="Microsoft JhengHei"/>
                <a:cs typeface="Microsoft JhengHei"/>
                <a:sym typeface="Microsoft JhengHei"/>
              </a:rPr>
              <a:t>資料集申請量</a:t>
            </a:r>
            <a:endParaRPr sz="1968" b="1" kern="1200" dirty="0">
              <a:solidFill>
                <a:srgbClr val="FFFFFF"/>
              </a:solidFill>
              <a:latin typeface="Times New Roman"/>
              <a:ea typeface="Times New Roman"/>
              <a:cs typeface="Times New Roman"/>
              <a:sym typeface="Times New Roman"/>
            </a:endParaRPr>
          </a:p>
        </p:txBody>
      </p:sp>
      <p:graphicFrame>
        <p:nvGraphicFramePr>
          <p:cNvPr id="2" name="表格 5">
            <a:extLst>
              <a:ext uri="{FF2B5EF4-FFF2-40B4-BE49-F238E27FC236}">
                <a16:creationId xmlns:a16="http://schemas.microsoft.com/office/drawing/2014/main" id="{29F09062-00E2-DCE8-3875-932DB590C21C}"/>
              </a:ext>
            </a:extLst>
          </p:cNvPr>
          <p:cNvGraphicFramePr>
            <a:graphicFrameLocks noGrp="1"/>
          </p:cNvGraphicFramePr>
          <p:nvPr>
            <p:extLst>
              <p:ext uri="{D42A27DB-BD31-4B8C-83A1-F6EECF244321}">
                <p14:modId xmlns:p14="http://schemas.microsoft.com/office/powerpoint/2010/main" val="3851050890"/>
              </p:ext>
            </p:extLst>
          </p:nvPr>
        </p:nvGraphicFramePr>
        <p:xfrm>
          <a:off x="586898" y="1500032"/>
          <a:ext cx="4180063" cy="2450720"/>
        </p:xfrm>
        <a:graphic>
          <a:graphicData uri="http://schemas.openxmlformats.org/drawingml/2006/table">
            <a:tbl>
              <a:tblPr firstRow="1" bandRow="1">
                <a:tableStyleId>{91DB7C30-2B5D-4D34-8F22-85940E495A18}</a:tableStyleId>
              </a:tblPr>
              <a:tblGrid>
                <a:gridCol w="1050000">
                  <a:extLst>
                    <a:ext uri="{9D8B030D-6E8A-4147-A177-3AD203B41FA5}">
                      <a16:colId xmlns:a16="http://schemas.microsoft.com/office/drawing/2014/main" val="988887641"/>
                    </a:ext>
                  </a:extLst>
                </a:gridCol>
                <a:gridCol w="892420">
                  <a:extLst>
                    <a:ext uri="{9D8B030D-6E8A-4147-A177-3AD203B41FA5}">
                      <a16:colId xmlns:a16="http://schemas.microsoft.com/office/drawing/2014/main" val="281166034"/>
                    </a:ext>
                  </a:extLst>
                </a:gridCol>
                <a:gridCol w="892420">
                  <a:extLst>
                    <a:ext uri="{9D8B030D-6E8A-4147-A177-3AD203B41FA5}">
                      <a16:colId xmlns:a16="http://schemas.microsoft.com/office/drawing/2014/main" val="225223319"/>
                    </a:ext>
                  </a:extLst>
                </a:gridCol>
                <a:gridCol w="1345223">
                  <a:extLst>
                    <a:ext uri="{9D8B030D-6E8A-4147-A177-3AD203B41FA5}">
                      <a16:colId xmlns:a16="http://schemas.microsoft.com/office/drawing/2014/main" val="1813696020"/>
                    </a:ext>
                  </a:extLst>
                </a:gridCol>
              </a:tblGrid>
              <a:tr h="490144">
                <a:tc>
                  <a:txBody>
                    <a:bodyPr/>
                    <a:lstStyle/>
                    <a:p>
                      <a:r>
                        <a:rPr lang="zh-TW" altLang="en-US" sz="1600" b="1" dirty="0">
                          <a:latin typeface="微軟正黑體" panose="020B0604030504040204" pitchFamily="34" charset="-120"/>
                          <a:ea typeface="微軟正黑體" panose="020B0604030504040204" pitchFamily="34" charset="-120"/>
                        </a:rPr>
                        <a:t>子公司</a:t>
                      </a:r>
                    </a:p>
                  </a:txBody>
                  <a:tcPr>
                    <a:solidFill>
                      <a:srgbClr val="EEB0B2"/>
                    </a:solidFill>
                  </a:tcPr>
                </a:tc>
                <a:tc>
                  <a:txBody>
                    <a:bodyPr/>
                    <a:lstStyle/>
                    <a:p>
                      <a:r>
                        <a:rPr lang="zh-TW" altLang="en-US" sz="1600" b="1" dirty="0">
                          <a:latin typeface="微軟正黑體" panose="020B0604030504040204" pitchFamily="34" charset="-120"/>
                          <a:ea typeface="微軟正黑體" panose="020B0604030504040204" pitchFamily="34" charset="-120"/>
                        </a:rPr>
                        <a:t>啟用</a:t>
                      </a:r>
                    </a:p>
                  </a:txBody>
                  <a:tcPr>
                    <a:solidFill>
                      <a:srgbClr val="EEB0B2"/>
                    </a:solidFill>
                  </a:tcPr>
                </a:tc>
                <a:tc>
                  <a:txBody>
                    <a:bodyPr/>
                    <a:lstStyle/>
                    <a:p>
                      <a:r>
                        <a:rPr lang="zh-TW" altLang="en-US" sz="1600" b="1" dirty="0">
                          <a:latin typeface="微軟正黑體" panose="020B0604030504040204" pitchFamily="34" charset="-120"/>
                          <a:ea typeface="微軟正黑體" panose="020B0604030504040204" pitchFamily="34" charset="-120"/>
                        </a:rPr>
                        <a:t>停用</a:t>
                      </a:r>
                    </a:p>
                  </a:txBody>
                  <a:tcPr>
                    <a:solidFill>
                      <a:srgbClr val="EEB0B2"/>
                    </a:solidFill>
                  </a:tcPr>
                </a:tc>
                <a:tc>
                  <a:txBody>
                    <a:bodyPr/>
                    <a:lstStyle/>
                    <a:p>
                      <a:r>
                        <a:rPr lang="zh-TW" altLang="en-US" sz="1600" b="1" dirty="0">
                          <a:latin typeface="微軟正黑體" panose="020B0604030504040204" pitchFamily="34" charset="-120"/>
                          <a:ea typeface="微軟正黑體" panose="020B0604030504040204" pitchFamily="34" charset="-120"/>
                        </a:rPr>
                        <a:t>小計</a:t>
                      </a:r>
                    </a:p>
                  </a:txBody>
                  <a:tcPr>
                    <a:solidFill>
                      <a:srgbClr val="EEB0B2"/>
                    </a:solidFill>
                  </a:tcPr>
                </a:tc>
                <a:extLst>
                  <a:ext uri="{0D108BD9-81ED-4DB2-BD59-A6C34878D82A}">
                    <a16:rowId xmlns:a16="http://schemas.microsoft.com/office/drawing/2014/main" val="2252792821"/>
                  </a:ext>
                </a:extLst>
              </a:tr>
              <a:tr h="490144">
                <a:tc>
                  <a:txBody>
                    <a:bodyPr/>
                    <a:lstStyle/>
                    <a:p>
                      <a:r>
                        <a:rPr lang="zh-TW" altLang="en-US" sz="1600" b="1" kern="1200" dirty="0">
                          <a:solidFill>
                            <a:prstClr val="black"/>
                          </a:solidFill>
                          <a:latin typeface="微軟正黑體" panose="020B0604030504040204" pitchFamily="34" charset="-120"/>
                          <a:ea typeface="微軟正黑體" panose="020B0604030504040204" pitchFamily="34" charset="-120"/>
                        </a:rPr>
                        <a:t>銀行</a:t>
                      </a:r>
                      <a:endParaRPr lang="zh-TW" altLang="en-US" sz="1400" b="1" dirty="0">
                        <a:latin typeface="微軟正黑體" panose="020B0604030504040204" pitchFamily="34" charset="-120"/>
                        <a:ea typeface="微軟正黑體" panose="020B0604030504040204" pitchFamily="34" charset="-120"/>
                      </a:endParaRPr>
                    </a:p>
                  </a:txBody>
                  <a:tcPr/>
                </a:tc>
                <a:tc>
                  <a:txBody>
                    <a:bodyPr/>
                    <a:lstStyle/>
                    <a:p>
                      <a:r>
                        <a:rPr lang="en-US" altLang="zh-TW" dirty="0">
                          <a:latin typeface="微軟正黑體" panose="020B0604030504040204" pitchFamily="34" charset="-120"/>
                          <a:ea typeface="微軟正黑體" panose="020B0604030504040204" pitchFamily="34" charset="-120"/>
                        </a:rPr>
                        <a:t>113</a:t>
                      </a:r>
                      <a:endParaRPr lang="zh-TW" altLang="en-US" dirty="0">
                        <a:latin typeface="微軟正黑體" panose="020B0604030504040204" pitchFamily="34" charset="-120"/>
                        <a:ea typeface="微軟正黑體" panose="020B0604030504040204" pitchFamily="34" charset="-120"/>
                      </a:endParaRPr>
                    </a:p>
                  </a:txBody>
                  <a:tcPr/>
                </a:tc>
                <a:tc>
                  <a:txBody>
                    <a:bodyPr/>
                    <a:lstStyle/>
                    <a:p>
                      <a:r>
                        <a:rPr lang="en-US" altLang="zh-TW" dirty="0">
                          <a:latin typeface="微軟正黑體" panose="020B0604030504040204" pitchFamily="34" charset="-120"/>
                          <a:ea typeface="微軟正黑體" panose="020B0604030504040204" pitchFamily="34" charset="-120"/>
                        </a:rPr>
                        <a:t>92</a:t>
                      </a:r>
                      <a:endParaRPr lang="zh-TW" altLang="en-US" dirty="0">
                        <a:latin typeface="微軟正黑體" panose="020B0604030504040204" pitchFamily="34" charset="-120"/>
                        <a:ea typeface="微軟正黑體" panose="020B0604030504040204" pitchFamily="34" charset="-120"/>
                      </a:endParaRPr>
                    </a:p>
                  </a:txBody>
                  <a:tcPr/>
                </a:tc>
                <a:tc>
                  <a:txBody>
                    <a:bodyPr/>
                    <a:lstStyle/>
                    <a:p>
                      <a:r>
                        <a:rPr lang="en-US" altLang="zh-TW" dirty="0">
                          <a:latin typeface="微軟正黑體" panose="020B0604030504040204" pitchFamily="34" charset="-120"/>
                          <a:ea typeface="微軟正黑體" panose="020B0604030504040204" pitchFamily="34" charset="-120"/>
                        </a:rPr>
                        <a:t>205</a:t>
                      </a:r>
                      <a:endParaRPr lang="zh-TW" altLang="en-US" dirty="0">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4085456607"/>
                  </a:ext>
                </a:extLst>
              </a:tr>
              <a:tr h="490144">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600" b="1" kern="1200" dirty="0">
                          <a:solidFill>
                            <a:prstClr val="black"/>
                          </a:solidFill>
                          <a:latin typeface="微軟正黑體" panose="020B0604030504040204" pitchFamily="34" charset="-120"/>
                          <a:ea typeface="微軟正黑體" panose="020B0604030504040204" pitchFamily="34" charset="-120"/>
                        </a:rPr>
                        <a:t>證券</a:t>
                      </a:r>
                      <a:endParaRPr lang="en-US" altLang="zh-TW" sz="1600" b="1" kern="1200" dirty="0">
                        <a:solidFill>
                          <a:prstClr val="black"/>
                        </a:solidFill>
                        <a:latin typeface="微軟正黑體" panose="020B0604030504040204" pitchFamily="34" charset="-120"/>
                        <a:ea typeface="微軟正黑體" panose="020B0604030504040204" pitchFamily="34" charset="-120"/>
                      </a:endParaRPr>
                    </a:p>
                  </a:txBody>
                  <a:tcPr/>
                </a:tc>
                <a:tc>
                  <a:txBody>
                    <a:bodyPr/>
                    <a:lstStyle/>
                    <a:p>
                      <a:r>
                        <a:rPr lang="en-US" altLang="zh-TW" dirty="0">
                          <a:latin typeface="微軟正黑體" panose="020B0604030504040204" pitchFamily="34" charset="-120"/>
                          <a:ea typeface="微軟正黑體" panose="020B0604030504040204" pitchFamily="34" charset="-120"/>
                        </a:rPr>
                        <a:t>-</a:t>
                      </a:r>
                      <a:endParaRPr lang="zh-TW" altLang="en-US" dirty="0">
                        <a:latin typeface="微軟正黑體" panose="020B0604030504040204" pitchFamily="34" charset="-120"/>
                        <a:ea typeface="微軟正黑體" panose="020B0604030504040204" pitchFamily="34" charset="-120"/>
                      </a:endParaRPr>
                    </a:p>
                  </a:txBody>
                  <a:tcPr/>
                </a:tc>
                <a:tc>
                  <a:txBody>
                    <a:bodyPr/>
                    <a:lstStyle/>
                    <a:p>
                      <a:r>
                        <a:rPr lang="en-US" altLang="zh-TW" dirty="0">
                          <a:latin typeface="微軟正黑體" panose="020B0604030504040204" pitchFamily="34" charset="-120"/>
                          <a:ea typeface="微軟正黑體" panose="020B0604030504040204" pitchFamily="34" charset="-120"/>
                        </a:rPr>
                        <a:t>3</a:t>
                      </a:r>
                      <a:endParaRPr lang="zh-TW" altLang="en-US" dirty="0">
                        <a:latin typeface="微軟正黑體" panose="020B0604030504040204" pitchFamily="34" charset="-120"/>
                        <a:ea typeface="微軟正黑體" panose="020B0604030504040204" pitchFamily="34" charset="-120"/>
                      </a:endParaRPr>
                    </a:p>
                  </a:txBody>
                  <a:tcPr/>
                </a:tc>
                <a:tc>
                  <a:txBody>
                    <a:bodyPr/>
                    <a:lstStyle/>
                    <a:p>
                      <a:r>
                        <a:rPr lang="en-US" altLang="zh-TW" dirty="0">
                          <a:latin typeface="微軟正黑體" panose="020B0604030504040204" pitchFamily="34" charset="-120"/>
                          <a:ea typeface="微軟正黑體" panose="020B0604030504040204" pitchFamily="34" charset="-120"/>
                        </a:rPr>
                        <a:t>3</a:t>
                      </a:r>
                      <a:endParaRPr lang="zh-TW" altLang="en-US" dirty="0">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1427006880"/>
                  </a:ext>
                </a:extLst>
              </a:tr>
              <a:tr h="490144">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600" b="1" kern="1200" dirty="0">
                          <a:solidFill>
                            <a:prstClr val="black"/>
                          </a:solidFill>
                          <a:latin typeface="微軟正黑體" panose="020B0604030504040204" pitchFamily="34" charset="-120"/>
                          <a:ea typeface="微軟正黑體" panose="020B0604030504040204" pitchFamily="34" charset="-120"/>
                        </a:rPr>
                        <a:t>租賃</a:t>
                      </a:r>
                      <a:endParaRPr lang="en-US" altLang="zh-TW" sz="1600" b="1" kern="1200" dirty="0">
                        <a:solidFill>
                          <a:prstClr val="black"/>
                        </a:solidFill>
                        <a:latin typeface="微軟正黑體" panose="020B0604030504040204" pitchFamily="34" charset="-120"/>
                        <a:ea typeface="微軟正黑體" panose="020B0604030504040204" pitchFamily="34" charset="-120"/>
                      </a:endParaRPr>
                    </a:p>
                  </a:txBody>
                  <a:tcPr/>
                </a:tc>
                <a:tc>
                  <a:txBody>
                    <a:bodyPr/>
                    <a:lstStyle/>
                    <a:p>
                      <a:r>
                        <a:rPr lang="en-US" altLang="zh-TW" dirty="0">
                          <a:latin typeface="微軟正黑體" panose="020B0604030504040204" pitchFamily="34" charset="-120"/>
                          <a:ea typeface="微軟正黑體" panose="020B0604030504040204" pitchFamily="34" charset="-120"/>
                        </a:rPr>
                        <a:t>1</a:t>
                      </a:r>
                      <a:endParaRPr lang="zh-TW" altLang="en-US" dirty="0">
                        <a:latin typeface="微軟正黑體" panose="020B0604030504040204" pitchFamily="34" charset="-120"/>
                        <a:ea typeface="微軟正黑體" panose="020B0604030504040204" pitchFamily="34" charset="-120"/>
                      </a:endParaRPr>
                    </a:p>
                  </a:txBody>
                  <a:tcPr/>
                </a:tc>
                <a:tc>
                  <a:txBody>
                    <a:bodyPr/>
                    <a:lstStyle/>
                    <a:p>
                      <a:r>
                        <a:rPr lang="en-US" altLang="zh-TW" dirty="0">
                          <a:latin typeface="微軟正黑體" panose="020B0604030504040204" pitchFamily="34" charset="-120"/>
                          <a:ea typeface="微軟正黑體" panose="020B0604030504040204" pitchFamily="34" charset="-120"/>
                        </a:rPr>
                        <a:t>4</a:t>
                      </a:r>
                      <a:endParaRPr lang="zh-TW" altLang="en-US" dirty="0">
                        <a:latin typeface="微軟正黑體" panose="020B0604030504040204" pitchFamily="34" charset="-120"/>
                        <a:ea typeface="微軟正黑體" panose="020B0604030504040204" pitchFamily="34" charset="-120"/>
                      </a:endParaRPr>
                    </a:p>
                  </a:txBody>
                  <a:tcPr/>
                </a:tc>
                <a:tc>
                  <a:txBody>
                    <a:bodyPr/>
                    <a:lstStyle/>
                    <a:p>
                      <a:r>
                        <a:rPr lang="en-US" altLang="zh-TW" dirty="0">
                          <a:latin typeface="微軟正黑體" panose="020B0604030504040204" pitchFamily="34" charset="-120"/>
                          <a:ea typeface="微軟正黑體" panose="020B0604030504040204" pitchFamily="34" charset="-120"/>
                        </a:rPr>
                        <a:t>5</a:t>
                      </a:r>
                      <a:endParaRPr lang="zh-TW" altLang="en-US" dirty="0">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4226431137"/>
                  </a:ext>
                </a:extLst>
              </a:tr>
              <a:tr h="490144">
                <a:tc>
                  <a:txBody>
                    <a:bodyPr/>
                    <a:lstStyle/>
                    <a:p>
                      <a:r>
                        <a:rPr lang="zh-TW" altLang="en-US" sz="1400" b="1" dirty="0">
                          <a:latin typeface="微軟正黑體" panose="020B0604030504040204" pitchFamily="34" charset="-120"/>
                          <a:ea typeface="微軟正黑體" panose="020B0604030504040204" pitchFamily="34" charset="-120"/>
                        </a:rPr>
                        <a:t>總計</a:t>
                      </a:r>
                    </a:p>
                  </a:txBody>
                  <a:tcPr/>
                </a:tc>
                <a:tc>
                  <a:txBody>
                    <a:bodyPr/>
                    <a:lstStyle/>
                    <a:p>
                      <a:r>
                        <a:rPr lang="en-US" altLang="zh-TW" dirty="0">
                          <a:latin typeface="微軟正黑體" panose="020B0604030504040204" pitchFamily="34" charset="-120"/>
                          <a:ea typeface="微軟正黑體" panose="020B0604030504040204" pitchFamily="34" charset="-120"/>
                        </a:rPr>
                        <a:t>114</a:t>
                      </a:r>
                      <a:endParaRPr lang="zh-TW" altLang="en-US" dirty="0">
                        <a:latin typeface="微軟正黑體" panose="020B0604030504040204" pitchFamily="34" charset="-120"/>
                        <a:ea typeface="微軟正黑體" panose="020B0604030504040204" pitchFamily="34" charset="-120"/>
                      </a:endParaRPr>
                    </a:p>
                  </a:txBody>
                  <a:tcPr/>
                </a:tc>
                <a:tc>
                  <a:txBody>
                    <a:bodyPr/>
                    <a:lstStyle/>
                    <a:p>
                      <a:r>
                        <a:rPr lang="en-US" altLang="zh-TW" dirty="0">
                          <a:latin typeface="微軟正黑體" panose="020B0604030504040204" pitchFamily="34" charset="-120"/>
                          <a:ea typeface="微軟正黑體" panose="020B0604030504040204" pitchFamily="34" charset="-120"/>
                        </a:rPr>
                        <a:t>99</a:t>
                      </a:r>
                      <a:endParaRPr lang="zh-TW" altLang="en-US" dirty="0">
                        <a:latin typeface="微軟正黑體" panose="020B0604030504040204" pitchFamily="34" charset="-120"/>
                        <a:ea typeface="微軟正黑體" panose="020B0604030504040204" pitchFamily="34" charset="-120"/>
                      </a:endParaRPr>
                    </a:p>
                  </a:txBody>
                  <a:tcPr/>
                </a:tc>
                <a:tc>
                  <a:txBody>
                    <a:bodyPr/>
                    <a:lstStyle/>
                    <a:p>
                      <a:r>
                        <a:rPr lang="en-US" altLang="zh-TW" dirty="0">
                          <a:latin typeface="微軟正黑體" panose="020B0604030504040204" pitchFamily="34" charset="-120"/>
                          <a:ea typeface="微軟正黑體" panose="020B0604030504040204" pitchFamily="34" charset="-120"/>
                        </a:rPr>
                        <a:t>213</a:t>
                      </a:r>
                      <a:endParaRPr lang="zh-TW" altLang="en-US" dirty="0">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3360517289"/>
                  </a:ext>
                </a:extLst>
              </a:tr>
            </a:tbl>
          </a:graphicData>
        </a:graphic>
      </p:graphicFrame>
      <p:sp>
        <p:nvSpPr>
          <p:cNvPr id="12" name="文字方塊 11">
            <a:extLst>
              <a:ext uri="{FF2B5EF4-FFF2-40B4-BE49-F238E27FC236}">
                <a16:creationId xmlns:a16="http://schemas.microsoft.com/office/drawing/2014/main" id="{0F846FFB-B505-7E41-F5BA-463BCBF7D834}"/>
              </a:ext>
            </a:extLst>
          </p:cNvPr>
          <p:cNvSpPr txBox="1"/>
          <p:nvPr/>
        </p:nvSpPr>
        <p:spPr>
          <a:xfrm>
            <a:off x="275731" y="4081406"/>
            <a:ext cx="4059125" cy="307777"/>
          </a:xfrm>
          <a:prstGeom prst="rect">
            <a:avLst/>
          </a:prstGeom>
          <a:noFill/>
        </p:spPr>
        <p:txBody>
          <a:bodyPr wrap="none" rtlCol="0">
            <a:spAutoFit/>
          </a:bodyPr>
          <a:lstStyle/>
          <a:p>
            <a:pPr defTabSz="881573">
              <a:buClrTx/>
              <a:defRPr/>
            </a:pPr>
            <a:r>
              <a:rPr kumimoji="0" lang="zh-TW" altLang="en-US"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Arial"/>
                <a:sym typeface="Arial"/>
              </a:rPr>
              <a:t>註</a:t>
            </a:r>
            <a:r>
              <a:rPr kumimoji="0" lang="en-US" altLang="zh-TW"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Arial"/>
                <a:sym typeface="Arial"/>
              </a:rPr>
              <a:t>1</a:t>
            </a:r>
            <a:r>
              <a:rPr kumimoji="0" lang="zh-TW" altLang="en-US"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Arial"/>
                <a:sym typeface="Arial"/>
              </a:rPr>
              <a:t>：依據相同爬蟲資料來源去重複統計清單如右</a:t>
            </a:r>
            <a:endParaRPr kumimoji="0" lang="en-US" altLang="zh-TW"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Arial"/>
              <a:sym typeface="Arial"/>
            </a:endParaRPr>
          </a:p>
        </p:txBody>
      </p:sp>
      <p:pic>
        <p:nvPicPr>
          <p:cNvPr id="15" name="圖片 14">
            <a:extLst>
              <a:ext uri="{FF2B5EF4-FFF2-40B4-BE49-F238E27FC236}">
                <a16:creationId xmlns:a16="http://schemas.microsoft.com/office/drawing/2014/main" id="{FE3A2113-8270-653E-3BF7-274AD1B25830}"/>
              </a:ext>
            </a:extLst>
          </p:cNvPr>
          <p:cNvPicPr>
            <a:picLocks noChangeAspect="1"/>
          </p:cNvPicPr>
          <p:nvPr/>
        </p:nvPicPr>
        <p:blipFill>
          <a:blip r:embed="rId3"/>
          <a:stretch>
            <a:fillRect/>
          </a:stretch>
        </p:blipFill>
        <p:spPr>
          <a:xfrm>
            <a:off x="4940255" y="829489"/>
            <a:ext cx="4490756" cy="3791805"/>
          </a:xfrm>
          <a:prstGeom prst="rect">
            <a:avLst/>
          </a:prstGeom>
          <a:ln>
            <a:solidFill>
              <a:schemeClr val="tx1"/>
            </a:solidFill>
          </a:ln>
        </p:spPr>
      </p:pic>
      <p:pic>
        <p:nvPicPr>
          <p:cNvPr id="17" name="圖片 16">
            <a:extLst>
              <a:ext uri="{FF2B5EF4-FFF2-40B4-BE49-F238E27FC236}">
                <a16:creationId xmlns:a16="http://schemas.microsoft.com/office/drawing/2014/main" id="{7B5C6F6C-7124-1421-203B-734F5AD11BA6}"/>
              </a:ext>
            </a:extLst>
          </p:cNvPr>
          <p:cNvPicPr>
            <a:picLocks noChangeAspect="1"/>
          </p:cNvPicPr>
          <p:nvPr/>
        </p:nvPicPr>
        <p:blipFill>
          <a:blip r:embed="rId4"/>
          <a:stretch>
            <a:fillRect/>
          </a:stretch>
        </p:blipFill>
        <p:spPr>
          <a:xfrm>
            <a:off x="7055849" y="2207181"/>
            <a:ext cx="4464639" cy="3748449"/>
          </a:xfrm>
          <a:prstGeom prst="rect">
            <a:avLst/>
          </a:prstGeom>
          <a:ln>
            <a:solidFill>
              <a:schemeClr val="tx1"/>
            </a:solidFill>
          </a:ln>
        </p:spPr>
      </p:pic>
      <p:graphicFrame>
        <p:nvGraphicFramePr>
          <p:cNvPr id="6" name="物件 5">
            <a:extLst>
              <a:ext uri="{FF2B5EF4-FFF2-40B4-BE49-F238E27FC236}">
                <a16:creationId xmlns:a16="http://schemas.microsoft.com/office/drawing/2014/main" id="{B584495A-23FC-DF3C-8849-6DA5A95DBEF8}"/>
              </a:ext>
            </a:extLst>
          </p:cNvPr>
          <p:cNvGraphicFramePr>
            <a:graphicFrameLocks noChangeAspect="1"/>
          </p:cNvGraphicFramePr>
          <p:nvPr>
            <p:extLst>
              <p:ext uri="{D42A27DB-BD31-4B8C-83A1-F6EECF244321}">
                <p14:modId xmlns:p14="http://schemas.microsoft.com/office/powerpoint/2010/main" val="4133740783"/>
              </p:ext>
            </p:extLst>
          </p:nvPr>
        </p:nvGraphicFramePr>
        <p:xfrm>
          <a:off x="586898" y="4519837"/>
          <a:ext cx="914400" cy="769938"/>
        </p:xfrm>
        <a:graphic>
          <a:graphicData uri="http://schemas.openxmlformats.org/presentationml/2006/ole">
            <mc:AlternateContent xmlns:mc="http://schemas.openxmlformats.org/markup-compatibility/2006">
              <mc:Choice xmlns:v="urn:schemas-microsoft-com:vml" Requires="v">
                <p:oleObj name="Worksheet" showAsIcon="1" r:id="rId5" imgW="914400" imgH="769680" progId="Excel.Sheet.12">
                  <p:embed/>
                </p:oleObj>
              </mc:Choice>
              <mc:Fallback>
                <p:oleObj name="Worksheet" showAsIcon="1" r:id="rId5" imgW="914400" imgH="769680" progId="Excel.Sheet.12">
                  <p:embed/>
                  <p:pic>
                    <p:nvPicPr>
                      <p:cNvPr id="0" name=""/>
                      <p:cNvPicPr/>
                      <p:nvPr/>
                    </p:nvPicPr>
                    <p:blipFill>
                      <a:blip r:embed="rId6"/>
                      <a:stretch>
                        <a:fillRect/>
                      </a:stretch>
                    </p:blipFill>
                    <p:spPr>
                      <a:xfrm>
                        <a:off x="586898" y="4519837"/>
                        <a:ext cx="914400" cy="769938"/>
                      </a:xfrm>
                      <a:prstGeom prst="rect">
                        <a:avLst/>
                      </a:prstGeom>
                    </p:spPr>
                  </p:pic>
                </p:oleObj>
              </mc:Fallback>
            </mc:AlternateContent>
          </a:graphicData>
        </a:graphic>
      </p:graphicFrame>
    </p:spTree>
    <p:extLst>
      <p:ext uri="{BB962C8B-B14F-4D97-AF65-F5344CB8AC3E}">
        <p14:creationId xmlns:p14="http://schemas.microsoft.com/office/powerpoint/2010/main" val="27022929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2139B53-0282-489A-A5E8-7C9843D087B6}"/>
              </a:ext>
            </a:extLst>
          </p:cNvPr>
          <p:cNvSpPr>
            <a:spLocks noGrp="1"/>
          </p:cNvSpPr>
          <p:nvPr>
            <p:ph type="title"/>
          </p:nvPr>
        </p:nvSpPr>
        <p:spPr/>
        <p:txBody>
          <a:bodyPr/>
          <a:lstStyle/>
          <a:p>
            <a:r>
              <a:rPr lang="zh-TW" altLang="en-US" sz="3200" b="1" dirty="0">
                <a:latin typeface="微軟正黑體" panose="020B0604030504040204" pitchFamily="34" charset="-120"/>
                <a:ea typeface="微軟正黑體" panose="020B0604030504040204" pitchFamily="34" charset="-120"/>
              </a:rPr>
              <a:t>系統隱形成本揭露</a:t>
            </a:r>
            <a:endParaRPr lang="zh-TW" altLang="en-US" b="1" dirty="0"/>
          </a:p>
        </p:txBody>
      </p:sp>
      <p:graphicFrame>
        <p:nvGraphicFramePr>
          <p:cNvPr id="4" name="表格 3">
            <a:extLst>
              <a:ext uri="{FF2B5EF4-FFF2-40B4-BE49-F238E27FC236}">
                <a16:creationId xmlns:a16="http://schemas.microsoft.com/office/drawing/2014/main" id="{CC582CFB-47E4-5608-2F42-E36576A71A88}"/>
              </a:ext>
            </a:extLst>
          </p:cNvPr>
          <p:cNvGraphicFramePr>
            <a:graphicFrameLocks noGrp="1"/>
          </p:cNvGraphicFramePr>
          <p:nvPr>
            <p:extLst>
              <p:ext uri="{D42A27DB-BD31-4B8C-83A1-F6EECF244321}">
                <p14:modId xmlns:p14="http://schemas.microsoft.com/office/powerpoint/2010/main" val="3286739868"/>
              </p:ext>
            </p:extLst>
          </p:nvPr>
        </p:nvGraphicFramePr>
        <p:xfrm>
          <a:off x="1741781" y="1627816"/>
          <a:ext cx="8036926" cy="4051855"/>
        </p:xfrm>
        <a:graphic>
          <a:graphicData uri="http://schemas.openxmlformats.org/drawingml/2006/table">
            <a:tbl>
              <a:tblPr firstRow="1" bandRow="1">
                <a:tableStyleId>{5C22544A-7EE6-4342-B048-85BDC9FD1C3A}</a:tableStyleId>
              </a:tblPr>
              <a:tblGrid>
                <a:gridCol w="1098765">
                  <a:extLst>
                    <a:ext uri="{9D8B030D-6E8A-4147-A177-3AD203B41FA5}">
                      <a16:colId xmlns:a16="http://schemas.microsoft.com/office/drawing/2014/main" val="3424903512"/>
                    </a:ext>
                  </a:extLst>
                </a:gridCol>
                <a:gridCol w="3722079">
                  <a:extLst>
                    <a:ext uri="{9D8B030D-6E8A-4147-A177-3AD203B41FA5}">
                      <a16:colId xmlns:a16="http://schemas.microsoft.com/office/drawing/2014/main" val="1956526871"/>
                    </a:ext>
                  </a:extLst>
                </a:gridCol>
                <a:gridCol w="1123485">
                  <a:extLst>
                    <a:ext uri="{9D8B030D-6E8A-4147-A177-3AD203B41FA5}">
                      <a16:colId xmlns:a16="http://schemas.microsoft.com/office/drawing/2014/main" val="998222031"/>
                    </a:ext>
                  </a:extLst>
                </a:gridCol>
                <a:gridCol w="921907">
                  <a:extLst>
                    <a:ext uri="{9D8B030D-6E8A-4147-A177-3AD203B41FA5}">
                      <a16:colId xmlns:a16="http://schemas.microsoft.com/office/drawing/2014/main" val="2167803055"/>
                    </a:ext>
                  </a:extLst>
                </a:gridCol>
                <a:gridCol w="1170690">
                  <a:extLst>
                    <a:ext uri="{9D8B030D-6E8A-4147-A177-3AD203B41FA5}">
                      <a16:colId xmlns:a16="http://schemas.microsoft.com/office/drawing/2014/main" val="1372042385"/>
                    </a:ext>
                  </a:extLst>
                </a:gridCol>
              </a:tblGrid>
              <a:tr h="519492">
                <a:tc>
                  <a:txBody>
                    <a:bodyPr/>
                    <a:lstStyle/>
                    <a:p>
                      <a:pPr algn="ctr"/>
                      <a:r>
                        <a:rPr lang="zh-TW" altLang="en-US" sz="1300" dirty="0">
                          <a:solidFill>
                            <a:schemeClr val="tx1"/>
                          </a:solidFill>
                          <a:latin typeface="微軟正黑體" panose="020B0604030504040204" pitchFamily="34" charset="-120"/>
                          <a:ea typeface="微軟正黑體" panose="020B0604030504040204" pitchFamily="34" charset="-120"/>
                        </a:rPr>
                        <a:t>大項</a:t>
                      </a: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pPr algn="ctr"/>
                      <a:r>
                        <a:rPr lang="zh-TW" altLang="en-US" sz="1300" dirty="0">
                          <a:solidFill>
                            <a:schemeClr val="tx1"/>
                          </a:solidFill>
                          <a:latin typeface="微軟正黑體" panose="020B0604030504040204" pitchFamily="34" charset="-120"/>
                          <a:ea typeface="微軟正黑體" panose="020B0604030504040204" pitchFamily="34" charset="-120"/>
                        </a:rPr>
                        <a:t>品項</a:t>
                      </a:r>
                      <a:r>
                        <a:rPr lang="en-US" altLang="zh-TW" sz="1300" dirty="0">
                          <a:solidFill>
                            <a:schemeClr val="tx1"/>
                          </a:solidFill>
                          <a:latin typeface="微軟正黑體" panose="020B0604030504040204" pitchFamily="34" charset="-120"/>
                          <a:ea typeface="微軟正黑體" panose="020B0604030504040204" pitchFamily="34" charset="-120"/>
                        </a:rPr>
                        <a:t>/</a:t>
                      </a:r>
                      <a:r>
                        <a:rPr lang="zh-TW" altLang="en-US" sz="1300" dirty="0">
                          <a:solidFill>
                            <a:schemeClr val="tx1"/>
                          </a:solidFill>
                          <a:latin typeface="微軟正黑體" panose="020B0604030504040204" pitchFamily="34" charset="-120"/>
                          <a:ea typeface="微軟正黑體" panose="020B0604030504040204" pitchFamily="34" charset="-120"/>
                        </a:rPr>
                        <a:t>單位</a:t>
                      </a: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pPr algn="ctr"/>
                      <a:r>
                        <a:rPr lang="zh-TW" altLang="en-US" sz="1300" dirty="0">
                          <a:solidFill>
                            <a:schemeClr val="tx1"/>
                          </a:solidFill>
                          <a:latin typeface="微軟正黑體" panose="020B0604030504040204" pitchFamily="34" charset="-120"/>
                          <a:ea typeface="微軟正黑體" panose="020B0604030504040204" pitchFamily="34" charset="-120"/>
                        </a:rPr>
                        <a:t>單價</a:t>
                      </a:r>
                      <a:endParaRPr lang="en-US" altLang="zh-TW" sz="1300" dirty="0">
                        <a:solidFill>
                          <a:schemeClr val="tx1"/>
                        </a:solidFill>
                        <a:latin typeface="微軟正黑體" panose="020B0604030504040204" pitchFamily="34" charset="-120"/>
                        <a:ea typeface="微軟正黑體" panose="020B0604030504040204" pitchFamily="34" charset="-120"/>
                      </a:endParaRPr>
                    </a:p>
                    <a:p>
                      <a:pPr algn="ctr"/>
                      <a:r>
                        <a:rPr lang="en-US" altLang="zh-TW" sz="1300" dirty="0">
                          <a:solidFill>
                            <a:schemeClr val="tx1"/>
                          </a:solidFill>
                          <a:latin typeface="微軟正黑體" panose="020B0604030504040204" pitchFamily="34" charset="-120"/>
                          <a:ea typeface="微軟正黑體" panose="020B0604030504040204" pitchFamily="34" charset="-120"/>
                        </a:rPr>
                        <a:t>(</a:t>
                      </a:r>
                      <a:r>
                        <a:rPr lang="zh-TW" altLang="en-US" sz="1300" dirty="0">
                          <a:solidFill>
                            <a:schemeClr val="tx1"/>
                          </a:solidFill>
                          <a:latin typeface="微軟正黑體" panose="020B0604030504040204" pitchFamily="34" charset="-120"/>
                          <a:ea typeface="微軟正黑體" panose="020B0604030504040204" pitchFamily="34" charset="-120"/>
                        </a:rPr>
                        <a:t>新台幣萬元</a:t>
                      </a:r>
                      <a:r>
                        <a:rPr lang="en-US" altLang="zh-TW" sz="1300" dirty="0">
                          <a:solidFill>
                            <a:schemeClr val="tx1"/>
                          </a:solidFill>
                          <a:latin typeface="微軟正黑體" panose="020B0604030504040204" pitchFamily="34" charset="-120"/>
                          <a:ea typeface="微軟正黑體" panose="020B0604030504040204" pitchFamily="34" charset="-120"/>
                        </a:rPr>
                        <a:t>)</a:t>
                      </a:r>
                      <a:endParaRPr lang="zh-TW" altLang="en-US" sz="1300" dirty="0">
                        <a:solidFill>
                          <a:schemeClr val="tx1"/>
                        </a:solidFill>
                        <a:latin typeface="微軟正黑體" panose="020B0604030504040204" pitchFamily="34" charset="-120"/>
                        <a:ea typeface="微軟正黑體" panose="020B0604030504040204" pitchFamily="34" charset="-12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pPr algn="ctr"/>
                      <a:r>
                        <a:rPr lang="zh-TW" altLang="en-US" sz="1300" dirty="0">
                          <a:solidFill>
                            <a:schemeClr val="tx1"/>
                          </a:solidFill>
                          <a:latin typeface="微軟正黑體" panose="020B0604030504040204" pitchFamily="34" charset="-120"/>
                          <a:ea typeface="微軟正黑體" panose="020B0604030504040204" pitchFamily="34" charset="-120"/>
                        </a:rPr>
                        <a:t>申請</a:t>
                      </a:r>
                      <a:endParaRPr lang="en-US" altLang="zh-TW" sz="1300" dirty="0">
                        <a:solidFill>
                          <a:schemeClr val="tx1"/>
                        </a:solidFill>
                        <a:latin typeface="微軟正黑體" panose="020B0604030504040204" pitchFamily="34" charset="-120"/>
                        <a:ea typeface="微軟正黑體" panose="020B0604030504040204" pitchFamily="34" charset="-120"/>
                      </a:endParaRPr>
                    </a:p>
                    <a:p>
                      <a:pPr algn="ctr"/>
                      <a:r>
                        <a:rPr lang="zh-TW" altLang="en-US" sz="1300" dirty="0">
                          <a:solidFill>
                            <a:schemeClr val="tx1"/>
                          </a:solidFill>
                          <a:latin typeface="微軟正黑體" panose="020B0604030504040204" pitchFamily="34" charset="-120"/>
                          <a:ea typeface="微軟正黑體" panose="020B0604030504040204" pitchFamily="34" charset="-120"/>
                        </a:rPr>
                        <a:t>單位數</a:t>
                      </a: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pPr algn="ctr"/>
                      <a:r>
                        <a:rPr lang="zh-TW" altLang="en-US" sz="1300" dirty="0">
                          <a:solidFill>
                            <a:schemeClr val="tx1"/>
                          </a:solidFill>
                          <a:latin typeface="微軟正黑體" panose="020B0604030504040204" pitchFamily="34" charset="-120"/>
                          <a:ea typeface="微軟正黑體" panose="020B0604030504040204" pitchFamily="34" charset="-120"/>
                        </a:rPr>
                        <a:t>金額</a:t>
                      </a:r>
                      <a:endParaRPr lang="en-US" altLang="zh-TW" sz="1300" dirty="0">
                        <a:solidFill>
                          <a:schemeClr val="tx1"/>
                        </a:solidFill>
                        <a:latin typeface="微軟正黑體" panose="020B0604030504040204" pitchFamily="34" charset="-120"/>
                        <a:ea typeface="微軟正黑體" panose="020B0604030504040204" pitchFamily="34" charset="-120"/>
                      </a:endParaRPr>
                    </a:p>
                    <a:p>
                      <a:pPr algn="ctr"/>
                      <a:r>
                        <a:rPr lang="en-US" altLang="zh-TW" sz="1300" dirty="0">
                          <a:solidFill>
                            <a:schemeClr val="tx1"/>
                          </a:solidFill>
                          <a:latin typeface="微軟正黑體" panose="020B0604030504040204" pitchFamily="34" charset="-120"/>
                          <a:ea typeface="微軟正黑體" panose="020B0604030504040204" pitchFamily="34" charset="-120"/>
                        </a:rPr>
                        <a:t>(</a:t>
                      </a:r>
                      <a:r>
                        <a:rPr lang="zh-TW" altLang="en-US" sz="1300" dirty="0">
                          <a:solidFill>
                            <a:schemeClr val="tx1"/>
                          </a:solidFill>
                          <a:latin typeface="微軟正黑體" panose="020B0604030504040204" pitchFamily="34" charset="-120"/>
                          <a:ea typeface="微軟正黑體" panose="020B0604030504040204" pitchFamily="34" charset="-120"/>
                        </a:rPr>
                        <a:t>新台幣萬元</a:t>
                      </a:r>
                      <a:r>
                        <a:rPr lang="en-US" altLang="zh-TW" sz="1300" dirty="0">
                          <a:solidFill>
                            <a:schemeClr val="tx1"/>
                          </a:solidFill>
                          <a:latin typeface="微軟正黑體" panose="020B0604030504040204" pitchFamily="34" charset="-120"/>
                          <a:ea typeface="微軟正黑體" panose="020B0604030504040204" pitchFamily="34" charset="-120"/>
                        </a:rPr>
                        <a:t>)</a:t>
                      </a:r>
                      <a:endParaRPr lang="zh-TW" altLang="en-US" sz="1300" dirty="0">
                        <a:solidFill>
                          <a:schemeClr val="tx1"/>
                        </a:solidFill>
                        <a:latin typeface="微軟正黑體" panose="020B0604030504040204" pitchFamily="34" charset="-120"/>
                        <a:ea typeface="微軟正黑體" panose="020B0604030504040204" pitchFamily="34" charset="-12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3400936685"/>
                  </a:ext>
                </a:extLst>
              </a:tr>
              <a:tr h="487281">
                <a:tc>
                  <a:txBody>
                    <a:bodyPr/>
                    <a:lstStyle/>
                    <a:p>
                      <a:pPr algn="ctr"/>
                      <a:r>
                        <a:rPr lang="en-US" altLang="zh-TW" sz="1300" dirty="0">
                          <a:solidFill>
                            <a:schemeClr val="tx1"/>
                          </a:solidFill>
                          <a:latin typeface="微軟正黑體" panose="020B0604030504040204" pitchFamily="34" charset="-120"/>
                          <a:ea typeface="微軟正黑體" panose="020B0604030504040204" pitchFamily="34" charset="-120"/>
                        </a:rPr>
                        <a:t>1.</a:t>
                      </a:r>
                      <a:r>
                        <a:rPr lang="zh-TW" altLang="en-US" sz="1300" dirty="0">
                          <a:solidFill>
                            <a:schemeClr val="tx1"/>
                          </a:solidFill>
                          <a:latin typeface="微軟正黑體" panose="020B0604030504040204" pitchFamily="34" charset="-120"/>
                          <a:ea typeface="微軟正黑體" panose="020B0604030504040204" pitchFamily="34" charset="-120"/>
                        </a:rPr>
                        <a:t>虛擬主機</a:t>
                      </a: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300" dirty="0">
                          <a:solidFill>
                            <a:schemeClr val="tx1"/>
                          </a:solidFill>
                          <a:latin typeface="微軟正黑體" panose="020B0604030504040204" pitchFamily="34" charset="-120"/>
                          <a:ea typeface="微軟正黑體" panose="020B0604030504040204" pitchFamily="34" charset="-120"/>
                        </a:rPr>
                        <a:t>VM 2core/4G</a:t>
                      </a:r>
                      <a:r>
                        <a:rPr lang="zh-TW" altLang="en-US" sz="1300" dirty="0">
                          <a:solidFill>
                            <a:schemeClr val="tx1"/>
                          </a:solidFill>
                          <a:latin typeface="微軟正黑體" panose="020B0604030504040204" pitchFamily="34" charset="-120"/>
                          <a:ea typeface="微軟正黑體" panose="020B0604030504040204" pitchFamily="34" charset="-120"/>
                        </a:rPr>
                        <a:t> </a:t>
                      </a:r>
                      <a:r>
                        <a:rPr lang="en-US" altLang="zh-TW" sz="1300" dirty="0">
                          <a:solidFill>
                            <a:schemeClr val="tx1"/>
                          </a:solidFill>
                          <a:latin typeface="微軟正黑體" panose="020B0604030504040204" pitchFamily="34" charset="-120"/>
                          <a:ea typeface="微軟正黑體" panose="020B0604030504040204" pitchFamily="34" charset="-120"/>
                        </a:rPr>
                        <a:t>(</a:t>
                      </a:r>
                      <a:r>
                        <a:rPr lang="zh-TW" altLang="en-US" sz="1300" dirty="0">
                          <a:solidFill>
                            <a:schemeClr val="tx1"/>
                          </a:solidFill>
                          <a:latin typeface="微軟正黑體" panose="020B0604030504040204" pitchFamily="34" charset="-120"/>
                          <a:ea typeface="微軟正黑體" panose="020B0604030504040204" pitchFamily="34" charset="-120"/>
                        </a:rPr>
                        <a:t>依</a:t>
                      </a:r>
                      <a:r>
                        <a:rPr lang="en-US" altLang="zh-TW" sz="1300" dirty="0">
                          <a:solidFill>
                            <a:schemeClr val="tx1"/>
                          </a:solidFill>
                          <a:latin typeface="微軟正黑體" panose="020B0604030504040204" pitchFamily="34" charset="-120"/>
                          <a:ea typeface="微軟正黑體" panose="020B0604030504040204" pitchFamily="34" charset="-120"/>
                        </a:rPr>
                        <a:t>CPU</a:t>
                      </a:r>
                      <a:r>
                        <a:rPr lang="zh-TW" altLang="en-US" sz="1300" dirty="0">
                          <a:solidFill>
                            <a:schemeClr val="tx1"/>
                          </a:solidFill>
                          <a:latin typeface="微軟正黑體" panose="020B0604030504040204" pitchFamily="34" charset="-120"/>
                          <a:ea typeface="微軟正黑體" panose="020B0604030504040204" pitchFamily="34" charset="-120"/>
                        </a:rPr>
                        <a:t>或</a:t>
                      </a:r>
                      <a:r>
                        <a:rPr lang="en-US" altLang="zh-TW" sz="1300" dirty="0">
                          <a:solidFill>
                            <a:schemeClr val="tx1"/>
                          </a:solidFill>
                          <a:latin typeface="微軟正黑體" panose="020B0604030504040204" pitchFamily="34" charset="-120"/>
                          <a:ea typeface="微軟正黑體" panose="020B0604030504040204" pitchFamily="34" charset="-120"/>
                        </a:rPr>
                        <a:t>RAM</a:t>
                      </a:r>
                      <a:r>
                        <a:rPr lang="zh-TW" altLang="en-US" sz="1300" dirty="0">
                          <a:solidFill>
                            <a:schemeClr val="tx1"/>
                          </a:solidFill>
                          <a:latin typeface="微軟正黑體" panose="020B0604030504040204" pitchFamily="34" charset="-120"/>
                          <a:ea typeface="微軟正黑體" panose="020B0604030504040204" pitchFamily="34" charset="-120"/>
                        </a:rPr>
                        <a:t>之倍數取大者類推</a:t>
                      </a:r>
                      <a:r>
                        <a:rPr lang="en-US" altLang="zh-TW" sz="1300" dirty="0">
                          <a:solidFill>
                            <a:schemeClr val="tx1"/>
                          </a:solidFill>
                          <a:latin typeface="微軟正黑體" panose="020B0604030504040204" pitchFamily="34" charset="-120"/>
                          <a:ea typeface="微軟正黑體" panose="020B0604030504040204" pitchFamily="34" charset="-120"/>
                        </a:rPr>
                        <a:t>)</a:t>
                      </a:r>
                      <a:endParaRPr lang="zh-TW" altLang="en-US" sz="1300" dirty="0">
                        <a:solidFill>
                          <a:schemeClr val="tx1"/>
                        </a:solidFill>
                        <a:latin typeface="微軟正黑體" panose="020B0604030504040204" pitchFamily="34" charset="-120"/>
                        <a:ea typeface="微軟正黑體" panose="020B0604030504040204" pitchFamily="34" charset="-12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300" dirty="0">
                          <a:solidFill>
                            <a:schemeClr val="tx1"/>
                          </a:solidFill>
                          <a:latin typeface="微軟正黑體" panose="020B0604030504040204" pitchFamily="34" charset="-120"/>
                          <a:ea typeface="微軟正黑體" panose="020B0604030504040204" pitchFamily="34" charset="-120"/>
                        </a:rPr>
                        <a:t>3.5</a:t>
                      </a:r>
                      <a:endParaRPr lang="zh-TW" altLang="en-US" sz="1300" dirty="0">
                        <a:solidFill>
                          <a:schemeClr val="tx1"/>
                        </a:solidFill>
                        <a:latin typeface="微軟正黑體" panose="020B0604030504040204" pitchFamily="34" charset="-120"/>
                        <a:ea typeface="微軟正黑體" panose="020B0604030504040204" pitchFamily="34" charset="-12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300" dirty="0">
                          <a:solidFill>
                            <a:schemeClr val="tx1"/>
                          </a:solidFill>
                          <a:latin typeface="微軟正黑體" panose="020B0604030504040204" pitchFamily="34" charset="-120"/>
                          <a:ea typeface="微軟正黑體" panose="020B0604030504040204" pitchFamily="34" charset="-120"/>
                        </a:rPr>
                        <a:t>2</a:t>
                      </a:r>
                      <a:endParaRPr lang="zh-TW" altLang="en-US" sz="1300" dirty="0">
                        <a:solidFill>
                          <a:schemeClr val="tx1"/>
                        </a:solidFill>
                        <a:latin typeface="微軟正黑體" panose="020B0604030504040204" pitchFamily="34" charset="-120"/>
                        <a:ea typeface="微軟正黑體" panose="020B0604030504040204" pitchFamily="34" charset="-12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algn="ctr"/>
                      <a:r>
                        <a:rPr lang="en-US" altLang="zh-TW" sz="1300" dirty="0">
                          <a:solidFill>
                            <a:schemeClr val="tx1"/>
                          </a:solidFill>
                          <a:latin typeface="微軟正黑體" panose="020B0604030504040204" pitchFamily="34" charset="-120"/>
                          <a:ea typeface="微軟正黑體" panose="020B0604030504040204" pitchFamily="34" charset="-120"/>
                        </a:rPr>
                        <a:t>7</a:t>
                      </a:r>
                      <a:endParaRPr lang="zh-TW" altLang="en-US" sz="1300" dirty="0">
                        <a:solidFill>
                          <a:schemeClr val="tx1"/>
                        </a:solidFill>
                        <a:latin typeface="微軟正黑體" panose="020B0604030504040204" pitchFamily="34" charset="-120"/>
                        <a:ea typeface="微軟正黑體" panose="020B0604030504040204" pitchFamily="34" charset="-12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extLst>
                  <a:ext uri="{0D108BD9-81ED-4DB2-BD59-A6C34878D82A}">
                    <a16:rowId xmlns:a16="http://schemas.microsoft.com/office/drawing/2014/main" val="3768789830"/>
                  </a:ext>
                </a:extLst>
              </a:tr>
              <a:tr h="371793">
                <a:tc rowSpan="3">
                  <a:txBody>
                    <a:bodyPr/>
                    <a:lstStyle/>
                    <a:p>
                      <a:pPr algn="ctr"/>
                      <a:r>
                        <a:rPr lang="en-US" altLang="zh-TW" sz="1300" dirty="0">
                          <a:solidFill>
                            <a:schemeClr val="tx1"/>
                          </a:solidFill>
                          <a:latin typeface="微軟正黑體" panose="020B0604030504040204" pitchFamily="34" charset="-120"/>
                          <a:ea typeface="微軟正黑體" panose="020B0604030504040204" pitchFamily="34" charset="-120"/>
                        </a:rPr>
                        <a:t>2.</a:t>
                      </a:r>
                      <a:r>
                        <a:rPr lang="zh-TW" altLang="en-US" sz="1300" dirty="0">
                          <a:solidFill>
                            <a:schemeClr val="tx1"/>
                          </a:solidFill>
                          <a:latin typeface="微軟正黑體" panose="020B0604030504040204" pitchFamily="34" charset="-120"/>
                          <a:ea typeface="微軟正黑體" panose="020B0604030504040204" pitchFamily="34" charset="-120"/>
                        </a:rPr>
                        <a:t>作業系統</a:t>
                      </a: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300" b="0" dirty="0">
                          <a:solidFill>
                            <a:schemeClr val="tx1"/>
                          </a:solidFill>
                          <a:effectLst/>
                          <a:latin typeface="微軟正黑體" panose="020B0604030504040204" pitchFamily="34" charset="-120"/>
                          <a:ea typeface="微軟正黑體" panose="020B0604030504040204" pitchFamily="34" charset="-120"/>
                        </a:rPr>
                        <a:t>Windows</a:t>
                      </a:r>
                      <a:r>
                        <a:rPr lang="zh-TW" altLang="en-US" sz="1300" b="0" dirty="0">
                          <a:solidFill>
                            <a:schemeClr val="tx1"/>
                          </a:solidFill>
                          <a:effectLst/>
                          <a:latin typeface="微軟正黑體" panose="020B0604030504040204" pitchFamily="34" charset="-120"/>
                          <a:ea typeface="微軟正黑體" panose="020B0604030504040204" pitchFamily="34" charset="-120"/>
                        </a:rPr>
                        <a:t> </a:t>
                      </a:r>
                      <a:r>
                        <a:rPr lang="en-US" altLang="zh-TW" sz="1300" b="0" dirty="0">
                          <a:solidFill>
                            <a:schemeClr val="tx1"/>
                          </a:solidFill>
                          <a:effectLst/>
                          <a:latin typeface="微軟正黑體" panose="020B0604030504040204" pitchFamily="34" charset="-120"/>
                          <a:ea typeface="微軟正黑體" panose="020B0604030504040204" pitchFamily="34" charset="-120"/>
                        </a:rPr>
                        <a:t>VM</a:t>
                      </a:r>
                      <a:r>
                        <a:rPr lang="zh-TW" altLang="en-US" sz="1300" b="0" dirty="0">
                          <a:solidFill>
                            <a:schemeClr val="tx1"/>
                          </a:solidFill>
                          <a:effectLst/>
                          <a:latin typeface="微軟正黑體" panose="020B0604030504040204" pitchFamily="34" charset="-120"/>
                          <a:ea typeface="微軟正黑體" panose="020B0604030504040204" pitchFamily="34" charset="-120"/>
                        </a:rPr>
                        <a:t> </a:t>
                      </a:r>
                      <a:r>
                        <a:rPr lang="en-US" altLang="zh-TW" sz="1300" b="0" dirty="0">
                          <a:solidFill>
                            <a:schemeClr val="tx1"/>
                          </a:solidFill>
                          <a:effectLst/>
                          <a:latin typeface="微軟正黑體" panose="020B0604030504040204" pitchFamily="34" charset="-120"/>
                          <a:ea typeface="微軟正黑體" panose="020B0604030504040204" pitchFamily="34" charset="-120"/>
                        </a:rPr>
                        <a:t>OS</a:t>
                      </a:r>
                      <a:r>
                        <a:rPr lang="zh-TW" altLang="en-US" sz="1300" b="0" dirty="0">
                          <a:solidFill>
                            <a:schemeClr val="tx1"/>
                          </a:solidFill>
                          <a:effectLst/>
                          <a:latin typeface="微軟正黑體" panose="020B0604030504040204" pitchFamily="34" charset="-120"/>
                          <a:ea typeface="微軟正黑體" panose="020B0604030504040204" pitchFamily="34" charset="-120"/>
                        </a:rPr>
                        <a:t> </a:t>
                      </a:r>
                      <a:r>
                        <a:rPr lang="en-US" altLang="zh-TW" sz="1300" b="0" dirty="0">
                          <a:solidFill>
                            <a:schemeClr val="tx1"/>
                          </a:solidFill>
                          <a:effectLst/>
                          <a:latin typeface="微軟正黑體" panose="020B0604030504040204" pitchFamily="34" charset="-120"/>
                          <a:ea typeface="微軟正黑體" panose="020B0604030504040204" pitchFamily="34" charset="-120"/>
                        </a:rPr>
                        <a:t>License/</a:t>
                      </a:r>
                      <a:r>
                        <a:rPr lang="zh-TW" altLang="en-US" sz="1300" b="0" dirty="0">
                          <a:solidFill>
                            <a:schemeClr val="tx1"/>
                          </a:solidFill>
                          <a:effectLst/>
                          <a:latin typeface="微軟正黑體" panose="020B0604030504040204" pitchFamily="34" charset="-120"/>
                          <a:ea typeface="微軟正黑體" panose="020B0604030504040204" pitchFamily="34" charset="-120"/>
                        </a:rPr>
                        <a:t>套</a:t>
                      </a:r>
                      <a:endParaRPr lang="zh-TW" alt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300" b="0" kern="100" dirty="0">
                          <a:solidFill>
                            <a:schemeClr val="tx1"/>
                          </a:solidFill>
                          <a:effectLst/>
                          <a:latin typeface="微軟正黑體" panose="020B0604030504040204" pitchFamily="34" charset="-120"/>
                          <a:ea typeface="微軟正黑體" panose="020B0604030504040204" pitchFamily="34" charset="-120"/>
                        </a:rPr>
                        <a:t>3.2</a:t>
                      </a:r>
                      <a:endParaRPr 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1</a:t>
                      </a:r>
                      <a:endParaRPr 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algn="ctr"/>
                      <a:r>
                        <a:rPr lang="en-US" alt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3.2</a:t>
                      </a:r>
                      <a:endParaRPr 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extLst>
                  <a:ext uri="{0D108BD9-81ED-4DB2-BD59-A6C34878D82A}">
                    <a16:rowId xmlns:a16="http://schemas.microsoft.com/office/drawing/2014/main" val="1646665172"/>
                  </a:ext>
                </a:extLst>
              </a:tr>
              <a:tr h="371793">
                <a:tc vMerge="1">
                  <a:txBody>
                    <a:bodyPr/>
                    <a:lstStyle/>
                    <a:p>
                      <a:pPr algn="ctr"/>
                      <a:endParaRPr lang="zh-TW" altLang="en-US" sz="2000" dirty="0">
                        <a:solidFill>
                          <a:schemeClr val="tx1"/>
                        </a:solidFill>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RedHat VM OS</a:t>
                      </a:r>
                      <a:r>
                        <a:rPr lang="zh-TW" altLang="en-US" sz="1300" b="0" dirty="0">
                          <a:solidFill>
                            <a:schemeClr val="tx1"/>
                          </a:solidFill>
                          <a:effectLst/>
                          <a:latin typeface="微軟正黑體" panose="020B0604030504040204" pitchFamily="34" charset="-120"/>
                          <a:ea typeface="微軟正黑體" panose="020B0604030504040204" pitchFamily="34" charset="-120"/>
                        </a:rPr>
                        <a:t> </a:t>
                      </a:r>
                      <a:r>
                        <a:rPr lang="en-US" altLang="zh-TW" sz="1300" b="0" dirty="0">
                          <a:solidFill>
                            <a:schemeClr val="tx1"/>
                          </a:solidFill>
                          <a:effectLst/>
                          <a:latin typeface="微軟正黑體" panose="020B0604030504040204" pitchFamily="34" charset="-120"/>
                          <a:ea typeface="微軟正黑體" panose="020B0604030504040204" pitchFamily="34" charset="-120"/>
                        </a:rPr>
                        <a:t>License </a:t>
                      </a:r>
                      <a:r>
                        <a:rPr lang="en-US" alt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Premium/</a:t>
                      </a:r>
                      <a:r>
                        <a:rPr lang="zh-TW" altLang="en-US" sz="1300" b="0" dirty="0">
                          <a:solidFill>
                            <a:schemeClr val="tx1"/>
                          </a:solidFill>
                          <a:effectLst/>
                          <a:latin typeface="微軟正黑體" panose="020B0604030504040204" pitchFamily="34" charset="-120"/>
                          <a:ea typeface="微軟正黑體" panose="020B0604030504040204" pitchFamily="34" charset="-120"/>
                        </a:rPr>
                        <a:t>套</a:t>
                      </a:r>
                      <a:endParaRPr 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4</a:t>
                      </a:r>
                      <a:endParaRPr 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0</a:t>
                      </a:r>
                      <a:endParaRPr 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algn="ctr"/>
                      <a:endParaRPr 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extLst>
                  <a:ext uri="{0D108BD9-81ED-4DB2-BD59-A6C34878D82A}">
                    <a16:rowId xmlns:a16="http://schemas.microsoft.com/office/drawing/2014/main" val="4062185961"/>
                  </a:ext>
                </a:extLst>
              </a:tr>
              <a:tr h="371793">
                <a:tc vMerge="1">
                  <a:txBody>
                    <a:bodyPr/>
                    <a:lstStyle/>
                    <a:p>
                      <a:pPr algn="ctr"/>
                      <a:endParaRPr lang="zh-TW" altLang="en-US" sz="2000" dirty="0">
                        <a:solidFill>
                          <a:schemeClr val="tx1"/>
                        </a:solidFill>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RedHat VM OS</a:t>
                      </a:r>
                      <a:r>
                        <a:rPr lang="zh-TW" altLang="en-US"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 </a:t>
                      </a:r>
                      <a:r>
                        <a:rPr lang="en-US" altLang="zh-TW" sz="1300" b="0" dirty="0">
                          <a:solidFill>
                            <a:schemeClr val="tx1"/>
                          </a:solidFill>
                          <a:effectLst/>
                          <a:latin typeface="微軟正黑體" panose="020B0604030504040204" pitchFamily="34" charset="-120"/>
                          <a:ea typeface="微軟正黑體" panose="020B0604030504040204" pitchFamily="34" charset="-120"/>
                        </a:rPr>
                        <a:t>License </a:t>
                      </a:r>
                      <a:r>
                        <a:rPr lang="en-US" alt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Std/</a:t>
                      </a:r>
                      <a:r>
                        <a:rPr lang="zh-TW" altLang="en-US" sz="1300" b="0" dirty="0">
                          <a:solidFill>
                            <a:schemeClr val="tx1"/>
                          </a:solidFill>
                          <a:effectLst/>
                          <a:latin typeface="微軟正黑體" panose="020B0604030504040204" pitchFamily="34" charset="-120"/>
                          <a:ea typeface="微軟正黑體" panose="020B0604030504040204" pitchFamily="34" charset="-120"/>
                        </a:rPr>
                        <a:t>套</a:t>
                      </a:r>
                      <a:endParaRPr 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3</a:t>
                      </a:r>
                      <a:endParaRPr 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0</a:t>
                      </a:r>
                      <a:endParaRPr 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algn="ctr"/>
                      <a:endParaRPr 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extLst>
                  <a:ext uri="{0D108BD9-81ED-4DB2-BD59-A6C34878D82A}">
                    <a16:rowId xmlns:a16="http://schemas.microsoft.com/office/drawing/2014/main" val="1707062184"/>
                  </a:ext>
                </a:extLst>
              </a:tr>
              <a:tr h="371793">
                <a:tc rowSpan="2">
                  <a:txBody>
                    <a:bodyPr/>
                    <a:lstStyle/>
                    <a:p>
                      <a:pPr algn="ctr"/>
                      <a:r>
                        <a:rPr lang="en-US" altLang="zh-TW" sz="1300" dirty="0">
                          <a:solidFill>
                            <a:schemeClr val="tx1"/>
                          </a:solidFill>
                          <a:latin typeface="微軟正黑體" panose="020B0604030504040204" pitchFamily="34" charset="-120"/>
                          <a:ea typeface="微軟正黑體" panose="020B0604030504040204" pitchFamily="34" charset="-120"/>
                        </a:rPr>
                        <a:t>3.</a:t>
                      </a:r>
                      <a:r>
                        <a:rPr lang="zh-TW" altLang="en-US" sz="1300" dirty="0">
                          <a:solidFill>
                            <a:schemeClr val="tx1"/>
                          </a:solidFill>
                          <a:latin typeface="微軟正黑體" panose="020B0604030504040204" pitchFamily="34" charset="-120"/>
                          <a:ea typeface="微軟正黑體" panose="020B0604030504040204" pitchFamily="34" charset="-120"/>
                        </a:rPr>
                        <a:t>儲存空間</a:t>
                      </a: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300" b="0" kern="100" dirty="0">
                          <a:solidFill>
                            <a:schemeClr val="tx1"/>
                          </a:solidFill>
                          <a:effectLst/>
                          <a:latin typeface="微軟正黑體" panose="020B0604030504040204" pitchFamily="34" charset="-120"/>
                          <a:ea typeface="微軟正黑體" panose="020B0604030504040204" pitchFamily="34" charset="-120"/>
                        </a:rPr>
                        <a:t>Unity SSD</a:t>
                      </a:r>
                      <a:r>
                        <a:rPr lang="zh-TW" altLang="zh-TW" sz="1300" b="0" kern="100" dirty="0">
                          <a:solidFill>
                            <a:schemeClr val="tx1"/>
                          </a:solidFill>
                          <a:effectLst/>
                          <a:latin typeface="微軟正黑體" panose="020B0604030504040204" pitchFamily="34" charset="-120"/>
                          <a:ea typeface="微軟正黑體" panose="020B0604030504040204" pitchFamily="34" charset="-120"/>
                        </a:rPr>
                        <a:t>快速磁碟</a:t>
                      </a:r>
                      <a:r>
                        <a:rPr lang="en-US" altLang="zh-TW" sz="1300" b="0" kern="100" dirty="0">
                          <a:solidFill>
                            <a:schemeClr val="tx1"/>
                          </a:solidFill>
                          <a:effectLst/>
                          <a:latin typeface="微軟正黑體" panose="020B0604030504040204" pitchFamily="34" charset="-120"/>
                          <a:ea typeface="微軟正黑體" panose="020B0604030504040204" pitchFamily="34" charset="-120"/>
                        </a:rPr>
                        <a:t> 1TB</a:t>
                      </a:r>
                      <a:endParaRPr lang="zh-TW" alt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300" dirty="0">
                          <a:solidFill>
                            <a:schemeClr val="tx1"/>
                          </a:solidFill>
                          <a:latin typeface="微軟正黑體" panose="020B0604030504040204" pitchFamily="34" charset="-120"/>
                          <a:ea typeface="微軟正黑體" panose="020B0604030504040204" pitchFamily="34" charset="-120"/>
                        </a:rPr>
                        <a:t>16</a:t>
                      </a:r>
                      <a:endParaRPr lang="zh-TW" altLang="en-US" sz="1300" dirty="0">
                        <a:solidFill>
                          <a:schemeClr val="tx1"/>
                        </a:solidFill>
                        <a:latin typeface="微軟正黑體" panose="020B0604030504040204" pitchFamily="34" charset="-120"/>
                        <a:ea typeface="微軟正黑體" panose="020B0604030504040204" pitchFamily="34" charset="-12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300" dirty="0">
                          <a:solidFill>
                            <a:schemeClr val="tx1"/>
                          </a:solidFill>
                          <a:latin typeface="微軟正黑體" panose="020B0604030504040204" pitchFamily="34" charset="-120"/>
                          <a:ea typeface="微軟正黑體" panose="020B0604030504040204" pitchFamily="34" charset="-120"/>
                        </a:rPr>
                        <a:t>0.35</a:t>
                      </a:r>
                      <a:endParaRPr lang="zh-TW" altLang="en-US" sz="1300" dirty="0">
                        <a:solidFill>
                          <a:schemeClr val="tx1"/>
                        </a:solidFill>
                        <a:latin typeface="微軟正黑體" panose="020B0604030504040204" pitchFamily="34" charset="-120"/>
                        <a:ea typeface="微軟正黑體" panose="020B0604030504040204" pitchFamily="34" charset="-12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300" dirty="0">
                          <a:solidFill>
                            <a:schemeClr val="tx1"/>
                          </a:solidFill>
                          <a:latin typeface="微軟正黑體" panose="020B0604030504040204" pitchFamily="34" charset="-120"/>
                          <a:ea typeface="微軟正黑體" panose="020B0604030504040204" pitchFamily="34" charset="-120"/>
                        </a:rPr>
                        <a:t>5.6</a:t>
                      </a:r>
                      <a:endParaRPr lang="zh-TW" altLang="en-US" sz="1300" dirty="0">
                        <a:solidFill>
                          <a:schemeClr val="tx1"/>
                        </a:solidFill>
                        <a:latin typeface="微軟正黑體" panose="020B0604030504040204" pitchFamily="34" charset="-120"/>
                        <a:ea typeface="微軟正黑體" panose="020B0604030504040204" pitchFamily="34" charset="-12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extLst>
                  <a:ext uri="{0D108BD9-81ED-4DB2-BD59-A6C34878D82A}">
                    <a16:rowId xmlns:a16="http://schemas.microsoft.com/office/drawing/2014/main" val="1831443901"/>
                  </a:ext>
                </a:extLst>
              </a:tr>
              <a:tr h="371793">
                <a:tc vMerge="1">
                  <a:txBody>
                    <a:bodyPr/>
                    <a:lstStyle/>
                    <a:p>
                      <a:pPr algn="ctr"/>
                      <a:endParaRPr lang="zh-TW" altLang="en-US" sz="2000" dirty="0">
                        <a:solidFill>
                          <a:schemeClr val="tx1"/>
                        </a:solidFill>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300" b="0" kern="100" dirty="0">
                          <a:solidFill>
                            <a:schemeClr val="tx1"/>
                          </a:solidFill>
                          <a:effectLst/>
                          <a:latin typeface="微軟正黑體" panose="020B0604030504040204" pitchFamily="34" charset="-120"/>
                          <a:ea typeface="微軟正黑體" panose="020B0604030504040204" pitchFamily="34" charset="-120"/>
                        </a:rPr>
                        <a:t>DD</a:t>
                      </a:r>
                      <a:r>
                        <a:rPr lang="zh-TW" altLang="zh-TW" sz="1300" b="0" kern="100" dirty="0">
                          <a:solidFill>
                            <a:schemeClr val="tx1"/>
                          </a:solidFill>
                          <a:effectLst/>
                          <a:latin typeface="微軟正黑體" panose="020B0604030504040204" pitchFamily="34" charset="-120"/>
                          <a:ea typeface="微軟正黑體" panose="020B0604030504040204" pitchFamily="34" charset="-120"/>
                        </a:rPr>
                        <a:t>備份空間</a:t>
                      </a:r>
                      <a:r>
                        <a:rPr lang="en-US" altLang="zh-TW" sz="1300" b="0" kern="100" dirty="0">
                          <a:solidFill>
                            <a:schemeClr val="tx1"/>
                          </a:solidFill>
                          <a:effectLst/>
                          <a:latin typeface="微軟正黑體" panose="020B0604030504040204" pitchFamily="34" charset="-120"/>
                          <a:ea typeface="微軟正黑體" panose="020B0604030504040204" pitchFamily="34" charset="-120"/>
                        </a:rPr>
                        <a:t> 1TB</a:t>
                      </a:r>
                      <a:r>
                        <a:rPr lang="zh-TW" altLang="en-US" sz="1300" b="0" kern="100" dirty="0">
                          <a:solidFill>
                            <a:schemeClr val="tx1"/>
                          </a:solidFill>
                          <a:effectLst/>
                          <a:latin typeface="微軟正黑體" panose="020B0604030504040204" pitchFamily="34" charset="-120"/>
                          <a:ea typeface="微軟正黑體" panose="020B0604030504040204" pitchFamily="34" charset="-120"/>
                        </a:rPr>
                        <a:t> </a:t>
                      </a:r>
                      <a:r>
                        <a:rPr lang="en-US" altLang="zh-TW" sz="1300" b="0" kern="100" dirty="0">
                          <a:solidFill>
                            <a:schemeClr val="tx1"/>
                          </a:solidFill>
                          <a:effectLst/>
                          <a:latin typeface="微軟正黑體" panose="020B0604030504040204" pitchFamily="34" charset="-120"/>
                          <a:ea typeface="微軟正黑體" panose="020B0604030504040204" pitchFamily="34" charset="-120"/>
                        </a:rPr>
                        <a:t>(DD</a:t>
                      </a:r>
                      <a:r>
                        <a:rPr lang="zh-TW" altLang="en-US" sz="1300" b="0" kern="100" dirty="0">
                          <a:solidFill>
                            <a:schemeClr val="tx1"/>
                          </a:solidFill>
                          <a:effectLst/>
                          <a:latin typeface="微軟正黑體" panose="020B0604030504040204" pitchFamily="34" charset="-120"/>
                          <a:ea typeface="微軟正黑體" panose="020B0604030504040204" pitchFamily="34" charset="-120"/>
                        </a:rPr>
                        <a:t>與使用空間</a:t>
                      </a:r>
                      <a:r>
                        <a:rPr lang="en-US" altLang="zh-TW" sz="1300" b="0" kern="100" dirty="0">
                          <a:solidFill>
                            <a:schemeClr val="tx1"/>
                          </a:solidFill>
                          <a:effectLst/>
                          <a:latin typeface="微軟正黑體" panose="020B0604030504040204" pitchFamily="34" charset="-120"/>
                          <a:ea typeface="微軟正黑體" panose="020B0604030504040204" pitchFamily="34" charset="-120"/>
                        </a:rPr>
                        <a:t>1:1)</a:t>
                      </a:r>
                      <a:endParaRPr lang="zh-TW" alt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300" dirty="0">
                          <a:solidFill>
                            <a:schemeClr val="tx1"/>
                          </a:solidFill>
                          <a:latin typeface="微軟正黑體" panose="020B0604030504040204" pitchFamily="34" charset="-120"/>
                          <a:ea typeface="微軟正黑體" panose="020B0604030504040204" pitchFamily="34" charset="-120"/>
                        </a:rPr>
                        <a:t>14.5</a:t>
                      </a:r>
                      <a:endParaRPr lang="zh-TW" altLang="en-US" sz="1300" dirty="0">
                        <a:solidFill>
                          <a:schemeClr val="tx1"/>
                        </a:solidFill>
                        <a:latin typeface="微軟正黑體" panose="020B0604030504040204" pitchFamily="34" charset="-120"/>
                        <a:ea typeface="微軟正黑體" panose="020B0604030504040204" pitchFamily="34" charset="-12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300" dirty="0">
                          <a:solidFill>
                            <a:schemeClr val="tx1"/>
                          </a:solidFill>
                          <a:latin typeface="微軟正黑體" panose="020B0604030504040204" pitchFamily="34" charset="-120"/>
                          <a:ea typeface="微軟正黑體" panose="020B0604030504040204" pitchFamily="34" charset="-120"/>
                        </a:rPr>
                        <a:t>0.35</a:t>
                      </a:r>
                      <a:endParaRPr lang="zh-TW" altLang="en-US" sz="1300" dirty="0">
                        <a:solidFill>
                          <a:schemeClr val="tx1"/>
                        </a:solidFill>
                        <a:latin typeface="微軟正黑體" panose="020B0604030504040204" pitchFamily="34" charset="-120"/>
                        <a:ea typeface="微軟正黑體" panose="020B0604030504040204" pitchFamily="34" charset="-12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300" dirty="0">
                          <a:solidFill>
                            <a:schemeClr val="tx1"/>
                          </a:solidFill>
                          <a:latin typeface="微軟正黑體" panose="020B0604030504040204" pitchFamily="34" charset="-120"/>
                          <a:ea typeface="微軟正黑體" panose="020B0604030504040204" pitchFamily="34" charset="-120"/>
                        </a:rPr>
                        <a:t>5.075</a:t>
                      </a:r>
                      <a:endParaRPr lang="zh-TW" altLang="en-US" sz="1300" dirty="0">
                        <a:solidFill>
                          <a:schemeClr val="tx1"/>
                        </a:solidFill>
                        <a:latin typeface="微軟正黑體" panose="020B0604030504040204" pitchFamily="34" charset="-120"/>
                        <a:ea typeface="微軟正黑體" panose="020B0604030504040204" pitchFamily="34" charset="-12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extLst>
                  <a:ext uri="{0D108BD9-81ED-4DB2-BD59-A6C34878D82A}">
                    <a16:rowId xmlns:a16="http://schemas.microsoft.com/office/drawing/2014/main" val="4108702817"/>
                  </a:ext>
                </a:extLst>
              </a:tr>
              <a:tr h="371793">
                <a:tc rowSpan="2">
                  <a:txBody>
                    <a:bodyPr/>
                    <a:lstStyle/>
                    <a:p>
                      <a:pPr algn="ctr"/>
                      <a:r>
                        <a:rPr lang="en-US" altLang="zh-TW" sz="1300" dirty="0">
                          <a:solidFill>
                            <a:schemeClr val="tx1"/>
                          </a:solidFill>
                          <a:latin typeface="微軟正黑體" panose="020B0604030504040204" pitchFamily="34" charset="-120"/>
                          <a:ea typeface="微軟正黑體" panose="020B0604030504040204" pitchFamily="34" charset="-120"/>
                        </a:rPr>
                        <a:t>4.</a:t>
                      </a:r>
                      <a:r>
                        <a:rPr lang="zh-TW" altLang="en-US" sz="1300" dirty="0">
                          <a:solidFill>
                            <a:schemeClr val="tx1"/>
                          </a:solidFill>
                          <a:latin typeface="微軟正黑體" panose="020B0604030504040204" pitchFamily="34" charset="-120"/>
                          <a:ea typeface="微軟正黑體" panose="020B0604030504040204" pitchFamily="34" charset="-120"/>
                        </a:rPr>
                        <a:t>其他授權</a:t>
                      </a:r>
                      <a:endParaRPr lang="en-US" altLang="zh-TW" sz="1300" dirty="0">
                        <a:solidFill>
                          <a:schemeClr val="tx1"/>
                        </a:solidFill>
                        <a:latin typeface="微軟正黑體" panose="020B0604030504040204" pitchFamily="34" charset="-120"/>
                        <a:ea typeface="微軟正黑體" panose="020B0604030504040204" pitchFamily="34" charset="-12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RedHat </a:t>
                      </a:r>
                      <a:r>
                        <a:rPr lang="en-US" altLang="zh-TW" sz="1300" b="0" kern="100" dirty="0" err="1">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Jboss</a:t>
                      </a:r>
                      <a:r>
                        <a:rPr lang="en-US" alt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 ENT 1 core </a:t>
                      </a:r>
                      <a:r>
                        <a:rPr lang="en-US" altLang="zh-TW" sz="1300" b="0" dirty="0">
                          <a:solidFill>
                            <a:schemeClr val="tx1"/>
                          </a:solidFill>
                          <a:effectLst/>
                          <a:latin typeface="微軟正黑體" panose="020B0604030504040204" pitchFamily="34" charset="-120"/>
                          <a:ea typeface="微軟正黑體" panose="020B0604030504040204" pitchFamily="34" charset="-120"/>
                        </a:rPr>
                        <a:t>License </a:t>
                      </a:r>
                      <a:r>
                        <a:rPr lang="en-US" alt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Premium</a:t>
                      </a:r>
                      <a:endParaRPr 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2.2</a:t>
                      </a:r>
                      <a:endParaRPr 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0</a:t>
                      </a:r>
                      <a:endParaRPr 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algn="ctr"/>
                      <a:endParaRPr 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extLst>
                  <a:ext uri="{0D108BD9-81ED-4DB2-BD59-A6C34878D82A}">
                    <a16:rowId xmlns:a16="http://schemas.microsoft.com/office/drawing/2014/main" val="2101228533"/>
                  </a:ext>
                </a:extLst>
              </a:tr>
              <a:tr h="371793">
                <a:tc vMerge="1">
                  <a:txBody>
                    <a:bodyPr/>
                    <a:lstStyle/>
                    <a:p>
                      <a:pPr algn="ctr"/>
                      <a:endParaRPr lang="zh-TW" altLang="en-US" sz="2000" dirty="0">
                        <a:solidFill>
                          <a:schemeClr val="tx1"/>
                        </a:solidFill>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RedHat </a:t>
                      </a:r>
                      <a:r>
                        <a:rPr lang="en-US" altLang="zh-TW" sz="1300" b="0" kern="100" dirty="0" err="1">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Jboss</a:t>
                      </a:r>
                      <a:r>
                        <a:rPr lang="en-US" alt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 ENT 1 core </a:t>
                      </a:r>
                      <a:r>
                        <a:rPr lang="en-US" altLang="zh-TW" sz="1300" b="0" dirty="0">
                          <a:solidFill>
                            <a:schemeClr val="tx1"/>
                          </a:solidFill>
                          <a:effectLst/>
                          <a:latin typeface="微軟正黑體" panose="020B0604030504040204" pitchFamily="34" charset="-120"/>
                          <a:ea typeface="微軟正黑體" panose="020B0604030504040204" pitchFamily="34" charset="-120"/>
                        </a:rPr>
                        <a:t>License </a:t>
                      </a:r>
                      <a:r>
                        <a:rPr lang="en-US" alt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Std</a:t>
                      </a:r>
                      <a:endParaRPr lang="zh-TW" alt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1.9</a:t>
                      </a:r>
                      <a:endParaRPr 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0</a:t>
                      </a:r>
                      <a:endParaRPr lang="zh-TW" alt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zh-TW" sz="13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extLst>
                  <a:ext uri="{0D108BD9-81ED-4DB2-BD59-A6C34878D82A}">
                    <a16:rowId xmlns:a16="http://schemas.microsoft.com/office/drawing/2014/main" val="6667684"/>
                  </a:ext>
                </a:extLst>
              </a:tr>
              <a:tr h="442531">
                <a:tc gridSpan="3">
                  <a:txBody>
                    <a:bodyPr/>
                    <a:lstStyle/>
                    <a:p>
                      <a:pPr algn="ctr"/>
                      <a:r>
                        <a:rPr lang="zh-TW" altLang="en-US" sz="1300" b="1" dirty="0">
                          <a:solidFill>
                            <a:schemeClr val="tx1"/>
                          </a:solidFill>
                          <a:latin typeface="微軟正黑體" panose="020B0604030504040204" pitchFamily="34" charset="-120"/>
                          <a:ea typeface="微軟正黑體" panose="020B0604030504040204" pitchFamily="34" charset="-120"/>
                        </a:rPr>
                        <a:t>隱形成本總金額</a:t>
                      </a:r>
                      <a:r>
                        <a:rPr lang="en-US" altLang="zh-TW" sz="1300" b="1" dirty="0">
                          <a:solidFill>
                            <a:schemeClr val="tx1"/>
                          </a:solidFill>
                          <a:latin typeface="微軟正黑體" panose="020B0604030504040204" pitchFamily="34" charset="-120"/>
                          <a:ea typeface="微軟正黑體" panose="020B0604030504040204" pitchFamily="34" charset="-120"/>
                        </a:rPr>
                        <a:t>(</a:t>
                      </a:r>
                      <a:r>
                        <a:rPr lang="zh-TW" altLang="en-US" sz="1300" b="1" dirty="0">
                          <a:solidFill>
                            <a:schemeClr val="tx1"/>
                          </a:solidFill>
                          <a:latin typeface="微軟正黑體" panose="020B0604030504040204" pitchFamily="34" charset="-120"/>
                          <a:ea typeface="微軟正黑體" panose="020B0604030504040204" pitchFamily="34" charset="-120"/>
                        </a:rPr>
                        <a:t>萬元</a:t>
                      </a:r>
                      <a:r>
                        <a:rPr lang="en-US" altLang="zh-TW" sz="1300" b="1" dirty="0">
                          <a:solidFill>
                            <a:schemeClr val="tx1"/>
                          </a:solidFill>
                          <a:latin typeface="微軟正黑體" panose="020B0604030504040204" pitchFamily="34" charset="-120"/>
                          <a:ea typeface="微軟正黑體" panose="020B0604030504040204" pitchFamily="34" charset="-120"/>
                        </a:rPr>
                        <a:t>)</a:t>
                      </a: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zh-TW" sz="12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zh-TW" sz="1200" b="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300" b="1"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20.875</a:t>
                      </a:r>
                      <a:endParaRPr lang="zh-TW" altLang="zh-TW" sz="1300" b="1"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endParaRPr dirty="0"/>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90946243"/>
                  </a:ext>
                </a:extLst>
              </a:tr>
            </a:tbl>
          </a:graphicData>
        </a:graphic>
      </p:graphicFrame>
      <p:sp>
        <p:nvSpPr>
          <p:cNvPr id="6" name="文字方塊 5">
            <a:extLst>
              <a:ext uri="{FF2B5EF4-FFF2-40B4-BE49-F238E27FC236}">
                <a16:creationId xmlns:a16="http://schemas.microsoft.com/office/drawing/2014/main" id="{BF6754F4-EC97-3A7A-BA27-2903D0122CEF}"/>
              </a:ext>
            </a:extLst>
          </p:cNvPr>
          <p:cNvSpPr txBox="1"/>
          <p:nvPr/>
        </p:nvSpPr>
        <p:spPr>
          <a:xfrm>
            <a:off x="1879794" y="1051744"/>
            <a:ext cx="7760900" cy="338554"/>
          </a:xfrm>
          <a:prstGeom prst="rect">
            <a:avLst/>
          </a:prstGeom>
          <a:noFill/>
        </p:spPr>
        <p:txBody>
          <a:bodyPr wrap="square">
            <a:spAutoFit/>
          </a:bodyPr>
          <a:lstStyle/>
          <a:p>
            <a:r>
              <a:rPr lang="zh-TW" altLang="en-US" sz="1600" b="1" dirty="0">
                <a:latin typeface="微軟正黑體" panose="020B0604030504040204" pitchFamily="34" charset="-120"/>
                <a:ea typeface="微軟正黑體" panose="020B0604030504040204" pitchFamily="34" charset="-120"/>
              </a:rPr>
              <a:t>本案未增加新機器，沿用目前數科處底下既有系統軟硬體設備</a:t>
            </a:r>
            <a:r>
              <a:rPr lang="en-US" altLang="zh-TW" sz="1600" b="1" dirty="0">
                <a:latin typeface="微軟正黑體" panose="020B0604030504040204" pitchFamily="34" charset="-120"/>
                <a:ea typeface="微軟正黑體" panose="020B0604030504040204" pitchFamily="34" charset="-120"/>
              </a:rPr>
              <a:t>(MSSQL</a:t>
            </a:r>
            <a:r>
              <a:rPr lang="zh-TW" altLang="en-US" sz="1600" b="1" dirty="0">
                <a:latin typeface="微軟正黑體" panose="020B0604030504040204" pitchFamily="34" charset="-120"/>
                <a:ea typeface="微軟正黑體" panose="020B0604030504040204" pitchFamily="34" charset="-120"/>
              </a:rPr>
              <a:t>資料庫</a:t>
            </a:r>
            <a:r>
              <a:rPr lang="en-US" altLang="zh-TW" sz="1600" b="1" dirty="0">
                <a:latin typeface="微軟正黑體" panose="020B0604030504040204" pitchFamily="34" charset="-120"/>
                <a:ea typeface="微軟正黑體" panose="020B0604030504040204" pitchFamily="34" charset="-120"/>
              </a:rPr>
              <a:t>-D100)</a:t>
            </a:r>
            <a:endParaRPr lang="zh-TW" altLang="en-US" sz="1600" b="1" dirty="0"/>
          </a:p>
        </p:txBody>
      </p:sp>
    </p:spTree>
    <p:extLst>
      <p:ext uri="{BB962C8B-B14F-4D97-AF65-F5344CB8AC3E}">
        <p14:creationId xmlns:p14="http://schemas.microsoft.com/office/powerpoint/2010/main" val="36289956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870040C-5997-C129-257B-ACCD123306C4}"/>
              </a:ext>
            </a:extLst>
          </p:cNvPr>
          <p:cNvSpPr>
            <a:spLocks noGrp="1"/>
          </p:cNvSpPr>
          <p:nvPr>
            <p:ph type="title"/>
          </p:nvPr>
        </p:nvSpPr>
        <p:spPr/>
        <p:txBody>
          <a:bodyPr/>
          <a:lstStyle/>
          <a:p>
            <a:r>
              <a:rPr lang="zh-TW" altLang="en-US" dirty="0"/>
              <a:t>合併增加的儲存、流量成本</a:t>
            </a:r>
          </a:p>
        </p:txBody>
      </p:sp>
      <p:sp>
        <p:nvSpPr>
          <p:cNvPr id="4" name="文字方塊 3">
            <a:extLst>
              <a:ext uri="{FF2B5EF4-FFF2-40B4-BE49-F238E27FC236}">
                <a16:creationId xmlns:a16="http://schemas.microsoft.com/office/drawing/2014/main" id="{330186FA-C957-8FEF-D7D6-6F16CBD48BD5}"/>
              </a:ext>
            </a:extLst>
          </p:cNvPr>
          <p:cNvSpPr txBox="1"/>
          <p:nvPr/>
        </p:nvSpPr>
        <p:spPr>
          <a:xfrm>
            <a:off x="481030" y="1177832"/>
            <a:ext cx="10772142" cy="3772251"/>
          </a:xfrm>
          <a:prstGeom prst="rect">
            <a:avLst/>
          </a:prstGeom>
          <a:noFill/>
        </p:spPr>
        <p:txBody>
          <a:bodyPr wrap="square" rtlCol="0">
            <a:spAutoFit/>
          </a:bodyPr>
          <a:lstStyle/>
          <a:p>
            <a:pPr defTabSz="881573" fontAlgn="base">
              <a:spcBef>
                <a:spcPct val="0"/>
              </a:spcBef>
              <a:spcAft>
                <a:spcPct val="0"/>
              </a:spcAft>
              <a:buClrTx/>
            </a:pPr>
            <a:r>
              <a:rPr lang="zh-TW" altLang="en-US" sz="2699" b="1" kern="1200" dirty="0">
                <a:solidFill>
                  <a:prstClr val="black"/>
                </a:solidFill>
                <a:latin typeface="微軟正黑體" panose="020B0604030504040204" pitchFamily="34" charset="-120"/>
                <a:ea typeface="微軟正黑體" panose="020B0604030504040204" pitchFamily="34" charset="-120"/>
                <a:cs typeface="+mn-cs"/>
              </a:rPr>
              <a:t>既有爬蟲資料庫，以硬碟儲存空間</a:t>
            </a:r>
            <a:r>
              <a:rPr lang="en-US" altLang="zh-TW" sz="2699" b="1" kern="1200" dirty="0">
                <a:solidFill>
                  <a:prstClr val="black"/>
                </a:solidFill>
                <a:latin typeface="微軟正黑體" panose="020B0604030504040204" pitchFamily="34" charset="-120"/>
                <a:ea typeface="微軟正黑體" panose="020B0604030504040204" pitchFamily="34" charset="-120"/>
                <a:cs typeface="+mn-cs"/>
              </a:rPr>
              <a:t>400</a:t>
            </a:r>
            <a:r>
              <a:rPr lang="zh-TW" altLang="en-US" sz="2699" b="1" kern="1200" dirty="0">
                <a:solidFill>
                  <a:prstClr val="black"/>
                </a:solidFill>
                <a:latin typeface="微軟正黑體" panose="020B0604030504040204" pitchFamily="34" charset="-120"/>
                <a:ea typeface="微軟正黑體" panose="020B0604030504040204" pitchFamily="34" charset="-120"/>
                <a:cs typeface="+mn-cs"/>
              </a:rPr>
              <a:t> </a:t>
            </a:r>
            <a:r>
              <a:rPr lang="en-US" altLang="zh-TW" sz="2699" b="1" kern="1200" dirty="0">
                <a:solidFill>
                  <a:prstClr val="black"/>
                </a:solidFill>
                <a:latin typeface="微軟正黑體" panose="020B0604030504040204" pitchFamily="34" charset="-120"/>
                <a:ea typeface="微軟正黑體" panose="020B0604030504040204" pitchFamily="34" charset="-120"/>
                <a:cs typeface="+mn-cs"/>
              </a:rPr>
              <a:t>GB</a:t>
            </a:r>
            <a:r>
              <a:rPr lang="zh-TW" altLang="en-US" sz="2699" b="1" kern="1200" dirty="0">
                <a:solidFill>
                  <a:prstClr val="black"/>
                </a:solidFill>
                <a:latin typeface="微軟正黑體" panose="020B0604030504040204" pitchFamily="34" charset="-120"/>
                <a:ea typeface="微軟正黑體" panose="020B0604030504040204" pitchFamily="34" charset="-120"/>
                <a:cs typeface="+mn-cs"/>
              </a:rPr>
              <a:t>，預估每年流量大約</a:t>
            </a:r>
            <a:r>
              <a:rPr lang="en-US" altLang="zh-TW" sz="2699" b="1" kern="1200" dirty="0">
                <a:solidFill>
                  <a:prstClr val="black"/>
                </a:solidFill>
                <a:latin typeface="微軟正黑體" panose="020B0604030504040204" pitchFamily="34" charset="-120"/>
                <a:ea typeface="微軟正黑體" panose="020B0604030504040204" pitchFamily="34" charset="-120"/>
                <a:cs typeface="+mn-cs"/>
              </a:rPr>
              <a:t>70GB</a:t>
            </a:r>
          </a:p>
          <a:p>
            <a:pPr defTabSz="881573" fontAlgn="base">
              <a:spcBef>
                <a:spcPct val="0"/>
              </a:spcBef>
              <a:spcAft>
                <a:spcPct val="0"/>
              </a:spcAft>
              <a:buClrTx/>
            </a:pPr>
            <a:r>
              <a:rPr lang="en-US" altLang="zh-TW" sz="2699" b="1" kern="1200" dirty="0">
                <a:solidFill>
                  <a:prstClr val="black"/>
                </a:solidFill>
                <a:latin typeface="微軟正黑體" panose="020B0604030504040204" pitchFamily="34" charset="-120"/>
                <a:ea typeface="微軟正黑體" panose="020B0604030504040204" pitchFamily="34" charset="-120"/>
                <a:cs typeface="+mn-cs"/>
              </a:rPr>
              <a:t>(</a:t>
            </a:r>
            <a:r>
              <a:rPr lang="en-US" altLang="zh-TW" sz="2699" b="1" kern="1200" dirty="0" err="1">
                <a:solidFill>
                  <a:prstClr val="black"/>
                </a:solidFill>
                <a:latin typeface="微軟正黑體" panose="020B0604030504040204" pitchFamily="34" charset="-120"/>
                <a:ea typeface="微軟正黑體" panose="020B0604030504040204" pitchFamily="34" charset="-120"/>
                <a:cs typeface="+mn-cs"/>
              </a:rPr>
              <a:t>cpu</a:t>
            </a:r>
            <a:r>
              <a:rPr lang="zh-TW" altLang="en-US" sz="2699" b="1" kern="1200" dirty="0">
                <a:solidFill>
                  <a:prstClr val="black"/>
                </a:solidFill>
                <a:latin typeface="微軟正黑體" panose="020B0604030504040204" pitchFamily="34" charset="-120"/>
                <a:ea typeface="微軟正黑體" panose="020B0604030504040204" pitchFamily="34" charset="-120"/>
                <a:cs typeface="+mn-cs"/>
              </a:rPr>
              <a:t>、</a:t>
            </a:r>
            <a:r>
              <a:rPr lang="en-US" altLang="zh-TW" sz="2699" b="1" kern="1200" dirty="0">
                <a:solidFill>
                  <a:prstClr val="black"/>
                </a:solidFill>
                <a:latin typeface="微軟正黑體" panose="020B0604030504040204" pitchFamily="34" charset="-120"/>
                <a:ea typeface="微軟正黑體" panose="020B0604030504040204" pitchFamily="34" charset="-120"/>
                <a:cs typeface="+mn-cs"/>
              </a:rPr>
              <a:t>ram</a:t>
            </a:r>
            <a:r>
              <a:rPr lang="zh-TW" altLang="en-US" sz="2699" b="1" kern="1200" dirty="0">
                <a:solidFill>
                  <a:prstClr val="black"/>
                </a:solidFill>
                <a:latin typeface="微軟正黑體" panose="020B0604030504040204" pitchFamily="34" charset="-120"/>
                <a:ea typeface="微軟正黑體" panose="020B0604030504040204" pitchFamily="34" charset="-120"/>
                <a:cs typeface="+mn-cs"/>
              </a:rPr>
              <a:t>不升級情況下，大約</a:t>
            </a:r>
            <a:r>
              <a:rPr lang="en-US" altLang="zh-TW" sz="2699" b="1" kern="1200" dirty="0">
                <a:solidFill>
                  <a:prstClr val="black"/>
                </a:solidFill>
                <a:latin typeface="微軟正黑體" panose="020B0604030504040204" pitchFamily="34" charset="-120"/>
                <a:ea typeface="微軟正黑體" panose="020B0604030504040204" pitchFamily="34" charset="-120"/>
                <a:cs typeface="+mn-cs"/>
              </a:rPr>
              <a:t>56</a:t>
            </a:r>
            <a:r>
              <a:rPr lang="zh-TW" altLang="en-US" sz="2699" b="1" kern="1200" dirty="0">
                <a:solidFill>
                  <a:prstClr val="black"/>
                </a:solidFill>
                <a:latin typeface="微軟正黑體" panose="020B0604030504040204" pitchFamily="34" charset="-120"/>
                <a:ea typeface="微軟正黑體" panose="020B0604030504040204" pitchFamily="34" charset="-120"/>
                <a:cs typeface="+mn-cs"/>
              </a:rPr>
              <a:t>元美金</a:t>
            </a:r>
            <a:r>
              <a:rPr lang="en-US" altLang="zh-TW" sz="2699" b="1" kern="1200" dirty="0">
                <a:solidFill>
                  <a:prstClr val="black"/>
                </a:solidFill>
                <a:latin typeface="微軟正黑體" panose="020B0604030504040204" pitchFamily="34" charset="-120"/>
                <a:ea typeface="微軟正黑體" panose="020B0604030504040204" pitchFamily="34" charset="-120"/>
                <a:cs typeface="+mn-cs"/>
              </a:rPr>
              <a:t>/</a:t>
            </a:r>
            <a:r>
              <a:rPr lang="zh-TW" altLang="en-US" sz="2699" b="1" kern="1200" dirty="0">
                <a:solidFill>
                  <a:prstClr val="black"/>
                </a:solidFill>
                <a:latin typeface="微軟正黑體" panose="020B0604030504040204" pitchFamily="34" charset="-120"/>
                <a:ea typeface="微軟正黑體" panose="020B0604030504040204" pitchFamily="34" charset="-120"/>
                <a:cs typeface="+mn-cs"/>
              </a:rPr>
              <a:t>月</a:t>
            </a:r>
            <a:r>
              <a:rPr lang="en-US" altLang="zh-TW" sz="2699" b="1" kern="1200" dirty="0">
                <a:solidFill>
                  <a:prstClr val="black"/>
                </a:solidFill>
                <a:latin typeface="微軟正黑體" panose="020B0604030504040204" pitchFamily="34" charset="-120"/>
                <a:ea typeface="微軟正黑體" panose="020B0604030504040204" pitchFamily="34" charset="-120"/>
                <a:cs typeface="+mn-cs"/>
              </a:rPr>
              <a:t>)</a:t>
            </a:r>
            <a:br>
              <a:rPr lang="en-US" altLang="zh-TW" sz="2699" b="1" kern="1200" dirty="0">
                <a:solidFill>
                  <a:prstClr val="black"/>
                </a:solidFill>
                <a:latin typeface="微軟正黑體" panose="020B0604030504040204" pitchFamily="34" charset="-120"/>
                <a:ea typeface="微軟正黑體" panose="020B0604030504040204" pitchFamily="34" charset="-120"/>
                <a:cs typeface="+mn-cs"/>
              </a:rPr>
            </a:br>
            <a:endParaRPr lang="en-US" altLang="zh-TW" sz="2314" b="1" kern="1200" dirty="0">
              <a:solidFill>
                <a:prstClr val="black"/>
              </a:solidFill>
              <a:latin typeface="微軟正黑體" panose="020B0604030504040204" pitchFamily="34" charset="-120"/>
              <a:ea typeface="微軟正黑體" panose="020B0604030504040204" pitchFamily="34" charset="-120"/>
              <a:cs typeface="+mn-cs"/>
            </a:endParaRPr>
          </a:p>
          <a:p>
            <a:pPr defTabSz="881573" fontAlgn="base">
              <a:spcBef>
                <a:spcPct val="0"/>
              </a:spcBef>
              <a:spcAft>
                <a:spcPct val="0"/>
              </a:spcAft>
              <a:buClrTx/>
            </a:pPr>
            <a:r>
              <a:rPr lang="zh-TW" altLang="en-US" sz="2314" b="1" kern="1200" dirty="0">
                <a:solidFill>
                  <a:prstClr val="black"/>
                </a:solidFill>
                <a:latin typeface="微軟正黑體" panose="020B0604030504040204" pitchFamily="34" charset="-120"/>
                <a:ea typeface="微軟正黑體" panose="020B0604030504040204" pitchFamily="34" charset="-120"/>
                <a:cs typeface="+mn-cs"/>
              </a:rPr>
              <a:t>詳細：</a:t>
            </a:r>
            <a:endParaRPr lang="en-US" altLang="zh-TW" sz="2314" b="1" kern="1200" dirty="0">
              <a:solidFill>
                <a:prstClr val="black"/>
              </a:solidFill>
              <a:latin typeface="微軟正黑體" panose="020B0604030504040204" pitchFamily="34" charset="-120"/>
              <a:ea typeface="微軟正黑體" panose="020B0604030504040204" pitchFamily="34" charset="-120"/>
              <a:cs typeface="+mn-cs"/>
            </a:endParaRPr>
          </a:p>
          <a:p>
            <a:pPr defTabSz="881573" fontAlgn="base">
              <a:spcBef>
                <a:spcPct val="0"/>
              </a:spcBef>
              <a:spcAft>
                <a:spcPct val="0"/>
              </a:spcAft>
              <a:buClrTx/>
            </a:pPr>
            <a:r>
              <a:rPr lang="en-US" altLang="zh-TW" sz="1543" b="1" kern="1200" dirty="0">
                <a:solidFill>
                  <a:prstClr val="black"/>
                </a:solidFill>
                <a:latin typeface="微軟正黑體" panose="020B0604030504040204" pitchFamily="34" charset="-120"/>
                <a:ea typeface="微軟正黑體" panose="020B0604030504040204" pitchFamily="34" charset="-120"/>
                <a:cs typeface="+mn-cs"/>
              </a:rPr>
              <a:t>Region</a:t>
            </a:r>
            <a:r>
              <a:rPr lang="zh-TW" altLang="en-US" sz="1543" b="1" kern="1200" dirty="0">
                <a:solidFill>
                  <a:prstClr val="black"/>
                </a:solidFill>
                <a:latin typeface="微軟正黑體" panose="020B0604030504040204" pitchFamily="34" charset="-120"/>
                <a:ea typeface="微軟正黑體" panose="020B0604030504040204" pitchFamily="34" charset="-120"/>
                <a:cs typeface="+mn-cs"/>
              </a:rPr>
              <a:t>：東京</a:t>
            </a:r>
          </a:p>
          <a:p>
            <a:pPr defTabSz="881573" fontAlgn="base">
              <a:spcBef>
                <a:spcPct val="0"/>
              </a:spcBef>
              <a:spcAft>
                <a:spcPct val="0"/>
              </a:spcAft>
              <a:buClrTx/>
            </a:pPr>
            <a:r>
              <a:rPr lang="en-US" altLang="zh-TW" sz="1543" b="1" kern="1200" dirty="0">
                <a:solidFill>
                  <a:prstClr val="black"/>
                </a:solidFill>
                <a:latin typeface="微軟正黑體" panose="020B0604030504040204" pitchFamily="34" charset="-120"/>
                <a:ea typeface="微軟正黑體" panose="020B0604030504040204" pitchFamily="34" charset="-120"/>
                <a:cs typeface="+mn-cs"/>
              </a:rPr>
              <a:t>AWS</a:t>
            </a:r>
            <a:r>
              <a:rPr lang="zh-TW" altLang="en-US" sz="1543" b="1" kern="1200" dirty="0">
                <a:solidFill>
                  <a:prstClr val="black"/>
                </a:solidFill>
                <a:latin typeface="微軟正黑體" panose="020B0604030504040204" pitchFamily="34" charset="-120"/>
                <a:ea typeface="微軟正黑體" panose="020B0604030504040204" pitchFamily="34" charset="-120"/>
                <a:cs typeface="+mn-cs"/>
              </a:rPr>
              <a:t>服務：</a:t>
            </a:r>
            <a:r>
              <a:rPr lang="en-US" altLang="zh-TW" sz="1543" b="1" kern="1200" dirty="0">
                <a:solidFill>
                  <a:prstClr val="black"/>
                </a:solidFill>
                <a:latin typeface="微軟正黑體" panose="020B0604030504040204" pitchFamily="34" charset="-120"/>
                <a:ea typeface="微軟正黑體" panose="020B0604030504040204" pitchFamily="34" charset="-120"/>
                <a:cs typeface="+mn-cs"/>
              </a:rPr>
              <a:t>RDS MySQL </a:t>
            </a:r>
          </a:p>
          <a:p>
            <a:pPr defTabSz="881573" fontAlgn="base">
              <a:spcBef>
                <a:spcPct val="0"/>
              </a:spcBef>
              <a:spcAft>
                <a:spcPct val="0"/>
              </a:spcAft>
              <a:buClrTx/>
            </a:pPr>
            <a:r>
              <a:rPr lang="en-US" altLang="zh-TW" sz="1543" b="1" kern="1200" dirty="0">
                <a:solidFill>
                  <a:prstClr val="black"/>
                </a:solidFill>
                <a:latin typeface="微軟正黑體" panose="020B0604030504040204" pitchFamily="34" charset="-120"/>
                <a:ea typeface="微軟正黑體" panose="020B0604030504040204" pitchFamily="34" charset="-120"/>
                <a:cs typeface="+mn-cs"/>
              </a:rPr>
              <a:t>Node </a:t>
            </a:r>
            <a:r>
              <a:rPr lang="zh-TW" altLang="en-US" sz="1543" b="1" kern="1200" dirty="0">
                <a:solidFill>
                  <a:prstClr val="black"/>
                </a:solidFill>
                <a:latin typeface="微軟正黑體" panose="020B0604030504040204" pitchFamily="34" charset="-120"/>
                <a:ea typeface="微軟正黑體" panose="020B0604030504040204" pitchFamily="34" charset="-120"/>
                <a:cs typeface="+mn-cs"/>
              </a:rPr>
              <a:t>數量：</a:t>
            </a:r>
            <a:r>
              <a:rPr lang="en-US" altLang="zh-TW" sz="1543" b="1" kern="1200" dirty="0">
                <a:solidFill>
                  <a:prstClr val="black"/>
                </a:solidFill>
                <a:latin typeface="微軟正黑體" panose="020B0604030504040204" pitchFamily="34" charset="-120"/>
                <a:ea typeface="微軟正黑體" panose="020B0604030504040204" pitchFamily="34" charset="-120"/>
                <a:cs typeface="+mn-cs"/>
              </a:rPr>
              <a:t>1</a:t>
            </a:r>
            <a:r>
              <a:rPr lang="zh-TW" altLang="en-US" sz="1543" b="1" kern="1200" dirty="0">
                <a:solidFill>
                  <a:prstClr val="black"/>
                </a:solidFill>
                <a:latin typeface="微軟正黑體" panose="020B0604030504040204" pitchFamily="34" charset="-120"/>
                <a:ea typeface="微軟正黑體" panose="020B0604030504040204" pitchFamily="34" charset="-120"/>
                <a:cs typeface="+mn-cs"/>
              </a:rPr>
              <a:t>台</a:t>
            </a:r>
          </a:p>
          <a:p>
            <a:pPr defTabSz="881573" fontAlgn="base">
              <a:spcBef>
                <a:spcPct val="0"/>
              </a:spcBef>
              <a:spcAft>
                <a:spcPct val="0"/>
              </a:spcAft>
              <a:buClrTx/>
            </a:pPr>
            <a:r>
              <a:rPr lang="en-US" altLang="zh-TW" sz="1543" b="1" kern="1200" dirty="0">
                <a:solidFill>
                  <a:prstClr val="black"/>
                </a:solidFill>
                <a:latin typeface="微軟正黑體" panose="020B0604030504040204" pitchFamily="34" charset="-120"/>
                <a:ea typeface="微軟正黑體" panose="020B0604030504040204" pitchFamily="34" charset="-120"/>
                <a:cs typeface="+mn-cs"/>
              </a:rPr>
              <a:t>Disk</a:t>
            </a:r>
            <a:r>
              <a:rPr lang="zh-TW" altLang="en-US" sz="1543" b="1" kern="1200" dirty="0">
                <a:solidFill>
                  <a:prstClr val="black"/>
                </a:solidFill>
                <a:latin typeface="微軟正黑體" panose="020B0604030504040204" pitchFamily="34" charset="-120"/>
                <a:ea typeface="微軟正黑體" panose="020B0604030504040204" pitchFamily="34" charset="-120"/>
                <a:cs typeface="+mn-cs"/>
              </a:rPr>
              <a:t>規格：</a:t>
            </a:r>
            <a:r>
              <a:rPr lang="en-US" altLang="zh-TW" sz="1543" b="1" kern="1200" dirty="0">
                <a:solidFill>
                  <a:prstClr val="black"/>
                </a:solidFill>
                <a:latin typeface="微軟正黑體" panose="020B0604030504040204" pitchFamily="34" charset="-120"/>
                <a:ea typeface="微軟正黑體" panose="020B0604030504040204" pitchFamily="34" charset="-120"/>
                <a:cs typeface="+mn-cs"/>
              </a:rPr>
              <a:t>General Purpose SSD(gp3) (12000 IOPS,500MiBps throughput)</a:t>
            </a:r>
          </a:p>
          <a:p>
            <a:pPr defTabSz="881573" fontAlgn="base">
              <a:spcBef>
                <a:spcPct val="0"/>
              </a:spcBef>
              <a:spcAft>
                <a:spcPct val="0"/>
              </a:spcAft>
              <a:buClrTx/>
            </a:pPr>
            <a:r>
              <a:rPr lang="zh-TW" altLang="en-US" sz="1543" b="1" kern="1200" dirty="0">
                <a:solidFill>
                  <a:prstClr val="black"/>
                </a:solidFill>
                <a:latin typeface="微軟正黑體" panose="020B0604030504040204" pitchFamily="34" charset="-120"/>
                <a:ea typeface="微軟正黑體" panose="020B0604030504040204" pitchFamily="34" charset="-120"/>
                <a:cs typeface="+mn-cs"/>
              </a:rPr>
              <a:t>描述：</a:t>
            </a:r>
            <a:r>
              <a:rPr lang="en-US" altLang="zh-TW" sz="1543" b="1" u="sng" kern="1200" dirty="0">
                <a:solidFill>
                  <a:prstClr val="black"/>
                </a:solidFill>
                <a:latin typeface="微軟正黑體" panose="020B0604030504040204" pitchFamily="34" charset="-120"/>
                <a:ea typeface="微軟正黑體" panose="020B0604030504040204" pitchFamily="34" charset="-120"/>
                <a:cs typeface="+mn-cs"/>
              </a:rPr>
              <a:t>400GB</a:t>
            </a:r>
            <a:r>
              <a:rPr lang="zh-TW" altLang="en-US" sz="1543" b="1" u="sng" kern="1200" dirty="0">
                <a:solidFill>
                  <a:prstClr val="black"/>
                </a:solidFill>
                <a:latin typeface="微軟正黑體" panose="020B0604030504040204" pitchFamily="34" charset="-120"/>
                <a:ea typeface="微軟正黑體" panose="020B0604030504040204" pitchFamily="34" charset="-120"/>
                <a:cs typeface="+mn-cs"/>
              </a:rPr>
              <a:t>儲存空間</a:t>
            </a:r>
            <a:r>
              <a:rPr lang="zh-TW" altLang="en-US" sz="1543" b="1" kern="1200" dirty="0">
                <a:solidFill>
                  <a:prstClr val="black"/>
                </a:solidFill>
                <a:latin typeface="微軟正黑體" panose="020B0604030504040204" pitchFamily="34" charset="-120"/>
                <a:ea typeface="微軟正黑體" panose="020B0604030504040204" pitchFamily="34" charset="-120"/>
                <a:cs typeface="+mn-cs"/>
              </a:rPr>
              <a:t>，每年</a:t>
            </a:r>
            <a:r>
              <a:rPr lang="en-US" altLang="zh-TW" sz="1543" b="1" u="sng" kern="1200" dirty="0">
                <a:solidFill>
                  <a:prstClr val="black"/>
                </a:solidFill>
                <a:latin typeface="微軟正黑體" panose="020B0604030504040204" pitchFamily="34" charset="-120"/>
                <a:ea typeface="微軟正黑體" panose="020B0604030504040204" pitchFamily="34" charset="-120"/>
                <a:cs typeface="+mn-cs"/>
              </a:rPr>
              <a:t>70GB</a:t>
            </a:r>
            <a:r>
              <a:rPr lang="zh-TW" altLang="en-US" sz="1543" b="1" u="sng" kern="1200" dirty="0">
                <a:solidFill>
                  <a:prstClr val="black"/>
                </a:solidFill>
                <a:latin typeface="微軟正黑體" panose="020B0604030504040204" pitchFamily="34" charset="-120"/>
                <a:ea typeface="微軟正黑體" panose="020B0604030504040204" pitchFamily="34" charset="-120"/>
                <a:cs typeface="+mn-cs"/>
              </a:rPr>
              <a:t>下載流量</a:t>
            </a:r>
          </a:p>
          <a:p>
            <a:pPr defTabSz="881573" fontAlgn="base">
              <a:spcBef>
                <a:spcPct val="0"/>
              </a:spcBef>
              <a:spcAft>
                <a:spcPct val="0"/>
              </a:spcAft>
              <a:buClrTx/>
            </a:pPr>
            <a:r>
              <a:rPr lang="zh-TW" altLang="en-US" sz="1543" b="1" kern="1200" dirty="0">
                <a:solidFill>
                  <a:prstClr val="black"/>
                </a:solidFill>
                <a:latin typeface="微軟正黑體" panose="020B0604030504040204" pitchFamily="34" charset="-120"/>
                <a:ea typeface="微軟正黑體" panose="020B0604030504040204" pitchFamily="34" charset="-120"/>
                <a:cs typeface="+mn-cs"/>
              </a:rPr>
              <a:t>每年儲存費： </a:t>
            </a:r>
            <a:r>
              <a:rPr lang="en-US" altLang="zh-TW" sz="1543" b="1" kern="1200" dirty="0">
                <a:solidFill>
                  <a:prstClr val="black"/>
                </a:solidFill>
                <a:latin typeface="微軟正黑體" panose="020B0604030504040204" pitchFamily="34" charset="-120"/>
                <a:ea typeface="微軟正黑體" panose="020B0604030504040204" pitchFamily="34" charset="-120"/>
                <a:cs typeface="+mn-cs"/>
              </a:rPr>
              <a:t>400 x 0.138 x 12(</a:t>
            </a:r>
            <a:r>
              <a:rPr lang="zh-TW" altLang="en-US" sz="1543" b="1" kern="1200" dirty="0">
                <a:solidFill>
                  <a:prstClr val="black"/>
                </a:solidFill>
                <a:latin typeface="微軟正黑體" panose="020B0604030504040204" pitchFamily="34" charset="-120"/>
                <a:ea typeface="微軟正黑體" panose="020B0604030504040204" pitchFamily="34" charset="-120"/>
                <a:cs typeface="+mn-cs"/>
              </a:rPr>
              <a:t>月</a:t>
            </a:r>
            <a:r>
              <a:rPr lang="en-US" altLang="zh-TW" sz="1543" b="1" kern="1200" dirty="0">
                <a:solidFill>
                  <a:prstClr val="black"/>
                </a:solidFill>
                <a:latin typeface="微軟正黑體" panose="020B0604030504040204" pitchFamily="34" charset="-120"/>
                <a:ea typeface="微軟正黑體" panose="020B0604030504040204" pitchFamily="34" charset="-120"/>
                <a:cs typeface="+mn-cs"/>
              </a:rPr>
              <a:t>) = $662.4</a:t>
            </a:r>
          </a:p>
          <a:p>
            <a:pPr defTabSz="881573" fontAlgn="base">
              <a:spcBef>
                <a:spcPct val="0"/>
              </a:spcBef>
              <a:spcAft>
                <a:spcPct val="0"/>
              </a:spcAft>
              <a:buClrTx/>
            </a:pPr>
            <a:r>
              <a:rPr lang="zh-TW" altLang="en-US" sz="1543" b="1" kern="1200" dirty="0">
                <a:solidFill>
                  <a:prstClr val="black"/>
                </a:solidFill>
                <a:latin typeface="微軟正黑體" panose="020B0604030504040204" pitchFamily="34" charset="-120"/>
                <a:ea typeface="微軟正黑體" panose="020B0604030504040204" pitchFamily="34" charset="-120"/>
                <a:cs typeface="+mn-cs"/>
              </a:rPr>
              <a:t>每年外網下載流量：</a:t>
            </a:r>
            <a:r>
              <a:rPr lang="en-US" altLang="zh-TW" sz="1543" b="1" kern="1200" dirty="0">
                <a:solidFill>
                  <a:prstClr val="black"/>
                </a:solidFill>
                <a:latin typeface="微軟正黑體" panose="020B0604030504040204" pitchFamily="34" charset="-120"/>
                <a:ea typeface="微軟正黑體" panose="020B0604030504040204" pitchFamily="34" charset="-120"/>
                <a:cs typeface="+mn-cs"/>
              </a:rPr>
              <a:t>70 x 0.114 = $7.98 (</a:t>
            </a:r>
            <a:r>
              <a:rPr lang="zh-TW" altLang="en-US" sz="1543" b="1" kern="1200" dirty="0">
                <a:solidFill>
                  <a:prstClr val="black"/>
                </a:solidFill>
                <a:latin typeface="微軟正黑體" panose="020B0604030504040204" pitchFamily="34" charset="-120"/>
                <a:ea typeface="微軟正黑體" panose="020B0604030504040204" pitchFamily="34" charset="-120"/>
                <a:cs typeface="+mn-cs"/>
              </a:rPr>
              <a:t>年</a:t>
            </a:r>
            <a:r>
              <a:rPr lang="en-US" altLang="zh-TW" sz="1543" b="1" kern="1200" dirty="0">
                <a:solidFill>
                  <a:prstClr val="black"/>
                </a:solidFill>
                <a:latin typeface="微軟正黑體" panose="020B0604030504040204" pitchFamily="34" charset="-120"/>
                <a:ea typeface="微軟正黑體" panose="020B0604030504040204" pitchFamily="34" charset="-120"/>
                <a:cs typeface="+mn-cs"/>
              </a:rPr>
              <a:t>)</a:t>
            </a:r>
          </a:p>
          <a:p>
            <a:pPr defTabSz="881573" fontAlgn="base">
              <a:spcBef>
                <a:spcPct val="0"/>
              </a:spcBef>
              <a:spcAft>
                <a:spcPct val="0"/>
              </a:spcAft>
              <a:buClrTx/>
            </a:pPr>
            <a:r>
              <a:rPr lang="zh-TW" altLang="en-US" sz="1543" b="1" kern="1200" dirty="0">
                <a:solidFill>
                  <a:prstClr val="black"/>
                </a:solidFill>
                <a:latin typeface="微軟正黑體" panose="020B0604030504040204" pitchFamily="34" charset="-120"/>
                <a:ea typeface="微軟正黑體" panose="020B0604030504040204" pitchFamily="34" charset="-120"/>
                <a:cs typeface="+mn-cs"/>
              </a:rPr>
              <a:t>共計：</a:t>
            </a:r>
            <a:r>
              <a:rPr lang="en-US" altLang="zh-TW" sz="1543" b="1" kern="1200" dirty="0">
                <a:solidFill>
                  <a:prstClr val="black"/>
                </a:solidFill>
                <a:latin typeface="微軟正黑體" panose="020B0604030504040204" pitchFamily="34" charset="-120"/>
                <a:ea typeface="微軟正黑體" panose="020B0604030504040204" pitchFamily="34" charset="-120"/>
                <a:cs typeface="+mn-cs"/>
              </a:rPr>
              <a:t>$670.38(</a:t>
            </a:r>
            <a:r>
              <a:rPr lang="zh-TW" altLang="en-US" sz="1543" b="1" kern="1200" dirty="0">
                <a:solidFill>
                  <a:prstClr val="black"/>
                </a:solidFill>
                <a:latin typeface="微軟正黑體" panose="020B0604030504040204" pitchFamily="34" charset="-120"/>
                <a:ea typeface="微軟正黑體" panose="020B0604030504040204" pitchFamily="34" charset="-120"/>
                <a:cs typeface="+mn-cs"/>
              </a:rPr>
              <a:t>年</a:t>
            </a:r>
            <a:r>
              <a:rPr lang="en-US" altLang="zh-TW" sz="1543" b="1" kern="1200" dirty="0">
                <a:solidFill>
                  <a:prstClr val="black"/>
                </a:solidFill>
                <a:latin typeface="微軟正黑體" panose="020B0604030504040204" pitchFamily="34" charset="-120"/>
                <a:ea typeface="微軟正黑體" panose="020B0604030504040204" pitchFamily="34" charset="-120"/>
                <a:cs typeface="+mn-cs"/>
              </a:rPr>
              <a:t>)</a:t>
            </a:r>
            <a:r>
              <a:rPr lang="zh-TW" altLang="en-US" sz="1543" b="1" kern="1200" dirty="0">
                <a:solidFill>
                  <a:prstClr val="black"/>
                </a:solidFill>
                <a:latin typeface="微軟正黑體" panose="020B0604030504040204" pitchFamily="34" charset="-120"/>
                <a:ea typeface="微軟正黑體" panose="020B0604030504040204" pitchFamily="34" charset="-120"/>
                <a:cs typeface="+mn-cs"/>
              </a:rPr>
              <a:t> </a:t>
            </a:r>
            <a:r>
              <a:rPr lang="en-US" altLang="zh-TW" sz="1543" b="1" kern="1200" dirty="0">
                <a:solidFill>
                  <a:prstClr val="black"/>
                </a:solidFill>
                <a:latin typeface="微軟正黑體" panose="020B0604030504040204" pitchFamily="34" charset="-120"/>
                <a:ea typeface="微軟正黑體" panose="020B0604030504040204" pitchFamily="34" charset="-120"/>
                <a:cs typeface="+mn-cs"/>
              </a:rPr>
              <a:t>=</a:t>
            </a:r>
            <a:r>
              <a:rPr lang="zh-TW" altLang="en-US" sz="1543" b="1" kern="1200" dirty="0">
                <a:solidFill>
                  <a:prstClr val="black"/>
                </a:solidFill>
                <a:latin typeface="微軟正黑體" panose="020B0604030504040204" pitchFamily="34" charset="-120"/>
                <a:ea typeface="微軟正黑體" panose="020B0604030504040204" pitchFamily="34" charset="-120"/>
                <a:cs typeface="+mn-cs"/>
              </a:rPr>
              <a:t> </a:t>
            </a:r>
            <a:r>
              <a:rPr lang="en-US" altLang="zh-TW" sz="1543" b="1" kern="1200" dirty="0">
                <a:solidFill>
                  <a:prstClr val="black"/>
                </a:solidFill>
                <a:latin typeface="微軟正黑體" panose="020B0604030504040204" pitchFamily="34" charset="-120"/>
                <a:ea typeface="微軟正黑體" panose="020B0604030504040204" pitchFamily="34" charset="-120"/>
                <a:cs typeface="+mn-cs"/>
              </a:rPr>
              <a:t>$55.865(</a:t>
            </a:r>
            <a:r>
              <a:rPr lang="zh-TW" altLang="en-US" sz="1543" b="1" kern="1200" dirty="0">
                <a:solidFill>
                  <a:prstClr val="black"/>
                </a:solidFill>
                <a:latin typeface="微軟正黑體" panose="020B0604030504040204" pitchFamily="34" charset="-120"/>
                <a:ea typeface="微軟正黑體" panose="020B0604030504040204" pitchFamily="34" charset="-120"/>
                <a:cs typeface="+mn-cs"/>
              </a:rPr>
              <a:t>月</a:t>
            </a:r>
            <a:r>
              <a:rPr lang="en-US" altLang="zh-TW" sz="1543" b="1" kern="1200" dirty="0">
                <a:solidFill>
                  <a:prstClr val="black"/>
                </a:solidFill>
                <a:latin typeface="微軟正黑體" panose="020B0604030504040204" pitchFamily="34" charset="-120"/>
                <a:ea typeface="微軟正黑體" panose="020B0604030504040204" pitchFamily="34" charset="-120"/>
                <a:cs typeface="+mn-cs"/>
              </a:rPr>
              <a:t>)</a:t>
            </a:r>
          </a:p>
          <a:p>
            <a:pPr defTabSz="881573" fontAlgn="base">
              <a:spcBef>
                <a:spcPct val="0"/>
              </a:spcBef>
              <a:spcAft>
                <a:spcPct val="0"/>
              </a:spcAft>
              <a:buClrTx/>
            </a:pPr>
            <a:r>
              <a:rPr lang="zh-TW" altLang="en-US" sz="1543" b="1" kern="1200" dirty="0">
                <a:solidFill>
                  <a:prstClr val="black"/>
                </a:solidFill>
                <a:latin typeface="微軟正黑體" panose="020B0604030504040204" pitchFamily="34" charset="-120"/>
                <a:ea typeface="微軟正黑體" panose="020B0604030504040204" pitchFamily="34" charset="-120"/>
                <a:cs typeface="+mn-cs"/>
              </a:rPr>
              <a:t>計費單位：美金 </a:t>
            </a:r>
            <a:endParaRPr lang="en-US" altLang="zh-TW" sz="1543" b="1" kern="1200" dirty="0">
              <a:solidFill>
                <a:prstClr val="black"/>
              </a:solidFill>
              <a:latin typeface="微軟正黑體" panose="020B0604030504040204" pitchFamily="34" charset="-120"/>
              <a:ea typeface="微軟正黑體" panose="020B0604030504040204" pitchFamily="34" charset="-120"/>
              <a:cs typeface="+mn-cs"/>
            </a:endParaRPr>
          </a:p>
        </p:txBody>
      </p:sp>
    </p:spTree>
    <p:extLst>
      <p:ext uri="{BB962C8B-B14F-4D97-AF65-F5344CB8AC3E}">
        <p14:creationId xmlns:p14="http://schemas.microsoft.com/office/powerpoint/2010/main" val="2904078905"/>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41DDD2C-6C43-ED67-E34F-299DD0A69510}"/>
              </a:ext>
            </a:extLst>
          </p:cNvPr>
          <p:cNvSpPr>
            <a:spLocks noGrp="1"/>
          </p:cNvSpPr>
          <p:nvPr>
            <p:ph type="title"/>
          </p:nvPr>
        </p:nvSpPr>
        <p:spPr>
          <a:xfrm>
            <a:off x="440267" y="71438"/>
            <a:ext cx="10900833" cy="540000"/>
          </a:xfrm>
          <a:noFill/>
          <a:ln>
            <a:noFill/>
          </a:ln>
        </p:spPr>
        <p:txBody>
          <a:bodyPr spcFirstLastPara="1" wrap="square" lIns="88143" tIns="44059" rIns="88143" bIns="44059" anchor="ctr" anchorCtr="0">
            <a:noAutofit/>
          </a:bodyPr>
          <a:lstStyle/>
          <a:p>
            <a:pPr>
              <a:buSzPts val="1400"/>
            </a:pPr>
            <a:r>
              <a:rPr lang="zh-TW" altLang="en-US" b="1" dirty="0">
                <a:latin typeface="微軟正黑體" panose="020B0604030504040204" pitchFamily="34" charset="-120"/>
                <a:ea typeface="微軟正黑體" panose="020B0604030504040204" pitchFamily="34" charset="-120"/>
              </a:rPr>
              <a:t>資料下載至地端預估量</a:t>
            </a:r>
          </a:p>
        </p:txBody>
      </p:sp>
      <p:sp>
        <p:nvSpPr>
          <p:cNvPr id="3" name="文字版面配置區 2">
            <a:extLst>
              <a:ext uri="{FF2B5EF4-FFF2-40B4-BE49-F238E27FC236}">
                <a16:creationId xmlns:a16="http://schemas.microsoft.com/office/drawing/2014/main" id="{CB1992A0-1ED9-14D2-A108-9526A98FA8F6}"/>
              </a:ext>
            </a:extLst>
          </p:cNvPr>
          <p:cNvSpPr txBox="1">
            <a:spLocks/>
          </p:cNvSpPr>
          <p:nvPr/>
        </p:nvSpPr>
        <p:spPr>
          <a:xfrm>
            <a:off x="102637" y="745685"/>
            <a:ext cx="11315214" cy="174705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marR="0" lvl="0" indent="-342900" algn="l" defTabSz="914400" rtl="0" eaLnBrk="1" fontAlgn="auto" latinLnBrk="0" hangingPunct="1">
              <a:lnSpc>
                <a:spcPct val="100000"/>
              </a:lnSpc>
              <a:spcBef>
                <a:spcPts val="0"/>
              </a:spcBef>
              <a:spcAft>
                <a:spcPts val="0"/>
              </a:spcAft>
              <a:buClr>
                <a:srgbClr val="000000"/>
              </a:buClr>
              <a:buSzTx/>
              <a:buFont typeface="+mj-lt"/>
              <a:buAutoNum type="arabicPeriod"/>
              <a:tabLst/>
              <a:defRPr/>
            </a:pPr>
            <a:r>
              <a:rPr kumimoji="0" lang="zh-TW" altLang="en-US" sz="1800" i="0" u="none" strike="noStrike" kern="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sym typeface="Arial"/>
              </a:rPr>
              <a:t>擴充案架構從雲端</a:t>
            </a:r>
            <a:r>
              <a:rPr kumimoji="0" lang="en-US" altLang="zh-TW" sz="1800" i="0" u="none" strike="noStrike" kern="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sym typeface="Arial"/>
              </a:rPr>
              <a:t>EC2</a:t>
            </a:r>
            <a:r>
              <a:rPr kumimoji="0" lang="zh-TW" altLang="en-US" sz="1800" i="0" u="none" strike="noStrike" kern="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sym typeface="Arial"/>
              </a:rPr>
              <a:t>連線地端</a:t>
            </a:r>
            <a:r>
              <a:rPr kumimoji="0" lang="en-US" altLang="zh-TW" sz="1800" i="0" u="none" strike="noStrike" kern="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sym typeface="Arial"/>
              </a:rPr>
              <a:t>MSSQL</a:t>
            </a:r>
            <a:r>
              <a:rPr kumimoji="0" lang="zh-TW" altLang="en-US" sz="1800" i="0" u="none" strike="noStrike" kern="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sym typeface="Arial"/>
              </a:rPr>
              <a:t>，中間擬曾設一座</a:t>
            </a:r>
            <a:r>
              <a:rPr kumimoji="0" lang="en-US" altLang="zh-TW" sz="1800" i="0" u="none" strike="noStrike" kern="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sym typeface="Arial"/>
              </a:rPr>
              <a:t>AP-GW</a:t>
            </a:r>
            <a:r>
              <a:rPr kumimoji="0" lang="zh-TW" altLang="en-US" sz="1800" i="0" u="none" strike="noStrike" kern="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sym typeface="Arial"/>
              </a:rPr>
              <a:t>，架構圖流程為：</a:t>
            </a:r>
            <a:endParaRPr kumimoji="0" lang="en-US" altLang="zh-TW" sz="1800" i="0" u="none" strike="noStrike" kern="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sym typeface="Arial"/>
            </a:endParaRPr>
          </a:p>
          <a:p>
            <a:pPr marR="0" lvl="0" algn="l" defTabSz="914400" rtl="0" eaLnBrk="1" fontAlgn="auto" latinLnBrk="0" hangingPunct="1">
              <a:lnSpc>
                <a:spcPct val="100000"/>
              </a:lnSpc>
              <a:spcBef>
                <a:spcPts val="0"/>
              </a:spcBef>
              <a:spcAft>
                <a:spcPts val="0"/>
              </a:spcAft>
              <a:buClr>
                <a:srgbClr val="000000"/>
              </a:buClr>
              <a:buSzTx/>
              <a:tabLst/>
              <a:defRPr/>
            </a:pPr>
            <a:r>
              <a:rPr lang="en-US" altLang="zh-TW" sz="1800" dirty="0">
                <a:solidFill>
                  <a:schemeClr val="tx1"/>
                </a:solidFill>
                <a:latin typeface="微軟正黑體" panose="020B0604030504040204" pitchFamily="34" charset="-120"/>
                <a:ea typeface="微軟正黑體" panose="020B0604030504040204" pitchFamily="34" charset="-120"/>
              </a:rPr>
              <a:t>      </a:t>
            </a:r>
            <a:r>
              <a:rPr kumimoji="0" lang="en-US" altLang="zh-TW" sz="1800" i="0" u="none" strike="noStrike" kern="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sym typeface="Arial"/>
              </a:rPr>
              <a:t>AWS</a:t>
            </a:r>
            <a:r>
              <a:rPr kumimoji="0" lang="zh-TW" altLang="en-US" sz="1800" i="0" u="none" strike="noStrike" kern="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sym typeface="Arial"/>
              </a:rPr>
              <a:t> </a:t>
            </a:r>
            <a:r>
              <a:rPr kumimoji="0" lang="en-US" altLang="zh-TW" sz="1800" i="0" u="none" strike="noStrike" kern="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sym typeface="Arial"/>
              </a:rPr>
              <a:t>EC2</a:t>
            </a:r>
            <a:r>
              <a:rPr kumimoji="0" lang="zh-TW" altLang="en-US" sz="1800" i="0" u="none" strike="noStrike" kern="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sym typeface="Arial"/>
              </a:rPr>
              <a:t> </a:t>
            </a:r>
            <a:r>
              <a:rPr kumimoji="0" lang="en-US" altLang="zh-TW" sz="1800" i="0" u="none" strike="noStrike" kern="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sym typeface="Arial"/>
              </a:rPr>
              <a:t>(AP) -&gt;  AP-GW -&gt; MSSQL</a:t>
            </a:r>
            <a:r>
              <a:rPr kumimoji="0" lang="zh-TW" altLang="en-US" sz="1800" i="0" u="none" strike="noStrike" kern="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sym typeface="Arial"/>
              </a:rPr>
              <a:t>，走</a:t>
            </a:r>
            <a:r>
              <a:rPr kumimoji="0" lang="en-US" altLang="zh-TW" sz="1800" i="0" u="none" strike="noStrike" kern="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sym typeface="Arial"/>
              </a:rPr>
              <a:t>TCP 1433</a:t>
            </a:r>
            <a:endParaRPr lang="en-US" altLang="zh-TW" sz="1800" dirty="0">
              <a:solidFill>
                <a:schemeClr val="tx1"/>
              </a:solidFill>
              <a:latin typeface="微軟正黑體" panose="020B0604030504040204" pitchFamily="34" charset="-120"/>
              <a:ea typeface="微軟正黑體" panose="020B0604030504040204" pitchFamily="34" charset="-120"/>
            </a:endParaRPr>
          </a:p>
          <a:p>
            <a:pPr>
              <a:defRPr/>
            </a:pPr>
            <a:r>
              <a:rPr lang="en-US" altLang="zh-TW" sz="1800" dirty="0">
                <a:solidFill>
                  <a:schemeClr val="tx1"/>
                </a:solidFill>
                <a:latin typeface="微軟正黑體" panose="020B0604030504040204" pitchFamily="34" charset="-120"/>
                <a:ea typeface="微軟正黑體" panose="020B0604030504040204" pitchFamily="34" charset="-120"/>
              </a:rPr>
              <a:t>2.  </a:t>
            </a:r>
            <a:r>
              <a:rPr lang="zh-TW" altLang="en-US" sz="1800" dirty="0">
                <a:solidFill>
                  <a:schemeClr val="tx1"/>
                </a:solidFill>
                <a:latin typeface="微軟正黑體" panose="020B0604030504040204" pitchFamily="34" charset="-120"/>
                <a:ea typeface="微軟正黑體" panose="020B0604030504040204" pitchFamily="34" charset="-120"/>
              </a:rPr>
              <a:t>預估需求的傳輸量、反應時間、及效能資訊如下，</a:t>
            </a:r>
            <a:r>
              <a:rPr lang="zh-TW" altLang="en-US" sz="1800" dirty="0">
                <a:solidFill>
                  <a:srgbClr val="0070C0"/>
                </a:solidFill>
                <a:latin typeface="微軟正黑體" panose="020B0604030504040204" pitchFamily="34" charset="-120"/>
                <a:ea typeface="微軟正黑體" panose="020B0604030504040204" pitchFamily="34" charset="-120"/>
                <a:cs typeface="新細明體" panose="02020500000000000000" pitchFamily="18" charset="-120"/>
              </a:rPr>
              <a:t>網路頻寬足以因應。</a:t>
            </a:r>
            <a:endParaRPr lang="zh-TW" altLang="en-US" sz="1800" dirty="0">
              <a:solidFill>
                <a:schemeClr val="tx1"/>
              </a:solidFill>
              <a:latin typeface="微軟正黑體" panose="020B0604030504040204" pitchFamily="34" charset="-120"/>
              <a:ea typeface="微軟正黑體" panose="020B0604030504040204" pitchFamily="34" charset="-120"/>
            </a:endParaRPr>
          </a:p>
          <a:p>
            <a:pPr marL="285750" lvl="2" indent="-285750">
              <a:buFont typeface="Wingdings" panose="05000000000000000000" pitchFamily="2" charset="2"/>
              <a:buChar char="l"/>
            </a:pPr>
            <a:r>
              <a:rPr lang="zh-TW" altLang="zh-TW" sz="1800" dirty="0">
                <a:effectLst/>
                <a:latin typeface="微軟正黑體" panose="020B0604030504040204" pitchFamily="34" charset="-120"/>
                <a:ea typeface="微軟正黑體" panose="020B0604030504040204" pitchFamily="34" charset="-120"/>
                <a:cs typeface="新細明體" panose="02020500000000000000" pitchFamily="18" charset="-120"/>
              </a:rPr>
              <a:t>傳輸量：以每一個資料來源</a:t>
            </a:r>
            <a:r>
              <a:rPr lang="en-US" altLang="zh-TW" sz="1800" dirty="0">
                <a:effectLst/>
                <a:latin typeface="微軟正黑體" panose="020B0604030504040204" pitchFamily="34" charset="-120"/>
                <a:ea typeface="微軟正黑體" panose="020B0604030504040204" pitchFamily="34" charset="-120"/>
                <a:cs typeface="新細明體" panose="02020500000000000000" pitchFamily="18" charset="-120"/>
              </a:rPr>
              <a:t>(</a:t>
            </a:r>
            <a:r>
              <a:rPr lang="zh-TW" altLang="zh-TW" sz="1800" dirty="0">
                <a:effectLst/>
                <a:latin typeface="微軟正黑體" panose="020B0604030504040204" pitchFamily="34" charset="-120"/>
                <a:ea typeface="微軟正黑體" panose="020B0604030504040204" pitchFamily="34" charset="-120"/>
                <a:cs typeface="新細明體" panose="02020500000000000000" pitchFamily="18" charset="-120"/>
              </a:rPr>
              <a:t>目前共</a:t>
            </a:r>
            <a:r>
              <a:rPr lang="en-US" altLang="zh-TW" sz="1800" dirty="0">
                <a:effectLst/>
                <a:latin typeface="微軟正黑體" panose="020B0604030504040204" pitchFamily="34" charset="-120"/>
                <a:ea typeface="微軟正黑體" panose="020B0604030504040204" pitchFamily="34" charset="-120"/>
                <a:cs typeface="新細明體" panose="02020500000000000000" pitchFamily="18" charset="-120"/>
              </a:rPr>
              <a:t>77</a:t>
            </a:r>
            <a:r>
              <a:rPr lang="zh-TW" altLang="zh-TW" sz="1800" dirty="0">
                <a:effectLst/>
                <a:latin typeface="微軟正黑體" panose="020B0604030504040204" pitchFamily="34" charset="-120"/>
                <a:ea typeface="微軟正黑體" panose="020B0604030504040204" pitchFamily="34" charset="-120"/>
                <a:cs typeface="新細明體" panose="02020500000000000000" pitchFamily="18" charset="-120"/>
              </a:rPr>
              <a:t>個來源，</a:t>
            </a:r>
            <a:r>
              <a:rPr lang="en-US" altLang="zh-TW" sz="1800" dirty="0">
                <a:effectLst/>
                <a:latin typeface="微軟正黑體" panose="020B0604030504040204" pitchFamily="34" charset="-120"/>
                <a:ea typeface="微軟正黑體" panose="020B0604030504040204" pitchFamily="34" charset="-120"/>
                <a:cs typeface="新細明體" panose="02020500000000000000" pitchFamily="18" charset="-120"/>
              </a:rPr>
              <a:t>143</a:t>
            </a:r>
            <a:r>
              <a:rPr lang="zh-TW" altLang="zh-TW" sz="1800" dirty="0">
                <a:effectLst/>
                <a:latin typeface="微軟正黑體" panose="020B0604030504040204" pitchFamily="34" charset="-120"/>
                <a:ea typeface="微軟正黑體" panose="020B0604030504040204" pitchFamily="34" charset="-120"/>
                <a:cs typeface="新細明體" panose="02020500000000000000" pitchFamily="18" charset="-120"/>
              </a:rPr>
              <a:t>支爬蟲</a:t>
            </a:r>
            <a:r>
              <a:rPr lang="en-US" altLang="zh-TW" sz="1800" dirty="0">
                <a:effectLst/>
                <a:latin typeface="微軟正黑體" panose="020B0604030504040204" pitchFamily="34" charset="-120"/>
                <a:ea typeface="微軟正黑體" panose="020B0604030504040204" pitchFamily="34" charset="-120"/>
                <a:cs typeface="新細明體" panose="02020500000000000000" pitchFamily="18" charset="-120"/>
              </a:rPr>
              <a:t>)</a:t>
            </a:r>
            <a:r>
              <a:rPr lang="zh-TW" altLang="zh-TW" sz="1800" dirty="0">
                <a:effectLst/>
                <a:latin typeface="微軟正黑體" panose="020B0604030504040204" pitchFamily="34" charset="-120"/>
                <a:ea typeface="微軟正黑體" panose="020B0604030504040204" pitchFamily="34" charset="-120"/>
                <a:cs typeface="新細明體" panose="02020500000000000000" pitchFamily="18" charset="-120"/>
              </a:rPr>
              <a:t>，每天執行一次的頻率估算，</a:t>
            </a:r>
            <a:r>
              <a:rPr lang="zh-TW" altLang="zh-TW" sz="1800" dirty="0">
                <a:solidFill>
                  <a:srgbClr val="0070C0"/>
                </a:solidFill>
                <a:effectLst/>
                <a:latin typeface="微軟正黑體" panose="020B0604030504040204" pitchFamily="34" charset="-120"/>
                <a:ea typeface="微軟正黑體" panose="020B0604030504040204" pitchFamily="34" charset="-120"/>
                <a:cs typeface="新細明體" panose="02020500000000000000" pitchFamily="18" charset="-120"/>
              </a:rPr>
              <a:t>每日傳輸量</a:t>
            </a:r>
            <a:r>
              <a:rPr lang="zh-TW" altLang="en-US" sz="1800" dirty="0">
                <a:solidFill>
                  <a:srgbClr val="0070C0"/>
                </a:solidFill>
                <a:effectLst/>
                <a:latin typeface="微軟正黑體" panose="020B0604030504040204" pitchFamily="34" charset="-120"/>
                <a:ea typeface="微軟正黑體" panose="020B0604030504040204" pitchFamily="34" charset="-120"/>
                <a:cs typeface="新細明體" panose="02020500000000000000" pitchFamily="18" charset="-120"/>
              </a:rPr>
              <a:t>約</a:t>
            </a:r>
            <a:r>
              <a:rPr lang="en-US" altLang="zh-TW" sz="1800" dirty="0">
                <a:solidFill>
                  <a:srgbClr val="0070C0"/>
                </a:solidFill>
                <a:effectLst/>
                <a:latin typeface="微軟正黑體" panose="020B0604030504040204" pitchFamily="34" charset="-120"/>
                <a:ea typeface="微軟正黑體" panose="020B0604030504040204" pitchFamily="34" charset="-120"/>
                <a:cs typeface="新細明體" panose="02020500000000000000" pitchFamily="18" charset="-120"/>
              </a:rPr>
              <a:t>4.3Gb</a:t>
            </a:r>
            <a:endParaRPr lang="zh-TW" altLang="zh-TW" sz="1800" dirty="0">
              <a:effectLst/>
              <a:latin typeface="微軟正黑體" panose="020B0604030504040204" pitchFamily="34" charset="-120"/>
              <a:ea typeface="微軟正黑體" panose="020B0604030504040204" pitchFamily="34" charset="-120"/>
              <a:cs typeface="新細明體" panose="02020500000000000000" pitchFamily="18" charset="-120"/>
            </a:endParaRPr>
          </a:p>
          <a:p>
            <a:pPr marL="285750" lvl="2" indent="-285750">
              <a:buFont typeface="Wingdings" panose="05000000000000000000" pitchFamily="2" charset="2"/>
              <a:buChar char="l"/>
            </a:pPr>
            <a:r>
              <a:rPr lang="zh-TW" altLang="zh-TW" sz="1800" dirty="0">
                <a:effectLst/>
                <a:latin typeface="微軟正黑體" panose="020B0604030504040204" pitchFamily="34" charset="-120"/>
                <a:ea typeface="微軟正黑體" panose="020B0604030504040204" pitchFamily="34" charset="-120"/>
                <a:cs typeface="新細明體" panose="02020500000000000000" pitchFamily="18" charset="-120"/>
              </a:rPr>
              <a:t>執行時間：以目前資料量最大的資料集爬蟲作業估算，</a:t>
            </a:r>
            <a:r>
              <a:rPr lang="zh-TW" altLang="zh-TW" sz="1800" dirty="0">
                <a:solidFill>
                  <a:srgbClr val="0070C0"/>
                </a:solidFill>
                <a:effectLst/>
                <a:latin typeface="微軟正黑體" panose="020B0604030504040204" pitchFamily="34" charset="-120"/>
                <a:ea typeface="微軟正黑體" panose="020B0604030504040204" pitchFamily="34" charset="-120"/>
                <a:cs typeface="新細明體" panose="02020500000000000000" pitchFamily="18" charset="-120"/>
              </a:rPr>
              <a:t>每次執行時間最多約</a:t>
            </a:r>
            <a:r>
              <a:rPr lang="en-US" altLang="zh-TW" sz="1800" dirty="0">
                <a:solidFill>
                  <a:srgbClr val="0070C0"/>
                </a:solidFill>
                <a:effectLst/>
                <a:latin typeface="微軟正黑體" panose="020B0604030504040204" pitchFamily="34" charset="-120"/>
                <a:ea typeface="微軟正黑體" panose="020B0604030504040204" pitchFamily="34" charset="-120"/>
                <a:cs typeface="新細明體" panose="02020500000000000000" pitchFamily="18" charset="-120"/>
              </a:rPr>
              <a:t>12</a:t>
            </a:r>
            <a:r>
              <a:rPr lang="zh-TW" altLang="zh-TW" sz="1800" dirty="0">
                <a:solidFill>
                  <a:srgbClr val="0070C0"/>
                </a:solidFill>
                <a:effectLst/>
                <a:latin typeface="微軟正黑體" panose="020B0604030504040204" pitchFamily="34" charset="-120"/>
                <a:ea typeface="微軟正黑體" panose="020B0604030504040204" pitchFamily="34" charset="-120"/>
                <a:cs typeface="新細明體" panose="02020500000000000000" pitchFamily="18" charset="-120"/>
              </a:rPr>
              <a:t>分鐘</a:t>
            </a:r>
            <a:endParaRPr lang="zh-TW" altLang="zh-TW" sz="1800" dirty="0">
              <a:effectLst/>
              <a:latin typeface="微軟正黑體" panose="020B0604030504040204" pitchFamily="34" charset="-120"/>
              <a:ea typeface="微軟正黑體" panose="020B0604030504040204" pitchFamily="34" charset="-120"/>
              <a:cs typeface="新細明體" panose="02020500000000000000" pitchFamily="18" charset="-120"/>
            </a:endParaRPr>
          </a:p>
          <a:p>
            <a:pPr marL="285750" lvl="2" indent="-285750">
              <a:buFont typeface="Wingdings" panose="05000000000000000000" pitchFamily="2" charset="2"/>
              <a:buChar char="l"/>
            </a:pPr>
            <a:r>
              <a:rPr lang="en-US" altLang="zh-TW" sz="1800" dirty="0">
                <a:effectLst/>
                <a:latin typeface="微軟正黑體" panose="020B0604030504040204" pitchFamily="34" charset="-120"/>
                <a:ea typeface="微軟正黑體" panose="020B0604030504040204" pitchFamily="34" charset="-120"/>
                <a:cs typeface="新細明體" panose="02020500000000000000" pitchFamily="18" charset="-120"/>
              </a:rPr>
              <a:t>CPU</a:t>
            </a:r>
            <a:r>
              <a:rPr lang="zh-TW" altLang="zh-TW" sz="1800" dirty="0">
                <a:effectLst/>
                <a:latin typeface="微軟正黑體" panose="020B0604030504040204" pitchFamily="34" charset="-120"/>
                <a:ea typeface="微軟正黑體" panose="020B0604030504040204" pitchFamily="34" charset="-120"/>
                <a:cs typeface="新細明體" panose="02020500000000000000" pitchFamily="18" charset="-120"/>
              </a:rPr>
              <a:t>效能：截至目前為止系統效能從無發生過警訊，運行</a:t>
            </a:r>
            <a:r>
              <a:rPr lang="zh-TW" altLang="zh-TW" sz="1800" dirty="0">
                <a:solidFill>
                  <a:srgbClr val="0070C0"/>
                </a:solidFill>
                <a:effectLst/>
                <a:latin typeface="微軟正黑體" panose="020B0604030504040204" pitchFamily="34" charset="-120"/>
                <a:ea typeface="微軟正黑體" panose="020B0604030504040204" pitchFamily="34" charset="-120"/>
                <a:cs typeface="新細明體" panose="02020500000000000000" pitchFamily="18" charset="-120"/>
              </a:rPr>
              <a:t>效能在可接受範圍內</a:t>
            </a:r>
            <a:r>
              <a:rPr lang="zh-TW" altLang="en-US" sz="1800" dirty="0">
                <a:solidFill>
                  <a:srgbClr val="0070C0"/>
                </a:solidFill>
                <a:effectLst/>
                <a:latin typeface="微軟正黑體" panose="020B0604030504040204" pitchFamily="34" charset="-120"/>
                <a:ea typeface="微軟正黑體" panose="020B0604030504040204" pitchFamily="34" charset="-120"/>
                <a:cs typeface="新細明體" panose="02020500000000000000" pitchFamily="18" charset="-120"/>
              </a:rPr>
              <a:t>。</a:t>
            </a:r>
            <a:endParaRPr lang="zh-TW" altLang="zh-TW" sz="1800" dirty="0">
              <a:effectLst/>
              <a:latin typeface="微軟正黑體" panose="020B0604030504040204" pitchFamily="34" charset="-120"/>
              <a:ea typeface="微軟正黑體" panose="020B0604030504040204" pitchFamily="34" charset="-120"/>
              <a:cs typeface="新細明體" panose="02020500000000000000" pitchFamily="18" charset="-120"/>
            </a:endParaRPr>
          </a:p>
          <a:p>
            <a:pPr marR="0" lvl="0" algn="l" defTabSz="914400" rtl="0" eaLnBrk="1" fontAlgn="auto" latinLnBrk="0" hangingPunct="1">
              <a:lnSpc>
                <a:spcPct val="100000"/>
              </a:lnSpc>
              <a:spcBef>
                <a:spcPts val="0"/>
              </a:spcBef>
              <a:spcAft>
                <a:spcPts val="0"/>
              </a:spcAft>
              <a:buClr>
                <a:srgbClr val="000000"/>
              </a:buClr>
              <a:buSzTx/>
              <a:tabLst/>
              <a:defRPr/>
            </a:pPr>
            <a:endParaRPr lang="en-US" altLang="zh-TW" sz="1600" dirty="0">
              <a:solidFill>
                <a:schemeClr val="tx1"/>
              </a:solidFill>
              <a:latin typeface="微軟正黑體" panose="020B0604030504040204" pitchFamily="34" charset="-120"/>
              <a:ea typeface="微軟正黑體" panose="020B0604030504040204" pitchFamily="34" charset="-120"/>
            </a:endParaRPr>
          </a:p>
        </p:txBody>
      </p:sp>
      <p:pic>
        <p:nvPicPr>
          <p:cNvPr id="1026" name="圖片 3">
            <a:extLst>
              <a:ext uri="{FF2B5EF4-FFF2-40B4-BE49-F238E27FC236}">
                <a16:creationId xmlns:a16="http://schemas.microsoft.com/office/drawing/2014/main" id="{AC68EE91-66CA-6D51-5DC5-0FB7AC10A6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5677" y="2516960"/>
            <a:ext cx="7819053" cy="37293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46469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2E83F07-6F4A-D00B-4F07-E366EDE2B8B3}"/>
              </a:ext>
            </a:extLst>
          </p:cNvPr>
          <p:cNvSpPr>
            <a:spLocks noGrp="1"/>
          </p:cNvSpPr>
          <p:nvPr>
            <p:ph type="title"/>
          </p:nvPr>
        </p:nvSpPr>
        <p:spPr/>
        <p:txBody>
          <a:bodyPr/>
          <a:lstStyle/>
          <a:p>
            <a:r>
              <a:rPr lang="zh-TW" altLang="en-US" b="1" dirty="0"/>
              <a:t>合規檢視</a:t>
            </a:r>
          </a:p>
        </p:txBody>
      </p:sp>
      <p:sp>
        <p:nvSpPr>
          <p:cNvPr id="4" name="文字方塊 3">
            <a:extLst>
              <a:ext uri="{FF2B5EF4-FFF2-40B4-BE49-F238E27FC236}">
                <a16:creationId xmlns:a16="http://schemas.microsoft.com/office/drawing/2014/main" id="{3AC08F27-285F-3A80-2A5A-1BD3D568979F}"/>
              </a:ext>
            </a:extLst>
          </p:cNvPr>
          <p:cNvSpPr txBox="1"/>
          <p:nvPr/>
        </p:nvSpPr>
        <p:spPr>
          <a:xfrm>
            <a:off x="2880360" y="3197388"/>
            <a:ext cx="4654296" cy="400110"/>
          </a:xfrm>
          <a:prstGeom prst="rect">
            <a:avLst/>
          </a:prstGeom>
          <a:noFill/>
        </p:spPr>
        <p:txBody>
          <a:bodyPr wrap="square">
            <a:spAutoFit/>
          </a:bodyPr>
          <a:lstStyle/>
          <a:p>
            <a:r>
              <a:rPr lang="zh-TW" altLang="en-US" sz="2000" b="1" dirty="0"/>
              <a:t>此次法規無修訂，已通過合規檢視會議</a:t>
            </a:r>
            <a:endParaRPr lang="en-US" altLang="zh-TW" sz="2000" b="1" dirty="0"/>
          </a:p>
        </p:txBody>
      </p:sp>
    </p:spTree>
    <p:extLst>
      <p:ext uri="{BB962C8B-B14F-4D97-AF65-F5344CB8AC3E}">
        <p14:creationId xmlns:p14="http://schemas.microsoft.com/office/powerpoint/2010/main" val="20443322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F6072D0-2010-FD3A-D193-77B4FEB2C409}"/>
              </a:ext>
            </a:extLst>
          </p:cNvPr>
          <p:cNvSpPr>
            <a:spLocks noGrp="1"/>
          </p:cNvSpPr>
          <p:nvPr>
            <p:ph type="title"/>
          </p:nvPr>
        </p:nvSpPr>
        <p:spPr/>
        <p:txBody>
          <a:bodyPr/>
          <a:lstStyle/>
          <a:p>
            <a:r>
              <a:rPr lang="zh-TW" altLang="en-US" b="1" dirty="0"/>
              <a:t>資料取用</a:t>
            </a:r>
          </a:p>
        </p:txBody>
      </p:sp>
      <p:grpSp>
        <p:nvGrpSpPr>
          <p:cNvPr id="11" name="群組 10">
            <a:extLst>
              <a:ext uri="{FF2B5EF4-FFF2-40B4-BE49-F238E27FC236}">
                <a16:creationId xmlns:a16="http://schemas.microsoft.com/office/drawing/2014/main" id="{49E6E09C-103F-ABEF-2DEF-FF97AF2D63A9}"/>
              </a:ext>
            </a:extLst>
          </p:cNvPr>
          <p:cNvGrpSpPr/>
          <p:nvPr/>
        </p:nvGrpSpPr>
        <p:grpSpPr>
          <a:xfrm>
            <a:off x="885137" y="1036779"/>
            <a:ext cx="9157431" cy="3842224"/>
            <a:chOff x="885137" y="1036779"/>
            <a:chExt cx="9157431" cy="3842224"/>
          </a:xfrm>
        </p:grpSpPr>
        <p:sp>
          <p:nvSpPr>
            <p:cNvPr id="3" name="Freeform 66">
              <a:extLst>
                <a:ext uri="{FF2B5EF4-FFF2-40B4-BE49-F238E27FC236}">
                  <a16:creationId xmlns:a16="http://schemas.microsoft.com/office/drawing/2014/main" id="{8286B516-A289-8254-FA52-43C1F22E2DE4}"/>
                </a:ext>
              </a:extLst>
            </p:cNvPr>
            <p:cNvSpPr/>
            <p:nvPr/>
          </p:nvSpPr>
          <p:spPr bwMode="auto">
            <a:xfrm>
              <a:off x="4224832" y="1036779"/>
              <a:ext cx="2912744" cy="2015490"/>
            </a:xfrm>
            <a:custGeom>
              <a:avLst/>
              <a:gdLst>
                <a:gd name="T0" fmla="*/ 213 w 389"/>
                <a:gd name="T1" fmla="*/ 243 h 269"/>
                <a:gd name="T2" fmla="*/ 389 w 389"/>
                <a:gd name="T3" fmla="*/ 134 h 269"/>
                <a:gd name="T4" fmla="*/ 213 w 389"/>
                <a:gd name="T5" fmla="*/ 25 h 269"/>
                <a:gd name="T6" fmla="*/ 196 w 389"/>
                <a:gd name="T7" fmla="*/ 15 h 269"/>
                <a:gd name="T8" fmla="*/ 135 w 389"/>
                <a:gd name="T9" fmla="*/ 0 h 269"/>
                <a:gd name="T10" fmla="*/ 0 w 389"/>
                <a:gd name="T11" fmla="*/ 134 h 269"/>
                <a:gd name="T12" fmla="*/ 135 w 389"/>
                <a:gd name="T13" fmla="*/ 269 h 269"/>
                <a:gd name="T14" fmla="*/ 196 w 389"/>
                <a:gd name="T15" fmla="*/ 253 h 269"/>
                <a:gd name="T16" fmla="*/ 213 w 389"/>
                <a:gd name="T17" fmla="*/ 243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9" h="269">
                  <a:moveTo>
                    <a:pt x="213" y="243"/>
                  </a:moveTo>
                  <a:cubicBezTo>
                    <a:pt x="389" y="134"/>
                    <a:pt x="389" y="134"/>
                    <a:pt x="389" y="134"/>
                  </a:cubicBezTo>
                  <a:cubicBezTo>
                    <a:pt x="213" y="25"/>
                    <a:pt x="213" y="25"/>
                    <a:pt x="213" y="25"/>
                  </a:cubicBezTo>
                  <a:cubicBezTo>
                    <a:pt x="196" y="15"/>
                    <a:pt x="196" y="15"/>
                    <a:pt x="196" y="15"/>
                  </a:cubicBezTo>
                  <a:cubicBezTo>
                    <a:pt x="178" y="5"/>
                    <a:pt x="157" y="0"/>
                    <a:pt x="135" y="0"/>
                  </a:cubicBezTo>
                  <a:cubicBezTo>
                    <a:pt x="60" y="0"/>
                    <a:pt x="0" y="60"/>
                    <a:pt x="0" y="134"/>
                  </a:cubicBezTo>
                  <a:cubicBezTo>
                    <a:pt x="0" y="208"/>
                    <a:pt x="60" y="269"/>
                    <a:pt x="135" y="269"/>
                  </a:cubicBezTo>
                  <a:cubicBezTo>
                    <a:pt x="157" y="269"/>
                    <a:pt x="178" y="263"/>
                    <a:pt x="196" y="253"/>
                  </a:cubicBezTo>
                  <a:lnTo>
                    <a:pt x="213" y="243"/>
                  </a:lnTo>
                  <a:close/>
                </a:path>
              </a:pathLst>
            </a:custGeom>
            <a:no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160">
                <a:solidFill>
                  <a:prstClr val="white"/>
                </a:solidFill>
              </a:endParaRPr>
            </a:p>
          </p:txBody>
        </p:sp>
        <p:sp>
          <p:nvSpPr>
            <p:cNvPr id="4" name="Freeform 46">
              <a:extLst>
                <a:ext uri="{FF2B5EF4-FFF2-40B4-BE49-F238E27FC236}">
                  <a16:creationId xmlns:a16="http://schemas.microsoft.com/office/drawing/2014/main" id="{9A5EC3AD-3D9E-188B-FB0B-E700464B2D8F}"/>
                </a:ext>
              </a:extLst>
            </p:cNvPr>
            <p:cNvSpPr/>
            <p:nvPr/>
          </p:nvSpPr>
          <p:spPr bwMode="auto">
            <a:xfrm>
              <a:off x="2720929" y="1601171"/>
              <a:ext cx="3321365" cy="3277832"/>
            </a:xfrm>
            <a:custGeom>
              <a:avLst/>
              <a:gdLst>
                <a:gd name="T0" fmla="*/ 25 w 423"/>
                <a:gd name="T1" fmla="*/ 101 h 476"/>
                <a:gd name="T2" fmla="*/ 186 w 423"/>
                <a:gd name="T3" fmla="*/ 8 h 476"/>
                <a:gd name="T4" fmla="*/ 237 w 423"/>
                <a:gd name="T5" fmla="*/ 8 h 476"/>
                <a:gd name="T6" fmla="*/ 397 w 423"/>
                <a:gd name="T7" fmla="*/ 101 h 476"/>
                <a:gd name="T8" fmla="*/ 423 w 423"/>
                <a:gd name="T9" fmla="*/ 145 h 476"/>
                <a:gd name="T10" fmla="*/ 423 w 423"/>
                <a:gd name="T11" fmla="*/ 331 h 476"/>
                <a:gd name="T12" fmla="*/ 398 w 423"/>
                <a:gd name="T13" fmla="*/ 375 h 476"/>
                <a:gd name="T14" fmla="*/ 237 w 423"/>
                <a:gd name="T15" fmla="*/ 467 h 476"/>
                <a:gd name="T16" fmla="*/ 186 w 423"/>
                <a:gd name="T17" fmla="*/ 467 h 476"/>
                <a:gd name="T18" fmla="*/ 105 w 423"/>
                <a:gd name="T19" fmla="*/ 421 h 476"/>
                <a:gd name="T20" fmla="*/ 25 w 423"/>
                <a:gd name="T21" fmla="*/ 375 h 476"/>
                <a:gd name="T22" fmla="*/ 0 w 423"/>
                <a:gd name="T23" fmla="*/ 330 h 476"/>
                <a:gd name="T24" fmla="*/ 0 w 423"/>
                <a:gd name="T25" fmla="*/ 145 h 476"/>
                <a:gd name="T26" fmla="*/ 25 w 423"/>
                <a:gd name="T27" fmla="*/ 101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23" h="476">
                  <a:moveTo>
                    <a:pt x="25" y="101"/>
                  </a:moveTo>
                  <a:cubicBezTo>
                    <a:pt x="79" y="70"/>
                    <a:pt x="132" y="39"/>
                    <a:pt x="186" y="8"/>
                  </a:cubicBezTo>
                  <a:cubicBezTo>
                    <a:pt x="202" y="0"/>
                    <a:pt x="221" y="0"/>
                    <a:pt x="237" y="8"/>
                  </a:cubicBezTo>
                  <a:cubicBezTo>
                    <a:pt x="290" y="39"/>
                    <a:pt x="344" y="70"/>
                    <a:pt x="397" y="101"/>
                  </a:cubicBezTo>
                  <a:cubicBezTo>
                    <a:pt x="413" y="110"/>
                    <a:pt x="422" y="127"/>
                    <a:pt x="423" y="145"/>
                  </a:cubicBezTo>
                  <a:cubicBezTo>
                    <a:pt x="423" y="331"/>
                    <a:pt x="423" y="331"/>
                    <a:pt x="423" y="331"/>
                  </a:cubicBezTo>
                  <a:cubicBezTo>
                    <a:pt x="422" y="348"/>
                    <a:pt x="413" y="365"/>
                    <a:pt x="398" y="375"/>
                  </a:cubicBezTo>
                  <a:cubicBezTo>
                    <a:pt x="237" y="467"/>
                    <a:pt x="237" y="467"/>
                    <a:pt x="237" y="467"/>
                  </a:cubicBezTo>
                  <a:cubicBezTo>
                    <a:pt x="221" y="476"/>
                    <a:pt x="201" y="476"/>
                    <a:pt x="186" y="467"/>
                  </a:cubicBezTo>
                  <a:cubicBezTo>
                    <a:pt x="105" y="421"/>
                    <a:pt x="105" y="421"/>
                    <a:pt x="105" y="421"/>
                  </a:cubicBezTo>
                  <a:cubicBezTo>
                    <a:pt x="25" y="375"/>
                    <a:pt x="25" y="375"/>
                    <a:pt x="25" y="375"/>
                  </a:cubicBezTo>
                  <a:cubicBezTo>
                    <a:pt x="10" y="365"/>
                    <a:pt x="0" y="348"/>
                    <a:pt x="0" y="330"/>
                  </a:cubicBezTo>
                  <a:cubicBezTo>
                    <a:pt x="0" y="145"/>
                    <a:pt x="0" y="145"/>
                    <a:pt x="0" y="145"/>
                  </a:cubicBezTo>
                  <a:cubicBezTo>
                    <a:pt x="0" y="127"/>
                    <a:pt x="10" y="110"/>
                    <a:pt x="25" y="101"/>
                  </a:cubicBezTo>
                  <a:close/>
                </a:path>
              </a:pathLst>
            </a:custGeom>
            <a:solidFill>
              <a:schemeClr val="bg1"/>
            </a:solidFill>
            <a:ln w="76200">
              <a:solidFill>
                <a:srgbClr val="D9D9D9"/>
              </a:solidFill>
            </a:ln>
            <a:effectLst>
              <a:outerShdw blurRad="76200" dist="76200" dir="2700000" algn="tl"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9728" tIns="54864" rIns="109728" bIns="54864"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920" dirty="0">
                <a:latin typeface="Bebas" pitchFamily="2" charset="0"/>
                <a:ea typeface="微软雅黑" panose="020B0503020204020204" pitchFamily="34" charset="-122"/>
                <a:sym typeface="Bebas" pitchFamily="2" charset="0"/>
              </a:endParaRPr>
            </a:p>
          </p:txBody>
        </p:sp>
        <p:sp>
          <p:nvSpPr>
            <p:cNvPr id="5" name="Freeform 5">
              <a:extLst>
                <a:ext uri="{FF2B5EF4-FFF2-40B4-BE49-F238E27FC236}">
                  <a16:creationId xmlns:a16="http://schemas.microsoft.com/office/drawing/2014/main" id="{59953970-916B-A1EE-9588-061DDB7645CA}"/>
                </a:ext>
              </a:extLst>
            </p:cNvPr>
            <p:cNvSpPr/>
            <p:nvPr/>
          </p:nvSpPr>
          <p:spPr bwMode="auto">
            <a:xfrm>
              <a:off x="885137" y="2411850"/>
              <a:ext cx="1863742" cy="1656474"/>
            </a:xfrm>
            <a:custGeom>
              <a:avLst/>
              <a:gdLst>
                <a:gd name="T0" fmla="*/ 145 w 477"/>
                <a:gd name="T1" fmla="*/ 0 h 423"/>
                <a:gd name="T2" fmla="*/ 331 w 477"/>
                <a:gd name="T3" fmla="*/ 0 h 423"/>
                <a:gd name="T4" fmla="*/ 375 w 477"/>
                <a:gd name="T5" fmla="*/ 25 h 423"/>
                <a:gd name="T6" fmla="*/ 468 w 477"/>
                <a:gd name="T7" fmla="*/ 186 h 423"/>
                <a:gd name="T8" fmla="*/ 468 w 477"/>
                <a:gd name="T9" fmla="*/ 237 h 423"/>
                <a:gd name="T10" fmla="*/ 375 w 477"/>
                <a:gd name="T11" fmla="*/ 398 h 423"/>
                <a:gd name="T12" fmla="*/ 331 w 477"/>
                <a:gd name="T13" fmla="*/ 423 h 423"/>
                <a:gd name="T14" fmla="*/ 146 w 477"/>
                <a:gd name="T15" fmla="*/ 423 h 423"/>
                <a:gd name="T16" fmla="*/ 101 w 477"/>
                <a:gd name="T17" fmla="*/ 398 h 423"/>
                <a:gd name="T18" fmla="*/ 55 w 477"/>
                <a:gd name="T19" fmla="*/ 317 h 423"/>
                <a:gd name="T20" fmla="*/ 9 w 477"/>
                <a:gd name="T21" fmla="*/ 237 h 423"/>
                <a:gd name="T22" fmla="*/ 9 w 477"/>
                <a:gd name="T23" fmla="*/ 186 h 423"/>
                <a:gd name="T24" fmla="*/ 101 w 477"/>
                <a:gd name="T25" fmla="*/ 25 h 423"/>
                <a:gd name="T26" fmla="*/ 145 w 477"/>
                <a:gd name="T27" fmla="*/ 0 h 4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77" h="423">
                  <a:moveTo>
                    <a:pt x="145" y="0"/>
                  </a:moveTo>
                  <a:cubicBezTo>
                    <a:pt x="207" y="0"/>
                    <a:pt x="269" y="0"/>
                    <a:pt x="331" y="0"/>
                  </a:cubicBezTo>
                  <a:cubicBezTo>
                    <a:pt x="349" y="1"/>
                    <a:pt x="366" y="10"/>
                    <a:pt x="375" y="25"/>
                  </a:cubicBezTo>
                  <a:cubicBezTo>
                    <a:pt x="406" y="79"/>
                    <a:pt x="437" y="132"/>
                    <a:pt x="468" y="186"/>
                  </a:cubicBezTo>
                  <a:cubicBezTo>
                    <a:pt x="476" y="202"/>
                    <a:pt x="477" y="221"/>
                    <a:pt x="468" y="237"/>
                  </a:cubicBezTo>
                  <a:cubicBezTo>
                    <a:pt x="375" y="398"/>
                    <a:pt x="375" y="398"/>
                    <a:pt x="375" y="398"/>
                  </a:cubicBezTo>
                  <a:cubicBezTo>
                    <a:pt x="366" y="413"/>
                    <a:pt x="349" y="423"/>
                    <a:pt x="331" y="423"/>
                  </a:cubicBezTo>
                  <a:cubicBezTo>
                    <a:pt x="146" y="423"/>
                    <a:pt x="146" y="423"/>
                    <a:pt x="146" y="423"/>
                  </a:cubicBezTo>
                  <a:cubicBezTo>
                    <a:pt x="128" y="423"/>
                    <a:pt x="111" y="413"/>
                    <a:pt x="101" y="398"/>
                  </a:cubicBezTo>
                  <a:cubicBezTo>
                    <a:pt x="55" y="317"/>
                    <a:pt x="55" y="317"/>
                    <a:pt x="55" y="317"/>
                  </a:cubicBezTo>
                  <a:cubicBezTo>
                    <a:pt x="9" y="237"/>
                    <a:pt x="9" y="237"/>
                    <a:pt x="9" y="237"/>
                  </a:cubicBezTo>
                  <a:cubicBezTo>
                    <a:pt x="0" y="222"/>
                    <a:pt x="0" y="202"/>
                    <a:pt x="9" y="186"/>
                  </a:cubicBezTo>
                  <a:cubicBezTo>
                    <a:pt x="101" y="25"/>
                    <a:pt x="101" y="25"/>
                    <a:pt x="101" y="25"/>
                  </a:cubicBezTo>
                  <a:cubicBezTo>
                    <a:pt x="111" y="10"/>
                    <a:pt x="128" y="1"/>
                    <a:pt x="145" y="0"/>
                  </a:cubicBezTo>
                  <a:close/>
                </a:path>
              </a:pathLst>
            </a:custGeom>
            <a:solidFill>
              <a:srgbClr val="0E6EB8"/>
            </a:solidFill>
            <a:ln w="25400">
              <a:noFill/>
            </a:ln>
            <a:effectLst>
              <a:outerShdw blurRad="241300" dist="38100" dir="5400000" sx="90000" sy="-19000"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9728" tIns="54864" rIns="109728" bIns="54864"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TW" altLang="en-US" sz="2400" dirty="0">
                  <a:solidFill>
                    <a:srgbClr val="FFFFFF"/>
                  </a:solidFill>
                  <a:latin typeface="Bebas" pitchFamily="2" charset="0"/>
                  <a:ea typeface="微软雅黑" panose="020B0503020204020204" pitchFamily="34" charset="-122"/>
                  <a:sym typeface="Bebas" pitchFamily="2" charset="0"/>
                </a:rPr>
                <a:t>資料取用</a:t>
              </a:r>
            </a:p>
          </p:txBody>
        </p:sp>
        <p:sp>
          <p:nvSpPr>
            <p:cNvPr id="6" name="Freeform 5">
              <a:extLst>
                <a:ext uri="{FF2B5EF4-FFF2-40B4-BE49-F238E27FC236}">
                  <a16:creationId xmlns:a16="http://schemas.microsoft.com/office/drawing/2014/main" id="{02555A60-1AF3-4068-E321-13EE10ABE562}"/>
                </a:ext>
              </a:extLst>
            </p:cNvPr>
            <p:cNvSpPr/>
            <p:nvPr/>
          </p:nvSpPr>
          <p:spPr bwMode="auto">
            <a:xfrm>
              <a:off x="8178826" y="2382307"/>
              <a:ext cx="1863742" cy="1656474"/>
            </a:xfrm>
            <a:custGeom>
              <a:avLst/>
              <a:gdLst>
                <a:gd name="T0" fmla="*/ 145 w 477"/>
                <a:gd name="T1" fmla="*/ 0 h 423"/>
                <a:gd name="T2" fmla="*/ 331 w 477"/>
                <a:gd name="T3" fmla="*/ 0 h 423"/>
                <a:gd name="T4" fmla="*/ 375 w 477"/>
                <a:gd name="T5" fmla="*/ 25 h 423"/>
                <a:gd name="T6" fmla="*/ 468 w 477"/>
                <a:gd name="T7" fmla="*/ 186 h 423"/>
                <a:gd name="T8" fmla="*/ 468 w 477"/>
                <a:gd name="T9" fmla="*/ 237 h 423"/>
                <a:gd name="T10" fmla="*/ 375 w 477"/>
                <a:gd name="T11" fmla="*/ 398 h 423"/>
                <a:gd name="T12" fmla="*/ 331 w 477"/>
                <a:gd name="T13" fmla="*/ 423 h 423"/>
                <a:gd name="T14" fmla="*/ 146 w 477"/>
                <a:gd name="T15" fmla="*/ 423 h 423"/>
                <a:gd name="T16" fmla="*/ 101 w 477"/>
                <a:gd name="T17" fmla="*/ 398 h 423"/>
                <a:gd name="T18" fmla="*/ 55 w 477"/>
                <a:gd name="T19" fmla="*/ 317 h 423"/>
                <a:gd name="T20" fmla="*/ 9 w 477"/>
                <a:gd name="T21" fmla="*/ 237 h 423"/>
                <a:gd name="T22" fmla="*/ 9 w 477"/>
                <a:gd name="T23" fmla="*/ 186 h 423"/>
                <a:gd name="T24" fmla="*/ 101 w 477"/>
                <a:gd name="T25" fmla="*/ 25 h 423"/>
                <a:gd name="T26" fmla="*/ 145 w 477"/>
                <a:gd name="T27" fmla="*/ 0 h 4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77" h="423">
                  <a:moveTo>
                    <a:pt x="145" y="0"/>
                  </a:moveTo>
                  <a:cubicBezTo>
                    <a:pt x="207" y="0"/>
                    <a:pt x="269" y="0"/>
                    <a:pt x="331" y="0"/>
                  </a:cubicBezTo>
                  <a:cubicBezTo>
                    <a:pt x="349" y="1"/>
                    <a:pt x="366" y="10"/>
                    <a:pt x="375" y="25"/>
                  </a:cubicBezTo>
                  <a:cubicBezTo>
                    <a:pt x="406" y="79"/>
                    <a:pt x="437" y="132"/>
                    <a:pt x="468" y="186"/>
                  </a:cubicBezTo>
                  <a:cubicBezTo>
                    <a:pt x="476" y="202"/>
                    <a:pt x="477" y="221"/>
                    <a:pt x="468" y="237"/>
                  </a:cubicBezTo>
                  <a:cubicBezTo>
                    <a:pt x="375" y="398"/>
                    <a:pt x="375" y="398"/>
                    <a:pt x="375" y="398"/>
                  </a:cubicBezTo>
                  <a:cubicBezTo>
                    <a:pt x="366" y="413"/>
                    <a:pt x="349" y="423"/>
                    <a:pt x="331" y="423"/>
                  </a:cubicBezTo>
                  <a:cubicBezTo>
                    <a:pt x="146" y="423"/>
                    <a:pt x="146" y="423"/>
                    <a:pt x="146" y="423"/>
                  </a:cubicBezTo>
                  <a:cubicBezTo>
                    <a:pt x="128" y="423"/>
                    <a:pt x="111" y="413"/>
                    <a:pt x="101" y="398"/>
                  </a:cubicBezTo>
                  <a:cubicBezTo>
                    <a:pt x="55" y="317"/>
                    <a:pt x="55" y="317"/>
                    <a:pt x="55" y="317"/>
                  </a:cubicBezTo>
                  <a:cubicBezTo>
                    <a:pt x="9" y="237"/>
                    <a:pt x="9" y="237"/>
                    <a:pt x="9" y="237"/>
                  </a:cubicBezTo>
                  <a:cubicBezTo>
                    <a:pt x="0" y="222"/>
                    <a:pt x="0" y="202"/>
                    <a:pt x="9" y="186"/>
                  </a:cubicBezTo>
                  <a:cubicBezTo>
                    <a:pt x="101" y="25"/>
                    <a:pt x="101" y="25"/>
                    <a:pt x="101" y="25"/>
                  </a:cubicBezTo>
                  <a:cubicBezTo>
                    <a:pt x="111" y="10"/>
                    <a:pt x="128" y="1"/>
                    <a:pt x="145" y="0"/>
                  </a:cubicBezTo>
                  <a:close/>
                </a:path>
              </a:pathLst>
            </a:custGeom>
            <a:solidFill>
              <a:srgbClr val="0E6EB8"/>
            </a:solidFill>
            <a:ln w="25400">
              <a:noFill/>
            </a:ln>
            <a:effectLst>
              <a:outerShdw blurRad="241300" dist="38100" dir="5400000" sx="90000" sy="-19000"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9728" tIns="54864" rIns="109728" bIns="54864"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TW" altLang="en-US" sz="2400" dirty="0">
                  <a:solidFill>
                    <a:srgbClr val="FFFFFF"/>
                  </a:solidFill>
                  <a:latin typeface="Bebas" pitchFamily="2" charset="0"/>
                  <a:ea typeface="微软雅黑" panose="020B0503020204020204" pitchFamily="34" charset="-122"/>
                  <a:sym typeface="Bebas" pitchFamily="2" charset="0"/>
                </a:rPr>
                <a:t>資料庫</a:t>
              </a:r>
              <a:br>
                <a:rPr lang="en-US" altLang="zh-TW" sz="2400" dirty="0">
                  <a:solidFill>
                    <a:srgbClr val="FFFFFF"/>
                  </a:solidFill>
                  <a:latin typeface="Bebas" pitchFamily="2" charset="0"/>
                  <a:ea typeface="微软雅黑" panose="020B0503020204020204" pitchFamily="34" charset="-122"/>
                  <a:sym typeface="Bebas" pitchFamily="2" charset="0"/>
                </a:rPr>
              </a:br>
              <a:r>
                <a:rPr lang="zh-TW" altLang="en-US" sz="2400" dirty="0">
                  <a:solidFill>
                    <a:srgbClr val="FFFFFF"/>
                  </a:solidFill>
                  <a:latin typeface="Bebas" pitchFamily="2" charset="0"/>
                  <a:ea typeface="微软雅黑" panose="020B0503020204020204" pitchFamily="34" charset="-122"/>
                  <a:sym typeface="Bebas" pitchFamily="2" charset="0"/>
                </a:rPr>
                <a:t>對接</a:t>
              </a:r>
              <a:endParaRPr lang="zh-CN" altLang="en-US" sz="2400" dirty="0">
                <a:solidFill>
                  <a:srgbClr val="FFFFFF"/>
                </a:solidFill>
                <a:latin typeface="Bebas" pitchFamily="2" charset="0"/>
                <a:ea typeface="微软雅黑" panose="020B0503020204020204" pitchFamily="34" charset="-122"/>
                <a:sym typeface="Bebas" pitchFamily="2" charset="0"/>
              </a:endParaRPr>
            </a:p>
          </p:txBody>
        </p:sp>
        <p:sp>
          <p:nvSpPr>
            <p:cNvPr id="7" name="Rectangle 7">
              <a:extLst>
                <a:ext uri="{FF2B5EF4-FFF2-40B4-BE49-F238E27FC236}">
                  <a16:creationId xmlns:a16="http://schemas.microsoft.com/office/drawing/2014/main" id="{F1A8D39C-BB56-234E-258B-985858B5DA8C}"/>
                </a:ext>
              </a:extLst>
            </p:cNvPr>
            <p:cNvSpPr>
              <a:spLocks noChangeArrowheads="1"/>
            </p:cNvSpPr>
            <p:nvPr/>
          </p:nvSpPr>
          <p:spPr bwMode="auto">
            <a:xfrm>
              <a:off x="2934129" y="2936783"/>
              <a:ext cx="2848549" cy="659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lvl="0" indent="-342900" algn="ctr">
                <a:lnSpc>
                  <a:spcPct val="150000"/>
                </a:lnSpc>
                <a:buFont typeface="Wingdings" panose="05000000000000000000" pitchFamily="2" charset="2"/>
                <a:buChar char="ü"/>
                <a:defRPr/>
              </a:pPr>
              <a:r>
                <a:rPr lang="zh-TW" altLang="en-US" sz="2800" b="1" kern="0" dirty="0">
                  <a:solidFill>
                    <a:schemeClr val="tx1">
                      <a:lumMod val="50000"/>
                      <a:lumOff val="50000"/>
                    </a:schemeClr>
                  </a:solidFill>
                  <a:latin typeface="微軟正黑體" panose="020B0604030504040204" pitchFamily="34" charset="-120"/>
                  <a:ea typeface="微軟正黑體" panose="020B0604030504040204" pitchFamily="34" charset="-120"/>
                  <a:sym typeface="Bebas" pitchFamily="2" charset="0"/>
                </a:rPr>
                <a:t>資料公開網站</a:t>
              </a:r>
              <a:endParaRPr lang="en-US" altLang="zh-TW" sz="2800" b="1" kern="0" dirty="0">
                <a:solidFill>
                  <a:schemeClr val="tx1">
                    <a:lumMod val="50000"/>
                    <a:lumOff val="50000"/>
                  </a:schemeClr>
                </a:solidFill>
                <a:latin typeface="微軟正黑體" panose="020B0604030504040204" pitchFamily="34" charset="-120"/>
                <a:ea typeface="微軟正黑體" panose="020B0604030504040204" pitchFamily="34" charset="-120"/>
                <a:sym typeface="Bebas" pitchFamily="2" charset="0"/>
              </a:endParaRPr>
            </a:p>
          </p:txBody>
        </p:sp>
        <p:grpSp>
          <p:nvGrpSpPr>
            <p:cNvPr id="8" name="群組 7">
              <a:extLst>
                <a:ext uri="{FF2B5EF4-FFF2-40B4-BE49-F238E27FC236}">
                  <a16:creationId xmlns:a16="http://schemas.microsoft.com/office/drawing/2014/main" id="{14299D1C-CBFD-EEA0-2933-8C86A11D1C00}"/>
                </a:ext>
              </a:extLst>
            </p:cNvPr>
            <p:cNvGrpSpPr/>
            <p:nvPr/>
          </p:nvGrpSpPr>
          <p:grpSpPr>
            <a:xfrm>
              <a:off x="6224829" y="2285417"/>
              <a:ext cx="2340368" cy="1913036"/>
              <a:chOff x="4641351" y="2865406"/>
              <a:chExt cx="2340368" cy="1913036"/>
            </a:xfrm>
          </p:grpSpPr>
          <p:sp>
            <p:nvSpPr>
              <p:cNvPr id="9" name="Freeform 5">
                <a:extLst>
                  <a:ext uri="{FF2B5EF4-FFF2-40B4-BE49-F238E27FC236}">
                    <a16:creationId xmlns:a16="http://schemas.microsoft.com/office/drawing/2014/main" id="{BFF70CD8-CEB3-1D7C-C885-A4D955DFC2AF}"/>
                  </a:ext>
                </a:extLst>
              </p:cNvPr>
              <p:cNvSpPr/>
              <p:nvPr/>
            </p:nvSpPr>
            <p:spPr bwMode="auto">
              <a:xfrm>
                <a:off x="4884175" y="2865406"/>
                <a:ext cx="1711173" cy="1489729"/>
              </a:xfrm>
              <a:custGeom>
                <a:avLst/>
                <a:gdLst>
                  <a:gd name="T0" fmla="*/ 145 w 477"/>
                  <a:gd name="T1" fmla="*/ 0 h 423"/>
                  <a:gd name="T2" fmla="*/ 331 w 477"/>
                  <a:gd name="T3" fmla="*/ 0 h 423"/>
                  <a:gd name="T4" fmla="*/ 375 w 477"/>
                  <a:gd name="T5" fmla="*/ 25 h 423"/>
                  <a:gd name="T6" fmla="*/ 468 w 477"/>
                  <a:gd name="T7" fmla="*/ 186 h 423"/>
                  <a:gd name="T8" fmla="*/ 468 w 477"/>
                  <a:gd name="T9" fmla="*/ 237 h 423"/>
                  <a:gd name="T10" fmla="*/ 375 w 477"/>
                  <a:gd name="T11" fmla="*/ 398 h 423"/>
                  <a:gd name="T12" fmla="*/ 331 w 477"/>
                  <a:gd name="T13" fmla="*/ 423 h 423"/>
                  <a:gd name="T14" fmla="*/ 146 w 477"/>
                  <a:gd name="T15" fmla="*/ 423 h 423"/>
                  <a:gd name="T16" fmla="*/ 101 w 477"/>
                  <a:gd name="T17" fmla="*/ 398 h 423"/>
                  <a:gd name="T18" fmla="*/ 55 w 477"/>
                  <a:gd name="T19" fmla="*/ 317 h 423"/>
                  <a:gd name="T20" fmla="*/ 9 w 477"/>
                  <a:gd name="T21" fmla="*/ 237 h 423"/>
                  <a:gd name="T22" fmla="*/ 9 w 477"/>
                  <a:gd name="T23" fmla="*/ 186 h 423"/>
                  <a:gd name="T24" fmla="*/ 101 w 477"/>
                  <a:gd name="T25" fmla="*/ 25 h 423"/>
                  <a:gd name="T26" fmla="*/ 145 w 477"/>
                  <a:gd name="T27" fmla="*/ 0 h 4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77" h="423">
                    <a:moveTo>
                      <a:pt x="145" y="0"/>
                    </a:moveTo>
                    <a:cubicBezTo>
                      <a:pt x="207" y="0"/>
                      <a:pt x="269" y="0"/>
                      <a:pt x="331" y="0"/>
                    </a:cubicBezTo>
                    <a:cubicBezTo>
                      <a:pt x="349" y="1"/>
                      <a:pt x="366" y="10"/>
                      <a:pt x="375" y="25"/>
                    </a:cubicBezTo>
                    <a:cubicBezTo>
                      <a:pt x="406" y="79"/>
                      <a:pt x="437" y="132"/>
                      <a:pt x="468" y="186"/>
                    </a:cubicBezTo>
                    <a:cubicBezTo>
                      <a:pt x="476" y="202"/>
                      <a:pt x="477" y="221"/>
                      <a:pt x="468" y="237"/>
                    </a:cubicBezTo>
                    <a:cubicBezTo>
                      <a:pt x="375" y="398"/>
                      <a:pt x="375" y="398"/>
                      <a:pt x="375" y="398"/>
                    </a:cubicBezTo>
                    <a:cubicBezTo>
                      <a:pt x="366" y="413"/>
                      <a:pt x="349" y="423"/>
                      <a:pt x="331" y="423"/>
                    </a:cubicBezTo>
                    <a:cubicBezTo>
                      <a:pt x="146" y="423"/>
                      <a:pt x="146" y="423"/>
                      <a:pt x="146" y="423"/>
                    </a:cubicBezTo>
                    <a:cubicBezTo>
                      <a:pt x="128" y="423"/>
                      <a:pt x="111" y="413"/>
                      <a:pt x="101" y="398"/>
                    </a:cubicBezTo>
                    <a:cubicBezTo>
                      <a:pt x="55" y="317"/>
                      <a:pt x="55" y="317"/>
                      <a:pt x="55" y="317"/>
                    </a:cubicBezTo>
                    <a:cubicBezTo>
                      <a:pt x="9" y="237"/>
                      <a:pt x="9" y="237"/>
                      <a:pt x="9" y="237"/>
                    </a:cubicBezTo>
                    <a:cubicBezTo>
                      <a:pt x="0" y="222"/>
                      <a:pt x="0" y="202"/>
                      <a:pt x="9" y="186"/>
                    </a:cubicBezTo>
                    <a:cubicBezTo>
                      <a:pt x="101" y="25"/>
                      <a:pt x="101" y="25"/>
                      <a:pt x="101" y="25"/>
                    </a:cubicBezTo>
                    <a:cubicBezTo>
                      <a:pt x="111" y="10"/>
                      <a:pt x="128" y="1"/>
                      <a:pt x="145" y="0"/>
                    </a:cubicBezTo>
                    <a:close/>
                  </a:path>
                </a:pathLst>
              </a:custGeom>
              <a:blipFill dpi="0" rotWithShape="1">
                <a:blip r:embed="rId2">
                  <a:extLst>
                    <a:ext uri="{28A0092B-C50C-407E-A947-70E740481C1C}">
                      <a14:useLocalDpi xmlns:a14="http://schemas.microsoft.com/office/drawing/2010/main" val="0"/>
                    </a:ext>
                  </a:extLst>
                </a:blip>
                <a:srcRect/>
                <a:stretch>
                  <a:fillRect/>
                </a:stretch>
              </a:blipFill>
              <a:ln w="25400">
                <a:noFill/>
              </a:ln>
              <a:effectLst>
                <a:outerShdw blurRad="241300" dist="38100" dir="5400000" sx="90000" sy="-19000"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7542" tIns="53771" rIns="107542" bIns="53771"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sz="2352">
                  <a:solidFill>
                    <a:prstClr val="white"/>
                  </a:solidFill>
                  <a:latin typeface="Bebas" pitchFamily="2" charset="0"/>
                  <a:ea typeface="微软雅黑" panose="020B0503020204020204" pitchFamily="34" charset="-122"/>
                  <a:sym typeface="Bebas" pitchFamily="2" charset="0"/>
                </a:endParaRPr>
              </a:p>
            </p:txBody>
          </p:sp>
          <p:pic>
            <p:nvPicPr>
              <p:cNvPr id="10" name="圖片 9">
                <a:extLst>
                  <a:ext uri="{FF2B5EF4-FFF2-40B4-BE49-F238E27FC236}">
                    <a16:creationId xmlns:a16="http://schemas.microsoft.com/office/drawing/2014/main" id="{D97443A5-1CEA-68AC-EAB9-800858B7194F}"/>
                  </a:ext>
                </a:extLst>
              </p:cNvPr>
              <p:cNvPicPr>
                <a:picLocks noChangeAspect="1"/>
              </p:cNvPicPr>
              <p:nvPr/>
            </p:nvPicPr>
            <p:blipFill rotWithShape="1">
              <a:blip r:embed="rId3"/>
              <a:srcRect l="-1" r="73330" b="90691"/>
              <a:stretch/>
            </p:blipFill>
            <p:spPr>
              <a:xfrm>
                <a:off x="4641351" y="4355135"/>
                <a:ext cx="2340368" cy="423307"/>
              </a:xfrm>
              <a:prstGeom prst="rect">
                <a:avLst/>
              </a:prstGeom>
              <a:ln w="3175">
                <a:solidFill>
                  <a:schemeClr val="bg1">
                    <a:lumMod val="85000"/>
                  </a:schemeClr>
                </a:solidFill>
              </a:ln>
            </p:spPr>
          </p:pic>
        </p:grpSp>
      </p:grpSp>
    </p:spTree>
    <p:extLst>
      <p:ext uri="{BB962C8B-B14F-4D97-AF65-F5344CB8AC3E}">
        <p14:creationId xmlns:p14="http://schemas.microsoft.com/office/powerpoint/2010/main" val="32571821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51B775D-A49A-F2AD-0CAA-467AC86B27E2}"/>
              </a:ext>
            </a:extLst>
          </p:cNvPr>
          <p:cNvSpPr>
            <a:spLocks noGrp="1"/>
          </p:cNvSpPr>
          <p:nvPr>
            <p:ph type="title"/>
          </p:nvPr>
        </p:nvSpPr>
        <p:spPr/>
        <p:txBody>
          <a:bodyPr/>
          <a:lstStyle/>
          <a:p>
            <a:r>
              <a:rPr lang="zh-TW" altLang="en-US" b="1" dirty="0"/>
              <a:t>資料保護</a:t>
            </a:r>
          </a:p>
        </p:txBody>
      </p:sp>
      <p:graphicFrame>
        <p:nvGraphicFramePr>
          <p:cNvPr id="4" name="表格 3">
            <a:extLst>
              <a:ext uri="{FF2B5EF4-FFF2-40B4-BE49-F238E27FC236}">
                <a16:creationId xmlns:a16="http://schemas.microsoft.com/office/drawing/2014/main" id="{FE81B15F-4AA1-D7EE-D198-EDAAE9456A7E}"/>
              </a:ext>
            </a:extLst>
          </p:cNvPr>
          <p:cNvGraphicFramePr>
            <a:graphicFrameLocks noGrp="1"/>
          </p:cNvGraphicFramePr>
          <p:nvPr>
            <p:extLst>
              <p:ext uri="{D42A27DB-BD31-4B8C-83A1-F6EECF244321}">
                <p14:modId xmlns:p14="http://schemas.microsoft.com/office/powerpoint/2010/main" val="2303108432"/>
              </p:ext>
            </p:extLst>
          </p:nvPr>
        </p:nvGraphicFramePr>
        <p:xfrm>
          <a:off x="596918" y="849710"/>
          <a:ext cx="10325064" cy="1701466"/>
        </p:xfrm>
        <a:graphic>
          <a:graphicData uri="http://schemas.openxmlformats.org/drawingml/2006/table">
            <a:tbl>
              <a:tblPr firstRow="1" bandRow="1">
                <a:tableStyleId>{8EC20E35-A176-4012-BC5E-935CFFF8708E}</a:tableStyleId>
              </a:tblPr>
              <a:tblGrid>
                <a:gridCol w="2304124">
                  <a:extLst>
                    <a:ext uri="{9D8B030D-6E8A-4147-A177-3AD203B41FA5}">
                      <a16:colId xmlns:a16="http://schemas.microsoft.com/office/drawing/2014/main" val="2558022364"/>
                    </a:ext>
                  </a:extLst>
                </a:gridCol>
                <a:gridCol w="8020940">
                  <a:extLst>
                    <a:ext uri="{9D8B030D-6E8A-4147-A177-3AD203B41FA5}">
                      <a16:colId xmlns:a16="http://schemas.microsoft.com/office/drawing/2014/main" val="2304732724"/>
                    </a:ext>
                  </a:extLst>
                </a:gridCol>
              </a:tblGrid>
              <a:tr h="485183">
                <a:tc>
                  <a:txBody>
                    <a:bodyPr/>
                    <a:lstStyle/>
                    <a:p>
                      <a:r>
                        <a:rPr lang="zh-TW" altLang="en-US" sz="2200" dirty="0">
                          <a:latin typeface="微軟正黑體" panose="020B0604030504040204" pitchFamily="34" charset="-120"/>
                          <a:ea typeface="微軟正黑體" panose="020B0604030504040204" pitchFamily="34" charset="-120"/>
                        </a:rPr>
                        <a:t>項目</a:t>
                      </a:r>
                    </a:p>
                  </a:txBody>
                  <a:tcPr marL="109728" marR="109728" marT="54864" marB="54864"/>
                </a:tc>
                <a:tc>
                  <a:txBody>
                    <a:bodyPr/>
                    <a:lstStyle/>
                    <a:p>
                      <a:r>
                        <a:rPr lang="zh-TW" altLang="en-US" sz="2200" dirty="0">
                          <a:latin typeface="微軟正黑體" panose="020B0604030504040204" pitchFamily="34" charset="-120"/>
                          <a:ea typeface="微軟正黑體" panose="020B0604030504040204" pitchFamily="34" charset="-120"/>
                        </a:rPr>
                        <a:t>合規說明</a:t>
                      </a:r>
                    </a:p>
                  </a:txBody>
                  <a:tcPr marL="109728" marR="109728" marT="54864" marB="54864"/>
                </a:tc>
                <a:extLst>
                  <a:ext uri="{0D108BD9-81ED-4DB2-BD59-A6C34878D82A}">
                    <a16:rowId xmlns:a16="http://schemas.microsoft.com/office/drawing/2014/main" val="2274951813"/>
                  </a:ext>
                </a:extLst>
              </a:tr>
              <a:tr h="1216283">
                <a:tc>
                  <a:txBody>
                    <a:bodyPr/>
                    <a:lstStyle/>
                    <a:p>
                      <a:r>
                        <a:rPr lang="zh-TW" altLang="en-US" sz="2400" b="1" dirty="0">
                          <a:latin typeface="微軟正黑體" panose="020B0604030504040204" pitchFamily="34" charset="-120"/>
                          <a:ea typeface="微軟正黑體" panose="020B0604030504040204" pitchFamily="34" charset="-120"/>
                        </a:rPr>
                        <a:t>爬蟲館</a:t>
                      </a:r>
                      <a:r>
                        <a:rPr lang="en-US" altLang="zh-TW" sz="2400" b="1" dirty="0">
                          <a:latin typeface="微軟正黑體" panose="020B0604030504040204" pitchFamily="34" charset="-120"/>
                          <a:ea typeface="微軟正黑體" panose="020B0604030504040204" pitchFamily="34" charset="-120"/>
                        </a:rPr>
                        <a:t>-</a:t>
                      </a:r>
                      <a:r>
                        <a:rPr lang="zh-TW" altLang="en-US" sz="2400" b="1" dirty="0">
                          <a:latin typeface="微軟正黑體" panose="020B0604030504040204" pitchFamily="34" charset="-120"/>
                          <a:ea typeface="微軟正黑體" panose="020B0604030504040204" pitchFamily="34" charset="-120"/>
                        </a:rPr>
                        <a:t>功能</a:t>
                      </a:r>
                      <a:endParaRPr lang="en-US" altLang="zh-TW" sz="2400" b="1" dirty="0">
                        <a:latin typeface="微軟正黑體" panose="020B0604030504040204" pitchFamily="34" charset="-120"/>
                        <a:ea typeface="微軟正黑體" panose="020B0604030504040204" pitchFamily="34" charset="-120"/>
                      </a:endParaRPr>
                    </a:p>
                  </a:txBody>
                  <a:tcPr marL="109728" marR="109728" marT="54864" marB="54864"/>
                </a:tc>
                <a:tc>
                  <a:txBody>
                    <a:bodyPr/>
                    <a:lstStyle/>
                    <a:p>
                      <a:pPr marL="342900" marR="0" indent="-342900" algn="l" defTabSz="101598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zh-TW" altLang="en-US" sz="2200" dirty="0">
                          <a:latin typeface="微軟正黑體" panose="020B0604030504040204" pitchFamily="34" charset="-120"/>
                          <a:ea typeface="微軟正黑體" panose="020B0604030504040204" pitchFamily="34" charset="-120"/>
                        </a:rPr>
                        <a:t>在</a:t>
                      </a:r>
                      <a:r>
                        <a:rPr lang="en-US" altLang="zh-TW" sz="2200" dirty="0">
                          <a:latin typeface="微軟正黑體" panose="020B0604030504040204" pitchFamily="34" charset="-120"/>
                          <a:ea typeface="微軟正黑體" panose="020B0604030504040204" pitchFamily="34" charset="-120"/>
                        </a:rPr>
                        <a:t>AWS</a:t>
                      </a:r>
                      <a:r>
                        <a:rPr lang="zh-TW" altLang="en-US" sz="2200" dirty="0">
                          <a:latin typeface="微軟正黑體" panose="020B0604030504040204" pitchFamily="34" charset="-120"/>
                          <a:ea typeface="微軟正黑體" panose="020B0604030504040204" pitchFamily="34" charset="-120"/>
                        </a:rPr>
                        <a:t>內部網路將爬蟲資料寫入地端內部資料庫，正式環境對接正式環境。</a:t>
                      </a:r>
                      <a:endParaRPr lang="en-US" altLang="zh-TW" sz="2200" dirty="0">
                        <a:latin typeface="微軟正黑體" panose="020B0604030504040204" pitchFamily="34" charset="-120"/>
                        <a:ea typeface="微軟正黑體" panose="020B0604030504040204" pitchFamily="34" charset="-120"/>
                      </a:endParaRPr>
                    </a:p>
                  </a:txBody>
                  <a:tcPr marL="109728" marR="109728" marT="54864" marB="54864"/>
                </a:tc>
                <a:extLst>
                  <a:ext uri="{0D108BD9-81ED-4DB2-BD59-A6C34878D82A}">
                    <a16:rowId xmlns:a16="http://schemas.microsoft.com/office/drawing/2014/main" val="2919232054"/>
                  </a:ext>
                </a:extLst>
              </a:tr>
            </a:tbl>
          </a:graphicData>
        </a:graphic>
      </p:graphicFrame>
      <p:sp>
        <p:nvSpPr>
          <p:cNvPr id="6" name="文字方塊 5">
            <a:extLst>
              <a:ext uri="{FF2B5EF4-FFF2-40B4-BE49-F238E27FC236}">
                <a16:creationId xmlns:a16="http://schemas.microsoft.com/office/drawing/2014/main" id="{0B92CED4-83DF-D986-81CB-C46524B46A57}"/>
              </a:ext>
            </a:extLst>
          </p:cNvPr>
          <p:cNvSpPr txBox="1"/>
          <p:nvPr/>
        </p:nvSpPr>
        <p:spPr>
          <a:xfrm>
            <a:off x="924993" y="2951746"/>
            <a:ext cx="9668914" cy="2523768"/>
          </a:xfrm>
          <a:prstGeom prst="rect">
            <a:avLst/>
          </a:prstGeom>
          <a:noFill/>
        </p:spPr>
        <p:txBody>
          <a:bodyPr wrap="square">
            <a:spAutoFit/>
          </a:bodyPr>
          <a:lstStyle/>
          <a:p>
            <a:pPr algn="l"/>
            <a:r>
              <a:rPr lang="en-US" altLang="zh-TW" sz="1600" b="1" i="0" dirty="0">
                <a:solidFill>
                  <a:srgbClr val="534340"/>
                </a:solidFill>
                <a:effectLst/>
                <a:latin typeface="NotoSansTC"/>
              </a:rPr>
              <a:t>1.</a:t>
            </a:r>
            <a:r>
              <a:rPr lang="zh-TW" altLang="en-US" sz="1600" b="1" i="0" dirty="0">
                <a:solidFill>
                  <a:srgbClr val="534340"/>
                </a:solidFill>
                <a:effectLst/>
                <a:latin typeface="NotoSansTC"/>
              </a:rPr>
              <a:t>資料傳輸過程加密</a:t>
            </a:r>
            <a:endParaRPr lang="zh-TW" altLang="en-US" sz="1600" b="0" i="0" dirty="0">
              <a:solidFill>
                <a:srgbClr val="534340"/>
              </a:solidFill>
              <a:effectLst/>
              <a:latin typeface="NotoSansTC"/>
            </a:endParaRPr>
          </a:p>
          <a:p>
            <a:pPr marL="457200" lvl="1" algn="l"/>
            <a:r>
              <a:rPr lang="en-US" altLang="zh-TW" sz="1600" b="0" i="0" dirty="0">
                <a:solidFill>
                  <a:srgbClr val="534340"/>
                </a:solidFill>
                <a:effectLst/>
                <a:latin typeface="NotoSansTC"/>
              </a:rPr>
              <a:t>#</a:t>
            </a:r>
            <a:r>
              <a:rPr lang="zh-TW" altLang="en-US" sz="1600" b="0" i="0" dirty="0">
                <a:solidFill>
                  <a:srgbClr val="534340"/>
                </a:solidFill>
                <a:effectLst/>
                <a:latin typeface="NotoSansTC"/>
              </a:rPr>
              <a:t>雲端至地端資料傳輸，將採用加密設定（</a:t>
            </a:r>
            <a:r>
              <a:rPr lang="en-US" altLang="zh-TW" sz="1600" b="0" i="0" dirty="0">
                <a:solidFill>
                  <a:srgbClr val="534340"/>
                </a:solidFill>
                <a:effectLst/>
                <a:latin typeface="NotoSansTC"/>
              </a:rPr>
              <a:t>TLS</a:t>
            </a:r>
            <a:r>
              <a:rPr lang="zh-TW" altLang="en-US" sz="1600" b="0" i="0" dirty="0">
                <a:solidFill>
                  <a:srgbClr val="534340"/>
                </a:solidFill>
                <a:effectLst/>
                <a:latin typeface="NotoSansTC"/>
              </a:rPr>
              <a:t>）進行，防止資料在傳輸過程中遭竊取或竄改。</a:t>
            </a:r>
            <a:endParaRPr lang="en-US" altLang="zh-TW" sz="1600" dirty="0">
              <a:solidFill>
                <a:srgbClr val="534340"/>
              </a:solidFill>
              <a:latin typeface="NotoSansTC"/>
            </a:endParaRPr>
          </a:p>
          <a:p>
            <a:pPr algn="l"/>
            <a:r>
              <a:rPr lang="en-US" altLang="zh-TW" sz="1600" b="1" i="0" dirty="0">
                <a:solidFill>
                  <a:srgbClr val="534340"/>
                </a:solidFill>
                <a:effectLst/>
                <a:latin typeface="NotoSansTC"/>
              </a:rPr>
              <a:t>2.</a:t>
            </a:r>
            <a:r>
              <a:rPr lang="zh-TW" altLang="en-US" sz="1600" b="1" i="0" dirty="0">
                <a:solidFill>
                  <a:srgbClr val="534340"/>
                </a:solidFill>
                <a:effectLst/>
                <a:latin typeface="NotoSansTC"/>
              </a:rPr>
              <a:t>地端資料庫存取權限控管</a:t>
            </a:r>
            <a:endParaRPr lang="zh-TW" altLang="en-US" sz="1600" b="0" i="0" dirty="0">
              <a:solidFill>
                <a:srgbClr val="534340"/>
              </a:solidFill>
              <a:effectLst/>
              <a:latin typeface="NotoSansTC"/>
            </a:endParaRPr>
          </a:p>
          <a:p>
            <a:pPr marL="457200" lvl="1" algn="l"/>
            <a:r>
              <a:rPr lang="en-US" altLang="zh-TW" sz="1600" b="0" i="0" dirty="0">
                <a:solidFill>
                  <a:srgbClr val="534340"/>
                </a:solidFill>
                <a:effectLst/>
                <a:latin typeface="NotoSansTC"/>
              </a:rPr>
              <a:t>#</a:t>
            </a:r>
            <a:r>
              <a:rPr lang="zh-TW" altLang="en-US" sz="1600" b="0" i="0" dirty="0">
                <a:solidFill>
                  <a:srgbClr val="534340"/>
                </a:solidFill>
                <a:effectLst/>
                <a:latin typeface="NotoSansTC"/>
              </a:rPr>
              <a:t>地端資料庫將依據最小權限原則，設定嚴格的帳號權限與存取控管，僅授權必要人員及系統存取。</a:t>
            </a:r>
          </a:p>
          <a:p>
            <a:pPr marL="457200" lvl="1" algn="l"/>
            <a:r>
              <a:rPr lang="en-US" altLang="zh-TW" sz="1600" b="0" i="0" dirty="0">
                <a:solidFill>
                  <a:srgbClr val="534340"/>
                </a:solidFill>
                <a:effectLst/>
                <a:latin typeface="NotoSansTC"/>
              </a:rPr>
              <a:t>#</a:t>
            </a:r>
            <a:r>
              <a:rPr lang="zh-TW" altLang="en-US" sz="1600" b="0" i="0" dirty="0">
                <a:solidFill>
                  <a:srgbClr val="534340"/>
                </a:solidFill>
                <a:effectLst/>
                <a:latin typeface="NotoSansTC"/>
              </a:rPr>
              <a:t>定期檢視與稽核存取紀錄，防範未授權存取或異常行為。</a:t>
            </a:r>
            <a:endParaRPr lang="en-US" altLang="zh-TW" sz="1600" b="0" i="0" dirty="0">
              <a:solidFill>
                <a:srgbClr val="534340"/>
              </a:solidFill>
              <a:effectLst/>
              <a:latin typeface="NotoSansTC"/>
            </a:endParaRPr>
          </a:p>
          <a:p>
            <a:pPr marL="457200" lvl="1"/>
            <a:r>
              <a:rPr lang="en-US" altLang="zh-TW" sz="1600" dirty="0">
                <a:solidFill>
                  <a:srgbClr val="534340"/>
                </a:solidFill>
                <a:latin typeface="NotoSansTC"/>
              </a:rPr>
              <a:t>#</a:t>
            </a:r>
            <a:r>
              <a:rPr lang="zh-TW" altLang="en-US" sz="1600" b="0" i="0" dirty="0">
                <a:solidFill>
                  <a:srgbClr val="534340"/>
                </a:solidFill>
                <a:effectLst/>
                <a:latin typeface="NotoSansTC"/>
              </a:rPr>
              <a:t>地端資料庫僅作為授權系統串接使用，所有資料存取均有紀錄可追蹤，符合公司資安規範。</a:t>
            </a:r>
            <a:endParaRPr lang="en-US" altLang="zh-TW" sz="1600" b="0" i="0" dirty="0">
              <a:solidFill>
                <a:srgbClr val="534340"/>
              </a:solidFill>
              <a:effectLst/>
              <a:latin typeface="NotoSansTC"/>
            </a:endParaRPr>
          </a:p>
          <a:p>
            <a:pPr algn="l"/>
            <a:r>
              <a:rPr lang="en-US" altLang="zh-TW" sz="1600" b="1" i="0" dirty="0">
                <a:solidFill>
                  <a:srgbClr val="534340"/>
                </a:solidFill>
                <a:effectLst/>
                <a:latin typeface="NotoSansTC"/>
              </a:rPr>
              <a:t>3.</a:t>
            </a:r>
            <a:r>
              <a:rPr lang="zh-TW" altLang="en-US" sz="1600" b="1" i="0" dirty="0">
                <a:solidFill>
                  <a:srgbClr val="534340"/>
                </a:solidFill>
                <a:effectLst/>
                <a:latin typeface="NotoSansTC"/>
              </a:rPr>
              <a:t>資料庫弱點防護</a:t>
            </a:r>
            <a:endParaRPr lang="zh-TW" altLang="en-US" sz="1600" b="0" i="0" dirty="0">
              <a:solidFill>
                <a:srgbClr val="534340"/>
              </a:solidFill>
              <a:effectLst/>
              <a:latin typeface="NotoSansTC"/>
            </a:endParaRPr>
          </a:p>
          <a:p>
            <a:pPr marL="457200" lvl="1" algn="l"/>
            <a:r>
              <a:rPr lang="en-US" altLang="zh-TW" sz="1600" b="0" i="0" dirty="0">
                <a:solidFill>
                  <a:srgbClr val="534340"/>
                </a:solidFill>
                <a:effectLst/>
                <a:latin typeface="NotoSansTC"/>
              </a:rPr>
              <a:t>#</a:t>
            </a:r>
            <a:r>
              <a:rPr lang="zh-TW" altLang="en-US" sz="1600" b="0" i="0" dirty="0">
                <a:solidFill>
                  <a:srgbClr val="534340"/>
                </a:solidFill>
                <a:effectLst/>
                <a:latin typeface="NotoSansTC"/>
              </a:rPr>
              <a:t>地端資料庫主機與相關應用，已納入公司資安弱點掃描，定期進行弱點檢查與修補。</a:t>
            </a:r>
            <a:endParaRPr lang="en-US" altLang="zh-TW" sz="1600" b="0" i="0" dirty="0">
              <a:solidFill>
                <a:srgbClr val="534340"/>
              </a:solidFill>
              <a:effectLst/>
              <a:latin typeface="NotoSansTC"/>
            </a:endParaRPr>
          </a:p>
          <a:p>
            <a:pPr marL="457200" lvl="1" algn="l"/>
            <a:r>
              <a:rPr lang="en-US" altLang="zh-TW" sz="1600" b="0" i="0" dirty="0">
                <a:solidFill>
                  <a:srgbClr val="534340"/>
                </a:solidFill>
                <a:effectLst/>
                <a:latin typeface="NotoSansTC"/>
              </a:rPr>
              <a:t>#</a:t>
            </a:r>
            <a:r>
              <a:rPr lang="zh-TW" altLang="en-US" sz="1600" b="0" i="0" dirty="0">
                <a:solidFill>
                  <a:srgbClr val="534340"/>
                </a:solidFill>
                <a:effectLst/>
                <a:latin typeface="NotoSansTC"/>
              </a:rPr>
              <a:t>資料庫主機安裝防毒軟體，並定期更新病毒碼。</a:t>
            </a:r>
            <a:r>
              <a:rPr lang="en-US" altLang="zh-TW" sz="1600" dirty="0">
                <a:solidFill>
                  <a:srgbClr val="534340"/>
                </a:solidFill>
                <a:latin typeface="NotoSansTC"/>
              </a:rPr>
              <a:t>(</a:t>
            </a:r>
            <a:r>
              <a:rPr lang="zh-TW" altLang="en-US" sz="1600" dirty="0">
                <a:solidFill>
                  <a:srgbClr val="534340"/>
                </a:solidFill>
                <a:latin typeface="NotoSansTC"/>
              </a:rPr>
              <a:t>例如</a:t>
            </a:r>
            <a:r>
              <a:rPr lang="en-US" altLang="zh-TW" sz="1600" dirty="0">
                <a:solidFill>
                  <a:srgbClr val="534340"/>
                </a:solidFill>
                <a:latin typeface="NotoSansTC"/>
              </a:rPr>
              <a:t>Windows update)</a:t>
            </a:r>
            <a:endParaRPr lang="zh-TW" altLang="en-US" sz="1600" dirty="0">
              <a:solidFill>
                <a:srgbClr val="534340"/>
              </a:solidFill>
              <a:latin typeface="NotoSansTC"/>
            </a:endParaRPr>
          </a:p>
          <a:p>
            <a:pPr marL="457200" lvl="1" algn="l"/>
            <a:endParaRPr lang="zh-TW" altLang="en-US" b="0" i="0" dirty="0">
              <a:solidFill>
                <a:srgbClr val="534340"/>
              </a:solidFill>
              <a:effectLst/>
              <a:latin typeface="NotoSansTC"/>
            </a:endParaRPr>
          </a:p>
        </p:txBody>
      </p:sp>
    </p:spTree>
    <p:extLst>
      <p:ext uri="{BB962C8B-B14F-4D97-AF65-F5344CB8AC3E}">
        <p14:creationId xmlns:p14="http://schemas.microsoft.com/office/powerpoint/2010/main" val="42080578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A5D463D-DCAE-C1C7-00A2-F8278CE8B86E}"/>
              </a:ext>
            </a:extLst>
          </p:cNvPr>
          <p:cNvSpPr>
            <a:spLocks noGrp="1"/>
          </p:cNvSpPr>
          <p:nvPr>
            <p:ph type="title"/>
          </p:nvPr>
        </p:nvSpPr>
        <p:spPr/>
        <p:txBody>
          <a:bodyPr/>
          <a:lstStyle/>
          <a:p>
            <a:r>
              <a:rPr lang="zh-TW" altLang="en-US" b="1" dirty="0"/>
              <a:t>法規：金融機構資通系統與服務供應鏈風險管理規範</a:t>
            </a:r>
          </a:p>
        </p:txBody>
      </p:sp>
      <p:graphicFrame>
        <p:nvGraphicFramePr>
          <p:cNvPr id="3" name="表格 2">
            <a:extLst>
              <a:ext uri="{FF2B5EF4-FFF2-40B4-BE49-F238E27FC236}">
                <a16:creationId xmlns:a16="http://schemas.microsoft.com/office/drawing/2014/main" id="{E634AECA-C62D-2A50-65F8-EB0C72A66FC3}"/>
              </a:ext>
            </a:extLst>
          </p:cNvPr>
          <p:cNvGraphicFramePr>
            <a:graphicFrameLocks noGrp="1"/>
          </p:cNvGraphicFramePr>
          <p:nvPr>
            <p:extLst>
              <p:ext uri="{D42A27DB-BD31-4B8C-83A1-F6EECF244321}">
                <p14:modId xmlns:p14="http://schemas.microsoft.com/office/powerpoint/2010/main" val="1688983450"/>
              </p:ext>
            </p:extLst>
          </p:nvPr>
        </p:nvGraphicFramePr>
        <p:xfrm>
          <a:off x="248056" y="673484"/>
          <a:ext cx="11066540" cy="5695497"/>
        </p:xfrm>
        <a:graphic>
          <a:graphicData uri="http://schemas.openxmlformats.org/drawingml/2006/table">
            <a:tbl>
              <a:tblPr firstRow="1" bandRow="1">
                <a:tableStyleId>{8EC20E35-A176-4012-BC5E-935CFFF8708E}</a:tableStyleId>
              </a:tblPr>
              <a:tblGrid>
                <a:gridCol w="8808466">
                  <a:extLst>
                    <a:ext uri="{9D8B030D-6E8A-4147-A177-3AD203B41FA5}">
                      <a16:colId xmlns:a16="http://schemas.microsoft.com/office/drawing/2014/main" val="2558022364"/>
                    </a:ext>
                  </a:extLst>
                </a:gridCol>
                <a:gridCol w="2258074">
                  <a:extLst>
                    <a:ext uri="{9D8B030D-6E8A-4147-A177-3AD203B41FA5}">
                      <a16:colId xmlns:a16="http://schemas.microsoft.com/office/drawing/2014/main" val="2304732724"/>
                    </a:ext>
                  </a:extLst>
                </a:gridCol>
              </a:tblGrid>
              <a:tr h="349049">
                <a:tc>
                  <a:txBody>
                    <a:bodyPr/>
                    <a:lstStyle/>
                    <a:p>
                      <a:r>
                        <a:rPr lang="zh-TW" altLang="en-US" sz="1100" dirty="0">
                          <a:latin typeface="微軟正黑體" panose="020B0604030504040204" pitchFamily="34" charset="-120"/>
                          <a:ea typeface="微軟正黑體" panose="020B0604030504040204" pitchFamily="34" charset="-120"/>
                        </a:rPr>
                        <a:t>法規</a:t>
                      </a:r>
                    </a:p>
                  </a:txBody>
                  <a:tcPr marL="103888" marR="103888" marT="51944" marB="51944"/>
                </a:tc>
                <a:tc>
                  <a:txBody>
                    <a:bodyPr/>
                    <a:lstStyle/>
                    <a:p>
                      <a:r>
                        <a:rPr lang="zh-TW" altLang="en-US" sz="1100" dirty="0">
                          <a:latin typeface="微軟正黑體" panose="020B0604030504040204" pitchFamily="34" charset="-120"/>
                          <a:ea typeface="微軟正黑體" panose="020B0604030504040204" pitchFamily="34" charset="-120"/>
                        </a:rPr>
                        <a:t>合規說明</a:t>
                      </a:r>
                    </a:p>
                  </a:txBody>
                  <a:tcPr marL="103888" marR="103888" marT="51944" marB="51944"/>
                </a:tc>
                <a:extLst>
                  <a:ext uri="{0D108BD9-81ED-4DB2-BD59-A6C34878D82A}">
                    <a16:rowId xmlns:a16="http://schemas.microsoft.com/office/drawing/2014/main" val="2274951813"/>
                  </a:ext>
                </a:extLst>
              </a:tr>
              <a:tr h="5284156">
                <a:tc>
                  <a:txBody>
                    <a:bodyPr/>
                    <a:lstStyle/>
                    <a:p>
                      <a:r>
                        <a:rPr lang="zh-TW" altLang="en-US" sz="800" dirty="0">
                          <a:latin typeface="微軟正黑體" panose="020B0604030504040204" pitchFamily="34" charset="-120"/>
                          <a:ea typeface="微軟正黑體" panose="020B0604030504040204" pitchFamily="34" charset="-120"/>
                        </a:rPr>
                        <a:t>第二條   本規範所稱 金融機構 資通系統與服務供應鏈，係指</a:t>
                      </a:r>
                      <a:r>
                        <a:rPr lang="zh-TW" altLang="en-US" sz="800" b="1" dirty="0">
                          <a:solidFill>
                            <a:srgbClr val="FF0000"/>
                          </a:solidFill>
                          <a:latin typeface="微軟正黑體" panose="020B0604030504040204" pitchFamily="34" charset="-120"/>
                          <a:ea typeface="微軟正黑體" panose="020B0604030504040204" pitchFamily="34" charset="-120"/>
                        </a:rPr>
                        <a:t>提供銀行資通系統之軟硬體產品開發、建置或維運服務的組織或個人 </a:t>
                      </a:r>
                      <a:r>
                        <a:rPr lang="en-US" altLang="zh-TW" sz="800" dirty="0">
                          <a:latin typeface="微軟正黑體" panose="020B0604030504040204" pitchFamily="34" charset="-120"/>
                          <a:ea typeface="微軟正黑體" panose="020B0604030504040204" pitchFamily="34" charset="-120"/>
                        </a:rPr>
                        <a:t>(</a:t>
                      </a:r>
                      <a:r>
                        <a:rPr lang="zh-TW" altLang="en-US" sz="800" dirty="0">
                          <a:latin typeface="微軟正黑體" panose="020B0604030504040204" pitchFamily="34" charset="-120"/>
                          <a:ea typeface="微軟正黑體" panose="020B0604030504040204" pitchFamily="34" charset="-120"/>
                        </a:rPr>
                        <a:t>以下稱供應商 </a:t>
                      </a:r>
                      <a:r>
                        <a:rPr lang="en-US" altLang="zh-TW" sz="800" dirty="0">
                          <a:latin typeface="微軟正黑體" panose="020B0604030504040204" pitchFamily="34" charset="-120"/>
                          <a:ea typeface="微軟正黑體" panose="020B0604030504040204" pitchFamily="34" charset="-120"/>
                        </a:rPr>
                        <a:t>)</a:t>
                      </a:r>
                      <a:r>
                        <a:rPr lang="zh-TW" altLang="en-US" sz="800" dirty="0">
                          <a:latin typeface="微軟正黑體" panose="020B0604030504040204" pitchFamily="34" charset="-120"/>
                          <a:ea typeface="微軟正黑體" panose="020B0604030504040204" pitchFamily="34" charset="-120"/>
                        </a:rPr>
                        <a:t>，包含其 受託者 與跨機構合作夥伴。</a:t>
                      </a:r>
                    </a:p>
                    <a:p>
                      <a:r>
                        <a:rPr lang="zh-TW" altLang="en-US" sz="800" dirty="0">
                          <a:latin typeface="微軟正黑體" panose="020B0604030504040204" pitchFamily="34" charset="-120"/>
                          <a:ea typeface="微軟正黑體" panose="020B0604030504040204" pitchFamily="34" charset="-120"/>
                        </a:rPr>
                        <a:t>資訊服務係指提供與電腦系統軟體或硬體有關之服務形態，包含</a:t>
                      </a:r>
                      <a:r>
                        <a:rPr lang="zh-TW" altLang="en-US" sz="800" b="1" dirty="0">
                          <a:solidFill>
                            <a:srgbClr val="FF0000"/>
                          </a:solidFill>
                          <a:latin typeface="微軟正黑體" panose="020B0604030504040204" pitchFamily="34" charset="-120"/>
                          <a:ea typeface="微軟正黑體" panose="020B0604030504040204" pitchFamily="34" charset="-120"/>
                        </a:rPr>
                        <a:t>系統發展類、維運管理類</a:t>
                      </a:r>
                      <a:r>
                        <a:rPr lang="zh-TW" altLang="en-US" sz="800" dirty="0">
                          <a:latin typeface="微軟正黑體" panose="020B0604030504040204" pitchFamily="34" charset="-120"/>
                          <a:ea typeface="微軟正黑體" panose="020B0604030504040204" pitchFamily="34" charset="-120"/>
                        </a:rPr>
                        <a:t>及雲端服務類。</a:t>
                      </a:r>
                      <a:endParaRPr lang="en-US" altLang="zh-TW" sz="800" dirty="0">
                        <a:latin typeface="微軟正黑體" panose="020B0604030504040204" pitchFamily="34" charset="-120"/>
                        <a:ea typeface="微軟正黑體" panose="020B0604030504040204" pitchFamily="34" charset="-120"/>
                      </a:endParaRPr>
                    </a:p>
                    <a:p>
                      <a:endParaRPr lang="en-US" altLang="zh-TW" sz="800" dirty="0">
                        <a:latin typeface="微軟正黑體" panose="020B0604030504040204" pitchFamily="34" charset="-120"/>
                        <a:ea typeface="微軟正黑體" panose="020B0604030504040204" pitchFamily="34" charset="-120"/>
                      </a:endParaRPr>
                    </a:p>
                    <a:p>
                      <a:r>
                        <a:rPr lang="zh-TW" altLang="en-US" sz="800" dirty="0">
                          <a:latin typeface="微軟正黑體" panose="020B0604030504040204" pitchFamily="34" charset="-120"/>
                          <a:ea typeface="微軟正黑體" panose="020B0604030504040204" pitchFamily="34" charset="-120"/>
                        </a:rPr>
                        <a:t>第三條</a:t>
                      </a:r>
                    </a:p>
                    <a:p>
                      <a:r>
                        <a:rPr lang="zh-TW" altLang="en-US" sz="800" dirty="0">
                          <a:latin typeface="微軟正黑體" panose="020B0604030504040204" pitchFamily="34" charset="-120"/>
                          <a:ea typeface="微軟正黑體" panose="020B0604030504040204" pitchFamily="34" charset="-120"/>
                        </a:rPr>
                        <a:t>本規範用詞定義如下：</a:t>
                      </a:r>
                    </a:p>
                    <a:p>
                      <a:r>
                        <a:rPr lang="zh-TW" altLang="en-US" sz="800" dirty="0">
                          <a:latin typeface="微軟正黑體" panose="020B0604030504040204" pitchFamily="34" charset="-120"/>
                          <a:ea typeface="微軟正黑體" panose="020B0604030504040204" pitchFamily="34" charset="-120"/>
                        </a:rPr>
                        <a:t>一、核心業務：由銀行依業務運作中斷對客戶影響數等風險評估結果予以決定，評估範圍如：存款業務、放款業務、匯款業務、外匯業務等。</a:t>
                      </a:r>
                    </a:p>
                    <a:p>
                      <a:r>
                        <a:rPr lang="zh-TW" altLang="en-US" sz="800" dirty="0">
                          <a:latin typeface="微軟正黑體" panose="020B0604030504040204" pitchFamily="34" charset="-120"/>
                          <a:ea typeface="微軟正黑體" panose="020B0604030504040204" pitchFamily="34" charset="-120"/>
                        </a:rPr>
                        <a:t>二、核心資通系統：支持核心業務持續運作必要之系統或設備。</a:t>
                      </a:r>
                    </a:p>
                    <a:p>
                      <a:r>
                        <a:rPr lang="zh-TW" altLang="en-US" sz="800" dirty="0">
                          <a:latin typeface="微軟正黑體" panose="020B0604030504040204" pitchFamily="34" charset="-120"/>
                          <a:ea typeface="微軟正黑體" panose="020B0604030504040204" pitchFamily="34" charset="-120"/>
                        </a:rPr>
                        <a:t>三、第一類電腦系統：直接提供客戶自動化服務或對營運有重大影響之系統 如：電子銀行、分行 櫃台、 </a:t>
                      </a:r>
                      <a:r>
                        <a:rPr lang="en-US" altLang="zh-TW" sz="800" dirty="0">
                          <a:latin typeface="微軟正黑體" panose="020B0604030504040204" pitchFamily="34" charset="-120"/>
                          <a:ea typeface="微軟正黑體" panose="020B0604030504040204" pitchFamily="34" charset="-120"/>
                        </a:rPr>
                        <a:t>ATM </a:t>
                      </a:r>
                      <a:r>
                        <a:rPr lang="zh-TW" altLang="en-US" sz="800" dirty="0">
                          <a:latin typeface="微軟正黑體" panose="020B0604030504040204" pitchFamily="34" charset="-120"/>
                          <a:ea typeface="微軟正黑體" panose="020B0604030504040204" pitchFamily="34" charset="-120"/>
                        </a:rPr>
                        <a:t>自動化服務、 </a:t>
                      </a:r>
                      <a:r>
                        <a:rPr lang="en-US" altLang="zh-TW" sz="800" dirty="0">
                          <a:latin typeface="微軟正黑體" panose="020B0604030504040204" pitchFamily="34" charset="-120"/>
                          <a:ea typeface="微軟正黑體" panose="020B0604030504040204" pitchFamily="34" charset="-120"/>
                        </a:rPr>
                        <a:t>SWIFT</a:t>
                      </a:r>
                      <a:r>
                        <a:rPr lang="zh-TW" altLang="en-US" sz="800" dirty="0">
                          <a:latin typeface="微軟正黑體" panose="020B0604030504040204" pitchFamily="34" charset="-120"/>
                          <a:ea typeface="微軟正黑體" panose="020B0604030504040204" pitchFamily="34" charset="-120"/>
                        </a:rPr>
                        <a:t>等系統 。</a:t>
                      </a:r>
                    </a:p>
                    <a:p>
                      <a:r>
                        <a:rPr lang="zh-TW" altLang="en-US" sz="800" dirty="0">
                          <a:latin typeface="微軟正黑體" panose="020B0604030504040204" pitchFamily="34" charset="-120"/>
                          <a:ea typeface="微軟正黑體" panose="020B0604030504040204" pitchFamily="34" charset="-120"/>
                        </a:rPr>
                        <a:t>四、第二類電腦系統：經人工介入以直接或間接提供客戶服務之系統 如：作業中心、客戶服務等系統 。</a:t>
                      </a:r>
                    </a:p>
                    <a:p>
                      <a:r>
                        <a:rPr lang="zh-TW" altLang="en-US" sz="800" dirty="0">
                          <a:latin typeface="微軟正黑體" panose="020B0604030504040204" pitchFamily="34" charset="-120"/>
                          <a:ea typeface="微軟正黑體" panose="020B0604030504040204" pitchFamily="34" charset="-120"/>
                        </a:rPr>
                        <a:t>五、</a:t>
                      </a:r>
                      <a:r>
                        <a:rPr lang="zh-TW" altLang="en-US" sz="800" b="1" dirty="0">
                          <a:solidFill>
                            <a:srgbClr val="FF0000"/>
                          </a:solidFill>
                          <a:latin typeface="微軟正黑體" panose="020B0604030504040204" pitchFamily="34" charset="-120"/>
                          <a:ea typeface="微軟正黑體" panose="020B0604030504040204" pitchFamily="34" charset="-120"/>
                        </a:rPr>
                        <a:t>第三類電腦系統：未接觸客戶資訊或服務且對營運無影響之系統或設備 如：人資、財會、總務等系統、物聯網設備 。</a:t>
                      </a:r>
                    </a:p>
                    <a:p>
                      <a:r>
                        <a:rPr lang="zh-TW" altLang="en-US" sz="800" dirty="0">
                          <a:latin typeface="微軟正黑體" panose="020B0604030504040204" pitchFamily="34" charset="-120"/>
                          <a:ea typeface="微軟正黑體" panose="020B0604030504040204" pitchFamily="34" charset="-120"/>
                        </a:rPr>
                        <a:t>六、供應鏈資訊安全風險：源自供應商的資訊安全議題如：離職員工持有系統帳號、密碼及原始碼、對外服務系統管控不周或其他資訊安全事件等 </a:t>
                      </a:r>
                      <a:r>
                        <a:rPr lang="en-US" altLang="zh-TW" sz="800" dirty="0">
                          <a:latin typeface="微軟正黑體" panose="020B0604030504040204" pitchFamily="34" charset="-120"/>
                          <a:ea typeface="微軟正黑體" panose="020B0604030504040204" pitchFamily="34" charset="-120"/>
                        </a:rPr>
                        <a:t>))</a:t>
                      </a:r>
                      <a:r>
                        <a:rPr lang="zh-TW" altLang="en-US" sz="800" dirty="0">
                          <a:latin typeface="微軟正黑體" panose="020B0604030504040204" pitchFamily="34" charset="-120"/>
                          <a:ea typeface="微軟正黑體" panose="020B0604030504040204" pitchFamily="34" charset="-120"/>
                        </a:rPr>
                        <a:t>，可能對銀行資通系統與資訊服務的機密性、完整性或可用性造成衝擊。</a:t>
                      </a:r>
                    </a:p>
                    <a:p>
                      <a:r>
                        <a:rPr lang="zh-TW" altLang="en-US" sz="800" dirty="0">
                          <a:latin typeface="微軟正黑體" panose="020B0604030504040204" pitchFamily="34" charset="-120"/>
                          <a:ea typeface="微軟正黑體" panose="020B0604030504040204" pitchFamily="34" charset="-120"/>
                        </a:rPr>
                        <a:t>七、邊際防護：管控銀行與供應商之網路介接以限制未經授權之網路傳輸存取 如：內外網路架構、存取控制及資料傳輸等 。</a:t>
                      </a:r>
                      <a:endParaRPr lang="en-US" altLang="zh-TW" sz="800" dirty="0">
                        <a:latin typeface="微軟正黑體" panose="020B0604030504040204" pitchFamily="34" charset="-120"/>
                        <a:ea typeface="微軟正黑體" panose="020B0604030504040204" pitchFamily="34" charset="-120"/>
                      </a:endParaRPr>
                    </a:p>
                    <a:p>
                      <a:endParaRPr lang="en-US" altLang="zh-TW" sz="800" dirty="0">
                        <a:latin typeface="微軟正黑體" panose="020B0604030504040204" pitchFamily="34" charset="-120"/>
                        <a:ea typeface="微軟正黑體" panose="020B0604030504040204" pitchFamily="34" charset="-120"/>
                      </a:endParaRPr>
                    </a:p>
                    <a:p>
                      <a:r>
                        <a:rPr lang="zh-TW" altLang="en-US" sz="800" dirty="0">
                          <a:latin typeface="微軟正黑體" panose="020B0604030504040204" pitchFamily="34" charset="-120"/>
                          <a:ea typeface="微軟正黑體" panose="020B0604030504040204" pitchFamily="34" charset="-120"/>
                        </a:rPr>
                        <a:t>第四條  資通 系統 與服務委外前，應分析及規劃下列供應鏈資訊安全事項：</a:t>
                      </a:r>
                    </a:p>
                    <a:p>
                      <a:r>
                        <a:rPr lang="zh-TW" altLang="en-US" sz="800" dirty="0">
                          <a:latin typeface="微軟正黑體" panose="020B0604030504040204" pitchFamily="34" charset="-120"/>
                          <a:ea typeface="微軟正黑體" panose="020B0604030504040204" pitchFamily="34" charset="-120"/>
                        </a:rPr>
                        <a:t>一、應針對擬委外 之 項目</a:t>
                      </a:r>
                      <a:r>
                        <a:rPr lang="zh-TW" altLang="en-US" sz="800" b="1" dirty="0">
                          <a:solidFill>
                            <a:srgbClr val="FF0000"/>
                          </a:solidFill>
                          <a:latin typeface="微軟正黑體" panose="020B0604030504040204" pitchFamily="34" charset="-120"/>
                          <a:ea typeface="微軟正黑體" panose="020B0604030504040204" pitchFamily="34" charset="-120"/>
                        </a:rPr>
                        <a:t>執行資訊安全可行性分析</a:t>
                      </a:r>
                      <a:r>
                        <a:rPr lang="zh-TW" altLang="en-US" sz="800" dirty="0">
                          <a:latin typeface="微軟正黑體" panose="020B0604030504040204" pitchFamily="34" charset="-120"/>
                          <a:ea typeface="微軟正黑體" panose="020B0604030504040204" pitchFamily="34" charset="-120"/>
                        </a:rPr>
                        <a:t>：</a:t>
                      </a:r>
                    </a:p>
                    <a:p>
                      <a:r>
                        <a:rPr lang="en-US" altLang="zh-TW" sz="800" dirty="0">
                          <a:latin typeface="微軟正黑體" panose="020B0604030504040204" pitchFamily="34" charset="-120"/>
                          <a:ea typeface="微軟正黑體" panose="020B0604030504040204" pitchFamily="34" charset="-120"/>
                        </a:rPr>
                        <a:t>(</a:t>
                      </a:r>
                      <a:r>
                        <a:rPr lang="zh-TW" altLang="en-US" sz="800" dirty="0">
                          <a:latin typeface="微軟正黑體" panose="020B0604030504040204" pitchFamily="34" charset="-120"/>
                          <a:ea typeface="微軟正黑體" panose="020B0604030504040204" pitchFamily="34" charset="-120"/>
                        </a:rPr>
                        <a:t>一 </a:t>
                      </a:r>
                      <a:r>
                        <a:rPr lang="en-US" altLang="zh-TW" sz="800" dirty="0">
                          <a:solidFill>
                            <a:schemeClr val="tx1"/>
                          </a:solidFill>
                          <a:latin typeface="微軟正黑體" panose="020B0604030504040204" pitchFamily="34" charset="-120"/>
                          <a:ea typeface="微軟正黑體" panose="020B0604030504040204" pitchFamily="34" charset="-120"/>
                        </a:rPr>
                        <a:t>)</a:t>
                      </a:r>
                      <a:r>
                        <a:rPr lang="zh-TW" altLang="en-US" sz="800" b="1" dirty="0">
                          <a:solidFill>
                            <a:schemeClr val="tx1"/>
                          </a:solidFill>
                          <a:latin typeface="微軟正黑體" panose="020B0604030504040204" pitchFamily="34" charset="-120"/>
                          <a:ea typeface="微軟正黑體" panose="020B0604030504040204" pitchFamily="34" charset="-120"/>
                        </a:rPr>
                        <a:t>分析委外項目之資訊安全風險 </a:t>
                      </a:r>
                      <a:r>
                        <a:rPr lang="zh-TW" altLang="en-US" sz="800" dirty="0">
                          <a:latin typeface="微軟正黑體" panose="020B0604030504040204" pitchFamily="34" charset="-120"/>
                          <a:ea typeface="微軟正黑體" panose="020B0604030504040204" pitchFamily="34" charset="-120"/>
                        </a:rPr>
                        <a:t>如：可能受影響之資訊資產、流程及作業環境 與委外可行性，並依據分析結果擬訂資訊安全要求。</a:t>
                      </a:r>
                    </a:p>
                    <a:p>
                      <a:r>
                        <a:rPr lang="en-US" altLang="zh-TW" sz="800" dirty="0">
                          <a:latin typeface="微軟正黑體" panose="020B0604030504040204" pitchFamily="34" charset="-120"/>
                          <a:ea typeface="微軟正黑體" panose="020B0604030504040204" pitchFamily="34" charset="-120"/>
                        </a:rPr>
                        <a:t>(</a:t>
                      </a:r>
                      <a:r>
                        <a:rPr lang="zh-TW" altLang="en-US" sz="800" dirty="0">
                          <a:latin typeface="微軟正黑體" panose="020B0604030504040204" pitchFamily="34" charset="-120"/>
                          <a:ea typeface="微軟正黑體" panose="020B0604030504040204" pitchFamily="34" charset="-120"/>
                        </a:rPr>
                        <a:t>二</a:t>
                      </a:r>
                      <a:r>
                        <a:rPr lang="en-US" altLang="zh-TW" sz="800" dirty="0">
                          <a:latin typeface="微軟正黑體" panose="020B0604030504040204" pitchFamily="34" charset="-120"/>
                          <a:ea typeface="微軟正黑體" panose="020B0604030504040204" pitchFamily="34" charset="-120"/>
                        </a:rPr>
                        <a:t>)</a:t>
                      </a:r>
                      <a:r>
                        <a:rPr lang="zh-TW" altLang="en-US" sz="800" dirty="0">
                          <a:latin typeface="微軟正黑體" panose="020B0604030504040204" pitchFamily="34" charset="-120"/>
                          <a:ea typeface="微軟正黑體" panose="020B0604030504040204" pitchFamily="34" charset="-120"/>
                        </a:rPr>
                        <a:t>將擬委外項目之資訊安全要求列入成本估算。</a:t>
                      </a:r>
                    </a:p>
                    <a:p>
                      <a:endParaRPr lang="en-US" altLang="zh-TW" sz="800" dirty="0">
                        <a:latin typeface="微軟正黑體" panose="020B0604030504040204" pitchFamily="34" charset="-120"/>
                        <a:ea typeface="微軟正黑體" panose="020B0604030504040204" pitchFamily="34" charset="-120"/>
                      </a:endParaRPr>
                    </a:p>
                    <a:p>
                      <a:r>
                        <a:rPr lang="zh-TW" altLang="en-US" sz="800" dirty="0">
                          <a:latin typeface="微軟正黑體" panose="020B0604030504040204" pitchFamily="34" charset="-120"/>
                          <a:ea typeface="微軟正黑體" panose="020B0604030504040204" pitchFamily="34" charset="-120"/>
                        </a:rPr>
                        <a:t>第五條   選擇供應商前，應執 行下列事項：</a:t>
                      </a:r>
                    </a:p>
                    <a:p>
                      <a:r>
                        <a:rPr lang="zh-TW" altLang="en-US" sz="800" dirty="0">
                          <a:latin typeface="微軟正黑體" panose="020B0604030504040204" pitchFamily="34" charset="-120"/>
                          <a:ea typeface="微軟正黑體" panose="020B0604030504040204" pitchFamily="34" charset="-120"/>
                        </a:rPr>
                        <a:t>一、應依據委外項目之性質訂定供應商需求建議書，內容應明列：</a:t>
                      </a:r>
                    </a:p>
                    <a:p>
                      <a:r>
                        <a:rPr lang="en-US" altLang="zh-TW" sz="800" dirty="0">
                          <a:latin typeface="微軟正黑體" panose="020B0604030504040204" pitchFamily="34" charset="-120"/>
                          <a:ea typeface="微軟正黑體" panose="020B0604030504040204" pitchFamily="34" charset="-120"/>
                        </a:rPr>
                        <a:t>(</a:t>
                      </a:r>
                      <a:r>
                        <a:rPr lang="zh-TW" altLang="en-US" sz="800" dirty="0">
                          <a:latin typeface="微軟正黑體" panose="020B0604030504040204" pitchFamily="34" charset="-120"/>
                          <a:ea typeface="微軟正黑體" panose="020B0604030504040204" pitchFamily="34" charset="-120"/>
                        </a:rPr>
                        <a:t>一</a:t>
                      </a:r>
                      <a:r>
                        <a:rPr lang="en-US" altLang="zh-TW" sz="800" dirty="0">
                          <a:latin typeface="微軟正黑體" panose="020B0604030504040204" pitchFamily="34" charset="-120"/>
                          <a:ea typeface="微軟正黑體" panose="020B0604030504040204" pitchFamily="34" charset="-120"/>
                        </a:rPr>
                        <a:t>)</a:t>
                      </a:r>
                      <a:r>
                        <a:rPr lang="zh-TW" altLang="en-US" sz="800" b="1" dirty="0">
                          <a:solidFill>
                            <a:srgbClr val="FF0000"/>
                          </a:solidFill>
                          <a:latin typeface="微軟正黑體" panose="020B0604030504040204" pitchFamily="34" charset="-120"/>
                          <a:ea typeface="微軟正黑體" panose="020B0604030504040204" pitchFamily="34" charset="-120"/>
                        </a:rPr>
                        <a:t>供應商需符合之專業資格與資訊安全要求。</a:t>
                      </a:r>
                    </a:p>
                    <a:p>
                      <a:r>
                        <a:rPr lang="en-US" altLang="zh-TW" sz="800" dirty="0">
                          <a:latin typeface="微軟正黑體" panose="020B0604030504040204" pitchFamily="34" charset="-120"/>
                          <a:ea typeface="微軟正黑體" panose="020B0604030504040204" pitchFamily="34" charset="-120"/>
                        </a:rPr>
                        <a:t>(</a:t>
                      </a:r>
                      <a:r>
                        <a:rPr lang="zh-TW" altLang="en-US" sz="800" dirty="0">
                          <a:latin typeface="微軟正黑體" panose="020B0604030504040204" pitchFamily="34" charset="-120"/>
                          <a:ea typeface="微軟正黑體" panose="020B0604030504040204" pitchFamily="34" charset="-120"/>
                        </a:rPr>
                        <a:t>二</a:t>
                      </a:r>
                      <a:r>
                        <a:rPr lang="en-US" altLang="zh-TW" sz="800" dirty="0">
                          <a:latin typeface="微軟正黑體" panose="020B0604030504040204" pitchFamily="34" charset="-120"/>
                          <a:ea typeface="微軟正黑體" panose="020B0604030504040204" pitchFamily="34" charset="-120"/>
                        </a:rPr>
                        <a:t>)</a:t>
                      </a:r>
                      <a:r>
                        <a:rPr lang="zh-TW" altLang="en-US" sz="800" b="1" dirty="0">
                          <a:solidFill>
                            <a:srgbClr val="FF0000"/>
                          </a:solidFill>
                          <a:latin typeface="微軟正黑體" panose="020B0604030504040204" pitchFamily="34" charset="-120"/>
                          <a:ea typeface="微軟正黑體" panose="020B0604030504040204" pitchFamily="34" charset="-120"/>
                        </a:rPr>
                        <a:t>資訊安全要求之服務水準。</a:t>
                      </a:r>
                    </a:p>
                    <a:p>
                      <a:r>
                        <a:rPr lang="zh-TW" altLang="en-US" sz="800" dirty="0">
                          <a:latin typeface="微軟正黑體" panose="020B0604030504040204" pitchFamily="34" charset="-120"/>
                          <a:ea typeface="微軟正黑體" panose="020B0604030504040204" pitchFamily="34" charset="-120"/>
                        </a:rPr>
                        <a:t>二、選擇供應商過程，如涉及銀行資訊交換，銀行應備妥</a:t>
                      </a:r>
                      <a:r>
                        <a:rPr lang="zh-TW" altLang="en-US" sz="800" b="1" dirty="0">
                          <a:solidFill>
                            <a:srgbClr val="FF0000"/>
                          </a:solidFill>
                          <a:latin typeface="微軟正黑體" panose="020B0604030504040204" pitchFamily="34" charset="-120"/>
                          <a:ea typeface="微軟正黑體" panose="020B0604030504040204" pitchFamily="34" charset="-120"/>
                        </a:rPr>
                        <a:t>保密協議書</a:t>
                      </a:r>
                      <a:r>
                        <a:rPr lang="zh-TW" altLang="en-US" sz="800" dirty="0">
                          <a:latin typeface="微軟正黑體" panose="020B0604030504040204" pitchFamily="34" charset="-120"/>
                          <a:ea typeface="微軟正黑體" panose="020B0604030504040204" pitchFamily="34" charset="-120"/>
                        </a:rPr>
                        <a:t>，並於資訊交換前完成簽署。</a:t>
                      </a:r>
                    </a:p>
                    <a:p>
                      <a:r>
                        <a:rPr lang="zh-TW" altLang="en-US" sz="800" dirty="0">
                          <a:latin typeface="微軟正黑體" panose="020B0604030504040204" pitchFamily="34" charset="-120"/>
                          <a:ea typeface="微軟正黑體" panose="020B0604030504040204" pitchFamily="34" charset="-120"/>
                        </a:rPr>
                        <a:t>三、應執行安全評估以選任合適之供應商：</a:t>
                      </a:r>
                    </a:p>
                    <a:p>
                      <a:r>
                        <a:rPr lang="en-US" altLang="zh-TW" sz="800" dirty="0">
                          <a:latin typeface="微軟正黑體" panose="020B0604030504040204" pitchFamily="34" charset="-120"/>
                          <a:ea typeface="微軟正黑體" panose="020B0604030504040204" pitchFamily="34" charset="-120"/>
                        </a:rPr>
                        <a:t>(</a:t>
                      </a:r>
                      <a:r>
                        <a:rPr lang="zh-TW" altLang="en-US" sz="800" dirty="0">
                          <a:latin typeface="微軟正黑體" panose="020B0604030504040204" pitchFamily="34" charset="-120"/>
                          <a:ea typeface="微軟正黑體" panose="020B0604030504040204" pitchFamily="34" charset="-120"/>
                        </a:rPr>
                        <a:t>一</a:t>
                      </a:r>
                      <a:r>
                        <a:rPr lang="en-US" altLang="zh-TW" sz="800" dirty="0">
                          <a:latin typeface="微軟正黑體" panose="020B0604030504040204" pitchFamily="34" charset="-120"/>
                          <a:ea typeface="微軟正黑體" panose="020B0604030504040204" pitchFamily="34" charset="-120"/>
                        </a:rPr>
                        <a:t>)</a:t>
                      </a:r>
                      <a:r>
                        <a:rPr lang="zh-TW" altLang="en-US" sz="800" dirty="0">
                          <a:latin typeface="微軟正黑體" panose="020B0604030504040204" pitchFamily="34" charset="-120"/>
                          <a:ea typeface="微軟正黑體" panose="020B0604030504040204" pitchFamily="34" charset="-120"/>
                        </a:rPr>
                        <a:t>注意作業委託供應商對銀行服務集中度之適度分散 ，如存在集中度過高之疑慮，應依評估結果擬訂對應之風險處理措施 。</a:t>
                      </a:r>
                    </a:p>
                    <a:p>
                      <a:r>
                        <a:rPr lang="en-US" altLang="zh-TW" sz="800" dirty="0">
                          <a:latin typeface="微軟正黑體" panose="020B0604030504040204" pitchFamily="34" charset="-120"/>
                          <a:ea typeface="微軟正黑體" panose="020B0604030504040204" pitchFamily="34" charset="-120"/>
                        </a:rPr>
                        <a:t>(</a:t>
                      </a:r>
                      <a:r>
                        <a:rPr lang="zh-TW" altLang="en-US" sz="800" dirty="0">
                          <a:latin typeface="微軟正黑體" panose="020B0604030504040204" pitchFamily="34" charset="-120"/>
                          <a:ea typeface="微軟正黑體" panose="020B0604030504040204" pitchFamily="34" charset="-120"/>
                        </a:rPr>
                        <a:t>二</a:t>
                      </a:r>
                      <a:r>
                        <a:rPr lang="en-US" altLang="zh-TW" sz="800" dirty="0">
                          <a:latin typeface="微軟正黑體" panose="020B0604030504040204" pitchFamily="34" charset="-120"/>
                          <a:ea typeface="微軟正黑體" panose="020B0604030504040204" pitchFamily="34" charset="-120"/>
                        </a:rPr>
                        <a:t>)</a:t>
                      </a:r>
                      <a:r>
                        <a:rPr lang="zh-TW" altLang="en-US" sz="800" dirty="0">
                          <a:latin typeface="微軟正黑體" panose="020B0604030504040204" pitchFamily="34" charset="-120"/>
                          <a:ea typeface="微軟正黑體" panose="020B0604030504040204" pitchFamily="34" charset="-120"/>
                        </a:rPr>
                        <a:t>供應商對所委託項目之資訊安全管理機制。</a:t>
                      </a:r>
                    </a:p>
                    <a:p>
                      <a:r>
                        <a:rPr lang="en-US" altLang="zh-TW" sz="800" dirty="0">
                          <a:latin typeface="微軟正黑體" panose="020B0604030504040204" pitchFamily="34" charset="-120"/>
                          <a:ea typeface="微軟正黑體" panose="020B0604030504040204" pitchFamily="34" charset="-120"/>
                        </a:rPr>
                        <a:t>(</a:t>
                      </a:r>
                      <a:r>
                        <a:rPr lang="zh-TW" altLang="en-US" sz="800" dirty="0">
                          <a:latin typeface="微軟正黑體" panose="020B0604030504040204" pitchFamily="34" charset="-120"/>
                          <a:ea typeface="微軟正黑體" panose="020B0604030504040204" pitchFamily="34" charset="-120"/>
                        </a:rPr>
                        <a:t>三</a:t>
                      </a:r>
                      <a:r>
                        <a:rPr lang="en-US" altLang="zh-TW" sz="800" dirty="0">
                          <a:latin typeface="微軟正黑體" panose="020B0604030504040204" pitchFamily="34" charset="-120"/>
                          <a:ea typeface="微軟正黑體" panose="020B0604030504040204" pitchFamily="34" charset="-120"/>
                        </a:rPr>
                        <a:t>)</a:t>
                      </a:r>
                      <a:r>
                        <a:rPr lang="zh-TW" altLang="en-US" sz="800" dirty="0">
                          <a:latin typeface="微軟正黑體" panose="020B0604030504040204" pitchFamily="34" charset="-120"/>
                          <a:ea typeface="微軟正黑體" panose="020B0604030504040204" pitchFamily="34" charset="-120"/>
                        </a:rPr>
                        <a:t>供應商與其提供產品或服務位置。</a:t>
                      </a:r>
                      <a:endParaRPr lang="en-US" altLang="zh-TW" sz="800" dirty="0">
                        <a:latin typeface="微軟正黑體" panose="020B0604030504040204" pitchFamily="34" charset="-120"/>
                        <a:ea typeface="微軟正黑體" panose="020B0604030504040204" pitchFamily="34" charset="-120"/>
                      </a:endParaRPr>
                    </a:p>
                    <a:p>
                      <a:endParaRPr lang="en-US" altLang="zh-TW" sz="800" dirty="0">
                        <a:latin typeface="微軟正黑體" panose="020B0604030504040204" pitchFamily="34" charset="-120"/>
                        <a:ea typeface="微軟正黑體" panose="020B0604030504040204" pitchFamily="34" charset="-120"/>
                      </a:endParaRPr>
                    </a:p>
                    <a:p>
                      <a:r>
                        <a:rPr lang="zh-TW" altLang="en-US" sz="800" dirty="0">
                          <a:latin typeface="微軟正黑體" panose="020B0604030504040204" pitchFamily="34" charset="-120"/>
                          <a:ea typeface="微軟正黑體" panose="020B0604030504040204" pitchFamily="34" charset="-120"/>
                        </a:rPr>
                        <a:t>第六條 </a:t>
                      </a:r>
                      <a:r>
                        <a:rPr lang="zh-TW" altLang="en-US" sz="800" b="1" dirty="0">
                          <a:solidFill>
                            <a:srgbClr val="FF0000"/>
                          </a:solidFill>
                          <a:latin typeface="微軟正黑體" panose="020B0604030504040204" pitchFamily="34" charset="-120"/>
                          <a:ea typeface="微軟正黑體" panose="020B0604030504040204" pitchFamily="34" charset="-120"/>
                        </a:rPr>
                        <a:t>供應商之委託契約或相關文件中，應明確約定下列事項</a:t>
                      </a:r>
                      <a:r>
                        <a:rPr lang="zh-TW" altLang="en-US" sz="800" dirty="0">
                          <a:latin typeface="微軟正黑體" panose="020B0604030504040204" pitchFamily="34" charset="-120"/>
                          <a:ea typeface="微軟正黑體" panose="020B0604030504040204" pitchFamily="34" charset="-120"/>
                        </a:rPr>
                        <a:t>：</a:t>
                      </a:r>
                    </a:p>
                    <a:p>
                      <a:r>
                        <a:rPr lang="zh-TW" altLang="en-US" sz="800" dirty="0">
                          <a:latin typeface="微軟正黑體" panose="020B0604030504040204" pitchFamily="34" charset="-120"/>
                          <a:ea typeface="微軟正黑體" panose="020B0604030504040204" pitchFamily="34" charset="-120"/>
                        </a:rPr>
                        <a:t>一、要求供應商遵守相關法令法規及其他適當資訊安全國際標準要求，並訂定供應商未符合資訊安全要求或服務水準時之罰責標準。</a:t>
                      </a:r>
                    </a:p>
                    <a:p>
                      <a:r>
                        <a:rPr lang="zh-TW" altLang="en-US" sz="800" dirty="0">
                          <a:latin typeface="微軟正黑體" panose="020B0604030504040204" pitchFamily="34" charset="-120"/>
                          <a:ea typeface="微軟正黑體" panose="020B0604030504040204" pitchFamily="34" charset="-120"/>
                        </a:rPr>
                        <a:t>二、定義銀行與供應商之資訊安全權責，規範供應商應實施之資訊安全要求，應包含人員管理、資訊存取與傳輸安全管控機制等，以落實資通系統供應鏈邊際防護。</a:t>
                      </a:r>
                    </a:p>
                    <a:p>
                      <a:r>
                        <a:rPr lang="zh-TW" altLang="en-US" sz="800" dirty="0">
                          <a:latin typeface="微軟正黑體" panose="020B0604030504040204" pitchFamily="34" charset="-120"/>
                          <a:ea typeface="微軟正黑體" panose="020B0604030504040204" pitchFamily="34" charset="-120"/>
                        </a:rPr>
                        <a:t>三、非經金融機構書面同意，不得將作業複委託他人。委外契約中應定義委託業務得否複委託、得複委託之範圍與對象，及複委託受託者應具備之資訊安全措施。</a:t>
                      </a:r>
                    </a:p>
                    <a:p>
                      <a:r>
                        <a:rPr lang="zh-TW" altLang="en-US" sz="800" dirty="0">
                          <a:latin typeface="微軟正黑體" panose="020B0604030504040204" pitchFamily="34" charset="-120"/>
                          <a:ea typeface="微軟正黑體" panose="020B0604030504040204" pitchFamily="34" charset="-120"/>
                        </a:rPr>
                        <a:t>四、依據資料之機密等級、資料處理流程與傳輸方式，要求供應商實施資料安全管控。</a:t>
                      </a:r>
                    </a:p>
                    <a:p>
                      <a:r>
                        <a:rPr lang="zh-TW" altLang="en-US" sz="800" dirty="0">
                          <a:latin typeface="微軟正黑體" panose="020B0604030504040204" pitchFamily="34" charset="-120"/>
                          <a:ea typeface="微軟正黑體" panose="020B0604030504040204" pitchFamily="34" charset="-120"/>
                        </a:rPr>
                        <a:t>五、與供應商約定各項服務要求，如：服務品質、水準、效能、供應商資訊安全事件應變與通報程序、資訊安全事件損害賠償責任、系統或程式定期檢測與修復要求、保固服務、異常管理等。</a:t>
                      </a:r>
                    </a:p>
                    <a:p>
                      <a:r>
                        <a:rPr lang="zh-TW" altLang="en-US" sz="800" dirty="0">
                          <a:latin typeface="微軟正黑體" panose="020B0604030504040204" pitchFamily="34" charset="-120"/>
                          <a:ea typeface="微軟正黑體" panose="020B0604030504040204" pitchFamily="34" charset="-120"/>
                        </a:rPr>
                        <a:t>六、保留對供應商之稽核權。若供應商發生可能影響受託業務之資通安全事件時，應確保其本身、金融監督管理委員會及中央銀行，或其指定之人能取得供應商辦理受託業務之相關資訊，包括資通安全控管機制及相關系統之查核報告，及實地查核權力。</a:t>
                      </a:r>
                    </a:p>
                    <a:p>
                      <a:r>
                        <a:rPr lang="zh-TW" altLang="en-US" sz="800" dirty="0">
                          <a:latin typeface="微軟正黑體" panose="020B0604030504040204" pitchFamily="34" charset="-120"/>
                          <a:ea typeface="微軟正黑體" panose="020B0604030504040204" pitchFamily="34" charset="-120"/>
                        </a:rPr>
                        <a:t>七、訂定資通系統功能需求或資訊建置要求，以及任何可能相關的開發方法、技術或實作，應包含資訊安全要求或控制措施。</a:t>
                      </a:r>
                    </a:p>
                    <a:p>
                      <a:r>
                        <a:rPr lang="zh-TW" altLang="en-US" sz="800" dirty="0">
                          <a:latin typeface="微軟正黑體" panose="020B0604030504040204" pitchFamily="34" charset="-120"/>
                          <a:ea typeface="微軟正黑體" panose="020B0604030504040204" pitchFamily="34" charset="-120"/>
                        </a:rPr>
                        <a:t>八、訂定產品或服務之交付驗收程序和標準。</a:t>
                      </a:r>
                    </a:p>
                    <a:p>
                      <a:r>
                        <a:rPr lang="zh-TW" altLang="en-US" sz="800" dirty="0">
                          <a:latin typeface="微軟正黑體" panose="020B0604030504040204" pitchFamily="34" charset="-120"/>
                          <a:ea typeface="微軟正黑體" panose="020B0604030504040204" pitchFamily="34" charset="-120"/>
                        </a:rPr>
                        <a:t>九、明確約定供應商交付之產品及其服務組件來源為合法取得或經合法授權使用。</a:t>
                      </a:r>
                    </a:p>
                    <a:p>
                      <a:r>
                        <a:rPr lang="zh-TW" altLang="en-US" sz="800" dirty="0">
                          <a:latin typeface="微軟正黑體" panose="020B0604030504040204" pitchFamily="34" charset="-120"/>
                          <a:ea typeface="微軟正黑體" panose="020B0604030504040204" pitchFamily="34" charset="-120"/>
                        </a:rPr>
                        <a:t>十、要求供應商確保交付之資通系統或程式，包含供應商提供之產品及其服務組件，無惡意程式及後門程式，並取得相關安全性測試結果或供應商安全性承諾。</a:t>
                      </a:r>
                    </a:p>
                    <a:p>
                      <a:r>
                        <a:rPr lang="zh-TW" altLang="en-US" sz="800" dirty="0">
                          <a:latin typeface="微軟正黑體" panose="020B0604030504040204" pitchFamily="34" charset="-120"/>
                          <a:ea typeface="微軟正黑體" panose="020B0604030504040204" pitchFamily="34" charset="-120"/>
                        </a:rPr>
                        <a:t>十一、訂定供應商契約終止時，資訊資產與資料返還、移交、刪除或銷毀之要求。</a:t>
                      </a:r>
                    </a:p>
                    <a:p>
                      <a:r>
                        <a:rPr lang="zh-TW" altLang="en-US" sz="800" dirty="0">
                          <a:latin typeface="微軟正黑體" panose="020B0604030504040204" pitchFamily="34" charset="-120"/>
                          <a:ea typeface="微軟正黑體" panose="020B0604030504040204" pitchFamily="34" charset="-120"/>
                        </a:rPr>
                        <a:t>委託契約或相關文件與本規範規定不符者，銀行應執行供應鏈資訊安全風險評估，依評估結果擬訂對應之風險處理措施或接受風險並取得適當管理階層核准。</a:t>
                      </a:r>
                    </a:p>
                  </a:txBody>
                  <a:tcPr marL="103888" marR="103888" marT="51944" marB="51944"/>
                </a:tc>
                <a:tc>
                  <a:txBody>
                    <a:bodyPr/>
                    <a:lstStyle/>
                    <a:p>
                      <a:pPr marL="342900" marR="0" lvl="0" indent="-342900" algn="l" defTabSz="914400" rtl="0" eaLnBrk="1" fontAlgn="auto" latinLnBrk="0" hangingPunct="1">
                        <a:lnSpc>
                          <a:spcPct val="100000"/>
                        </a:lnSpc>
                        <a:spcBef>
                          <a:spcPts val="600"/>
                        </a:spcBef>
                        <a:spcAft>
                          <a:spcPts val="0"/>
                        </a:spcAft>
                        <a:buClrTx/>
                        <a:buSzTx/>
                        <a:buFont typeface="Wingdings" panose="05000000000000000000" pitchFamily="2" charset="2"/>
                        <a:buChar char="ü"/>
                        <a:tabLst/>
                        <a:defRPr/>
                      </a:pPr>
                      <a:r>
                        <a:rPr lang="zh-TW" altLang="en-US" sz="1400" u="none" kern="1200" dirty="0">
                          <a:solidFill>
                            <a:schemeClr val="dk1"/>
                          </a:solidFill>
                          <a:latin typeface="微軟正黑體" panose="020B0604030504040204" pitchFamily="34" charset="-120"/>
                          <a:ea typeface="微軟正黑體" panose="020B0604030504040204" pitchFamily="34" charset="-120"/>
                          <a:cs typeface="+mn-cs"/>
                        </a:rPr>
                        <a:t>法規規範範圍為銀行，本案為金控案件，因此</a:t>
                      </a:r>
                      <a:r>
                        <a:rPr lang="zh-TW" altLang="en-US" sz="1400" b="1" u="none" kern="1200" dirty="0">
                          <a:solidFill>
                            <a:srgbClr val="FF0000"/>
                          </a:solidFill>
                          <a:latin typeface="微軟正黑體" panose="020B0604030504040204" pitchFamily="34" charset="-120"/>
                          <a:ea typeface="微軟正黑體" panose="020B0604030504040204" pitchFamily="34" charset="-120"/>
                          <a:cs typeface="+mn-cs"/>
                        </a:rPr>
                        <a:t>不屬於規範範圍內</a:t>
                      </a:r>
                      <a:r>
                        <a:rPr lang="zh-TW" altLang="en-US" sz="1400" b="0" u="none" kern="1200" dirty="0">
                          <a:solidFill>
                            <a:schemeClr val="dk1"/>
                          </a:solidFill>
                          <a:latin typeface="微軟正黑體" panose="020B0604030504040204" pitchFamily="34" charset="-120"/>
                          <a:ea typeface="微軟正黑體" panose="020B0604030504040204" pitchFamily="34" charset="-120"/>
                          <a:cs typeface="+mn-cs"/>
                        </a:rPr>
                        <a:t>，</a:t>
                      </a:r>
                      <a:r>
                        <a:rPr lang="zh-TW" altLang="en-US" sz="1400" b="1" u="none" kern="1200" dirty="0">
                          <a:solidFill>
                            <a:srgbClr val="FF0000"/>
                          </a:solidFill>
                          <a:latin typeface="微軟正黑體" panose="020B0604030504040204" pitchFamily="34" charset="-120"/>
                          <a:ea typeface="微軟正黑體" panose="020B0604030504040204" pitchFamily="34" charset="-120"/>
                          <a:cs typeface="+mn-cs"/>
                        </a:rPr>
                        <a:t>但考量安全性，將執行下述事項以進行風險管理</a:t>
                      </a:r>
                      <a:r>
                        <a:rPr lang="zh-TW" altLang="en-US" sz="1400" b="0" u="none" kern="1200" dirty="0">
                          <a:solidFill>
                            <a:schemeClr val="dk1"/>
                          </a:solidFill>
                          <a:latin typeface="微軟正黑體" panose="020B0604030504040204" pitchFamily="34" charset="-120"/>
                          <a:ea typeface="微軟正黑體" panose="020B0604030504040204" pitchFamily="34" charset="-120"/>
                          <a:cs typeface="+mn-cs"/>
                        </a:rPr>
                        <a:t>。</a:t>
                      </a:r>
                      <a:endParaRPr lang="en-US" altLang="zh-TW" sz="1400" b="0" u="none" kern="1200" dirty="0">
                        <a:solidFill>
                          <a:schemeClr val="dk1"/>
                        </a:solidFill>
                        <a:latin typeface="微軟正黑體" panose="020B0604030504040204" pitchFamily="34" charset="-120"/>
                        <a:ea typeface="微軟正黑體" panose="020B0604030504040204" pitchFamily="34" charset="-120"/>
                        <a:cs typeface="+mn-cs"/>
                      </a:endParaRPr>
                    </a:p>
                    <a:p>
                      <a:pPr marL="342900" marR="0" lvl="0" indent="-342900" algn="l" defTabSz="914400" rtl="0" eaLnBrk="1" fontAlgn="auto" latinLnBrk="0" hangingPunct="1">
                        <a:lnSpc>
                          <a:spcPct val="100000"/>
                        </a:lnSpc>
                        <a:spcBef>
                          <a:spcPts val="600"/>
                        </a:spcBef>
                        <a:spcAft>
                          <a:spcPts val="0"/>
                        </a:spcAft>
                        <a:buClrTx/>
                        <a:buSzTx/>
                        <a:buFont typeface="Wingdings" panose="05000000000000000000" pitchFamily="2" charset="2"/>
                        <a:buChar char="ü"/>
                        <a:tabLst/>
                        <a:defRPr/>
                      </a:pPr>
                      <a:r>
                        <a:rPr lang="zh-TW" altLang="en-US" sz="1400" u="none" kern="1200" dirty="0">
                          <a:solidFill>
                            <a:schemeClr val="dk1"/>
                          </a:solidFill>
                          <a:latin typeface="微軟正黑體" panose="020B0604030504040204" pitchFamily="34" charset="-120"/>
                          <a:ea typeface="微軟正黑體" panose="020B0604030504040204" pitchFamily="34" charset="-120"/>
                          <a:cs typeface="+mn-cs"/>
                        </a:rPr>
                        <a:t>本專案系統風險為 第三類電腦系統</a:t>
                      </a:r>
                      <a:endParaRPr lang="en-US" altLang="zh-TW" sz="1400" u="none" kern="1200" dirty="0">
                        <a:solidFill>
                          <a:schemeClr val="dk1"/>
                        </a:solidFill>
                        <a:latin typeface="微軟正黑體" panose="020B0604030504040204" pitchFamily="34" charset="-120"/>
                        <a:ea typeface="微軟正黑體" panose="020B0604030504040204" pitchFamily="34" charset="-120"/>
                        <a:cs typeface="+mn-cs"/>
                      </a:endParaRPr>
                    </a:p>
                    <a:p>
                      <a:pPr marL="342900" marR="0" lvl="0" indent="-342900" algn="l" defTabSz="914400" rtl="0" eaLnBrk="1" fontAlgn="auto" latinLnBrk="0" hangingPunct="1">
                        <a:lnSpc>
                          <a:spcPct val="100000"/>
                        </a:lnSpc>
                        <a:spcBef>
                          <a:spcPts val="600"/>
                        </a:spcBef>
                        <a:spcAft>
                          <a:spcPts val="0"/>
                        </a:spcAft>
                        <a:buClrTx/>
                        <a:buSzTx/>
                        <a:buFont typeface="Wingdings" panose="05000000000000000000" pitchFamily="2" charset="2"/>
                        <a:buChar char="ü"/>
                        <a:tabLst/>
                        <a:defRPr/>
                      </a:pPr>
                      <a:r>
                        <a:rPr lang="zh-TW" altLang="en-US" sz="1400" u="none" kern="1200" dirty="0">
                          <a:solidFill>
                            <a:schemeClr val="dk1"/>
                          </a:solidFill>
                          <a:latin typeface="微軟正黑體" panose="020B0604030504040204" pitchFamily="34" charset="-120"/>
                          <a:ea typeface="微軟正黑體" panose="020B0604030504040204" pitchFamily="34" charset="-120"/>
                          <a:cs typeface="+mn-cs"/>
                        </a:rPr>
                        <a:t>供應商</a:t>
                      </a:r>
                      <a:r>
                        <a:rPr lang="zh-TW" altLang="en-US" sz="1400" b="1" u="none" kern="1200" dirty="0">
                          <a:solidFill>
                            <a:srgbClr val="FF0000"/>
                          </a:solidFill>
                          <a:latin typeface="微軟正黑體" panose="020B0604030504040204" pitchFamily="34" charset="-120"/>
                          <a:ea typeface="微軟正黑體" panose="020B0604030504040204" pitchFamily="34" charset="-120"/>
                          <a:cs typeface="+mn-cs"/>
                        </a:rPr>
                        <a:t>已簽訂保密協議書</a:t>
                      </a:r>
                      <a:endParaRPr lang="en-US" altLang="zh-TW" sz="1400" b="1" u="none" kern="1200" dirty="0">
                        <a:solidFill>
                          <a:srgbClr val="FF0000"/>
                        </a:solidFill>
                        <a:latin typeface="微軟正黑體" panose="020B0604030504040204" pitchFamily="34" charset="-120"/>
                        <a:ea typeface="微軟正黑體" panose="020B0604030504040204" pitchFamily="34" charset="-120"/>
                        <a:cs typeface="+mn-cs"/>
                      </a:endParaRPr>
                    </a:p>
                    <a:p>
                      <a:pPr marL="342900" marR="0" lvl="0" indent="-342900" algn="l" defTabSz="914400" rtl="0" eaLnBrk="1" fontAlgn="auto" latinLnBrk="0" hangingPunct="1">
                        <a:lnSpc>
                          <a:spcPct val="100000"/>
                        </a:lnSpc>
                        <a:spcBef>
                          <a:spcPts val="600"/>
                        </a:spcBef>
                        <a:spcAft>
                          <a:spcPts val="0"/>
                        </a:spcAft>
                        <a:buClrTx/>
                        <a:buSzTx/>
                        <a:buFont typeface="Wingdings" panose="05000000000000000000" pitchFamily="2" charset="2"/>
                        <a:buChar char="ü"/>
                        <a:tabLst/>
                        <a:defRPr/>
                      </a:pPr>
                      <a:r>
                        <a:rPr lang="zh-TW" altLang="en-US" sz="1400" u="none" kern="1200" dirty="0">
                          <a:solidFill>
                            <a:schemeClr val="dk1"/>
                          </a:solidFill>
                          <a:latin typeface="微軟正黑體" panose="020B0604030504040204" pitchFamily="34" charset="-120"/>
                          <a:ea typeface="微軟正黑體" panose="020B0604030504040204" pitchFamily="34" charset="-120"/>
                          <a:cs typeface="+mn-cs"/>
                        </a:rPr>
                        <a:t>針對擬委外項目做資訊安全風險分析，將於</a:t>
                      </a:r>
                      <a:r>
                        <a:rPr lang="zh-TW" altLang="en-US" sz="1400" b="1" u="none" kern="1200" dirty="0">
                          <a:solidFill>
                            <a:srgbClr val="FF0000"/>
                          </a:solidFill>
                          <a:latin typeface="微軟正黑體" panose="020B0604030504040204" pitchFamily="34" charset="-120"/>
                          <a:ea typeface="微軟正黑體" panose="020B0604030504040204" pitchFamily="34" charset="-120"/>
                          <a:cs typeface="+mn-cs"/>
                        </a:rPr>
                        <a:t>簽約前確認合約內容符合資訊合約要項檢核表規範</a:t>
                      </a:r>
                      <a:r>
                        <a:rPr lang="en-US" altLang="zh-TW" sz="1400" b="1" u="none" kern="1200" dirty="0">
                          <a:solidFill>
                            <a:srgbClr val="FF0000"/>
                          </a:solidFill>
                          <a:latin typeface="微軟正黑體" panose="020B0604030504040204" pitchFamily="34" charset="-120"/>
                          <a:ea typeface="微軟正黑體" panose="020B0604030504040204" pitchFamily="34" charset="-120"/>
                          <a:cs typeface="+mn-cs"/>
                        </a:rPr>
                        <a:t>(</a:t>
                      </a:r>
                      <a:r>
                        <a:rPr lang="zh-TW" altLang="en-US" sz="1400" b="1" u="none" kern="1200" dirty="0">
                          <a:solidFill>
                            <a:srgbClr val="FF0000"/>
                          </a:solidFill>
                          <a:latin typeface="微軟正黑體" panose="020B0604030504040204" pitchFamily="34" charset="-120"/>
                          <a:ea typeface="微軟正黑體" panose="020B0604030504040204" pitchFamily="34" charset="-120"/>
                          <a:cs typeface="+mn-cs"/>
                        </a:rPr>
                        <a:t>大致符合供應鏈風險管理規範 </a:t>
                      </a:r>
                      <a:r>
                        <a:rPr lang="en-US" altLang="zh-TW" sz="1400" b="1" u="none" kern="1200" dirty="0">
                          <a:solidFill>
                            <a:srgbClr val="FF0000"/>
                          </a:solidFill>
                          <a:latin typeface="微軟正黑體" panose="020B0604030504040204" pitchFamily="34" charset="-120"/>
                          <a:ea typeface="微軟正黑體" panose="020B0604030504040204" pitchFamily="34" charset="-120"/>
                          <a:cs typeface="+mn-cs"/>
                        </a:rPr>
                        <a:t>)</a:t>
                      </a:r>
                      <a:r>
                        <a:rPr lang="zh-TW" altLang="en-US" sz="1400" u="none" kern="1200" dirty="0">
                          <a:solidFill>
                            <a:schemeClr val="dk1"/>
                          </a:solidFill>
                          <a:latin typeface="微軟正黑體" panose="020B0604030504040204" pitchFamily="34" charset="-120"/>
                          <a:ea typeface="微軟正黑體" panose="020B0604030504040204" pitchFamily="34" charset="-120"/>
                          <a:cs typeface="+mn-cs"/>
                        </a:rPr>
                        <a:t>。</a:t>
                      </a:r>
                      <a:endParaRPr lang="en-US" altLang="zh-TW" sz="1400" u="none" kern="1200" dirty="0">
                        <a:solidFill>
                          <a:schemeClr val="dk1"/>
                        </a:solidFill>
                        <a:latin typeface="微軟正黑體" panose="020B0604030504040204" pitchFamily="34" charset="-120"/>
                        <a:ea typeface="微軟正黑體" panose="020B0604030504040204" pitchFamily="34" charset="-120"/>
                        <a:cs typeface="+mn-cs"/>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endParaRPr lang="en-US" altLang="zh-TW" sz="1000" u="none" kern="1200" dirty="0">
                        <a:solidFill>
                          <a:schemeClr val="dk1"/>
                        </a:solidFill>
                        <a:latin typeface="微軟正黑體" panose="020B0604030504040204" pitchFamily="34" charset="-120"/>
                        <a:ea typeface="微軟正黑體" panose="020B0604030504040204" pitchFamily="34" charset="-120"/>
                        <a:cs typeface="+mn-cs"/>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endParaRPr lang="zh-TW" altLang="en-US" sz="1000" b="1" kern="1200" dirty="0">
                        <a:solidFill>
                          <a:srgbClr val="FF0000"/>
                        </a:solidFill>
                        <a:latin typeface="微軟正黑體" panose="020B0604030504040204" pitchFamily="34" charset="-120"/>
                        <a:ea typeface="微軟正黑體" panose="020B0604030504040204" pitchFamily="34" charset="-120"/>
                        <a:cs typeface="+mn-cs"/>
                      </a:endParaRPr>
                    </a:p>
                  </a:txBody>
                  <a:tcPr marL="103888" marR="103888" marT="51944" marB="51944"/>
                </a:tc>
                <a:extLst>
                  <a:ext uri="{0D108BD9-81ED-4DB2-BD59-A6C34878D82A}">
                    <a16:rowId xmlns:a16="http://schemas.microsoft.com/office/drawing/2014/main" val="267930131"/>
                  </a:ext>
                </a:extLst>
              </a:tr>
            </a:tbl>
          </a:graphicData>
        </a:graphic>
      </p:graphicFrame>
    </p:spTree>
    <p:extLst>
      <p:ext uri="{BB962C8B-B14F-4D97-AF65-F5344CB8AC3E}">
        <p14:creationId xmlns:p14="http://schemas.microsoft.com/office/powerpoint/2010/main" val="213883156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AME" val="McK Disclaimer"/>
  <p:tag name="RESIZE" val="Yes"/>
  <p:tag name="LLEFT" val=" 210.125"/>
  <p:tag name="LTOP" val=" 469.875"/>
</p:tagLst>
</file>

<file path=ppt/theme/theme1.xml><?xml version="1.0" encoding="utf-8"?>
<a:theme xmlns:a="http://schemas.openxmlformats.org/drawingml/2006/main" name="數科處範本">
  <a:themeElements>
    <a:clrScheme name="自訂 1">
      <a:dk1>
        <a:srgbClr val="000000"/>
      </a:dk1>
      <a:lt1>
        <a:srgbClr val="FFFFFF"/>
      </a:lt1>
      <a:dk2>
        <a:srgbClr val="717179"/>
      </a:dk2>
      <a:lt2>
        <a:srgbClr val="E3E3E7"/>
      </a:lt2>
      <a:accent1>
        <a:srgbClr val="CBDDE9"/>
      </a:accent1>
      <a:accent2>
        <a:srgbClr val="BED7D5"/>
      </a:accent2>
      <a:accent3>
        <a:srgbClr val="FFEBB3"/>
      </a:accent3>
      <a:accent4>
        <a:srgbClr val="F6D6D7"/>
      </a:accent4>
      <a:accent5>
        <a:srgbClr val="10B981"/>
      </a:accent5>
      <a:accent6>
        <a:srgbClr val="FFFFFF"/>
      </a:accent6>
      <a:hlink>
        <a:srgbClr val="3B82F6"/>
      </a:hlink>
      <a:folHlink>
        <a:srgbClr val="8B5CF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niversal 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000" b="1" i="0" u="none" strike="noStrike" cap="none" normalizeH="0" baseline="0" smtClean="0">
            <a:ln>
              <a:noFill/>
            </a:ln>
            <a:solidFill>
              <a:schemeClr val="tx1"/>
            </a:solidFill>
            <a:effectLst/>
            <a:latin typeface="Arial" charset="0"/>
            <a:ea typeface="华文楷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000" b="1" i="0" u="none" strike="noStrike" cap="none" normalizeH="0" baseline="0" smtClean="0">
            <a:ln>
              <a:noFill/>
            </a:ln>
            <a:solidFill>
              <a:schemeClr val="tx1"/>
            </a:solidFill>
            <a:effectLst/>
            <a:latin typeface="Arial" charset="0"/>
            <a:ea typeface="华文楷体" pitchFamily="2" charset="-122"/>
          </a:defRPr>
        </a:defPPr>
      </a:lstStyle>
    </a:lnDef>
  </a:objectDefaults>
  <a:extraClrSchemeLst>
    <a:extraClrScheme>
      <a:clrScheme name="Universal Template 1">
        <a:dk1>
          <a:srgbClr val="000000"/>
        </a:dk1>
        <a:lt1>
          <a:srgbClr val="FFFFFF"/>
        </a:lt1>
        <a:dk2>
          <a:srgbClr val="000000"/>
        </a:dk2>
        <a:lt2>
          <a:srgbClr val="FFFFFF"/>
        </a:lt2>
        <a:accent1>
          <a:srgbClr val="FFFFFF"/>
        </a:accent1>
        <a:accent2>
          <a:srgbClr val="D0D0D0"/>
        </a:accent2>
        <a:accent3>
          <a:srgbClr val="FFFFFF"/>
        </a:accent3>
        <a:accent4>
          <a:srgbClr val="000000"/>
        </a:accent4>
        <a:accent5>
          <a:srgbClr val="FFFFFF"/>
        </a:accent5>
        <a:accent6>
          <a:srgbClr val="BCBCBC"/>
        </a:accent6>
        <a:hlink>
          <a:srgbClr val="909090"/>
        </a:hlink>
        <a:folHlink>
          <a:srgbClr val="606060"/>
        </a:folHlink>
      </a:clrScheme>
      <a:clrMap bg1="lt1" tx1="dk1" bg2="lt2" tx2="dk2" accent1="accent1" accent2="accent2" accent3="accent3" accent4="accent4" accent5="accent5" accent6="accent6" hlink="hlink" folHlink="folHlink"/>
    </a:extraClrScheme>
    <a:extraClrScheme>
      <a:clrScheme name="Universal Template 2">
        <a:dk1>
          <a:srgbClr val="000000"/>
        </a:dk1>
        <a:lt1>
          <a:srgbClr val="FFFFFF"/>
        </a:lt1>
        <a:dk2>
          <a:srgbClr val="002960"/>
        </a:dk2>
        <a:lt2>
          <a:srgbClr val="FFFFFF"/>
        </a:lt2>
        <a:accent1>
          <a:srgbClr val="C7E0FB"/>
        </a:accent1>
        <a:accent2>
          <a:srgbClr val="91B0FF"/>
        </a:accent2>
        <a:accent3>
          <a:srgbClr val="FFFFFF"/>
        </a:accent3>
        <a:accent4>
          <a:srgbClr val="000000"/>
        </a:accent4>
        <a:accent5>
          <a:srgbClr val="E0EDFD"/>
        </a:accent5>
        <a:accent6>
          <a:srgbClr val="839FE7"/>
        </a:accent6>
        <a:hlink>
          <a:srgbClr val="0066CC"/>
        </a:hlink>
        <a:folHlink>
          <a:srgbClr val="002960"/>
        </a:folHlink>
      </a:clrScheme>
      <a:clrMap bg1="lt1" tx1="dk1" bg2="lt2" tx2="dk2" accent1="accent1" accent2="accent2" accent3="accent3" accent4="accent4" accent5="accent5" accent6="accent6" hlink="hlink" folHlink="folHlink"/>
    </a:extraClrScheme>
    <a:extraClrScheme>
      <a:clrScheme name="Universal Template 3">
        <a:dk1>
          <a:srgbClr val="002960"/>
        </a:dk1>
        <a:lt1>
          <a:srgbClr val="FFFFFF"/>
        </a:lt1>
        <a:dk2>
          <a:srgbClr val="002960"/>
        </a:dk2>
        <a:lt2>
          <a:srgbClr val="FFBE3D"/>
        </a:lt2>
        <a:accent1>
          <a:srgbClr val="0066CC"/>
        </a:accent1>
        <a:accent2>
          <a:srgbClr val="5F8DFF"/>
        </a:accent2>
        <a:accent3>
          <a:srgbClr val="AAACB6"/>
        </a:accent3>
        <a:accent4>
          <a:srgbClr val="DADADA"/>
        </a:accent4>
        <a:accent5>
          <a:srgbClr val="AAB8E2"/>
        </a:accent5>
        <a:accent6>
          <a:srgbClr val="557FE7"/>
        </a:accent6>
        <a:hlink>
          <a:srgbClr val="96C5F8"/>
        </a:hlink>
        <a:folHlink>
          <a:srgbClr val="D8E9FC"/>
        </a:folHlink>
      </a:clrScheme>
      <a:clrMap bg1="dk2" tx1="lt1" bg2="dk1" tx2="lt2" accent1="accent1" accent2="accent2" accent3="accent3" accent4="accent4" accent5="accent5" accent6="accent6" hlink="hlink" folHlink="folHlink"/>
    </a:extraClrScheme>
    <a:extraClrScheme>
      <a:clrScheme name="Universal Template 4">
        <a:dk1>
          <a:srgbClr val="000000"/>
        </a:dk1>
        <a:lt1>
          <a:srgbClr val="FFFFFF"/>
        </a:lt1>
        <a:dk2>
          <a:srgbClr val="000000"/>
        </a:dk2>
        <a:lt2>
          <a:srgbClr val="FFBE3D"/>
        </a:lt2>
        <a:accent1>
          <a:srgbClr val="002960"/>
        </a:accent1>
        <a:accent2>
          <a:srgbClr val="0066CC"/>
        </a:accent2>
        <a:accent3>
          <a:srgbClr val="AAAAAA"/>
        </a:accent3>
        <a:accent4>
          <a:srgbClr val="DADADA"/>
        </a:accent4>
        <a:accent5>
          <a:srgbClr val="AAACB6"/>
        </a:accent5>
        <a:accent6>
          <a:srgbClr val="005CB9"/>
        </a:accent6>
        <a:hlink>
          <a:srgbClr val="91B0FF"/>
        </a:hlink>
        <a:folHlink>
          <a:srgbClr val="C7E0FB"/>
        </a:folHlink>
      </a:clrScheme>
      <a:clrMap bg1="dk2" tx1="lt1" bg2="dk1" tx2="lt2" accent1="accent1" accent2="accent2" accent3="accent3" accent4="accent4" accent5="accent5" accent6="accent6" hlink="hlink" folHlink="folHlink"/>
    </a:extraClrScheme>
    <a:extraClrScheme>
      <a:clrScheme name="Universal Template 5">
        <a:dk1>
          <a:srgbClr val="000000"/>
        </a:dk1>
        <a:lt1>
          <a:srgbClr val="FFFFFF"/>
        </a:lt1>
        <a:dk2>
          <a:srgbClr val="002960"/>
        </a:dk2>
        <a:lt2>
          <a:srgbClr val="FFFFFF"/>
        </a:lt2>
        <a:accent1>
          <a:srgbClr val="C7E0FB"/>
        </a:accent1>
        <a:accent2>
          <a:srgbClr val="FFCC66"/>
        </a:accent2>
        <a:accent3>
          <a:srgbClr val="FFFFFF"/>
        </a:accent3>
        <a:accent4>
          <a:srgbClr val="000000"/>
        </a:accent4>
        <a:accent5>
          <a:srgbClr val="E0EDFD"/>
        </a:accent5>
        <a:accent6>
          <a:srgbClr val="E7B95C"/>
        </a:accent6>
        <a:hlink>
          <a:srgbClr val="4F8636"/>
        </a:hlink>
        <a:folHlink>
          <a:srgbClr val="002960"/>
        </a:folHlink>
      </a:clrScheme>
      <a:clrMap bg1="lt1" tx1="dk1" bg2="lt2" tx2="dk2" accent1="accent1" accent2="accent2" accent3="accent3" accent4="accent4" accent5="accent5" accent6="accent6" hlink="hlink" folHlink="folHlink"/>
    </a:extraClrScheme>
    <a:extraClrScheme>
      <a:clrScheme name="Universal Template 6">
        <a:dk1>
          <a:srgbClr val="002960"/>
        </a:dk1>
        <a:lt1>
          <a:srgbClr val="FFFFFF"/>
        </a:lt1>
        <a:dk2>
          <a:srgbClr val="002960"/>
        </a:dk2>
        <a:lt2>
          <a:srgbClr val="FFBE3D"/>
        </a:lt2>
        <a:accent1>
          <a:srgbClr val="0066CC"/>
        </a:accent1>
        <a:accent2>
          <a:srgbClr val="4F8636"/>
        </a:accent2>
        <a:accent3>
          <a:srgbClr val="AAACB6"/>
        </a:accent3>
        <a:accent4>
          <a:srgbClr val="DADADA"/>
        </a:accent4>
        <a:accent5>
          <a:srgbClr val="AAB8E2"/>
        </a:accent5>
        <a:accent6>
          <a:srgbClr val="477930"/>
        </a:accent6>
        <a:hlink>
          <a:srgbClr val="FF9900"/>
        </a:hlink>
        <a:folHlink>
          <a:srgbClr val="FFBE3D"/>
        </a:folHlink>
      </a:clrScheme>
      <a:clrMap bg1="dk2" tx1="lt1" bg2="dk1" tx2="lt2" accent1="accent1" accent2="accent2" accent3="accent3" accent4="accent4" accent5="accent5" accent6="accent6" hlink="hlink" folHlink="folHlink"/>
    </a:extraClrScheme>
    <a:extraClrScheme>
      <a:clrScheme name="Universal Template 7">
        <a:dk1>
          <a:srgbClr val="000000"/>
        </a:dk1>
        <a:lt1>
          <a:srgbClr val="FFFFFF"/>
        </a:lt1>
        <a:dk2>
          <a:srgbClr val="000000"/>
        </a:dk2>
        <a:lt2>
          <a:srgbClr val="FFBE3D"/>
        </a:lt2>
        <a:accent1>
          <a:srgbClr val="0066CC"/>
        </a:accent1>
        <a:accent2>
          <a:srgbClr val="4F8636"/>
        </a:accent2>
        <a:accent3>
          <a:srgbClr val="AAAAAA"/>
        </a:accent3>
        <a:accent4>
          <a:srgbClr val="DADADA"/>
        </a:accent4>
        <a:accent5>
          <a:srgbClr val="AAB8E2"/>
        </a:accent5>
        <a:accent6>
          <a:srgbClr val="477930"/>
        </a:accent6>
        <a:hlink>
          <a:srgbClr val="FF9900"/>
        </a:hlink>
        <a:folHlink>
          <a:srgbClr val="FFBE3D"/>
        </a:folHlink>
      </a:clrScheme>
      <a:clrMap bg1="dk2" tx1="lt1" bg2="dk1" tx2="lt2" accent1="accent1" accent2="accent2" accent3="accent3" accent4="accent4" accent5="accent5" accent6="accent6" hlink="hlink" folHlink="folHlink"/>
    </a:extraClrScheme>
    <a:extraClrScheme>
      <a:clrScheme name="Universal Template 8">
        <a:dk1>
          <a:srgbClr val="000000"/>
        </a:dk1>
        <a:lt1>
          <a:srgbClr val="FFFFFF"/>
        </a:lt1>
        <a:dk2>
          <a:srgbClr val="002960"/>
        </a:dk2>
        <a:lt2>
          <a:srgbClr val="FFFFFF"/>
        </a:lt2>
        <a:accent1>
          <a:srgbClr val="C7E0FB"/>
        </a:accent1>
        <a:accent2>
          <a:srgbClr val="C7C293"/>
        </a:accent2>
        <a:accent3>
          <a:srgbClr val="FFFFFF"/>
        </a:accent3>
        <a:accent4>
          <a:srgbClr val="000000"/>
        </a:accent4>
        <a:accent5>
          <a:srgbClr val="E0EDFD"/>
        </a:accent5>
        <a:accent6>
          <a:srgbClr val="B4B085"/>
        </a:accent6>
        <a:hlink>
          <a:srgbClr val="50A2A0"/>
        </a:hlink>
        <a:folHlink>
          <a:srgbClr val="002960"/>
        </a:folHlink>
      </a:clrScheme>
      <a:clrMap bg1="lt1" tx1="dk1" bg2="lt2" tx2="dk2" accent1="accent1" accent2="accent2" accent3="accent3" accent4="accent4" accent5="accent5" accent6="accent6" hlink="hlink" folHlink="folHlink"/>
    </a:extraClrScheme>
    <a:extraClrScheme>
      <a:clrScheme name="Universal Template 9">
        <a:dk1>
          <a:srgbClr val="002960"/>
        </a:dk1>
        <a:lt1>
          <a:srgbClr val="FFFFFF"/>
        </a:lt1>
        <a:dk2>
          <a:srgbClr val="002960"/>
        </a:dk2>
        <a:lt2>
          <a:srgbClr val="FFBE3D"/>
        </a:lt2>
        <a:accent1>
          <a:srgbClr val="0066CC"/>
        </a:accent1>
        <a:accent2>
          <a:srgbClr val="50A2A0"/>
        </a:accent2>
        <a:accent3>
          <a:srgbClr val="AAACB6"/>
        </a:accent3>
        <a:accent4>
          <a:srgbClr val="DADADA"/>
        </a:accent4>
        <a:accent5>
          <a:srgbClr val="AAB8E2"/>
        </a:accent5>
        <a:accent6>
          <a:srgbClr val="489291"/>
        </a:accent6>
        <a:hlink>
          <a:srgbClr val="C7C293"/>
        </a:hlink>
        <a:folHlink>
          <a:srgbClr val="FFBE3D"/>
        </a:folHlink>
      </a:clrScheme>
      <a:clrMap bg1="dk2" tx1="lt1" bg2="dk1" tx2="lt2" accent1="accent1" accent2="accent2" accent3="accent3" accent4="accent4" accent5="accent5" accent6="accent6" hlink="hlink" folHlink="folHlink"/>
    </a:extraClrScheme>
    <a:extraClrScheme>
      <a:clrScheme name="Universal Template 10">
        <a:dk1>
          <a:srgbClr val="000000"/>
        </a:dk1>
        <a:lt1>
          <a:srgbClr val="FFFFFF"/>
        </a:lt1>
        <a:dk2>
          <a:srgbClr val="000000"/>
        </a:dk2>
        <a:lt2>
          <a:srgbClr val="FFBE3D"/>
        </a:lt2>
        <a:accent1>
          <a:srgbClr val="174A7C"/>
        </a:accent1>
        <a:accent2>
          <a:srgbClr val="50A2A0"/>
        </a:accent2>
        <a:accent3>
          <a:srgbClr val="AAAAAA"/>
        </a:accent3>
        <a:accent4>
          <a:srgbClr val="DADADA"/>
        </a:accent4>
        <a:accent5>
          <a:srgbClr val="ABB1BF"/>
        </a:accent5>
        <a:accent6>
          <a:srgbClr val="489291"/>
        </a:accent6>
        <a:hlink>
          <a:srgbClr val="C7C293"/>
        </a:hlink>
        <a:folHlink>
          <a:srgbClr val="FFBE3D"/>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Universal Templat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文件" ma:contentTypeID="0x010100DE4F25D0FF425B4EA678AC2414B6A709" ma:contentTypeVersion="6" ma:contentTypeDescription="建立新的文件。" ma:contentTypeScope="" ma:versionID="1ba31cd0f8baad63103e72ab5dcfcef7">
  <xsd:schema xmlns:xsd="http://www.w3.org/2001/XMLSchema" xmlns:xs="http://www.w3.org/2001/XMLSchema" xmlns:p="http://schemas.microsoft.com/office/2006/metadata/properties" xmlns:ns2="7cac0686-f0c7-4236-b000-d7b90732a875" xmlns:ns3="9bfc64f2-d580-4df8-9fa4-4631ad6ac43d" targetNamespace="http://schemas.microsoft.com/office/2006/metadata/properties" ma:root="true" ma:fieldsID="4d4fb640e3ca30f7dbe874cdc4a2844a" ns2:_="" ns3:_="">
    <xsd:import namespace="7cac0686-f0c7-4236-b000-d7b90732a875"/>
    <xsd:import namespace="9bfc64f2-d580-4df8-9fa4-4631ad6ac43d"/>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cac0686-f0c7-4236-b000-d7b90732a87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bfc64f2-d580-4df8-9fa4-4631ad6ac43d" elementFormDefault="qualified">
    <xsd:import namespace="http://schemas.microsoft.com/office/2006/documentManagement/types"/>
    <xsd:import namespace="http://schemas.microsoft.com/office/infopath/2007/PartnerControls"/>
    <xsd:element name="SharedWithUsers" ma:index="12" nillable="true" ma:displayName="共用對象:"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共用詳細資料"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內容類型"/>
        <xsd:element ref="dc:title" minOccurs="0" maxOccurs="1" ma:index="4" ma:displayName="標題"/>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6929C79-DB32-411C-8C37-9A0BBBB5F642}">
  <ds:schemaRefs>
    <ds:schemaRef ds:uri="http://schemas.microsoft.com/sharepoint/v3/contenttype/forms"/>
  </ds:schemaRefs>
</ds:datastoreItem>
</file>

<file path=customXml/itemProps2.xml><?xml version="1.0" encoding="utf-8"?>
<ds:datastoreItem xmlns:ds="http://schemas.openxmlformats.org/officeDocument/2006/customXml" ds:itemID="{3BE5FC92-8C40-4D23-ACD7-E9E1FD6DABD4}">
  <ds:schemaRefs>
    <ds:schemaRef ds:uri="7cac0686-f0c7-4236-b000-d7b90732a875"/>
    <ds:schemaRef ds:uri="9bfc64f2-d580-4df8-9fa4-4631ad6ac43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0FD5D526-59E0-46BD-B75A-4A393253F249}">
  <ds:schemaRefs>
    <ds:schemaRef ds:uri="7cac0686-f0c7-4236-b000-d7b90732a875"/>
    <ds:schemaRef ds:uri="9bfc64f2-d580-4df8-9fa4-4631ad6ac43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10038</TotalTime>
  <Words>4754</Words>
  <Application>Microsoft Office PowerPoint</Application>
  <PresentationFormat>自訂</PresentationFormat>
  <Paragraphs>567</Paragraphs>
  <Slides>24</Slides>
  <Notes>18</Notes>
  <HiddenSlides>0</HiddenSlides>
  <MMClips>0</MMClips>
  <ScaleCrop>false</ScaleCrop>
  <HeadingPairs>
    <vt:vector size="8" baseType="variant">
      <vt:variant>
        <vt:lpstr>使用字型</vt:lpstr>
      </vt:variant>
      <vt:variant>
        <vt:i4>15</vt:i4>
      </vt:variant>
      <vt:variant>
        <vt:lpstr>佈景主題</vt:lpstr>
      </vt:variant>
      <vt:variant>
        <vt:i4>3</vt:i4>
      </vt:variant>
      <vt:variant>
        <vt:lpstr>內嵌 OLE 伺服程式</vt:lpstr>
      </vt:variant>
      <vt:variant>
        <vt:i4>1</vt:i4>
      </vt:variant>
      <vt:variant>
        <vt:lpstr>投影片標題</vt:lpstr>
      </vt:variant>
      <vt:variant>
        <vt:i4>24</vt:i4>
      </vt:variant>
    </vt:vector>
  </HeadingPairs>
  <TitlesOfParts>
    <vt:vector size="43" baseType="lpstr">
      <vt:lpstr>Bebas</vt:lpstr>
      <vt:lpstr>KaTeX_Main</vt:lpstr>
      <vt:lpstr>Microsoft JhengHei Light</vt:lpstr>
      <vt:lpstr>Noto Sans Symbols</vt:lpstr>
      <vt:lpstr>NotoSansTC</vt:lpstr>
      <vt:lpstr>微軟正黑體</vt:lpstr>
      <vt:lpstr>微軟正黑體</vt:lpstr>
      <vt:lpstr>標楷體</vt:lpstr>
      <vt:lpstr>標準系統字體</vt:lpstr>
      <vt:lpstr>Agency FB</vt:lpstr>
      <vt:lpstr>Arial</vt:lpstr>
      <vt:lpstr>Calibri</vt:lpstr>
      <vt:lpstr>Roboto</vt:lpstr>
      <vt:lpstr>Times New Roman</vt:lpstr>
      <vt:lpstr>Wingdings</vt:lpstr>
      <vt:lpstr>數科處範本</vt:lpstr>
      <vt:lpstr>Universal Template</vt:lpstr>
      <vt:lpstr>1_Universal Template</vt:lpstr>
      <vt:lpstr>Worksheet</vt:lpstr>
      <vt:lpstr>爬蟲館擴充案-架審</vt:lpstr>
      <vt:lpstr>專案總覽</vt:lpstr>
      <vt:lpstr>專案目標</vt:lpstr>
      <vt:lpstr>專案範圍</vt:lpstr>
      <vt:lpstr>專案效益</vt:lpstr>
      <vt:lpstr>使用情境_現況</vt:lpstr>
      <vt:lpstr>使用情境_擴充案正式</vt:lpstr>
      <vt:lpstr>使用情境_擴充案測試</vt:lpstr>
      <vt:lpstr>爬蟲館擴充案功能列表</vt:lpstr>
      <vt:lpstr>開發測試說明</vt:lpstr>
      <vt:lpstr>年度成本估算</vt:lpstr>
      <vt:lpstr>專案時程</vt:lpstr>
      <vt:lpstr>附件</vt:lpstr>
      <vt:lpstr>爬蟲程式ADO換版流程(包含Fargate和Lambda流程)</vt:lpstr>
      <vt:lpstr>爬蟲館營運分析統計</vt:lpstr>
      <vt:lpstr>爬蟲館營運分析比較</vt:lpstr>
      <vt:lpstr>爬蟲館現況統計(截至2025/10/9)</vt:lpstr>
      <vt:lpstr>系統隱形成本揭露</vt:lpstr>
      <vt:lpstr>合併增加的儲存、流量成本</vt:lpstr>
      <vt:lpstr>資料下載至地端預估量</vt:lpstr>
      <vt:lpstr>合規檢視</vt:lpstr>
      <vt:lpstr>資料取用</vt:lpstr>
      <vt:lpstr>資料保護</vt:lpstr>
      <vt:lpstr>法規：金融機構資通系統與服務供應鏈風險管理規範</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封面標題(36 pt)</dc:title>
  <dc:creator>劉德偉-數位金融處-永豐銀行</dc:creator>
  <cp:lastModifiedBy>唐俊智-數據應用部-永豐銀行</cp:lastModifiedBy>
  <cp:revision>839</cp:revision>
  <dcterms:modified xsi:type="dcterms:W3CDTF">2025-10-20T07:17:45Z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0x010100DE4F25D0FF425B4EA678AC2414B6A709</vt:lpwstr>
  </property>
  <property fmtid="{D5CDD505-2E9C-101B-9397-08002B2CF9AE}" pid="3" name="Order">
    <vt:r8>500</vt:r8>
  </property>
  <property fmtid="{D5CDD505-2E9C-101B-9397-08002B2CF9AE}" pid="4" name="TriggerFlowInfo">
    <vt:lpwstr/>
  </property>
  <property fmtid="{D5CDD505-2E9C-101B-9397-08002B2CF9AE}" pid="5" name="ComplianceAssetId">
    <vt:lpwstr/>
  </property>
  <property fmtid="{D5CDD505-2E9C-101B-9397-08002B2CF9AE}" pid="6" name="_ExtendedDescription">
    <vt:lpwstr/>
  </property>
</Properties>
</file>