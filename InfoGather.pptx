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4"/>
  </p:sldMasterIdLst>
  <p:notesMasterIdLst>
    <p:notesMasterId r:id="rId18"/>
  </p:notesMasterIdLst>
  <p:sldIdLst>
    <p:sldId id="256" r:id="rId5"/>
    <p:sldId id="2147471190" r:id="rId6"/>
    <p:sldId id="2147471192" r:id="rId7"/>
    <p:sldId id="2147471193" r:id="rId8"/>
    <p:sldId id="2147471194" r:id="rId9"/>
    <p:sldId id="2147471202" r:id="rId10"/>
    <p:sldId id="2147471195" r:id="rId11"/>
    <p:sldId id="2147471196" r:id="rId12"/>
    <p:sldId id="2147471198" r:id="rId13"/>
    <p:sldId id="2147471199" r:id="rId14"/>
    <p:sldId id="2147471200" r:id="rId15"/>
    <p:sldId id="2147471197" r:id="rId16"/>
    <p:sldId id="2147471201" r:id="rId17"/>
  </p:sldIdLst>
  <p:sldSz cx="11520488" cy="648017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55" roundtripDataSignature="AMtx7mhqKJAzFugGzrpaCdpbPJOL8Owfd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周立筠-數位金融部-證券" initials="MSOffice" lastIdx="1" clrIdx="0">
    <p:extLst>
      <p:ext uri="{19B8F6BF-5375-455C-9EA6-DF929625EA0E}">
        <p15:presenceInfo xmlns:p15="http://schemas.microsoft.com/office/powerpoint/2012/main" userId="周立筠-數位金融部-證券" providerId="None"/>
      </p:ext>
    </p:extLst>
  </p:cmAuthor>
  <p:cmAuthor id="2" name="吳憲驊-人力資源處-永豐銀行" initials="吳憲驊-人力資源處-永豐銀行" lastIdx="1" clrIdx="1">
    <p:extLst>
      <p:ext uri="{19B8F6BF-5375-455C-9EA6-DF929625EA0E}">
        <p15:presenceInfo xmlns:p15="http://schemas.microsoft.com/office/powerpoint/2012/main" userId="S::simonwu@sinopac.com::c372d5aa-c765-4280-a5c9-548c4152a5d4" providerId="AD"/>
      </p:ext>
    </p:extLst>
  </p:cmAuthor>
  <p:cmAuthor id="3" name="張天豪-數位金融處-永豐銀行" initials="張天豪-數位金融處-永豐銀行" lastIdx="1" clrIdx="2">
    <p:extLst>
      <p:ext uri="{19B8F6BF-5375-455C-9EA6-DF929625EA0E}">
        <p15:presenceInfo xmlns:p15="http://schemas.microsoft.com/office/powerpoint/2012/main" userId="S::darby@sinopac.com::0d835702-99c9-4ef6-82d8-3ca86d4ccc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FDF6"/>
    <a:srgbClr val="FFF2F2"/>
    <a:srgbClr val="EFF7FF"/>
    <a:srgbClr val="FECDD3"/>
    <a:srgbClr val="BFDBFF"/>
    <a:srgbClr val="93C5FD"/>
    <a:srgbClr val="422006"/>
    <a:srgbClr val="713F12"/>
    <a:srgbClr val="854D0E"/>
    <a:srgbClr val="A162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DB7C30-2B5D-4D34-8F22-85940E495A18}">
  <a:tblStyle styleId="{91DB7C30-2B5D-4D34-8F22-85940E495A1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8D87DB6-C1B6-446D-86CF-44D372F8A8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7E2D07F-EAD9-47BB-8D15-AB9D181D91B3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7"/>
    <p:restoredTop sz="63778"/>
  </p:normalViewPr>
  <p:slideViewPr>
    <p:cSldViewPr snapToGrid="0">
      <p:cViewPr>
        <p:scale>
          <a:sx n="80" d="100"/>
          <a:sy n="80" d="100"/>
        </p:scale>
        <p:origin x="792" y="464"/>
      </p:cViewPr>
      <p:guideLst/>
    </p:cSldViewPr>
  </p:slideViewPr>
  <p:notesTextViewPr>
    <p:cViewPr>
      <p:scale>
        <a:sx n="110" d="100"/>
        <a:sy n="110" d="100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708" y="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55" Type="http://customschemas.google.com/relationships/presentationmetadata" Target="meta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59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8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57" Type="http://schemas.openxmlformats.org/officeDocument/2006/relationships/presProps" Target="presProps.xml"/><Relationship Id="rId61" Type="http://schemas.microsoft.com/office/2016/11/relationships/changesInfo" Target="changesInfos/changesInfo1.xml"/><Relationship Id="rId10" Type="http://schemas.openxmlformats.org/officeDocument/2006/relationships/slide" Target="slides/slide6.xml"/><Relationship Id="rId6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6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鄧昱辰-數位金融處-永豐銀行" userId="S::abnerden@sinopac.com::bac69c27-d65c-4a8e-9604-5b752fd98276" providerId="AD" clId="Web-{BD436DF0-F36C-3C10-2DF2-C064A6340344}"/>
    <pc:docChg chg="modSld">
      <pc:chgData name="鄧昱辰-數位金融處-永豐銀行" userId="S::abnerden@sinopac.com::bac69c27-d65c-4a8e-9604-5b752fd98276" providerId="AD" clId="Web-{BD436DF0-F36C-3C10-2DF2-C064A6340344}" dt="2025-07-02T08:48:48.862" v="4" actId="20577"/>
      <pc:docMkLst>
        <pc:docMk/>
      </pc:docMkLst>
      <pc:sldChg chg="modSp">
        <pc:chgData name="鄧昱辰-數位金融處-永豐銀行" userId="S::abnerden@sinopac.com::bac69c27-d65c-4a8e-9604-5b752fd98276" providerId="AD" clId="Web-{BD436DF0-F36C-3C10-2DF2-C064A6340344}" dt="2025-07-02T08:48:48.862" v="4" actId="20577"/>
        <pc:sldMkLst>
          <pc:docMk/>
          <pc:sldMk cId="4060586183" sldId="2147471188"/>
        </pc:sldMkLst>
      </pc:sldChg>
    </pc:docChg>
  </pc:docChgLst>
  <pc:docChgLst>
    <pc:chgData name="周立筠-數據應用部-永豐金證券" userId="ee349c15-f274-43a3-b0c9-48d528d95247" providerId="ADAL" clId="{60EF727E-7560-4199-9548-178954D6DF8E}"/>
    <pc:docChg chg="undo custSel modSld">
      <pc:chgData name="周立筠-數據應用部-永豐金證券" userId="ee349c15-f274-43a3-b0c9-48d528d95247" providerId="ADAL" clId="{60EF727E-7560-4199-9548-178954D6DF8E}" dt="2024-08-23T09:45:13.775" v="159" actId="14100"/>
      <pc:docMkLst>
        <pc:docMk/>
      </pc:docMkLst>
      <pc:sldChg chg="modSp addCm modCm">
        <pc:chgData name="周立筠-數據應用部-永豐金證券" userId="ee349c15-f274-43a3-b0c9-48d528d95247" providerId="ADAL" clId="{60EF727E-7560-4199-9548-178954D6DF8E}" dt="2024-08-23T09:28:50.074" v="151" actId="14100"/>
        <pc:sldMkLst>
          <pc:docMk/>
          <pc:sldMk cId="3262633635" sldId="297"/>
        </pc:sldMkLst>
      </pc:sldChg>
      <pc:sldChg chg="addSp delSp modSp">
        <pc:chgData name="周立筠-數據應用部-永豐金證券" userId="ee349c15-f274-43a3-b0c9-48d528d95247" providerId="ADAL" clId="{60EF727E-7560-4199-9548-178954D6DF8E}" dt="2024-08-23T09:45:13.775" v="159" actId="14100"/>
        <pc:sldMkLst>
          <pc:docMk/>
          <pc:sldMk cId="2826782116" sldId="298"/>
        </pc:sldMkLst>
      </pc:sldChg>
    </pc:docChg>
  </pc:docChgLst>
  <pc:docChgLst>
    <pc:chgData name="周立筠-數據應用部-永豐金證券" userId="ee349c15-f274-43a3-b0c9-48d528d95247" providerId="ADAL" clId="{3FB2CB3A-96A0-4538-BF95-B43B96849497}"/>
    <pc:docChg chg="undo custSel addSld modSld sldOrd">
      <pc:chgData name="周立筠-數據應用部-永豐金證券" userId="ee349c15-f274-43a3-b0c9-48d528d95247" providerId="ADAL" clId="{3FB2CB3A-96A0-4538-BF95-B43B96849497}" dt="2024-09-06T07:42:04.870" v="136" actId="20577"/>
      <pc:docMkLst>
        <pc:docMk/>
      </pc:docMkLst>
      <pc:sldChg chg="modSp ord">
        <pc:chgData name="周立筠-數據應用部-永豐金證券" userId="ee349c15-f274-43a3-b0c9-48d528d95247" providerId="ADAL" clId="{3FB2CB3A-96A0-4538-BF95-B43B96849497}" dt="2024-09-06T07:32:13.670" v="14" actId="20577"/>
        <pc:sldMkLst>
          <pc:docMk/>
          <pc:sldMk cId="2022153893" sldId="295"/>
        </pc:sldMkLst>
      </pc:sldChg>
      <pc:sldChg chg="ord">
        <pc:chgData name="周立筠-數據應用部-永豐金證券" userId="ee349c15-f274-43a3-b0c9-48d528d95247" providerId="ADAL" clId="{3FB2CB3A-96A0-4538-BF95-B43B96849497}" dt="2024-09-06T07:29:51.430" v="5" actId="20577"/>
        <pc:sldMkLst>
          <pc:docMk/>
          <pc:sldMk cId="4245503187" sldId="2147471171"/>
        </pc:sldMkLst>
      </pc:sldChg>
      <pc:sldChg chg="addSp delSp modSp add">
        <pc:chgData name="周立筠-數據應用部-永豐金證券" userId="ee349c15-f274-43a3-b0c9-48d528d95247" providerId="ADAL" clId="{3FB2CB3A-96A0-4538-BF95-B43B96849497}" dt="2024-09-06T07:31:40.591" v="11" actId="14734"/>
        <pc:sldMkLst>
          <pc:docMk/>
          <pc:sldMk cId="1504610650" sldId="2147471172"/>
        </pc:sldMkLst>
      </pc:sldChg>
      <pc:sldChg chg="addSp delSp modSp add">
        <pc:chgData name="周立筠-數據應用部-永豐金證券" userId="ee349c15-f274-43a3-b0c9-48d528d95247" providerId="ADAL" clId="{3FB2CB3A-96A0-4538-BF95-B43B96849497}" dt="2024-09-06T07:42:04.870" v="136" actId="20577"/>
        <pc:sldMkLst>
          <pc:docMk/>
          <pc:sldMk cId="3155411272" sldId="2147471173"/>
        </pc:sldMkLst>
      </pc:sldChg>
    </pc:docChg>
  </pc:docChgLst>
  <pc:docChgLst>
    <pc:chgData name="陳韋樺-數位科技處-永豐金控" userId="701130e9-61c9-4993-9d2b-72f9303521e5" providerId="ADAL" clId="{80DAA328-AAE6-42A8-AA4F-C352BC19A94D}"/>
    <pc:docChg chg="undo custSel modSld">
      <pc:chgData name="陳韋樺-數位科技處-永豐金控" userId="701130e9-61c9-4993-9d2b-72f9303521e5" providerId="ADAL" clId="{80DAA328-AAE6-42A8-AA4F-C352BC19A94D}" dt="2025-07-08T01:43:26.008" v="4" actId="20577"/>
      <pc:docMkLst>
        <pc:docMk/>
      </pc:docMkLst>
      <pc:sldChg chg="modSp mod">
        <pc:chgData name="陳韋樺-數位科技處-永豐金控" userId="701130e9-61c9-4993-9d2b-72f9303521e5" providerId="ADAL" clId="{80DAA328-AAE6-42A8-AA4F-C352BC19A94D}" dt="2025-07-08T01:43:26.008" v="4" actId="20577"/>
        <pc:sldMkLst>
          <pc:docMk/>
          <pc:sldMk cId="0" sldId="256"/>
        </pc:sldMkLst>
      </pc:sldChg>
    </pc:docChg>
  </pc:docChgLst>
  <pc:docChgLst>
    <pc:chgData name="張天豪-數位金融處-永豐銀行" userId="0d835702-99c9-4ef6-82d8-3ca86d4ccc15" providerId="ADAL" clId="{D2AF67AB-EFE6-5583-B6E8-67F78036965D}"/>
    <pc:docChg chg="custSel addSld delSld modSld modSection">
      <pc:chgData name="張天豪-數位金融處-永豐銀行" userId="0d835702-99c9-4ef6-82d8-3ca86d4ccc15" providerId="ADAL" clId="{D2AF67AB-EFE6-5583-B6E8-67F78036965D}" dt="2025-09-15T05:42:40.118" v="2" actId="2696"/>
      <pc:docMkLst>
        <pc:docMk/>
      </pc:docMkLst>
      <pc:sldChg chg="addSp delSp modSp new del mod chgLayout">
        <pc:chgData name="張天豪-數位金融處-永豐銀行" userId="0d835702-99c9-4ef6-82d8-3ca86d4ccc15" providerId="ADAL" clId="{D2AF67AB-EFE6-5583-B6E8-67F78036965D}" dt="2025-09-15T05:42:40.118" v="2" actId="2696"/>
        <pc:sldMkLst>
          <pc:docMk/>
          <pc:sldMk cId="4260387952" sldId="2147471190"/>
        </pc:sldMkLst>
        <pc:spChg chg="del">
          <ac:chgData name="張天豪-數位金融處-永豐銀行" userId="0d835702-99c9-4ef6-82d8-3ca86d4ccc15" providerId="ADAL" clId="{D2AF67AB-EFE6-5583-B6E8-67F78036965D}" dt="2025-09-15T05:42:00.447" v="1" actId="700"/>
          <ac:spMkLst>
            <pc:docMk/>
            <pc:sldMk cId="4260387952" sldId="2147471190"/>
            <ac:spMk id="2" creationId="{C8E2D793-753F-D8E0-6C96-C3E4A92D305F}"/>
          </ac:spMkLst>
        </pc:spChg>
        <pc:spChg chg="add mod ord">
          <ac:chgData name="張天豪-數位金融處-永豐銀行" userId="0d835702-99c9-4ef6-82d8-3ca86d4ccc15" providerId="ADAL" clId="{D2AF67AB-EFE6-5583-B6E8-67F78036965D}" dt="2025-09-15T05:42:00.447" v="1" actId="700"/>
          <ac:spMkLst>
            <pc:docMk/>
            <pc:sldMk cId="4260387952" sldId="2147471190"/>
            <ac:spMk id="3" creationId="{4720BA31-8393-D7D0-C165-7006096CE23F}"/>
          </ac:spMkLst>
        </pc:spChg>
      </pc:sldChg>
    </pc:docChg>
  </pc:docChgLst>
  <pc:docChgLst>
    <pc:chgData name="張天豪-數位金融處-永豐銀行" userId="0d835702-99c9-4ef6-82d8-3ca86d4ccc15" providerId="ADAL" clId="{3535DB18-1BBF-46AC-A302-CA4DEF9EDE65}"/>
    <pc:docChg chg="undo custSel modSld modMainMaster">
      <pc:chgData name="張天豪-數位金融處-永豐銀行" userId="0d835702-99c9-4ef6-82d8-3ca86d4ccc15" providerId="ADAL" clId="{3535DB18-1BBF-46AC-A302-CA4DEF9EDE65}" dt="2024-08-27T06:35:43.088" v="30" actId="478"/>
      <pc:docMkLst>
        <pc:docMk/>
      </pc:docMkLst>
      <pc:sldChg chg="modSp mod addCm">
        <pc:chgData name="張天豪-數位金融處-永豐銀行" userId="0d835702-99c9-4ef6-82d8-3ca86d4ccc15" providerId="ADAL" clId="{3535DB18-1BBF-46AC-A302-CA4DEF9EDE65}" dt="2024-08-27T06:35:05.491" v="23" actId="15"/>
        <pc:sldMkLst>
          <pc:docMk/>
          <pc:sldMk cId="0" sldId="258"/>
        </pc:sldMkLst>
      </pc:sldChg>
      <pc:sldMasterChg chg="modSldLayout">
        <pc:chgData name="張天豪-數位金融處-永豐銀行" userId="0d835702-99c9-4ef6-82d8-3ca86d4ccc15" providerId="ADAL" clId="{3535DB18-1BBF-46AC-A302-CA4DEF9EDE65}" dt="2024-08-27T06:35:43.088" v="30" actId="478"/>
        <pc:sldMasterMkLst>
          <pc:docMk/>
          <pc:sldMasterMk cId="0" sldId="2147483648"/>
        </pc:sldMasterMkLst>
        <pc:sldLayoutChg chg="addSp delSp modSp mod">
          <pc:chgData name="張天豪-數位金融處-永豐銀行" userId="0d835702-99c9-4ef6-82d8-3ca86d4ccc15" providerId="ADAL" clId="{3535DB18-1BBF-46AC-A302-CA4DEF9EDE65}" dt="2024-08-27T06:35:43.088" v="30" actId="478"/>
          <pc:sldLayoutMkLst>
            <pc:docMk/>
            <pc:sldMasterMk cId="0" sldId="2147483648"/>
            <pc:sldLayoutMk cId="0" sldId="2147483652"/>
          </pc:sldLayoutMkLst>
        </pc:sldLayoutChg>
      </pc:sldMasterChg>
    </pc:docChg>
  </pc:docChgLst>
  <pc:docChgLst>
    <pc:chgData name="傅安-數位金融處-永豐銀行" userId="c8345a55-179c-4faf-b159-cca2c6631c14" providerId="ADAL" clId="{E1FFCD7C-0205-415A-938E-C70C935D38B7}"/>
    <pc:docChg chg="undo custSel addSld delSld modSection">
      <pc:chgData name="傅安-數位金融處-永豐銀行" userId="c8345a55-179c-4faf-b159-cca2c6631c14" providerId="ADAL" clId="{E1FFCD7C-0205-415A-938E-C70C935D38B7}" dt="2025-10-31T09:22:15.910" v="1" actId="47"/>
      <pc:docMkLst>
        <pc:docMk/>
      </pc:docMkLst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57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58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59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0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1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2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4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2406361714" sldId="292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3467411777" sldId="2147471189"/>
        </pc:sldMkLst>
      </pc:sldChg>
    </pc:docChg>
  </pc:docChgLst>
  <pc:docChgLst>
    <pc:chgData name="張天豪-數位金融處-永豐銀行" userId="0d835702-99c9-4ef6-82d8-3ca86d4ccc15" providerId="ADAL" clId="{13649D83-BEB4-0446-824D-B84D0069EC2E}"/>
    <pc:docChg chg="undo custSel addSld modSld sldOrd modSection">
      <pc:chgData name="張天豪-數位金融處-永豐銀行" userId="0d835702-99c9-4ef6-82d8-3ca86d4ccc15" providerId="ADAL" clId="{13649D83-BEB4-0446-824D-B84D0069EC2E}" dt="2024-09-30T06:06:32.388" v="718" actId="404"/>
      <pc:docMkLst>
        <pc:docMk/>
      </pc:docMkLst>
      <pc:sldChg chg="modSp mod">
        <pc:chgData name="張天豪-數位金融處-永豐銀行" userId="0d835702-99c9-4ef6-82d8-3ca86d4ccc15" providerId="ADAL" clId="{13649D83-BEB4-0446-824D-B84D0069EC2E}" dt="2024-09-30T06:05:54.645" v="708" actId="6549"/>
        <pc:sldMkLst>
          <pc:docMk/>
          <pc:sldMk cId="0" sldId="258"/>
        </pc:sldMkLst>
      </pc:sldChg>
      <pc:sldChg chg="modSp mod">
        <pc:chgData name="張天豪-數位金融處-永豐銀行" userId="0d835702-99c9-4ef6-82d8-3ca86d4ccc15" providerId="ADAL" clId="{13649D83-BEB4-0446-824D-B84D0069EC2E}" dt="2024-09-22T01:12:10.917" v="128" actId="14734"/>
        <pc:sldMkLst>
          <pc:docMk/>
          <pc:sldMk cId="0" sldId="262"/>
        </pc:sldMkLst>
      </pc:sldChg>
      <pc:sldChg chg="modSp mod">
        <pc:chgData name="張天豪-數位金融處-永豐銀行" userId="0d835702-99c9-4ef6-82d8-3ca86d4ccc15" providerId="ADAL" clId="{13649D83-BEB4-0446-824D-B84D0069EC2E}" dt="2024-09-22T01:05:29.023" v="3" actId="15"/>
        <pc:sldMkLst>
          <pc:docMk/>
          <pc:sldMk cId="4191026547" sldId="299"/>
        </pc:sldMkLst>
      </pc:sldChg>
      <pc:sldChg chg="modSp mod">
        <pc:chgData name="張天豪-數位金融處-永豐銀行" userId="0d835702-99c9-4ef6-82d8-3ca86d4ccc15" providerId="ADAL" clId="{13649D83-BEB4-0446-824D-B84D0069EC2E}" dt="2024-09-22T01:16:48.728" v="140" actId="20577"/>
        <pc:sldMkLst>
          <pc:docMk/>
          <pc:sldMk cId="393315683" sldId="2147471185"/>
        </pc:sldMkLst>
      </pc:sldChg>
      <pc:sldChg chg="addSp delSp modSp new mod modClrScheme chgLayout">
        <pc:chgData name="張天豪-數位金融處-永豐銀行" userId="0d835702-99c9-4ef6-82d8-3ca86d4ccc15" providerId="ADAL" clId="{13649D83-BEB4-0446-824D-B84D0069EC2E}" dt="2024-09-30T06:06:32.388" v="718" actId="404"/>
        <pc:sldMkLst>
          <pc:docMk/>
          <pc:sldMk cId="4060586183" sldId="2147471188"/>
        </pc:sldMkLst>
      </pc:sldChg>
      <pc:sldChg chg="modSp mod">
        <pc:chgData name="張天豪-數位金融處-永豐銀行" userId="0d835702-99c9-4ef6-82d8-3ca86d4ccc15" providerId="ADAL" clId="{13649D83-BEB4-0446-824D-B84D0069EC2E}" dt="2024-09-30T06:05:26.038" v="680" actId="255"/>
        <pc:sldMkLst>
          <pc:docMk/>
          <pc:sldMk cId="3467411777" sldId="2147471189"/>
        </pc:sldMkLst>
      </pc:sldChg>
    </pc:docChg>
  </pc:docChgLst>
  <pc:docChgLst>
    <pc:chgData name="吳憲驊-人力資源處-永豐銀行" userId="S::simonwu@sinopac.com::c372d5aa-c765-4280-a5c9-548c4152a5d4" providerId="AD" clId="Web-{566E13FB-08C0-32D8-F6D2-084C6563C8D8}"/>
    <pc:docChg chg="modSld">
      <pc:chgData name="吳憲驊-人力資源處-永豐銀行" userId="S::simonwu@sinopac.com::c372d5aa-c765-4280-a5c9-548c4152a5d4" providerId="AD" clId="Web-{566E13FB-08C0-32D8-F6D2-084C6563C8D8}" dt="2024-08-29T09:14:57.922" v="14" actId="20577"/>
      <pc:docMkLst>
        <pc:docMk/>
      </pc:docMkLst>
      <pc:sldChg chg="modSp">
        <pc:chgData name="吳憲驊-人力資源處-永豐銀行" userId="S::simonwu@sinopac.com::c372d5aa-c765-4280-a5c9-548c4152a5d4" providerId="AD" clId="Web-{566E13FB-08C0-32D8-F6D2-084C6563C8D8}" dt="2024-08-29T09:14:57.922" v="14" actId="20577"/>
        <pc:sldMkLst>
          <pc:docMk/>
          <pc:sldMk cId="2022153893" sldId="295"/>
        </pc:sldMkLst>
      </pc:sldChg>
    </pc:docChg>
  </pc:docChgLst>
  <pc:docChgLst>
    <pc:chgData name="吳憲驊-人力資源處-永豐銀行" userId="c372d5aa-c765-4280-a5c9-548c4152a5d4" providerId="ADAL" clId="{EBE3A055-FF26-45CD-9847-CB698884E610}"/>
    <pc:docChg chg="undo redo custSel addSld delSld modSld sldOrd modMainMaster addSection delSection modSection">
      <pc:chgData name="吳憲驊-人力資源處-永豐銀行" userId="c372d5aa-c765-4280-a5c9-548c4152a5d4" providerId="ADAL" clId="{EBE3A055-FF26-45CD-9847-CB698884E610}" dt="2024-09-30T06:05:20.298" v="4408" actId="404"/>
      <pc:docMkLst>
        <pc:docMk/>
      </pc:docMkLst>
      <pc:sldChg chg="modSp mod">
        <pc:chgData name="吳憲驊-人力資源處-永豐銀行" userId="c372d5aa-c765-4280-a5c9-548c4152a5d4" providerId="ADAL" clId="{EBE3A055-FF26-45CD-9847-CB698884E610}" dt="2024-09-06T01:52:09.293" v="932" actId="948"/>
        <pc:sldMkLst>
          <pc:docMk/>
          <pc:sldMk cId="0" sldId="256"/>
        </pc:sldMkLst>
      </pc:sldChg>
      <pc:sldChg chg="addSp delSp modSp mod modClrScheme delCm chgLayout">
        <pc:chgData name="吳憲驊-人力資源處-永豐銀行" userId="c372d5aa-c765-4280-a5c9-548c4152a5d4" providerId="ADAL" clId="{EBE3A055-FF26-45CD-9847-CB698884E610}" dt="2024-09-30T03:54:33.357" v="4288" actId="700"/>
        <pc:sldMkLst>
          <pc:docMk/>
          <pc:sldMk cId="0" sldId="258"/>
        </pc:sldMkLst>
      </pc:sldChg>
      <pc:sldChg chg="modSp mod">
        <pc:chgData name="吳憲驊-人力資源處-永豐銀行" userId="c372d5aa-c765-4280-a5c9-548c4152a5d4" providerId="ADAL" clId="{EBE3A055-FF26-45CD-9847-CB698884E610}" dt="2024-09-30T03:30:19.007" v="3758" actId="207"/>
        <pc:sldMkLst>
          <pc:docMk/>
          <pc:sldMk cId="0" sldId="259"/>
        </pc:sldMkLst>
      </pc:sldChg>
      <pc:sldChg chg="modSp mod">
        <pc:chgData name="吳憲驊-人力資源處-永豐銀行" userId="c372d5aa-c765-4280-a5c9-548c4152a5d4" providerId="ADAL" clId="{EBE3A055-FF26-45CD-9847-CB698884E610}" dt="2024-09-30T03:30:24.098" v="3760" actId="404"/>
        <pc:sldMkLst>
          <pc:docMk/>
          <pc:sldMk cId="0" sldId="260"/>
        </pc:sldMkLst>
      </pc:sldChg>
      <pc:sldChg chg="modSp mod">
        <pc:chgData name="吳憲驊-人力資源處-永豐銀行" userId="c372d5aa-c765-4280-a5c9-548c4152a5d4" providerId="ADAL" clId="{EBE3A055-FF26-45CD-9847-CB698884E610}" dt="2024-09-30T03:30:26.553" v="3762" actId="404"/>
        <pc:sldMkLst>
          <pc:docMk/>
          <pc:sldMk cId="0" sldId="261"/>
        </pc:sldMkLst>
      </pc:sldChg>
      <pc:sldChg chg="modSp mod">
        <pc:chgData name="吳憲驊-人力資源處-永豐銀行" userId="c372d5aa-c765-4280-a5c9-548c4152a5d4" providerId="ADAL" clId="{EBE3A055-FF26-45CD-9847-CB698884E610}" dt="2024-09-30T03:16:45.585" v="3597" actId="404"/>
        <pc:sldMkLst>
          <pc:docMk/>
          <pc:sldMk cId="0" sldId="262"/>
        </pc:sldMkLst>
      </pc:sldChg>
      <pc:sldChg chg="modSp del mod">
        <pc:chgData name="吳憲驊-人力資源處-永豐銀行" userId="c372d5aa-c765-4280-a5c9-548c4152a5d4" providerId="ADAL" clId="{EBE3A055-FF26-45CD-9847-CB698884E610}" dt="2024-09-06T10:03:19.657" v="2377" actId="47"/>
        <pc:sldMkLst>
          <pc:docMk/>
          <pc:sldMk cId="0" sldId="263"/>
        </pc:sldMkLst>
      </pc:sldChg>
      <pc:sldChg chg="ord">
        <pc:chgData name="吳憲驊-人力資源處-永豐銀行" userId="c372d5aa-c765-4280-a5c9-548c4152a5d4" providerId="ADAL" clId="{EBE3A055-FF26-45CD-9847-CB698884E610}" dt="2024-09-06T10:05:31.351" v="2385" actId="404"/>
        <pc:sldMkLst>
          <pc:docMk/>
          <pc:sldMk cId="0" sldId="264"/>
        </pc:sldMkLst>
      </pc:sldChg>
      <pc:sldChg chg="modSp del mod ord">
        <pc:chgData name="吳憲驊-人力資源處-永豐銀行" userId="c372d5aa-c765-4280-a5c9-548c4152a5d4" providerId="ADAL" clId="{EBE3A055-FF26-45CD-9847-CB698884E610}" dt="2024-09-06T10:08:06.584" v="2435" actId="47"/>
        <pc:sldMkLst>
          <pc:docMk/>
          <pc:sldMk cId="0" sldId="265"/>
        </pc:sldMkLst>
      </pc:sldChg>
      <pc:sldChg chg="modSp mod">
        <pc:chgData name="吳憲驊-人力資源處-永豐銀行" userId="c372d5aa-c765-4280-a5c9-548c4152a5d4" providerId="ADAL" clId="{EBE3A055-FF26-45CD-9847-CB698884E610}" dt="2024-09-06T02:41:12.502" v="1440" actId="404"/>
        <pc:sldMkLst>
          <pc:docMk/>
          <pc:sldMk cId="0" sldId="266"/>
        </pc:sldMkLst>
      </pc:sldChg>
      <pc:sldChg chg="modSp mod">
        <pc:chgData name="吳憲驊-人力資源處-永豐銀行" userId="c372d5aa-c765-4280-a5c9-548c4152a5d4" providerId="ADAL" clId="{EBE3A055-FF26-45CD-9847-CB698884E610}" dt="2024-09-06T09:10:15.245" v="1774" actId="108"/>
        <pc:sldMkLst>
          <pc:docMk/>
          <pc:sldMk cId="0" sldId="267"/>
        </pc:sldMkLst>
      </pc:sldChg>
      <pc:sldChg chg="modSp mod">
        <pc:chgData name="吳憲驊-人力資源處-永豐銀行" userId="c372d5aa-c765-4280-a5c9-548c4152a5d4" providerId="ADAL" clId="{EBE3A055-FF26-45CD-9847-CB698884E610}" dt="2024-09-06T02:17:10.131" v="1114" actId="20577"/>
        <pc:sldMkLst>
          <pc:docMk/>
          <pc:sldMk cId="0" sldId="268"/>
        </pc:sldMkLst>
      </pc:sldChg>
      <pc:sldChg chg="modSp del mod">
        <pc:chgData name="吳憲驊-人力資源處-永豐銀行" userId="c372d5aa-c765-4280-a5c9-548c4152a5d4" providerId="ADAL" clId="{EBE3A055-FF26-45CD-9847-CB698884E610}" dt="2024-09-06T03:13:40.576" v="1639" actId="47"/>
        <pc:sldMkLst>
          <pc:docMk/>
          <pc:sldMk cId="0" sldId="269"/>
        </pc:sldMkLst>
      </pc:sldChg>
      <pc:sldChg chg="modSp del mod">
        <pc:chgData name="吳憲驊-人力資源處-永豐銀行" userId="c372d5aa-c765-4280-a5c9-548c4152a5d4" providerId="ADAL" clId="{EBE3A055-FF26-45CD-9847-CB698884E610}" dt="2024-09-06T03:13:47.944" v="1640" actId="47"/>
        <pc:sldMkLst>
          <pc:docMk/>
          <pc:sldMk cId="0" sldId="270"/>
        </pc:sldMkLst>
      </pc:sldChg>
      <pc:sldChg chg="modSp mod">
        <pc:chgData name="吳憲驊-人力資源處-永豐銀行" userId="c372d5aa-c765-4280-a5c9-548c4152a5d4" providerId="ADAL" clId="{EBE3A055-FF26-45CD-9847-CB698884E610}" dt="2024-09-30T03:34:57.167" v="3786" actId="207"/>
        <pc:sldMkLst>
          <pc:docMk/>
          <pc:sldMk cId="0" sldId="271"/>
        </pc:sldMkLst>
      </pc:sldChg>
      <pc:sldChg chg="del">
        <pc:chgData name="吳憲驊-人力資源處-永豐銀行" userId="c372d5aa-c765-4280-a5c9-548c4152a5d4" providerId="ADAL" clId="{EBE3A055-FF26-45CD-9847-CB698884E610}" dt="2024-09-06T02:06:21.412" v="959" actId="47"/>
        <pc:sldMkLst>
          <pc:docMk/>
          <pc:sldMk cId="0" sldId="272"/>
        </pc:sldMkLst>
      </pc:sldChg>
      <pc:sldChg chg="del">
        <pc:chgData name="吳憲驊-人力資源處-永豐銀行" userId="c372d5aa-c765-4280-a5c9-548c4152a5d4" providerId="ADAL" clId="{EBE3A055-FF26-45CD-9847-CB698884E610}" dt="2024-09-06T02:06:22.515" v="960" actId="47"/>
        <pc:sldMkLst>
          <pc:docMk/>
          <pc:sldMk cId="0" sldId="273"/>
        </pc:sldMkLst>
      </pc:sldChg>
      <pc:sldChg chg="modSp del mod">
        <pc:chgData name="吳憲驊-人力資源處-永豐銀行" userId="c372d5aa-c765-4280-a5c9-548c4152a5d4" providerId="ADAL" clId="{EBE3A055-FF26-45CD-9847-CB698884E610}" dt="2024-09-06T03:18:08.973" v="1664" actId="47"/>
        <pc:sldMkLst>
          <pc:docMk/>
          <pc:sldMk cId="0" sldId="274"/>
        </pc:sldMkLst>
      </pc:sldChg>
      <pc:sldChg chg="modSp del mod">
        <pc:chgData name="吳憲驊-人力資源處-永豐銀行" userId="c372d5aa-c765-4280-a5c9-548c4152a5d4" providerId="ADAL" clId="{EBE3A055-FF26-45CD-9847-CB698884E610}" dt="2024-09-06T03:18:08.973" v="1664" actId="47"/>
        <pc:sldMkLst>
          <pc:docMk/>
          <pc:sldMk cId="0" sldId="275"/>
        </pc:sldMkLst>
      </pc:sldChg>
      <pc:sldChg chg="modSp del mod">
        <pc:chgData name="吳憲驊-人力資源處-永豐銀行" userId="c372d5aa-c765-4280-a5c9-548c4152a5d4" providerId="ADAL" clId="{EBE3A055-FF26-45CD-9847-CB698884E610}" dt="2024-09-06T03:18:08.973" v="1664" actId="47"/>
        <pc:sldMkLst>
          <pc:docMk/>
          <pc:sldMk cId="0" sldId="276"/>
        </pc:sldMkLst>
      </pc:sldChg>
      <pc:sldChg chg="modSp del mod ord">
        <pc:chgData name="吳憲驊-人力資源處-永豐銀行" userId="c372d5aa-c765-4280-a5c9-548c4152a5d4" providerId="ADAL" clId="{EBE3A055-FF26-45CD-9847-CB698884E610}" dt="2024-09-06T03:23:38.051" v="1729" actId="47"/>
        <pc:sldMkLst>
          <pc:docMk/>
          <pc:sldMk cId="0" sldId="277"/>
        </pc:sldMkLst>
      </pc:sldChg>
      <pc:sldChg chg="modSp del mod">
        <pc:chgData name="吳憲驊-人力資源處-永豐銀行" userId="c372d5aa-c765-4280-a5c9-548c4152a5d4" providerId="ADAL" clId="{EBE3A055-FF26-45CD-9847-CB698884E610}" dt="2024-09-06T02:06:25.232" v="961" actId="47"/>
        <pc:sldMkLst>
          <pc:docMk/>
          <pc:sldMk cId="0" sldId="278"/>
        </pc:sldMkLst>
      </pc:sldChg>
      <pc:sldChg chg="del">
        <pc:chgData name="吳憲驊-人力資源處-永豐銀行" userId="c372d5aa-c765-4280-a5c9-548c4152a5d4" providerId="ADAL" clId="{EBE3A055-FF26-45CD-9847-CB698884E610}" dt="2024-09-06T02:06:26.187" v="962" actId="47"/>
        <pc:sldMkLst>
          <pc:docMk/>
          <pc:sldMk cId="0" sldId="279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3:17.105" v="4374" actId="14100"/>
        <pc:sldMkLst>
          <pc:docMk/>
          <pc:sldMk cId="0" sldId="281"/>
        </pc:sldMkLst>
      </pc:sldChg>
      <pc:sldChg chg="modSp mod">
        <pc:chgData name="吳憲驊-人力資源處-永豐銀行" userId="c372d5aa-c765-4280-a5c9-548c4152a5d4" providerId="ADAL" clId="{EBE3A055-FF26-45CD-9847-CB698884E610}" dt="2024-09-24T01:16:46.073" v="2669" actId="1076"/>
        <pc:sldMkLst>
          <pc:docMk/>
          <pc:sldMk cId="0" sldId="282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5:20.298" v="4408" actId="404"/>
        <pc:sldMkLst>
          <pc:docMk/>
          <pc:sldMk cId="0" sldId="286"/>
        </pc:sldMkLst>
      </pc:sldChg>
      <pc:sldChg chg="modSp mod">
        <pc:chgData name="吳憲驊-人力資源處-永豐銀行" userId="c372d5aa-c765-4280-a5c9-548c4152a5d4" providerId="ADAL" clId="{EBE3A055-FF26-45CD-9847-CB698884E610}" dt="2024-09-30T03:32:58.465" v="3765" actId="20577"/>
        <pc:sldMkLst>
          <pc:docMk/>
          <pc:sldMk cId="0" sldId="287"/>
        </pc:sldMkLst>
      </pc:sldChg>
      <pc:sldChg chg="modSp mod">
        <pc:chgData name="吳憲驊-人力資源處-永豐銀行" userId="c372d5aa-c765-4280-a5c9-548c4152a5d4" providerId="ADAL" clId="{EBE3A055-FF26-45CD-9847-CB698884E610}" dt="2024-09-30T03:33:00.811" v="3766" actId="20577"/>
        <pc:sldMkLst>
          <pc:docMk/>
          <pc:sldMk cId="0" sldId="288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5:17.629" v="4406" actId="700"/>
        <pc:sldMkLst>
          <pc:docMk/>
          <pc:sldMk cId="0" sldId="289"/>
        </pc:sldMkLst>
      </pc:sldChg>
      <pc:sldChg chg="modSp mod">
        <pc:chgData name="吳憲驊-人力資源處-永豐銀行" userId="c372d5aa-c765-4280-a5c9-548c4152a5d4" providerId="ADAL" clId="{EBE3A055-FF26-45CD-9847-CB698884E610}" dt="2024-09-30T03:33:17.758" v="3768" actId="20577"/>
        <pc:sldMkLst>
          <pc:docMk/>
          <pc:sldMk cId="0" sldId="290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3:53.989" v="4385" actId="404"/>
        <pc:sldMkLst>
          <pc:docMk/>
          <pc:sldMk cId="2697488364" sldId="291"/>
        </pc:sldMkLst>
      </pc:sldChg>
      <pc:sldChg chg="addSp delSp modSp mod ord">
        <pc:chgData name="吳憲驊-人力資源處-永豐銀行" userId="c372d5aa-c765-4280-a5c9-548c4152a5d4" providerId="ADAL" clId="{EBE3A055-FF26-45CD-9847-CB698884E610}" dt="2024-09-30T03:15:33.795" v="3578" actId="14100"/>
        <pc:sldMkLst>
          <pc:docMk/>
          <pc:sldMk cId="2406361714" sldId="292"/>
        </pc:sldMkLst>
      </pc:sldChg>
      <pc:sldChg chg="modSp del mod ord modShow">
        <pc:chgData name="吳憲驊-人力資源處-永豐銀行" userId="c372d5aa-c765-4280-a5c9-548c4152a5d4" providerId="ADAL" clId="{EBE3A055-FF26-45CD-9847-CB698884E610}" dt="2024-09-24T01:14:51.710" v="2665" actId="47"/>
        <pc:sldMkLst>
          <pc:docMk/>
          <pc:sldMk cId="3121629751" sldId="293"/>
        </pc:sldMkLst>
      </pc:sldChg>
      <pc:sldChg chg="addSp modSp del mod ord delCm">
        <pc:chgData name="吳憲驊-人力資源處-永豐銀行" userId="c372d5aa-c765-4280-a5c9-548c4152a5d4" providerId="ADAL" clId="{EBE3A055-FF26-45CD-9847-CB698884E610}" dt="2024-09-06T09:30:19.344" v="1945" actId="47"/>
        <pc:sldMkLst>
          <pc:docMk/>
          <pc:sldMk cId="673018660" sldId="294"/>
        </pc:sldMkLst>
      </pc:sldChg>
      <pc:sldChg chg="modSp mod ord">
        <pc:chgData name="吳憲驊-人力資源處-永豐銀行" userId="c372d5aa-c765-4280-a5c9-548c4152a5d4" providerId="ADAL" clId="{EBE3A055-FF26-45CD-9847-CB698884E610}" dt="2024-09-24T01:08:40.626" v="2664" actId="207"/>
        <pc:sldMkLst>
          <pc:docMk/>
          <pc:sldMk cId="2022153893" sldId="295"/>
        </pc:sldMkLst>
      </pc:sldChg>
      <pc:sldChg chg="modSp mod delCm">
        <pc:chgData name="吳憲驊-人力資源處-永豐銀行" userId="c372d5aa-c765-4280-a5c9-548c4152a5d4" providerId="ADAL" clId="{EBE3A055-FF26-45CD-9847-CB698884E610}" dt="2024-09-20T06:02:24.677" v="2612" actId="207"/>
        <pc:sldMkLst>
          <pc:docMk/>
          <pc:sldMk cId="3262633635" sldId="297"/>
        </pc:sldMkLst>
      </pc:sldChg>
      <pc:sldChg chg="modSp del mod">
        <pc:chgData name="吳憲驊-人力資源處-永豐銀行" userId="c372d5aa-c765-4280-a5c9-548c4152a5d4" providerId="ADAL" clId="{EBE3A055-FF26-45CD-9847-CB698884E610}" dt="2024-09-06T08:56:06.116" v="1731" actId="47"/>
        <pc:sldMkLst>
          <pc:docMk/>
          <pc:sldMk cId="2826782116" sldId="298"/>
        </pc:sldMkLst>
      </pc:sldChg>
      <pc:sldChg chg="modSp new del mod">
        <pc:chgData name="吳憲驊-人力資源處-永豐銀行" userId="c372d5aa-c765-4280-a5c9-548c4152a5d4" providerId="ADAL" clId="{EBE3A055-FF26-45CD-9847-CB698884E610}" dt="2024-09-06T01:58:53.780" v="953" actId="47"/>
        <pc:sldMkLst>
          <pc:docMk/>
          <pc:sldMk cId="535572816" sldId="299"/>
        </pc:sldMkLst>
      </pc:sldChg>
      <pc:sldChg chg="addSp delSp modSp add del mod">
        <pc:chgData name="吳憲驊-人力資源處-永豐銀行" userId="c372d5aa-c765-4280-a5c9-548c4152a5d4" providerId="ADAL" clId="{EBE3A055-FF26-45CD-9847-CB698884E610}" dt="2024-09-06T01:27:07.721" v="125" actId="47"/>
        <pc:sldMkLst>
          <pc:docMk/>
          <pc:sldMk cId="3368370710" sldId="299"/>
        </pc:sldMkLst>
      </pc:sldChg>
      <pc:sldChg chg="new del">
        <pc:chgData name="吳憲驊-人力資源處-永豐銀行" userId="c372d5aa-c765-4280-a5c9-548c4152a5d4" providerId="ADAL" clId="{EBE3A055-FF26-45CD-9847-CB698884E610}" dt="2024-09-06T01:58:30.280" v="941" actId="47"/>
        <pc:sldMkLst>
          <pc:docMk/>
          <pc:sldMk cId="3690986561" sldId="299"/>
        </pc:sldMkLst>
      </pc:sldChg>
      <pc:sldChg chg="addSp delSp modSp add mod ord">
        <pc:chgData name="吳憲驊-人力資源處-永豐銀行" userId="c372d5aa-c765-4280-a5c9-548c4152a5d4" providerId="ADAL" clId="{EBE3A055-FF26-45CD-9847-CB698884E610}" dt="2024-09-06T09:11:00.817" v="1779" actId="20577"/>
        <pc:sldMkLst>
          <pc:docMk/>
          <pc:sldMk cId="4191026547" sldId="299"/>
        </pc:sldMkLst>
      </pc:sldChg>
      <pc:sldChg chg="addSp delSp modSp new del mod modClrScheme chgLayout">
        <pc:chgData name="吳憲驊-人力資源處-永豐銀行" userId="c372d5aa-c765-4280-a5c9-548c4152a5d4" providerId="ADAL" clId="{EBE3A055-FF26-45CD-9847-CB698884E610}" dt="2024-09-06T01:33:49.871" v="194" actId="47"/>
        <pc:sldMkLst>
          <pc:docMk/>
          <pc:sldMk cId="4200769607" sldId="299"/>
        </pc:sldMkLst>
      </pc:sldChg>
      <pc:sldChg chg="addSp modSp add mod">
        <pc:chgData name="吳憲驊-人力資源處-永豐銀行" userId="c372d5aa-c765-4280-a5c9-548c4152a5d4" providerId="ADAL" clId="{EBE3A055-FF26-45CD-9847-CB698884E610}" dt="2024-09-30T03:34:38.001" v="3780" actId="404"/>
        <pc:sldMkLst>
          <pc:docMk/>
          <pc:sldMk cId="2718007652" sldId="2132739904"/>
        </pc:sldMkLst>
      </pc:sldChg>
      <pc:sldChg chg="modSp add mod">
        <pc:chgData name="吳憲驊-人力資源處-永豐銀行" userId="c372d5aa-c765-4280-a5c9-548c4152a5d4" providerId="ADAL" clId="{EBE3A055-FF26-45CD-9847-CB698884E610}" dt="2024-09-20T05:57:23.821" v="2582" actId="20577"/>
        <pc:sldMkLst>
          <pc:docMk/>
          <pc:sldMk cId="1087620128" sldId="2132739928"/>
        </pc:sldMkLst>
      </pc:sldChg>
      <pc:sldChg chg="delSp modSp add del mod">
        <pc:chgData name="吳憲驊-人力資源處-永豐銀行" userId="c372d5aa-c765-4280-a5c9-548c4152a5d4" providerId="ADAL" clId="{EBE3A055-FF26-45CD-9847-CB698884E610}" dt="2024-09-06T02:52:14.102" v="1487" actId="47"/>
        <pc:sldMkLst>
          <pc:docMk/>
          <pc:sldMk cId="2991285827" sldId="2147471015"/>
        </pc:sldMkLst>
      </pc:sldChg>
      <pc:sldChg chg="delSp modSp add del mod">
        <pc:chgData name="吳憲驊-人力資源處-永豐銀行" userId="c372d5aa-c765-4280-a5c9-548c4152a5d4" providerId="ADAL" clId="{EBE3A055-FF26-45CD-9847-CB698884E610}" dt="2024-09-20T05:57:21.476" v="2580" actId="47"/>
        <pc:sldMkLst>
          <pc:docMk/>
          <pc:sldMk cId="3906953588" sldId="2147471163"/>
        </pc:sldMkLst>
      </pc:sldChg>
      <pc:sldChg chg="modSp add del mod">
        <pc:chgData name="吳憲驊-人力資源處-永豐銀行" userId="c372d5aa-c765-4280-a5c9-548c4152a5d4" providerId="ADAL" clId="{EBE3A055-FF26-45CD-9847-CB698884E610}" dt="2024-09-20T05:57:12.814" v="2577" actId="47"/>
        <pc:sldMkLst>
          <pc:docMk/>
          <pc:sldMk cId="4245503187" sldId="2147471171"/>
        </pc:sldMkLst>
      </pc:sldChg>
      <pc:sldChg chg="del">
        <pc:chgData name="吳憲驊-人力資源處-永豐銀行" userId="c372d5aa-c765-4280-a5c9-548c4152a5d4" providerId="ADAL" clId="{EBE3A055-FF26-45CD-9847-CB698884E610}" dt="2024-09-06T08:56:02.319" v="1730" actId="47"/>
        <pc:sldMkLst>
          <pc:docMk/>
          <pc:sldMk cId="1504610650" sldId="2147471172"/>
        </pc:sldMkLst>
      </pc:sldChg>
      <pc:sldChg chg="addSp delSp modSp mod ord">
        <pc:chgData name="吳憲驊-人力資源處-永豐銀行" userId="c372d5aa-c765-4280-a5c9-548c4152a5d4" providerId="ADAL" clId="{EBE3A055-FF26-45CD-9847-CB698884E610}" dt="2024-09-06T10:09:00.513" v="2486" actId="255"/>
        <pc:sldMkLst>
          <pc:docMk/>
          <pc:sldMk cId="3155411272" sldId="2147471173"/>
        </pc:sldMkLst>
      </pc:sldChg>
      <pc:sldChg chg="modSp add del mod ord">
        <pc:chgData name="吳憲驊-人力資源處-永豐銀行" userId="c372d5aa-c765-4280-a5c9-548c4152a5d4" providerId="ADAL" clId="{EBE3A055-FF26-45CD-9847-CB698884E610}" dt="2024-09-20T05:58:16.230" v="2585" actId="47"/>
        <pc:sldMkLst>
          <pc:docMk/>
          <pc:sldMk cId="2528477559" sldId="2147471174"/>
        </pc:sldMkLst>
      </pc:sldChg>
      <pc:sldChg chg="modSp add mod ord">
        <pc:chgData name="吳憲驊-人力資源處-永豐銀行" userId="c372d5aa-c765-4280-a5c9-548c4152a5d4" providerId="ADAL" clId="{EBE3A055-FF26-45CD-9847-CB698884E610}" dt="2024-09-30T03:34:34.474" v="3778" actId="207"/>
        <pc:sldMkLst>
          <pc:docMk/>
          <pc:sldMk cId="269871982" sldId="2147471175"/>
        </pc:sldMkLst>
      </pc:sldChg>
      <pc:sldChg chg="modSp add mod">
        <pc:chgData name="吳憲驊-人力資源處-永豐銀行" userId="c372d5aa-c765-4280-a5c9-548c4152a5d4" providerId="ADAL" clId="{EBE3A055-FF26-45CD-9847-CB698884E610}" dt="2024-09-06T09:24:26.987" v="1875" actId="20577"/>
        <pc:sldMkLst>
          <pc:docMk/>
          <pc:sldMk cId="2495256314" sldId="2147471176"/>
        </pc:sldMkLst>
      </pc:sldChg>
      <pc:sldChg chg="addSp delSp modSp add del mod or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2092506589" sldId="2147471177"/>
        </pc:sldMkLst>
      </pc:sldChg>
      <pc:sldChg chg="modSp add del mod ord">
        <pc:chgData name="吳憲驊-人力資源處-永豐銀行" userId="c372d5aa-c765-4280-a5c9-548c4152a5d4" providerId="ADAL" clId="{EBE3A055-FF26-45CD-9847-CB698884E610}" dt="2024-09-20T05:58:26.422" v="2590" actId="47"/>
        <pc:sldMkLst>
          <pc:docMk/>
          <pc:sldMk cId="1671451404" sldId="2147471178"/>
        </pc:sldMkLst>
      </pc:sldChg>
      <pc:sldChg chg="modSp add del mod ord replI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1500988513" sldId="2147471179"/>
        </pc:sldMkLst>
      </pc:sldChg>
      <pc:sldChg chg="modSp add mod ord">
        <pc:chgData name="吳憲驊-人力資源處-永豐銀行" userId="c372d5aa-c765-4280-a5c9-548c4152a5d4" providerId="ADAL" clId="{EBE3A055-FF26-45CD-9847-CB698884E610}" dt="2024-09-20T06:18:12.897" v="2644" actId="207"/>
        <pc:sldMkLst>
          <pc:docMk/>
          <pc:sldMk cId="399943788" sldId="2147471180"/>
        </pc:sldMkLst>
      </pc:sldChg>
      <pc:sldChg chg="modSp add del mod or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1642251706" sldId="2147471181"/>
        </pc:sldMkLst>
      </pc:sldChg>
      <pc:sldChg chg="addSp delSp modSp add mod ord">
        <pc:chgData name="吳憲驊-人力資源處-永豐銀行" userId="c372d5aa-c765-4280-a5c9-548c4152a5d4" providerId="ADAL" clId="{EBE3A055-FF26-45CD-9847-CB698884E610}" dt="2024-09-26T09:46:19.715" v="2812" actId="2711"/>
        <pc:sldMkLst>
          <pc:docMk/>
          <pc:sldMk cId="2544379920" sldId="2147471182"/>
        </pc:sldMkLst>
      </pc:sldChg>
      <pc:sldChg chg="addSp delSp modSp add del mod ord">
        <pc:chgData name="吳憲驊-人力資源處-永豐銀行" userId="c372d5aa-c765-4280-a5c9-548c4152a5d4" providerId="ADAL" clId="{EBE3A055-FF26-45CD-9847-CB698884E610}" dt="2024-09-06T09:52:34.002" v="2252" actId="47"/>
        <pc:sldMkLst>
          <pc:docMk/>
          <pc:sldMk cId="2234440729" sldId="2147471183"/>
        </pc:sldMkLst>
      </pc:sldChg>
      <pc:sldChg chg="addSp delSp modSp add del mod or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1008557657" sldId="2147471184"/>
        </pc:sldMkLst>
      </pc:sldChg>
      <pc:sldChg chg="modSp add mod ord">
        <pc:chgData name="吳憲驊-人力資源處-永豐銀行" userId="c372d5aa-c765-4280-a5c9-548c4152a5d4" providerId="ADAL" clId="{EBE3A055-FF26-45CD-9847-CB698884E610}" dt="2024-09-06T10:05:42.743" v="2410" actId="20577"/>
        <pc:sldMkLst>
          <pc:docMk/>
          <pc:sldMk cId="393315683" sldId="2147471185"/>
        </pc:sldMkLst>
      </pc:sldChg>
      <pc:sldChg chg="addSp delSp modSp add mod ord modClrScheme chgLayout">
        <pc:chgData name="吳憲驊-人力資源處-永豐銀行" userId="c372d5aa-c765-4280-a5c9-548c4152a5d4" providerId="ADAL" clId="{EBE3A055-FF26-45CD-9847-CB698884E610}" dt="2024-09-30T06:02:59.666" v="4368" actId="404"/>
        <pc:sldMkLst>
          <pc:docMk/>
          <pc:sldMk cId="2193386975" sldId="2147471186"/>
        </pc:sldMkLst>
      </pc:sldChg>
      <pc:sldChg chg="add">
        <pc:chgData name="吳憲驊-人力資源處-永豐銀行" userId="c372d5aa-c765-4280-a5c9-548c4152a5d4" providerId="ADAL" clId="{EBE3A055-FF26-45CD-9847-CB698884E610}" dt="2024-09-06T10:08:14.157" v="2436" actId="2890"/>
        <pc:sldMkLst>
          <pc:docMk/>
          <pc:sldMk cId="3424880807" sldId="2147471187"/>
        </pc:sldMkLst>
      </pc:sldChg>
      <pc:sldChg chg="add del">
        <pc:chgData name="吳憲驊-人力資源處-永豐銀行" userId="c372d5aa-c765-4280-a5c9-548c4152a5d4" providerId="ADAL" clId="{EBE3A055-FF26-45CD-9847-CB698884E610}" dt="2024-09-09T03:56:36.297" v="2491" actId="47"/>
        <pc:sldMkLst>
          <pc:docMk/>
          <pc:sldMk cId="922226238" sldId="2147471188"/>
        </pc:sldMkLst>
      </pc:sldChg>
      <pc:sldChg chg="modSp mod chgLayout">
        <pc:chgData name="吳憲驊-人力資源處-永豐銀行" userId="c372d5aa-c765-4280-a5c9-548c4152a5d4" providerId="ADAL" clId="{EBE3A055-FF26-45CD-9847-CB698884E610}" dt="2024-09-30T05:56:19.372" v="4291" actId="404"/>
        <pc:sldMkLst>
          <pc:docMk/>
          <pc:sldMk cId="4060586183" sldId="2147471188"/>
        </pc:sldMkLst>
      </pc:sldChg>
      <pc:sldChg chg="add del">
        <pc:chgData name="吳憲驊-人力資源處-永豐銀行" userId="c372d5aa-c765-4280-a5c9-548c4152a5d4" providerId="ADAL" clId="{EBE3A055-FF26-45CD-9847-CB698884E610}" dt="2024-09-26T09:48:05.353" v="2814" actId="2890"/>
        <pc:sldMkLst>
          <pc:docMk/>
          <pc:sldMk cId="2913165393" sldId="2147471189"/>
        </pc:sldMkLst>
      </pc:sldChg>
      <pc:sldChg chg="addSp delSp modSp new del mod modClrScheme chgLayout">
        <pc:chgData name="吳憲驊-人力資源處-永豐銀行" userId="c372d5aa-c765-4280-a5c9-548c4152a5d4" providerId="ADAL" clId="{EBE3A055-FF26-45CD-9847-CB698884E610}" dt="2024-09-26T09:49:09.602" v="2876" actId="47"/>
        <pc:sldMkLst>
          <pc:docMk/>
          <pc:sldMk cId="3105233477" sldId="2147471189"/>
        </pc:sldMkLst>
      </pc:sldChg>
      <pc:sldChg chg="addSp delSp modSp add mod ord chgLayout">
        <pc:chgData name="吳憲驊-人力資源處-永豐銀行" userId="c372d5aa-c765-4280-a5c9-548c4152a5d4" providerId="ADAL" clId="{EBE3A055-FF26-45CD-9847-CB698884E610}" dt="2024-09-30T05:59:45.495" v="4317" actId="403"/>
        <pc:sldMkLst>
          <pc:docMk/>
          <pc:sldMk cId="3467411777" sldId="2147471189"/>
        </pc:sldMkLst>
      </pc:sldChg>
      <pc:sldMasterChg chg="addSp delSp modSp mod delSldLayout modSldLayout sldLayoutOrd">
        <pc:chgData name="吳憲驊-人力資源處-永豐銀行" userId="c372d5aa-c765-4280-a5c9-548c4152a5d4" providerId="ADAL" clId="{EBE3A055-FF26-45CD-9847-CB698884E610}" dt="2024-09-30T03:53:18.173" v="4266" actId="20577"/>
        <pc:sldMasterMkLst>
          <pc:docMk/>
          <pc:sldMasterMk cId="0" sldId="2147483648"/>
        </pc:sldMasterMkLst>
        <pc:sldLayoutChg chg="addSp delSp modSp mod ord">
          <pc:chgData name="吳憲驊-人力資源處-永豐銀行" userId="c372d5aa-c765-4280-a5c9-548c4152a5d4" providerId="ADAL" clId="{EBE3A055-FF26-45CD-9847-CB698884E610}" dt="2024-09-30T03:53:18.173" v="4266" actId="20577"/>
          <pc:sldLayoutMkLst>
            <pc:docMk/>
            <pc:sldMasterMk cId="0" sldId="2147483648"/>
            <pc:sldLayoutMk cId="0" sldId="2147483651"/>
          </pc:sldLayoutMkLst>
        </pc:sldLayoutChg>
        <pc:sldLayoutChg chg="addSp delSp modSp mod ord">
          <pc:chgData name="吳憲驊-人力資源處-永豐銀行" userId="c372d5aa-c765-4280-a5c9-548c4152a5d4" providerId="ADAL" clId="{EBE3A055-FF26-45CD-9847-CB698884E610}" dt="2024-09-06T02:11:41.253" v="965" actId="6014"/>
          <pc:sldLayoutMkLst>
            <pc:docMk/>
            <pc:sldMasterMk cId="0" sldId="2147483648"/>
            <pc:sldLayoutMk cId="0" sldId="2147483652"/>
          </pc:sldLayoutMkLst>
        </pc:sldLayoutChg>
        <pc:sldLayoutChg chg="modSp mod">
          <pc:chgData name="吳憲驊-人力資源處-永豐銀行" userId="c372d5aa-c765-4280-a5c9-548c4152a5d4" providerId="ADAL" clId="{EBE3A055-FF26-45CD-9847-CB698884E610}" dt="2024-09-06T01:32:30.947" v="169" actId="20577"/>
          <pc:sldLayoutMkLst>
            <pc:docMk/>
            <pc:sldMasterMk cId="0" sldId="2147483648"/>
            <pc:sldLayoutMk cId="2989105902" sldId="2147483654"/>
          </pc:sldLayoutMkLst>
        </pc:sldLayoutChg>
        <pc:sldLayoutChg chg="addSp delSp modSp mod ord">
          <pc:chgData name="吳憲驊-人力資源處-永豐銀行" userId="c372d5aa-c765-4280-a5c9-548c4152a5d4" providerId="ADAL" clId="{EBE3A055-FF26-45CD-9847-CB698884E610}" dt="2024-09-30T03:52:53.479" v="4250" actId="20577"/>
          <pc:sldLayoutMkLst>
            <pc:docMk/>
            <pc:sldMasterMk cId="0" sldId="2147483648"/>
            <pc:sldLayoutMk cId="1016505608" sldId="2147483659"/>
          </pc:sldLayoutMkLst>
        </pc:sldLayoutChg>
        <pc:sldLayoutChg chg="addSp delSp modSp del mod">
          <pc:chgData name="吳憲驊-人力資源處-永豐銀行" userId="c372d5aa-c765-4280-a5c9-548c4152a5d4" providerId="ADAL" clId="{EBE3A055-FF26-45CD-9847-CB698884E610}" dt="2024-09-06T01:57:39.997" v="937" actId="2696"/>
          <pc:sldLayoutMkLst>
            <pc:docMk/>
            <pc:sldMasterMk cId="0" sldId="2147483648"/>
            <pc:sldLayoutMk cId="1397769940" sldId="2147483659"/>
          </pc:sldLayoutMkLst>
        </pc:sldLayoutChg>
      </pc:sldMasterChg>
    </pc:docChg>
  </pc:docChgLst>
  <pc:docChgLst>
    <pc:chgData name="李宣諭-數位金融處-永豐銀行" userId="6301128a-36be-4004-bf48-5b6edf7c200a" providerId="ADAL" clId="{5556FE67-40C6-4518-82D8-D031FD5835E3}"/>
    <pc:docChg chg="modMainMaster">
      <pc:chgData name="李宣諭-數位金融處-永豐銀行" userId="6301128a-36be-4004-bf48-5b6edf7c200a" providerId="ADAL" clId="{5556FE67-40C6-4518-82D8-D031FD5835E3}" dt="2025-04-09T03:20:37.614" v="0" actId="1076"/>
      <pc:docMkLst>
        <pc:docMk/>
      </pc:docMkLst>
      <pc:sldMasterChg chg="modSldLayout">
        <pc:chgData name="李宣諭-數位金融處-永豐銀行" userId="6301128a-36be-4004-bf48-5b6edf7c200a" providerId="ADAL" clId="{5556FE67-40C6-4518-82D8-D031FD5835E3}" dt="2025-04-09T03:20:37.614" v="0" actId="1076"/>
        <pc:sldMasterMkLst>
          <pc:docMk/>
          <pc:sldMasterMk cId="0" sldId="2147483648"/>
        </pc:sldMasterMkLst>
        <pc:sldLayoutChg chg="modSp mod">
          <pc:chgData name="李宣諭-數位金融處-永豐銀行" userId="6301128a-36be-4004-bf48-5b6edf7c200a" providerId="ADAL" clId="{5556FE67-40C6-4518-82D8-D031FD5835E3}" dt="2025-04-09T03:20:37.614" v="0" actId="1076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  <pc:docChgLst>
    <pc:chgData name="周立筠-數據應用部-永豐金證券" userId="ee349c15-f274-43a3-b0c9-48d528d95247" providerId="ADAL" clId="{C906908C-602B-40BA-8197-1638BF03C79B}"/>
    <pc:docChg chg="modSld">
      <pc:chgData name="周立筠-數據應用部-永豐金證券" userId="ee349c15-f274-43a3-b0c9-48d528d95247" providerId="ADAL" clId="{C906908C-602B-40BA-8197-1638BF03C79B}" dt="2024-09-09T02:23:14.879" v="0" actId="14734"/>
      <pc:docMkLst>
        <pc:docMk/>
      </pc:docMkLst>
      <pc:sldChg chg="modSp mod">
        <pc:chgData name="周立筠-數據應用部-永豐金證券" userId="ee349c15-f274-43a3-b0c9-48d528d95247" providerId="ADAL" clId="{C906908C-602B-40BA-8197-1638BF03C79B}" dt="2024-09-09T02:23:14.879" v="0" actId="14734"/>
        <pc:sldMkLst>
          <pc:docMk/>
          <pc:sldMk cId="3155411272" sldId="2147471173"/>
        </pc:sldMkLst>
      </pc:sldChg>
    </pc:docChg>
  </pc:docChgLst>
  <pc:docChgLst>
    <pc:chgData name="周立筠-數據應用部-永豐金證券" userId="S::liyun0222.zhou@sinopac.com::ee349c15-f274-43a3-b0c9-48d528d95247" providerId="AD" clId="Web-{5A204781-D460-E2E0-652B-45D9DE8FA1C8}"/>
    <pc:docChg chg="modSld">
      <pc:chgData name="周立筠-數據應用部-永豐金證券" userId="S::liyun0222.zhou@sinopac.com::ee349c15-f274-43a3-b0c9-48d528d95247" providerId="AD" clId="Web-{5A204781-D460-E2E0-652B-45D9DE8FA1C8}" dt="2024-10-14T01:13:08.839" v="7"/>
      <pc:docMkLst>
        <pc:docMk/>
      </pc:docMkLst>
      <pc:sldChg chg="addSp delSp modSp">
        <pc:chgData name="周立筠-數據應用部-永豐金證券" userId="S::liyun0222.zhou@sinopac.com::ee349c15-f274-43a3-b0c9-48d528d95247" providerId="AD" clId="Web-{5A204781-D460-E2E0-652B-45D9DE8FA1C8}" dt="2024-10-14T01:13:08.839" v="7"/>
        <pc:sldMkLst>
          <pc:docMk/>
          <pc:sldMk cId="2022153893" sldId="295"/>
        </pc:sldMkLst>
      </pc:sldChg>
    </pc:docChg>
  </pc:docChgLst>
  <pc:docChgLst>
    <pc:chgData name="陳韋樺-數位科技處-永豐金控" userId="701130e9-61c9-4993-9d2b-72f9303521e5" providerId="ADAL" clId="{F94F54DA-E015-4898-AD0E-43B761B2E22F}"/>
    <pc:docChg chg="modSld modNotesMaster">
      <pc:chgData name="陳韋樺-數位科技處-永豐金控" userId="701130e9-61c9-4993-9d2b-72f9303521e5" providerId="ADAL" clId="{F94F54DA-E015-4898-AD0E-43B761B2E22F}" dt="2025-07-22T03:27:11.652" v="1" actId="1076"/>
      <pc:docMkLst>
        <pc:docMk/>
      </pc:docMkLst>
      <pc:sldChg chg="modSp mod">
        <pc:chgData name="陳韋樺-數位科技處-永豐金控" userId="701130e9-61c9-4993-9d2b-72f9303521e5" providerId="ADAL" clId="{F94F54DA-E015-4898-AD0E-43B761B2E22F}" dt="2025-07-22T03:26:40.854" v="0" actId="1076"/>
        <pc:sldMkLst>
          <pc:docMk/>
          <pc:sldMk cId="0" sldId="256"/>
        </pc:sldMkLst>
      </pc:sldChg>
    </pc:docChg>
  </pc:docChgLst>
  <pc:docChgLst>
    <pc:chgData name="周立筠-數據應用部-永豐金證券" userId="S::liyun0222.zhou@sinopac.com::ee349c15-f274-43a3-b0c9-48d528d95247" providerId="AD" clId="Web-{9C13AFE3-8240-BC94-48CC-0CB3BB172451}"/>
    <pc:docChg chg="modSld">
      <pc:chgData name="周立筠-數據應用部-永豐金證券" userId="S::liyun0222.zhou@sinopac.com::ee349c15-f274-43a3-b0c9-48d528d95247" providerId="AD" clId="Web-{9C13AFE3-8240-BC94-48CC-0CB3BB172451}" dt="2024-09-30T01:52:35.281" v="3" actId="20577"/>
      <pc:docMkLst>
        <pc:docMk/>
      </pc:docMkLst>
      <pc:sldChg chg="modSp">
        <pc:chgData name="周立筠-數據應用部-永豐金證券" userId="S::liyun0222.zhou@sinopac.com::ee349c15-f274-43a3-b0c9-48d528d95247" providerId="AD" clId="Web-{9C13AFE3-8240-BC94-48CC-0CB3BB172451}" dt="2024-09-30T01:52:35.281" v="3" actId="20577"/>
        <pc:sldMkLst>
          <pc:docMk/>
          <pc:sldMk cId="0" sldId="258"/>
        </pc:sldMkLst>
      </pc:sldChg>
    </pc:docChg>
  </pc:docChgLst>
  <pc:docChgLst>
    <pc:chgData name="周立筠-數據應用部-永豐金證券" userId="ee349c15-f274-43a3-b0c9-48d528d95247" providerId="ADAL" clId="{4E0ABDCF-1B67-4881-8BC6-D6262098E4C1}"/>
    <pc:docChg chg="addSld modSld">
      <pc:chgData name="周立筠-數據應用部-永豐金證券" userId="ee349c15-f274-43a3-b0c9-48d528d95247" providerId="ADAL" clId="{4E0ABDCF-1B67-4881-8BC6-D6262098E4C1}" dt="2024-10-11T06:03:24.106" v="27"/>
      <pc:docMkLst>
        <pc:docMk/>
      </pc:docMkLst>
      <pc:sldChg chg="addSp modSp add">
        <pc:chgData name="周立筠-數據應用部-永豐金證券" userId="ee349c15-f274-43a3-b0c9-48d528d95247" providerId="ADAL" clId="{4E0ABDCF-1B67-4881-8BC6-D6262098E4C1}" dt="2024-10-11T06:03:24.106" v="27"/>
        <pc:sldMkLst>
          <pc:docMk/>
          <pc:sldMk cId="3905871497" sldId="2147471190"/>
        </pc:sldMkLst>
      </pc:sldChg>
    </pc:docChg>
  </pc:docChgLst>
  <pc:docChgLst>
    <pc:chgData name="吳憲驊-人力資源處-永豐銀行" userId="S::simonwu@sinopac.com::c372d5aa-c765-4280-a5c9-548c4152a5d4" providerId="AD" clId="Web-{AD6359EA-AF55-13A8-8FC0-F1DDB072E1CC}"/>
    <pc:docChg chg="modSld">
      <pc:chgData name="吳憲驊-人力資源處-永豐銀行" userId="S::simonwu@sinopac.com::c372d5aa-c765-4280-a5c9-548c4152a5d4" providerId="AD" clId="Web-{AD6359EA-AF55-13A8-8FC0-F1DDB072E1CC}" dt="2024-10-11T06:24:11.220" v="1"/>
      <pc:docMkLst>
        <pc:docMk/>
      </pc:docMkLst>
      <pc:sldChg chg="modSp">
        <pc:chgData name="吳憲驊-人力資源處-永豐銀行" userId="S::simonwu@sinopac.com::c372d5aa-c765-4280-a5c9-548c4152a5d4" providerId="AD" clId="Web-{AD6359EA-AF55-13A8-8FC0-F1DDB072E1CC}" dt="2024-10-11T06:24:11.220" v="1"/>
        <pc:sldMkLst>
          <pc:docMk/>
          <pc:sldMk cId="2022153893" sldId="295"/>
        </pc:sldMkLst>
      </pc:sldChg>
    </pc:docChg>
  </pc:docChgLst>
  <pc:docChgLst>
    <pc:chgData name="吳憲驊-人力資源處-永豐銀行" userId="c372d5aa-c765-4280-a5c9-548c4152a5d4" providerId="ADAL" clId="{A5CB0424-1DCD-41DE-B858-D55378E4CD93}"/>
    <pc:docChg chg="custSel addSld delSld modSld modMainMaster modSection">
      <pc:chgData name="吳憲驊-人力資源處-永豐銀行" userId="c372d5aa-c765-4280-a5c9-548c4152a5d4" providerId="ADAL" clId="{A5CB0424-1DCD-41DE-B858-D55378E4CD93}" dt="2024-09-23T03:47:43.608" v="334" actId="6549"/>
      <pc:docMkLst>
        <pc:docMk/>
      </pc:docMkLst>
      <pc:sldChg chg="modSp mod">
        <pc:chgData name="吳憲驊-人力資源處-永豐銀行" userId="c372d5aa-c765-4280-a5c9-548c4152a5d4" providerId="ADAL" clId="{A5CB0424-1DCD-41DE-B858-D55378E4CD93}" dt="2024-09-23T03:47:43.608" v="334" actId="6549"/>
        <pc:sldMkLst>
          <pc:docMk/>
          <pc:sldMk cId="4060586183" sldId="2147471188"/>
        </pc:sldMkLst>
      </pc:sldChg>
      <pc:sldChg chg="addSp modSp new del mod modClrScheme chgLayout">
        <pc:chgData name="吳憲驊-人力資源處-永豐銀行" userId="c372d5aa-c765-4280-a5c9-548c4152a5d4" providerId="ADAL" clId="{A5CB0424-1DCD-41DE-B858-D55378E4CD93}" dt="2024-09-23T03:37:14.100" v="17" actId="47"/>
        <pc:sldMkLst>
          <pc:docMk/>
          <pc:sldMk cId="3271968025" sldId="2147471189"/>
        </pc:sldMkLst>
      </pc:sldChg>
      <pc:sldMasterChg chg="modSldLayout">
        <pc:chgData name="吳憲驊-人力資源處-永豐銀行" userId="c372d5aa-c765-4280-a5c9-548c4152a5d4" providerId="ADAL" clId="{A5CB0424-1DCD-41DE-B858-D55378E4CD93}" dt="2024-09-23T03:37:04.143" v="8" actId="1076"/>
        <pc:sldMasterMkLst>
          <pc:docMk/>
          <pc:sldMasterMk cId="0" sldId="2147483648"/>
        </pc:sldMasterMkLst>
        <pc:sldLayoutChg chg="addSp delSp modSp mod">
          <pc:chgData name="吳憲驊-人力資源處-永豐銀行" userId="c372d5aa-c765-4280-a5c9-548c4152a5d4" providerId="ADAL" clId="{A5CB0424-1DCD-41DE-B858-D55378E4CD93}" dt="2024-09-23T03:37:04.143" v="8" actId="1076"/>
          <pc:sldLayoutMkLst>
            <pc:docMk/>
            <pc:sldMasterMk cId="0" sldId="2147483648"/>
            <pc:sldLayoutMk cId="1016505608" sldId="2147483659"/>
          </pc:sldLayoutMkLst>
        </pc:sldLayoutChg>
      </pc:sldMasterChg>
    </pc:docChg>
  </pc:docChgLst>
  <pc:docChgLst>
    <pc:chgData name="吳憲驊-人力資源處-永豐銀行" userId="S::simonwu@sinopac.com::c372d5aa-c765-4280-a5c9-548c4152a5d4" providerId="AD" clId="Web-{76B08719-CE9C-CA5C-98B8-63898D770A1E}"/>
    <pc:docChg chg="addSld delSld addSection modSection">
      <pc:chgData name="吳憲驊-人力資源處-永豐銀行" userId="S::simonwu@sinopac.com::c372d5aa-c765-4280-a5c9-548c4152a5d4" providerId="AD" clId="Web-{76B08719-CE9C-CA5C-98B8-63898D770A1E}" dt="2024-09-06T10:15:50.990" v="31"/>
      <pc:docMkLst>
        <pc:docMk/>
      </pc:docMkLst>
      <pc:sldChg chg="add del">
        <pc:chgData name="吳憲驊-人力資源處-永豐銀行" userId="S::simonwu@sinopac.com::c372d5aa-c765-4280-a5c9-548c4152a5d4" providerId="AD" clId="Web-{76B08719-CE9C-CA5C-98B8-63898D770A1E}" dt="2024-09-06T10:15:15.536" v="7"/>
        <pc:sldMkLst>
          <pc:docMk/>
          <pc:sldMk cId="0" sldId="256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567" v="8"/>
        <pc:sldMkLst>
          <pc:docMk/>
          <pc:sldMk cId="0" sldId="257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598" v="9"/>
        <pc:sldMkLst>
          <pc:docMk/>
          <pc:sldMk cId="0" sldId="258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677" v="10"/>
        <pc:sldMkLst>
          <pc:docMk/>
          <pc:sldMk cId="0" sldId="259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755" v="11"/>
        <pc:sldMkLst>
          <pc:docMk/>
          <pc:sldMk cId="0" sldId="260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833" v="12"/>
        <pc:sldMkLst>
          <pc:docMk/>
          <pc:sldMk cId="0" sldId="261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927" v="13"/>
        <pc:sldMkLst>
          <pc:docMk/>
          <pc:sldMk cId="0" sldId="262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036" v="22"/>
        <pc:sldMkLst>
          <pc:docMk/>
          <pc:sldMk cId="0" sldId="264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208" v="24"/>
        <pc:sldMkLst>
          <pc:docMk/>
          <pc:sldMk cId="2406361714" sldId="292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864" v="27"/>
        <pc:sldMkLst>
          <pc:docMk/>
          <pc:sldMk cId="3121629751" sldId="293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536" v="25"/>
        <pc:sldMkLst>
          <pc:docMk/>
          <pc:sldMk cId="2022153893" sldId="295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692" v="26"/>
        <pc:sldMkLst>
          <pc:docMk/>
          <pc:sldMk cId="3155411272" sldId="2147471173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30.020" v="28"/>
        <pc:sldMkLst>
          <pc:docMk/>
          <pc:sldMk cId="393315683" sldId="2147471185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067" v="23"/>
        <pc:sldMkLst>
          <pc:docMk/>
          <pc:sldMk cId="2193386975" sldId="2147471186"/>
        </pc:sldMkLst>
      </pc:sldChg>
    </pc:docChg>
  </pc:docChgLst>
  <pc:docChgLst>
    <pc:chgData name="周立筠-數據應用部-永豐金證券" userId="S::liyun0222.zhou@sinopac.com::ee349c15-f274-43a3-b0c9-48d528d95247" providerId="AD" clId="Web-{FA426A10-BA6B-DDFE-201A-190FFCD3F55B}"/>
    <pc:docChg chg="addSld delSld modSld addSection modSection">
      <pc:chgData name="周立筠-數據應用部-永豐金證券" userId="S::liyun0222.zhou@sinopac.com::ee349c15-f274-43a3-b0c9-48d528d95247" providerId="AD" clId="Web-{FA426A10-BA6B-DDFE-201A-190FFCD3F55B}" dt="2024-08-23T09:16:34.093" v="83" actId="1076"/>
      <pc:docMkLst>
        <pc:docMk/>
      </pc:docMkLst>
      <pc:sldChg chg="modSp add replId">
        <pc:chgData name="周立筠-數據應用部-永豐金證券" userId="S::liyun0222.zhou@sinopac.com::ee349c15-f274-43a3-b0c9-48d528d95247" providerId="AD" clId="Web-{FA426A10-BA6B-DDFE-201A-190FFCD3F55B}" dt="2024-08-23T09:10:04.631" v="80" actId="1076"/>
        <pc:sldMkLst>
          <pc:docMk/>
          <pc:sldMk cId="3262633635" sldId="297"/>
        </pc:sldMkLst>
      </pc:sldChg>
      <pc:sldChg chg="addSp modSp new">
        <pc:chgData name="周立筠-數據應用部-永豐金證券" userId="S::liyun0222.zhou@sinopac.com::ee349c15-f274-43a3-b0c9-48d528d95247" providerId="AD" clId="Web-{FA426A10-BA6B-DDFE-201A-190FFCD3F55B}" dt="2024-08-23T09:16:34.093" v="83" actId="1076"/>
        <pc:sldMkLst>
          <pc:docMk/>
          <pc:sldMk cId="2826782116" sldId="298"/>
        </pc:sldMkLst>
      </pc:sldChg>
    </pc:docChg>
  </pc:docChgLst>
  <pc:docChgLst>
    <pc:chgData name="傅安-數位金融處-永豐銀行" userId="c8345a55-179c-4faf-b159-cca2c6631c14" providerId="ADAL" clId="{FC04D932-23C0-426C-B700-25BA7DA62966}"/>
    <pc:docChg chg="undo custSel addSld delSld modSld modSection">
      <pc:chgData name="傅安-數位金融處-永豐銀行" userId="c8345a55-179c-4faf-b159-cca2c6631c14" providerId="ADAL" clId="{FC04D932-23C0-426C-B700-25BA7DA62966}" dt="2025-07-14T08:12:18.285" v="70" actId="680"/>
      <pc:docMkLst>
        <pc:docMk/>
      </pc:docMkLst>
      <pc:sldChg chg="modSp mod">
        <pc:chgData name="傅安-數位金融處-永豐銀行" userId="c8345a55-179c-4faf-b159-cca2c6631c14" providerId="ADAL" clId="{FC04D932-23C0-426C-B700-25BA7DA62966}" dt="2025-07-14T08:12:17.924" v="69"/>
        <pc:sldMkLst>
          <pc:docMk/>
          <pc:sldMk cId="0" sldId="256"/>
        </pc:sldMkLst>
      </pc:sldChg>
      <pc:sldChg chg="new del">
        <pc:chgData name="傅安-數位金融處-永豐銀行" userId="c8345a55-179c-4faf-b159-cca2c6631c14" providerId="ADAL" clId="{FC04D932-23C0-426C-B700-25BA7DA62966}" dt="2025-07-14T08:12:18.285" v="70" actId="680"/>
        <pc:sldMkLst>
          <pc:docMk/>
          <pc:sldMk cId="3701876126" sldId="2147471190"/>
        </pc:sldMkLst>
      </pc:sldChg>
    </pc:docChg>
  </pc:docChgLst>
  <pc:docChgLst>
    <pc:chgData name="吳憲驊-人力資源處-永豐銀行" userId="c372d5aa-c765-4280-a5c9-548c4152a5d4" providerId="ADAL" clId="{898F72A5-CF0B-4BC5-833D-22D2B31FA266}"/>
    <pc:docChg chg="undo custSel delSld modSld modSection">
      <pc:chgData name="吳憲驊-人力資源處-永豐銀行" userId="c372d5aa-c765-4280-a5c9-548c4152a5d4" providerId="ADAL" clId="{898F72A5-CF0B-4BC5-833D-22D2B31FA266}" dt="2024-08-27T05:50:47.744" v="22" actId="2165"/>
      <pc:docMkLst>
        <pc:docMk/>
      </pc:docMkLst>
      <pc:sldChg chg="delSp mod">
        <pc:chgData name="吳憲驊-人力資源處-永豐銀行" userId="c372d5aa-c765-4280-a5c9-548c4152a5d4" providerId="ADAL" clId="{898F72A5-CF0B-4BC5-833D-22D2B31FA266}" dt="2024-08-23T08:22:23.087" v="1" actId="478"/>
        <pc:sldMkLst>
          <pc:docMk/>
          <pc:sldMk cId="3121629751" sldId="293"/>
        </pc:sldMkLst>
      </pc:sldChg>
      <pc:sldChg chg="modSp mod addCm modCm">
        <pc:chgData name="吳憲驊-人力資源處-永豐銀行" userId="c372d5aa-c765-4280-a5c9-548c4152a5d4" providerId="ADAL" clId="{898F72A5-CF0B-4BC5-833D-22D2B31FA266}" dt="2024-08-27T05:50:47.744" v="22" actId="2165"/>
        <pc:sldMkLst>
          <pc:docMk/>
          <pc:sldMk cId="673018660" sldId="294"/>
        </pc:sldMkLst>
      </pc:sldChg>
      <pc:sldChg chg="modSp mod">
        <pc:chgData name="吳憲驊-人力資源處-永豐銀行" userId="c372d5aa-c765-4280-a5c9-548c4152a5d4" providerId="ADAL" clId="{898F72A5-CF0B-4BC5-833D-22D2B31FA266}" dt="2024-08-23T10:03:46.763" v="16" actId="20577"/>
        <pc:sldMkLst>
          <pc:docMk/>
          <pc:sldMk cId="3262633635" sldId="297"/>
        </pc:sldMkLst>
      </pc:sldChg>
    </pc:docChg>
  </pc:docChgLst>
  <pc:docChgLst>
    <pc:chgData name="王雋凱-數位金融處-永豐銀行" userId="f78494d6-bac0-4c9e-94cd-0b5e029c0856" providerId="ADAL" clId="{9A569F61-9D88-48E2-A5EB-7100445BBAB5}"/>
    <pc:docChg chg="modSld sldOrd">
      <pc:chgData name="王雋凱-數位金融處-永豐銀行" userId="f78494d6-bac0-4c9e-94cd-0b5e029c0856" providerId="ADAL" clId="{9A569F61-9D88-48E2-A5EB-7100445BBAB5}" dt="2025-06-18T00:28:24.595" v="1"/>
      <pc:docMkLst>
        <pc:docMk/>
      </pc:docMkLst>
      <pc:sldChg chg="ord">
        <pc:chgData name="王雋凱-數位金融處-永豐銀行" userId="f78494d6-bac0-4c9e-94cd-0b5e029c0856" providerId="ADAL" clId="{9A569F61-9D88-48E2-A5EB-7100445BBAB5}" dt="2025-06-18T00:28:24.595" v="1"/>
        <pc:sldMkLst>
          <pc:docMk/>
          <pc:sldMk cId="0" sldId="258"/>
        </pc:sldMkLst>
      </pc:sldChg>
    </pc:docChg>
  </pc:docChgLst>
  <pc:docChgLst>
    <pc:chgData name="周立筠-數據應用部-永豐金證券" userId="S::liyun0222.zhou@sinopac.com::ee349c15-f274-43a3-b0c9-48d528d95247" providerId="AD" clId="Web-{A48564C8-421B-2203-E695-99D400D4424E}"/>
    <pc:docChg chg="modSld">
      <pc:chgData name="周立筠-數據應用部-永豐金證券" userId="S::liyun0222.zhou@sinopac.com::ee349c15-f274-43a3-b0c9-48d528d95247" providerId="AD" clId="Web-{A48564C8-421B-2203-E695-99D400D4424E}" dt="2024-08-23T09:42:27.791" v="49"/>
      <pc:docMkLst>
        <pc:docMk/>
      </pc:docMkLst>
      <pc:sldChg chg="modSp">
        <pc:chgData name="周立筠-數據應用部-永豐金證券" userId="S::liyun0222.zhou@sinopac.com::ee349c15-f274-43a3-b0c9-48d528d95247" providerId="AD" clId="Web-{A48564C8-421B-2203-E695-99D400D4424E}" dt="2024-08-23T09:42:27.791" v="49"/>
        <pc:sldMkLst>
          <pc:docMk/>
          <pc:sldMk cId="3262633635" sldId="297"/>
        </pc:sldMkLst>
      </pc:sldChg>
    </pc:docChg>
  </pc:docChgLst>
  <pc:docChgLst>
    <pc:chgData name="張天豪-數位金融處-永豐銀行" userId="0d835702-99c9-4ef6-82d8-3ca86d4ccc15" providerId="ADAL" clId="{05C68244-A0A4-5F4B-A227-C47B6FE62571}"/>
    <pc:docChg chg="undo custSel addSld delSld modSld modMainMaster modSection">
      <pc:chgData name="張天豪-數位金融處-永豐銀行" userId="0d835702-99c9-4ef6-82d8-3ca86d4ccc15" providerId="ADAL" clId="{05C68244-A0A4-5F4B-A227-C47B6FE62571}" dt="2024-11-23T00:59:06.402" v="223" actId="12"/>
      <pc:docMkLst>
        <pc:docMk/>
      </pc:docMkLst>
      <pc:sldChg chg="modSp mod">
        <pc:chgData name="張天豪-數位金融處-永豐銀行" userId="0d835702-99c9-4ef6-82d8-3ca86d4ccc15" providerId="ADAL" clId="{05C68244-A0A4-5F4B-A227-C47B6FE62571}" dt="2024-10-12T11:25:14.956" v="80" actId="20577"/>
        <pc:sldMkLst>
          <pc:docMk/>
          <pc:sldMk cId="2406361714" sldId="292"/>
        </pc:sldMkLst>
      </pc:sldChg>
      <pc:sldChg chg="modSp mod">
        <pc:chgData name="張天豪-數位金融處-永豐銀行" userId="0d835702-99c9-4ef6-82d8-3ca86d4ccc15" providerId="ADAL" clId="{05C68244-A0A4-5F4B-A227-C47B6FE62571}" dt="2024-10-13T02:59:04.551" v="212" actId="6549"/>
        <pc:sldMkLst>
          <pc:docMk/>
          <pc:sldMk cId="2022153893" sldId="295"/>
        </pc:sldMkLst>
      </pc:sldChg>
      <pc:sldChg chg="modSp mod">
        <pc:chgData name="張天豪-數位金融處-永豐銀行" userId="0d835702-99c9-4ef6-82d8-3ca86d4ccc15" providerId="ADAL" clId="{05C68244-A0A4-5F4B-A227-C47B6FE62571}" dt="2024-10-12T11:29:08.768" v="165"/>
        <pc:sldMkLst>
          <pc:docMk/>
          <pc:sldMk cId="3262633635" sldId="297"/>
        </pc:sldMkLst>
      </pc:sldChg>
      <pc:sldChg chg="modSp mod">
        <pc:chgData name="張天豪-數位金融處-永豐銀行" userId="0d835702-99c9-4ef6-82d8-3ca86d4ccc15" providerId="ADAL" clId="{05C68244-A0A4-5F4B-A227-C47B6FE62571}" dt="2024-10-12T11:25:27.938" v="88" actId="20577"/>
        <pc:sldMkLst>
          <pc:docMk/>
          <pc:sldMk cId="3155411272" sldId="2147471173"/>
        </pc:sldMkLst>
      </pc:sldChg>
      <pc:sldChg chg="modSp mod">
        <pc:chgData name="張天豪-數位金融處-永豐銀行" userId="0d835702-99c9-4ef6-82d8-3ca86d4ccc15" providerId="ADAL" clId="{05C68244-A0A4-5F4B-A227-C47B6FE62571}" dt="2024-10-12T11:28:12.213" v="152" actId="207"/>
        <pc:sldMkLst>
          <pc:docMk/>
          <pc:sldMk cId="2495256314" sldId="2147471176"/>
        </pc:sldMkLst>
      </pc:sldChg>
      <pc:sldChg chg="add del">
        <pc:chgData name="張天豪-數位金融處-永豐銀行" userId="0d835702-99c9-4ef6-82d8-3ca86d4ccc15" providerId="ADAL" clId="{05C68244-A0A4-5F4B-A227-C47B6FE62571}" dt="2024-10-12T11:29:13.617" v="166" actId="2696"/>
        <pc:sldMkLst>
          <pc:docMk/>
          <pc:sldMk cId="424210253" sldId="2147471190"/>
        </pc:sldMkLst>
      </pc:sldChg>
      <pc:sldChg chg="add del">
        <pc:chgData name="張天豪-數位金融處-永豐銀行" userId="0d835702-99c9-4ef6-82d8-3ca86d4ccc15" providerId="ADAL" clId="{05C68244-A0A4-5F4B-A227-C47B6FE62571}" dt="2024-10-12T11:26:42.301" v="102" actId="2696"/>
        <pc:sldMkLst>
          <pc:docMk/>
          <pc:sldMk cId="717366664" sldId="2147471190"/>
        </pc:sldMkLst>
      </pc:sldChg>
      <pc:sldChg chg="add del">
        <pc:chgData name="張天豪-數位金融處-永豐銀行" userId="0d835702-99c9-4ef6-82d8-3ca86d4ccc15" providerId="ADAL" clId="{05C68244-A0A4-5F4B-A227-C47B6FE62571}" dt="2024-10-12T11:28:19.946" v="153" actId="2696"/>
        <pc:sldMkLst>
          <pc:docMk/>
          <pc:sldMk cId="750805866" sldId="2147471190"/>
        </pc:sldMkLst>
      </pc:sldChg>
      <pc:sldChg chg="del">
        <pc:chgData name="張天豪-數位金融處-永豐銀行" userId="0d835702-99c9-4ef6-82d8-3ca86d4ccc15" providerId="ADAL" clId="{05C68244-A0A4-5F4B-A227-C47B6FE62571}" dt="2024-10-12T11:23:56.255" v="44" actId="2696"/>
        <pc:sldMkLst>
          <pc:docMk/>
          <pc:sldMk cId="3905871497" sldId="2147471190"/>
        </pc:sldMkLst>
      </pc:sldChg>
      <pc:sldMasterChg chg="modSldLayout sldLayoutOrd">
        <pc:chgData name="張天豪-數位金融處-永豐銀行" userId="0d835702-99c9-4ef6-82d8-3ca86d4ccc15" providerId="ADAL" clId="{05C68244-A0A4-5F4B-A227-C47B6FE62571}" dt="2024-11-23T00:59:06.402" v="223" actId="12"/>
        <pc:sldMasterMkLst>
          <pc:docMk/>
          <pc:sldMasterMk cId="0" sldId="2147483648"/>
        </pc:sldMasterMkLst>
        <pc:sldLayoutChg chg="modSp">
          <pc:chgData name="張天豪-數位金融處-永豐銀行" userId="0d835702-99c9-4ef6-82d8-3ca86d4ccc15" providerId="ADAL" clId="{05C68244-A0A4-5F4B-A227-C47B6FE62571}" dt="2024-10-13T02:53:19.336" v="171" actId="12"/>
          <pc:sldLayoutMkLst>
            <pc:docMk/>
            <pc:sldMasterMk cId="0" sldId="2147483648"/>
            <pc:sldLayoutMk cId="0" sldId="2147483651"/>
          </pc:sldLayoutMkLst>
        </pc:sldLayoutChg>
        <pc:sldLayoutChg chg="ord">
          <pc:chgData name="張天豪-數位金融處-永豐銀行" userId="0d835702-99c9-4ef6-82d8-3ca86d4ccc15" providerId="ADAL" clId="{05C68244-A0A4-5F4B-A227-C47B6FE62571}" dt="2024-11-11T08:29:41.246" v="213" actId="20578"/>
          <pc:sldLayoutMkLst>
            <pc:docMk/>
            <pc:sldMasterMk cId="0" sldId="2147483648"/>
            <pc:sldLayoutMk cId="0" sldId="2147483652"/>
          </pc:sldLayoutMkLst>
        </pc:sldLayoutChg>
        <pc:sldLayoutChg chg="modSp">
          <pc:chgData name="張天豪-數位金融處-永豐銀行" userId="0d835702-99c9-4ef6-82d8-3ca86d4ccc15" providerId="ADAL" clId="{05C68244-A0A4-5F4B-A227-C47B6FE62571}" dt="2024-11-23T00:59:06.402" v="223" actId="12"/>
          <pc:sldLayoutMkLst>
            <pc:docMk/>
            <pc:sldMasterMk cId="0" sldId="2147483648"/>
            <pc:sldLayoutMk cId="1016505608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0962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 txBox="1">
            <a:spLocks noGrp="1"/>
          </p:cNvSpPr>
          <p:nvPr>
            <p:ph type="body" idx="1"/>
          </p:nvPr>
        </p:nvSpPr>
        <p:spPr>
          <a:xfrm>
            <a:off x="821615" y="337747"/>
            <a:ext cx="56952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3536950" y="1177925"/>
            <a:ext cx="13887450" cy="781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/>
              <a:t>先從我們為什麼要做這件事情開始。</a:t>
            </a:r>
          </a:p>
          <a:p>
            <a:pPr>
              <a:buNone/>
            </a:pPr>
            <a:r>
              <a:rPr lang="en" altLang="zh-TW" dirty="0" err="1"/>
              <a:t>InfoGather</a:t>
            </a:r>
            <a:r>
              <a:rPr lang="en" altLang="zh-TW" dirty="0"/>
              <a:t> </a:t>
            </a:r>
            <a:r>
              <a:rPr lang="zh-TW" altLang="en-US" dirty="0"/>
              <a:t>的定位是一個「自動化資訊收錄的智能平台」。</a:t>
            </a:r>
            <a:endParaRPr lang="en-US" altLang="zh-TW" dirty="0"/>
          </a:p>
          <a:p>
            <a:pPr>
              <a:buNone/>
            </a:pPr>
            <a:endParaRPr lang="en-US" altLang="zh-TW" dirty="0"/>
          </a:p>
          <a:p>
            <a:pPr>
              <a:buNone/>
            </a:pPr>
            <a:r>
              <a:rPr lang="zh-TW" altLang="en-US" dirty="0"/>
              <a:t>那目前我們在資訊蒐集上遇到哪些痛點？</a:t>
            </a:r>
          </a:p>
          <a:p>
            <a:pPr>
              <a:buNone/>
            </a:pPr>
            <a:r>
              <a:rPr lang="zh-TW" altLang="en-US" dirty="0"/>
              <a:t>第一個是來源太分散，</a:t>
            </a:r>
            <a:r>
              <a:rPr lang="en" altLang="zh-TW" dirty="0"/>
              <a:t>RSS</a:t>
            </a:r>
            <a:r>
              <a:rPr lang="zh-TW" altLang="en" dirty="0"/>
              <a:t>、</a:t>
            </a:r>
            <a:r>
              <a:rPr lang="zh-TW" altLang="en-US" dirty="0"/>
              <a:t>網站、社群，每一個都要自己追，成本其實很高。</a:t>
            </a:r>
          </a:p>
          <a:p>
            <a:pPr>
              <a:buNone/>
            </a:pPr>
            <a:r>
              <a:rPr lang="zh-TW" altLang="en-US" dirty="0"/>
              <a:t>第二是噪音太多，真正重要的資訊常常被大量不相關內容淹沒。</a:t>
            </a:r>
          </a:p>
          <a:p>
            <a:pPr>
              <a:buNone/>
            </a:pPr>
            <a:r>
              <a:rPr lang="zh-TW" altLang="en-US" dirty="0"/>
              <a:t>再來是人工成本，手動整理不只耗時，也很難長期維持。</a:t>
            </a:r>
            <a:endParaRPr lang="en-US" altLang="zh-TW" dirty="0"/>
          </a:p>
          <a:p>
            <a:pPr>
              <a:buNone/>
            </a:pPr>
            <a:r>
              <a:rPr lang="zh-TW" altLang="en-US" dirty="0"/>
              <a:t>最後是知識難以沉澱，資料散落在各個工具，事後要回頭找幾乎不可能。</a:t>
            </a:r>
            <a:endParaRPr lang="en-US" altLang="zh-TW" dirty="0"/>
          </a:p>
          <a:p>
            <a:pPr>
              <a:buNone/>
            </a:pPr>
            <a:endParaRPr lang="en-US" altLang="zh-TW" dirty="0"/>
          </a:p>
          <a:p>
            <a:pPr>
              <a:buNone/>
            </a:pPr>
            <a:r>
              <a:rPr lang="zh-TW" altLang="en-US" dirty="0"/>
              <a:t>對應這些痛點，我們的解法分成四個方向。</a:t>
            </a:r>
          </a:p>
          <a:p>
            <a:pPr>
              <a:buNone/>
            </a:pPr>
            <a:r>
              <a:rPr lang="zh-TW" altLang="en-US" dirty="0"/>
              <a:t>第一是</a:t>
            </a:r>
            <a:r>
              <a:rPr lang="zh-TW" altLang="en-US" b="1" dirty="0"/>
              <a:t>統一匯流</a:t>
            </a:r>
            <a:r>
              <a:rPr lang="zh-TW" altLang="en-US" dirty="0"/>
              <a:t>，把多元來源集中到單一資料庫。</a:t>
            </a:r>
          </a:p>
          <a:p>
            <a:pPr>
              <a:buNone/>
            </a:pPr>
            <a:r>
              <a:rPr lang="zh-TW" altLang="en-US" dirty="0"/>
              <a:t>第二是</a:t>
            </a:r>
            <a:r>
              <a:rPr lang="zh-TW" altLang="en-US" b="1" dirty="0"/>
              <a:t>智能策展</a:t>
            </a:r>
            <a:r>
              <a:rPr lang="zh-TW" altLang="en-US" dirty="0"/>
              <a:t>，透過 </a:t>
            </a:r>
            <a:r>
              <a:rPr lang="en" altLang="zh-TW" dirty="0"/>
              <a:t>AI </a:t>
            </a:r>
            <a:r>
              <a:rPr lang="zh-TW" altLang="en-US" dirty="0"/>
              <a:t>助理自動篩選、分類跟評分。</a:t>
            </a:r>
          </a:p>
          <a:p>
            <a:pPr>
              <a:buNone/>
            </a:pPr>
            <a:r>
              <a:rPr lang="zh-TW" altLang="en-US" dirty="0"/>
              <a:t>第三是</a:t>
            </a:r>
            <a:r>
              <a:rPr lang="zh-TW" altLang="en-US" b="1" dirty="0"/>
              <a:t>訂閱機制</a:t>
            </a:r>
            <a:r>
              <a:rPr lang="zh-TW" altLang="en-US" dirty="0"/>
              <a:t>，讓團隊可以共享一致的判斷標準。</a:t>
            </a:r>
            <a:endParaRPr lang="en-US" altLang="zh-TW" dirty="0"/>
          </a:p>
          <a:p>
            <a:pPr>
              <a:buNone/>
            </a:pPr>
            <a:r>
              <a:rPr lang="zh-TW" altLang="en-US" dirty="0"/>
              <a:t>最後是</a:t>
            </a:r>
            <a:r>
              <a:rPr lang="zh-TW" altLang="en-US" b="1" dirty="0"/>
              <a:t>主動推送</a:t>
            </a:r>
            <a:r>
              <a:rPr lang="zh-TW" altLang="en-US" dirty="0"/>
              <a:t>，每天自動產生個人化摘要，而不是等人自己去查。</a:t>
            </a:r>
          </a:p>
          <a:p>
            <a:pPr>
              <a:buNone/>
            </a:pPr>
            <a:endParaRPr lang="zh-TW" altLang="en-US" dirty="0"/>
          </a:p>
          <a:p>
            <a:pPr>
              <a:buNone/>
            </a:pPr>
            <a:r>
              <a:rPr lang="zh-TW" altLang="en-US" dirty="0"/>
              <a:t>在個人層面，我們希望它可以幫大家大量減少找資料、過濾資訊的時間，讓心力真正花在分析跟決策上。</a:t>
            </a:r>
            <a:endParaRPr lang="en-US" altLang="zh-TW" dirty="0"/>
          </a:p>
          <a:p>
            <a:pPr>
              <a:buNone/>
            </a:pPr>
            <a:r>
              <a:rPr lang="zh-TW" altLang="en-US" dirty="0"/>
              <a:t>在團隊層面，更重要的是能建立一個「可共享、可追蹤、可回溯」的知識流，而不是每個人各自收藏、各自判斷，最後沒辦法累積。</a:t>
            </a:r>
          </a:p>
          <a:p>
            <a:pPr marL="158750" indent="0">
              <a:buNone/>
            </a:pP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273893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/>
              <a:t>這個專案一開始其實是從 </a:t>
            </a:r>
            <a:r>
              <a:rPr lang="en" altLang="zh-TW" dirty="0"/>
              <a:t>PoC </a:t>
            </a:r>
            <a:r>
              <a:rPr lang="zh-TW" altLang="en-US" dirty="0"/>
              <a:t>開始的。</a:t>
            </a:r>
          </a:p>
          <a:p>
            <a:pPr>
              <a:buNone/>
            </a:pPr>
            <a:r>
              <a:rPr lang="zh-TW" altLang="en-US" dirty="0"/>
              <a:t>在 </a:t>
            </a:r>
            <a:r>
              <a:rPr lang="en" altLang="zh-TW" b="1" dirty="0"/>
              <a:t>PoC </a:t>
            </a:r>
            <a:r>
              <a:rPr lang="zh-TW" altLang="en-US" b="1" dirty="0"/>
              <a:t>階段</a:t>
            </a:r>
            <a:r>
              <a:rPr lang="zh-TW" altLang="en-US" dirty="0"/>
              <a:t>，我們的目標很明確，就是用最小成本，驗證整個端到端流程到底可不可行。</a:t>
            </a:r>
            <a:endParaRPr lang="en-US" altLang="zh-TW" dirty="0"/>
          </a:p>
          <a:p>
            <a:pPr>
              <a:buNone/>
            </a:pPr>
            <a:r>
              <a:rPr lang="zh-TW" altLang="en-US" dirty="0"/>
              <a:t>流程很單純：抓文章 → 用 </a:t>
            </a:r>
            <a:r>
              <a:rPr lang="en" altLang="zh-TW" dirty="0"/>
              <a:t>LLM </a:t>
            </a:r>
            <a:r>
              <a:rPr lang="zh-TW" altLang="en-US" dirty="0"/>
              <a:t>評估 → 寄送摘要信。</a:t>
            </a:r>
          </a:p>
          <a:p>
            <a:pPr>
              <a:buNone/>
            </a:pPr>
            <a:r>
              <a:rPr lang="zh-TW" altLang="en-US" dirty="0"/>
              <a:t>技術選型也偏快速落地，用 </a:t>
            </a:r>
            <a:r>
              <a:rPr lang="en" altLang="zh-TW" dirty="0"/>
              <a:t>n8n </a:t>
            </a:r>
            <a:r>
              <a:rPr lang="zh-TW" altLang="en-US" dirty="0"/>
              <a:t>串流程、</a:t>
            </a:r>
            <a:r>
              <a:rPr lang="en" altLang="zh-TW" dirty="0"/>
              <a:t>Google Sheet </a:t>
            </a:r>
            <a:r>
              <a:rPr lang="zh-TW" altLang="en-US" dirty="0"/>
              <a:t>存資料、</a:t>
            </a:r>
            <a:r>
              <a:rPr lang="en" altLang="zh-TW" dirty="0"/>
              <a:t>Apps Script </a:t>
            </a:r>
            <a:r>
              <a:rPr lang="zh-TW" altLang="en-US" dirty="0"/>
              <a:t>來部署。</a:t>
            </a:r>
            <a:endParaRPr lang="en-US" altLang="zh-TW" dirty="0"/>
          </a:p>
          <a:p>
            <a:pPr>
              <a:buNone/>
            </a:pPr>
            <a:endParaRPr lang="en-US" altLang="zh-TW" dirty="0"/>
          </a:p>
          <a:p>
            <a:pPr>
              <a:buNone/>
            </a:pPr>
            <a:r>
              <a:rPr lang="zh-TW" altLang="en-US" dirty="0"/>
              <a:t>但當我們要進到</a:t>
            </a:r>
            <a:r>
              <a:rPr lang="zh-TW" altLang="en-US" b="1" dirty="0"/>
              <a:t>產品化階段</a:t>
            </a:r>
            <a:r>
              <a:rPr lang="zh-TW" altLang="en-US" dirty="0"/>
              <a:t>，目標就完全不一樣了。</a:t>
            </a:r>
            <a:endParaRPr lang="en-US" altLang="zh-TW" dirty="0"/>
          </a:p>
          <a:p>
            <a:pPr>
              <a:buNone/>
            </a:pPr>
            <a:r>
              <a:rPr lang="zh-TW" altLang="en-US" dirty="0"/>
              <a:t>我們開始思考的是：這個系統能不能穩定跑、長期跑，而且還能擴充。</a:t>
            </a:r>
            <a:endParaRPr lang="en-US" altLang="zh-TW" dirty="0"/>
          </a:p>
          <a:p>
            <a:pPr>
              <a:buNone/>
            </a:pPr>
            <a:r>
              <a:rPr lang="zh-TW" altLang="en-US" dirty="0"/>
              <a:t>在產品化的過程中，我們主要補齊了三件事。</a:t>
            </a:r>
            <a:endParaRPr lang="en-US" altLang="zh-TW" dirty="0"/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zh-TW" altLang="en-US" dirty="0"/>
              <a:t>第一是資料模型重塑，支援去重、查詢效能，也為訂閱、收藏、權限這些未來功能預留結構。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zh-TW" altLang="en-US" dirty="0"/>
              <a:t>第二是可靠性，我們引入任務佇列、重試策略跟冪等設計，避免重複寫入或重複寄信。</a:t>
            </a:r>
          </a:p>
          <a:p>
            <a:pPr>
              <a:buNone/>
            </a:pPr>
            <a:r>
              <a:rPr lang="zh-TW" altLang="en-US" dirty="0"/>
              <a:t>第一是可觀測性，包含任務流程能不能追蹤、</a:t>
            </a:r>
            <a:r>
              <a:rPr lang="en" altLang="zh-TW" dirty="0"/>
              <a:t>LLM </a:t>
            </a:r>
            <a:r>
              <a:rPr lang="zh-TW" altLang="en-US" dirty="0"/>
              <a:t>成本能不能量化、判斷品質能不能回溯。</a:t>
            </a:r>
          </a:p>
          <a:p>
            <a:pPr>
              <a:buNone/>
            </a:pPr>
            <a:endParaRPr lang="zh-TW" altLang="en-US" dirty="0"/>
          </a:p>
          <a:p>
            <a:pPr marL="158750" indent="0">
              <a:buNone/>
            </a:pP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481933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dirty="0"/>
              <a:t>先看功能性需求。</a:t>
            </a:r>
          </a:p>
          <a:p>
            <a:pPr marL="158750" indent="0">
              <a:buNone/>
            </a:pPr>
            <a:r>
              <a:rPr lang="zh-TW" altLang="en-US" dirty="0"/>
              <a:t>系統必須能夠從 </a:t>
            </a:r>
            <a:r>
              <a:rPr lang="en" altLang="zh-TW" dirty="0"/>
              <a:t>RSS </a:t>
            </a:r>
            <a:r>
              <a:rPr lang="zh-TW" altLang="en-US" dirty="0"/>
              <a:t>跟網頁抓取資料，並且先去重、再標準化，確保後續處理一致。</a:t>
            </a:r>
          </a:p>
          <a:p>
            <a:pPr marL="158750" indent="0">
              <a:buNone/>
            </a:pPr>
            <a:r>
              <a:rPr lang="zh-TW" altLang="en-US" dirty="0"/>
              <a:t>接著透過規則加上 </a:t>
            </a:r>
            <a:r>
              <a:rPr lang="en" altLang="zh-TW" dirty="0"/>
              <a:t>LLM </a:t>
            </a:r>
            <a:r>
              <a:rPr lang="zh-TW" altLang="en-US" dirty="0"/>
              <a:t>進行智能策展，包含摘要與評分。</a:t>
            </a:r>
          </a:p>
          <a:p>
            <a:pPr marL="158750" indent="0">
              <a:buNone/>
            </a:pPr>
            <a:r>
              <a:rPr lang="zh-TW" altLang="en-US" dirty="0"/>
              <a:t>最後再依照訂閱設定，把內容組裝成摘要，準時寄送給使用者。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然後功能性需求，這一塊決定系統能不能長期穩定運作。</a:t>
            </a:r>
          </a:p>
          <a:p>
            <a:pPr marL="158750" indent="0">
              <a:buNone/>
            </a:pPr>
            <a:r>
              <a:rPr lang="zh-TW" altLang="en-US" dirty="0"/>
              <a:t>我們特別關注三件事：可靠性、可追溯性，以及成本可控，</a:t>
            </a:r>
          </a:p>
          <a:p>
            <a:pPr marL="158750" indent="0">
              <a:buNone/>
            </a:pPr>
            <a:r>
              <a:rPr lang="zh-TW" altLang="en-US" dirty="0"/>
              <a:t>尤其是透過限制來源範圍，從設計上就先控管 </a:t>
            </a:r>
            <a:r>
              <a:rPr lang="en" altLang="zh-TW" dirty="0"/>
              <a:t>LLM </a:t>
            </a:r>
            <a:r>
              <a:rPr lang="zh-TW" altLang="en-US" dirty="0"/>
              <a:t>的呼叫成本。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在開發前也必須考量到系統限制。</a:t>
            </a:r>
          </a:p>
          <a:p>
            <a:pPr marL="158750" indent="0">
              <a:buNone/>
            </a:pPr>
            <a:r>
              <a:rPr lang="zh-TW" altLang="en-US" dirty="0"/>
              <a:t>外部資料來源不可控，抓取可能失敗；</a:t>
            </a:r>
          </a:p>
          <a:p>
            <a:pPr marL="158750" indent="0">
              <a:buNone/>
            </a:pPr>
            <a:r>
              <a:rPr lang="en" altLang="zh-TW" dirty="0"/>
              <a:t>LLM </a:t>
            </a:r>
            <a:r>
              <a:rPr lang="zh-TW" altLang="en-US" dirty="0"/>
              <a:t>本身也存在不確定性，所以必須搭配結構化輸出與追蹤機制來控管品質。</a:t>
            </a:r>
          </a:p>
        </p:txBody>
      </p:sp>
    </p:spTree>
    <p:extLst>
      <p:ext uri="{BB962C8B-B14F-4D97-AF65-F5344CB8AC3E}">
        <p14:creationId xmlns:p14="http://schemas.microsoft.com/office/powerpoint/2010/main" val="5551626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/>
              <a:t>這一頁是整個 </a:t>
            </a:r>
            <a:r>
              <a:rPr lang="en" altLang="zh-TW" dirty="0" err="1"/>
              <a:t>InfoGather</a:t>
            </a:r>
            <a:r>
              <a:rPr lang="en" altLang="zh-TW" dirty="0"/>
              <a:t> </a:t>
            </a:r>
            <a:r>
              <a:rPr lang="zh-TW" altLang="en-US" dirty="0"/>
              <a:t>的系統架構總覽。</a:t>
            </a:r>
          </a:p>
          <a:p>
            <a:pPr>
              <a:buNone/>
            </a:pPr>
            <a:r>
              <a:rPr lang="zh-TW" altLang="en-US" dirty="0"/>
              <a:t>使用者從 </a:t>
            </a:r>
            <a:r>
              <a:rPr lang="en" altLang="zh-TW" b="1" dirty="0"/>
              <a:t>Web UI</a:t>
            </a:r>
            <a:r>
              <a:rPr lang="en" altLang="zh-TW" dirty="0"/>
              <a:t> </a:t>
            </a:r>
            <a:r>
              <a:rPr lang="zh-TW" altLang="en-US" dirty="0"/>
              <a:t>操作，所有請求都會進到後端的 </a:t>
            </a:r>
            <a:r>
              <a:rPr lang="en" altLang="zh-TW" b="1" dirty="0"/>
              <a:t>API </a:t>
            </a:r>
            <a:r>
              <a:rPr lang="zh-TW" altLang="en-US" b="1" dirty="0"/>
              <a:t>層</a:t>
            </a:r>
            <a:r>
              <a:rPr lang="zh-TW" altLang="en-US" dirty="0"/>
              <a:t>。</a:t>
            </a:r>
            <a:endParaRPr lang="en-US" altLang="zh-TW" dirty="0"/>
          </a:p>
          <a:p>
            <a:pPr>
              <a:buNone/>
            </a:pPr>
            <a:r>
              <a:rPr lang="en" altLang="zh-TW" dirty="0"/>
              <a:t>API </a:t>
            </a:r>
            <a:r>
              <a:rPr lang="zh-TW" altLang="en-US" dirty="0"/>
              <a:t>本身只處理即時請求，像是設定來源、助理跟查詢資料，不做長時間任務。</a:t>
            </a:r>
          </a:p>
          <a:p>
            <a:pPr>
              <a:buNone/>
            </a:pPr>
            <a:r>
              <a:rPr lang="zh-TW" altLang="en-US" dirty="0"/>
              <a:t>後端主要分成幾個 </a:t>
            </a:r>
            <a:r>
              <a:rPr lang="en" altLang="zh-TW" dirty="0"/>
              <a:t>Domain Module</a:t>
            </a:r>
            <a:r>
              <a:rPr lang="zh-TW" altLang="en" dirty="0"/>
              <a:t>，</a:t>
            </a:r>
            <a:r>
              <a:rPr lang="zh-TW" altLang="en-US" dirty="0"/>
              <a:t>例如使用者、文章、來源跟智能助理，各自負責清楚的職責。</a:t>
            </a:r>
          </a:p>
          <a:p>
            <a:pPr>
              <a:buNone/>
            </a:pPr>
            <a:endParaRPr lang="en-US" altLang="zh-TW" dirty="0"/>
          </a:p>
          <a:p>
            <a:pPr>
              <a:buNone/>
            </a:pPr>
            <a:r>
              <a:rPr lang="zh-TW" altLang="en-US" dirty="0"/>
              <a:t>真正耗時的工作都交給後面的 </a:t>
            </a:r>
            <a:r>
              <a:rPr lang="en-US" altLang="zh-TW" dirty="0"/>
              <a:t>Worker</a:t>
            </a:r>
            <a:r>
              <a:rPr lang="zh-TW" altLang="en-US" dirty="0"/>
              <a:t> </a:t>
            </a:r>
            <a:r>
              <a:rPr lang="en" altLang="zh-TW" b="1" dirty="0"/>
              <a:t>Pipeline</a:t>
            </a:r>
            <a:r>
              <a:rPr lang="zh-TW" altLang="en" dirty="0"/>
              <a:t>。</a:t>
            </a:r>
            <a:endParaRPr lang="en-US" altLang="zh-TW" dirty="0"/>
          </a:p>
          <a:p>
            <a:pPr>
              <a:buNone/>
            </a:pPr>
            <a:r>
              <a:rPr lang="en" altLang="zh-TW" b="1" dirty="0"/>
              <a:t>Ingestion Pipeline</a:t>
            </a:r>
            <a:r>
              <a:rPr lang="en" altLang="zh-TW" dirty="0"/>
              <a:t> </a:t>
            </a:r>
            <a:r>
              <a:rPr lang="zh-TW" altLang="en-US" dirty="0"/>
              <a:t>負責定時抓取 </a:t>
            </a:r>
            <a:r>
              <a:rPr lang="en" altLang="zh-TW" dirty="0"/>
              <a:t>RSS </a:t>
            </a:r>
            <a:r>
              <a:rPr lang="zh-TW" altLang="en-US" dirty="0"/>
              <a:t>或網頁內容，解析、去重後存進資料庫。</a:t>
            </a:r>
            <a:endParaRPr lang="en-US" altLang="zh-TW" dirty="0"/>
          </a:p>
          <a:p>
            <a:pPr>
              <a:buNone/>
            </a:pPr>
            <a:r>
              <a:rPr lang="zh-TW" altLang="en-US" dirty="0"/>
              <a:t>接著 </a:t>
            </a:r>
            <a:r>
              <a:rPr lang="en" altLang="zh-TW" b="1" dirty="0"/>
              <a:t>Digest Pipeline</a:t>
            </a:r>
            <a:r>
              <a:rPr lang="en" altLang="zh-TW" dirty="0"/>
              <a:t> </a:t>
            </a:r>
            <a:r>
              <a:rPr lang="zh-TW" altLang="en-US" dirty="0"/>
              <a:t>會根據訂閱規則組裝摘要，並寄送 </a:t>
            </a:r>
            <a:r>
              <a:rPr lang="en" altLang="zh-TW" dirty="0"/>
              <a:t>Digest Email</a:t>
            </a:r>
            <a:r>
              <a:rPr lang="zh-TW" altLang="en" dirty="0"/>
              <a:t>。</a:t>
            </a:r>
            <a:endParaRPr lang="en-US" altLang="zh-TW" dirty="0"/>
          </a:p>
          <a:p>
            <a:pPr>
              <a:buNone/>
            </a:pPr>
            <a:endParaRPr lang="en-US" altLang="zh-TW" dirty="0"/>
          </a:p>
          <a:p>
            <a:pPr>
              <a:buNone/>
            </a:pPr>
            <a:r>
              <a:rPr lang="zh-TW" altLang="en-US" dirty="0"/>
              <a:t>資料主要存在 </a:t>
            </a:r>
            <a:r>
              <a:rPr lang="en" altLang="zh-TW" b="1" dirty="0"/>
              <a:t>MongoDB</a:t>
            </a:r>
            <a:r>
              <a:rPr lang="zh-TW" altLang="en" dirty="0"/>
              <a:t>，</a:t>
            </a:r>
            <a:r>
              <a:rPr lang="zh-TW" altLang="en-US" dirty="0"/>
              <a:t>背景任務則透過 </a:t>
            </a:r>
            <a:r>
              <a:rPr lang="en" altLang="zh-TW" b="1" dirty="0"/>
              <a:t>Redis + Queue</a:t>
            </a:r>
            <a:r>
              <a:rPr lang="en" altLang="zh-TW" dirty="0"/>
              <a:t> </a:t>
            </a:r>
            <a:r>
              <a:rPr lang="zh-TW" altLang="en-US" dirty="0"/>
              <a:t>管理，</a:t>
            </a:r>
            <a:endParaRPr lang="en-US" altLang="zh-TW" dirty="0"/>
          </a:p>
          <a:p>
            <a:pPr>
              <a:buNone/>
            </a:pPr>
            <a:r>
              <a:rPr lang="zh-TW" altLang="en-US" dirty="0"/>
              <a:t>讓系統可以在不影響使用者操作的情況下穩定運作。</a:t>
            </a:r>
          </a:p>
          <a:p>
            <a:pPr marL="158750" indent="0">
              <a:buNone/>
            </a:pP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409051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/>
              <a:t>在工程管理上，我們選擇採用 </a:t>
            </a:r>
            <a:r>
              <a:rPr lang="en" altLang="zh-TW" dirty="0" err="1"/>
              <a:t>Monorepo</a:t>
            </a:r>
            <a:r>
              <a:rPr lang="en" altLang="zh-TW" dirty="0"/>
              <a:t> </a:t>
            </a:r>
            <a:r>
              <a:rPr lang="zh-TW" altLang="en-US" dirty="0"/>
              <a:t>作為主要開發模式。</a:t>
            </a:r>
            <a:endParaRPr lang="en-US" altLang="zh-TW" dirty="0"/>
          </a:p>
          <a:p>
            <a:pPr>
              <a:buNone/>
            </a:pPr>
            <a:endParaRPr lang="zh-TW" altLang="en-US" dirty="0"/>
          </a:p>
          <a:p>
            <a:pPr>
              <a:buNone/>
            </a:pPr>
            <a:r>
              <a:rPr lang="zh-TW" altLang="en-US" dirty="0"/>
              <a:t>相較於傳統前後端分開、多個 </a:t>
            </a:r>
            <a:r>
              <a:rPr lang="en" altLang="zh-TW" dirty="0"/>
              <a:t>Repo </a:t>
            </a:r>
            <a:r>
              <a:rPr lang="zh-TW" altLang="en-US" dirty="0"/>
              <a:t>維護的方式，</a:t>
            </a:r>
          </a:p>
          <a:p>
            <a:pPr>
              <a:buNone/>
            </a:pPr>
            <a:r>
              <a:rPr lang="en" altLang="zh-TW" dirty="0" err="1"/>
              <a:t>Monorepo</a:t>
            </a:r>
            <a:r>
              <a:rPr lang="en" altLang="zh-TW" dirty="0"/>
              <a:t> </a:t>
            </a:r>
            <a:r>
              <a:rPr lang="zh-TW" altLang="en-US" dirty="0"/>
              <a:t>讓前後端相關的修改可以放在同一個 </a:t>
            </a:r>
            <a:r>
              <a:rPr lang="en" altLang="zh-TW" dirty="0"/>
              <a:t>PR </a:t>
            </a:r>
            <a:r>
              <a:rPr lang="zh-TW" altLang="en-US" dirty="0"/>
              <a:t>裡完成，</a:t>
            </a:r>
          </a:p>
          <a:p>
            <a:pPr>
              <a:buNone/>
            </a:pPr>
            <a:r>
              <a:rPr lang="zh-TW" altLang="en-US" dirty="0"/>
              <a:t>不只降低整合成本，也讓 </a:t>
            </a:r>
            <a:r>
              <a:rPr lang="en" altLang="zh-TW" dirty="0"/>
              <a:t>Code Review </a:t>
            </a:r>
            <a:r>
              <a:rPr lang="zh-TW" altLang="en-US" dirty="0"/>
              <a:t>更聚焦在「整體功能是否正確」。</a:t>
            </a:r>
            <a:endParaRPr lang="en-US" altLang="zh-TW" dirty="0"/>
          </a:p>
          <a:p>
            <a:pPr>
              <a:buNone/>
            </a:pPr>
            <a:endParaRPr lang="zh-TW" altLang="en-US" dirty="0"/>
          </a:p>
          <a:p>
            <a:pPr>
              <a:buNone/>
            </a:pPr>
            <a:r>
              <a:rPr lang="en" altLang="zh-TW" dirty="0"/>
              <a:t>API </a:t>
            </a:r>
            <a:r>
              <a:rPr lang="zh-TW" altLang="en-US" dirty="0"/>
              <a:t>契約則透過 </a:t>
            </a:r>
            <a:r>
              <a:rPr lang="en" altLang="zh-TW" dirty="0" err="1"/>
              <a:t>OpenAPI</a:t>
            </a:r>
            <a:r>
              <a:rPr lang="en" altLang="zh-TW" dirty="0"/>
              <a:t> </a:t>
            </a:r>
            <a:r>
              <a:rPr lang="zh-TW" altLang="en-US" dirty="0"/>
              <a:t>或共用 </a:t>
            </a:r>
            <a:r>
              <a:rPr lang="en" altLang="zh-TW" dirty="0"/>
              <a:t>DTO </a:t>
            </a:r>
            <a:r>
              <a:rPr lang="zh-TW" altLang="en-US" dirty="0"/>
              <a:t>作為共同語言，</a:t>
            </a:r>
          </a:p>
          <a:p>
            <a:pPr>
              <a:buNone/>
            </a:pPr>
            <a:r>
              <a:rPr lang="zh-TW" altLang="en-US" dirty="0"/>
              <a:t>當 </a:t>
            </a:r>
            <a:r>
              <a:rPr lang="en" altLang="zh-TW" dirty="0"/>
              <a:t>API </a:t>
            </a:r>
            <a:r>
              <a:rPr lang="zh-TW" altLang="en-US" dirty="0"/>
              <a:t>介面有變更時，前端可以即時感知，</a:t>
            </a:r>
          </a:p>
          <a:p>
            <a:pPr>
              <a:buNone/>
            </a:pPr>
            <a:r>
              <a:rPr lang="zh-TW" altLang="en-US" dirty="0"/>
              <a:t>有效減少跨團隊溝通落差與規格不一致的問題。</a:t>
            </a:r>
            <a:endParaRPr lang="en-US" altLang="zh-TW" dirty="0"/>
          </a:p>
          <a:p>
            <a:pPr>
              <a:buNone/>
            </a:pPr>
            <a:endParaRPr lang="zh-TW" altLang="en-US" dirty="0"/>
          </a:p>
          <a:p>
            <a:pPr>
              <a:buNone/>
            </a:pPr>
            <a:r>
              <a:rPr lang="zh-TW" altLang="en-US" dirty="0"/>
              <a:t>同時，像是 </a:t>
            </a:r>
            <a:r>
              <a:rPr lang="en" altLang="zh-TW" dirty="0"/>
              <a:t>TypeScript </a:t>
            </a:r>
            <a:r>
              <a:rPr lang="zh-TW" altLang="en-US" dirty="0"/>
              <a:t>型別定義、</a:t>
            </a:r>
            <a:r>
              <a:rPr lang="en" altLang="zh-TW" dirty="0"/>
              <a:t>Lint </a:t>
            </a:r>
            <a:r>
              <a:rPr lang="zh-TW" altLang="en-US" dirty="0"/>
              <a:t>規則、測試設定 都可以共用，</a:t>
            </a:r>
          </a:p>
          <a:p>
            <a:pPr>
              <a:buNone/>
            </a:pPr>
            <a:r>
              <a:rPr lang="zh-TW" altLang="en-US" dirty="0"/>
              <a:t>讓整個專案在程式碼品質跟開發體驗上維持一致。</a:t>
            </a:r>
            <a:endParaRPr lang="en-US" altLang="zh-TW" dirty="0"/>
          </a:p>
          <a:p>
            <a:pPr>
              <a:buNone/>
            </a:pPr>
            <a:endParaRPr lang="zh-TW" altLang="en-US" dirty="0"/>
          </a:p>
          <a:p>
            <a:pPr>
              <a:buNone/>
            </a:pPr>
            <a:r>
              <a:rPr lang="zh-TW" altLang="en-US" dirty="0"/>
              <a:t>在發布策略上，我們採取前後端綁定發布，</a:t>
            </a:r>
          </a:p>
          <a:p>
            <a:pPr marL="158750" indent="0">
              <a:buNone/>
            </a:pPr>
            <a:r>
              <a:rPr lang="zh-TW" altLang="en-US" dirty="0"/>
              <a:t>避免 </a:t>
            </a:r>
            <a:r>
              <a:rPr lang="en" altLang="zh-TW" dirty="0"/>
              <a:t>API </a:t>
            </a:r>
            <a:r>
              <a:rPr lang="zh-TW" altLang="en-US" dirty="0"/>
              <a:t>變更後出現版本不一致、功能壞掉卻難以追查的情況。</a:t>
            </a:r>
          </a:p>
        </p:txBody>
      </p:sp>
    </p:spTree>
    <p:extLst>
      <p:ext uri="{BB962C8B-B14F-4D97-AF65-F5344CB8AC3E}">
        <p14:creationId xmlns:p14="http://schemas.microsoft.com/office/powerpoint/2010/main" val="20608388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dirty="0"/>
              <a:t>在資料處理上，可以</a:t>
            </a:r>
            <a:r>
              <a:rPr lang="zh-TW" altLang="en-US" b="1" dirty="0"/>
              <a:t>區分同步與非同步處理流程</a:t>
            </a:r>
            <a:r>
              <a:rPr lang="zh-TW" altLang="en-US" dirty="0"/>
              <a:t>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en" altLang="zh-TW" b="1" dirty="0"/>
              <a:t>API </a:t>
            </a:r>
            <a:r>
              <a:rPr lang="zh-TW" altLang="en-US" b="1" dirty="0"/>
              <a:t>同步處理</a:t>
            </a:r>
            <a:r>
              <a:rPr lang="zh-TW" altLang="en-US" dirty="0"/>
              <a:t>只負責使用者的即時操作，</a:t>
            </a:r>
            <a:br>
              <a:rPr lang="zh-TW" altLang="en-US" dirty="0"/>
            </a:br>
            <a:r>
              <a:rPr lang="zh-TW" altLang="en-US" dirty="0"/>
              <a:t>像是設定來源、助理管理、查詢資料等，</a:t>
            </a:r>
            <a:br>
              <a:rPr lang="zh-TW" altLang="en-US" dirty="0"/>
            </a:br>
            <a:r>
              <a:rPr lang="zh-TW" altLang="en-US" dirty="0"/>
              <a:t>核心原則是 </a:t>
            </a:r>
            <a:r>
              <a:rPr lang="zh-TW" altLang="en-US" b="1" dirty="0"/>
              <a:t>低延遲回應，不把長時間工作放進請求週期</a:t>
            </a:r>
            <a:r>
              <a:rPr lang="zh-TW" altLang="en-US" dirty="0"/>
              <a:t>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所有真正耗時、需要重試，或可能失敗的工作，</a:t>
            </a:r>
            <a:br>
              <a:rPr lang="zh-TW" altLang="en-US" dirty="0"/>
            </a:br>
            <a:r>
              <a:rPr lang="zh-TW" altLang="en-US" dirty="0"/>
              <a:t>都交由 </a:t>
            </a:r>
            <a:r>
              <a:rPr lang="en" altLang="zh-TW" b="1" dirty="0"/>
              <a:t>Worker </a:t>
            </a:r>
            <a:r>
              <a:rPr lang="zh-TW" altLang="en-US" b="1" dirty="0"/>
              <a:t>以非同步方式處理</a:t>
            </a:r>
            <a:r>
              <a:rPr lang="zh-TW" altLang="en-US" dirty="0"/>
              <a:t>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非同步流程又拆成三個階段：</a:t>
            </a:r>
            <a:br>
              <a:rPr lang="zh-TW" altLang="en-US" dirty="0"/>
            </a:br>
            <a:r>
              <a:rPr lang="en" altLang="zh-TW" b="1" dirty="0"/>
              <a:t>Ingestion</a:t>
            </a:r>
            <a:r>
              <a:rPr lang="en" altLang="zh-TW" dirty="0"/>
              <a:t> </a:t>
            </a:r>
            <a:r>
              <a:rPr lang="zh-TW" altLang="en-US" dirty="0"/>
              <a:t>負責資料抓取與前處理，</a:t>
            </a:r>
            <a:br>
              <a:rPr lang="zh-TW" altLang="en-US" dirty="0"/>
            </a:br>
            <a:r>
              <a:rPr lang="en" altLang="zh-TW" b="1" dirty="0"/>
              <a:t>Curation</a:t>
            </a:r>
            <a:r>
              <a:rPr lang="en" altLang="zh-TW" dirty="0"/>
              <a:t> </a:t>
            </a:r>
            <a:r>
              <a:rPr lang="zh-TW" altLang="en-US" dirty="0"/>
              <a:t>進行 </a:t>
            </a:r>
            <a:r>
              <a:rPr lang="en" altLang="zh-TW" dirty="0"/>
              <a:t>LLM </a:t>
            </a:r>
            <a:r>
              <a:rPr lang="zh-TW" altLang="en-US" dirty="0"/>
              <a:t>的摘要與評分，</a:t>
            </a:r>
            <a:br>
              <a:rPr lang="zh-TW" altLang="en-US" dirty="0"/>
            </a:br>
            <a:r>
              <a:rPr lang="en" altLang="zh-TW" b="1" dirty="0"/>
              <a:t>Delivery</a:t>
            </a:r>
            <a:r>
              <a:rPr lang="en" altLang="zh-TW" dirty="0"/>
              <a:t> </a:t>
            </a:r>
            <a:r>
              <a:rPr lang="zh-TW" altLang="en-US" dirty="0"/>
              <a:t>則負責組裝摘要並完成寄送。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這三個階段透過</a:t>
            </a:r>
            <a:r>
              <a:rPr lang="zh-TW" altLang="en-US" b="1" dirty="0"/>
              <a:t>定時排程加上事件驅動</a:t>
            </a:r>
            <a:r>
              <a:rPr lang="zh-TW" altLang="en-US" dirty="0"/>
              <a:t>串接，</a:t>
            </a:r>
            <a:br>
              <a:rPr lang="zh-TW" altLang="en-US" dirty="0"/>
            </a:br>
            <a:r>
              <a:rPr lang="zh-TW" altLang="en-US" dirty="0"/>
              <a:t>上游完成後自動觸發下游任務，</a:t>
            </a:r>
            <a:br>
              <a:rPr lang="zh-TW" altLang="en-US" dirty="0"/>
            </a:br>
            <a:r>
              <a:rPr lang="zh-TW" altLang="en-US" dirty="0"/>
              <a:t>形成一條可追蹤、可重試、可擴展的端到端處理鏈。</a:t>
            </a:r>
          </a:p>
        </p:txBody>
      </p:sp>
    </p:spTree>
    <p:extLst>
      <p:ext uri="{BB962C8B-B14F-4D97-AF65-F5344CB8AC3E}">
        <p14:creationId xmlns:p14="http://schemas.microsoft.com/office/powerpoint/2010/main" val="23395423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b="1" dirty="0"/>
              <a:t>任務佇列是整個系統穩定運作的核心機制</a:t>
            </a:r>
            <a:r>
              <a:rPr lang="zh-TW" altLang="en-US" dirty="0"/>
              <a:t>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系統中所有需要背景處理的工作，</a:t>
            </a:r>
            <a:br>
              <a:rPr lang="zh-TW" altLang="en-US" dirty="0"/>
            </a:br>
            <a:r>
              <a:rPr lang="zh-TW" altLang="en-US" dirty="0"/>
              <a:t>都會被封裝成一個個 </a:t>
            </a:r>
            <a:r>
              <a:rPr lang="en" altLang="zh-TW" b="1" dirty="0"/>
              <a:t>Job</a:t>
            </a:r>
            <a:r>
              <a:rPr lang="zh-TW" altLang="en" dirty="0"/>
              <a:t>，</a:t>
            </a:r>
            <a:r>
              <a:rPr lang="zh-TW" altLang="en-US" dirty="0"/>
              <a:t>先送進佇列，</a:t>
            </a:r>
            <a:br>
              <a:rPr lang="zh-TW" altLang="en-US" dirty="0"/>
            </a:br>
            <a:r>
              <a:rPr lang="zh-TW" altLang="en-US" dirty="0"/>
              <a:t>再由 </a:t>
            </a:r>
            <a:r>
              <a:rPr lang="en" altLang="zh-TW" b="1" dirty="0"/>
              <a:t>Worker </a:t>
            </a:r>
            <a:r>
              <a:rPr lang="zh-TW" altLang="en-US" b="1" dirty="0"/>
              <a:t>非同步認領並執行</a:t>
            </a:r>
            <a:r>
              <a:rPr lang="zh-TW" altLang="en-US" dirty="0"/>
              <a:t>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這樣的設計可以達到三個效果：</a:t>
            </a:r>
            <a:br>
              <a:rPr lang="zh-TW" altLang="en-US" dirty="0"/>
            </a:br>
            <a:r>
              <a:rPr lang="zh-TW" altLang="en-US" dirty="0"/>
              <a:t>第一是</a:t>
            </a:r>
            <a:r>
              <a:rPr lang="zh-TW" altLang="en-US" b="1" dirty="0"/>
              <a:t>請求與處理解耦</a:t>
            </a:r>
            <a:r>
              <a:rPr lang="zh-TW" altLang="en-US" dirty="0"/>
              <a:t>，避免長時間任務影響 </a:t>
            </a:r>
            <a:r>
              <a:rPr lang="en" altLang="zh-TW" dirty="0"/>
              <a:t>API </a:t>
            </a:r>
            <a:r>
              <a:rPr lang="zh-TW" altLang="en-US" dirty="0"/>
              <a:t>回應；</a:t>
            </a:r>
            <a:br>
              <a:rPr lang="zh-TW" altLang="en-US" dirty="0"/>
            </a:br>
            <a:r>
              <a:rPr lang="zh-TW" altLang="en-US" dirty="0"/>
              <a:t>第二是</a:t>
            </a:r>
            <a:r>
              <a:rPr lang="zh-TW" altLang="en-US" b="1" dirty="0"/>
              <a:t>故障隔離</a:t>
            </a:r>
            <a:r>
              <a:rPr lang="zh-TW" altLang="en-US" dirty="0"/>
              <a:t>，單一任務失敗不會拖垮整個系統；</a:t>
            </a:r>
            <a:br>
              <a:rPr lang="zh-TW" altLang="en-US" dirty="0"/>
            </a:br>
            <a:r>
              <a:rPr lang="zh-TW" altLang="en-US" dirty="0"/>
              <a:t>第三是</a:t>
            </a:r>
            <a:r>
              <a:rPr lang="zh-TW" altLang="en-US" b="1" dirty="0"/>
              <a:t>流量削峰</a:t>
            </a:r>
            <a:r>
              <a:rPr lang="zh-TW" altLang="en-US" dirty="0"/>
              <a:t>，在任務量暴增時可以先排隊緩衝。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在 </a:t>
            </a:r>
            <a:r>
              <a:rPr lang="en" altLang="zh-TW" b="1" dirty="0"/>
              <a:t>at-least-once</a:t>
            </a:r>
            <a:r>
              <a:rPr lang="en" altLang="zh-TW" dirty="0"/>
              <a:t> </a:t>
            </a:r>
            <a:r>
              <a:rPr lang="zh-TW" altLang="en-US" dirty="0"/>
              <a:t>的處理情境下，</a:t>
            </a:r>
            <a:br>
              <a:rPr lang="zh-TW" altLang="en-US" dirty="0"/>
            </a:br>
            <a:r>
              <a:rPr lang="zh-TW" altLang="en-US" dirty="0"/>
              <a:t>我們透過 </a:t>
            </a:r>
            <a:r>
              <a:rPr lang="zh-TW" altLang="en-US" b="1" dirty="0"/>
              <a:t>唯一識別碼</a:t>
            </a:r>
            <a:r>
              <a:rPr lang="zh-TW" altLang="en-US" dirty="0"/>
              <a:t>（例如文章連結或 </a:t>
            </a:r>
            <a:r>
              <a:rPr lang="en-US" altLang="zh-TW" dirty="0"/>
              <a:t>Job ID</a:t>
            </a:r>
            <a:r>
              <a:rPr lang="zh-TW" altLang="en" dirty="0"/>
              <a:t>）</a:t>
            </a:r>
            <a:br>
              <a:rPr lang="zh-TW" altLang="en" dirty="0"/>
            </a:br>
            <a:r>
              <a:rPr lang="zh-TW" altLang="en-US" dirty="0"/>
              <a:t>來確保操作具備冪等性，避免重複寫入或重複寄送。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對於多次重試後仍然失敗的任務，</a:t>
            </a:r>
            <a:br>
              <a:rPr lang="zh-TW" altLang="en-US" dirty="0"/>
            </a:br>
            <a:r>
              <a:rPr lang="zh-TW" altLang="en-US" dirty="0"/>
              <a:t>則會送進 </a:t>
            </a:r>
            <a:r>
              <a:rPr lang="zh-TW" altLang="en-US" b="1" dirty="0"/>
              <a:t>死信佇列</a:t>
            </a:r>
            <a:r>
              <a:rPr lang="zh-TW" altLang="en-US" dirty="0"/>
              <a:t>，方便後續人工檢視與補救處理。</a:t>
            </a:r>
          </a:p>
        </p:txBody>
      </p:sp>
    </p:spTree>
    <p:extLst>
      <p:ext uri="{BB962C8B-B14F-4D97-AF65-F5344CB8AC3E}">
        <p14:creationId xmlns:p14="http://schemas.microsoft.com/office/powerpoint/2010/main" val="14122181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dirty="0"/>
              <a:t>接下來要介紹的是</a:t>
            </a:r>
            <a:r>
              <a:rPr lang="zh-TW" altLang="en-US" b="1" dirty="0"/>
              <a:t>整個產品的核心：智能助理</a:t>
            </a:r>
            <a:r>
              <a:rPr lang="zh-TW" altLang="en-US" dirty="0"/>
              <a:t>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在系統裡，助理本身就是一個「</a:t>
            </a:r>
            <a:r>
              <a:rPr lang="zh-TW" altLang="en-US" b="1" dirty="0"/>
              <a:t>可被訂閱的策展單位</a:t>
            </a:r>
            <a:r>
              <a:rPr lang="zh-TW" altLang="en-US" dirty="0"/>
              <a:t>」，</a:t>
            </a:r>
            <a:br>
              <a:rPr lang="zh-TW" altLang="en-US" dirty="0"/>
            </a:br>
            <a:r>
              <a:rPr lang="zh-TW" altLang="en-US" dirty="0"/>
              <a:t>我們把「什麼資訊算重要」這件事，</a:t>
            </a:r>
            <a:br>
              <a:rPr lang="zh-TW" altLang="en-US" dirty="0"/>
            </a:br>
            <a:r>
              <a:rPr lang="zh-TW" altLang="en-US" dirty="0"/>
              <a:t>從人腦的主觀判斷，轉成</a:t>
            </a:r>
            <a:r>
              <a:rPr lang="zh-TW" altLang="en-US" b="1" dirty="0"/>
              <a:t>可以被系統執行的規則</a:t>
            </a:r>
            <a:r>
              <a:rPr lang="zh-TW" altLang="en-US" dirty="0"/>
              <a:t>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每一個助理，主要由三個控制維度組成。</a:t>
            </a:r>
          </a:p>
          <a:p>
            <a:pPr marL="158750" indent="0">
              <a:buNone/>
            </a:pPr>
            <a:r>
              <a:rPr lang="zh-TW" altLang="en-US" dirty="0"/>
              <a:t>第一個是 </a:t>
            </a:r>
            <a:r>
              <a:rPr lang="en" altLang="zh-TW" b="1" dirty="0"/>
              <a:t>Instructions</a:t>
            </a:r>
            <a:r>
              <a:rPr lang="zh-TW" altLang="en" dirty="0"/>
              <a:t>，</a:t>
            </a:r>
            <a:br>
              <a:rPr lang="zh-TW" altLang="en" dirty="0"/>
            </a:br>
            <a:r>
              <a:rPr lang="zh-TW" altLang="en-US" dirty="0"/>
              <a:t>用自然語言描述判斷準則，</a:t>
            </a:r>
            <a:br>
              <a:rPr lang="zh-TW" altLang="en-US" dirty="0"/>
            </a:br>
            <a:r>
              <a:rPr lang="zh-TW" altLang="en-US" dirty="0"/>
              <a:t>可以很快調整策略，不需要動到程式碼。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第二個是 </a:t>
            </a:r>
            <a:r>
              <a:rPr lang="en" altLang="zh-TW" b="1" dirty="0"/>
              <a:t>Feed Ids</a:t>
            </a:r>
            <a:r>
              <a:rPr lang="zh-TW" altLang="en" dirty="0"/>
              <a:t>，</a:t>
            </a:r>
            <a:br>
              <a:rPr lang="zh-TW" altLang="en" dirty="0"/>
            </a:br>
            <a:r>
              <a:rPr lang="zh-TW" altLang="en-US" dirty="0"/>
              <a:t>用來限定助理實際評估的來源範圍，</a:t>
            </a:r>
            <a:br>
              <a:rPr lang="zh-TW" altLang="en-US" dirty="0"/>
            </a:br>
            <a:r>
              <a:rPr lang="zh-TW" altLang="en-US" dirty="0"/>
              <a:t>先從源頭控管噪音，同時也有效降低 </a:t>
            </a:r>
            <a:r>
              <a:rPr lang="en" altLang="zh-TW" dirty="0"/>
              <a:t>LLM </a:t>
            </a:r>
            <a:r>
              <a:rPr lang="zh-TW" altLang="en-US" dirty="0"/>
              <a:t>的呼叫成本。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第三個是 </a:t>
            </a:r>
            <a:r>
              <a:rPr lang="en" altLang="zh-TW" b="1" dirty="0"/>
              <a:t>Score Threshold</a:t>
            </a:r>
            <a:r>
              <a:rPr lang="zh-TW" altLang="en" dirty="0"/>
              <a:t>，</a:t>
            </a:r>
            <a:br>
              <a:rPr lang="zh-TW" altLang="en" dirty="0"/>
            </a:br>
            <a:r>
              <a:rPr lang="zh-TW" altLang="en-US" dirty="0"/>
              <a:t>讓不同主題可以設定不同的收錄門檻，</a:t>
            </a:r>
            <a:br>
              <a:rPr lang="zh-TW" altLang="en-US" dirty="0"/>
            </a:br>
            <a:r>
              <a:rPr lang="zh-TW" altLang="en-US" dirty="0"/>
              <a:t>有些追求完整性，有些追求高精準度，都可以各自調整。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在</a:t>
            </a:r>
            <a:r>
              <a:rPr lang="zh-TW" altLang="en-US" b="1" dirty="0"/>
              <a:t>成本面</a:t>
            </a:r>
            <a:r>
              <a:rPr lang="zh-TW" altLang="en-US" dirty="0"/>
              <a:t>，我們透過縮小來源範圍與前置過濾，</a:t>
            </a:r>
            <a:br>
              <a:rPr lang="zh-TW" altLang="en-US" dirty="0"/>
            </a:br>
            <a:r>
              <a:rPr lang="zh-TW" altLang="en-US" dirty="0"/>
              <a:t>盡量減少不必要的 </a:t>
            </a:r>
            <a:r>
              <a:rPr lang="en" altLang="zh-TW" dirty="0"/>
              <a:t>LLM </a:t>
            </a:r>
            <a:r>
              <a:rPr lang="zh-TW" altLang="en-US" dirty="0"/>
              <a:t>評估。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在</a:t>
            </a:r>
            <a:r>
              <a:rPr lang="zh-TW" altLang="en-US" b="1" dirty="0"/>
              <a:t>品質面</a:t>
            </a:r>
            <a:r>
              <a:rPr lang="zh-TW" altLang="en-US" dirty="0"/>
              <a:t>，系統會保留每一次評分的理由與相關資料，</a:t>
            </a:r>
            <a:br>
              <a:rPr lang="zh-TW" altLang="en-US" dirty="0"/>
            </a:br>
            <a:r>
              <a:rPr lang="zh-TW" altLang="en-US" dirty="0"/>
              <a:t>讓後續可以回頭檢視、回測，</a:t>
            </a:r>
            <a:br>
              <a:rPr lang="zh-TW" altLang="en-US" dirty="0"/>
            </a:br>
            <a:r>
              <a:rPr lang="zh-TW" altLang="en-US" dirty="0"/>
              <a:t>持續優化助理的判斷規則。</a:t>
            </a:r>
          </a:p>
        </p:txBody>
      </p:sp>
    </p:spTree>
    <p:extLst>
      <p:ext uri="{BB962C8B-B14F-4D97-AF65-F5344CB8AC3E}">
        <p14:creationId xmlns:p14="http://schemas.microsoft.com/office/powerpoint/2010/main" val="40489410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dirty="0"/>
              <a:t>在 </a:t>
            </a:r>
            <a:r>
              <a:rPr lang="en" altLang="zh-TW" dirty="0"/>
              <a:t>LLM </a:t>
            </a:r>
            <a:r>
              <a:rPr lang="zh-TW" altLang="en-US" dirty="0"/>
              <a:t>的設計上，我們一開始就不是把它當成一個「會給答案的黑盒子」，</a:t>
            </a:r>
            <a:br>
              <a:rPr lang="zh-TW" altLang="en-US" dirty="0"/>
            </a:br>
            <a:r>
              <a:rPr lang="zh-TW" altLang="en-US" dirty="0"/>
              <a:t>而是希望把它變成一個</a:t>
            </a:r>
            <a:r>
              <a:rPr lang="zh-TW" altLang="en-US" b="1" dirty="0"/>
              <a:t>可以被檢查、被追蹤、甚至被回放的決策流程</a:t>
            </a:r>
            <a:r>
              <a:rPr lang="zh-TW" altLang="en-US" dirty="0"/>
              <a:t>。</a:t>
            </a:r>
          </a:p>
          <a:p>
            <a:pPr marL="158750" indent="0">
              <a:buNone/>
            </a:pPr>
            <a:r>
              <a:rPr lang="zh-TW" altLang="en-US" dirty="0"/>
              <a:t>所以我們的核心目標是 </a:t>
            </a:r>
            <a:r>
              <a:rPr lang="zh-TW" altLang="en-US" b="1" dirty="0"/>
              <a:t>把 </a:t>
            </a:r>
            <a:r>
              <a:rPr lang="en" altLang="zh-TW" b="1" dirty="0"/>
              <a:t>LLM </a:t>
            </a:r>
            <a:r>
              <a:rPr lang="zh-TW" altLang="en-US" b="1" dirty="0"/>
              <a:t>的不確定性，轉化成可以驗證的決策結果。</a:t>
            </a:r>
            <a:endParaRPr lang="en-US" altLang="zh-TW" b="1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在</a:t>
            </a:r>
            <a:r>
              <a:rPr lang="zh-TW" altLang="en-US" b="1" dirty="0"/>
              <a:t>輸入端</a:t>
            </a:r>
            <a:r>
              <a:rPr lang="zh-TW" altLang="en-US" dirty="0"/>
              <a:t>，我們會嚴格控制評估範圍，</a:t>
            </a:r>
            <a:br>
              <a:rPr lang="zh-TW" altLang="en-US" dirty="0"/>
            </a:br>
            <a:r>
              <a:rPr lang="zh-TW" altLang="en-US" dirty="0"/>
              <a:t>只讓 </a:t>
            </a:r>
            <a:r>
              <a:rPr lang="en" altLang="zh-TW" dirty="0"/>
              <a:t>LLM </a:t>
            </a:r>
            <a:r>
              <a:rPr lang="zh-TW" altLang="en-US" dirty="0"/>
              <a:t>處理特定助理、特定來源、而且已經過前置過濾的文章，</a:t>
            </a:r>
            <a:br>
              <a:rPr lang="zh-TW" altLang="en-US" dirty="0"/>
            </a:br>
            <a:r>
              <a:rPr lang="zh-TW" altLang="en-US" dirty="0"/>
              <a:t>避免無關內容干擾判斷，也能有效控制 </a:t>
            </a:r>
            <a:r>
              <a:rPr lang="en" altLang="zh-TW" dirty="0"/>
              <a:t>token </a:t>
            </a:r>
            <a:r>
              <a:rPr lang="zh-TW" altLang="en-US" dirty="0"/>
              <a:t>成本。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在</a:t>
            </a:r>
            <a:r>
              <a:rPr lang="zh-TW" altLang="en-US" b="1" dirty="0"/>
              <a:t>輸出端</a:t>
            </a:r>
            <a:r>
              <a:rPr lang="zh-TW" altLang="en-US" dirty="0"/>
              <a:t>，透過 </a:t>
            </a:r>
            <a:r>
              <a:rPr lang="en" altLang="zh-TW" dirty="0"/>
              <a:t>Schema </a:t>
            </a:r>
            <a:r>
              <a:rPr lang="zh-TW" altLang="en-US" dirty="0"/>
              <a:t>強制要求回傳結構化的 </a:t>
            </a:r>
            <a:r>
              <a:rPr lang="en" altLang="zh-TW" dirty="0"/>
              <a:t>JSON</a:t>
            </a:r>
            <a:r>
              <a:rPr lang="zh-TW" altLang="en" dirty="0"/>
              <a:t>，</a:t>
            </a:r>
            <a:br>
              <a:rPr lang="zh-TW" altLang="en" dirty="0"/>
            </a:br>
            <a:r>
              <a:rPr lang="zh-TW" altLang="en-US" dirty="0"/>
              <a:t>確保每一次輸出都可以被穩定解析、儲存，並且後續分析。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因此，每一篇文章的判斷結果，</a:t>
            </a:r>
            <a:br>
              <a:rPr lang="zh-TW" altLang="en-US" dirty="0"/>
            </a:br>
            <a:r>
              <a:rPr lang="zh-TW" altLang="en-US" dirty="0"/>
              <a:t>我們至少都會拿到兩個關鍵資訊：</a:t>
            </a: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一個是 </a:t>
            </a:r>
            <a:r>
              <a:rPr lang="en-US" altLang="zh-TW" b="1" dirty="0"/>
              <a:t>0 </a:t>
            </a:r>
            <a:r>
              <a:rPr lang="zh-TW" altLang="en-US" b="1" dirty="0"/>
              <a:t>到 </a:t>
            </a:r>
            <a:r>
              <a:rPr lang="en-US" altLang="zh-TW" b="1" dirty="0"/>
              <a:t>1 </a:t>
            </a:r>
            <a:r>
              <a:rPr lang="zh-TW" altLang="en-US" b="1" dirty="0"/>
              <a:t>之間的相關性分數</a:t>
            </a:r>
            <a:r>
              <a:rPr lang="zh-TW" altLang="en-US" dirty="0"/>
              <a:t>，</a:t>
            </a:r>
            <a:br>
              <a:rPr lang="zh-TW" altLang="en-US" dirty="0"/>
            </a:br>
            <a:r>
              <a:rPr lang="zh-TW" altLang="en-US" dirty="0"/>
              <a:t>另一個是 </a:t>
            </a:r>
            <a:r>
              <a:rPr lang="zh-TW" altLang="en-US" b="1" dirty="0"/>
              <a:t>清楚說明為什麼給這個分數的判斷理由</a:t>
            </a:r>
            <a:r>
              <a:rPr lang="zh-TW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0893362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dirty="0"/>
              <a:t>為了讓這個系統真的</a:t>
            </a:r>
            <a:r>
              <a:rPr lang="zh-TW" altLang="en-US" b="1" dirty="0"/>
              <a:t>能長期運作、而不是只跑得動</a:t>
            </a:r>
            <a:r>
              <a:rPr lang="zh-TW" altLang="en-US" dirty="0"/>
              <a:t>，</a:t>
            </a:r>
            <a:br>
              <a:rPr lang="zh-TW" altLang="en-US" dirty="0"/>
            </a:br>
            <a:r>
              <a:rPr lang="zh-TW" altLang="en-US" dirty="0"/>
              <a:t>我們在一開始就把「可維運性」當成一個核心設計目標。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因此我們設計了一套</a:t>
            </a:r>
            <a:r>
              <a:rPr lang="zh-TW" altLang="en-US" b="1" dirty="0"/>
              <a:t>完整的端到端追蹤機制</a:t>
            </a:r>
            <a:r>
              <a:rPr lang="zh-TW" altLang="en-US" dirty="0"/>
              <a:t>，</a:t>
            </a:r>
            <a:br>
              <a:rPr lang="zh-TW" altLang="en-US" dirty="0"/>
            </a:br>
            <a:r>
              <a:rPr lang="zh-TW" altLang="en-US" dirty="0"/>
              <a:t>從使用者實際收到的信件開始，</a:t>
            </a:r>
            <a:br>
              <a:rPr lang="zh-TW" altLang="en-US" dirty="0"/>
            </a:br>
            <a:r>
              <a:rPr lang="zh-TW" altLang="en-US" dirty="0"/>
              <a:t>可以一路往回追到是哪一篇文章、經過哪一個任務、</a:t>
            </a:r>
            <a:br>
              <a:rPr lang="zh-TW" altLang="en-US" dirty="0"/>
            </a:br>
            <a:r>
              <a:rPr lang="zh-TW" altLang="en-US" dirty="0"/>
              <a:t>甚至是哪一次 </a:t>
            </a:r>
            <a:r>
              <a:rPr lang="en" altLang="zh-TW" dirty="0"/>
              <a:t>LLM </a:t>
            </a:r>
            <a:r>
              <a:rPr lang="zh-TW" altLang="en-US" dirty="0"/>
              <a:t>呼叫做出的判斷。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在工具上，我們會透過</a:t>
            </a:r>
            <a:r>
              <a:rPr lang="zh-TW" altLang="en-US" b="1" dirty="0"/>
              <a:t>結構化日誌</a:t>
            </a:r>
            <a:r>
              <a:rPr lang="zh-TW" altLang="en-US" dirty="0"/>
              <a:t>記錄每個關鍵事件，</a:t>
            </a:r>
            <a:br>
              <a:rPr lang="zh-TW" altLang="en-US" dirty="0"/>
            </a:br>
            <a:r>
              <a:rPr lang="zh-TW" altLang="en-US" dirty="0"/>
              <a:t>例如任務被 </a:t>
            </a:r>
            <a:r>
              <a:rPr lang="en" altLang="zh-TW" dirty="0"/>
              <a:t>enqueue</a:t>
            </a:r>
            <a:r>
              <a:rPr lang="zh-TW" altLang="en" dirty="0"/>
              <a:t>、</a:t>
            </a:r>
            <a:r>
              <a:rPr lang="zh-TW" altLang="en-US" dirty="0"/>
              <a:t>開始執行、完成或失敗，</a:t>
            </a:r>
            <a:br>
              <a:rPr lang="zh-TW" altLang="en-US" dirty="0"/>
            </a:br>
            <a:r>
              <a:rPr lang="zh-TW" altLang="en-US" dirty="0"/>
              <a:t>再搭配</a:t>
            </a:r>
            <a:r>
              <a:rPr lang="zh-TW" altLang="en-US" b="1" dirty="0"/>
              <a:t>佇列儀表板</a:t>
            </a:r>
            <a:r>
              <a:rPr lang="zh-TW" altLang="en-US" dirty="0"/>
              <a:t>觀察整體吞吐量、失敗率與重試狀況，</a:t>
            </a:r>
            <a:br>
              <a:rPr lang="zh-TW" altLang="en-US" dirty="0"/>
            </a:br>
            <a:r>
              <a:rPr lang="zh-TW" altLang="en-US" dirty="0"/>
              <a:t>確保系統在壓力下仍然是可控的。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針對 </a:t>
            </a:r>
            <a:r>
              <a:rPr lang="en" altLang="zh-TW" dirty="0"/>
              <a:t>LLM </a:t>
            </a:r>
            <a:r>
              <a:rPr lang="zh-TW" altLang="en-US" dirty="0"/>
              <a:t>的部分，我們另外整合了 </a:t>
            </a:r>
            <a:r>
              <a:rPr lang="en" altLang="zh-TW" b="1" dirty="0" err="1"/>
              <a:t>Langfuse</a:t>
            </a:r>
            <a:r>
              <a:rPr lang="zh-TW" altLang="en" dirty="0"/>
              <a:t>，</a:t>
            </a:r>
            <a:br>
              <a:rPr lang="zh-TW" altLang="en" dirty="0"/>
            </a:br>
            <a:r>
              <a:rPr lang="zh-TW" altLang="en-US" dirty="0"/>
              <a:t>用來追蹤每一次 </a:t>
            </a:r>
            <a:r>
              <a:rPr lang="en" altLang="zh-TW" dirty="0"/>
              <a:t>Prompt </a:t>
            </a:r>
            <a:r>
              <a:rPr lang="zh-TW" altLang="en-US" dirty="0"/>
              <a:t>與 </a:t>
            </a:r>
            <a:r>
              <a:rPr lang="en" altLang="zh-TW" dirty="0"/>
              <a:t>Response</a:t>
            </a:r>
            <a:r>
              <a:rPr lang="zh-TW" altLang="en" dirty="0"/>
              <a:t>，</a:t>
            </a:r>
            <a:br>
              <a:rPr lang="zh-TW" altLang="en" dirty="0"/>
            </a:br>
            <a:r>
              <a:rPr lang="zh-TW" altLang="en-US" dirty="0"/>
              <a:t>包含延遲、</a:t>
            </a:r>
            <a:r>
              <a:rPr lang="en" altLang="zh-TW" dirty="0"/>
              <a:t>token </a:t>
            </a:r>
            <a:r>
              <a:rPr lang="zh-TW" altLang="en-US" dirty="0"/>
              <a:t>使用量，以及實際成本，</a:t>
            </a:r>
            <a:br>
              <a:rPr lang="zh-TW" altLang="en-US" dirty="0"/>
            </a:br>
            <a:r>
              <a:rPr lang="zh-TW" altLang="en-US" dirty="0"/>
              <a:t>讓模型判斷的品質與花費都可以被量化分析。</a:t>
            </a:r>
          </a:p>
        </p:txBody>
      </p:sp>
    </p:spTree>
    <p:extLst>
      <p:ext uri="{BB962C8B-B14F-4D97-AF65-F5344CB8AC3E}">
        <p14:creationId xmlns:p14="http://schemas.microsoft.com/office/powerpoint/2010/main" val="4915263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dirty="0"/>
              <a:t>最後在部署策略上，我們選擇的是 </a:t>
            </a:r>
            <a:r>
              <a:rPr lang="en" altLang="zh-TW" dirty="0" err="1"/>
              <a:t>Zeabur</a:t>
            </a:r>
            <a:r>
              <a:rPr lang="en" altLang="zh-TW" dirty="0"/>
              <a:t> </a:t>
            </a:r>
            <a:r>
              <a:rPr lang="zh-TW" altLang="en-US" dirty="0"/>
              <a:t>這類的 </a:t>
            </a:r>
            <a:r>
              <a:rPr lang="en" altLang="zh-TW" dirty="0"/>
              <a:t>PaaS </a:t>
            </a:r>
            <a:r>
              <a:rPr lang="zh-TW" altLang="en-US" dirty="0"/>
              <a:t>平台。</a:t>
            </a:r>
          </a:p>
          <a:p>
            <a:pPr marL="158750" indent="0">
              <a:buNone/>
            </a:pPr>
            <a:r>
              <a:rPr lang="zh-TW" altLang="en-US" dirty="0"/>
              <a:t>原因其實很單純，在產品還沒真正規模化之前，</a:t>
            </a:r>
          </a:p>
          <a:p>
            <a:pPr marL="158750" indent="0">
              <a:buNone/>
            </a:pPr>
            <a:r>
              <a:rPr lang="zh-TW" altLang="en-US" dirty="0"/>
              <a:t>我們希望把有限的時間與心力，專注在產品功能與系統設計本身，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而不是花在主機管理、網路設定，或是 </a:t>
            </a:r>
            <a:r>
              <a:rPr lang="en" altLang="zh-TW" dirty="0"/>
              <a:t>TLS </a:t>
            </a:r>
            <a:r>
              <a:rPr lang="zh-TW" altLang="en-US" dirty="0"/>
              <a:t>憑證這類維運細節上。</a:t>
            </a:r>
          </a:p>
          <a:p>
            <a:pPr marL="158750" indent="0">
              <a:buNone/>
            </a:pPr>
            <a:r>
              <a:rPr lang="zh-TW" altLang="en-US" dirty="0"/>
              <a:t>透過 </a:t>
            </a:r>
            <a:r>
              <a:rPr lang="en" altLang="zh-TW" dirty="0"/>
              <a:t>PaaS</a:t>
            </a:r>
            <a:r>
              <a:rPr lang="zh-TW" altLang="en" dirty="0"/>
              <a:t>，</a:t>
            </a:r>
            <a:r>
              <a:rPr lang="zh-TW" altLang="en-US" dirty="0"/>
              <a:t>我們可以在同一個專案裡同時部署 </a:t>
            </a:r>
            <a:r>
              <a:rPr lang="en" altLang="zh-TW" dirty="0"/>
              <a:t>Web</a:t>
            </a:r>
            <a:r>
              <a:rPr lang="zh-TW" altLang="en" dirty="0"/>
              <a:t>、</a:t>
            </a:r>
            <a:r>
              <a:rPr lang="en" altLang="zh-TW" dirty="0"/>
              <a:t>API</a:t>
            </a:r>
            <a:r>
              <a:rPr lang="zh-TW" altLang="en" dirty="0"/>
              <a:t>、</a:t>
            </a:r>
            <a:r>
              <a:rPr lang="zh-TW" altLang="en-US" dirty="0"/>
              <a:t>資料庫以及 </a:t>
            </a:r>
            <a:r>
              <a:rPr lang="en" altLang="zh-TW" dirty="0"/>
              <a:t>Redis</a:t>
            </a:r>
            <a:r>
              <a:rPr lang="zh-TW" altLang="en" dirty="0"/>
              <a:t>，</a:t>
            </a:r>
          </a:p>
          <a:p>
            <a:pPr marL="158750" indent="0">
              <a:buNone/>
            </a:pPr>
            <a:r>
              <a:rPr lang="zh-TW" altLang="en-US" dirty="0"/>
              <a:t>服務之間的連線、環境變數與基本監控都能快速完成設定，</a:t>
            </a:r>
          </a:p>
          <a:p>
            <a:pPr marL="158750" indent="0">
              <a:buNone/>
            </a:pPr>
            <a:r>
              <a:rPr lang="zh-TW" altLang="en-US" dirty="0"/>
              <a:t>大幅降低前期的建置與維運成本。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對於目前這樣規模不大的團隊來說，</a:t>
            </a:r>
          </a:p>
          <a:p>
            <a:pPr marL="158750" indent="0">
              <a:buNone/>
            </a:pPr>
            <a:r>
              <a:rPr lang="zh-TW" altLang="en-US" dirty="0"/>
              <a:t>這樣的部署方式可以讓我們更快迭代、更早驗證價值，</a:t>
            </a:r>
          </a:p>
          <a:p>
            <a:pPr marL="158750" indent="0">
              <a:buNone/>
            </a:pPr>
            <a:r>
              <a:rPr lang="zh-TW" altLang="en-US" dirty="0"/>
              <a:t>等到真的需要規模化時，再回頭評估更複雜的基礎設施方案。</a:t>
            </a:r>
          </a:p>
        </p:txBody>
      </p:sp>
    </p:spTree>
    <p:extLst>
      <p:ext uri="{BB962C8B-B14F-4D97-AF65-F5344CB8AC3E}">
        <p14:creationId xmlns:p14="http://schemas.microsoft.com/office/powerpoint/2010/main" val="1654744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userDrawn="1">
  <p:cSld name="標題及物件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4"/>
          <p:cNvSpPr txBox="1">
            <a:spLocks noGrp="1"/>
          </p:cNvSpPr>
          <p:nvPr>
            <p:ph type="title"/>
          </p:nvPr>
        </p:nvSpPr>
        <p:spPr>
          <a:xfrm>
            <a:off x="179388" y="72000"/>
            <a:ext cx="11161712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9" name="Google Shape;19;p34"/>
          <p:cNvSpPr txBox="1">
            <a:spLocks noGrp="1"/>
          </p:cNvSpPr>
          <p:nvPr>
            <p:ph type="body" idx="1" hasCustomPrompt="1"/>
          </p:nvPr>
        </p:nvSpPr>
        <p:spPr>
          <a:xfrm>
            <a:off x="179388" y="719138"/>
            <a:ext cx="11161712" cy="5401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t" anchorCtr="0">
            <a:noAutofit/>
          </a:bodyPr>
          <a:lstStyle>
            <a:lvl1pPr marL="252000" marR="0" lvl="0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1pPr>
            <a:lvl2pPr marL="504000" marR="0" lvl="1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4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2pPr>
            <a:lvl3pPr marL="756000" marR="0" lvl="2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2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3pPr>
            <a:lvl4pPr marL="1008000" marR="0" lvl="3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0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4pPr>
            <a:lvl5pPr marL="1260000" marR="0" lvl="4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8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5pPr>
            <a:lvl6pPr marL="1512000" marR="0" lvl="5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Microsoft JhengHei Light" panose="020B0304030504040204" pitchFamily="34" charset="-120"/>
              <a:buChar char="o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lvl="0"/>
            <a:r>
              <a:rPr lang="zh-TW" altLang="en-US" dirty="0"/>
              <a:t>第一層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altLang="zh-TW" dirty="0"/>
          </a:p>
        </p:txBody>
      </p:sp>
      <p:cxnSp>
        <p:nvCxnSpPr>
          <p:cNvPr id="20" name="Google Shape;20;p34"/>
          <p:cNvCxnSpPr>
            <a:cxnSpLocks/>
          </p:cNvCxnSpPr>
          <p:nvPr/>
        </p:nvCxnSpPr>
        <p:spPr>
          <a:xfrm>
            <a:off x="179388" y="612000"/>
            <a:ext cx="11161712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2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userDrawn="1">
  <p:cSld name="盡量不要用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5"/>
          <p:cNvSpPr txBox="1">
            <a:spLocks noGrp="1"/>
          </p:cNvSpPr>
          <p:nvPr>
            <p:ph type="title"/>
          </p:nvPr>
        </p:nvSpPr>
        <p:spPr>
          <a:xfrm>
            <a:off x="179388" y="71438"/>
            <a:ext cx="11161712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cxnSp>
        <p:nvCxnSpPr>
          <p:cNvPr id="24" name="Google Shape;24;p35"/>
          <p:cNvCxnSpPr>
            <a:cxnSpLocks/>
          </p:cNvCxnSpPr>
          <p:nvPr/>
        </p:nvCxnSpPr>
        <p:spPr>
          <a:xfrm>
            <a:off x="179388" y="611438"/>
            <a:ext cx="11161712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5603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oogle Shape;9;p32">
            <a:extLst>
              <a:ext uri="{FF2B5EF4-FFF2-40B4-BE49-F238E27FC236}">
                <a16:creationId xmlns:a16="http://schemas.microsoft.com/office/drawing/2014/main" id="{728D7485-3340-DD7C-9D2E-D9DE76FC1DDB}"/>
              </a:ext>
            </a:extLst>
          </p:cNvPr>
          <p:cNvCxnSpPr>
            <a:cxnSpLocks/>
          </p:cNvCxnSpPr>
          <p:nvPr userDrawn="1"/>
        </p:nvCxnSpPr>
        <p:spPr>
          <a:xfrm>
            <a:off x="1440000" y="2880000"/>
            <a:ext cx="5760000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" name="Google Shape;10;p32">
            <a:extLst>
              <a:ext uri="{FF2B5EF4-FFF2-40B4-BE49-F238E27FC236}">
                <a16:creationId xmlns:a16="http://schemas.microsoft.com/office/drawing/2014/main" id="{7B925996-2FA7-4A3F-652D-7B1D8634C9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0000" y="2160000"/>
            <a:ext cx="576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0000" tIns="46800" rIns="90000" bIns="468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36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51371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>
  <p:cSld name="標題投影片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Google Shape;9;p32"/>
          <p:cNvCxnSpPr>
            <a:cxnSpLocks/>
          </p:cNvCxnSpPr>
          <p:nvPr/>
        </p:nvCxnSpPr>
        <p:spPr>
          <a:xfrm>
            <a:off x="1440000" y="2880000"/>
            <a:ext cx="8640000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1440000" y="2160000"/>
            <a:ext cx="864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36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1440000" y="4320000"/>
            <a:ext cx="864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  <a:defRPr sz="28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2" name="Google Shape;12;p32"/>
          <p:cNvSpPr txBox="1">
            <a:spLocks noGrp="1"/>
          </p:cNvSpPr>
          <p:nvPr>
            <p:ph type="body" idx="2"/>
          </p:nvPr>
        </p:nvSpPr>
        <p:spPr>
          <a:xfrm>
            <a:off x="1440000" y="5040000"/>
            <a:ext cx="86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icrosoft JhengHei"/>
              <a:buNone/>
              <a:defRPr sz="1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兩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;p49">
            <a:extLst>
              <a:ext uri="{FF2B5EF4-FFF2-40B4-BE49-F238E27FC236}">
                <a16:creationId xmlns:a16="http://schemas.microsoft.com/office/drawing/2014/main" id="{4B1AA4F1-C32F-CE82-074E-09C5168186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388" y="71438"/>
            <a:ext cx="11161712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cxnSp>
        <p:nvCxnSpPr>
          <p:cNvPr id="6" name="Google Shape;30;p49">
            <a:extLst>
              <a:ext uri="{FF2B5EF4-FFF2-40B4-BE49-F238E27FC236}">
                <a16:creationId xmlns:a16="http://schemas.microsoft.com/office/drawing/2014/main" id="{29CA88E3-41D3-FF37-BF7E-B456D3066D29}"/>
              </a:ext>
            </a:extLst>
          </p:cNvPr>
          <p:cNvCxnSpPr>
            <a:cxnSpLocks/>
          </p:cNvCxnSpPr>
          <p:nvPr userDrawn="1"/>
        </p:nvCxnSpPr>
        <p:spPr>
          <a:xfrm>
            <a:off x="179388" y="612000"/>
            <a:ext cx="11161712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9;p34">
            <a:extLst>
              <a:ext uri="{FF2B5EF4-FFF2-40B4-BE49-F238E27FC236}">
                <a16:creationId xmlns:a16="http://schemas.microsoft.com/office/drawing/2014/main" id="{E8E59DF3-723D-F8D2-F968-6FCDA67BCDDC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179388" y="719149"/>
            <a:ext cx="5472112" cy="5401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t" anchorCtr="0">
            <a:noAutofit/>
          </a:bodyPr>
          <a:lstStyle>
            <a:lvl1pPr marL="252000" marR="0" lvl="0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1pPr>
            <a:lvl2pPr marL="504000" marR="0" lvl="1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4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2pPr>
            <a:lvl3pPr marL="756000" marR="0" lvl="2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2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3pPr>
            <a:lvl4pPr marL="1008000" marR="0" lvl="3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0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4pPr>
            <a:lvl5pPr marL="1260000" marR="0" lvl="4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8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5pPr>
            <a:lvl6pPr marL="1512000" marR="0" lvl="5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Microsoft JhengHei Light" panose="020B0304030504040204" pitchFamily="34" charset="-120"/>
              <a:buChar char="o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lvl="0"/>
            <a:r>
              <a:rPr lang="zh-TW" altLang="en-US" dirty="0"/>
              <a:t>第一層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altLang="zh-TW" dirty="0"/>
          </a:p>
        </p:txBody>
      </p:sp>
      <p:sp>
        <p:nvSpPr>
          <p:cNvPr id="7" name="Google Shape;19;p34">
            <a:extLst>
              <a:ext uri="{FF2B5EF4-FFF2-40B4-BE49-F238E27FC236}">
                <a16:creationId xmlns:a16="http://schemas.microsoft.com/office/drawing/2014/main" id="{AB88F2E6-F0E1-9028-69C7-33CBCB9759A2}"/>
              </a:ext>
            </a:extLst>
          </p:cNvPr>
          <p:cNvSpPr txBox="1">
            <a:spLocks noGrp="1"/>
          </p:cNvSpPr>
          <p:nvPr>
            <p:ph type="body" idx="10" hasCustomPrompt="1"/>
          </p:nvPr>
        </p:nvSpPr>
        <p:spPr>
          <a:xfrm>
            <a:off x="5868990" y="719149"/>
            <a:ext cx="5472112" cy="5401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t" anchorCtr="0">
            <a:noAutofit/>
          </a:bodyPr>
          <a:lstStyle>
            <a:lvl1pPr marL="252000" marR="0" lvl="0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lang="zh-TW" altLang="en-US" sz="1600" b="0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1pPr>
            <a:lvl2pPr marL="504000" marR="0" lvl="1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lang="zh-TW" altLang="en-US" sz="1400" b="0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2pPr>
            <a:lvl3pPr marL="756000" marR="0" lvl="2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lang="zh-TW" altLang="en-US" sz="1200" b="0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3pPr>
            <a:lvl4pPr marL="1008000" marR="0" lvl="3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lang="zh-TW" altLang="en-US" sz="1000" b="0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4pPr>
            <a:lvl5pPr marL="1260000" marR="0" lvl="4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lang="en-US" altLang="zh-TW" sz="800" b="0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5pPr>
            <a:lvl6pPr marL="1512000" marR="0" lvl="5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Microsoft JhengHei Light" panose="020B0304030504040204" pitchFamily="34" charset="-120"/>
              <a:buChar char="o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lvl="0"/>
            <a:r>
              <a:rPr lang="zh-TW" altLang="en-US"/>
              <a:t>第一層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16505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版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4E9B3DD-FAA0-DF43-8AE4-2105CE51701D}"/>
              </a:ext>
            </a:extLst>
          </p:cNvPr>
          <p:cNvSpPr txBox="1"/>
          <p:nvPr userDrawn="1"/>
        </p:nvSpPr>
        <p:spPr>
          <a:xfrm>
            <a:off x="604826" y="608597"/>
            <a:ext cx="10310836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96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Template Version</a:t>
            </a:r>
          </a:p>
          <a:p>
            <a:pPr algn="ctr"/>
            <a:r>
              <a:rPr kumimoji="1" lang="en-US" altLang="zh-TW" sz="240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v7.1</a:t>
            </a:r>
            <a:endParaRPr kumimoji="1" lang="zh-TW" altLang="en-US" sz="240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89105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31D3636-C8D9-A34B-A3BF-045464A9529C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4000"/>
            <a:ext cx="4406303" cy="705606"/>
          </a:xfrm>
          <a:prstGeom prst="rect">
            <a:avLst/>
          </a:prstGeom>
        </p:spPr>
      </p:pic>
      <p:sp>
        <p:nvSpPr>
          <p:cNvPr id="6" name="Google Shape;6;p31"/>
          <p:cNvSpPr/>
          <p:nvPr/>
        </p:nvSpPr>
        <p:spPr>
          <a:xfrm>
            <a:off x="0" y="6237968"/>
            <a:ext cx="381603" cy="242207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88150" tIns="44050" rIns="88150" bIns="44050" anchor="b" anchorCtr="0">
            <a:spAutoFit/>
          </a:bodyPr>
          <a:lstStyle/>
          <a:p>
            <a:pPr marL="0" marR="0" lvl="0" indent="0" algn="ctr" rtl="0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zh-TW" sz="1200" b="0" i="0" u="none" strike="noStrike" cap="none" smtClean="0">
                <a:solidFill>
                  <a:schemeClr val="dk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pPr marL="0" marR="0" lvl="0" indent="0" algn="ctr" rtl="0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D86D7F2-4668-134E-BDFC-689955836914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000" y="6156000"/>
            <a:ext cx="2462731" cy="29122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2DBFD30-7CBC-FF44-A3CD-E1370C8D3C2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62000" y="6228000"/>
            <a:ext cx="1636426" cy="206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 anchor="ctr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9pPr>
          </a:lstStyle>
          <a:p>
            <a:pPr algn="ctr" eaLnBrk="1" hangingPunct="1">
              <a:lnSpc>
                <a:spcPts val="964"/>
              </a:lnSpc>
              <a:defRPr/>
            </a:pPr>
            <a:r>
              <a:rPr lang="zh-TW" altLang="en-US" sz="800" b="0">
                <a:solidFill>
                  <a:srgbClr val="B2B2B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機密資料僅限永豐金控內部使用 </a:t>
            </a:r>
            <a:endParaRPr lang="en-US" altLang="zh-TW" sz="800" b="0">
              <a:solidFill>
                <a:srgbClr val="B2B2B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8" r:id="rId3"/>
    <p:sldLayoutId id="2147483657" r:id="rId4"/>
    <p:sldLayoutId id="2147483649" r:id="rId5"/>
    <p:sldLayoutId id="2147483659" r:id="rId6"/>
    <p:sldLayoutId id="214748365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41" userDrawn="1">
          <p15:clr>
            <a:srgbClr val="F26B43"/>
          </p15:clr>
        </p15:guide>
        <p15:guide id="2" pos="3697" userDrawn="1">
          <p15:clr>
            <a:srgbClr val="A4A3A4"/>
          </p15:clr>
        </p15:guide>
        <p15:guide id="3" pos="7144" userDrawn="1">
          <p15:clr>
            <a:srgbClr val="A4A3A4"/>
          </p15:clr>
        </p15:guide>
        <p15:guide id="4" pos="113" userDrawn="1">
          <p15:clr>
            <a:srgbClr val="A4A3A4"/>
          </p15:clr>
        </p15:guide>
        <p15:guide id="5" orient="horz" pos="3855" userDrawn="1">
          <p15:clr>
            <a:srgbClr val="A4A3A4"/>
          </p15:clr>
        </p15:guide>
        <p15:guide id="6" orient="horz" pos="45" userDrawn="1">
          <p15:clr>
            <a:srgbClr val="A4A3A4"/>
          </p15:clr>
        </p15:guide>
        <p15:guide id="11" pos="3629" userDrawn="1">
          <p15:clr>
            <a:srgbClr val="F26B43"/>
          </p15:clr>
        </p15:guide>
        <p15:guide id="12" pos="3560" userDrawn="1">
          <p15:clr>
            <a:srgbClr val="A4A3A4"/>
          </p15:clr>
        </p15:guide>
        <p15:guide id="13" pos="2495" userDrawn="1">
          <p15:clr>
            <a:srgbClr val="A4A3A4"/>
          </p15:clr>
        </p15:guide>
        <p15:guide id="14" pos="2381" userDrawn="1">
          <p15:clr>
            <a:srgbClr val="A4A3A4"/>
          </p15:clr>
        </p15:guide>
        <p15:guide id="15" pos="4762" userDrawn="1">
          <p15:clr>
            <a:srgbClr val="A4A3A4"/>
          </p15:clr>
        </p15:guide>
        <p15:guide id="16" pos="4876" userDrawn="1">
          <p15:clr>
            <a:srgbClr val="A4A3A4"/>
          </p15:clr>
        </p15:guide>
        <p15:guide id="18" orient="horz" pos="385" userDrawn="1">
          <p15:clr>
            <a:srgbClr val="A4A3A4"/>
          </p15:clr>
        </p15:guide>
        <p15:guide id="19" orient="horz" pos="453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"/>
          <p:cNvSpPr txBox="1">
            <a:spLocks noGrp="1"/>
          </p:cNvSpPr>
          <p:nvPr>
            <p:ph type="title"/>
          </p:nvPr>
        </p:nvSpPr>
        <p:spPr>
          <a:xfrm>
            <a:off x="1440000" y="2160174"/>
            <a:ext cx="864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altLang="zh-TW" b="1" dirty="0" err="1"/>
              <a:t>InfoGather</a:t>
            </a:r>
            <a:endParaRPr lang="en-US" b="1" dirty="0"/>
          </a:p>
        </p:txBody>
      </p:sp>
      <p:sp>
        <p:nvSpPr>
          <p:cNvPr id="37" name="Google Shape;37;p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</a:pPr>
            <a:r>
              <a:rPr lang="en-US" sz="2800" b="0" dirty="0" err="1"/>
              <a:t>數位科技處</a:t>
            </a:r>
            <a:endParaRPr sz="2800" b="0" dirty="0"/>
          </a:p>
        </p:txBody>
      </p:sp>
      <p:sp>
        <p:nvSpPr>
          <p:cNvPr id="38" name="Google Shape;38;p1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TW" sz="1600" b="0" dirty="0"/>
              <a:t>2025.12.19</a:t>
            </a:r>
            <a:endParaRPr lang="en-US" sz="1600" b="0" dirty="0"/>
          </a:p>
        </p:txBody>
      </p:sp>
      <p:sp>
        <p:nvSpPr>
          <p:cNvPr id="2" name="Google Shape;36;p1">
            <a:extLst>
              <a:ext uri="{FF2B5EF4-FFF2-40B4-BE49-F238E27FC236}">
                <a16:creationId xmlns:a16="http://schemas.microsoft.com/office/drawing/2014/main" id="{D66EE7E4-AD5E-394C-FA9C-C7755A956FD2}"/>
              </a:ext>
            </a:extLst>
          </p:cNvPr>
          <p:cNvSpPr txBox="1">
            <a:spLocks/>
          </p:cNvSpPr>
          <p:nvPr/>
        </p:nvSpPr>
        <p:spPr>
          <a:xfrm>
            <a:off x="1440000" y="3025698"/>
            <a:ext cx="864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200" b="1" dirty="0" err="1"/>
              <a:t>自動化資訊收錄智能平台</a:t>
            </a:r>
            <a:endParaRPr lang="en-US" sz="3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圓角矩形 20">
            <a:extLst>
              <a:ext uri="{FF2B5EF4-FFF2-40B4-BE49-F238E27FC236}">
                <a16:creationId xmlns:a16="http://schemas.microsoft.com/office/drawing/2014/main" id="{1D72A405-0841-8E96-2AE0-7B8D41FD08F7}"/>
              </a:ext>
            </a:extLst>
          </p:cNvPr>
          <p:cNvSpPr/>
          <p:nvPr/>
        </p:nvSpPr>
        <p:spPr>
          <a:xfrm>
            <a:off x="465138" y="3841865"/>
            <a:ext cx="10590214" cy="1805173"/>
          </a:xfrm>
          <a:prstGeom prst="roundRect">
            <a:avLst>
              <a:gd name="adj" fmla="val 7142"/>
            </a:avLst>
          </a:prstGeom>
          <a:solidFill>
            <a:srgbClr val="EFF7FF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tIns="180000" rIns="180000" bIns="180000" rtlCol="0" anchor="t"/>
          <a:lstStyle/>
          <a:p>
            <a:pPr>
              <a:spcAft>
                <a:spcPts val="1800"/>
              </a:spcAft>
            </a:pPr>
            <a:r>
              <a:rPr kumimoji="1" lang="en-US" altLang="zh-TW" sz="2200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</a:t>
            </a:r>
            <a:r>
              <a:rPr kumimoji="1" lang="zh-TW" altLang="en-US" sz="2200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預期效益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16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個人層面</a:t>
            </a:r>
            <a:r>
              <a:rPr kumimoji="1" lang="zh-TW" altLang="en-US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：減少資訊蒐集時間，專注於分析與決策</a:t>
            </a:r>
            <a:endParaRPr kumimoji="1" lang="en-US" altLang="zh-TW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16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團隊層面</a:t>
            </a:r>
            <a:r>
              <a:rPr kumimoji="1" lang="zh-TW" altLang="en-US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：建立可共享、可追溯的知識流，提升效率</a:t>
            </a:r>
            <a:endParaRPr kumimoji="1" lang="en-US" altLang="zh-TW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kumimoji="1" lang="en-US" altLang="zh-TW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" name="標題 5">
            <a:extLst>
              <a:ext uri="{FF2B5EF4-FFF2-40B4-BE49-F238E27FC236}">
                <a16:creationId xmlns:a16="http://schemas.microsoft.com/office/drawing/2014/main" id="{F5DE0150-BABF-F17E-3787-0F696D4EF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產品定位與核心價值</a:t>
            </a: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E9160EBF-A26E-5E71-FB11-A69AD12E460B}"/>
              </a:ext>
            </a:extLst>
          </p:cNvPr>
          <p:cNvSpPr/>
          <p:nvPr/>
        </p:nvSpPr>
        <p:spPr>
          <a:xfrm>
            <a:off x="465138" y="976427"/>
            <a:ext cx="5096572" cy="2566873"/>
          </a:xfrm>
          <a:prstGeom prst="roundRect">
            <a:avLst>
              <a:gd name="adj" fmla="val 7142"/>
            </a:avLst>
          </a:prstGeom>
          <a:solidFill>
            <a:srgbClr val="FFF2F2"/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180000" tIns="180000" rIns="180000" bIns="180000" rtlCol="0" anchor="t"/>
          <a:lstStyle/>
          <a:p>
            <a:pPr>
              <a:spcAft>
                <a:spcPts val="1800"/>
              </a:spcAft>
            </a:pPr>
            <a:r>
              <a:rPr kumimoji="1" lang="en-US" altLang="zh-TW" sz="2200" b="1" dirty="0">
                <a:solidFill>
                  <a:schemeClr val="bg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</a:t>
            </a:r>
            <a:r>
              <a:rPr kumimoji="1" lang="zh-TW" altLang="en-US" sz="2200" b="1" dirty="0">
                <a:solidFill>
                  <a:schemeClr val="accent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使用者痛點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16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來源分散</a:t>
            </a:r>
            <a:r>
              <a:rPr kumimoji="1" lang="zh-TW" altLang="en-US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：</a:t>
            </a:r>
            <a:r>
              <a:rPr kumimoji="1" lang="en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RSS</a:t>
            </a:r>
            <a:r>
              <a:rPr kumimoji="1" lang="zh-TW" altLang="en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、</a:t>
            </a:r>
            <a:r>
              <a:rPr kumimoji="1" lang="zh-TW" altLang="en-US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網站、社群媒體追蹤成本高</a:t>
            </a:r>
            <a:endParaRPr kumimoji="1" lang="en-US" altLang="zh-TW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16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噪音過多</a:t>
            </a:r>
            <a:r>
              <a:rPr kumimoji="1" lang="zh-TW" altLang="en-US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：關鍵訊息被大量無關內容淹沒</a:t>
            </a:r>
            <a:endParaRPr kumimoji="1" lang="en-US" altLang="zh-TW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16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人工成本</a:t>
            </a:r>
            <a:r>
              <a:rPr kumimoji="1" lang="zh-TW" altLang="en-US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：手動整理耗時費力且難持續</a:t>
            </a:r>
            <a:endParaRPr kumimoji="1" lang="en-US" altLang="zh-TW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16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知識難沉澱</a:t>
            </a:r>
            <a:r>
              <a:rPr kumimoji="1" lang="zh-TW" altLang="en-US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：</a:t>
            </a:r>
            <a:r>
              <a:rPr kumimoji="1" lang="zh-TW" altLang="en-US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內容散落，事後難檢索回溯</a:t>
            </a:r>
            <a:endParaRPr kumimoji="1" lang="en-US" altLang="zh-TW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D4E83E8C-B85C-B605-6FBB-702A342631F3}"/>
              </a:ext>
            </a:extLst>
          </p:cNvPr>
          <p:cNvSpPr/>
          <p:nvPr/>
        </p:nvSpPr>
        <p:spPr>
          <a:xfrm>
            <a:off x="5958780" y="976427"/>
            <a:ext cx="5096572" cy="2566873"/>
          </a:xfrm>
          <a:prstGeom prst="roundRect">
            <a:avLst>
              <a:gd name="adj" fmla="val 7142"/>
            </a:avLst>
          </a:prstGeom>
          <a:solidFill>
            <a:srgbClr val="ECFDF6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180000" tIns="180000" rIns="180000" bIns="180000" rtlCol="0" anchor="t"/>
          <a:lstStyle/>
          <a:p>
            <a:pPr>
              <a:spcAft>
                <a:spcPts val="1800"/>
              </a:spcAft>
            </a:pPr>
            <a:r>
              <a:rPr kumimoji="1" lang="en-US" altLang="zh-TW" sz="2200" b="1" dirty="0">
                <a:solidFill>
                  <a:schemeClr val="accent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</a:t>
            </a:r>
            <a:r>
              <a:rPr kumimoji="1" lang="zh-TW" altLang="en-US" sz="2200" b="1" dirty="0">
                <a:solidFill>
                  <a:schemeClr val="accent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解決方案</a:t>
            </a:r>
            <a:endParaRPr kumimoji="1" lang="en-US" altLang="zh-TW" sz="2000" dirty="0">
              <a:solidFill>
                <a:schemeClr val="accent5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16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統一匯流</a:t>
            </a:r>
            <a:r>
              <a:rPr kumimoji="1" lang="zh-TW" altLang="en-US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：多元來源集中至單一資料庫</a:t>
            </a:r>
            <a:endParaRPr kumimoji="1" lang="en-US" altLang="zh-TW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16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智能策展</a:t>
            </a:r>
            <a:r>
              <a:rPr kumimoji="1" lang="zh-TW" altLang="en-US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  <a:r>
              <a:rPr kumimoji="1" lang="en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AI </a:t>
            </a:r>
            <a:r>
              <a:rPr kumimoji="1" lang="zh-TW" altLang="en-US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助理自動篩選、分類與評分</a:t>
            </a:r>
            <a:endParaRPr kumimoji="1" lang="en-US" altLang="zh-TW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16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訂閱機制</a:t>
            </a:r>
            <a:r>
              <a:rPr kumimoji="1" lang="zh-TW" altLang="en-US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：團隊共享一致的判斷標準</a:t>
            </a:r>
            <a:endParaRPr kumimoji="1" lang="en-US" altLang="zh-TW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16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主動推送</a:t>
            </a:r>
            <a:r>
              <a:rPr kumimoji="1" lang="zh-TW" altLang="en-US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：每日自動個人化摘要寄送</a:t>
            </a:r>
            <a:endParaRPr kumimoji="1" lang="en-US" altLang="zh-TW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TW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15" name="圖形 14">
            <a:extLst>
              <a:ext uri="{FF2B5EF4-FFF2-40B4-BE49-F238E27FC236}">
                <a16:creationId xmlns:a16="http://schemas.microsoft.com/office/drawing/2014/main" id="{BB7ACABB-B878-6CD2-E632-4EB1618A84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3019" y="1197231"/>
            <a:ext cx="360000" cy="360000"/>
          </a:xfrm>
          <a:prstGeom prst="rect">
            <a:avLst/>
          </a:prstGeom>
        </p:spPr>
      </p:pic>
      <p:pic>
        <p:nvPicPr>
          <p:cNvPr id="17" name="圖形 16">
            <a:extLst>
              <a:ext uri="{FF2B5EF4-FFF2-40B4-BE49-F238E27FC236}">
                <a16:creationId xmlns:a16="http://schemas.microsoft.com/office/drawing/2014/main" id="{A7985784-B638-9A97-495E-CF38912E13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462" y="4065125"/>
            <a:ext cx="360000" cy="360000"/>
          </a:xfrm>
          <a:prstGeom prst="rect">
            <a:avLst/>
          </a:prstGeom>
        </p:spPr>
      </p:pic>
      <p:pic>
        <p:nvPicPr>
          <p:cNvPr id="19" name="圖形 18">
            <a:extLst>
              <a:ext uri="{FF2B5EF4-FFF2-40B4-BE49-F238E27FC236}">
                <a16:creationId xmlns:a16="http://schemas.microsoft.com/office/drawing/2014/main" id="{A3827BB6-9D70-4096-1C03-8DA6650BC23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2462" y="1197231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261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CC72BB0A-CD0C-E27F-34A4-F9280F9C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從概念驗證到產品化</a:t>
            </a: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039624A4-3C30-EF72-54E5-2A2E567C7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800" b="1" dirty="0"/>
              <a:t>概念驗證階段（</a:t>
            </a:r>
            <a:r>
              <a:rPr lang="en-US" altLang="zh-TW" sz="1800" b="1" dirty="0"/>
              <a:t>PoC</a:t>
            </a:r>
            <a:r>
              <a:rPr lang="zh-TW" altLang="en-US" sz="1800" b="1" dirty="0"/>
              <a:t>）</a:t>
            </a:r>
            <a:endParaRPr lang="en-US" altLang="zh-TW" sz="1800" b="1" dirty="0"/>
          </a:p>
          <a:p>
            <a:pPr lvl="1"/>
            <a:r>
              <a:rPr lang="zh-TW" altLang="en-US" sz="1600" b="1" dirty="0"/>
              <a:t>目標</a:t>
            </a:r>
            <a:r>
              <a:rPr lang="zh-TW" altLang="en-US" sz="1600" dirty="0"/>
              <a:t>：以最小成本驗證端到端流程可行性</a:t>
            </a:r>
            <a:endParaRPr lang="en-US" altLang="zh-TW" sz="1600" dirty="0"/>
          </a:p>
          <a:p>
            <a:pPr lvl="1"/>
            <a:r>
              <a:rPr lang="zh-TW" altLang="en-US" sz="1600" b="1" dirty="0"/>
              <a:t>流程</a:t>
            </a:r>
            <a:r>
              <a:rPr lang="zh-TW" altLang="en-US" sz="1600" dirty="0"/>
              <a:t>：抓取文章 → </a:t>
            </a:r>
            <a:r>
              <a:rPr lang="en" altLang="zh-TW" sz="1600" dirty="0"/>
              <a:t>LLM </a:t>
            </a:r>
            <a:r>
              <a:rPr lang="zh-TW" altLang="en-US" sz="1600" dirty="0"/>
              <a:t>評估 → 寄送摘要信</a:t>
            </a:r>
            <a:endParaRPr lang="en-US" altLang="zh-TW" sz="1600" dirty="0"/>
          </a:p>
          <a:p>
            <a:pPr lvl="1"/>
            <a:r>
              <a:rPr lang="en-US" altLang="zh-TW" sz="1600" dirty="0"/>
              <a:t>n8n </a:t>
            </a:r>
            <a:r>
              <a:rPr lang="zh-TW" altLang="en-US" sz="1600" dirty="0"/>
              <a:t>自動化串接（</a:t>
            </a:r>
            <a:r>
              <a:rPr lang="en-US" altLang="zh-TW" sz="1600" dirty="0"/>
              <a:t>RSS/Perplexity/</a:t>
            </a:r>
            <a:r>
              <a:rPr lang="en-US" altLang="zh-TW" sz="1600" dirty="0" err="1"/>
              <a:t>Firecrawl</a:t>
            </a:r>
            <a:r>
              <a:rPr lang="en-US" altLang="zh-TW" sz="1600" dirty="0"/>
              <a:t>/OpenAI</a:t>
            </a:r>
            <a:r>
              <a:rPr lang="zh-TW" altLang="en-US" sz="1600" dirty="0"/>
              <a:t>） ＋ </a:t>
            </a:r>
            <a:r>
              <a:rPr lang="en-US" altLang="zh-TW" sz="1600" dirty="0"/>
              <a:t>Google Sheet </a:t>
            </a:r>
            <a:r>
              <a:rPr lang="zh-TW" altLang="en-US" sz="1600" dirty="0"/>
              <a:t>儲存 ＋ </a:t>
            </a:r>
            <a:r>
              <a:rPr lang="en-US" altLang="zh-TW" sz="1600" dirty="0"/>
              <a:t>Google Apps Script </a:t>
            </a:r>
            <a:r>
              <a:rPr lang="zh-TW" altLang="en-US" sz="1600" dirty="0"/>
              <a:t>部署</a:t>
            </a:r>
            <a:endParaRPr lang="en-US" altLang="zh-TW" sz="1600" dirty="0"/>
          </a:p>
          <a:p>
            <a:pPr lvl="1"/>
            <a:endParaRPr lang="en-US" altLang="zh-TW" dirty="0"/>
          </a:p>
          <a:p>
            <a:r>
              <a:rPr lang="zh-TW" altLang="en-US" sz="1800" b="1" dirty="0"/>
              <a:t>產品化階段</a:t>
            </a:r>
            <a:endParaRPr lang="en-US" altLang="zh-TW" sz="1800" b="1" dirty="0"/>
          </a:p>
          <a:p>
            <a:pPr lvl="1"/>
            <a:r>
              <a:rPr lang="zh-TW" altLang="en-US" sz="1600" b="1" dirty="0"/>
              <a:t>目標</a:t>
            </a:r>
            <a:r>
              <a:rPr lang="zh-TW" altLang="en-US" sz="1600" dirty="0"/>
              <a:t>：把 </a:t>
            </a:r>
            <a:r>
              <a:rPr lang="en-US" altLang="zh-TW" sz="1600" dirty="0"/>
              <a:t>PoC </a:t>
            </a:r>
            <a:r>
              <a:rPr lang="zh-TW" altLang="en-US" sz="1600" dirty="0"/>
              <a:t>變成「可長期運行」的系統</a:t>
            </a:r>
            <a:endParaRPr lang="en-US" altLang="zh-TW" sz="1600" dirty="0"/>
          </a:p>
          <a:p>
            <a:pPr lvl="1"/>
            <a:r>
              <a:rPr lang="zh-TW" altLang="en-US" sz="1600" b="1" dirty="0"/>
              <a:t>方向</a:t>
            </a:r>
            <a:r>
              <a:rPr lang="zh-TW" altLang="en-US" sz="1600" dirty="0"/>
              <a:t>：工程化補齊、資料模型、可靠性、可觀測性</a:t>
            </a:r>
            <a:endParaRPr lang="en-US" altLang="zh-TW" sz="1600" dirty="0"/>
          </a:p>
          <a:p>
            <a:pPr lvl="2"/>
            <a:r>
              <a:rPr lang="zh-TW" altLang="en-US" sz="1600" b="1" dirty="0"/>
              <a:t>重塑資料模型</a:t>
            </a:r>
            <a:r>
              <a:rPr lang="zh-TW" altLang="en-US" sz="1600" dirty="0"/>
              <a:t>：支援去重與查詢效能，</a:t>
            </a:r>
            <a:br>
              <a:rPr lang="en-US" altLang="zh-TW" sz="1600" dirty="0"/>
            </a:br>
            <a:r>
              <a:rPr lang="zh-TW" altLang="en-US" sz="1600" dirty="0"/>
              <a:t>並為訂閱</a:t>
            </a:r>
            <a:r>
              <a:rPr lang="en-US" altLang="zh-TW" sz="1600" dirty="0"/>
              <a:t>/</a:t>
            </a:r>
            <a:r>
              <a:rPr lang="zh-TW" altLang="en-US" sz="1600" dirty="0"/>
              <a:t>收藏</a:t>
            </a:r>
            <a:r>
              <a:rPr lang="en-US" altLang="zh-TW" sz="1600" dirty="0"/>
              <a:t>/</a:t>
            </a:r>
            <a:r>
              <a:rPr lang="zh-TW" altLang="en-US" sz="1600" dirty="0"/>
              <a:t>後續權限擴展預留結構</a:t>
            </a:r>
            <a:endParaRPr lang="en-US" altLang="zh-TW" sz="1600" dirty="0"/>
          </a:p>
          <a:p>
            <a:pPr lvl="2"/>
            <a:r>
              <a:rPr lang="zh-TW" altLang="en-US" sz="1600" b="1" dirty="0"/>
              <a:t>強化可靠性</a:t>
            </a:r>
            <a:r>
              <a:rPr lang="zh-TW" altLang="en-US" sz="1600" dirty="0"/>
              <a:t>：任務佇列化＋重試策略＋冪等設計，避免重複寫入與重複寄送 </a:t>
            </a:r>
            <a:endParaRPr lang="en-US" altLang="zh-TW" sz="1600" dirty="0"/>
          </a:p>
          <a:p>
            <a:pPr lvl="2"/>
            <a:r>
              <a:rPr lang="zh-TW" altLang="en-US" sz="1600" b="1" dirty="0"/>
              <a:t>建立可觀測性</a:t>
            </a:r>
            <a:r>
              <a:rPr lang="zh-TW" altLang="en-US" sz="1600" dirty="0"/>
              <a:t>：任務流程可追蹤、</a:t>
            </a:r>
            <a:r>
              <a:rPr lang="en-US" altLang="zh-TW" sz="1600" dirty="0"/>
              <a:t>LLM </a:t>
            </a:r>
            <a:r>
              <a:rPr lang="zh-TW" altLang="en-US" sz="1600" dirty="0"/>
              <a:t>成本可量化、品質可回溯 	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79B377D0-29F5-52E3-F40F-4A829D71D4E1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altLang="zh-TW" sz="1800" b="1" dirty="0"/>
              <a:t>PoC </a:t>
            </a:r>
            <a:r>
              <a:rPr lang="zh-TW" altLang="en-US" sz="1800" b="1" dirty="0"/>
              <a:t>系統資料處理流程</a:t>
            </a:r>
          </a:p>
        </p:txBody>
      </p:sp>
      <p:pic>
        <p:nvPicPr>
          <p:cNvPr id="5" name="圖片 4" descr="一張含有 文字, 螢幕擷取畫面, 字型, 圖表 的圖片&#10;&#10;自動產生的描述">
            <a:extLst>
              <a:ext uri="{FF2B5EF4-FFF2-40B4-BE49-F238E27FC236}">
                <a16:creationId xmlns:a16="http://schemas.microsoft.com/office/drawing/2014/main" id="{FDFE183F-7891-E36B-D3BA-0EDA7558D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377" y="1425528"/>
            <a:ext cx="5040000" cy="2835000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11032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E771F-692B-6357-B0FB-38A7CA5F6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39B502A7-9771-BD14-8FB7-5CDF40198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系統需求與設計目標</a:t>
            </a:r>
          </a:p>
        </p:txBody>
      </p:sp>
      <p:sp>
        <p:nvSpPr>
          <p:cNvPr id="2" name="圓角矩形 1">
            <a:extLst>
              <a:ext uri="{FF2B5EF4-FFF2-40B4-BE49-F238E27FC236}">
                <a16:creationId xmlns:a16="http://schemas.microsoft.com/office/drawing/2014/main" id="{4BB6D431-B413-6755-4ECE-0DE3AEF2648F}"/>
              </a:ext>
            </a:extLst>
          </p:cNvPr>
          <p:cNvSpPr/>
          <p:nvPr/>
        </p:nvSpPr>
        <p:spPr>
          <a:xfrm>
            <a:off x="465138" y="3841865"/>
            <a:ext cx="10590214" cy="1805173"/>
          </a:xfrm>
          <a:prstGeom prst="roundRect">
            <a:avLst>
              <a:gd name="adj" fmla="val 7142"/>
            </a:avLst>
          </a:prstGeom>
          <a:solidFill>
            <a:srgbClr val="FFF2F2"/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180000" tIns="180000" rIns="180000" bIns="180000" rtlCol="0" anchor="t"/>
          <a:lstStyle/>
          <a:p>
            <a:pPr>
              <a:spcAft>
                <a:spcPts val="1800"/>
              </a:spcAft>
            </a:pPr>
            <a:r>
              <a:rPr kumimoji="1" lang="en-US" altLang="zh-TW" sz="2200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</a:t>
            </a:r>
            <a:r>
              <a:rPr kumimoji="1" lang="zh-TW" altLang="en-US" sz="2200" b="1" dirty="0">
                <a:solidFill>
                  <a:schemeClr val="accent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系統限制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16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外部來源不可控</a:t>
            </a:r>
            <a:r>
              <a:rPr kumimoji="1" lang="zh-TW" altLang="en-US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：</a:t>
            </a:r>
            <a:r>
              <a:rPr kumimoji="1" lang="en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RSS/</a:t>
            </a:r>
            <a:r>
              <a:rPr kumimoji="1" lang="zh-TW" altLang="en-US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網頁可能變更、限流，成功率受第三方影響</a:t>
            </a:r>
            <a:endParaRPr kumimoji="1" lang="en-US" altLang="zh-TW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16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LLM</a:t>
            </a:r>
            <a:r>
              <a:rPr kumimoji="1" lang="zh-TW" altLang="en-US" sz="16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 輸出不確定性</a:t>
            </a:r>
            <a:r>
              <a:rPr kumimoji="1" lang="zh-TW" altLang="en-US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：需透過結構化輸出與追蹤機制控管品質</a:t>
            </a:r>
            <a:endParaRPr kumimoji="1" lang="en-US" altLang="zh-TW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kumimoji="1" lang="en-US" altLang="zh-TW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91E94547-7997-4C57-AEE8-5C0121DC0E63}"/>
              </a:ext>
            </a:extLst>
          </p:cNvPr>
          <p:cNvSpPr/>
          <p:nvPr/>
        </p:nvSpPr>
        <p:spPr>
          <a:xfrm>
            <a:off x="465138" y="976427"/>
            <a:ext cx="5096572" cy="2566873"/>
          </a:xfrm>
          <a:prstGeom prst="roundRect">
            <a:avLst>
              <a:gd name="adj" fmla="val 7142"/>
            </a:avLst>
          </a:prstGeom>
          <a:solidFill>
            <a:srgbClr val="EFF7FF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tIns="180000" rIns="180000" bIns="180000" rtlCol="0" anchor="t"/>
          <a:lstStyle/>
          <a:p>
            <a:pPr>
              <a:spcAft>
                <a:spcPts val="1800"/>
              </a:spcAft>
            </a:pPr>
            <a:r>
              <a:rPr kumimoji="1" lang="en-US" altLang="zh-TW" sz="2200" b="1" dirty="0">
                <a:solidFill>
                  <a:schemeClr val="bg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</a:t>
            </a:r>
            <a:r>
              <a:rPr kumimoji="1" lang="zh-TW" altLang="en-US" sz="2200" b="1" dirty="0">
                <a:solidFill>
                  <a:schemeClr val="accent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功能性需求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16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資料抓取</a:t>
            </a:r>
            <a:r>
              <a:rPr kumimoji="1" lang="zh-TW" altLang="en-US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：</a:t>
            </a:r>
            <a:r>
              <a:rPr kumimoji="1" lang="en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 RSS/</a:t>
            </a:r>
            <a:r>
              <a:rPr kumimoji="1" lang="zh-TW" altLang="en-US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網頁、去重、標準化</a:t>
            </a:r>
            <a:endParaRPr kumimoji="1" lang="en-US" altLang="zh-TW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16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智能策展</a:t>
            </a:r>
            <a:r>
              <a:rPr kumimoji="1" lang="zh-TW" altLang="en-US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：規則評估、摘要評分</a:t>
            </a:r>
            <a:endParaRPr kumimoji="1" lang="en-US" altLang="zh-TW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16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摘要投遞</a:t>
            </a:r>
            <a:r>
              <a:rPr kumimoji="1" lang="zh-TW" altLang="en-US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：訂閱組裝、準時寄送</a:t>
            </a:r>
            <a:endParaRPr kumimoji="1" lang="en-US" altLang="zh-TW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8D6DE4F7-33DE-1FC2-1259-D604B2D03C4F}"/>
              </a:ext>
            </a:extLst>
          </p:cNvPr>
          <p:cNvSpPr/>
          <p:nvPr/>
        </p:nvSpPr>
        <p:spPr>
          <a:xfrm>
            <a:off x="5958780" y="976427"/>
            <a:ext cx="5096572" cy="2566873"/>
          </a:xfrm>
          <a:prstGeom prst="roundRect">
            <a:avLst>
              <a:gd name="adj" fmla="val 7142"/>
            </a:avLst>
          </a:prstGeom>
          <a:solidFill>
            <a:srgbClr val="ECFDF6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180000" tIns="180000" rIns="180000" bIns="180000" rtlCol="0" anchor="t"/>
          <a:lstStyle/>
          <a:p>
            <a:pPr>
              <a:spcAft>
                <a:spcPts val="1800"/>
              </a:spcAft>
            </a:pPr>
            <a:r>
              <a:rPr kumimoji="1" lang="en-US" altLang="zh-TW" sz="2200" b="1" dirty="0">
                <a:solidFill>
                  <a:schemeClr val="accent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</a:t>
            </a:r>
            <a:r>
              <a:rPr kumimoji="1" lang="zh-TW" altLang="en-US" sz="2200" b="1" dirty="0">
                <a:solidFill>
                  <a:schemeClr val="accent5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非功能性需求</a:t>
            </a:r>
            <a:endParaRPr kumimoji="1" lang="en-US" altLang="zh-TW" sz="2000" dirty="0">
              <a:solidFill>
                <a:schemeClr val="accent5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16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可靠性</a:t>
            </a:r>
            <a:r>
              <a:rPr kumimoji="1" lang="zh-TW" altLang="en-US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：具備冪等性、失敗可收斂</a:t>
            </a:r>
            <a:endParaRPr kumimoji="1" lang="en-US" altLang="zh-TW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16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可追朔性</a:t>
            </a:r>
            <a:r>
              <a:rPr kumimoji="1" lang="zh-TW" altLang="en-US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：完整串聯查詢鏈路</a:t>
            </a:r>
            <a:endParaRPr kumimoji="1" lang="en-US" altLang="zh-TW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1600" b="1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成本可控</a:t>
            </a:r>
            <a:r>
              <a:rPr kumimoji="1" lang="zh-TW" altLang="en-US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：限定來源範圍降低 </a:t>
            </a:r>
            <a:r>
              <a:rPr kumimoji="1" lang="en-US" altLang="zh-TW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LLM </a:t>
            </a:r>
            <a:r>
              <a:rPr kumimoji="1" lang="zh-TW" altLang="en-US" sz="16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呼叫成本</a:t>
            </a:r>
            <a:endParaRPr kumimoji="1" lang="en-US" altLang="zh-TW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just">
              <a:lnSpc>
                <a:spcPct val="150000"/>
              </a:lnSpc>
            </a:pPr>
            <a:endParaRPr kumimoji="1" lang="en-US" altLang="zh-TW" sz="16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10" name="圖形 9">
            <a:extLst>
              <a:ext uri="{FF2B5EF4-FFF2-40B4-BE49-F238E27FC236}">
                <a16:creationId xmlns:a16="http://schemas.microsoft.com/office/drawing/2014/main" id="{1F80E2D1-77AA-D92E-BB4A-66C82877DD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462" y="4044279"/>
            <a:ext cx="360000" cy="360000"/>
          </a:xfrm>
          <a:prstGeom prst="rect">
            <a:avLst/>
          </a:prstGeom>
        </p:spPr>
      </p:pic>
      <p:pic>
        <p:nvPicPr>
          <p:cNvPr id="12" name="圖形 11">
            <a:extLst>
              <a:ext uri="{FF2B5EF4-FFF2-40B4-BE49-F238E27FC236}">
                <a16:creationId xmlns:a16="http://schemas.microsoft.com/office/drawing/2014/main" id="{CC6AB4BE-627B-8D0A-2758-E0FF9948AB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462" y="1197231"/>
            <a:ext cx="360000" cy="360000"/>
          </a:xfrm>
          <a:prstGeom prst="rect">
            <a:avLst/>
          </a:prstGeom>
        </p:spPr>
      </p:pic>
      <p:pic>
        <p:nvPicPr>
          <p:cNvPr id="14" name="圖形 13">
            <a:extLst>
              <a:ext uri="{FF2B5EF4-FFF2-40B4-BE49-F238E27FC236}">
                <a16:creationId xmlns:a16="http://schemas.microsoft.com/office/drawing/2014/main" id="{4548AAB5-47E6-8F61-9FE7-155BDB00FB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51042" y="1197231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705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01CB0-1522-C73A-ED63-BA95BDEEC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594FF81-213C-1059-54AE-937C1C691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系統架構總覽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C20B5E2-6B29-F909-6235-EF83F76BE1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712402"/>
              </p:ext>
            </p:extLst>
          </p:nvPr>
        </p:nvGraphicFramePr>
        <p:xfrm>
          <a:off x="179388" y="3366258"/>
          <a:ext cx="11161712" cy="2714542"/>
        </p:xfrm>
        <a:graphic>
          <a:graphicData uri="http://schemas.openxmlformats.org/drawingml/2006/table">
            <a:tbl>
              <a:tblPr/>
              <a:tblGrid>
                <a:gridCol w="1694830">
                  <a:extLst>
                    <a:ext uri="{9D8B030D-6E8A-4147-A177-3AD203B41FA5}">
                      <a16:colId xmlns:a16="http://schemas.microsoft.com/office/drawing/2014/main" val="3057870867"/>
                    </a:ext>
                  </a:extLst>
                </a:gridCol>
                <a:gridCol w="2985811">
                  <a:extLst>
                    <a:ext uri="{9D8B030D-6E8A-4147-A177-3AD203B41FA5}">
                      <a16:colId xmlns:a16="http://schemas.microsoft.com/office/drawing/2014/main" val="4291287883"/>
                    </a:ext>
                  </a:extLst>
                </a:gridCol>
                <a:gridCol w="6481071">
                  <a:extLst>
                    <a:ext uri="{9D8B030D-6E8A-4147-A177-3AD203B41FA5}">
                      <a16:colId xmlns:a16="http://schemas.microsoft.com/office/drawing/2014/main" val="1362202170"/>
                    </a:ext>
                  </a:extLst>
                </a:gridCol>
              </a:tblGrid>
              <a:tr h="194826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Layer</a:t>
                      </a:r>
                    </a:p>
                  </a:txBody>
                  <a:tcPr marL="66317" marR="66317" marT="33158" marB="33158" anchor="ctr">
                    <a:lnL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Tool / Library</a:t>
                      </a:r>
                    </a:p>
                  </a:txBody>
                  <a:tcPr marL="66317" marR="66317" marT="33158" marB="33158" anchor="ctr">
                    <a:lnL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Description</a:t>
                      </a:r>
                    </a:p>
                  </a:txBody>
                  <a:tcPr marL="66317" marR="66317" marT="33158" marB="33158" anchor="ctr">
                    <a:lnL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700706"/>
                  </a:ext>
                </a:extLst>
              </a:tr>
              <a:tr h="346402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Web UI</a:t>
                      </a:r>
                      <a:endParaRPr 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6317" marR="66317" marT="33158" marB="33158" anchor="ctr">
                    <a:lnL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Angular</a:t>
                      </a:r>
                      <a:r>
                        <a:rPr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altLang="zh-TW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Angular Material</a:t>
                      </a:r>
                    </a:p>
                  </a:txBody>
                  <a:tcPr marL="66317" marR="66317" marT="33158" marB="33158" anchor="ctr">
                    <a:lnL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建立前端單頁式應用程式 </a:t>
                      </a:r>
                      <a:r>
                        <a:rPr lang="en-US" altLang="zh-TW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(SPA)</a:t>
                      </a:r>
                      <a:r>
                        <a:rPr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，提供使用者操作介面。</a:t>
                      </a:r>
                    </a:p>
                  </a:txBody>
                  <a:tcPr marL="66317" marR="66317" marT="33158" marB="33158" anchor="ctr">
                    <a:lnL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1633907"/>
                  </a:ext>
                </a:extLst>
              </a:tr>
              <a:tr h="4049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REST API &amp;</a:t>
                      </a:r>
                      <a:b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Domain Services</a:t>
                      </a:r>
                    </a:p>
                  </a:txBody>
                  <a:tcPr marL="66317" marR="66317" marT="33158" marB="33158" anchor="ctr">
                    <a:lnL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Node.js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altLang="zh-TW" sz="1200" dirty="0" err="1">
                          <a:latin typeface="微軟正黑體"/>
                          <a:ea typeface="微軟正黑體"/>
                        </a:rPr>
                        <a:t>NestJS</a:t>
                      </a:r>
                      <a:endParaRPr lang="en-US" altLang="zh-TW" sz="1200" dirty="0">
                        <a:latin typeface="微軟正黑體"/>
                        <a:ea typeface="微軟正黑體"/>
                      </a:endParaRPr>
                    </a:p>
                  </a:txBody>
                  <a:tcPr marL="66317" marR="66317" marT="33158" marB="33158" anchor="ctr">
                    <a:lnL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系統後端執行環境、提供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REST API、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驗證請求、封裝各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Bounded Context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的商業邏輯。</a:t>
                      </a:r>
                    </a:p>
                  </a:txBody>
                  <a:tcPr marL="66317" marR="66317" marT="33158" marB="33158" anchor="ctr">
                    <a:lnL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8772500"/>
                  </a:ext>
                </a:extLst>
              </a:tr>
              <a:tr h="428208">
                <a:tc rowSpan="2">
                  <a:txBody>
                    <a:bodyPr/>
                    <a:lstStyle/>
                    <a:p>
                      <a:r>
                        <a:rPr 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Ingestion + </a:t>
                      </a:r>
                      <a:r>
                        <a:rPr lang="en-US" altLang="zh-TW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Curation Pipeline</a:t>
                      </a:r>
                    </a:p>
                  </a:txBody>
                  <a:tcPr marL="66317" marR="66317" marT="33158" marB="33158" anchor="ctr">
                    <a:lnL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RSS Feed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altLang="zh-TW" sz="1200" dirty="0" err="1">
                          <a:latin typeface="微軟正黑體"/>
                          <a:ea typeface="微軟正黑體"/>
                        </a:rPr>
                        <a:t>Tavily</a:t>
                      </a:r>
                      <a:r>
                        <a:rPr lang="en-US" altLang="zh-TW" sz="1200" dirty="0">
                          <a:latin typeface="微軟正黑體"/>
                          <a:ea typeface="微軟正黑體"/>
                        </a:rPr>
                        <a:t> Search API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Crawl4AI</a:t>
                      </a:r>
                    </a:p>
                  </a:txBody>
                  <a:tcPr marL="66317" marR="66317" marT="33158" marB="33158" anchor="ctr">
                    <a:lnL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定時抓取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RSS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來源與關鍵字搜尋，並爬取指定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URL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，抽取正文與結構化內容。</a:t>
                      </a:r>
                    </a:p>
                  </a:txBody>
                  <a:tcPr marL="66317" marR="66317" marT="33158" marB="33158" anchor="ctr">
                    <a:lnL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7989340"/>
                  </a:ext>
                </a:extLst>
              </a:tr>
              <a:tr h="213892">
                <a:tc vMerge="1">
                  <a:txBody>
                    <a:bodyPr/>
                    <a:lstStyle/>
                    <a:p>
                      <a:endParaRPr lang="zh-TW" altLang="en-US" sz="1400" b="1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6317" marR="66317" marT="33158" marB="33158" anchor="ctr">
                    <a:lnL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OpenAI API</a:t>
                      </a:r>
                      <a:r>
                        <a:rPr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altLang="zh-TW" sz="120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LangChain</a:t>
                      </a:r>
                      <a:endParaRPr lang="en-US" sz="12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6317" marR="66317" marT="33158" marB="33158" anchor="ctr">
                    <a:lnL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 </a:t>
                      </a:r>
                      <a:r>
                        <a:rPr lang="en-US" altLang="zh-TW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GPT </a:t>
                      </a:r>
                      <a:r>
                        <a:rPr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模型解析文章內容、摘要、分類、評分，協助自動化知識蒐集管線。</a:t>
                      </a:r>
                    </a:p>
                  </a:txBody>
                  <a:tcPr marL="66317" marR="66317" marT="33158" marB="33158" anchor="ctr">
                    <a:lnL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2276188"/>
                  </a:ext>
                </a:extLst>
              </a:tr>
              <a:tr h="213892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Digest Pipeline</a:t>
                      </a:r>
                    </a:p>
                  </a:txBody>
                  <a:tcPr marL="66317" marR="66317" marT="33158" marB="33158" anchor="ctr">
                    <a:lnL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Amazon SES</a:t>
                      </a:r>
                    </a:p>
                  </a:txBody>
                  <a:tcPr marL="66317" marR="66317" marT="33158" marB="33158" anchor="ctr">
                    <a:lnL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對用戶發送 </a:t>
                      </a:r>
                      <a:r>
                        <a:rPr 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Digest Email </a:t>
                      </a:r>
                      <a:r>
                        <a:rPr lang="zh-TW" alt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或系統通知的郵件服務。</a:t>
                      </a:r>
                    </a:p>
                  </a:txBody>
                  <a:tcPr marL="66317" marR="66317" marT="33158" marB="33158" anchor="ctr">
                    <a:lnL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2955896"/>
                  </a:ext>
                </a:extLst>
              </a:tr>
              <a:tr h="213892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Persistence</a:t>
                      </a:r>
                    </a:p>
                  </a:txBody>
                  <a:tcPr marL="66317" marR="66317" marT="33158" marB="33158" anchor="ctr">
                    <a:lnL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MongoDB + Mongoose</a:t>
                      </a:r>
                    </a:p>
                  </a:txBody>
                  <a:tcPr marL="66317" marR="66317" marT="33158" marB="33158" anchor="ctr">
                    <a:lnL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TW" altLang="en-US" sz="1200">
                          <a:latin typeface="微軟正黑體"/>
                          <a:ea typeface="微軟正黑體"/>
                        </a:rPr>
                        <a:t>資料持久化儲存，包含 </a:t>
                      </a:r>
                      <a:r>
                        <a:rPr lang="en-US" sz="1200" err="1">
                          <a:latin typeface="微軟正黑體"/>
                          <a:ea typeface="微軟正黑體"/>
                        </a:rPr>
                        <a:t>User、Article、Assistant、Feed</a:t>
                      </a:r>
                      <a:r>
                        <a:rPr lang="en-US" sz="1200">
                          <a:latin typeface="微軟正黑體"/>
                          <a:ea typeface="微軟正黑體"/>
                        </a:rPr>
                        <a:t> </a:t>
                      </a:r>
                      <a:r>
                        <a:rPr lang="zh-TW" altLang="en-US" sz="1200">
                          <a:latin typeface="微軟正黑體"/>
                          <a:ea typeface="微軟正黑體"/>
                        </a:rPr>
                        <a:t>等資料模型及 </a:t>
                      </a:r>
                      <a:r>
                        <a:rPr lang="en-US" sz="1200">
                          <a:latin typeface="微軟正黑體"/>
                          <a:ea typeface="微軟正黑體"/>
                        </a:rPr>
                        <a:t>ORM </a:t>
                      </a:r>
                      <a:r>
                        <a:rPr lang="zh-TW" altLang="en-US" sz="1200">
                          <a:latin typeface="微軟正黑體"/>
                          <a:ea typeface="微軟正黑體"/>
                        </a:rPr>
                        <a:t>操作。</a:t>
                      </a:r>
                    </a:p>
                  </a:txBody>
                  <a:tcPr marL="66317" marR="66317" marT="33158" marB="33158" anchor="ctr">
                    <a:lnL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657700"/>
                  </a:ext>
                </a:extLst>
              </a:tr>
              <a:tr h="30099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Queues &amp; Workers</a:t>
                      </a:r>
                    </a:p>
                  </a:txBody>
                  <a:tcPr marL="66317" marR="66317" marT="33158" marB="33158" anchor="ctr">
                    <a:lnL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Redis + BullMQ</a:t>
                      </a:r>
                    </a:p>
                  </a:txBody>
                  <a:tcPr marL="66317" marR="66317" marT="33158" marB="33158" anchor="ctr">
                    <a:lnL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管理排程、佇列任務與背景工作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如定時抓取、解析、寄送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email)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。</a:t>
                      </a:r>
                    </a:p>
                  </a:txBody>
                  <a:tcPr marL="66317" marR="66317" marT="33158" marB="33158" anchor="ctr">
                    <a:lnL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4938314"/>
                  </a:ext>
                </a:extLst>
              </a:tr>
            </a:tbl>
          </a:graphicData>
        </a:graphic>
      </p:graphicFrame>
      <p:pic>
        <p:nvPicPr>
          <p:cNvPr id="9" name="圖片 8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528E7537-CAC9-BE25-53CC-4AECE233F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4394" y="775998"/>
            <a:ext cx="7251700" cy="242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525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340F73F-A0E7-175B-AD70-FE4ED143A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dirty="0" err="1"/>
              <a:t>Monorepo</a:t>
            </a:r>
            <a:r>
              <a:rPr lang="en" altLang="zh-TW" dirty="0"/>
              <a:t> </a:t>
            </a:r>
            <a:r>
              <a:rPr lang="zh-TW" altLang="en-US" dirty="0"/>
              <a:t>工程化管理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68D8F0B-B62E-E363-EE3F-16DA8884C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800" b="1" dirty="0"/>
              <a:t>採用 </a:t>
            </a:r>
            <a:r>
              <a:rPr lang="en" altLang="zh-TW" sz="1800" b="1" dirty="0" err="1"/>
              <a:t>Monorepo</a:t>
            </a:r>
            <a:r>
              <a:rPr lang="en" altLang="zh-TW" sz="1800" b="1" dirty="0"/>
              <a:t> </a:t>
            </a:r>
            <a:r>
              <a:rPr lang="zh-TW" altLang="en-US" sz="1800" b="1" dirty="0"/>
              <a:t>的理由</a:t>
            </a:r>
          </a:p>
          <a:p>
            <a:pPr lvl="1"/>
            <a:r>
              <a:rPr lang="zh-TW" altLang="en-US" sz="1600" dirty="0"/>
              <a:t>傳統多 </a:t>
            </a:r>
            <a:r>
              <a:rPr lang="en" altLang="zh-TW" sz="1600" dirty="0"/>
              <a:t>Repo</a:t>
            </a:r>
            <a:r>
              <a:rPr lang="zh-TW" altLang="en" sz="1600" dirty="0"/>
              <a:t>：</a:t>
            </a:r>
            <a:r>
              <a:rPr lang="zh-TW" altLang="en-US" sz="1600" dirty="0"/>
              <a:t>前後端分離維護，版本矩陣複雜，整合成本高</a:t>
            </a:r>
          </a:p>
          <a:p>
            <a:pPr lvl="1">
              <a:spcAft>
                <a:spcPts val="600"/>
              </a:spcAft>
            </a:pPr>
            <a:r>
              <a:rPr lang="en" altLang="zh-TW" sz="1600" dirty="0" err="1"/>
              <a:t>Monorepo</a:t>
            </a:r>
            <a:r>
              <a:rPr lang="en" altLang="zh-TW" sz="1600" dirty="0"/>
              <a:t> </a:t>
            </a:r>
            <a:r>
              <a:rPr lang="zh-TW" altLang="en-US" sz="1600" dirty="0"/>
              <a:t>模式：單一 </a:t>
            </a:r>
            <a:r>
              <a:rPr lang="en" altLang="zh-TW" sz="1600" dirty="0"/>
              <a:t>PR </a:t>
            </a:r>
            <a:r>
              <a:rPr lang="zh-TW" altLang="en-US" sz="1600" dirty="0"/>
              <a:t>涵蓋全端變更，統一審查與發布</a:t>
            </a:r>
          </a:p>
          <a:p>
            <a:r>
              <a:rPr lang="zh-TW" altLang="en-US" sz="1800" b="1" dirty="0"/>
              <a:t>契約同步機制</a:t>
            </a:r>
          </a:p>
          <a:p>
            <a:pPr lvl="1"/>
            <a:r>
              <a:rPr lang="en" altLang="zh-TW" sz="1600" dirty="0" err="1"/>
              <a:t>OpenAPI</a:t>
            </a:r>
            <a:r>
              <a:rPr lang="zh-TW" altLang="en" sz="1600" dirty="0"/>
              <a:t>／</a:t>
            </a:r>
            <a:r>
              <a:rPr lang="en" altLang="zh-TW" sz="1600" dirty="0"/>
              <a:t>DTO </a:t>
            </a:r>
            <a:r>
              <a:rPr lang="zh-TW" altLang="en-US" sz="1600" dirty="0"/>
              <a:t>作為共同語言，</a:t>
            </a:r>
            <a:r>
              <a:rPr lang="en" altLang="zh-TW" sz="1600" dirty="0"/>
              <a:t>API </a:t>
            </a:r>
            <a:r>
              <a:rPr lang="zh-TW" altLang="en-US" sz="1600" dirty="0"/>
              <a:t>變更可被前端即時感知</a:t>
            </a:r>
          </a:p>
          <a:p>
            <a:pPr lvl="1">
              <a:spcAft>
                <a:spcPts val="600"/>
              </a:spcAft>
            </a:pPr>
            <a:r>
              <a:rPr lang="zh-TW" altLang="en-US" sz="1600" dirty="0"/>
              <a:t>減少跨團隊溝通成本與規格認知落差</a:t>
            </a:r>
          </a:p>
          <a:p>
            <a:r>
              <a:rPr lang="zh-TW" altLang="en-US" sz="1800" b="1" dirty="0"/>
              <a:t>共享資源與規範</a:t>
            </a:r>
          </a:p>
          <a:p>
            <a:pPr lvl="1"/>
            <a:r>
              <a:rPr lang="en" altLang="zh-TW" sz="1600" dirty="0"/>
              <a:t>TypeScript </a:t>
            </a:r>
            <a:r>
              <a:rPr lang="zh-TW" altLang="en-US" sz="1600" dirty="0"/>
              <a:t>型別定義前後端共用，避免重複定義</a:t>
            </a:r>
          </a:p>
          <a:p>
            <a:pPr lvl="1">
              <a:spcAft>
                <a:spcPts val="600"/>
              </a:spcAft>
            </a:pPr>
            <a:r>
              <a:rPr lang="en" altLang="zh-TW" sz="1600" dirty="0" err="1"/>
              <a:t>ESLint</a:t>
            </a:r>
            <a:r>
              <a:rPr lang="zh-TW" altLang="en" sz="1600" dirty="0"/>
              <a:t>、</a:t>
            </a:r>
            <a:r>
              <a:rPr lang="zh-TW" altLang="en-US" sz="1600" dirty="0"/>
              <a:t>測試規則統一，維持一致的程式碼品質標準</a:t>
            </a:r>
          </a:p>
          <a:p>
            <a:r>
              <a:rPr lang="zh-TW" altLang="en-US" sz="1800" b="1" dirty="0"/>
              <a:t>發布策略</a:t>
            </a:r>
          </a:p>
          <a:p>
            <a:pPr lvl="1"/>
            <a:r>
              <a:rPr lang="zh-TW" altLang="en-US" sz="1600" dirty="0"/>
              <a:t>前後端綁定發布，避免 </a:t>
            </a:r>
            <a:r>
              <a:rPr lang="en" altLang="zh-TW" sz="1600" dirty="0"/>
              <a:t>API </a:t>
            </a:r>
            <a:r>
              <a:rPr lang="zh-TW" altLang="en-US" sz="1600" dirty="0"/>
              <a:t>變更造成的版本不一致</a:t>
            </a:r>
          </a:p>
          <a:p>
            <a:pPr lvl="1"/>
            <a:r>
              <a:rPr lang="en" altLang="zh-TW" sz="1600" dirty="0"/>
              <a:t>CI </a:t>
            </a:r>
            <a:r>
              <a:rPr lang="zh-TW" altLang="en-US" sz="1600" dirty="0"/>
              <a:t>流程標準化：</a:t>
            </a:r>
            <a:r>
              <a:rPr lang="en" altLang="zh-TW" sz="1600" dirty="0"/>
              <a:t>lint → test → build</a:t>
            </a:r>
            <a:r>
              <a:rPr lang="zh-TW" altLang="en" sz="1600" dirty="0"/>
              <a:t>，</a:t>
            </a:r>
            <a:r>
              <a:rPr lang="zh-TW" altLang="en-US" sz="1600" dirty="0"/>
              <a:t>確保本機與線上行為一致</a:t>
            </a:r>
          </a:p>
          <a:p>
            <a:endParaRPr lang="zh-TW" altLang="en-US" dirty="0"/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F4CD2ED-0E8A-5B6A-8D01-151D0574CB44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6" name="圖片 5" descr="一張含有 文字, 螢幕擷取畫面, 圖表, 字型 的圖片&#10;&#10;AI 產生的內容可能不正確。">
            <a:extLst>
              <a:ext uri="{FF2B5EF4-FFF2-40B4-BE49-F238E27FC236}">
                <a16:creationId xmlns:a16="http://schemas.microsoft.com/office/drawing/2014/main" id="{F8B764DB-D540-CA07-2EE4-4D9702220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988" y="960931"/>
            <a:ext cx="5472112" cy="455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78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38D94-D674-D894-9342-E9FB7A645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AD710AA6-AE59-99B4-710D-12EFBE21C05E}"/>
              </a:ext>
            </a:extLst>
          </p:cNvPr>
          <p:cNvCxnSpPr>
            <a:cxnSpLocks/>
          </p:cNvCxnSpPr>
          <p:nvPr/>
        </p:nvCxnSpPr>
        <p:spPr>
          <a:xfrm>
            <a:off x="761661" y="2581325"/>
            <a:ext cx="0" cy="18402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標題 2">
            <a:extLst>
              <a:ext uri="{FF2B5EF4-FFF2-40B4-BE49-F238E27FC236}">
                <a16:creationId xmlns:a16="http://schemas.microsoft.com/office/drawing/2014/main" id="{AED2970E-5935-39C5-20F3-9592AB2FF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同步與非同步處理流程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822DF69-86DF-EFE7-574D-547F43AF4A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800" b="1" dirty="0"/>
              <a:t>API </a:t>
            </a:r>
            <a:r>
              <a:rPr lang="zh-TW" altLang="en-US" sz="1800" b="1" dirty="0"/>
              <a:t>同步處理</a:t>
            </a:r>
          </a:p>
          <a:p>
            <a:pPr lvl="1"/>
            <a:r>
              <a:rPr lang="zh-TW" altLang="en-US" sz="1600" b="1" dirty="0"/>
              <a:t>職責</a:t>
            </a:r>
            <a:r>
              <a:rPr lang="zh-TW" altLang="en-US" sz="1600" dirty="0"/>
              <a:t>：處理使用者即時操作（來源管理、助理設定、收藏、查詢等）</a:t>
            </a:r>
          </a:p>
          <a:p>
            <a:pPr lvl="1">
              <a:spcAft>
                <a:spcPts val="600"/>
              </a:spcAft>
            </a:pPr>
            <a:r>
              <a:rPr lang="zh-TW" altLang="en-US" sz="1600" b="1" dirty="0"/>
              <a:t>原則</a:t>
            </a:r>
            <a:r>
              <a:rPr lang="zh-TW" altLang="en-US" sz="1600" dirty="0"/>
              <a:t>：低延遲回應，不將長時任務納入請求週期</a:t>
            </a:r>
          </a:p>
          <a:p>
            <a:pPr>
              <a:spcAft>
                <a:spcPts val="600"/>
              </a:spcAft>
            </a:pPr>
            <a:r>
              <a:rPr lang="en-US" altLang="zh-TW" sz="1800" b="1" dirty="0"/>
              <a:t>Worker </a:t>
            </a:r>
            <a:r>
              <a:rPr lang="zh-TW" altLang="en-US" sz="1800" b="1" dirty="0"/>
              <a:t>非同步處理</a:t>
            </a:r>
            <a:endParaRPr lang="en-US" altLang="zh-TW" sz="1800" b="1" dirty="0">
              <a:solidFill>
                <a:schemeClr val="accent1"/>
              </a:solidFill>
            </a:endParaRPr>
          </a:p>
          <a:p>
            <a:pPr marL="36000" indent="0">
              <a:buNone/>
            </a:pPr>
            <a:r>
              <a:rPr lang="en-US" altLang="zh-TW" sz="1800" b="1" dirty="0">
                <a:solidFill>
                  <a:schemeClr val="accent1"/>
                </a:solidFill>
              </a:rPr>
              <a:t>          </a:t>
            </a:r>
            <a:r>
              <a:rPr lang="zh-TW" altLang="en-US" sz="1800" b="1" dirty="0">
                <a:solidFill>
                  <a:schemeClr val="accent1"/>
                </a:solidFill>
              </a:rPr>
              <a:t>    </a:t>
            </a:r>
            <a:r>
              <a:rPr lang="en-US" altLang="zh-TW" sz="1800" b="1" dirty="0">
                <a:solidFill>
                  <a:schemeClr val="accent1"/>
                </a:solidFill>
              </a:rPr>
              <a:t>Stage 1 – Ingestion</a:t>
            </a:r>
          </a:p>
          <a:p>
            <a:pPr marL="36000" indent="0">
              <a:spcAft>
                <a:spcPts val="600"/>
              </a:spcAft>
              <a:buNone/>
            </a:pPr>
            <a:r>
              <a:rPr lang="en-US" altLang="zh-TW" dirty="0"/>
              <a:t>           </a:t>
            </a:r>
            <a:r>
              <a:rPr lang="zh-TW" altLang="en-US" dirty="0"/>
              <a:t>     </a:t>
            </a:r>
            <a:r>
              <a:rPr lang="zh-TW" altLang="en-US" i="1" dirty="0"/>
              <a:t>抓取 → 解析 → 標準化 → 去重 → 文章入庫</a:t>
            </a:r>
            <a:endParaRPr lang="en-US" altLang="zh-TW" i="1" dirty="0"/>
          </a:p>
          <a:p>
            <a:pPr marL="36000" indent="0">
              <a:buNone/>
            </a:pPr>
            <a:r>
              <a:rPr lang="en-US" altLang="zh-TW" sz="1800" b="1" dirty="0">
                <a:solidFill>
                  <a:schemeClr val="accent1"/>
                </a:solidFill>
              </a:rPr>
              <a:t>          </a:t>
            </a:r>
            <a:r>
              <a:rPr lang="zh-TW" altLang="en-US" sz="1800" b="1" dirty="0">
                <a:solidFill>
                  <a:schemeClr val="accent1"/>
                </a:solidFill>
              </a:rPr>
              <a:t>    </a:t>
            </a:r>
            <a:r>
              <a:rPr lang="en-US" altLang="zh-TW" sz="1800" b="1" dirty="0">
                <a:solidFill>
                  <a:schemeClr val="accent1"/>
                </a:solidFill>
              </a:rPr>
              <a:t>Stage 2 – Curation</a:t>
            </a:r>
          </a:p>
          <a:p>
            <a:pPr marL="36000" indent="0">
              <a:spcAft>
                <a:spcPts val="600"/>
              </a:spcAft>
              <a:buNone/>
            </a:pPr>
            <a:r>
              <a:rPr lang="en" altLang="zh-TW" dirty="0"/>
              <a:t>           </a:t>
            </a:r>
            <a:r>
              <a:rPr lang="zh-TW" altLang="en-US" dirty="0"/>
              <a:t>     </a:t>
            </a:r>
            <a:r>
              <a:rPr lang="en" altLang="zh-TW" i="1" dirty="0"/>
              <a:t>LLM </a:t>
            </a:r>
            <a:r>
              <a:rPr lang="zh-TW" altLang="en-US" i="1" dirty="0"/>
              <a:t>摘要與評分 → 寫入策展結果</a:t>
            </a:r>
            <a:endParaRPr lang="en-US" altLang="zh-TW" i="1" dirty="0"/>
          </a:p>
          <a:p>
            <a:pPr marL="36000" indent="0">
              <a:buNone/>
            </a:pPr>
            <a:r>
              <a:rPr lang="en-US" altLang="zh-TW" sz="1800" b="1" dirty="0">
                <a:solidFill>
                  <a:schemeClr val="accent1"/>
                </a:solidFill>
              </a:rPr>
              <a:t>          </a:t>
            </a:r>
            <a:r>
              <a:rPr lang="zh-TW" altLang="en-US" sz="1800" b="1" dirty="0">
                <a:solidFill>
                  <a:schemeClr val="accent1"/>
                </a:solidFill>
              </a:rPr>
              <a:t>    </a:t>
            </a:r>
            <a:r>
              <a:rPr lang="en-US" altLang="zh-TW" sz="1800" b="1" dirty="0">
                <a:solidFill>
                  <a:schemeClr val="accent1"/>
                </a:solidFill>
              </a:rPr>
              <a:t>Stage 3 – Delivery</a:t>
            </a:r>
          </a:p>
          <a:p>
            <a:pPr marL="36000" indent="0">
              <a:spcAft>
                <a:spcPts val="1200"/>
              </a:spcAft>
              <a:buNone/>
            </a:pPr>
            <a:r>
              <a:rPr lang="en-US" altLang="zh-TW" dirty="0"/>
              <a:t>           </a:t>
            </a:r>
            <a:r>
              <a:rPr lang="zh-TW" altLang="en-US" dirty="0"/>
              <a:t>     </a:t>
            </a:r>
            <a:r>
              <a:rPr lang="zh-TW" altLang="en-US" i="1" dirty="0"/>
              <a:t>組裝摘要 → 產生郵件任務 → 寄送並追蹤</a:t>
            </a:r>
            <a:endParaRPr lang="en-US" altLang="zh-TW" sz="1800" dirty="0"/>
          </a:p>
          <a:p>
            <a:r>
              <a:rPr lang="zh-TW" altLang="en-US" sz="1800" b="1" dirty="0"/>
              <a:t>觸發機制</a:t>
            </a:r>
          </a:p>
          <a:p>
            <a:pPr lvl="1"/>
            <a:r>
              <a:rPr lang="zh-TW" altLang="en-US" sz="1600" b="1" dirty="0"/>
              <a:t>定時排程</a:t>
            </a:r>
            <a:r>
              <a:rPr lang="zh-TW" altLang="en-US" sz="1600" dirty="0"/>
              <a:t>：週期性觸發抓取任務、每日上午寄送摘要</a:t>
            </a:r>
          </a:p>
          <a:p>
            <a:pPr lvl="1"/>
            <a:r>
              <a:rPr lang="zh-TW" altLang="en-US" sz="1600" b="1" dirty="0"/>
              <a:t>事件驅動</a:t>
            </a:r>
            <a:r>
              <a:rPr lang="zh-TW" altLang="en-US" sz="1600" dirty="0"/>
              <a:t>：上游階段完成後自動 </a:t>
            </a:r>
            <a:r>
              <a:rPr lang="en" altLang="zh-TW" sz="1600" dirty="0"/>
              <a:t>enqueue </a:t>
            </a:r>
            <a:r>
              <a:rPr lang="zh-TW" altLang="en-US" sz="1600" dirty="0"/>
              <a:t>下游任務，形成端到端處理鏈路</a:t>
            </a: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F0A56A8C-B262-9032-C53D-141883937385}"/>
              </a:ext>
            </a:extLst>
          </p:cNvPr>
          <p:cNvSpPr>
            <a:spLocks noChangeAspect="1"/>
          </p:cNvSpPr>
          <p:nvPr/>
        </p:nvSpPr>
        <p:spPr>
          <a:xfrm>
            <a:off x="611671" y="2332395"/>
            <a:ext cx="286615" cy="288000"/>
          </a:xfrm>
          <a:prstGeom prst="ellipse">
            <a:avLst/>
          </a:prstGeom>
          <a:solidFill>
            <a:schemeClr val="accent1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1800" dirty="0">
                <a:solidFill>
                  <a:schemeClr val="bg1"/>
                </a:solidFill>
              </a:rPr>
              <a:t>1</a:t>
            </a:r>
            <a:endParaRPr kumimoji="1" lang="zh-TW" altLang="en-US" sz="1800" dirty="0">
              <a:solidFill>
                <a:schemeClr val="bg1"/>
              </a:solidFill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CC13FBBC-7453-8C59-56DE-C19A57F40FBA}"/>
              </a:ext>
            </a:extLst>
          </p:cNvPr>
          <p:cNvSpPr>
            <a:spLocks noChangeAspect="1"/>
          </p:cNvSpPr>
          <p:nvPr/>
        </p:nvSpPr>
        <p:spPr>
          <a:xfrm>
            <a:off x="611670" y="3072840"/>
            <a:ext cx="286615" cy="288000"/>
          </a:xfrm>
          <a:prstGeom prst="ellipse">
            <a:avLst/>
          </a:prstGeom>
          <a:solidFill>
            <a:schemeClr val="accent1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1800" dirty="0">
                <a:solidFill>
                  <a:schemeClr val="bg1"/>
                </a:solidFill>
              </a:rPr>
              <a:t>2</a:t>
            </a:r>
            <a:endParaRPr kumimoji="1" lang="zh-TW" altLang="en-US" sz="1800" dirty="0">
              <a:solidFill>
                <a:schemeClr val="bg1"/>
              </a:solidFill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BFDFC59F-F981-5287-AB3E-508CE8B94B40}"/>
              </a:ext>
            </a:extLst>
          </p:cNvPr>
          <p:cNvSpPr>
            <a:spLocks noChangeAspect="1"/>
          </p:cNvSpPr>
          <p:nvPr/>
        </p:nvSpPr>
        <p:spPr>
          <a:xfrm>
            <a:off x="611670" y="3813286"/>
            <a:ext cx="286615" cy="288000"/>
          </a:xfrm>
          <a:prstGeom prst="ellipse">
            <a:avLst/>
          </a:prstGeom>
          <a:solidFill>
            <a:schemeClr val="accent1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1800" dirty="0">
                <a:solidFill>
                  <a:schemeClr val="bg1"/>
                </a:solidFill>
              </a:rPr>
              <a:t>3</a:t>
            </a:r>
            <a:endParaRPr kumimoji="1" lang="zh-TW" alt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9029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31E81-87AE-EE24-A912-5C5114D17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03E6876D-EF75-3D46-BCAD-12B64AED6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任務佇列與可靠性設計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11580F0-617B-47D7-0B9D-F0DDC38A86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800" b="1" dirty="0"/>
              <a:t>任務佇列（</a:t>
            </a:r>
            <a:r>
              <a:rPr lang="en-US" altLang="zh-TW" sz="1800" b="1" dirty="0"/>
              <a:t>Job Queue</a:t>
            </a:r>
            <a:r>
              <a:rPr lang="zh-TW" altLang="en-US" sz="1800" b="1" dirty="0"/>
              <a:t>）</a:t>
            </a:r>
            <a:endParaRPr lang="en-US" altLang="zh-TW" sz="1800" b="1" dirty="0"/>
          </a:p>
          <a:p>
            <a:pPr lvl="1"/>
            <a:r>
              <a:rPr lang="zh-TW" altLang="en-US" sz="1600" b="1" dirty="0"/>
              <a:t>概念</a:t>
            </a:r>
            <a:r>
              <a:rPr lang="zh-TW" altLang="en-US" sz="1600" dirty="0"/>
              <a:t>：將任務封裝為可排隊的</a:t>
            </a:r>
            <a:r>
              <a:rPr lang="en-US" altLang="zh-TW" sz="1600" dirty="0"/>
              <a:t> </a:t>
            </a:r>
            <a:r>
              <a:rPr lang="en" altLang="zh-TW" sz="1600" dirty="0"/>
              <a:t>Job</a:t>
            </a:r>
            <a:r>
              <a:rPr lang="zh-TW" altLang="en" sz="1600" dirty="0"/>
              <a:t>，</a:t>
            </a:r>
            <a:r>
              <a:rPr lang="zh-TW" altLang="en-US" sz="1600" dirty="0"/>
              <a:t>由 </a:t>
            </a:r>
            <a:r>
              <a:rPr lang="en" altLang="zh-TW" sz="1600" dirty="0"/>
              <a:t>Worker </a:t>
            </a:r>
            <a:r>
              <a:rPr lang="zh-TW" altLang="en-US" sz="1600" dirty="0"/>
              <a:t>非同步處理</a:t>
            </a:r>
            <a:endParaRPr lang="en-US" altLang="zh-TW" sz="1600" dirty="0"/>
          </a:p>
          <a:p>
            <a:pPr lvl="1">
              <a:spcAft>
                <a:spcPts val="600"/>
              </a:spcAft>
            </a:pPr>
            <a:r>
              <a:rPr lang="zh-TW" altLang="en-US" sz="1600" b="1" dirty="0"/>
              <a:t>處理流程</a:t>
            </a:r>
            <a:r>
              <a:rPr lang="zh-TW" altLang="en-US" sz="1600" dirty="0"/>
              <a:t>：</a:t>
            </a:r>
            <a:r>
              <a:rPr lang="en" altLang="zh-TW" sz="1600" dirty="0"/>
              <a:t>Enqueue → Worker </a:t>
            </a:r>
            <a:r>
              <a:rPr lang="zh-TW" altLang="en-US" sz="1600" dirty="0"/>
              <a:t>認領任務 → 執行 → 完成／失敗</a:t>
            </a:r>
            <a:endParaRPr lang="en-US" altLang="zh-TW" sz="1600" dirty="0"/>
          </a:p>
          <a:p>
            <a:r>
              <a:rPr lang="zh-TW" altLang="en-US" sz="1800" b="1" dirty="0"/>
              <a:t>採用佇列的優勢</a:t>
            </a:r>
            <a:endParaRPr lang="en-US" altLang="zh-TW" sz="1800" b="1" dirty="0"/>
          </a:p>
          <a:p>
            <a:pPr lvl="1"/>
            <a:r>
              <a:rPr lang="zh-TW" altLang="en-US" sz="1600" b="1" dirty="0"/>
              <a:t>解耦請求與處理</a:t>
            </a:r>
            <a:r>
              <a:rPr lang="zh-TW" altLang="en-US" sz="1600" dirty="0"/>
              <a:t>：長時任務不阻塞 </a:t>
            </a:r>
            <a:r>
              <a:rPr lang="en" altLang="zh-TW" sz="1600" dirty="0"/>
              <a:t>API </a:t>
            </a:r>
            <a:r>
              <a:rPr lang="zh-TW" altLang="en-US" sz="1600" dirty="0"/>
              <a:t>回應</a:t>
            </a:r>
            <a:endParaRPr lang="en-US" altLang="zh-TW" sz="1600" dirty="0"/>
          </a:p>
          <a:p>
            <a:pPr lvl="1"/>
            <a:r>
              <a:rPr lang="zh-TW" altLang="en-US" sz="1600" b="1" dirty="0"/>
              <a:t>故障隔離</a:t>
            </a:r>
            <a:r>
              <a:rPr lang="zh-TW" altLang="en-US" sz="1600" dirty="0"/>
              <a:t>：單一任務失敗不影響系統整體可用性</a:t>
            </a:r>
            <a:endParaRPr lang="en-US" altLang="zh-TW" sz="1600" dirty="0"/>
          </a:p>
          <a:p>
            <a:pPr lvl="1">
              <a:spcAft>
                <a:spcPts val="600"/>
              </a:spcAft>
            </a:pPr>
            <a:r>
              <a:rPr lang="zh-TW" altLang="en-US" sz="1600" b="1" dirty="0"/>
              <a:t>流量削峰</a:t>
            </a:r>
            <a:r>
              <a:rPr lang="zh-TW" altLang="en-US" sz="1600" dirty="0"/>
              <a:t>：需要處理大量任務時可排隊緩衝，避免瞬間過載</a:t>
            </a:r>
            <a:endParaRPr lang="en-US" altLang="zh-TW" sz="1600" dirty="0"/>
          </a:p>
          <a:p>
            <a:r>
              <a:rPr lang="zh-TW" altLang="en-US" sz="1800" b="1" dirty="0"/>
              <a:t>冪等性與可靠性設計</a:t>
            </a:r>
          </a:p>
          <a:p>
            <a:pPr lvl="1"/>
            <a:r>
              <a:rPr lang="zh-TW" altLang="en-US" sz="1600" b="1" dirty="0"/>
              <a:t>挑戰</a:t>
            </a:r>
            <a:r>
              <a:rPr lang="zh-TW" altLang="en-US" sz="1600" dirty="0"/>
              <a:t>：</a:t>
            </a:r>
            <a:r>
              <a:rPr lang="en" altLang="zh-TW" sz="1600" dirty="0"/>
              <a:t>at-least-once </a:t>
            </a:r>
            <a:r>
              <a:rPr lang="zh-TW" altLang="en-US" sz="1600" dirty="0"/>
              <a:t>情境下，任務可能重複執行</a:t>
            </a:r>
          </a:p>
          <a:p>
            <a:pPr lvl="1"/>
            <a:r>
              <a:rPr lang="zh-TW" altLang="en-US" sz="1600" b="1" dirty="0"/>
              <a:t>解法</a:t>
            </a:r>
            <a:r>
              <a:rPr lang="zh-TW" altLang="en-US" sz="1600" dirty="0"/>
              <a:t>：以唯一識別碼（如文章連結）確保冪等，避免重複寫入或寄送</a:t>
            </a:r>
          </a:p>
          <a:p>
            <a:pPr lvl="1"/>
            <a:r>
              <a:rPr lang="zh-TW" altLang="en-US" sz="1600" b="1" dirty="0"/>
              <a:t>死信處理</a:t>
            </a:r>
            <a:r>
              <a:rPr lang="zh-TW" altLang="en-US" sz="1600" dirty="0"/>
              <a:t>：永久失敗的任務進入死信佇列，可人工檢視後重新處理</a:t>
            </a:r>
          </a:p>
        </p:txBody>
      </p:sp>
      <p:pic>
        <p:nvPicPr>
          <p:cNvPr id="7" name="圖片 6" descr="一張含有 寫生, 圖表, 文字, 螢幕擷取畫面 的圖片&#10;&#10;AI 產生的內容可能不正確。">
            <a:extLst>
              <a:ext uri="{FF2B5EF4-FFF2-40B4-BE49-F238E27FC236}">
                <a16:creationId xmlns:a16="http://schemas.microsoft.com/office/drawing/2014/main" id="{72751714-A484-3E5B-A9DB-217B2D331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0926" y="1109887"/>
            <a:ext cx="3870967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881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F2F12-3D9B-13A1-98FE-EFE464B97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65F3999-D388-0E99-A718-342E24CE3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智能助理與策展機制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CD6ABFF-052F-897D-6518-54FA60EBC0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800" b="1" dirty="0"/>
              <a:t>助理定義</a:t>
            </a:r>
          </a:p>
          <a:p>
            <a:pPr lvl="1"/>
            <a:r>
              <a:rPr lang="zh-TW" altLang="en-US" sz="1600" dirty="0"/>
              <a:t>可被訂閱的策展單位，將「什麼資訊重要」固化為可執行規則</a:t>
            </a:r>
          </a:p>
          <a:p>
            <a:pPr lvl="1">
              <a:spcAft>
                <a:spcPts val="600"/>
              </a:spcAft>
            </a:pPr>
            <a:r>
              <a:rPr lang="zh-TW" altLang="en-US" sz="1600" dirty="0"/>
              <a:t>不同助理代表不同視角：產品趨勢、技術新知、競品動態等</a:t>
            </a:r>
          </a:p>
          <a:p>
            <a:r>
              <a:rPr lang="zh-TW" altLang="en-US" sz="1800" b="1" dirty="0"/>
              <a:t>三個控制維度</a:t>
            </a:r>
          </a:p>
          <a:p>
            <a:pPr lvl="1"/>
            <a:r>
              <a:rPr lang="en-US" altLang="zh-TW" sz="1600" dirty="0"/>
              <a:t>I</a:t>
            </a:r>
            <a:r>
              <a:rPr lang="en" altLang="zh-TW" sz="1600" b="1" dirty="0" err="1"/>
              <a:t>nstructions</a:t>
            </a:r>
            <a:r>
              <a:rPr lang="zh-TW" altLang="en" sz="1600" dirty="0"/>
              <a:t>：</a:t>
            </a:r>
            <a:r>
              <a:rPr lang="zh-TW" altLang="en-US" sz="1600" dirty="0"/>
              <a:t>以自然語言定義判斷準則，設定收錄文章條件</a:t>
            </a:r>
          </a:p>
          <a:p>
            <a:pPr lvl="1"/>
            <a:r>
              <a:rPr lang="en" altLang="zh-TW" sz="1600" b="1" dirty="0"/>
              <a:t>Feed Ids</a:t>
            </a:r>
            <a:r>
              <a:rPr lang="zh-TW" altLang="en" sz="1600" dirty="0"/>
              <a:t>：</a:t>
            </a:r>
            <a:r>
              <a:rPr lang="zh-TW" altLang="en-US" sz="1600" dirty="0"/>
              <a:t>限定評估來源範圍，先控成本再降噪音</a:t>
            </a:r>
          </a:p>
          <a:p>
            <a:pPr lvl="1">
              <a:spcAft>
                <a:spcPts val="600"/>
              </a:spcAft>
            </a:pPr>
            <a:r>
              <a:rPr lang="en" altLang="zh-TW" sz="1600" b="1" dirty="0"/>
              <a:t>Score</a:t>
            </a:r>
            <a:r>
              <a:rPr lang="zh-TW" altLang="en-US" sz="1600" b="1" dirty="0"/>
              <a:t> </a:t>
            </a:r>
            <a:r>
              <a:rPr lang="en" altLang="zh-TW" sz="1600" b="1" dirty="0"/>
              <a:t>Threshold</a:t>
            </a:r>
            <a:r>
              <a:rPr lang="zh-TW" altLang="en" sz="1600" dirty="0"/>
              <a:t>：</a:t>
            </a:r>
            <a:r>
              <a:rPr lang="zh-TW" altLang="en-US" sz="1600" dirty="0"/>
              <a:t>獨立門檻設定，不同主題可採用不同精準度策略</a:t>
            </a:r>
          </a:p>
          <a:p>
            <a:r>
              <a:rPr lang="zh-TW" altLang="en-US" sz="1800" b="1" dirty="0"/>
              <a:t>成本與品質控管</a:t>
            </a:r>
          </a:p>
          <a:p>
            <a:pPr lvl="1"/>
            <a:r>
              <a:rPr lang="zh-TW" altLang="en-US" sz="1600" b="1" dirty="0"/>
              <a:t>成本面</a:t>
            </a:r>
            <a:r>
              <a:rPr lang="zh-TW" altLang="en-US" sz="1600" dirty="0"/>
              <a:t>：縮小來源範圍（</a:t>
            </a:r>
            <a:r>
              <a:rPr lang="en" altLang="zh-TW" sz="1600" dirty="0"/>
              <a:t>Feed Ids</a:t>
            </a:r>
            <a:r>
              <a:rPr lang="zh-TW" altLang="en" sz="1600" dirty="0"/>
              <a:t>）→ </a:t>
            </a:r>
            <a:r>
              <a:rPr lang="zh-TW" altLang="en-US" sz="1600" dirty="0"/>
              <a:t>前置過濾（規則</a:t>
            </a:r>
            <a:r>
              <a:rPr lang="en-US" altLang="zh-TW" sz="1600" dirty="0"/>
              <a:t>/</a:t>
            </a:r>
            <a:r>
              <a:rPr lang="zh-TW" altLang="en-US" sz="1600" dirty="0"/>
              <a:t>去重</a:t>
            </a:r>
            <a:r>
              <a:rPr lang="en-US" altLang="zh-TW" sz="1600" dirty="0"/>
              <a:t>/</a:t>
            </a:r>
            <a:r>
              <a:rPr lang="zh-TW" altLang="en-US" sz="1600" dirty="0"/>
              <a:t>快取）</a:t>
            </a:r>
            <a:br>
              <a:rPr lang="en-US" altLang="zh-TW" sz="1600" dirty="0"/>
            </a:br>
            <a:r>
              <a:rPr lang="en-US" altLang="zh-TW" sz="1600" dirty="0"/>
              <a:t>                </a:t>
            </a:r>
            <a:r>
              <a:rPr lang="zh-TW" altLang="en-US" sz="1600" dirty="0"/>
              <a:t>→ 減少 </a:t>
            </a:r>
            <a:r>
              <a:rPr lang="en" altLang="zh-TW" sz="1600" dirty="0"/>
              <a:t>LLM </a:t>
            </a:r>
            <a:r>
              <a:rPr lang="zh-TW" altLang="en-US" sz="1600" dirty="0"/>
              <a:t>呼叫次數</a:t>
            </a:r>
            <a:endParaRPr lang="en-US" altLang="zh-TW" sz="1600" dirty="0"/>
          </a:p>
          <a:p>
            <a:pPr lvl="1">
              <a:spcAft>
                <a:spcPts val="600"/>
              </a:spcAft>
            </a:pPr>
            <a:r>
              <a:rPr lang="zh-TW" altLang="en-US" sz="1600" b="1" dirty="0"/>
              <a:t>品質面</a:t>
            </a:r>
            <a:r>
              <a:rPr lang="zh-TW" altLang="en-US" sz="1600" dirty="0"/>
              <a:t>：保留評分理由與追蹤資料，支援後續回測與規則調整</a:t>
            </a:r>
          </a:p>
          <a:p>
            <a:r>
              <a:rPr lang="zh-TW" altLang="en-US" sz="1800" b="1" dirty="0"/>
              <a:t>策展產出</a:t>
            </a:r>
          </a:p>
          <a:p>
            <a:pPr lvl="1"/>
            <a:r>
              <a:rPr lang="zh-TW" altLang="en-US" sz="1600" b="1" dirty="0"/>
              <a:t>記錄每篇文章的策展結果</a:t>
            </a:r>
            <a:r>
              <a:rPr lang="zh-TW" altLang="en-US" sz="1600" dirty="0"/>
              <a:t>：收錄助理、評分理由、分數</a:t>
            </a:r>
          </a:p>
          <a:p>
            <a:pPr lvl="1"/>
            <a:r>
              <a:rPr lang="zh-TW" altLang="en-US" sz="1600" b="1" dirty="0"/>
              <a:t>組裝訂閱者的 </a:t>
            </a:r>
            <a:r>
              <a:rPr lang="en-US" altLang="zh-TW" sz="1600" b="1" dirty="0"/>
              <a:t>Daily Digest</a:t>
            </a:r>
            <a:r>
              <a:rPr lang="zh-TW" altLang="en-US" sz="1600" dirty="0"/>
              <a:t>：訂閱助理 → 取得精選文章 → 組合推送</a:t>
            </a:r>
          </a:p>
        </p:txBody>
      </p:sp>
      <p:pic>
        <p:nvPicPr>
          <p:cNvPr id="5" name="圖片 4" descr="一張含有 文字, 螢幕擷取畫面, 軟體, 數字 的圖片&#10;&#10;AI 產生的內容可能不正確。">
            <a:extLst>
              <a:ext uri="{FF2B5EF4-FFF2-40B4-BE49-F238E27FC236}">
                <a16:creationId xmlns:a16="http://schemas.microsoft.com/office/drawing/2014/main" id="{5CF84E04-CC11-2DE1-97DE-AE7AF1A2B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7674" y="988062"/>
            <a:ext cx="3725840" cy="4294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338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190F5-0570-FDF2-7718-2FD920E19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98FA806-ADCF-F10C-1C3A-49F4BD28C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LLM</a:t>
            </a:r>
            <a:r>
              <a:rPr lang="zh-TW" altLang="en-US" dirty="0"/>
              <a:t> 評估與結構化輸出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068DD65-55B8-4536-9885-DA7FF3B2D7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800" b="1" dirty="0"/>
              <a:t>設計目標</a:t>
            </a:r>
            <a:r>
              <a:rPr lang="zh-TW" altLang="en-US" sz="1800" dirty="0"/>
              <a:t>：將 </a:t>
            </a:r>
            <a:r>
              <a:rPr lang="en" altLang="zh-TW" sz="1800" dirty="0"/>
              <a:t>LLM </a:t>
            </a:r>
            <a:r>
              <a:rPr lang="zh-TW" altLang="en-US" sz="1800" dirty="0"/>
              <a:t>不確定性轉化為可驗證、可追蹤的決策流程</a:t>
            </a:r>
          </a:p>
          <a:p>
            <a:r>
              <a:rPr lang="zh-TW" altLang="en-US" sz="1800" b="1" dirty="0"/>
              <a:t>輸入控制</a:t>
            </a:r>
            <a:endParaRPr lang="en-US" altLang="zh-TW" sz="1800" b="1" dirty="0"/>
          </a:p>
          <a:p>
            <a:pPr lvl="1"/>
            <a:r>
              <a:rPr lang="zh-TW" altLang="en-US" sz="1600" dirty="0"/>
              <a:t>僅評估助理範圍內的文章，減少 </a:t>
            </a:r>
            <a:r>
              <a:rPr lang="en" altLang="zh-TW" sz="1600" dirty="0"/>
              <a:t>token </a:t>
            </a:r>
            <a:r>
              <a:rPr lang="zh-TW" altLang="en-US" sz="1600" dirty="0"/>
              <a:t>消耗</a:t>
            </a:r>
            <a:endParaRPr lang="en-US" altLang="zh-TW" sz="1600" dirty="0"/>
          </a:p>
          <a:p>
            <a:pPr lvl="1"/>
            <a:r>
              <a:rPr lang="zh-TW" altLang="en-US" sz="1600" dirty="0"/>
              <a:t>將 </a:t>
            </a:r>
            <a:r>
              <a:rPr lang="en" altLang="zh-TW" sz="1600" dirty="0"/>
              <a:t>Instructions </a:t>
            </a:r>
            <a:r>
              <a:rPr lang="zh-TW" altLang="en-US" sz="1600" dirty="0"/>
              <a:t>與</a:t>
            </a:r>
            <a:r>
              <a:rPr lang="en-US" altLang="zh-TW" sz="1600" dirty="0"/>
              <a:t> Score Threshold </a:t>
            </a:r>
            <a:r>
              <a:rPr lang="zh-TW" altLang="en-US" sz="1600" dirty="0"/>
              <a:t>作為明確的評估上下文</a:t>
            </a:r>
          </a:p>
          <a:p>
            <a:r>
              <a:rPr lang="zh-TW" altLang="en-US" sz="1800" b="1" dirty="0"/>
              <a:t>結構化輸出</a:t>
            </a:r>
            <a:endParaRPr lang="en-US" altLang="zh-TW" sz="1800" b="1" dirty="0"/>
          </a:p>
          <a:p>
            <a:pPr lvl="1"/>
            <a:r>
              <a:rPr lang="zh-TW" altLang="en-US" sz="1600" dirty="0"/>
              <a:t>透過 </a:t>
            </a:r>
            <a:r>
              <a:rPr lang="en" altLang="zh-TW" sz="1600" dirty="0"/>
              <a:t>Schema </a:t>
            </a:r>
            <a:r>
              <a:rPr lang="zh-TW" altLang="en-US" sz="1600" dirty="0"/>
              <a:t>約束回傳 </a:t>
            </a:r>
            <a:r>
              <a:rPr lang="en" altLang="zh-TW" sz="1600" dirty="0"/>
              <a:t>JSON </a:t>
            </a:r>
            <a:r>
              <a:rPr lang="zh-TW" altLang="en-US" sz="1600" dirty="0"/>
              <a:t>格式，確保解析穩定性</a:t>
            </a:r>
            <a:endParaRPr lang="en-US" altLang="zh-TW" sz="1600" dirty="0"/>
          </a:p>
          <a:p>
            <a:pPr lvl="1"/>
            <a:r>
              <a:rPr lang="zh-TW" altLang="en-US" sz="1600" dirty="0"/>
              <a:t>必要欄位：</a:t>
            </a:r>
            <a:r>
              <a:rPr lang="en-US" altLang="zh-TW" sz="1600" dirty="0"/>
              <a:t>S</a:t>
            </a:r>
            <a:r>
              <a:rPr lang="en" altLang="zh-TW" sz="1600" dirty="0"/>
              <a:t>core</a:t>
            </a:r>
            <a:r>
              <a:rPr lang="zh-TW" altLang="en" sz="1600" dirty="0"/>
              <a:t>（</a:t>
            </a:r>
            <a:r>
              <a:rPr lang="en" altLang="zh-TW" sz="1600" dirty="0"/>
              <a:t>0.00–1.00</a:t>
            </a:r>
            <a:r>
              <a:rPr lang="zh-TW" altLang="en" sz="1600" dirty="0"/>
              <a:t>）、</a:t>
            </a:r>
            <a:r>
              <a:rPr lang="en" altLang="zh-TW" sz="1600" dirty="0"/>
              <a:t>Reason</a:t>
            </a:r>
            <a:r>
              <a:rPr lang="zh-TW" altLang="en" sz="1600" dirty="0"/>
              <a:t>（</a:t>
            </a:r>
            <a:r>
              <a:rPr lang="zh-TW" altLang="en-US" sz="1600" dirty="0"/>
              <a:t>判斷理由）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F392826D-D77B-A81D-BA73-DBEA3E964572}"/>
              </a:ext>
            </a:extLst>
          </p:cNvPr>
          <p:cNvSpPr txBox="1"/>
          <p:nvPr/>
        </p:nvSpPr>
        <p:spPr>
          <a:xfrm>
            <a:off x="720244" y="3289843"/>
            <a:ext cx="10080000" cy="24929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r>
              <a:rPr kumimoji="1" lang="en" altLang="zh-TW" sz="1200" dirty="0">
                <a:latin typeface="Consolas" panose="020B0609020204030204" pitchFamily="49" charset="0"/>
                <a:cs typeface="Consolas" panose="020B0609020204030204" pitchFamily="49" charset="0"/>
              </a:rPr>
              <a:t>You are an assistant that decides whether an article should be collected based on user-defined rules.</a:t>
            </a:r>
          </a:p>
          <a:p>
            <a:endParaRPr kumimoji="1" lang="en" altLang="zh-TW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" altLang="zh-TW" sz="1200" dirty="0">
                <a:latin typeface="Consolas" panose="020B0609020204030204" pitchFamily="49" charset="0"/>
                <a:cs typeface="Consolas" panose="020B0609020204030204" pitchFamily="49" charset="0"/>
              </a:rPr>
              <a:t>Read the following article and assign a relevance score between 0.00 and 1.00 (rounded to two decimal places) based on how well it matches the collection rules. The score is a continuous scale and not limited to specific values.</a:t>
            </a:r>
          </a:p>
          <a:p>
            <a:endParaRPr kumimoji="1" lang="en" altLang="zh-TW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" altLang="zh-TW" sz="1200" dirty="0">
                <a:latin typeface="Consolas" panose="020B0609020204030204" pitchFamily="49" charset="0"/>
                <a:cs typeface="Consolas" panose="020B0609020204030204" pitchFamily="49" charset="0"/>
              </a:rPr>
              <a:t>Scoring guidelines:</a:t>
            </a:r>
          </a:p>
          <a:p>
            <a:r>
              <a:rPr kumimoji="1" lang="en" altLang="zh-TW" sz="1200" dirty="0">
                <a:latin typeface="Consolas" panose="020B0609020204030204" pitchFamily="49" charset="0"/>
                <a:cs typeface="Consolas" panose="020B0609020204030204" pitchFamily="49" charset="0"/>
              </a:rPr>
              <a:t>- 0.00-0.20 → Irrelevant or off-topic</a:t>
            </a:r>
          </a:p>
          <a:p>
            <a:r>
              <a:rPr kumimoji="1" lang="en" altLang="zh-TW" sz="1200" dirty="0">
                <a:latin typeface="Consolas" panose="020B0609020204030204" pitchFamily="49" charset="0"/>
                <a:cs typeface="Consolas" panose="020B0609020204030204" pitchFamily="49" charset="0"/>
              </a:rPr>
              <a:t>- 0.20-0.40 → Weakly related, minimal useful information</a:t>
            </a:r>
          </a:p>
          <a:p>
            <a:r>
              <a:rPr kumimoji="1" lang="en" altLang="zh-TW" sz="1200" dirty="0">
                <a:latin typeface="Consolas" panose="020B0609020204030204" pitchFamily="49" charset="0"/>
                <a:cs typeface="Consolas" panose="020B0609020204030204" pitchFamily="49" charset="0"/>
              </a:rPr>
              <a:t>- 0.40-0.60 → Somewhat related, partial relevance</a:t>
            </a:r>
          </a:p>
          <a:p>
            <a:r>
              <a:rPr kumimoji="1" lang="en" altLang="zh-TW" sz="1200" dirty="0">
                <a:latin typeface="Consolas" panose="020B0609020204030204" pitchFamily="49" charset="0"/>
                <a:cs typeface="Consolas" panose="020B0609020204030204" pitchFamily="49" charset="0"/>
              </a:rPr>
              <a:t>- 0.60-0.80 → Strongly related, mostly relevant</a:t>
            </a:r>
          </a:p>
          <a:p>
            <a:r>
              <a:rPr kumimoji="1" lang="en" altLang="zh-TW" sz="1200" dirty="0">
                <a:latin typeface="Consolas" panose="020B0609020204030204" pitchFamily="49" charset="0"/>
                <a:cs typeface="Consolas" panose="020B0609020204030204" pitchFamily="49" charset="0"/>
              </a:rPr>
              <a:t>- 0.80-1.00 → Highly relevant, perfect match</a:t>
            </a:r>
          </a:p>
          <a:p>
            <a:endParaRPr kumimoji="1" lang="en" altLang="zh-TW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" altLang="zh-TW" sz="1200" dirty="0">
                <a:latin typeface="Consolas" panose="020B0609020204030204" pitchFamily="49" charset="0"/>
                <a:cs typeface="Consolas" panose="020B0609020204030204" pitchFamily="49" charset="0"/>
              </a:rPr>
              <a:t>User-defined collection rules: ${</a:t>
            </a:r>
            <a:r>
              <a:rPr kumimoji="1" lang="en" altLang="zh-TW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assistant.instructions</a:t>
            </a:r>
            <a:r>
              <a:rPr kumimoji="1" lang="en" altLang="zh-TW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kumimoji="1" lang="zh-TW" alt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7724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2F744-94FD-90C1-944C-9D34C442E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E0E8C03D-9F0B-21FE-8036-75C9E4A42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可觀測性與問題排查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5028F9F-7AD0-5C70-8EB7-C6FD636E8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dirty="0"/>
              <a:t>端到端追蹤設計</a:t>
            </a:r>
          </a:p>
          <a:p>
            <a:pPr lvl="1"/>
            <a:r>
              <a:rPr lang="zh-TW" altLang="en-US" dirty="0"/>
              <a:t>關聯鍵：</a:t>
            </a:r>
            <a:r>
              <a:rPr lang="en" altLang="zh-TW" dirty="0" err="1"/>
              <a:t>jobId</a:t>
            </a:r>
            <a:r>
              <a:rPr lang="en" altLang="zh-TW" dirty="0"/>
              <a:t> / </a:t>
            </a:r>
            <a:r>
              <a:rPr lang="en" altLang="zh-TW" dirty="0" err="1"/>
              <a:t>articleId</a:t>
            </a:r>
            <a:r>
              <a:rPr lang="en" altLang="zh-TW" dirty="0"/>
              <a:t> / </a:t>
            </a:r>
            <a:r>
              <a:rPr lang="en" altLang="zh-TW" dirty="0" err="1"/>
              <a:t>assistantId</a:t>
            </a:r>
            <a:r>
              <a:rPr lang="en" altLang="zh-TW" dirty="0"/>
              <a:t> / </a:t>
            </a:r>
            <a:r>
              <a:rPr lang="en" altLang="zh-TW" dirty="0" err="1"/>
              <a:t>userId</a:t>
            </a:r>
            <a:endParaRPr lang="en" altLang="zh-TW" dirty="0"/>
          </a:p>
          <a:p>
            <a:pPr lvl="1">
              <a:spcAft>
                <a:spcPts val="600"/>
              </a:spcAft>
            </a:pPr>
            <a:r>
              <a:rPr lang="zh-TW" altLang="en-US" dirty="0"/>
              <a:t>目標：信件 → 文章 → 任務 → </a:t>
            </a:r>
            <a:r>
              <a:rPr lang="en" altLang="zh-TW" dirty="0"/>
              <a:t>LLM </a:t>
            </a:r>
            <a:r>
              <a:rPr lang="zh-TW" altLang="en-US" dirty="0"/>
              <a:t>呼叫可完整串聯</a:t>
            </a:r>
          </a:p>
          <a:p>
            <a:r>
              <a:rPr lang="zh-TW" altLang="en-US" b="1" dirty="0"/>
              <a:t>監控工具</a:t>
            </a:r>
          </a:p>
          <a:p>
            <a:pPr lvl="1"/>
            <a:r>
              <a:rPr lang="zh-TW" altLang="en-US" dirty="0"/>
              <a:t>結構化日誌（</a:t>
            </a:r>
            <a:r>
              <a:rPr lang="en" altLang="zh-TW" dirty="0"/>
              <a:t>Logs</a:t>
            </a:r>
            <a:r>
              <a:rPr lang="zh-TW" altLang="en" dirty="0"/>
              <a:t>）</a:t>
            </a:r>
          </a:p>
          <a:p>
            <a:pPr lvl="1"/>
            <a:r>
              <a:rPr lang="zh-TW" altLang="en-US" dirty="0"/>
              <a:t>記錄事件：</a:t>
            </a:r>
            <a:r>
              <a:rPr lang="en" altLang="zh-TW" dirty="0"/>
              <a:t>enqueue / start / completed / failed</a:t>
            </a:r>
          </a:p>
          <a:p>
            <a:pPr lvl="1">
              <a:spcAft>
                <a:spcPts val="600"/>
              </a:spcAft>
            </a:pPr>
            <a:r>
              <a:rPr lang="zh-TW" altLang="en-US" dirty="0"/>
              <a:t>用途：快速定位故障階段與錯誤類型</a:t>
            </a:r>
          </a:p>
          <a:p>
            <a:r>
              <a:rPr lang="zh-TW" altLang="en-US" b="1" dirty="0"/>
              <a:t>佇列儀表板（</a:t>
            </a:r>
            <a:r>
              <a:rPr lang="en" altLang="zh-TW" b="1" dirty="0"/>
              <a:t>Bull Board</a:t>
            </a:r>
            <a:r>
              <a:rPr lang="zh-TW" altLang="en" b="1" dirty="0"/>
              <a:t>）</a:t>
            </a:r>
          </a:p>
          <a:p>
            <a:pPr lvl="1"/>
            <a:r>
              <a:rPr lang="zh-TW" altLang="en-US" dirty="0"/>
              <a:t>指標：佇列深度、吞吐量、失敗率、重試次數</a:t>
            </a:r>
          </a:p>
          <a:p>
            <a:pPr lvl="1">
              <a:spcAft>
                <a:spcPts val="600"/>
              </a:spcAft>
            </a:pPr>
            <a:r>
              <a:rPr lang="zh-TW" altLang="en-US" dirty="0"/>
              <a:t>用途：評估是否需要擴展 </a:t>
            </a:r>
            <a:r>
              <a:rPr lang="en" altLang="zh-TW" dirty="0"/>
              <a:t>Worker </a:t>
            </a:r>
            <a:r>
              <a:rPr lang="zh-TW" altLang="en-US" dirty="0"/>
              <a:t>或調整併發數</a:t>
            </a:r>
          </a:p>
          <a:p>
            <a:r>
              <a:rPr lang="en" altLang="zh-TW" b="1" dirty="0"/>
              <a:t>LLM </a:t>
            </a:r>
            <a:r>
              <a:rPr lang="zh-TW" altLang="en-US" b="1" dirty="0"/>
              <a:t>追蹤（</a:t>
            </a:r>
            <a:r>
              <a:rPr lang="en" altLang="zh-TW" b="1" dirty="0" err="1"/>
              <a:t>Langfuse</a:t>
            </a:r>
            <a:r>
              <a:rPr lang="zh-TW" altLang="en" b="1" dirty="0"/>
              <a:t>）</a:t>
            </a:r>
          </a:p>
          <a:p>
            <a:pPr lvl="1"/>
            <a:r>
              <a:rPr lang="zh-TW" altLang="en-US" dirty="0"/>
              <a:t>記錄：</a:t>
            </a:r>
            <a:r>
              <a:rPr lang="en" altLang="zh-TW" dirty="0"/>
              <a:t>Prompt / Response / Latency / Token / Cost</a:t>
            </a:r>
          </a:p>
          <a:p>
            <a:pPr lvl="1">
              <a:spcAft>
                <a:spcPts val="600"/>
              </a:spcAft>
            </a:pPr>
            <a:r>
              <a:rPr lang="zh-TW" altLang="en-US" dirty="0"/>
              <a:t>用途：分析判斷品質、成本歸因、</a:t>
            </a:r>
            <a:r>
              <a:rPr lang="en" altLang="zh-TW" dirty="0"/>
              <a:t>Prompt </a:t>
            </a:r>
            <a:r>
              <a:rPr lang="zh-TW" altLang="en-US" dirty="0"/>
              <a:t>迭代</a:t>
            </a:r>
          </a:p>
          <a:p>
            <a:r>
              <a:rPr lang="zh-TW" altLang="en-US" b="1" dirty="0"/>
              <a:t>問題排查路徑</a:t>
            </a:r>
          </a:p>
          <a:p>
            <a:pPr lvl="1"/>
            <a:r>
              <a:rPr lang="zh-TW" altLang="en-US" dirty="0"/>
              <a:t>使用者回報問題 → 以 </a:t>
            </a:r>
            <a:r>
              <a:rPr lang="en" altLang="zh-TW" dirty="0" err="1"/>
              <a:t>articleId</a:t>
            </a:r>
            <a:r>
              <a:rPr lang="en" altLang="zh-TW" dirty="0"/>
              <a:t> / </a:t>
            </a:r>
            <a:r>
              <a:rPr lang="en" altLang="zh-TW" dirty="0" err="1"/>
              <a:t>assistantId</a:t>
            </a:r>
            <a:r>
              <a:rPr lang="en" altLang="zh-TW" dirty="0"/>
              <a:t> / </a:t>
            </a:r>
            <a:r>
              <a:rPr lang="zh-TW" altLang="en-US" dirty="0"/>
              <a:t>查詢日誌定位相關任務</a:t>
            </a:r>
          </a:p>
          <a:p>
            <a:pPr lvl="1"/>
            <a:r>
              <a:rPr lang="zh-TW" altLang="en-US" dirty="0"/>
              <a:t>需檢視 </a:t>
            </a:r>
            <a:r>
              <a:rPr lang="en" altLang="zh-TW" dirty="0"/>
              <a:t>LLM </a:t>
            </a:r>
            <a:r>
              <a:rPr lang="zh-TW" altLang="en-US" dirty="0"/>
              <a:t>判斷 → 以 </a:t>
            </a:r>
            <a:r>
              <a:rPr lang="en" altLang="zh-TW" dirty="0" err="1"/>
              <a:t>sessionId</a:t>
            </a:r>
            <a:r>
              <a:rPr lang="en" altLang="zh-TW" dirty="0"/>
              <a:t> </a:t>
            </a:r>
            <a:r>
              <a:rPr lang="zh-TW" altLang="en-US" dirty="0"/>
              <a:t>於 </a:t>
            </a:r>
            <a:r>
              <a:rPr lang="en" altLang="zh-TW" dirty="0" err="1"/>
              <a:t>Langfuse</a:t>
            </a:r>
            <a:r>
              <a:rPr lang="en" altLang="zh-TW" dirty="0"/>
              <a:t> </a:t>
            </a:r>
            <a:r>
              <a:rPr lang="zh-TW" altLang="en-US" dirty="0"/>
              <a:t>查詢詳細記錄</a:t>
            </a:r>
          </a:p>
        </p:txBody>
      </p:sp>
      <p:pic>
        <p:nvPicPr>
          <p:cNvPr id="5" name="圖片 4" descr="一張含有 螢幕擷取畫面, 軟體, 文字, 電腦圖示 的圖片&#10;&#10;AI 產生的內容可能不正確。">
            <a:extLst>
              <a:ext uri="{FF2B5EF4-FFF2-40B4-BE49-F238E27FC236}">
                <a16:creationId xmlns:a16="http://schemas.microsoft.com/office/drawing/2014/main" id="{5AA35412-408C-6C21-D796-126D35D4D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833" y="854523"/>
            <a:ext cx="4664267" cy="2520000"/>
          </a:xfrm>
          <a:prstGeom prst="rect">
            <a:avLst/>
          </a:prstGeom>
        </p:spPr>
      </p:pic>
      <p:pic>
        <p:nvPicPr>
          <p:cNvPr id="7" name="圖片 6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05446A55-D253-3573-207C-9BEC9B82EA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6833" y="3509907"/>
            <a:ext cx="4664267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809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03A8E-0D72-5D49-0B49-4FF21DB63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B491F806-6D95-2826-9B73-6C71F9F31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雲端部署與維運策略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37C398B-8C9C-6E38-3CAA-A4DCE72286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dirty="0"/>
              <a:t>選擇 </a:t>
            </a:r>
            <a:r>
              <a:rPr lang="en" altLang="zh-TW" b="1" dirty="0" err="1"/>
              <a:t>Zeabur</a:t>
            </a:r>
            <a:r>
              <a:rPr lang="zh-TW" altLang="en" b="1" dirty="0"/>
              <a:t>（</a:t>
            </a:r>
            <a:r>
              <a:rPr lang="en" altLang="zh-TW" b="1" dirty="0"/>
              <a:t>PaaS</a:t>
            </a:r>
            <a:r>
              <a:rPr lang="zh-TW" altLang="en" b="1" dirty="0"/>
              <a:t>）</a:t>
            </a:r>
            <a:r>
              <a:rPr lang="zh-TW" altLang="en-US" b="1" dirty="0"/>
              <a:t>的考量</a:t>
            </a:r>
            <a:endParaRPr lang="en-US" altLang="zh-TW" b="1" dirty="0"/>
          </a:p>
          <a:p>
            <a:pPr lvl="1"/>
            <a:r>
              <a:rPr lang="zh-TW" altLang="en-US" b="1" dirty="0"/>
              <a:t>降低維運負擔</a:t>
            </a:r>
            <a:r>
              <a:rPr lang="zh-TW" altLang="en-US" dirty="0"/>
              <a:t>：尚未規模化前聚焦產品功能迭代，無需自行管理主機、網路、</a:t>
            </a:r>
            <a:r>
              <a:rPr lang="en" altLang="zh-TW" dirty="0"/>
              <a:t>TLS </a:t>
            </a:r>
            <a:r>
              <a:rPr lang="zh-TW" altLang="en-US" dirty="0"/>
              <a:t>憑證</a:t>
            </a:r>
            <a:endParaRPr lang="en-US" altLang="zh-TW" dirty="0"/>
          </a:p>
          <a:p>
            <a:pPr lvl="1"/>
            <a:r>
              <a:rPr lang="zh-TW" altLang="en-US" b="1" dirty="0"/>
              <a:t>多服務編排</a:t>
            </a:r>
            <a:r>
              <a:rPr lang="zh-TW" altLang="en-US" dirty="0"/>
              <a:t>：單一專案內可部署 </a:t>
            </a:r>
            <a:r>
              <a:rPr lang="en" altLang="zh-TW" dirty="0"/>
              <a:t>Web</a:t>
            </a:r>
            <a:r>
              <a:rPr lang="zh-TW" altLang="en" dirty="0"/>
              <a:t>、</a:t>
            </a:r>
            <a:r>
              <a:rPr lang="en" altLang="zh-TW" dirty="0"/>
              <a:t>API</a:t>
            </a:r>
            <a:r>
              <a:rPr lang="zh-TW" altLang="en" dirty="0"/>
              <a:t>、</a:t>
            </a:r>
            <a:r>
              <a:rPr lang="en-US" altLang="zh-TW" dirty="0"/>
              <a:t>MongoDB</a:t>
            </a:r>
            <a:r>
              <a:rPr lang="zh-TW" altLang="en-US" dirty="0"/>
              <a:t>、</a:t>
            </a:r>
            <a:r>
              <a:rPr lang="en" altLang="zh-TW" dirty="0"/>
              <a:t>Redis </a:t>
            </a:r>
            <a:r>
              <a:rPr lang="zh-TW" altLang="en-US" dirty="0"/>
              <a:t>等服務</a:t>
            </a:r>
          </a:p>
        </p:txBody>
      </p:sp>
      <p:pic>
        <p:nvPicPr>
          <p:cNvPr id="5" name="圖片 4" descr="一張含有 文字, 軟體, 多媒體軟體, 繪圖軟體 的圖片&#10;&#10;AI 產生的內容可能不正確。">
            <a:extLst>
              <a:ext uri="{FF2B5EF4-FFF2-40B4-BE49-F238E27FC236}">
                <a16:creationId xmlns:a16="http://schemas.microsoft.com/office/drawing/2014/main" id="{E0E4FCFD-916C-DF98-2C8C-9492C0B8B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911" y="1828800"/>
            <a:ext cx="7748666" cy="4186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95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AC808D8F-5D2E-49C8-B731-8B4507310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Thank You!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75528222"/>
      </p:ext>
    </p:extLst>
  </p:cSld>
  <p:clrMapOvr>
    <a:masterClrMapping/>
  </p:clrMapOvr>
</p:sld>
</file>

<file path=ppt/theme/theme1.xml><?xml version="1.0" encoding="utf-8"?>
<a:theme xmlns:a="http://schemas.openxmlformats.org/drawingml/2006/main" name="數科處範本">
  <a:themeElements>
    <a:clrScheme name="blue-yellow-violet-rose">
      <a:dk1>
        <a:srgbClr val="000000"/>
      </a:dk1>
      <a:lt1>
        <a:srgbClr val="FFFFFF"/>
      </a:lt1>
      <a:dk2>
        <a:srgbClr val="717179"/>
      </a:dk2>
      <a:lt2>
        <a:srgbClr val="E3E3E7"/>
      </a:lt2>
      <a:accent1>
        <a:srgbClr val="3B82F6"/>
      </a:accent1>
      <a:accent2>
        <a:srgbClr val="EAB308"/>
      </a:accent2>
      <a:accent3>
        <a:srgbClr val="8B5CF6"/>
      </a:accent3>
      <a:accent4>
        <a:srgbClr val="F33F5E"/>
      </a:accent4>
      <a:accent5>
        <a:srgbClr val="10B981"/>
      </a:accent5>
      <a:accent6>
        <a:srgbClr val="FFFFFF"/>
      </a:accent6>
      <a:hlink>
        <a:srgbClr val="3B82F6"/>
      </a:hlink>
      <a:folHlink>
        <a:srgbClr val="8B5CF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4F25D0FF425B4EA678AC2414B6A709" ma:contentTypeVersion="10" ma:contentTypeDescription="Create a new document." ma:contentTypeScope="" ma:versionID="8ceec2ce155b1d63c0c6fcd4110f3cfe">
  <xsd:schema xmlns:xsd="http://www.w3.org/2001/XMLSchema" xmlns:xs="http://www.w3.org/2001/XMLSchema" xmlns:p="http://schemas.microsoft.com/office/2006/metadata/properties" xmlns:ns2="7cac0686-f0c7-4236-b000-d7b90732a875" xmlns:ns3="9bfc64f2-d580-4df8-9fa4-4631ad6ac43d" targetNamespace="http://schemas.microsoft.com/office/2006/metadata/properties" ma:root="true" ma:fieldsID="267f21102a69fda15f58a0ecdfc9abe1" ns2:_="" ns3:_="">
    <xsd:import namespace="7cac0686-f0c7-4236-b000-d7b90732a875"/>
    <xsd:import namespace="9bfc64f2-d580-4df8-9fa4-4631ad6ac43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ac0686-f0c7-4236-b000-d7b90732a8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fc64f2-d580-4df8-9fa4-4631ad6ac43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B3946E7-66F8-4182-AA38-CFC406C59F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cac0686-f0c7-4236-b000-d7b90732a875"/>
    <ds:schemaRef ds:uri="9bfc64f2-d580-4df8-9fa4-4631ad6ac43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6929C79-DB32-411C-8C37-9A0BBBB5F64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D5D526-59E0-46BD-B75A-4A393253F249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9bfc64f2-d580-4df8-9fa4-4631ad6ac43d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infopath/2007/PartnerControls"/>
    <ds:schemaRef ds:uri="7cac0686-f0c7-4236-b000-d7b90732a875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217a5a3d-163a-4e8b-af1b-58fd7f92894f}" enabled="0" method="" siteId="{217a5a3d-163a-4e8b-af1b-58fd7f92894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939</TotalTime>
  <Words>3570</Words>
  <Application>Microsoft Macintosh PowerPoint</Application>
  <PresentationFormat>自訂</PresentationFormat>
  <Paragraphs>291</Paragraphs>
  <Slides>13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2" baseType="lpstr">
      <vt:lpstr>Microsoft JhengHei</vt:lpstr>
      <vt:lpstr>Microsoft JhengHei</vt:lpstr>
      <vt:lpstr>標準系統字體</vt:lpstr>
      <vt:lpstr>Microsoft JhengHei Light</vt:lpstr>
      <vt:lpstr>Arial</vt:lpstr>
      <vt:lpstr>Consolas</vt:lpstr>
      <vt:lpstr>Roboto</vt:lpstr>
      <vt:lpstr>Times New Roman</vt:lpstr>
      <vt:lpstr>數科處範本</vt:lpstr>
      <vt:lpstr>InfoGather</vt:lpstr>
      <vt:lpstr>產品定位與核心價值</vt:lpstr>
      <vt:lpstr>從概念驗證到產品化</vt:lpstr>
      <vt:lpstr>系統需求與設計目標</vt:lpstr>
      <vt:lpstr>系統架構總覽</vt:lpstr>
      <vt:lpstr>Monorepo 工程化管理</vt:lpstr>
      <vt:lpstr>同步與非同步處理流程</vt:lpstr>
      <vt:lpstr>任務佇列與可靠性設計</vt:lpstr>
      <vt:lpstr>智能助理與策展機制</vt:lpstr>
      <vt:lpstr>LLM 評估與結構化輸出</vt:lpstr>
      <vt:lpstr>可觀測性與問題排查</vt:lpstr>
      <vt:lpstr>雲端部署與維運策略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封面標題(36 pt)</dc:title>
  <cp:lastModifiedBy>雋凱 王</cp:lastModifiedBy>
  <cp:revision>68</cp:revision>
  <dcterms:modified xsi:type="dcterms:W3CDTF">2025-12-19T03:44:24Z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0x010100DE4F25D0FF425B4EA678AC2414B6A709</vt:lpwstr>
  </property>
  <property fmtid="{D5CDD505-2E9C-101B-9397-08002B2CF9AE}" pid="3" name="Order">
    <vt:r8>500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</Properties>
</file>