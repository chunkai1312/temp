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4"/>
  </p:notesMasterIdLst>
  <p:sldIdLst>
    <p:sldId id="256" r:id="rId5"/>
    <p:sldId id="2147471222" r:id="rId6"/>
    <p:sldId id="2147471230" r:id="rId7"/>
    <p:sldId id="2147471223" r:id="rId8"/>
    <p:sldId id="2147471229" r:id="rId9"/>
    <p:sldId id="2147471217" r:id="rId10"/>
    <p:sldId id="2147471226" r:id="rId11"/>
    <p:sldId id="2147471231" r:id="rId12"/>
    <p:sldId id="2147471233" r:id="rId13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1"/>
    <p:restoredTop sz="96498"/>
  </p:normalViewPr>
  <p:slideViewPr>
    <p:cSldViewPr snapToGrid="0">
      <p:cViewPr varScale="1">
        <p:scale>
          <a:sx n="123" d="100"/>
          <a:sy n="123" d="100"/>
        </p:scale>
        <p:origin x="74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0" indent="0">
              <a:buNone/>
            </a:pPr>
            <a:r>
              <a:rPr lang="zh-TW" altLang="en-US" sz="1400" dirty="0"/>
              <a:t>各位好，今天要說明的是 </a:t>
            </a:r>
            <a:r>
              <a:rPr lang="en" altLang="zh-TW" sz="1400" dirty="0" err="1"/>
              <a:t>InfoGather</a:t>
            </a:r>
            <a:r>
              <a:rPr lang="en" altLang="zh-TW" sz="1400" dirty="0"/>
              <a:t> </a:t>
            </a:r>
            <a:r>
              <a:rPr lang="zh-TW" altLang="en-US" sz="1400" dirty="0"/>
              <a:t>正式環境資源與系統架構提案。</a:t>
            </a:r>
            <a:endParaRPr lang="en-US" altLang="zh-TW" sz="1400" dirty="0"/>
          </a:p>
          <a:p>
            <a:pPr marL="158750" indent="0">
              <a:buNone/>
            </a:pPr>
            <a:endParaRPr lang="zh-TW" altLang="en-US" sz="1400" dirty="0"/>
          </a:p>
          <a:p>
            <a:pPr marL="158750" indent="0">
              <a:buNone/>
            </a:pPr>
            <a:r>
              <a:rPr lang="zh-TW" altLang="en-US" sz="1400" dirty="0"/>
              <a:t>這份提案會從目前系統架構、資料規模、背景任務負載、</a:t>
            </a:r>
            <a:r>
              <a:rPr lang="en" altLang="zh-TW" sz="1400" dirty="0"/>
              <a:t>LLM runtime </a:t>
            </a:r>
            <a:r>
              <a:rPr lang="zh-TW" altLang="en-US" sz="1400" dirty="0"/>
              <a:t>依賴，以及正式環境需要考量的安全、備份、監控與高可用需求出發，推導出比較合理的部署架構與資源配置。</a:t>
            </a:r>
          </a:p>
          <a:p>
            <a:pPr marL="158750" indent="0">
              <a:buNone/>
            </a:pPr>
            <a:endParaRPr lang="en" altLang="zh-TW" sz="1400" dirty="0"/>
          </a:p>
          <a:p>
            <a:pPr marL="158750" indent="0">
              <a:buNone/>
            </a:pPr>
            <a:r>
              <a:rPr lang="en" altLang="zh-TW" sz="1400" dirty="0" err="1"/>
              <a:t>InfoGather</a:t>
            </a:r>
            <a:r>
              <a:rPr lang="en" altLang="zh-TW" sz="1400" dirty="0"/>
              <a:t> </a:t>
            </a:r>
            <a:r>
              <a:rPr lang="zh-TW" altLang="en-US" sz="1400" dirty="0"/>
              <a:t>目前已經包含前端、後端 </a:t>
            </a:r>
            <a:r>
              <a:rPr lang="en" altLang="zh-TW" sz="1400" dirty="0"/>
              <a:t>API</a:t>
            </a:r>
            <a:r>
              <a:rPr lang="zh-TW" altLang="en" sz="1400" dirty="0"/>
              <a:t>、</a:t>
            </a:r>
            <a:r>
              <a:rPr lang="zh-TW" altLang="en-US" sz="1400" dirty="0"/>
              <a:t>背景處理、資料庫、</a:t>
            </a:r>
            <a:r>
              <a:rPr lang="en" altLang="zh-TW" sz="1400" dirty="0"/>
              <a:t>queue</a:t>
            </a:r>
            <a:r>
              <a:rPr lang="zh-TW" altLang="en" sz="1400" dirty="0"/>
              <a:t>，</a:t>
            </a:r>
            <a:r>
              <a:rPr lang="zh-TW" altLang="en-US" sz="1400" dirty="0"/>
              <a:t>以及 </a:t>
            </a:r>
            <a:r>
              <a:rPr lang="en" altLang="zh-TW" sz="1400" dirty="0"/>
              <a:t>LLM runtime</a:t>
            </a:r>
            <a:r>
              <a:rPr lang="zh-TW" altLang="en" sz="1400" dirty="0"/>
              <a:t>。</a:t>
            </a:r>
            <a:r>
              <a:rPr lang="zh-TW" altLang="en-US" sz="1400" dirty="0"/>
              <a:t>接下來我會先帶大家看現況，再說明地端與雲端兩種部署方案，最後收斂成正式環境的建置建議。</a:t>
            </a: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4473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1083A-321F-F30A-3F0F-FCB184EC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D71BF3-D12E-1D77-9A61-3C646FB67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7D8F35A-B08A-5518-E41E-5EF1385C3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3784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1083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5A0B-C23D-A6B6-F506-DBB4AB60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F181B94-5775-4AF6-D761-FA6748C4C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A80CD3-F554-6BC9-21C3-A1A8DF906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2261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這一頁主要說明正式環境上線後，要看哪些指標來判斷系統是否穩定。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en" altLang="zh-TW" dirty="0" err="1"/>
              <a:t>InfoGather</a:t>
            </a:r>
            <a:r>
              <a:rPr lang="en" altLang="zh-TW" dirty="0"/>
              <a:t> </a:t>
            </a:r>
            <a:r>
              <a:rPr lang="zh-TW" altLang="en-US" dirty="0"/>
              <a:t>不能只看 </a:t>
            </a:r>
            <a:r>
              <a:rPr lang="en" altLang="zh-TW" dirty="0"/>
              <a:t>CPU </a:t>
            </a:r>
            <a:r>
              <a:rPr lang="zh-TW" altLang="en-US" dirty="0"/>
              <a:t>和 </a:t>
            </a:r>
            <a:r>
              <a:rPr lang="en" altLang="zh-TW" dirty="0"/>
              <a:t>RAM</a:t>
            </a:r>
            <a:r>
              <a:rPr lang="zh-TW" altLang="en" dirty="0"/>
              <a:t>。</a:t>
            </a:r>
            <a:r>
              <a:rPr lang="en" altLang="zh-TW" dirty="0"/>
              <a:t>CPU </a:t>
            </a:r>
            <a:r>
              <a:rPr lang="zh-TW" altLang="en-US" dirty="0"/>
              <a:t>沒滿，不代表系統沒有壓力；瓶頸可能出現在背景任務排隊、資料庫查詢變慢、</a:t>
            </a:r>
            <a:r>
              <a:rPr lang="en" altLang="zh-TW" dirty="0"/>
              <a:t>Copilot CLI session </a:t>
            </a:r>
            <a:r>
              <a:rPr lang="zh-TW" altLang="en-US" dirty="0"/>
              <a:t>增加，或外部 </a:t>
            </a:r>
            <a:r>
              <a:rPr lang="en" altLang="zh-TW" dirty="0"/>
              <a:t>LLM provider </a:t>
            </a:r>
            <a:r>
              <a:rPr lang="zh-TW" altLang="en-US" dirty="0"/>
              <a:t>開始限流。</a:t>
            </a:r>
          </a:p>
          <a:p>
            <a:pPr marL="158750" indent="0">
              <a:buNone/>
            </a:pPr>
            <a:endParaRPr lang="en" altLang="zh-TW" dirty="0"/>
          </a:p>
          <a:p>
            <a:pPr marL="158750" indent="0">
              <a:buNone/>
            </a:pPr>
            <a:r>
              <a:rPr lang="en" altLang="zh-TW" dirty="0"/>
              <a:t>API </a:t>
            </a:r>
            <a:r>
              <a:rPr lang="zh-TW" altLang="en-US" dirty="0"/>
              <a:t>層主要看回應速度、錯誤率，以及 </a:t>
            </a:r>
            <a:r>
              <a:rPr lang="en" altLang="zh-TW" dirty="0"/>
              <a:t>SSE </a:t>
            </a:r>
            <a:r>
              <a:rPr lang="zh-TW" altLang="en-US" dirty="0"/>
              <a:t>連線是否穩定。</a:t>
            </a:r>
            <a:r>
              <a:rPr lang="en" altLang="zh-TW" dirty="0"/>
              <a:t>Worker </a:t>
            </a:r>
            <a:r>
              <a:rPr lang="zh-TW" altLang="en-US" dirty="0"/>
              <a:t>層要看任務排隊數量、任務處理時間與失敗比例。</a:t>
            </a:r>
            <a:r>
              <a:rPr lang="en" altLang="zh-TW" dirty="0"/>
              <a:t>Redis </a:t>
            </a:r>
            <a:r>
              <a:rPr lang="zh-TW" altLang="en-US" dirty="0"/>
              <a:t>要看記憶體使用量、資料是否被淘汰，以及 </a:t>
            </a:r>
            <a:r>
              <a:rPr lang="en" altLang="zh-TW" dirty="0"/>
              <a:t>queue </a:t>
            </a:r>
            <a:r>
              <a:rPr lang="zh-TW" altLang="en-US" dirty="0"/>
              <a:t>操作是否變慢。</a:t>
            </a:r>
            <a:r>
              <a:rPr lang="en" altLang="zh-TW" dirty="0"/>
              <a:t>MongoDB </a:t>
            </a:r>
            <a:r>
              <a:rPr lang="zh-TW" altLang="en-US" dirty="0"/>
              <a:t>則要看慢查詢、連線數、索引大小，以及常用資料和索引是否能穩定留在記憶體中。</a:t>
            </a:r>
          </a:p>
          <a:p>
            <a:pPr marL="158750" indent="0">
              <a:buNone/>
            </a:pPr>
            <a:endParaRPr lang="en" altLang="zh-TW" dirty="0"/>
          </a:p>
          <a:p>
            <a:pPr marL="158750" indent="0">
              <a:buNone/>
            </a:pPr>
            <a:r>
              <a:rPr lang="en" altLang="zh-TW" dirty="0"/>
              <a:t>Copilot CLI </a:t>
            </a:r>
            <a:r>
              <a:rPr lang="zh-TW" altLang="en-US" dirty="0"/>
              <a:t>也要納入監控，包含 </a:t>
            </a:r>
            <a:r>
              <a:rPr lang="en" altLang="zh-TW" dirty="0"/>
              <a:t>session </a:t>
            </a:r>
            <a:r>
              <a:rPr lang="zh-TW" altLang="en-US" dirty="0"/>
              <a:t>回應時間、</a:t>
            </a:r>
            <a:r>
              <a:rPr lang="en" altLang="zh-TW" dirty="0"/>
              <a:t>active sessions</a:t>
            </a:r>
            <a:r>
              <a:rPr lang="zh-TW" altLang="en" dirty="0"/>
              <a:t>、</a:t>
            </a:r>
            <a:r>
              <a:rPr lang="zh-TW" altLang="en-US" dirty="0"/>
              <a:t>錯誤率與 </a:t>
            </a:r>
            <a:r>
              <a:rPr lang="en" altLang="zh-TW" dirty="0"/>
              <a:t>container </a:t>
            </a:r>
            <a:r>
              <a:rPr lang="zh-TW" altLang="en-US" dirty="0"/>
              <a:t>重啟次數。外部 </a:t>
            </a:r>
            <a:r>
              <a:rPr lang="en" altLang="zh-TW" dirty="0"/>
              <a:t>LLM provider </a:t>
            </a:r>
            <a:r>
              <a:rPr lang="zh-TW" altLang="en-US" dirty="0"/>
              <a:t>則要看 </a:t>
            </a:r>
            <a:r>
              <a:rPr lang="en" altLang="zh-TW" dirty="0"/>
              <a:t>API </a:t>
            </a:r>
            <a:r>
              <a:rPr lang="zh-TW" altLang="en-US" dirty="0"/>
              <a:t>回應速度、</a:t>
            </a:r>
            <a:r>
              <a:rPr lang="en-US" altLang="zh-TW" dirty="0"/>
              <a:t>429/5</a:t>
            </a:r>
            <a:r>
              <a:rPr lang="en" altLang="zh-TW" dirty="0"/>
              <a:t>xx </a:t>
            </a:r>
            <a:r>
              <a:rPr lang="zh-TW" altLang="en-US" dirty="0"/>
              <a:t>錯誤，以及每日成本是否超出預期。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所以 </a:t>
            </a:r>
            <a:r>
              <a:rPr lang="en" altLang="zh-TW" dirty="0"/>
              <a:t>worker </a:t>
            </a:r>
            <a:r>
              <a:rPr lang="zh-TW" altLang="en-US" dirty="0"/>
              <a:t>要不要擴充，不能只看 </a:t>
            </a:r>
            <a:r>
              <a:rPr lang="en" altLang="zh-TW" dirty="0"/>
              <a:t>CPU</a:t>
            </a:r>
            <a:r>
              <a:rPr lang="zh-TW" altLang="en" dirty="0"/>
              <a:t>。</a:t>
            </a:r>
            <a:r>
              <a:rPr lang="zh-TW" altLang="en-US" dirty="0"/>
              <a:t>有時候 </a:t>
            </a:r>
            <a:r>
              <a:rPr lang="en" altLang="zh-TW" dirty="0"/>
              <a:t>CPU </a:t>
            </a:r>
            <a:r>
              <a:rPr lang="zh-TW" altLang="en-US" dirty="0"/>
              <a:t>還沒滿，但任務已經開始排隊，或 </a:t>
            </a:r>
            <a:r>
              <a:rPr lang="en" altLang="zh-TW" dirty="0"/>
              <a:t>LLM provider </a:t>
            </a:r>
            <a:r>
              <a:rPr lang="zh-TW" altLang="en-US" dirty="0"/>
              <a:t>已經回傳 </a:t>
            </a:r>
            <a:r>
              <a:rPr lang="en-US" altLang="zh-TW" dirty="0"/>
              <a:t>429</a:t>
            </a:r>
            <a:r>
              <a:rPr lang="zh-TW" altLang="en-US" dirty="0"/>
              <a:t>，瓶頸其實在 </a:t>
            </a:r>
            <a:r>
              <a:rPr lang="en" altLang="zh-TW" dirty="0"/>
              <a:t>queue </a:t>
            </a:r>
            <a:r>
              <a:rPr lang="zh-TW" altLang="en-US" dirty="0"/>
              <a:t>或外部 </a:t>
            </a:r>
            <a:r>
              <a:rPr lang="en" altLang="zh-TW" dirty="0"/>
              <a:t>API</a:t>
            </a:r>
            <a:r>
              <a:rPr lang="zh-TW" altLang="en" dirty="0"/>
              <a:t>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正式環境建議把任務排隊數量、任務處理時間、</a:t>
            </a:r>
            <a:r>
              <a:rPr lang="en" altLang="zh-TW" dirty="0"/>
              <a:t>Copilot CLI session </a:t>
            </a:r>
            <a:r>
              <a:rPr lang="zh-TW" altLang="en-US" dirty="0"/>
              <a:t>延遲，以及 </a:t>
            </a:r>
            <a:r>
              <a:rPr lang="en" altLang="zh-TW" dirty="0"/>
              <a:t>LLM 429 </a:t>
            </a:r>
            <a:r>
              <a:rPr lang="zh-TW" altLang="en-US" dirty="0"/>
              <a:t>錯誤率當成關鍵指標。雲端可以依照 </a:t>
            </a:r>
            <a:r>
              <a:rPr lang="en" altLang="zh-TW" dirty="0"/>
              <a:t>queue depth </a:t>
            </a:r>
            <a:r>
              <a:rPr lang="zh-TW" altLang="en-US" dirty="0"/>
              <a:t>自動擴充 </a:t>
            </a:r>
            <a:r>
              <a:rPr lang="en" altLang="zh-TW" dirty="0"/>
              <a:t>worker</a:t>
            </a:r>
            <a:r>
              <a:rPr lang="zh-TW" altLang="en" dirty="0"/>
              <a:t>；</a:t>
            </a:r>
            <a:r>
              <a:rPr lang="zh-TW" altLang="en-US" dirty="0"/>
              <a:t>地端則要先定義清楚，什麼情況要加 </a:t>
            </a:r>
            <a:r>
              <a:rPr lang="en" altLang="zh-TW" dirty="0"/>
              <a:t>worker</a:t>
            </a:r>
            <a:r>
              <a:rPr lang="zh-TW" altLang="en" dirty="0"/>
              <a:t>、</a:t>
            </a:r>
            <a:r>
              <a:rPr lang="zh-TW" altLang="en-US" dirty="0"/>
              <a:t>調整 </a:t>
            </a:r>
            <a:r>
              <a:rPr lang="en" altLang="zh-TW" dirty="0"/>
              <a:t>Redis</a:t>
            </a:r>
            <a:r>
              <a:rPr lang="zh-TW" altLang="en" dirty="0"/>
              <a:t>、</a:t>
            </a:r>
            <a:r>
              <a:rPr lang="zh-TW" altLang="en-US" dirty="0"/>
              <a:t>擴充 </a:t>
            </a:r>
            <a:r>
              <a:rPr lang="en" altLang="zh-TW" dirty="0"/>
              <a:t>MongoDB</a:t>
            </a:r>
            <a:r>
              <a:rPr lang="zh-TW" altLang="en" dirty="0"/>
              <a:t>，</a:t>
            </a:r>
            <a:r>
              <a:rPr lang="zh-TW" altLang="en-US" dirty="0"/>
              <a:t>或降低 </a:t>
            </a:r>
            <a:r>
              <a:rPr lang="en" altLang="zh-TW" dirty="0"/>
              <a:t>LLM </a:t>
            </a:r>
            <a:r>
              <a:rPr lang="zh-TW" altLang="en-US" dirty="0"/>
              <a:t>併發量。</a:t>
            </a:r>
          </a:p>
        </p:txBody>
      </p:sp>
    </p:spTree>
    <p:extLst>
      <p:ext uri="{BB962C8B-B14F-4D97-AF65-F5344CB8AC3E}">
        <p14:creationId xmlns:p14="http://schemas.microsoft.com/office/powerpoint/2010/main" val="690164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08881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70439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4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0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r>
              <a:rPr lang="en-US" altLang="zh-TW" b="1" dirty="0" err="1"/>
              <a:t>InfoGather</a:t>
            </a:r>
            <a:endParaRPr lang="zh-TW" altLang="en-US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2026.06.03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54650CD5-C1B9-D7DB-46A1-AE5D76D77848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b="1" dirty="0"/>
              <a:t>正式環境資源與系統架構提案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69330A2-2C63-73AA-60B6-BDD936B3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InfoGather</a:t>
            </a:r>
            <a:r>
              <a:rPr lang="en-US" altLang="zh-TW" b="1" dirty="0"/>
              <a:t> </a:t>
            </a:r>
            <a:r>
              <a:rPr lang="zh-TW" altLang="en-US" b="1" dirty="0"/>
              <a:t>系統架構</a:t>
            </a:r>
            <a:endParaRPr lang="zh-TW" altLang="en-US" dirty="0"/>
          </a:p>
        </p:txBody>
      </p:sp>
      <p:pic>
        <p:nvPicPr>
          <p:cNvPr id="19" name="圖片 18" descr="一張含有 文字, 螢幕擷取畫面 的圖片&#10;&#10;AI 產生的內容可能不正確。">
            <a:extLst>
              <a:ext uri="{FF2B5EF4-FFF2-40B4-BE49-F238E27FC236}">
                <a16:creationId xmlns:a16="http://schemas.microsoft.com/office/drawing/2014/main" id="{3F1B1700-34A7-51DB-FEED-F41DF771C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4" y="1071655"/>
            <a:ext cx="10620000" cy="455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171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D6A87-2493-5500-0966-B6BAF42D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7EB819-7347-39AB-74EF-BA4B13F6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專案使用技術堆疊與系統邊界概覽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77A5CD2-F77F-B955-9659-8F9E645EF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193140"/>
              </p:ext>
            </p:extLst>
          </p:nvPr>
        </p:nvGraphicFramePr>
        <p:xfrm>
          <a:off x="450244" y="3620278"/>
          <a:ext cx="10620000" cy="2514600"/>
        </p:xfrm>
        <a:graphic>
          <a:graphicData uri="http://schemas.openxmlformats.org/drawingml/2006/table">
            <a:tbl>
              <a:tblPr/>
              <a:tblGrid>
                <a:gridCol w="1597346">
                  <a:extLst>
                    <a:ext uri="{9D8B030D-6E8A-4147-A177-3AD203B41FA5}">
                      <a16:colId xmlns:a16="http://schemas.microsoft.com/office/drawing/2014/main" val="4151773850"/>
                    </a:ext>
                  </a:extLst>
                </a:gridCol>
                <a:gridCol w="3021458">
                  <a:extLst>
                    <a:ext uri="{9D8B030D-6E8A-4147-A177-3AD203B41FA5}">
                      <a16:colId xmlns:a16="http://schemas.microsoft.com/office/drawing/2014/main" val="2795049291"/>
                    </a:ext>
                  </a:extLst>
                </a:gridCol>
                <a:gridCol w="6001196">
                  <a:extLst>
                    <a:ext uri="{9D8B030D-6E8A-4147-A177-3AD203B41FA5}">
                      <a16:colId xmlns:a16="http://schemas.microsoft.com/office/drawing/2014/main" val="2931572429"/>
                    </a:ext>
                  </a:extLst>
                </a:gridCol>
              </a:tblGrid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元件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技術 </a:t>
                      </a:r>
                      <a:r>
                        <a:rPr lang="en-US" altLang="zh-TW" sz="105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 </a:t>
                      </a:r>
                      <a:r>
                        <a:rPr lang="zh-TW" altLang="en-US" sz="105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服務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說明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448047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InfoGather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Web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Angular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前端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提供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UI，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讓使用者瀏覽資料、管理資料來源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、</a:t>
                      </a:r>
                      <a:r>
                        <a:rPr lang="en" sz="105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資訊助手、洞見彙報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與通知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164441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InfoGather API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Node.js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後端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負責業務邏輯、權限驗證、資料存取、對外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API、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觸發背景工作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7231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Scheduler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zh-TW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Node.js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排程服務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定期掃描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feeds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或工作條件，將待處理任務送進佇列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969671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Workers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altLang="zh-TW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Node.js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工作執行服務</a:t>
                      </a:r>
                      <a:endParaRPr lang="en" sz="105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非同步處理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ingestion、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文章分析、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assistant </a:t>
                      </a:r>
                      <a:r>
                        <a:rPr lang="en" sz="105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curation、brief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generation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等背景任務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72871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MongoDB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數據持久化資料庫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儲存 </a:t>
                      </a:r>
                      <a:r>
                        <a:rPr lang="en" sz="105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feeds、articles、assistants、briefs、notifications、workspace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資料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244742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Redis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Queue / Cache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基礎設施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作為 </a:t>
                      </a:r>
                      <a:r>
                        <a:rPr lang="en" sz="105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BullMQ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的底層佇列儲存，也可支援快取或工作狀態管理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777699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Copilot CLI Server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Github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Copilot CLI server mode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作為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執行入口，讓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可以透過它與模型能力互動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382660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LLM Providers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LLM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供應商</a:t>
                      </a:r>
                      <a:r>
                        <a:rPr lang="en-US" altLang="zh-TW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(Azure OpenAI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 </a:t>
                      </a:r>
                      <a:r>
                        <a:rPr lang="en-US" altLang="zh-TW" sz="1050" b="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LiteLLM</a:t>
                      </a:r>
                      <a:r>
                        <a:rPr lang="en-US" altLang="zh-TW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sz="105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提供文章判讀、摘要、分類、助理推理等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247835"/>
                  </a:ext>
                </a:extLst>
              </a:tr>
              <a:tr h="18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Data Sources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RSS、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搜尋來源、外部內容來源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系統擷取資訊的來源，提供文章或原始資料給 </a:t>
                      </a:r>
                      <a:r>
                        <a:rPr lang="en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 / Scheduler </a:t>
                      </a:r>
                      <a:r>
                        <a:rPr lang="zh-TW" altLang="en-US" sz="1050" b="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處理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821277"/>
                  </a:ext>
                </a:extLst>
              </a:tr>
            </a:tbl>
          </a:graphicData>
        </a:graphic>
      </p:graphicFrame>
      <p:pic>
        <p:nvPicPr>
          <p:cNvPr id="11" name="圖片 10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29DCEF5A-1D61-E740-AE36-83D55C9B9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058" y="766139"/>
            <a:ext cx="8595739" cy="27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5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361A90CB-7486-3F15-BD2D-295EE3A6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測試環境 </a:t>
            </a:r>
            <a:r>
              <a:rPr lang="en" altLang="zh-TW" b="1" dirty="0"/>
              <a:t>VM </a:t>
            </a:r>
            <a:r>
              <a:rPr lang="zh-TW" altLang="en-US" b="1" dirty="0"/>
              <a:t>與服務配置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86D61659-C6AB-A52E-6A2C-6B3BA84F1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r>
              <a:rPr lang="zh-TW" altLang="en-US" dirty="0"/>
              <a:t>測試環境資源總計：</a:t>
            </a:r>
            <a:r>
              <a:rPr lang="en" altLang="zh-TW" dirty="0"/>
              <a:t>32 vCPU / 68 GB RAM / 1120 GB SSD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6296B90-57D8-88FB-0610-C42168C6D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308909"/>
              </p:ext>
            </p:extLst>
          </p:nvPr>
        </p:nvGraphicFramePr>
        <p:xfrm>
          <a:off x="179388" y="826714"/>
          <a:ext cx="11161712" cy="43200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840921">
                  <a:extLst>
                    <a:ext uri="{9D8B030D-6E8A-4147-A177-3AD203B41FA5}">
                      <a16:colId xmlns:a16="http://schemas.microsoft.com/office/drawing/2014/main" val="1199597028"/>
                    </a:ext>
                  </a:extLst>
                </a:gridCol>
                <a:gridCol w="800337">
                  <a:extLst>
                    <a:ext uri="{9D8B030D-6E8A-4147-A177-3AD203B41FA5}">
                      <a16:colId xmlns:a16="http://schemas.microsoft.com/office/drawing/2014/main" val="1578801080"/>
                    </a:ext>
                  </a:extLst>
                </a:gridCol>
                <a:gridCol w="735476">
                  <a:extLst>
                    <a:ext uri="{9D8B030D-6E8A-4147-A177-3AD203B41FA5}">
                      <a16:colId xmlns:a16="http://schemas.microsoft.com/office/drawing/2014/main" val="3168828867"/>
                    </a:ext>
                  </a:extLst>
                </a:gridCol>
                <a:gridCol w="789751">
                  <a:extLst>
                    <a:ext uri="{9D8B030D-6E8A-4147-A177-3AD203B41FA5}">
                      <a16:colId xmlns:a16="http://schemas.microsoft.com/office/drawing/2014/main" val="136309821"/>
                    </a:ext>
                  </a:extLst>
                </a:gridCol>
                <a:gridCol w="3413612">
                  <a:extLst>
                    <a:ext uri="{9D8B030D-6E8A-4147-A177-3AD203B41FA5}">
                      <a16:colId xmlns:a16="http://schemas.microsoft.com/office/drawing/2014/main" val="3760430905"/>
                    </a:ext>
                  </a:extLst>
                </a:gridCol>
                <a:gridCol w="2581615">
                  <a:extLst>
                    <a:ext uri="{9D8B030D-6E8A-4147-A177-3AD203B41FA5}">
                      <a16:colId xmlns:a16="http://schemas.microsoft.com/office/drawing/2014/main" val="939028161"/>
                    </a:ext>
                  </a:extLst>
                </a:gridCol>
              </a:tblGrid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VM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vCPU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RAM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SSD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部署服務</a:t>
                      </a:r>
                      <a:endParaRPr lang="zh-TW" altLang="en-US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說明</a:t>
                      </a:r>
                      <a:endParaRPr lang="zh-TW" altLang="en-US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505403"/>
                  </a:ext>
                </a:extLst>
              </a:tr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infogather-sit-lb-01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Nginx / HAProxy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SIT </a:t>
                      </a:r>
                      <a:r>
                        <a:rPr lang="zh-TW" altLang="en-US" sz="1400"/>
                        <a:t>入口節點</a:t>
                      </a:r>
                      <a:endParaRPr lang="zh-TW" altLang="en-US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047890"/>
                  </a:ext>
                </a:extLst>
              </a:tr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infogather-sit-app-01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 err="1"/>
                        <a:t>InfoGather</a:t>
                      </a:r>
                      <a:r>
                        <a:rPr lang="en" sz="1400" dirty="0"/>
                        <a:t> </a:t>
                      </a:r>
                      <a:r>
                        <a:rPr lang="en" sz="1400" dirty="0" err="1"/>
                        <a:t>app、worker、scheduler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SIT </a:t>
                      </a:r>
                      <a:r>
                        <a:rPr lang="zh-TW" altLang="en-US" sz="1400" dirty="0"/>
                        <a:t>主應用節點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674944"/>
                  </a:ext>
                </a:extLst>
              </a:tr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infogather-sit-app-02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 err="1"/>
                        <a:t>InfoGather</a:t>
                      </a:r>
                      <a:r>
                        <a:rPr lang="en" sz="1400" dirty="0"/>
                        <a:t> </a:t>
                      </a:r>
                      <a:r>
                        <a:rPr lang="en" sz="1400" dirty="0" err="1"/>
                        <a:t>app、worker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SIT </a:t>
                      </a:r>
                      <a:r>
                        <a:rPr lang="zh-TW" altLang="en-US" sz="1400"/>
                        <a:t>第二應用節點</a:t>
                      </a:r>
                      <a:endParaRPr lang="zh-TW" altLang="en-US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787501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infogather-sit-mongo-01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MongoDB replica set member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primary candidate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847069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infogather-sit-mongo-02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MongoDB replica set member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secondary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296309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infogather-sit-mongo-03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MongoDB replica set member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secondary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244485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infogather-sit-redis-01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Redis server、Sentinel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primary candidate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832487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infogather-sit-redis-02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Redis server、Sentinel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replica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398601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infogather-sit-redis-03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Redis </a:t>
                      </a:r>
                      <a:r>
                        <a:rPr lang="en" sz="1400" dirty="0" err="1"/>
                        <a:t>server、Sentinel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replica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108866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infogather-sit-copilot-01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Copilot CLI server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SIT Agent / LLM runtime </a:t>
                      </a:r>
                      <a:r>
                        <a:rPr lang="zh-TW" altLang="en-US" sz="1400" dirty="0"/>
                        <a:t>節點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800829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infogather-sit-ops-01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120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 err="1"/>
                        <a:t>Prometheus、Grafana、operations</a:t>
                      </a:r>
                      <a:r>
                        <a:rPr lang="en" sz="1400" dirty="0"/>
                        <a:t> tools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SIT </a:t>
                      </a:r>
                      <a:r>
                        <a:rPr lang="zh-TW" altLang="en-US" sz="1400" dirty="0"/>
                        <a:t>監控與維運控制節點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710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177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F1D0A-7358-76D8-4B94-2BDDF033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936A83FF-A6D5-B2C4-8B72-33F865699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正式環境 </a:t>
            </a:r>
            <a:r>
              <a:rPr lang="en" altLang="zh-TW" b="1" dirty="0"/>
              <a:t>VM </a:t>
            </a:r>
            <a:r>
              <a:rPr lang="zh-TW" altLang="en-US" b="1" dirty="0"/>
              <a:t>與服務配置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E432E00F-A29F-3F3E-DEB4-2839A2892B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pPr marL="36000" indent="0">
              <a:buNone/>
            </a:pPr>
            <a:endParaRPr lang="en-US" altLang="zh-TW" dirty="0"/>
          </a:p>
          <a:p>
            <a:r>
              <a:rPr lang="zh-TW" altLang="en-US" dirty="0"/>
              <a:t>正式環境資源總計：</a:t>
            </a:r>
            <a:r>
              <a:rPr lang="en" altLang="zh-TW" dirty="0"/>
              <a:t>3</a:t>
            </a:r>
            <a:r>
              <a:rPr lang="en-US" altLang="zh-TW" dirty="0"/>
              <a:t>4</a:t>
            </a:r>
            <a:r>
              <a:rPr lang="en" altLang="zh-TW" dirty="0"/>
              <a:t> vCPU / 104 GB RAM / 2240 GB SSD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77419BC-A996-C46D-03AC-7D801D0DA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11395"/>
              </p:ext>
            </p:extLst>
          </p:nvPr>
        </p:nvGraphicFramePr>
        <p:xfrm>
          <a:off x="179388" y="826714"/>
          <a:ext cx="11161712" cy="43200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840921">
                  <a:extLst>
                    <a:ext uri="{9D8B030D-6E8A-4147-A177-3AD203B41FA5}">
                      <a16:colId xmlns:a16="http://schemas.microsoft.com/office/drawing/2014/main" val="1199597028"/>
                    </a:ext>
                  </a:extLst>
                </a:gridCol>
                <a:gridCol w="800337">
                  <a:extLst>
                    <a:ext uri="{9D8B030D-6E8A-4147-A177-3AD203B41FA5}">
                      <a16:colId xmlns:a16="http://schemas.microsoft.com/office/drawing/2014/main" val="1578801080"/>
                    </a:ext>
                  </a:extLst>
                </a:gridCol>
                <a:gridCol w="735476">
                  <a:extLst>
                    <a:ext uri="{9D8B030D-6E8A-4147-A177-3AD203B41FA5}">
                      <a16:colId xmlns:a16="http://schemas.microsoft.com/office/drawing/2014/main" val="3168828867"/>
                    </a:ext>
                  </a:extLst>
                </a:gridCol>
                <a:gridCol w="789751">
                  <a:extLst>
                    <a:ext uri="{9D8B030D-6E8A-4147-A177-3AD203B41FA5}">
                      <a16:colId xmlns:a16="http://schemas.microsoft.com/office/drawing/2014/main" val="136309821"/>
                    </a:ext>
                  </a:extLst>
                </a:gridCol>
                <a:gridCol w="3413612">
                  <a:extLst>
                    <a:ext uri="{9D8B030D-6E8A-4147-A177-3AD203B41FA5}">
                      <a16:colId xmlns:a16="http://schemas.microsoft.com/office/drawing/2014/main" val="3760430905"/>
                    </a:ext>
                  </a:extLst>
                </a:gridCol>
                <a:gridCol w="2581615">
                  <a:extLst>
                    <a:ext uri="{9D8B030D-6E8A-4147-A177-3AD203B41FA5}">
                      <a16:colId xmlns:a16="http://schemas.microsoft.com/office/drawing/2014/main" val="939028161"/>
                    </a:ext>
                  </a:extLst>
                </a:gridCol>
              </a:tblGrid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VM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vCPU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RAM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SSD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部署服務</a:t>
                      </a:r>
                      <a:endParaRPr lang="zh-TW" altLang="en-US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/>
                        <a:t>說明</a:t>
                      </a:r>
                      <a:endParaRPr lang="zh-TW" altLang="en-US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1505403"/>
                  </a:ext>
                </a:extLst>
              </a:tr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infogather-prod-lb-01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Nginx / HAProxy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PROD </a:t>
                      </a:r>
                      <a:r>
                        <a:rPr lang="zh-TW" altLang="en-US" sz="1400" dirty="0"/>
                        <a:t>入口節點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047890"/>
                  </a:ext>
                </a:extLst>
              </a:tr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infogather-prod-app-01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 err="1"/>
                        <a:t>InfoGather</a:t>
                      </a:r>
                      <a:r>
                        <a:rPr lang="en" sz="1400" dirty="0"/>
                        <a:t> </a:t>
                      </a:r>
                      <a:r>
                        <a:rPr lang="en" sz="1400" dirty="0" err="1"/>
                        <a:t>app、worker、scheduler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主應用節點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674944"/>
                  </a:ext>
                </a:extLst>
              </a:tr>
              <a:tr h="353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infogather-prod-app-02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 err="1"/>
                        <a:t>InfoGather</a:t>
                      </a:r>
                      <a:r>
                        <a:rPr lang="en" sz="1400" dirty="0"/>
                        <a:t> </a:t>
                      </a:r>
                      <a:r>
                        <a:rPr lang="en" sz="1400" dirty="0" err="1"/>
                        <a:t>app、worker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第二應用節點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787501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infogather-prod-mongo-01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500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MongoDB replica set member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primary candidate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847069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infogather-prod-mongo-02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500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MongoDB replica set member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secondary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296309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infogather-prod-mongo-03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16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500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MongoDB replica set member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secondary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244485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infogather-prod-redis-01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Redis server、Sentinel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primary candidate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832487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infogather-prod-redis-02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/>
                        <a:t>Redis server、Sentinel</a:t>
                      </a:r>
                      <a:endParaRPr lang="en" sz="140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replica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398601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infogather-prod-redis-03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100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Redis </a:t>
                      </a:r>
                      <a:r>
                        <a:rPr lang="en" sz="1400" dirty="0" err="1"/>
                        <a:t>server、Sentinel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replica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3108866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infogather-prod-copilot-01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2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60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Copilot CLI server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Agent / LLM runtime </a:t>
                      </a:r>
                      <a:r>
                        <a:rPr lang="zh-TW" altLang="en-US" sz="1400" dirty="0"/>
                        <a:t>節點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800829"/>
                  </a:ext>
                </a:extLst>
              </a:tr>
              <a:tr h="36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infogather-prod-ops-01</a:t>
                      </a:r>
                      <a:endParaRPr lang="en" sz="1400" dirty="0">
                        <a:latin typeface="Consolas" panose="020B0609020204030204" pitchFamily="49" charset="0"/>
                        <a:ea typeface="Microsoft JhengHei" panose="020B0604030504040204" pitchFamily="34" charset="-12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4 vCPU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8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200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 err="1"/>
                        <a:t>Prometheus、Grafana、operations</a:t>
                      </a:r>
                      <a:r>
                        <a:rPr lang="en" sz="1400" dirty="0"/>
                        <a:t> tools</a:t>
                      </a:r>
                      <a:endParaRPr lang="en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正式環境監控與維運控制節點</a:t>
                      </a:r>
                      <a:endParaRPr lang="zh-TW" altLang="en-US" sz="14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4710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3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74C772-BC05-642E-E3AB-3C3E92624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可觀測性與</a:t>
            </a:r>
            <a:r>
              <a:rPr lang="zh-TW" altLang="en-US" b="1"/>
              <a:t>告警指標</a:t>
            </a:r>
            <a:endParaRPr kumimoji="1"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0832473-E209-AA06-526E-F7AC3F6FE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436775"/>
              </p:ext>
            </p:extLst>
          </p:nvPr>
        </p:nvGraphicFramePr>
        <p:xfrm>
          <a:off x="270244" y="1025090"/>
          <a:ext cx="10980000" cy="4199044"/>
        </p:xfrm>
        <a:graphic>
          <a:graphicData uri="http://schemas.openxmlformats.org/drawingml/2006/table">
            <a:tbl>
              <a:tblPr/>
              <a:tblGrid>
                <a:gridCol w="2371012">
                  <a:extLst>
                    <a:ext uri="{9D8B030D-6E8A-4147-A177-3AD203B41FA5}">
                      <a16:colId xmlns:a16="http://schemas.microsoft.com/office/drawing/2014/main" val="3476087647"/>
                    </a:ext>
                  </a:extLst>
                </a:gridCol>
                <a:gridCol w="4304494">
                  <a:extLst>
                    <a:ext uri="{9D8B030D-6E8A-4147-A177-3AD203B41FA5}">
                      <a16:colId xmlns:a16="http://schemas.microsoft.com/office/drawing/2014/main" val="1376718494"/>
                    </a:ext>
                  </a:extLst>
                </a:gridCol>
                <a:gridCol w="4304494">
                  <a:extLst>
                    <a:ext uri="{9D8B030D-6E8A-4147-A177-3AD203B41FA5}">
                      <a16:colId xmlns:a16="http://schemas.microsoft.com/office/drawing/2014/main" val="2700649521"/>
                    </a:ext>
                  </a:extLst>
                </a:gridCol>
              </a:tblGrid>
              <a:tr h="240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類別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指標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告警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341798"/>
                  </a:ext>
                </a:extLst>
              </a:tr>
              <a:tr h="553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API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p95 latency、5xx </a:t>
                      </a: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rate、SSE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disconnects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p95 &gt; 1s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 </a:t>
                      </a:r>
                      <a:r>
                        <a:rPr lang="en-US" altLang="zh-TW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xx &gt; 1%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75832"/>
                  </a:ext>
                </a:extLst>
              </a:tr>
              <a:tr h="553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Worker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queue depth、job duration、failed rate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waiting &gt; 1,000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 </a:t>
                      </a: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failed rate &gt; 5%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751834"/>
                  </a:ext>
                </a:extLst>
              </a:tr>
              <a:tr h="709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Copilot CLI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session </a:t>
                      </a: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latency、active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sessions、error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rate、container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restart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p95 &gt; 2s、error &gt; 1%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 </a:t>
                      </a: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restart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233328"/>
                  </a:ext>
                </a:extLst>
              </a:tr>
              <a:tr h="553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Redis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memory、evictions、ops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</a:t>
                      </a:r>
                      <a:r>
                        <a:rPr lang="en" sz="1600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sec、latency</a:t>
                      </a:r>
                      <a:endParaRPr lang="en" sz="16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memory &gt; 75%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 </a:t>
                      </a: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evictions &gt; 0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06408"/>
                  </a:ext>
                </a:extLst>
              </a:tr>
              <a:tr h="7094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MongoDB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index size、working set、slow queries、connections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slow query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增加或 </a:t>
                      </a: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connections &gt; 80%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796917"/>
                  </a:ext>
                </a:extLst>
              </a:tr>
              <a:tr h="396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LLM/API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latency、429/5xx、cost per day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429 </a:t>
                      </a:r>
                      <a:r>
                        <a:rPr lang="zh-TW" altLang="en-US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出現或每日成本超標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226446"/>
                  </a:ext>
                </a:extLst>
              </a:tr>
              <a:tr h="396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Storage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DB growth、backup success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backup failed </a:t>
                      </a:r>
                      <a:r>
                        <a:rPr lang="zh-TW" altLang="en-US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或 </a:t>
                      </a:r>
                      <a:r>
                        <a:rPr lang="en" sz="1600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disk &gt; 70%</a:t>
                      </a:r>
                    </a:p>
                  </a:txBody>
                  <a:tcPr marL="90780" marR="90780" marT="41898" marB="41898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078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078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6169001-1B9D-D1B0-AE7B-502E10A67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478964"/>
              </p:ext>
            </p:extLst>
          </p:nvPr>
        </p:nvGraphicFramePr>
        <p:xfrm>
          <a:off x="388144" y="1460623"/>
          <a:ext cx="4706937" cy="3931920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2545213879"/>
                    </a:ext>
                  </a:extLst>
                </a:gridCol>
                <a:gridCol w="2020887">
                  <a:extLst>
                    <a:ext uri="{9D8B030D-6E8A-4147-A177-3AD203B41FA5}">
                      <a16:colId xmlns:a16="http://schemas.microsoft.com/office/drawing/2014/main" val="310536545"/>
                    </a:ext>
                  </a:extLst>
                </a:gridCol>
              </a:tblGrid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資料類型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數量 </a:t>
                      </a:r>
                      <a:r>
                        <a:rPr lang="en-US" altLang="zh-TW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 </a:t>
                      </a:r>
                      <a:r>
                        <a:rPr lang="zh-TW" altLang="en-US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用量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846571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MongoDB collections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105299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MongoDB documents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1,265,635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722469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MongoDB logical data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約 </a:t>
                      </a: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1,066.18 </a:t>
                      </a: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MiB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324792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MongoDB storage + indexes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約 </a:t>
                      </a: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1.36 </a:t>
                      </a: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GiB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835058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使用者 </a:t>
                      </a:r>
                      <a:r>
                        <a:rPr lang="en-US" altLang="zh-TW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users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181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889354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工作空間 </a:t>
                      </a:r>
                      <a:r>
                        <a:rPr lang="en-US" altLang="zh-TW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workspaces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033871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資料來源 </a:t>
                      </a:r>
                      <a:r>
                        <a:rPr lang="en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feeds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176</a:t>
                      </a:r>
                      <a:r>
                        <a:rPr lang="zh-TW" altLang="en-US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，其中 </a:t>
                      </a: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159 </a:t>
                      </a: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active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82075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資訊助手 </a:t>
                      </a:r>
                      <a:r>
                        <a:rPr lang="en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assistants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41</a:t>
                      </a:r>
                      <a:r>
                        <a:rPr lang="zh-TW" altLang="en-US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，其中 </a:t>
                      </a: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37 </a:t>
                      </a: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active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413197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文章總數</a:t>
                      </a:r>
                      <a:r>
                        <a:rPr lang="zh-TW" altLang="en-US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articles 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280,221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029300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評估總數</a:t>
                      </a:r>
                      <a:r>
                        <a:rPr lang="zh-TW" altLang="en-US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assistantarticles</a:t>
                      </a:r>
                      <a:endParaRPr lang="en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976,905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83756"/>
                  </a:ext>
                </a:extLst>
              </a:tr>
              <a:tr h="1876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通知總數</a:t>
                      </a:r>
                      <a:r>
                        <a:rPr lang="zh-TW" altLang="en-US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notifications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4,629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75771"/>
                  </a:ext>
                </a:extLst>
              </a:tr>
            </a:tbl>
          </a:graphicData>
        </a:graphic>
      </p:graphicFrame>
      <p:sp>
        <p:nvSpPr>
          <p:cNvPr id="4" name="標題 3">
            <a:extLst>
              <a:ext uri="{FF2B5EF4-FFF2-40B4-BE49-F238E27FC236}">
                <a16:creationId xmlns:a16="http://schemas.microsoft.com/office/drawing/2014/main" id="{A56B29AF-B826-A5C6-2084-7513F97C4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平台資料規模現況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6A0E2D5-2C54-FD6F-195E-3E46A09B36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平台資料規模現況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626B5F2-F698-01CC-2719-6918E1C9B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607690"/>
              </p:ext>
            </p:extLst>
          </p:nvPr>
        </p:nvGraphicFramePr>
        <p:xfrm>
          <a:off x="5532040" y="3912484"/>
          <a:ext cx="5372100" cy="1737360"/>
        </p:xfrm>
        <a:graphic>
          <a:graphicData uri="http://schemas.openxmlformats.org/drawingml/2006/table">
            <a:tbl>
              <a:tblPr/>
              <a:tblGrid>
                <a:gridCol w="1343025">
                  <a:extLst>
                    <a:ext uri="{9D8B030D-6E8A-4147-A177-3AD203B41FA5}">
                      <a16:colId xmlns:a16="http://schemas.microsoft.com/office/drawing/2014/main" val="1840495998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174371406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1804692550"/>
                    </a:ext>
                  </a:extLst>
                </a:gridCol>
                <a:gridCol w="1343025">
                  <a:extLst>
                    <a:ext uri="{9D8B030D-6E8A-4147-A177-3AD203B41FA5}">
                      <a16:colId xmlns:a16="http://schemas.microsoft.com/office/drawing/2014/main" val="246480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指標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近 </a:t>
                      </a:r>
                      <a:r>
                        <a:rPr lang="en-US" altLang="zh-TW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 </a:t>
                      </a:r>
                      <a:r>
                        <a:rPr lang="zh-TW" altLang="en-US" b="1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近 </a:t>
                      </a:r>
                      <a:r>
                        <a:rPr lang="en-US" altLang="zh-TW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 </a:t>
                      </a:r>
                      <a:r>
                        <a:rPr lang="zh-TW" altLang="en-US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zh-TW" altLang="en-US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近 </a:t>
                      </a:r>
                      <a:r>
                        <a:rPr lang="en-US" altLang="zh-TW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30 </a:t>
                      </a:r>
                      <a:r>
                        <a:rPr lang="zh-TW" altLang="en-US" b="1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天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837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新增 </a:t>
                      </a: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articles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2,307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34,921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125,947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503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新增 </a:t>
                      </a: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assistantarticles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12,059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124,527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506,701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36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新增 </a:t>
                      </a:r>
                      <a:r>
                        <a:rPr lang="en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users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zh-TW" dirty="0"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49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16518"/>
                  </a:ext>
                </a:extLst>
              </a:tr>
            </a:tbl>
          </a:graphicData>
        </a:graphic>
      </p:graphicFrame>
      <p:pic>
        <p:nvPicPr>
          <p:cNvPr id="12" name="圖片 11" descr="一張含有 圓形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1E922402-F87F-FD60-2707-88CFBA449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976" y="930407"/>
            <a:ext cx="4046228" cy="279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38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版面配置區 2">
            <a:extLst>
              <a:ext uri="{FF2B5EF4-FFF2-40B4-BE49-F238E27FC236}">
                <a16:creationId xmlns:a16="http://schemas.microsoft.com/office/drawing/2014/main" id="{4AC31464-733D-B883-8631-AE539D53F01C}"/>
              </a:ext>
            </a:extLst>
          </p:cNvPr>
          <p:cNvSpPr txBox="1">
            <a:spLocks/>
          </p:cNvSpPr>
          <p:nvPr/>
        </p:nvSpPr>
        <p:spPr>
          <a:xfrm>
            <a:off x="4364813" y="719138"/>
            <a:ext cx="6976287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altLang="zh-TW" dirty="0" err="1"/>
              <a:t>InfoGather</a:t>
            </a:r>
            <a:r>
              <a:rPr lang="en-US" altLang="zh-TW" dirty="0"/>
              <a:t> API</a:t>
            </a:r>
            <a:endParaRPr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A0021C8-3737-1595-99DB-59DD215D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第三方套件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8C4D41-5438-4408-54CC-1C48CC03E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388" y="719138"/>
            <a:ext cx="4185425" cy="5401026"/>
          </a:xfrm>
        </p:spPr>
        <p:txBody>
          <a:bodyPr/>
          <a:lstStyle/>
          <a:p>
            <a:r>
              <a:rPr lang="en-US" altLang="zh-TW" dirty="0" err="1"/>
              <a:t>InfoGather</a:t>
            </a:r>
            <a:r>
              <a:rPr lang="en-US" altLang="zh-TW" dirty="0"/>
              <a:t> Web</a:t>
            </a:r>
            <a:endParaRPr lang="zh-TW" altLang="en-US" dirty="0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EE76454-7BE2-028E-4BA5-ECD53E772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987681"/>
              </p:ext>
            </p:extLst>
          </p:nvPr>
        </p:nvGraphicFramePr>
        <p:xfrm>
          <a:off x="512701" y="1187302"/>
          <a:ext cx="3852112" cy="390144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232112">
                  <a:extLst>
                    <a:ext uri="{9D8B030D-6E8A-4147-A177-3AD203B41FA5}">
                      <a16:colId xmlns:a16="http://schemas.microsoft.com/office/drawing/2014/main" val="202410925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6614908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894622394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名稱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版本號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許可證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04570763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@angular/animations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78615473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</a:t>
                      </a:r>
                      <a:r>
                        <a:rPr lang="en" sz="1000" dirty="0" err="1"/>
                        <a:t>cdk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21.2.14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3224320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@angular/common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0814171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@angular/compiler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4629622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@angular/core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5901494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@angular/forms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25429213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@angular/platform-browser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44576802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@angular/platform-browser-dynamic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2969781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@angular/router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21.2.17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7108265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@primeuix/themes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2.0.3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5219329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marked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18.0.2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75934765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primeicons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7.0.0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96069429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primeng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21.1.7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13461536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rxjs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7.8.1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Apache-2.0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796623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zone.js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0.16.1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86442834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B7FC56B-9E0D-24BA-1A68-C8E6F2BEB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924490"/>
              </p:ext>
            </p:extLst>
          </p:nvPr>
        </p:nvGraphicFramePr>
        <p:xfrm>
          <a:off x="4592944" y="1187302"/>
          <a:ext cx="3340141" cy="48768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540141">
                  <a:extLst>
                    <a:ext uri="{9D8B030D-6E8A-4147-A177-3AD203B41FA5}">
                      <a16:colId xmlns:a16="http://schemas.microsoft.com/office/drawing/2014/main" val="235304783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348531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106785762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名稱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版本號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許可證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58116379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@bull-board/</a:t>
                      </a:r>
                      <a:r>
                        <a:rPr lang="en" sz="1000" dirty="0" err="1"/>
                        <a:t>api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6.13.0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11608114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@bull-board/express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6.13.0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7255122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github</a:t>
                      </a:r>
                      <a:r>
                        <a:rPr lang="en" sz="1000" dirty="0"/>
                        <a:t>/copilot-</a:t>
                      </a:r>
                      <a:r>
                        <a:rPr lang="en" sz="1000" dirty="0" err="1"/>
                        <a:t>sdk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0.3.0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51262425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keyv</a:t>
                      </a:r>
                      <a:r>
                        <a:rPr lang="en" sz="1000" dirty="0"/>
                        <a:t>/</a:t>
                      </a:r>
                      <a:r>
                        <a:rPr lang="en" sz="1000" dirty="0" err="1"/>
                        <a:t>redis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5.1.6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57300230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</a:t>
                      </a:r>
                      <a:r>
                        <a:rPr lang="en" sz="1000" dirty="0" err="1"/>
                        <a:t>axios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4.0.1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18737235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</a:t>
                      </a:r>
                      <a:r>
                        <a:rPr lang="en" sz="1000" dirty="0" err="1"/>
                        <a:t>bullmq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11.0.3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7869682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/cache-manager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3.1.0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2365799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/common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11.1.6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74135905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/config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4.0.2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2199983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/core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11.1.6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8325771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</a:t>
                      </a:r>
                      <a:r>
                        <a:rPr lang="en" sz="1000" dirty="0" err="1"/>
                        <a:t>jwt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11.0.0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5001476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/mapped-types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2.1.0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99985737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/mongoose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11.0.3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7295398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/passport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11.0.5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84470402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/platform-express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11.1.6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9850245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/schedule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6.0.0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5758245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/serve-static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5.0.3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24237183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/swagger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11.2.0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1557408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/terminus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11.1.1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07583359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19460D69-416B-C50E-9A01-5B55EC14C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93963"/>
              </p:ext>
            </p:extLst>
          </p:nvPr>
        </p:nvGraphicFramePr>
        <p:xfrm>
          <a:off x="8173326" y="1187302"/>
          <a:ext cx="2800853" cy="365760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144853">
                  <a:extLst>
                    <a:ext uri="{9D8B030D-6E8A-4147-A177-3AD203B41FA5}">
                      <a16:colId xmlns:a16="http://schemas.microsoft.com/office/drawing/2014/main" val="175136081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301956888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705334990"/>
                    </a:ext>
                  </a:extLst>
                </a:gridCol>
              </a:tblGrid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名稱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版本號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許可證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9395784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ajv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8.18.0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1393573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ajv</a:t>
                      </a:r>
                      <a:r>
                        <a:rPr lang="en" sz="1000" dirty="0"/>
                        <a:t>-formats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3.0.1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74460435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bcrypt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6.0.0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8774166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bullmq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5.58.5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947758140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class-transformer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0.5.1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61471314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class-validator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0.14.2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97108782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dotenv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17.2.3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BSD-2-Clause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075078176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express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5.2.1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208622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ioredis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5.7.0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71331057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mongoose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8.18.1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72401324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passport-</a:t>
                      </a:r>
                      <a:r>
                        <a:rPr lang="en" sz="1000" dirty="0" err="1"/>
                        <a:t>microsoft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2.1.0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526565388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rss</a:t>
                      </a:r>
                      <a:r>
                        <a:rPr lang="en" sz="1000" dirty="0"/>
                        <a:t>-parser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3.13.0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242839389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rxjs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7.8.1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Apache-2.0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78933487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 err="1"/>
                        <a:t>zod</a:t>
                      </a:r>
                      <a:endParaRPr lang="en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4.3.6</a:t>
                      </a:r>
                      <a:endParaRPr lang="zh-TW" altLang="en-US" sz="1000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MIT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5826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46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5B7B4DB-FF6E-743F-443E-643AB8056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944417"/>
              </p:ext>
            </p:extLst>
          </p:nvPr>
        </p:nvGraphicFramePr>
        <p:xfrm>
          <a:off x="845344" y="875664"/>
          <a:ext cx="9829800" cy="4259348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979650834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97836616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971725472"/>
                    </a:ext>
                  </a:extLst>
                </a:gridCol>
              </a:tblGrid>
              <a:tr h="221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 dirty="0"/>
                        <a:t>套件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/>
                        <a:t>版本號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000"/>
                        <a:t>許可證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2034365754"/>
                  </a:ext>
                </a:extLst>
              </a:tr>
              <a:tr h="3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/common</a:t>
                      </a:r>
                    </a:p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/core</a:t>
                      </a:r>
                    </a:p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/platform-express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11.1.6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177764190"/>
                  </a:ext>
                </a:extLst>
              </a:tr>
              <a:tr h="221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@nestjs/config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4.0.2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3883179950"/>
                  </a:ext>
                </a:extLst>
              </a:tr>
              <a:tr h="221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@nestjs/swagger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11.2.0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810962820"/>
                  </a:ext>
                </a:extLst>
              </a:tr>
              <a:tr h="221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</a:t>
                      </a:r>
                      <a:r>
                        <a:rPr lang="en" sz="1000" dirty="0" err="1"/>
                        <a:t>mongoose、mongoose</a:t>
                      </a:r>
                      <a:endParaRPr lang="en" sz="1000" dirty="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11.0.3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8.18.1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2553881078"/>
                  </a:ext>
                </a:extLst>
              </a:tr>
              <a:tr h="3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@nestjs/bullmq、bullmq、ioredis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11.0.3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5.58.5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5.7.0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2015474949"/>
                  </a:ext>
                </a:extLst>
              </a:tr>
              <a:tr h="3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@nestjs/cache-manager、cache-manager、keyv、@keyv/redis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3.1.0</a:t>
                      </a:r>
                      <a:r>
                        <a:rPr lang="zh-TW" altLang="en-US" sz="1000" dirty="0"/>
                        <a:t>、</a:t>
                      </a:r>
                      <a:r>
                        <a:rPr lang="en-US" altLang="zh-TW" sz="1000" dirty="0"/>
                        <a:t>7.2.8</a:t>
                      </a:r>
                      <a:r>
                        <a:rPr lang="zh-TW" altLang="en-US" sz="1000" dirty="0"/>
                        <a:t>、</a:t>
                      </a:r>
                      <a:r>
                        <a:rPr lang="en-US" altLang="zh-TW" sz="1000" dirty="0"/>
                        <a:t>5.6.0</a:t>
                      </a:r>
                      <a:r>
                        <a:rPr lang="zh-TW" altLang="en-US" sz="1000" dirty="0"/>
                        <a:t>、</a:t>
                      </a:r>
                      <a:r>
                        <a:rPr lang="en-US" altLang="zh-TW" sz="1000" dirty="0"/>
                        <a:t>5.1.6</a:t>
                      </a:r>
                      <a:endParaRPr lang="zh-TW" altLang="en-US" sz="1000" dirty="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3836038363"/>
                  </a:ext>
                </a:extLst>
              </a:tr>
              <a:tr h="53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</a:t>
                      </a:r>
                      <a:r>
                        <a:rPr lang="en" sz="1000" dirty="0" err="1"/>
                        <a:t>jwt</a:t>
                      </a:r>
                      <a:r>
                        <a:rPr lang="en" sz="1000" dirty="0"/>
                        <a:t>、@</a:t>
                      </a:r>
                      <a:r>
                        <a:rPr lang="en" sz="1000" dirty="0" err="1"/>
                        <a:t>nestjs</a:t>
                      </a:r>
                      <a:r>
                        <a:rPr lang="en" sz="1000" dirty="0"/>
                        <a:t>/</a:t>
                      </a:r>
                      <a:r>
                        <a:rPr lang="en" sz="1000" dirty="0" err="1"/>
                        <a:t>passport、passport、passport-microsoft</a:t>
                      </a:r>
                      <a:r>
                        <a:rPr lang="en" sz="1000" dirty="0"/>
                        <a:t>、@azure/</a:t>
                      </a:r>
                      <a:r>
                        <a:rPr lang="en" sz="1000" dirty="0" err="1"/>
                        <a:t>msal</a:t>
                      </a:r>
                      <a:r>
                        <a:rPr lang="en" sz="1000" dirty="0"/>
                        <a:t>-node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11.0.0</a:t>
                      </a:r>
                      <a:r>
                        <a:rPr lang="zh-TW" altLang="en-US" sz="1000" dirty="0"/>
                        <a:t>、</a:t>
                      </a:r>
                      <a:r>
                        <a:rPr lang="en-US" altLang="zh-TW" sz="1000" dirty="0"/>
                        <a:t>11.0.5</a:t>
                      </a:r>
                      <a:r>
                        <a:rPr lang="zh-TW" altLang="en-US" sz="1000" dirty="0"/>
                        <a:t>、</a:t>
                      </a:r>
                      <a:r>
                        <a:rPr lang="en-US" altLang="zh-TW" sz="1000" dirty="0"/>
                        <a:t>0.7.0</a:t>
                      </a:r>
                      <a:r>
                        <a:rPr lang="zh-TW" altLang="en-US" sz="1000" dirty="0"/>
                        <a:t>、</a:t>
                      </a:r>
                      <a:r>
                        <a:rPr lang="en-US" altLang="zh-TW" sz="1000" dirty="0"/>
                        <a:t>2.1.0</a:t>
                      </a:r>
                      <a:r>
                        <a:rPr lang="zh-TW" altLang="en-US" sz="1000" dirty="0"/>
                        <a:t>、</a:t>
                      </a:r>
                      <a:r>
                        <a:rPr lang="en-US" altLang="zh-TW" sz="1000" dirty="0"/>
                        <a:t>3.8.1</a:t>
                      </a:r>
                      <a:endParaRPr lang="zh-TW" altLang="en-US" sz="1000" dirty="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1004309143"/>
                  </a:ext>
                </a:extLst>
              </a:tr>
              <a:tr h="221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@github/copilot-sdk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 dirty="0"/>
                        <a:t>0.3.0</a:t>
                      </a:r>
                      <a:endParaRPr lang="zh-TW" altLang="en-US" sz="1000" dirty="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2872064740"/>
                  </a:ext>
                </a:extLst>
              </a:tr>
              <a:tr h="3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class-validator、class-transformer、zod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0.14.2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0.5.1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4.3.6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2144807841"/>
                  </a:ext>
                </a:extLst>
              </a:tr>
              <a:tr h="3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rss-parser、@tavily/core、axios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3.13.0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0.5.12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1.15.0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449841225"/>
                  </a:ext>
                </a:extLst>
              </a:tr>
              <a:tr h="375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@bull-board/api、@bull-board/express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6.13.0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MIT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2918851166"/>
                  </a:ext>
                </a:extLst>
              </a:tr>
              <a:tr h="221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/>
                        <a:t>dotenv、global-agent</a:t>
                      </a:r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000"/>
                        <a:t>17.2.3</a:t>
                      </a:r>
                      <a:r>
                        <a:rPr lang="zh-TW" altLang="en-US" sz="1000"/>
                        <a:t>、</a:t>
                      </a:r>
                      <a:r>
                        <a:rPr lang="en-US" altLang="zh-TW" sz="1000"/>
                        <a:t>3.0.0</a:t>
                      </a:r>
                      <a:endParaRPr lang="zh-TW" altLang="en-US" sz="1000"/>
                    </a:p>
                  </a:txBody>
                  <a:tcPr marL="66317" marR="66317" marT="33158" marB="331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000" dirty="0"/>
                        <a:t>BSD-2-Clause、BSD-3-Clause</a:t>
                      </a:r>
                    </a:p>
                  </a:txBody>
                  <a:tcPr marL="66317" marR="66317" marT="33158" marB="33158" anchor="ctr"/>
                </a:tc>
                <a:extLst>
                  <a:ext uri="{0D108BD9-81ED-4DB2-BD59-A6C34878D82A}">
                    <a16:rowId xmlns:a16="http://schemas.microsoft.com/office/drawing/2014/main" val="2391829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8347366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6722</TotalTime>
  <Words>1619</Words>
  <Application>Microsoft Macintosh PowerPoint</Application>
  <PresentationFormat>自訂</PresentationFormat>
  <Paragraphs>492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8" baseType="lpstr">
      <vt:lpstr>Microsoft JhengHei</vt:lpstr>
      <vt:lpstr>Microsoft JhengHei</vt:lpstr>
      <vt:lpstr>標準系統字體</vt:lpstr>
      <vt:lpstr>Microsoft JhengHei Light</vt:lpstr>
      <vt:lpstr>Arial</vt:lpstr>
      <vt:lpstr>Consolas</vt:lpstr>
      <vt:lpstr>Roboto</vt:lpstr>
      <vt:lpstr>Times New Roman</vt:lpstr>
      <vt:lpstr>數科處範本</vt:lpstr>
      <vt:lpstr>InfoGather</vt:lpstr>
      <vt:lpstr>InfoGather 系統架構</vt:lpstr>
      <vt:lpstr>專案使用技術堆疊與系統邊界概覽</vt:lpstr>
      <vt:lpstr>測試環境 VM 與服務配置</vt:lpstr>
      <vt:lpstr>正式環境 VM 與服務配置</vt:lpstr>
      <vt:lpstr>可觀測性與告警指標</vt:lpstr>
      <vt:lpstr>平台資料規模現況</vt:lpstr>
      <vt:lpstr>第三方套件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191</cp:revision>
  <dcterms:modified xsi:type="dcterms:W3CDTF">2026-06-25T09:35:41Z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