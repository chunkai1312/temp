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2"/>
  </p:notesMasterIdLst>
  <p:sldIdLst>
    <p:sldId id="256" r:id="rId5"/>
    <p:sldId id="2147471222" r:id="rId6"/>
    <p:sldId id="2147471224" r:id="rId7"/>
    <p:sldId id="2147471225" r:id="rId8"/>
    <p:sldId id="2147471223" r:id="rId9"/>
    <p:sldId id="2147471217" r:id="rId10"/>
    <p:sldId id="2147471226" r:id="rId11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34"/>
    <p:restoredTop sz="77562"/>
  </p:normalViewPr>
  <p:slideViewPr>
    <p:cSldViewPr snapToGrid="0">
      <p:cViewPr varScale="1">
        <p:scale>
          <a:sx n="87" d="100"/>
          <a:sy n="87" d="100"/>
        </p:scale>
        <p:origin x="208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各位好，今天要說明的是 </a:t>
            </a: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正式環境資源與系統架構提案。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這份提案會從目前系統架構、資料規模、背景任務負載、</a:t>
            </a:r>
            <a:r>
              <a:rPr lang="en" altLang="zh-TW" sz="1400" dirty="0"/>
              <a:t>LLM runtime </a:t>
            </a:r>
            <a:r>
              <a:rPr lang="zh-TW" altLang="en-US" sz="1400" dirty="0"/>
              <a:t>依賴，以及正式環境需要考量的安全、備份、監控與高可用需求出發，推導出比較合理的部署架構與資源配置。</a:t>
            </a:r>
          </a:p>
          <a:p>
            <a:pPr marL="158750" indent="0">
              <a:buNone/>
            </a:pPr>
            <a:endParaRPr lang="en" altLang="zh-TW" sz="1400" dirty="0"/>
          </a:p>
          <a:p>
            <a:pPr marL="158750" indent="0">
              <a:buNone/>
            </a:pP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目前已經包含前端、後端 </a:t>
            </a:r>
            <a:r>
              <a:rPr lang="en" altLang="zh-TW" sz="1400" dirty="0"/>
              <a:t>API</a:t>
            </a:r>
            <a:r>
              <a:rPr lang="zh-TW" altLang="en" sz="1400" dirty="0"/>
              <a:t>、</a:t>
            </a:r>
            <a:r>
              <a:rPr lang="zh-TW" altLang="en-US" sz="1400" dirty="0"/>
              <a:t>背景處理、資料庫、</a:t>
            </a:r>
            <a:r>
              <a:rPr lang="en" altLang="zh-TW" sz="1400" dirty="0"/>
              <a:t>queue</a:t>
            </a:r>
            <a:r>
              <a:rPr lang="zh-TW" altLang="en" sz="1400" dirty="0"/>
              <a:t>，</a:t>
            </a:r>
            <a:r>
              <a:rPr lang="zh-TW" altLang="en-US" sz="1400" dirty="0"/>
              <a:t>以及 </a:t>
            </a:r>
            <a:r>
              <a:rPr lang="en" altLang="zh-TW" sz="1400" dirty="0"/>
              <a:t>LLM runtime</a:t>
            </a:r>
            <a:r>
              <a:rPr lang="zh-TW" altLang="en" sz="1400" dirty="0"/>
              <a:t>。</a:t>
            </a:r>
            <a:r>
              <a:rPr lang="zh-TW" altLang="en-US" sz="1400" dirty="0"/>
              <a:t>接下來我會先帶大家看現況，再說明地端與雲端兩種部署方案，最後收斂成正式環境的建置建議。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4473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25449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B4B6C-24C5-DFCD-D485-DF3D78F44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1B42D-51F7-7E2F-DA5B-AB1C6E7E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EE07BB6-483F-AB28-EC6F-720671174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8049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這一頁主要說明正式環境上線後，要看哪些指標來判斷系統是否穩定。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不能只看 </a:t>
            </a:r>
            <a:r>
              <a:rPr lang="en" altLang="zh-TW" dirty="0"/>
              <a:t>CPU </a:t>
            </a:r>
            <a:r>
              <a:rPr lang="zh-TW" altLang="en-US" dirty="0"/>
              <a:t>和 </a:t>
            </a:r>
            <a:r>
              <a:rPr lang="en" altLang="zh-TW" dirty="0"/>
              <a:t>RAM</a:t>
            </a:r>
            <a:r>
              <a:rPr lang="zh-TW" altLang="en" dirty="0"/>
              <a:t>。</a:t>
            </a:r>
            <a:r>
              <a:rPr lang="en" altLang="zh-TW" dirty="0"/>
              <a:t>CPU </a:t>
            </a:r>
            <a:r>
              <a:rPr lang="zh-TW" altLang="en-US" dirty="0"/>
              <a:t>沒滿，不代表系統沒有壓力；瓶頸可能出現在背景任務排隊、資料庫查詢變慢、</a:t>
            </a:r>
            <a:r>
              <a:rPr lang="en" altLang="zh-TW" dirty="0"/>
              <a:t>Copilot CLI session </a:t>
            </a:r>
            <a:r>
              <a:rPr lang="zh-TW" altLang="en-US" dirty="0"/>
              <a:t>增加，或外部 </a:t>
            </a:r>
            <a:r>
              <a:rPr lang="en" altLang="zh-TW" dirty="0"/>
              <a:t>LLM provider </a:t>
            </a:r>
            <a:r>
              <a:rPr lang="zh-TW" altLang="en-US" dirty="0"/>
              <a:t>開始限流。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API </a:t>
            </a:r>
            <a:r>
              <a:rPr lang="zh-TW" altLang="en-US" dirty="0"/>
              <a:t>層主要看回應速度、錯誤率，以及 </a:t>
            </a:r>
            <a:r>
              <a:rPr lang="en" altLang="zh-TW" dirty="0"/>
              <a:t>SSE </a:t>
            </a:r>
            <a:r>
              <a:rPr lang="zh-TW" altLang="en-US" dirty="0"/>
              <a:t>連線是否穩定。</a:t>
            </a:r>
            <a:r>
              <a:rPr lang="en" altLang="zh-TW" dirty="0"/>
              <a:t>Worker </a:t>
            </a:r>
            <a:r>
              <a:rPr lang="zh-TW" altLang="en-US" dirty="0"/>
              <a:t>層要看任務排隊數量、任務處理時間與失敗比例。</a:t>
            </a:r>
            <a:r>
              <a:rPr lang="en" altLang="zh-TW" dirty="0"/>
              <a:t>Redis </a:t>
            </a:r>
            <a:r>
              <a:rPr lang="zh-TW" altLang="en-US" dirty="0"/>
              <a:t>要看記憶體使用量、資料是否被淘汰，以及 </a:t>
            </a:r>
            <a:r>
              <a:rPr lang="en" altLang="zh-TW" dirty="0"/>
              <a:t>queue </a:t>
            </a:r>
            <a:r>
              <a:rPr lang="zh-TW" altLang="en-US" dirty="0"/>
              <a:t>操作是否變慢。</a:t>
            </a:r>
            <a:r>
              <a:rPr lang="en" altLang="zh-TW" dirty="0"/>
              <a:t>MongoDB </a:t>
            </a:r>
            <a:r>
              <a:rPr lang="zh-TW" altLang="en-US" dirty="0"/>
              <a:t>則要看慢查詢、連線數、索引大小，以及常用資料和索引是否能穩定留在記憶體中。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Copilot CLI </a:t>
            </a:r>
            <a:r>
              <a:rPr lang="zh-TW" altLang="en-US" dirty="0"/>
              <a:t>也要納入監控，包含 </a:t>
            </a:r>
            <a:r>
              <a:rPr lang="en" altLang="zh-TW" dirty="0"/>
              <a:t>session </a:t>
            </a:r>
            <a:r>
              <a:rPr lang="zh-TW" altLang="en-US" dirty="0"/>
              <a:t>回應時間、</a:t>
            </a:r>
            <a:r>
              <a:rPr lang="en" altLang="zh-TW" dirty="0"/>
              <a:t>active sessions</a:t>
            </a:r>
            <a:r>
              <a:rPr lang="zh-TW" altLang="en" dirty="0"/>
              <a:t>、</a:t>
            </a:r>
            <a:r>
              <a:rPr lang="zh-TW" altLang="en-US" dirty="0"/>
              <a:t>錯誤率與 </a:t>
            </a:r>
            <a:r>
              <a:rPr lang="en" altLang="zh-TW" dirty="0"/>
              <a:t>container </a:t>
            </a:r>
            <a:r>
              <a:rPr lang="zh-TW" altLang="en-US" dirty="0"/>
              <a:t>重啟次數。外部 </a:t>
            </a:r>
            <a:r>
              <a:rPr lang="en" altLang="zh-TW" dirty="0"/>
              <a:t>LLM provider </a:t>
            </a:r>
            <a:r>
              <a:rPr lang="zh-TW" altLang="en-US" dirty="0"/>
              <a:t>則要看 </a:t>
            </a:r>
            <a:r>
              <a:rPr lang="en" altLang="zh-TW" dirty="0"/>
              <a:t>API </a:t>
            </a:r>
            <a:r>
              <a:rPr lang="zh-TW" altLang="en-US" dirty="0"/>
              <a:t>回應速度、</a:t>
            </a:r>
            <a:r>
              <a:rPr lang="en-US" altLang="zh-TW" dirty="0"/>
              <a:t>429/5</a:t>
            </a:r>
            <a:r>
              <a:rPr lang="en" altLang="zh-TW" dirty="0"/>
              <a:t>xx </a:t>
            </a:r>
            <a:r>
              <a:rPr lang="zh-TW" altLang="en-US" dirty="0"/>
              <a:t>錯誤，以及每日成本是否超出預期。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/>
              <a:t>worker </a:t>
            </a:r>
            <a:r>
              <a:rPr lang="zh-TW" altLang="en-US" dirty="0"/>
              <a:t>要不要擴充，不能只看 </a:t>
            </a:r>
            <a:r>
              <a:rPr lang="en" altLang="zh-TW" dirty="0"/>
              <a:t>CPU</a:t>
            </a:r>
            <a:r>
              <a:rPr lang="zh-TW" altLang="en" dirty="0"/>
              <a:t>。</a:t>
            </a:r>
            <a:r>
              <a:rPr lang="zh-TW" altLang="en-US" dirty="0"/>
              <a:t>有時候 </a:t>
            </a:r>
            <a:r>
              <a:rPr lang="en" altLang="zh-TW" dirty="0"/>
              <a:t>CPU </a:t>
            </a:r>
            <a:r>
              <a:rPr lang="zh-TW" altLang="en-US" dirty="0"/>
              <a:t>還沒滿，但任務已經開始排隊，或 </a:t>
            </a:r>
            <a:r>
              <a:rPr lang="en" altLang="zh-TW" dirty="0"/>
              <a:t>LLM provider </a:t>
            </a:r>
            <a:r>
              <a:rPr lang="zh-TW" altLang="en-US" dirty="0"/>
              <a:t>已經回傳 </a:t>
            </a:r>
            <a:r>
              <a:rPr lang="en-US" altLang="zh-TW" dirty="0"/>
              <a:t>429</a:t>
            </a:r>
            <a:r>
              <a:rPr lang="zh-TW" altLang="en-US" dirty="0"/>
              <a:t>，瓶頸其實在 </a:t>
            </a:r>
            <a:r>
              <a:rPr lang="en" altLang="zh-TW" dirty="0"/>
              <a:t>queue </a:t>
            </a:r>
            <a:r>
              <a:rPr lang="zh-TW" altLang="en-US" dirty="0"/>
              <a:t>或外部 </a:t>
            </a:r>
            <a:r>
              <a:rPr lang="en" altLang="zh-TW" dirty="0"/>
              <a:t>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正式環境建議把任務排隊數量、任務處理時間、</a:t>
            </a:r>
            <a:r>
              <a:rPr lang="en" altLang="zh-TW" dirty="0"/>
              <a:t>Copilot CLI session </a:t>
            </a:r>
            <a:r>
              <a:rPr lang="zh-TW" altLang="en-US" dirty="0"/>
              <a:t>延遲，以及 </a:t>
            </a:r>
            <a:r>
              <a:rPr lang="en" altLang="zh-TW" dirty="0"/>
              <a:t>LLM 429 </a:t>
            </a:r>
            <a:r>
              <a:rPr lang="zh-TW" altLang="en-US" dirty="0"/>
              <a:t>錯誤率當成關鍵指標。雲端可以依照 </a:t>
            </a:r>
            <a:r>
              <a:rPr lang="en" altLang="zh-TW" dirty="0"/>
              <a:t>queue depth </a:t>
            </a:r>
            <a:r>
              <a:rPr lang="zh-TW" altLang="en-US" dirty="0"/>
              <a:t>自動擴充 </a:t>
            </a:r>
            <a:r>
              <a:rPr lang="en" altLang="zh-TW" dirty="0"/>
              <a:t>worker</a:t>
            </a:r>
            <a:r>
              <a:rPr lang="zh-TW" altLang="en" dirty="0"/>
              <a:t>；</a:t>
            </a:r>
            <a:r>
              <a:rPr lang="zh-TW" altLang="en-US" dirty="0"/>
              <a:t>地端則要先定義清楚，什麼情況要加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zh-TW" altLang="en-US" dirty="0"/>
              <a:t>調整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擴充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或降低 </a:t>
            </a:r>
            <a:r>
              <a:rPr lang="en" altLang="zh-TW" dirty="0"/>
              <a:t>LLM </a:t>
            </a:r>
            <a:r>
              <a:rPr lang="zh-TW" altLang="en-US" dirty="0"/>
              <a:t>併發量。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20888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69330A2-2C63-73AA-60B6-BDD936B3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  <a:endParaRPr lang="zh-TW" altLang="en-US" dirty="0"/>
          </a:p>
        </p:txBody>
      </p:sp>
      <p:pic>
        <p:nvPicPr>
          <p:cNvPr id="19" name="圖片 18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3F1B1700-34A7-51DB-FEED-F41DF771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4" y="1071655"/>
            <a:ext cx="10620000" cy="45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7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64B46-1F7F-A96F-1D9B-5D1D9A7E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pic>
        <p:nvPicPr>
          <p:cNvPr id="5" name="圖片 4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6D2BBD48-2B01-FE1F-16E6-1F32B7BA0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42" y="814325"/>
            <a:ext cx="9000000" cy="2592830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7C2B9AB-2A28-6954-6914-8AC98DBC1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758248"/>
              </p:ext>
            </p:extLst>
          </p:nvPr>
        </p:nvGraphicFramePr>
        <p:xfrm>
          <a:off x="450242" y="3609480"/>
          <a:ext cx="10620000" cy="2340000"/>
        </p:xfrm>
        <a:graphic>
          <a:graphicData uri="http://schemas.openxmlformats.org/drawingml/2006/table">
            <a:tbl>
              <a:tblPr/>
              <a:tblGrid>
                <a:gridCol w="1597346">
                  <a:extLst>
                    <a:ext uri="{9D8B030D-6E8A-4147-A177-3AD203B41FA5}">
                      <a16:colId xmlns:a16="http://schemas.microsoft.com/office/drawing/2014/main" val="4151773850"/>
                    </a:ext>
                  </a:extLst>
                </a:gridCol>
                <a:gridCol w="3021458">
                  <a:extLst>
                    <a:ext uri="{9D8B030D-6E8A-4147-A177-3AD203B41FA5}">
                      <a16:colId xmlns:a16="http://schemas.microsoft.com/office/drawing/2014/main" val="2795049291"/>
                    </a:ext>
                  </a:extLst>
                </a:gridCol>
                <a:gridCol w="6001196">
                  <a:extLst>
                    <a:ext uri="{9D8B030D-6E8A-4147-A177-3AD203B41FA5}">
                      <a16:colId xmlns:a16="http://schemas.microsoft.com/office/drawing/2014/main" val="2931572429"/>
                    </a:ext>
                  </a:extLst>
                </a:gridCol>
              </a:tblGrid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48047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UI，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讓使用者瀏覽資料、管理資料來源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資訊助手、洞見彙報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與通知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164441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 API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負責業務邏輯、權限驗證、資料存取、對外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觸發背景工作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97231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排程服務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定期掃描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或工作條件，將待處理任務送進佇列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969671"/>
                  </a:ext>
                </a:extLst>
              </a:tr>
              <a:tr h="24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工作執行服務</a:t>
                      </a:r>
                      <a:endParaRPr lang="en" sz="120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非同步處理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ingestion、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文章分析、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curation、brief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generation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等背景任務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072871"/>
                  </a:ext>
                </a:extLst>
              </a:tr>
              <a:tr h="24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數據持久化資料庫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feeds、articles、assistants、briefs、notifications、workspace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244742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/ Cache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基礎設施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的底層佇列儲存，也可支援快取或工作狀態管理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7699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Github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Copilot CLI server mode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執行入口，讓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可以透過它與模型能力互動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382660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Providers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供應商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(Azure OpenAI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en-US" altLang="zh-TW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LiteLLM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20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提供文章判讀、摘要、分類、助理推理等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247835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搜尋來源、外部內容來源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系統擷取資訊的來源，提供文章或原始資料給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/ Scheduler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821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2823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1C9A-CB1C-4442-8F53-894FC5E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930CFD-B623-0CA4-ADD8-424E3CCF7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BD22C38-79CE-E156-197E-B6DC9D798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37281"/>
              </p:ext>
            </p:extLst>
          </p:nvPr>
        </p:nvGraphicFramePr>
        <p:xfrm>
          <a:off x="450242" y="3609480"/>
          <a:ext cx="10809792" cy="2104015"/>
        </p:xfrm>
        <a:graphic>
          <a:graphicData uri="http://schemas.openxmlformats.org/drawingml/2006/table">
            <a:tbl>
              <a:tblPr/>
              <a:tblGrid>
                <a:gridCol w="1188485">
                  <a:extLst>
                    <a:ext uri="{9D8B030D-6E8A-4147-A177-3AD203B41FA5}">
                      <a16:colId xmlns:a16="http://schemas.microsoft.com/office/drawing/2014/main" val="1267251201"/>
                    </a:ext>
                  </a:extLst>
                </a:gridCol>
                <a:gridCol w="4795375">
                  <a:extLst>
                    <a:ext uri="{9D8B030D-6E8A-4147-A177-3AD203B41FA5}">
                      <a16:colId xmlns:a16="http://schemas.microsoft.com/office/drawing/2014/main" val="2527468516"/>
                    </a:ext>
                  </a:extLst>
                </a:gridCol>
                <a:gridCol w="4825932">
                  <a:extLst>
                    <a:ext uri="{9D8B030D-6E8A-4147-A177-3AD203B41FA5}">
                      <a16:colId xmlns:a16="http://schemas.microsoft.com/office/drawing/2014/main" val="4194327151"/>
                    </a:ext>
                  </a:extLst>
                </a:gridCol>
              </a:tblGrid>
              <a:tr h="227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流程階段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方向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47956"/>
                  </a:ext>
                </a:extLst>
              </a:tr>
              <a:tr h="227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①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使用者操作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 → InfoGather Web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使用者在前端介面發出操作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1899495"/>
                  </a:ext>
                </a:extLst>
              </a:tr>
              <a:tr h="227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②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前後端互動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 →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前端呼叫 </a:t>
                      </a: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取得資料或提交設定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88365"/>
                  </a:ext>
                </a:extLst>
              </a:tr>
              <a:tr h="2436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③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資料擷取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 →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 / Scheduler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外部來源提供文章與資料，系統定期拉取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4243204"/>
                  </a:ext>
                </a:extLst>
              </a:tr>
              <a:tr h="227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④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任務排程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 → Redis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排程器把要執行的工作送進佇列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464877"/>
                  </a:ext>
                </a:extLst>
              </a:tr>
              <a:tr h="227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⑤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背景處理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← Redis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從佇列取出任務進行處理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356233"/>
                  </a:ext>
                </a:extLst>
              </a:tr>
              <a:tr h="2275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⑥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資料持久化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 / Workers → MongoDB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與背景工作把結果存入資料庫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00688"/>
                  </a:ext>
                </a:extLst>
              </a:tr>
              <a:tr h="297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⑦ AI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能力呼叫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  <a:r>
                        <a:rPr lang="en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/ Workers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→ Copilot CLI Server → LLM Providers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後端透過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呼叫模型完成分析與生成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134989"/>
                  </a:ext>
                </a:extLst>
              </a:tr>
            </a:tbl>
          </a:graphicData>
        </a:graphic>
      </p:graphicFrame>
      <p:pic>
        <p:nvPicPr>
          <p:cNvPr id="10" name="圖片 9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73CB69F9-04CF-9DEE-9670-60506887C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44" y="814325"/>
            <a:ext cx="9000000" cy="2592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464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高可用 </a:t>
            </a:r>
            <a:r>
              <a:rPr lang="en" altLang="zh-TW" b="1" dirty="0"/>
              <a:t>VM </a:t>
            </a:r>
            <a:r>
              <a:rPr lang="zh-TW" altLang="en-US" b="1" dirty="0"/>
              <a:t>配置與服務部署</a:t>
            </a:r>
            <a:endParaRPr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13B0C0D-BCA6-4F9E-BAFF-0A34DBACA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835658"/>
              </p:ext>
            </p:extLst>
          </p:nvPr>
        </p:nvGraphicFramePr>
        <p:xfrm>
          <a:off x="233808" y="829626"/>
          <a:ext cx="11107293" cy="5219488"/>
        </p:xfrm>
        <a:graphic>
          <a:graphicData uri="http://schemas.openxmlformats.org/drawingml/2006/table">
            <a:tbl>
              <a:tblPr firstRow="1" bandRow="1">
                <a:tableStyleId>{91DB7C30-2B5D-4D34-8F22-85940E495A18}</a:tableStyleId>
              </a:tblPr>
              <a:tblGrid>
                <a:gridCol w="1781817">
                  <a:extLst>
                    <a:ext uri="{9D8B030D-6E8A-4147-A177-3AD203B41FA5}">
                      <a16:colId xmlns:a16="http://schemas.microsoft.com/office/drawing/2014/main" val="4170085303"/>
                    </a:ext>
                  </a:extLst>
                </a:gridCol>
                <a:gridCol w="964487">
                  <a:extLst>
                    <a:ext uri="{9D8B030D-6E8A-4147-A177-3AD203B41FA5}">
                      <a16:colId xmlns:a16="http://schemas.microsoft.com/office/drawing/2014/main" val="828908175"/>
                    </a:ext>
                  </a:extLst>
                </a:gridCol>
                <a:gridCol w="839440">
                  <a:extLst>
                    <a:ext uri="{9D8B030D-6E8A-4147-A177-3AD203B41FA5}">
                      <a16:colId xmlns:a16="http://schemas.microsoft.com/office/drawing/2014/main" val="2217964813"/>
                    </a:ext>
                  </a:extLst>
                </a:gridCol>
                <a:gridCol w="951800">
                  <a:extLst>
                    <a:ext uri="{9D8B030D-6E8A-4147-A177-3AD203B41FA5}">
                      <a16:colId xmlns:a16="http://schemas.microsoft.com/office/drawing/2014/main" val="3725896981"/>
                    </a:ext>
                  </a:extLst>
                </a:gridCol>
                <a:gridCol w="2872799">
                  <a:extLst>
                    <a:ext uri="{9D8B030D-6E8A-4147-A177-3AD203B41FA5}">
                      <a16:colId xmlns:a16="http://schemas.microsoft.com/office/drawing/2014/main" val="4233718395"/>
                    </a:ext>
                  </a:extLst>
                </a:gridCol>
                <a:gridCol w="3696950">
                  <a:extLst>
                    <a:ext uri="{9D8B030D-6E8A-4147-A177-3AD203B41FA5}">
                      <a16:colId xmlns:a16="http://schemas.microsoft.com/office/drawing/2014/main" val="389320006"/>
                    </a:ext>
                  </a:extLst>
                </a:gridCol>
              </a:tblGrid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RAM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SSD 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部署服務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說明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2651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344629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43156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182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449912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worker, scheduler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scheduler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5570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vm-mongo-01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45870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vm-mongo-02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6426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vm-mongo-03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62018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09848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77627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vm-redis-03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11611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89347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116185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vm-ops-01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Prometheus, Grafana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維運觀測節點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402205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vm-backup-01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TB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dirty="0"/>
                        <a:t>backup job / restore drill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備份與還原演練節點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49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可觀測性與</a:t>
            </a:r>
            <a:r>
              <a:rPr lang="zh-TW" altLang="en-US" b="1"/>
              <a:t>告警指標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43677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rate、SSE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6169001-1B9D-D1B0-AE7B-502E10A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78964"/>
              </p:ext>
            </p:extLst>
          </p:nvPr>
        </p:nvGraphicFramePr>
        <p:xfrm>
          <a:off x="388144" y="1460623"/>
          <a:ext cx="4706937" cy="3931920"/>
        </p:xfrm>
        <a:graphic>
          <a:graphicData uri="http://schemas.openxmlformats.org/drawingml/2006/table">
            <a:tbl>
              <a:tblPr/>
              <a:tblGrid>
                <a:gridCol w="2686050">
                  <a:extLst>
                    <a:ext uri="{9D8B030D-6E8A-4147-A177-3AD203B41FA5}">
                      <a16:colId xmlns:a16="http://schemas.microsoft.com/office/drawing/2014/main" val="2545213879"/>
                    </a:ext>
                  </a:extLst>
                </a:gridCol>
                <a:gridCol w="2020887">
                  <a:extLst>
                    <a:ext uri="{9D8B030D-6E8A-4147-A177-3AD203B41FA5}">
                      <a16:colId xmlns:a16="http://schemas.microsoft.com/office/drawing/2014/main" val="310536545"/>
                    </a:ext>
                  </a:extLst>
                </a:gridCol>
              </a:tblGrid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資料類型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數量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用量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8465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collections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10529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documents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1,265,635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72246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logical data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1,066.18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324792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storage + indexes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835058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181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9354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工作空間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workspaces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0338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資料來源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176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159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882075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37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413197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 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280,221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029300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評估總數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  <a:endParaRPr lang="en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976,905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83756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通知總數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notifications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4,629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075771"/>
                  </a:ext>
                </a:extLst>
              </a:tr>
            </a:tbl>
          </a:graphicData>
        </a:graphic>
      </p:graphicFrame>
      <p:sp>
        <p:nvSpPr>
          <p:cNvPr id="4" name="標題 3">
            <a:extLst>
              <a:ext uri="{FF2B5EF4-FFF2-40B4-BE49-F238E27FC236}">
                <a16:creationId xmlns:a16="http://schemas.microsoft.com/office/drawing/2014/main" id="{A56B29AF-B826-A5C6-2084-7513F97C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平台資料規模現況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6A0E2D5-2C54-FD6F-195E-3E46A09B3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平台資料規模現況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626B5F2-F698-01CC-2719-6918E1C9B5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607690"/>
              </p:ext>
            </p:extLst>
          </p:nvPr>
        </p:nvGraphicFramePr>
        <p:xfrm>
          <a:off x="5532040" y="3912484"/>
          <a:ext cx="5372100" cy="1737360"/>
        </p:xfrm>
        <a:graphic>
          <a:graphicData uri="http://schemas.openxmlformats.org/drawingml/2006/table">
            <a:tbl>
              <a:tblPr/>
              <a:tblGrid>
                <a:gridCol w="1343025">
                  <a:extLst>
                    <a:ext uri="{9D8B030D-6E8A-4147-A177-3AD203B41FA5}">
                      <a16:colId xmlns:a16="http://schemas.microsoft.com/office/drawing/2014/main" val="1840495998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74371406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804692550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464803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837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2,307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34,921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125,947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503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12,059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124,527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506,701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3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316518"/>
                  </a:ext>
                </a:extLst>
              </a:tr>
            </a:tbl>
          </a:graphicData>
        </a:graphic>
      </p:graphicFrame>
      <p:pic>
        <p:nvPicPr>
          <p:cNvPr id="12" name="圖片 11" descr="一張含有 圓形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1E922402-F87F-FD60-2707-88CFBA449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976" y="930407"/>
            <a:ext cx="4046228" cy="279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388891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5063</TotalTime>
  <Words>1222</Words>
  <Application>Microsoft Macintosh PowerPoint</Application>
  <PresentationFormat>自訂</PresentationFormat>
  <Paragraphs>241</Paragraphs>
  <Slides>7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6" baseType="lpstr">
      <vt:lpstr>微軟正黑體</vt:lpstr>
      <vt:lpstr>微軟正黑體</vt:lpstr>
      <vt:lpstr>標準系統字體</vt:lpstr>
      <vt:lpstr>Microsoft JhengHei Light</vt:lpstr>
      <vt:lpstr>Arial</vt:lpstr>
      <vt:lpstr>Consolas</vt:lpstr>
      <vt:lpstr>Roboto</vt:lpstr>
      <vt:lpstr>Times New Roman</vt:lpstr>
      <vt:lpstr>數科處範本</vt:lpstr>
      <vt:lpstr>InfoGather</vt:lpstr>
      <vt:lpstr>InfoGather 系統架構</vt:lpstr>
      <vt:lpstr>專案使用技術堆疊與系統邊界概覽</vt:lpstr>
      <vt:lpstr>專案使用技術堆疊與系統邊界概覽</vt:lpstr>
      <vt:lpstr>高可用 VM 配置與服務部署</vt:lpstr>
      <vt:lpstr>可觀測性與告警指標</vt:lpstr>
      <vt:lpstr>平台資料規模現況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176</cp:revision>
  <dcterms:modified xsi:type="dcterms:W3CDTF">2026-06-08T14:29:10Z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