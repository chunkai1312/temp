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21"/>
  </p:notesMasterIdLst>
  <p:sldIdLst>
    <p:sldId id="256" r:id="rId5"/>
    <p:sldId id="2147471220" r:id="rId6"/>
    <p:sldId id="2147471219" r:id="rId7"/>
    <p:sldId id="2147471203" r:id="rId8"/>
    <p:sldId id="2147471206" r:id="rId9"/>
    <p:sldId id="2147471207" r:id="rId10"/>
    <p:sldId id="2147471208" r:id="rId11"/>
    <p:sldId id="2147471209" r:id="rId12"/>
    <p:sldId id="2147471210" r:id="rId13"/>
    <p:sldId id="2147471211" r:id="rId14"/>
    <p:sldId id="2147471212" r:id="rId15"/>
    <p:sldId id="2147471214" r:id="rId16"/>
    <p:sldId id="2147471215" r:id="rId17"/>
    <p:sldId id="2147471216" r:id="rId18"/>
    <p:sldId id="2147471217" r:id="rId19"/>
    <p:sldId id="2147471221" r:id="rId20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03"/>
    <p:restoredTop sz="75811"/>
  </p:normalViewPr>
  <p:slideViewPr>
    <p:cSldViewPr snapToGrid="0">
      <p:cViewPr varScale="1">
        <p:scale>
          <a:sx n="91" d="100"/>
          <a:sy n="91" d="100"/>
        </p:scale>
        <p:origin x="1496" y="496"/>
      </p:cViewPr>
      <p:guideLst/>
    </p:cSldViewPr>
  </p:slideViewPr>
  <p:notesTextViewPr>
    <p:cViewPr>
      <p:scale>
        <a:sx n="1" d="1"/>
        <a:sy n="1" d="1"/>
      </p:scale>
      <p:origin x="0" y="-176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b="0" dirty="0"/>
              <a:t>大家好，今天要分享的主題是「淺談台股量化投資：大盤籌碼篇」。</a:t>
            </a:r>
            <a:endParaRPr lang="en-US" altLang="zh-TW" sz="1400" b="0" dirty="0"/>
          </a:p>
          <a:p>
            <a:pPr marL="158750" indent="0">
              <a:buNone/>
            </a:pPr>
            <a:endParaRPr lang="zh-TW" altLang="en-US" sz="1400" b="0" dirty="0"/>
          </a:p>
          <a:p>
            <a:pPr marL="158750" indent="0">
              <a:buNone/>
            </a:pPr>
            <a:r>
              <a:rPr lang="zh-TW" altLang="en-US" sz="1400" b="0" dirty="0"/>
              <a:t>本次分享主要會從籌碼面的角度，介紹幾個常見的大盤觀察指標。這些指標主要用來觀察市場資金流向與投資人行為，協助我們判斷 市場整體趨勢與風險狀況。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這一頁我先帶大家建立共同畫面。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可以先看成三個主要區塊：第一個是使用者會接觸到的前端，也就是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Angular SPA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第二個是後端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也就是跑在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Node.js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上的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NestJS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API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第三個是背景處理與資料層，包含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BullMQ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這裡特別要注意的是，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不是只有一個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Web/API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服務在跑。資料來源抓取、文章處理、助手評估、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brief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產生，這些都會交給背景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處理。也就是說，正式環境的壓力不只來自使用者打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也來自後台持續處理資料。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另外，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相關流程會透過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作為共用的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runtime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都會連到它，再由它轉接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OpenAI-compatible BYOK provider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所以後面在估算正式環境規格時，我們不能只看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Web/API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還要一起看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pool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queue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index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以及外部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LLM/API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的限制。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最後，這套系統目前已經是容器化的架構，因此未來可以部署在地端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地端高可用架構，也可以放到雲端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container platform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地端和雲端的差別，主要是在網路隔離、資料服務、備份、高可用和監控工具怎麼落地；核心系統邊界是相同的。</a:t>
            </a:r>
          </a:p>
        </p:txBody>
      </p:sp>
    </p:spTree>
    <p:extLst>
      <p:ext uri="{BB962C8B-B14F-4D97-AF65-F5344CB8AC3E}">
        <p14:creationId xmlns:p14="http://schemas.microsoft.com/office/powerpoint/2010/main" val="1645579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這一頁我先帶大家建立共同畫面。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可以先看成三個主要區塊：第一個是使用者會接觸到的前端，也就是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Angular SPA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第二個是後端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也就是跑在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Node.js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上的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NestJS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API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第三個是背景處理與資料層，包含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BullMQ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這裡特別要注意的是，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不是只有一個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Web/API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服務在跑。資料來源抓取、文章處理、助手評估、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brief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產生，這些都會交給背景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處理。也就是說，正式環境的壓力不只來自使用者打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也來自後台持續處理資料。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另外，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相關流程會透過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作為共用的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runtime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都會連到它，再由它轉接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OpenAI-compatible BYOK provider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所以後面在估算正式環境規格時，我們不能只看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Web/API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還要一起看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pool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queue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index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以及外部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LLM/API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的限制。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最後，這套系統目前已經是容器化的架構，因此未來可以部署在地端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地端高可用架構，也可以放到雲端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container platform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地端和雲端的差別，主要是在網路隔離、資料服務、備份、高可用和監控工具怎麼落地；核心系統邊界是相同的。</a:t>
            </a:r>
          </a:p>
        </p:txBody>
      </p:sp>
    </p:spTree>
    <p:extLst>
      <p:ext uri="{BB962C8B-B14F-4D97-AF65-F5344CB8AC3E}">
        <p14:creationId xmlns:p14="http://schemas.microsoft.com/office/powerpoint/2010/main" val="16766031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接下來我們看目前實際跑起來的環境。現在這台主機是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8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15 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上面同時跑了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app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還有其他既有服務。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從當下觀測的記憶體來看，單一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大約使用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88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116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合計大約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294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1.53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container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156.7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自己真正使用的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memory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大約是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34.35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b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這些數字可以幫我們理解現況，但不能直接拿來當正式環境規格。原因是這比較像某個時間點的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snapshot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不代表尖峰情境。當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抓取、文章萃取、助手評估同時發生時，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會一起把壓力推到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以及外部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LLM/API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所以這一頁要傳達的重點是：目前主機可以作為容量基準，但正式環境不能只看平均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RAM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用量。正式環境需要預留尖峰、服務隔離、備份、高可用和維運操作的空間。</a:t>
            </a:r>
          </a:p>
        </p:txBody>
      </p:sp>
    </p:spTree>
    <p:extLst>
      <p:ext uri="{BB962C8B-B14F-4D97-AF65-F5344CB8AC3E}">
        <p14:creationId xmlns:p14="http://schemas.microsoft.com/office/powerpoint/2010/main" val="2761349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這一頁我們來看資料量。現在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裡面共有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29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collections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總文件數大約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111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萬筆。資料本體加上索引，實體大小大約是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1.36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以正式環境資料庫來說，這個大小其實還不算大，所以短期內不需要一開始就上非常大的資料庫叢集。</a:t>
            </a: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不過，資料量小不代表可以忽略資料庫規格。真正要看的，是資料集中在哪裡。目前最大宗是 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articles 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 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assistantarticles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articles 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24.7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萬筆，是平台實際收進來的文章；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assistantarticles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86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萬筆，代表助手對文章做過的評估結果。</a:t>
            </a: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這裡有一個重要觀察：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index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825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其中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articles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index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就大約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741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換句話說，未來查詢效能不只看資料本體大小，也要看索引能不能穩定留在記憶體裡。如果索引常常被擠出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memory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查詢延遲就會上升。因此後面規劃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RAM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時，會以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working set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index growth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作為主要依據。</a:t>
            </a:r>
          </a:p>
        </p:txBody>
      </p:sp>
    </p:spTree>
    <p:extLst>
      <p:ext uri="{BB962C8B-B14F-4D97-AF65-F5344CB8AC3E}">
        <p14:creationId xmlns:p14="http://schemas.microsoft.com/office/powerpoint/2010/main" val="1883570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這一頁我們把時間拉長一點，看資料成長速度。過去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天新增了大約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10.4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萬篇文章，也新增了大約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41.8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萬筆助手評估。過去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7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天則新增大約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3.7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萬篇文章，以及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13.3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萬筆助手評估。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這代表一件事：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的主要負載不是只有把文章存進資料庫。每一篇文章進來之後，還會再觸發多個助手規則評估，所以真正成長比較快的是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 evaluation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這一段。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從來源來看，近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7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天文章主要來自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RSS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其次是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Infominer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Search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目前比例比較低。用目前資料估算，每篇文章平均會產生大約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3.55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筆助手評估。因此，正式環境在規劃時，不能只問「每天新增幾篇文章」，還要問「這些文章會觸發多少次助手評估」。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這也解釋了為什麼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併發、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session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provider rate limit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成本會變得很重要。文章數增加時，後面的評估工作會被放大，所以正式環境應該把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 evaluation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視為主要負載來源。</a:t>
            </a:r>
          </a:p>
        </p:txBody>
      </p:sp>
    </p:spTree>
    <p:extLst>
      <p:ext uri="{BB962C8B-B14F-4D97-AF65-F5344CB8AC3E}">
        <p14:creationId xmlns:p14="http://schemas.microsoft.com/office/powerpoint/2010/main" val="27667824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這一頁我們看背景工作實際怎麼跑。流程一開始是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它會找出到期的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然後把工作丟進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 queue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拿到工作之後，會去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RSS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Search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Infominer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這些來源抓資料。</a:t>
            </a: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抓到資料之後，系統會把文章送進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article queue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article processor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會做去重、萃取和摘要；如果需要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就會透過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建立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session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再轉接到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provider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處理完成後，文章會寫入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文章入庫之後，流程還沒有結束。系統會再依照文章來源和助手設定，把助手評估工作送進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 queue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會再一次透過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provider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判斷這篇文章跟某個助手的規則是否相關，最後把結果寫進 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assistantarticles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所以這裡要強調的是，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不是單純備援，而是目前的吞吐量基準。正式環境要一起規劃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queue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connection pool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session capacity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外部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rate limit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concurrency control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只增加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但沒有處理後面這些瓶頸，整體吞吐量不一定會真的提升。</a:t>
            </a:r>
          </a:p>
        </p:txBody>
      </p:sp>
    </p:spTree>
    <p:extLst>
      <p:ext uri="{BB962C8B-B14F-4D97-AF65-F5344CB8AC3E}">
        <p14:creationId xmlns:p14="http://schemas.microsoft.com/office/powerpoint/2010/main" val="8194504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BFE9-BDAE-280B-8DD5-E700368C7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0FA225D-0355-CAAC-A7E5-2B08D2B59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948C75-5477-39A2-5C94-94EB5B818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這一頁要特別補充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的角色。它不是一般的小工具容器，而是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app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共用的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runtime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系統會透過 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COPILOT_CLI_URL 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連到它，再由它負責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SDK session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JSON-RPC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streaming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工具呼叫協調、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permission handler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以及轉接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OpenAI-compatible BYOK provider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也就是說，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本身不做模型推論，但它負責管理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流程的控制面。只要它不穩，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Agent chat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article extraction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 evaluation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都會受到影響。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目前看到它閒置時大約使用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294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CPU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也幾乎沒有壓力。但正式環境不能用這個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idle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數字來估算，因為真正要看的是同時有多少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session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streaming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是否穩定，以及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同時呼叫時會不會把它打滿。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因此正式環境建議把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當成獨立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runtime service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地端至少預留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4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雲端至少規劃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replicas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如果要做高可用，還要驗證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session affinity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active/standby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避免水平擴充後造成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streaming session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中斷或狀態不一致。</a:t>
            </a:r>
          </a:p>
        </p:txBody>
      </p:sp>
    </p:spTree>
    <p:extLst>
      <p:ext uri="{BB962C8B-B14F-4D97-AF65-F5344CB8AC3E}">
        <p14:creationId xmlns:p14="http://schemas.microsoft.com/office/powerpoint/2010/main" val="42048930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F5C75-EC3C-8AD0-EB4D-0061A191F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81A65A9-F39C-DF70-EA0D-5B4743205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E395D90-EF97-B131-0916-6249EBCCEC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這一頁是整份提案的推導橋段。前面我們已經看到目前主機、資料量、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數量，以及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的角色；這一頁要回答的是：為什麼後面會推到這些正式環境規格。</a:t>
            </a:r>
          </a:p>
          <a:p>
            <a:pPr marL="158750" indent="0">
              <a:buNone/>
            </a:pP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首先，現行的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8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15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只能當作觀測基準，不能直接當成正式規格。原因很簡單：正式環境要多承擔尖峰流量、備份、高可用、維運操作，以及服務彼此之間的隔離。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接著我們看五個主要推導面向。第一是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container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這代表目前背景處理的常態吞吐量，所以正式環境至少要能穩定承接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並且保留擴到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的空間。第二是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working set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index growth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這會決定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IOPS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和備份容量。第三是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Redis/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BullMQ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retention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backlog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failed jobs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這會決定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RAM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告警門檻。第四是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它不能用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idle memory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估算，而要看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session concurrency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streaming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穩定性。第五是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SLA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RPO/RTO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以及我們能不能接受單點故障，這會決定要不要做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HA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和資料層備援。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所以後面的規格不是憑空抓的。地端最低起步會落在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16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64 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 TB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NVMe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如果所有服務都放在同一台，保守建議提高到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24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64 GiB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雲端則建議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2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replicas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desired 10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max 20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再搭配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1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replicas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6545873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ACDF9-0454-9867-FDE0-88277C991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3B81752-C91C-BA8C-9D0A-3CFAC0210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B44D02-578D-5F2C-4C59-A3FDAB509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這一頁我們看地端正式環境的目標架構。可以先把它分成四層：入口層、應用層、資料層，以及觀測與備份層。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入口層負責接外部流量，通常會有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Firewall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WAF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Load Balancer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Nginx HA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應用層放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app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pool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資料層放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HA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replica set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最後，觀測與備份層負責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metrics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logs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alerts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和備份保存。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這樣拆分的目的，是不要讓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全部在同一台機器上互相搶資源。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會同時連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又會連到外部的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BYOK LLM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只要其中一個環節被打滿，整個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ingestion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或助手評估流程就可能變慢。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所以如果地端環境要達到正式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SLA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建議不要只做單機放大，而是把資料層和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runtime endpoint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獨立出來，並加上健康檢查、監控和替換策略。這樣維護或故障時，才不會一個服務出問題就拖垮整體流程。</a:t>
            </a:r>
          </a:p>
        </p:txBody>
      </p:sp>
    </p:spTree>
    <p:extLst>
      <p:ext uri="{BB962C8B-B14F-4D97-AF65-F5344CB8AC3E}">
        <p14:creationId xmlns:p14="http://schemas.microsoft.com/office/powerpoint/2010/main" val="4262003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這一頁把地端方案拆成兩種來看。第一種是成本優先的單機正式起步，第二種是比較完整的高可用正式版。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如果先以成本優先來做，最低建議是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16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64 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 TB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NVMe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SSD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這個規格可以承接目前資料量和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的初始運作，不過它仍然是單機架構，所以要接受單點故障風險。也就是說，這個方案適合快速上線和控成本，但不是最理想的正式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SLA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架構。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全部都放在同一台，那我會建議提高到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24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64 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原因是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雖然現在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idle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只看到大約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294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但尖峰時會承擔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session orchestration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要預留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backlog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failed jobs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retention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空間；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也要保留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index working set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如果目標是比較穩定的正式營運，建議走高可用版：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App/Worker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節點、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instances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replica set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HA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節點。這樣的好處是服務可以維護、替換、水平擴充，也比較能承受單一節點故障。</a:t>
            </a:r>
          </a:p>
        </p:txBody>
      </p:sp>
    </p:spTree>
    <p:extLst>
      <p:ext uri="{BB962C8B-B14F-4D97-AF65-F5344CB8AC3E}">
        <p14:creationId xmlns:p14="http://schemas.microsoft.com/office/powerpoint/2010/main" val="405973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這一頁我們看雲端正式環境的目標架構。雲端方案的想法，是把前端、應用層和資料層拆得更清楚，並盡量使用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services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降低維運負擔。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前端可以放在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Static Hosting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加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CDN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透過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HTTPS Load Balancer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WAF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對外服務。應用層則用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container compute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執行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app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replicas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replicas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資料層建議採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services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使用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Atlas M20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M30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起步，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使用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Redis 8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16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則建議做成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private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只允許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連進去，不直接對外開放。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雲端方案最大的價值，是把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備份、監控和一部分高可用責任交給成熟平台處理。這樣工程團隊可以把重點放在應用本身，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pool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也可以依照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depth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做水平擴充，而不是每次都要手動調整主機資源。</a:t>
            </a:r>
          </a:p>
        </p:txBody>
      </p:sp>
    </p:spTree>
    <p:extLst>
      <p:ext uri="{BB962C8B-B14F-4D97-AF65-F5344CB8AC3E}">
        <p14:creationId xmlns:p14="http://schemas.microsoft.com/office/powerpoint/2010/main" val="8487427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這一頁把雲端方案的服務選型和規格整理成表格，方便做採購或平台比較。</a:t>
            </a: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層建議用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Static Hosting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搭配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CDN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app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建議維持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replicas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這樣其中一個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instance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維護或重啟時，另一個還可以承接流量。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則以目前實際使用的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replicas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作為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desired count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後續如果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depth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job duration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上升，可以擴到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20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建議維持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replica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避免同一批排程被重複觸發。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資料服務方面，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建議從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Atlas M20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起步，等正式環境穩定或資料量持續成長後，再升到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M30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retention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已經納入控管的前提下，可以先用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8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如果後續看到尖峰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backlog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failed jobs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快速累積，或安全餘裕不足，再提高到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16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GiB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en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建議部署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replicas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並放在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private LB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private endpoint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後面，只提供給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使用。第一階段我不建議把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換成相容層資料庫，因為目前系統使用的是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Mongoose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query/index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語意，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Atlas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會是風險最低的雲端路徑。同樣地，也不建議讓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app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自己臨時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spawn Copilot CLI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而是用明確的 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COPILOT_CLI_URL 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管理。</a:t>
            </a:r>
          </a:p>
        </p:txBody>
      </p:sp>
    </p:spTree>
    <p:extLst>
      <p:ext uri="{BB962C8B-B14F-4D97-AF65-F5344CB8AC3E}">
        <p14:creationId xmlns:p14="http://schemas.microsoft.com/office/powerpoint/2010/main" val="155239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這一頁談安全、備份和災難復原。這些原則不管是地端或雲端都一樣，只是實作工具不同。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先看網路安全。正式環境對外應該只暴露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Load Balancer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endpoint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都應該放在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private network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裡，只允許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和必要的維運節點連線。雲端可以用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VPC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subnet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WAF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Secrets Manager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Key Vault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地端則可以用防火牆、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DMZ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內部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VLAN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反向代理、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Vault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或既有密碼管理系統。</a:t>
            </a:r>
          </a:p>
          <a:p>
            <a:pPr marL="158750" indent="0">
              <a:buNone/>
            </a:pP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再來是秘密值管理。像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 URI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URL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OpenAI API key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Microsoft OAuth credentials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這些都不應該散落在部署腳本或手動指令裡，而是要集中放在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secrets manager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vault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並且分角色控管權限。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最後是備份和還原。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至少要每日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snapshot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dump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雲端可以使用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snapshot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PITR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地端則需要外部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備份主機或異地保存。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要不要持久化，可以看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是否能重建，但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failure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和重要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operational log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至少要保留。最重要的是，備份不是看到排程成功就結束，還要定期做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restore drill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只有真的演練過還原，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RPO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RTO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才算是可被驗證的承諾。</a:t>
            </a:r>
          </a:p>
        </p:txBody>
      </p:sp>
    </p:spTree>
    <p:extLst>
      <p:ext uri="{BB962C8B-B14F-4D97-AF65-F5344CB8AC3E}">
        <p14:creationId xmlns:p14="http://schemas.microsoft.com/office/powerpoint/2010/main" val="6829501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這一頁談正式環境上線後要怎麼看狀況。簡單說，我們不能只看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CPU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因為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很多瓶頸其實會出現在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資料庫查詢、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session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或外部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LLM/API rate limit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b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層要看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p95 latency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5xx rate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SSE disconnect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層要看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depth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job duration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failed rate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要看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memory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evictions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ops/sec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latency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要看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slow queries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connections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index size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working set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b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另外，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provider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也要納入正式監控。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要追蹤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session latency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active sessions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error rate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container restart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provider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要追蹤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latency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429/5xx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以及每日成本。</a:t>
            </a:r>
            <a:b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zh-TW" alt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這裡的重點是，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擴充不能只看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很多時候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CPU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還沒滿，但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depth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已經上升，或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provider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已經開始回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429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。雲端可以把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depth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接到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autoscaling policy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；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地端即使沒有自動擴充，也應該定義清楚什麼情況要加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加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調整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retention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或擴充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實務上，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queue depth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job duration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session latency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LLM 429 rate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會比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CPU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更能反映真正瓶頸。</a:t>
            </a:r>
          </a:p>
        </p:txBody>
      </p:sp>
    </p:spTree>
    <p:extLst>
      <p:ext uri="{BB962C8B-B14F-4D97-AF65-F5344CB8AC3E}">
        <p14:creationId xmlns:p14="http://schemas.microsoft.com/office/powerpoint/2010/main" val="6901647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最後這一頁我們收斂成建置建議。整體來看，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已經具備正式環境規劃的基礎，但不建議直接沿用目前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8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15 GiB RAM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的單機環境作為正式規格。原因是目前已經有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container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在處理背景工作，而且這些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會共同依賴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Redis/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BullMQ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如果採地端成本優先方案，最低起步建議是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16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64 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 TB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NVMe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這可以作為正式起步，但要接受單點故障。如果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app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全部同機，保守建議提高到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24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64 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如果採雲端方案，建議使用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containerized app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搭配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以及獨立的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private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若目標是正式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SLA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我會比較建議優先考慮雲端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services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或是地端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HA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架構，而不是長期停留在單機方案。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導入順序可以分四步。第一步，先確認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SLA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RPO/RTO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成本上限，以及到底選地端或雲端。第二步，確認容量基準、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BullMQ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retention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queue depth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failed rate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第三步，建立一個接近正式環境的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staging-like production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而且裡面一定要包含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第四步，做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ingestion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 evaluation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壓測，確認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是否足夠、是否需要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max 20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HA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affinity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是否穩定。正式切換後，再依照監控資料持續調整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規格。</a:t>
            </a:r>
          </a:p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55850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兩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9;p49">
            <a:extLst>
              <a:ext uri="{FF2B5EF4-FFF2-40B4-BE49-F238E27FC236}">
                <a16:creationId xmlns:a16="http://schemas.microsoft.com/office/drawing/2014/main" id="{4B1AA4F1-C32F-CE82-074E-09C5168186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388" y="71438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cxnSp>
        <p:nvCxnSpPr>
          <p:cNvPr id="6" name="Google Shape;30;p49">
            <a:extLst>
              <a:ext uri="{FF2B5EF4-FFF2-40B4-BE49-F238E27FC236}">
                <a16:creationId xmlns:a16="http://schemas.microsoft.com/office/drawing/2014/main" id="{29CA88E3-41D3-FF37-BF7E-B456D3066D29}"/>
              </a:ext>
            </a:extLst>
          </p:cNvPr>
          <p:cNvCxnSpPr>
            <a:cxnSpLocks/>
          </p:cNvCxnSpPr>
          <p:nvPr userDrawn="1"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19;p34">
            <a:extLst>
              <a:ext uri="{FF2B5EF4-FFF2-40B4-BE49-F238E27FC236}">
                <a16:creationId xmlns:a16="http://schemas.microsoft.com/office/drawing/2014/main" id="{E8E59DF3-723D-F8D2-F968-6FCDA67BCDDC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49"/>
            <a:ext cx="54721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sp>
        <p:nvSpPr>
          <p:cNvPr id="7" name="Google Shape;19;p34">
            <a:extLst>
              <a:ext uri="{FF2B5EF4-FFF2-40B4-BE49-F238E27FC236}">
                <a16:creationId xmlns:a16="http://schemas.microsoft.com/office/drawing/2014/main" id="{AB88F2E6-F0E1-9028-69C7-33CBCB9759A2}"/>
              </a:ext>
            </a:extLst>
          </p:cNvPr>
          <p:cNvSpPr txBox="1">
            <a:spLocks noGrp="1"/>
          </p:cNvSpPr>
          <p:nvPr>
            <p:ph type="body" idx="10" hasCustomPrompt="1"/>
          </p:nvPr>
        </p:nvSpPr>
        <p:spPr>
          <a:xfrm>
            <a:off x="5868990" y="719149"/>
            <a:ext cx="54721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6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4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2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0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en-US" altLang="zh-TW" sz="8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1650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9" r:id="rId5"/>
    <p:sldLayoutId id="2147483654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正式環境資源與系統架構提案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01ACD8A-4D12-CEB7-1EE7-0B401E349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專案技術堆疊與系統邊界概覽</a:t>
            </a:r>
            <a:endParaRPr lang="zh-TW" altLang="en-US" dirty="0"/>
          </a:p>
        </p:txBody>
      </p:sp>
      <p:pic>
        <p:nvPicPr>
          <p:cNvPr id="8" name="圖片 7" descr="一張含有 圖表, 行, 文字, 方案 的圖片&#10;&#10;AI 產生的內容可能不正確。">
            <a:extLst>
              <a:ext uri="{FF2B5EF4-FFF2-40B4-BE49-F238E27FC236}">
                <a16:creationId xmlns:a16="http://schemas.microsoft.com/office/drawing/2014/main" id="{8672907D-B5C7-997E-BF52-BCA060450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88" y="1074698"/>
            <a:ext cx="11121333" cy="4689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084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AD47E5-8F9A-F58B-F628-8AD3066E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專案技術堆疊與系統邊界概覽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E1CE697-00DD-DA52-B46B-49086500D9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9563773"/>
              </p:ext>
            </p:extLst>
          </p:nvPr>
        </p:nvGraphicFramePr>
        <p:xfrm>
          <a:off x="270242" y="899650"/>
          <a:ext cx="10980000" cy="5040002"/>
        </p:xfrm>
        <a:graphic>
          <a:graphicData uri="http://schemas.openxmlformats.org/drawingml/2006/table">
            <a:tbl>
              <a:tblPr/>
              <a:tblGrid>
                <a:gridCol w="2284282">
                  <a:extLst>
                    <a:ext uri="{9D8B030D-6E8A-4147-A177-3AD203B41FA5}">
                      <a16:colId xmlns:a16="http://schemas.microsoft.com/office/drawing/2014/main" val="3948502883"/>
                    </a:ext>
                  </a:extLst>
                </a:gridCol>
                <a:gridCol w="4005658">
                  <a:extLst>
                    <a:ext uri="{9D8B030D-6E8A-4147-A177-3AD203B41FA5}">
                      <a16:colId xmlns:a16="http://schemas.microsoft.com/office/drawing/2014/main" val="2907572642"/>
                    </a:ext>
                  </a:extLst>
                </a:gridCol>
                <a:gridCol w="4690060">
                  <a:extLst>
                    <a:ext uri="{9D8B030D-6E8A-4147-A177-3AD203B41FA5}">
                      <a16:colId xmlns:a16="http://schemas.microsoft.com/office/drawing/2014/main" val="2651357636"/>
                    </a:ext>
                  </a:extLst>
                </a:gridCol>
              </a:tblGrid>
              <a:tr h="320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層級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正式環境定位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042762"/>
                  </a:ext>
                </a:extLst>
              </a:tr>
              <a:tr h="6480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Frontend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SPA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使用者介面與前端路由，靜態資產可由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Nginx、CDN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static hosting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7119676"/>
                  </a:ext>
                </a:extLst>
              </a:tr>
              <a:tr h="8203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Backend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/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NestJS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 API、SSE、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workspace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權限、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feeds、articles、assistants、briefs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agent runtime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636883"/>
                  </a:ext>
                </a:extLst>
              </a:tr>
              <a:tr h="320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Monorepo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Nx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+ TypeScript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前後端一致建置、測試與部署管理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707263"/>
                  </a:ext>
                </a:extLst>
              </a:tr>
              <a:tr h="5705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Database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+ Mongoose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儲存文章、助手評估、工作空間、通知、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briefs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與使用者狀態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102970"/>
                  </a:ext>
                </a:extLst>
              </a:tr>
              <a:tr h="6480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+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承載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feed、article、assistant、brief、announcement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等背景工作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984889"/>
                  </a:ext>
                </a:extLst>
              </a:tr>
              <a:tr h="5705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Background runtime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 + worker pool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排程與背景處理；正式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sizing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個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 container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為基準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1528439"/>
                  </a:ext>
                </a:extLst>
              </a:tr>
              <a:tr h="5705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runtime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 + </a:t>
                      </a:r>
                    </a:p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OpenAI-compatible BYOK provider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Agent chat、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文章萃取、摘要與助手評估的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control plane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634381"/>
                  </a:ext>
                </a:extLst>
              </a:tr>
              <a:tr h="5705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Deployment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Docker containers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可落地於地端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VM/HA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架構或雲端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container platform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972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1833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53C80681-C176-4267-4BE3-B996573AA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現行環境盤點與容量基準</a:t>
            </a:r>
            <a:endParaRPr lang="zh-TW" altLang="en-US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3C3EFA68-764E-6DB1-61B1-CD86F6B7A3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6662668"/>
              </p:ext>
            </p:extLst>
          </p:nvPr>
        </p:nvGraphicFramePr>
        <p:xfrm>
          <a:off x="321411" y="1081629"/>
          <a:ext cx="6621268" cy="4316916"/>
        </p:xfrm>
        <a:graphic>
          <a:graphicData uri="http://schemas.openxmlformats.org/drawingml/2006/table">
            <a:tbl>
              <a:tblPr/>
              <a:tblGrid>
                <a:gridCol w="2367973">
                  <a:extLst>
                    <a:ext uri="{9D8B030D-6E8A-4147-A177-3AD203B41FA5}">
                      <a16:colId xmlns:a16="http://schemas.microsoft.com/office/drawing/2014/main" val="3248524934"/>
                    </a:ext>
                  </a:extLst>
                </a:gridCol>
                <a:gridCol w="4253295">
                  <a:extLst>
                    <a:ext uri="{9D8B030D-6E8A-4147-A177-3AD203B41FA5}">
                      <a16:colId xmlns:a16="http://schemas.microsoft.com/office/drawing/2014/main" val="1726863037"/>
                    </a:ext>
                  </a:extLst>
                </a:gridCol>
              </a:tblGrid>
              <a:tr h="2956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項目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目前觀測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7234323"/>
                  </a:ext>
                </a:extLst>
              </a:tr>
              <a:tr h="2956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CPU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vCPU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100606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 GiB total /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3.4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available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044234"/>
                  </a:ext>
                </a:extLst>
              </a:tr>
              <a:tr h="2956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CPU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型號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Intel Xeon Gold 6444Y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800794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app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container，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4536929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scheduler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container，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595766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worker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containers，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單個約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88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116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20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container，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1724784"/>
                  </a:ext>
                </a:extLst>
              </a:tr>
              <a:tr h="2956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container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1.53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008894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container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3.49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單次取樣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CPU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94%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438439"/>
                  </a:ext>
                </a:extLst>
              </a:tr>
            </a:tbl>
          </a:graphicData>
        </a:graphic>
      </p:graphicFrame>
      <p:pic>
        <p:nvPicPr>
          <p:cNvPr id="10" name="圖片 9" descr="一張含有 文字, 圖表, 螢幕擷取畫面, 行 的圖片&#10;&#10;AI 產生的內容可能不正確。">
            <a:extLst>
              <a:ext uri="{FF2B5EF4-FFF2-40B4-BE49-F238E27FC236}">
                <a16:creationId xmlns:a16="http://schemas.microsoft.com/office/drawing/2014/main" id="{F6E77F68-FF1D-679C-F0FF-7D32F5C64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702" y="684283"/>
            <a:ext cx="4256398" cy="543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040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542C68-8839-9A8B-97D9-D0C57708D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平台資料規模現況 </a:t>
            </a:r>
            <a:r>
              <a:rPr lang="en-US" altLang="zh-TW" b="1" dirty="0"/>
              <a:t>(2026/6/1)</a:t>
            </a:r>
            <a:endParaRPr lang="zh-TW" altLang="en-US" dirty="0"/>
          </a:p>
        </p:txBody>
      </p:sp>
      <p:pic>
        <p:nvPicPr>
          <p:cNvPr id="5" name="圖片 4" descr="一張含有 文字, 圖表, 圓形, 螢幕擷取畫面 的圖片&#10;&#10;AI 產生的內容可能不正確。">
            <a:extLst>
              <a:ext uri="{FF2B5EF4-FFF2-40B4-BE49-F238E27FC236}">
                <a16:creationId xmlns:a16="http://schemas.microsoft.com/office/drawing/2014/main" id="{E41E590A-3389-EB08-1312-A5A30E14A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100" y="1398131"/>
            <a:ext cx="5760000" cy="3683911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E75A55E-A3FE-54A3-470F-15C8E7332C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876489"/>
              </p:ext>
            </p:extLst>
          </p:nvPr>
        </p:nvGraphicFramePr>
        <p:xfrm>
          <a:off x="422274" y="1003914"/>
          <a:ext cx="5035552" cy="4734930"/>
        </p:xfrm>
        <a:graphic>
          <a:graphicData uri="http://schemas.openxmlformats.org/drawingml/2006/table">
            <a:tbl>
              <a:tblPr/>
              <a:tblGrid>
                <a:gridCol w="2670686">
                  <a:extLst>
                    <a:ext uri="{9D8B030D-6E8A-4147-A177-3AD203B41FA5}">
                      <a16:colId xmlns:a16="http://schemas.microsoft.com/office/drawing/2014/main" val="259132352"/>
                    </a:ext>
                  </a:extLst>
                </a:gridCol>
                <a:gridCol w="2364866">
                  <a:extLst>
                    <a:ext uri="{9D8B030D-6E8A-4147-A177-3AD203B41FA5}">
                      <a16:colId xmlns:a16="http://schemas.microsoft.com/office/drawing/2014/main" val="3310965031"/>
                    </a:ext>
                  </a:extLst>
                </a:gridCol>
              </a:tblGrid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資料類型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數量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用量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475173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collections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440520"/>
                  </a:ext>
                </a:extLst>
              </a:tr>
              <a:tr h="5123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documents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1,113,082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184062"/>
                  </a:ext>
                </a:extLst>
              </a:tr>
              <a:tr h="5123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logical data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934.84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743495"/>
                  </a:ext>
                </a:extLst>
              </a:tr>
              <a:tr h="52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storage + indexes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1.36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5244651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users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172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175309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工作空間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workspaces 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55333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資料來源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176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159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6874716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41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38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25383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文章總數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246,876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029550"/>
                  </a:ext>
                </a:extLst>
              </a:tr>
              <a:tr h="2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收錄總數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859,775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9509251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通知數量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notifications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2,662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0957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9290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3837FF0-BD18-E34D-7D90-7289CB439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資料成長趨勢與負載來源分析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147A043A-80A9-E93B-98A0-73950A1BB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近 </a:t>
            </a:r>
            <a:r>
              <a:rPr lang="en-US" altLang="zh-TW" b="1" dirty="0"/>
              <a:t>7 </a:t>
            </a:r>
            <a:r>
              <a:rPr lang="zh-TW" altLang="en-US" b="1" dirty="0"/>
              <a:t>天文章分布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A9527EF-1F7D-4C3D-9EB2-DB4E2DD17A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97462"/>
              </p:ext>
            </p:extLst>
          </p:nvPr>
        </p:nvGraphicFramePr>
        <p:xfrm>
          <a:off x="309044" y="1011731"/>
          <a:ext cx="4582044" cy="2407920"/>
        </p:xfrm>
        <a:graphic>
          <a:graphicData uri="http://schemas.openxmlformats.org/drawingml/2006/table">
            <a:tbl>
              <a:tblPr/>
              <a:tblGrid>
                <a:gridCol w="1145511">
                  <a:extLst>
                    <a:ext uri="{9D8B030D-6E8A-4147-A177-3AD203B41FA5}">
                      <a16:colId xmlns:a16="http://schemas.microsoft.com/office/drawing/2014/main" val="1443164175"/>
                    </a:ext>
                  </a:extLst>
                </a:gridCol>
                <a:gridCol w="1145511">
                  <a:extLst>
                    <a:ext uri="{9D8B030D-6E8A-4147-A177-3AD203B41FA5}">
                      <a16:colId xmlns:a16="http://schemas.microsoft.com/office/drawing/2014/main" val="3297387404"/>
                    </a:ext>
                  </a:extLst>
                </a:gridCol>
                <a:gridCol w="1145511">
                  <a:extLst>
                    <a:ext uri="{9D8B030D-6E8A-4147-A177-3AD203B41FA5}">
                      <a16:colId xmlns:a16="http://schemas.microsoft.com/office/drawing/2014/main" val="838764606"/>
                    </a:ext>
                  </a:extLst>
                </a:gridCol>
                <a:gridCol w="1145511">
                  <a:extLst>
                    <a:ext uri="{9D8B030D-6E8A-4147-A177-3AD203B41FA5}">
                      <a16:colId xmlns:a16="http://schemas.microsoft.com/office/drawing/2014/main" val="7740174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43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3,163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37,432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103,698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3046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8,490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132,961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418,290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362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418439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FE0FCCE8-9462-5EE5-3660-2FD97FD3C1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006061"/>
              </p:ext>
            </p:extLst>
          </p:nvPr>
        </p:nvGraphicFramePr>
        <p:xfrm>
          <a:off x="309044" y="4139986"/>
          <a:ext cx="4582044" cy="1432560"/>
        </p:xfrm>
        <a:graphic>
          <a:graphicData uri="http://schemas.openxmlformats.org/drawingml/2006/table">
            <a:tbl>
              <a:tblPr/>
              <a:tblGrid>
                <a:gridCol w="2291022">
                  <a:extLst>
                    <a:ext uri="{9D8B030D-6E8A-4147-A177-3AD203B41FA5}">
                      <a16:colId xmlns:a16="http://schemas.microsoft.com/office/drawing/2014/main" val="3890450412"/>
                    </a:ext>
                  </a:extLst>
                </a:gridCol>
                <a:gridCol w="2291022">
                  <a:extLst>
                    <a:ext uri="{9D8B030D-6E8A-4147-A177-3AD203B41FA5}">
                      <a16:colId xmlns:a16="http://schemas.microsoft.com/office/drawing/2014/main" val="4203194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來源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新增文章數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36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31,035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156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Infominer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5,803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6156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Search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594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223953"/>
                  </a:ext>
                </a:extLst>
              </a:tr>
            </a:tbl>
          </a:graphicData>
        </a:graphic>
      </p:graphicFrame>
      <p:pic>
        <p:nvPicPr>
          <p:cNvPr id="12" name="圖片 11" descr="一張含有 文字, 螢幕擷取畫面, 行, 圖表 的圖片&#10;&#10;AI 產生的內容可能不正確。">
            <a:extLst>
              <a:ext uri="{FF2B5EF4-FFF2-40B4-BE49-F238E27FC236}">
                <a16:creationId xmlns:a16="http://schemas.microsoft.com/office/drawing/2014/main" id="{B45136C2-2149-4ACA-E062-C3AC83ECC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494" y="1019651"/>
            <a:ext cx="5760000" cy="4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589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5041E92-989B-9A46-146E-0975F6E83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背景處理流程與 </a:t>
            </a:r>
            <a:r>
              <a:rPr lang="en" altLang="zh-TW" b="1" dirty="0"/>
              <a:t>Worker </a:t>
            </a:r>
            <a:r>
              <a:rPr lang="zh-TW" altLang="en-US" b="1" dirty="0"/>
              <a:t>併發模型</a:t>
            </a:r>
          </a:p>
        </p:txBody>
      </p:sp>
      <p:pic>
        <p:nvPicPr>
          <p:cNvPr id="8" name="圖片 7" descr="一張含有 文字, 收據, 行, 螢幕擷取畫面 的圖片&#10;&#10;AI 產生的內容可能不正確。">
            <a:extLst>
              <a:ext uri="{FF2B5EF4-FFF2-40B4-BE49-F238E27FC236}">
                <a16:creationId xmlns:a16="http://schemas.microsoft.com/office/drawing/2014/main" id="{B7212FA8-44FB-AD02-A86A-6E3FB5D26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88" y="1155153"/>
            <a:ext cx="11161712" cy="452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742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3B69F-5174-A6B4-2FBE-79580190E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E5B19756-50D1-C758-BC5D-212204A71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b="1" dirty="0"/>
              <a:t>Copilot CLI Server </a:t>
            </a:r>
            <a:r>
              <a:rPr lang="zh-TW" altLang="en-US" b="1" dirty="0"/>
              <a:t>與 </a:t>
            </a:r>
            <a:r>
              <a:rPr lang="en" altLang="zh-TW" b="1" dirty="0"/>
              <a:t>LLM Runtime </a:t>
            </a:r>
            <a:r>
              <a:rPr lang="zh-TW" altLang="en-US" b="1" dirty="0"/>
              <a:t>架構依賴</a:t>
            </a:r>
            <a:endParaRPr lang="zh-TW" altLang="en-US" dirty="0"/>
          </a:p>
        </p:txBody>
      </p:sp>
      <p:pic>
        <p:nvPicPr>
          <p:cNvPr id="3" name="圖片 2" descr="一張含有 文字, 行, 圖表, 字型 的圖片&#10;&#10;AI 產生的內容可能不正確。">
            <a:extLst>
              <a:ext uri="{FF2B5EF4-FFF2-40B4-BE49-F238E27FC236}">
                <a16:creationId xmlns:a16="http://schemas.microsoft.com/office/drawing/2014/main" id="{C6C17537-D257-2967-CC17-7F34ABDE5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5" y="1136330"/>
            <a:ext cx="11163878" cy="424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005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65A66-D067-312F-6F8C-15BF5B0A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BA14674-C702-8CD8-F724-D35985064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容量估算模型與正式規格推導</a:t>
            </a:r>
            <a:endParaRPr lang="zh-TW" altLang="en-US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6BE2AF2-DF98-D750-791B-677C61E8D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816553"/>
              </p:ext>
            </p:extLst>
          </p:nvPr>
        </p:nvGraphicFramePr>
        <p:xfrm>
          <a:off x="270244" y="959192"/>
          <a:ext cx="10980000" cy="5040001"/>
        </p:xfrm>
        <a:graphic>
          <a:graphicData uri="http://schemas.openxmlformats.org/drawingml/2006/table">
            <a:tbl>
              <a:tblPr/>
              <a:tblGrid>
                <a:gridCol w="1612659">
                  <a:extLst>
                    <a:ext uri="{9D8B030D-6E8A-4147-A177-3AD203B41FA5}">
                      <a16:colId xmlns:a16="http://schemas.microsoft.com/office/drawing/2014/main" val="2123368786"/>
                    </a:ext>
                  </a:extLst>
                </a:gridCol>
                <a:gridCol w="3122447">
                  <a:extLst>
                    <a:ext uri="{9D8B030D-6E8A-4147-A177-3AD203B41FA5}">
                      <a16:colId xmlns:a16="http://schemas.microsoft.com/office/drawing/2014/main" val="1069270127"/>
                    </a:ext>
                  </a:extLst>
                </a:gridCol>
                <a:gridCol w="3122447">
                  <a:extLst>
                    <a:ext uri="{9D8B030D-6E8A-4147-A177-3AD203B41FA5}">
                      <a16:colId xmlns:a16="http://schemas.microsoft.com/office/drawing/2014/main" val="1248998521"/>
                    </a:ext>
                  </a:extLst>
                </a:gridCol>
                <a:gridCol w="3122447">
                  <a:extLst>
                    <a:ext uri="{9D8B030D-6E8A-4147-A177-3AD203B41FA5}">
                      <a16:colId xmlns:a16="http://schemas.microsoft.com/office/drawing/2014/main" val="3028758474"/>
                    </a:ext>
                  </a:extLst>
                </a:gridCol>
              </a:tblGrid>
              <a:tr h="326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估算面向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現況基準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正式環境推導方式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規格影響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202012"/>
                  </a:ext>
                </a:extLst>
              </a:tr>
              <a:tr h="5768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主機基準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vCPU /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現況只作參考，不直接作為正式規格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正式環境需預留尖峰、備援與維運空間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474158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背景併發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個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 container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desired 10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為常態吞吐量，保留擴到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的空間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CPU、Redis queue、MongoDB connections、LLM request rate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214502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資料庫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physical size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1.36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GiB，indexes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824.84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working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set、index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growth、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備份與查詢延遲估算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RAM、IOPS、storage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與備份容量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958491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current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34.35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MiB，peak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3.71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retention、backlog、failed jobs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設計容量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RAM、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持久化與告警門檻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3195975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runtime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idle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294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不用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idle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值估算，改以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尖峰與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HA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規劃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CPU/RAM、replicas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endpoint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設計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405971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可用性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單機開發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準正式基準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依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SLA、RPO/RTO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與是否接受單點故障決定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影響節點數、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replica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set、Redis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HA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與備份策略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495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709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0D8E7-39C8-1526-3062-EBAE24F9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D6A2B2A-31CB-BCB5-B060-583EF6320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地端正式環境目標架構</a:t>
            </a:r>
            <a:endParaRPr lang="zh-TW" altLang="en-US" dirty="0"/>
          </a:p>
        </p:txBody>
      </p:sp>
      <p:pic>
        <p:nvPicPr>
          <p:cNvPr id="7" name="圖片 6" descr="一張含有 文字, 圖表, 行, 方案 的圖片&#10;&#10;AI 產生的內容可能不正確。">
            <a:extLst>
              <a:ext uri="{FF2B5EF4-FFF2-40B4-BE49-F238E27FC236}">
                <a16:creationId xmlns:a16="http://schemas.microsoft.com/office/drawing/2014/main" id="{FDF4EFA3-DEBC-4093-EC9C-88FD84F7D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697" y="719138"/>
            <a:ext cx="11025403" cy="5401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25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E523D7-1DBB-94F3-0598-5F448DDD3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地端硬體資源配置建議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1C676A0-063F-C6DC-B2AD-9E14D53EF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單機正式起步，成本優先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B13F6A7-99BC-8B3D-3226-1AF992300943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zh-TW" altLang="en-US" b="1" dirty="0"/>
              <a:t>高可用正式版，建議目標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2F0E2C9-9145-83CA-8603-270C7A6148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809656"/>
              </p:ext>
            </p:extLst>
          </p:nvPr>
        </p:nvGraphicFramePr>
        <p:xfrm>
          <a:off x="507478" y="1286994"/>
          <a:ext cx="4819896" cy="3474016"/>
        </p:xfrm>
        <a:graphic>
          <a:graphicData uri="http://schemas.openxmlformats.org/drawingml/2006/table">
            <a:tbl>
              <a:tblPr/>
              <a:tblGrid>
                <a:gridCol w="1866932">
                  <a:extLst>
                    <a:ext uri="{9D8B030D-6E8A-4147-A177-3AD203B41FA5}">
                      <a16:colId xmlns:a16="http://schemas.microsoft.com/office/drawing/2014/main" val="56781804"/>
                    </a:ext>
                  </a:extLst>
                </a:gridCol>
                <a:gridCol w="2952964">
                  <a:extLst>
                    <a:ext uri="{9D8B030D-6E8A-4147-A177-3AD203B41FA5}">
                      <a16:colId xmlns:a16="http://schemas.microsoft.com/office/drawing/2014/main" val="753797986"/>
                    </a:ext>
                  </a:extLst>
                </a:gridCol>
              </a:tblGrid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建議規格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23034"/>
                  </a:ext>
                </a:extLst>
              </a:tr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主機，最低可用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vCPU / 64 GiB RAM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3832"/>
                  </a:ext>
                </a:extLst>
              </a:tr>
              <a:tr h="39024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主機，同機保守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24 vCPU / 64 GiB RAM，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適用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</a:t>
                      </a:r>
                      <a:r>
                        <a:rPr lang="en" sz="14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CLI、MongoDB、Redis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全部同機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1430596"/>
                  </a:ext>
                </a:extLst>
              </a:tr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磁碟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TB </a:t>
                      </a:r>
                      <a:r>
                        <a:rPr lang="en" sz="14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NVMe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SSD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844085"/>
                  </a:ext>
                </a:extLst>
              </a:tr>
              <a:tr h="24861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containers，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每個預留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0.5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512 MiB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057500"/>
                  </a:ext>
                </a:extLst>
              </a:tr>
              <a:tr h="38271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預留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2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RAM；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若高可用則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instances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9105535"/>
                  </a:ext>
                </a:extLst>
              </a:tr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預留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5676398"/>
                  </a:ext>
                </a:extLst>
              </a:tr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預留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383062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123E37C-203B-29E5-D060-46ECDDADF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1891973"/>
              </p:ext>
            </p:extLst>
          </p:nvPr>
        </p:nvGraphicFramePr>
        <p:xfrm>
          <a:off x="6193360" y="1286994"/>
          <a:ext cx="4819650" cy="3360420"/>
        </p:xfrm>
        <a:graphic>
          <a:graphicData uri="http://schemas.openxmlformats.org/drawingml/2006/table">
            <a:tbl>
              <a:tblPr/>
              <a:tblGrid>
                <a:gridCol w="2119709">
                  <a:extLst>
                    <a:ext uri="{9D8B030D-6E8A-4147-A177-3AD203B41FA5}">
                      <a16:colId xmlns:a16="http://schemas.microsoft.com/office/drawing/2014/main" val="631541485"/>
                    </a:ext>
                  </a:extLst>
                </a:gridCol>
                <a:gridCol w="2699941">
                  <a:extLst>
                    <a:ext uri="{9D8B030D-6E8A-4147-A177-3AD203B41FA5}">
                      <a16:colId xmlns:a16="http://schemas.microsoft.com/office/drawing/2014/main" val="39920227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層級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建議規格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142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App/Worker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節點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 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台，每台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32 GiB RAM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347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台或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replicas，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2 GiB RAM，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透過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endpoint 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連線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38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replica set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台，每台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16 GiB RAM / 500 GB </a:t>
                      </a: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NVMe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SSD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498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HA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台，每台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8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978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Load balancer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台小型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VM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或硬體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虛擬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83853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每日至少一次，保留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14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1714"/>
                  </a:ext>
                </a:extLst>
              </a:tr>
            </a:tbl>
          </a:graphicData>
        </a:graphic>
      </p:graphicFrame>
      <p:pic>
        <p:nvPicPr>
          <p:cNvPr id="9" name="圖片 8">
            <a:extLst>
              <a:ext uri="{FF2B5EF4-FFF2-40B4-BE49-F238E27FC236}">
                <a16:creationId xmlns:a16="http://schemas.microsoft.com/office/drawing/2014/main" id="{5BD639D5-72EA-2409-2EF2-C3E747DD1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79" y="4991579"/>
            <a:ext cx="10505531" cy="76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44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C76462-7BAE-6D5E-8305-364A8235E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雲端正式環境目標架構</a:t>
            </a:r>
            <a:endParaRPr lang="zh-TW" altLang="en-US" dirty="0"/>
          </a:p>
        </p:txBody>
      </p:sp>
      <p:pic>
        <p:nvPicPr>
          <p:cNvPr id="7" name="圖片 6" descr="一張含有 文字, 圖表, 行, 螢幕擷取畫面 的圖片&#10;&#10;AI 產生的內容可能不正確。">
            <a:extLst>
              <a:ext uri="{FF2B5EF4-FFF2-40B4-BE49-F238E27FC236}">
                <a16:creationId xmlns:a16="http://schemas.microsoft.com/office/drawing/2014/main" id="{C7175291-5E53-C00E-2AE7-DCDB3CBD5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88" y="784055"/>
            <a:ext cx="11161712" cy="527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901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96E34D-E82B-A211-DD25-CA7D8A5F3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雲端服務選型與資源配置建議</a:t>
            </a:r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8418F25-2136-37E1-D74E-032AE5C59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資源配置建議</a:t>
            </a:r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48998EB6-D68E-A044-7FE6-BF237FE41DC8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zh-TW" altLang="en-US" b="1" dirty="0"/>
              <a:t>雲端服務選型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D842C77-3BE2-664F-4D9E-68DA57834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964329"/>
              </p:ext>
            </p:extLst>
          </p:nvPr>
        </p:nvGraphicFramePr>
        <p:xfrm>
          <a:off x="419657" y="1310897"/>
          <a:ext cx="5119752" cy="4215015"/>
        </p:xfrm>
        <a:graphic>
          <a:graphicData uri="http://schemas.openxmlformats.org/drawingml/2006/table">
            <a:tbl>
              <a:tblPr/>
              <a:tblGrid>
                <a:gridCol w="1849665">
                  <a:extLst>
                    <a:ext uri="{9D8B030D-6E8A-4147-A177-3AD203B41FA5}">
                      <a16:colId xmlns:a16="http://schemas.microsoft.com/office/drawing/2014/main" val="2780666806"/>
                    </a:ext>
                  </a:extLst>
                </a:gridCol>
                <a:gridCol w="3270087">
                  <a:extLst>
                    <a:ext uri="{9D8B030D-6E8A-4147-A177-3AD203B41FA5}">
                      <a16:colId xmlns:a16="http://schemas.microsoft.com/office/drawing/2014/main" val="840754368"/>
                    </a:ext>
                  </a:extLst>
                </a:gridCol>
              </a:tblGrid>
              <a:tr h="254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建議規格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56625"/>
                  </a:ext>
                </a:extLst>
              </a:tr>
              <a:tr h="254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Web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Static hosting + CDN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57967"/>
                  </a:ext>
                </a:extLst>
              </a:tr>
              <a:tr h="420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app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replicas，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2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865493"/>
                  </a:ext>
                </a:extLst>
              </a:tr>
              <a:tr h="5856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desired 10 replicas，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0.5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512 MiB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810914"/>
                  </a:ext>
                </a:extLst>
              </a:tr>
              <a:tr h="420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replica，0.5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512 MiB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23054"/>
                  </a:ext>
                </a:extLst>
              </a:tr>
              <a:tr h="751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replicas，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1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RAM；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高可用需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LB / connection affinity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761647"/>
                  </a:ext>
                </a:extLst>
              </a:tr>
              <a:tr h="420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Atlas M20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起步；正式穩定或成長後升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M30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068412"/>
                  </a:ext>
                </a:extLst>
              </a:tr>
              <a:tr h="420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GiB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起步；未清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job history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前建議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488966"/>
                  </a:ext>
                </a:extLst>
              </a:tr>
              <a:tr h="5856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daily snapshots + </a:t>
                      </a: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PITR；Redis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依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可重建程度決定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3925961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BF1A054-3755-C3FA-4C05-589494D021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78660"/>
              </p:ext>
            </p:extLst>
          </p:nvPr>
        </p:nvGraphicFramePr>
        <p:xfrm>
          <a:off x="6076126" y="1310897"/>
          <a:ext cx="5057840" cy="4111625"/>
        </p:xfrm>
        <a:graphic>
          <a:graphicData uri="http://schemas.openxmlformats.org/drawingml/2006/table">
            <a:tbl>
              <a:tblPr/>
              <a:tblGrid>
                <a:gridCol w="1264460">
                  <a:extLst>
                    <a:ext uri="{9D8B030D-6E8A-4147-A177-3AD203B41FA5}">
                      <a16:colId xmlns:a16="http://schemas.microsoft.com/office/drawing/2014/main" val="4060893576"/>
                    </a:ext>
                  </a:extLst>
                </a:gridCol>
                <a:gridCol w="1264460">
                  <a:extLst>
                    <a:ext uri="{9D8B030D-6E8A-4147-A177-3AD203B41FA5}">
                      <a16:colId xmlns:a16="http://schemas.microsoft.com/office/drawing/2014/main" val="566723699"/>
                    </a:ext>
                  </a:extLst>
                </a:gridCol>
                <a:gridCol w="1264460">
                  <a:extLst>
                    <a:ext uri="{9D8B030D-6E8A-4147-A177-3AD203B41FA5}">
                      <a16:colId xmlns:a16="http://schemas.microsoft.com/office/drawing/2014/main" val="3535926478"/>
                    </a:ext>
                  </a:extLst>
                </a:gridCol>
                <a:gridCol w="1264460">
                  <a:extLst>
                    <a:ext uri="{9D8B030D-6E8A-4147-A177-3AD203B41FA5}">
                      <a16:colId xmlns:a16="http://schemas.microsoft.com/office/drawing/2014/main" val="366705029"/>
                    </a:ext>
                  </a:extLst>
                </a:gridCol>
              </a:tblGrid>
              <a:tr h="30430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AWS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Azure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GCP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634140"/>
                  </a:ext>
                </a:extLst>
              </a:tr>
              <a:tr h="7006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Container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ECS/Fargate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EKS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Container Apps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AKS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 Run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GKE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6090663"/>
                  </a:ext>
                </a:extLst>
              </a:tr>
              <a:tr h="7006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CDN/WAF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CloudFront + WAF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Front Door + WAF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 CDN + Cloud Armor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7387911"/>
                  </a:ext>
                </a:extLst>
              </a:tr>
              <a:tr h="7006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ElastiCache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Redis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Azure Cache for Redis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Memorystore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for Redis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117664"/>
                  </a:ext>
                </a:extLst>
              </a:tr>
              <a:tr h="7006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Atlas on AWS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Atlas on Azure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Atlas on GCP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336388"/>
                  </a:ext>
                </a:extLst>
              </a:tr>
              <a:tr h="50245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Secrets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Secrets Manager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Key Vault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Secret Manager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527477"/>
                  </a:ext>
                </a:extLst>
              </a:tr>
              <a:tr h="50245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Observability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CloudWatch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Azure Monitor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 Monitoring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52790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6479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0A07C4-3598-65BC-D07F-724026954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安全控管、備份與災難復原策略</a:t>
            </a:r>
            <a:endParaRPr kumimoji="1" lang="zh-TW" altLang="en-US" dirty="0"/>
          </a:p>
        </p:txBody>
      </p:sp>
      <p:pic>
        <p:nvPicPr>
          <p:cNvPr id="7" name="圖片 6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B9642B4E-DCA0-BE62-423D-E8FDB6596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85" y="899662"/>
            <a:ext cx="4162721" cy="5040000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7A644465-E11E-D788-80FC-87B3EAC6FF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098224"/>
              </p:ext>
            </p:extLst>
          </p:nvPr>
        </p:nvGraphicFramePr>
        <p:xfrm>
          <a:off x="397564" y="1096799"/>
          <a:ext cx="5253935" cy="4645725"/>
        </p:xfrm>
        <a:graphic>
          <a:graphicData uri="http://schemas.openxmlformats.org/drawingml/2006/table">
            <a:tbl>
              <a:tblPr/>
              <a:tblGrid>
                <a:gridCol w="1520119">
                  <a:extLst>
                    <a:ext uri="{9D8B030D-6E8A-4147-A177-3AD203B41FA5}">
                      <a16:colId xmlns:a16="http://schemas.microsoft.com/office/drawing/2014/main" val="1586820247"/>
                    </a:ext>
                  </a:extLst>
                </a:gridCol>
                <a:gridCol w="3733816">
                  <a:extLst>
                    <a:ext uri="{9D8B030D-6E8A-4147-A177-3AD203B41FA5}">
                      <a16:colId xmlns:a16="http://schemas.microsoft.com/office/drawing/2014/main" val="1717609235"/>
                    </a:ext>
                  </a:extLst>
                </a:gridCol>
              </a:tblGrid>
              <a:tr h="283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面向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150311"/>
                  </a:ext>
                </a:extLst>
              </a:tr>
              <a:tr h="65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網路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Web/API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對外；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MongoDB/Redis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僅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network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845084"/>
                  </a:ext>
                </a:extLst>
              </a:tr>
              <a:tr h="46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僅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endpoint；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只允許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API/worker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連線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6517780"/>
                  </a:ext>
                </a:extLst>
              </a:tr>
              <a:tr h="46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憑證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TLS everywhere；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秘密值放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Secrets Manager/Key Vault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388301"/>
                  </a:ext>
                </a:extLst>
              </a:tr>
              <a:tr h="65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身分權限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最小權限、分角色帳號、資料庫帳號分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app/backup/admin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528599"/>
                  </a:ext>
                </a:extLst>
              </a:tr>
              <a:tr h="46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備份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daily snapshot + restore drill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247806"/>
                  </a:ext>
                </a:extLst>
              </a:tr>
              <a:tr h="65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RPO/RTO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起步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RPO 24h / RTO 4h；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正式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HA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可降到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RPO 1h / RTO 1h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952119"/>
                  </a:ext>
                </a:extLst>
              </a:tr>
              <a:tr h="46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稽核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admin audit、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登入、資料異動與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failure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保留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22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1694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4C772-BC05-642E-E3AB-3C3E9262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可觀測性、告警與擴充機制</a:t>
            </a:r>
            <a:endParaRPr kumimoji="1"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832473-E209-AA06-526E-F7AC3F6FE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30765"/>
              </p:ext>
            </p:extLst>
          </p:nvPr>
        </p:nvGraphicFramePr>
        <p:xfrm>
          <a:off x="270244" y="1025090"/>
          <a:ext cx="10980000" cy="4199044"/>
        </p:xfrm>
        <a:graphic>
          <a:graphicData uri="http://schemas.openxmlformats.org/drawingml/2006/table">
            <a:tbl>
              <a:tblPr/>
              <a:tblGrid>
                <a:gridCol w="2371012">
                  <a:extLst>
                    <a:ext uri="{9D8B030D-6E8A-4147-A177-3AD203B41FA5}">
                      <a16:colId xmlns:a16="http://schemas.microsoft.com/office/drawing/2014/main" val="3476087647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1376718494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2700649521"/>
                    </a:ext>
                  </a:extLst>
                </a:gridCol>
              </a:tblGrid>
              <a:tr h="240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建議告警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34179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latency、5xx rate、SSE disconnects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1s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xx &gt; 1%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75832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depth、job duration、failed rate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waiting &gt; 1,000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failed rate &gt; 5%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1834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latency、active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sessions、error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rate、container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2s、error &gt; 1%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3332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memory、evictions、ops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sec、latency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 &gt; 75%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evictions &gt; 0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06408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index size、working set、slow queries、connections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slow query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增加或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connections &gt; 80%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796917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LLM/API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latency、429/5xx、cost per day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429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出現或每日成本超標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226446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Storage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DB growth、backup success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 failed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disk &gt; 70%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7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0785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C74E2B-39D7-359A-C70B-82540C53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正式環境建置結論與導入建議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91E1199-BB0C-4912-1CAF-F485B62ECB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5" name="圖片 4" descr="一張含有 文字, 螢幕擷取畫面, 行, 圖表 的圖片&#10;&#10;AI 產生的內容可能不正確。">
            <a:extLst>
              <a:ext uri="{FF2B5EF4-FFF2-40B4-BE49-F238E27FC236}">
                <a16:creationId xmlns:a16="http://schemas.microsoft.com/office/drawing/2014/main" id="{976A47E5-9D86-271B-CABE-9BC9CA4EFB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44" y="719138"/>
            <a:ext cx="10980000" cy="1954931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CA56840-A7A2-2136-1A4B-C6F588C42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829468"/>
              </p:ext>
            </p:extLst>
          </p:nvPr>
        </p:nvGraphicFramePr>
        <p:xfrm>
          <a:off x="270244" y="3039042"/>
          <a:ext cx="10980000" cy="2783799"/>
        </p:xfrm>
        <a:graphic>
          <a:graphicData uri="http://schemas.openxmlformats.org/drawingml/2006/table">
            <a:tbl>
              <a:tblPr/>
              <a:tblGrid>
                <a:gridCol w="1602278">
                  <a:extLst>
                    <a:ext uri="{9D8B030D-6E8A-4147-A177-3AD203B41FA5}">
                      <a16:colId xmlns:a16="http://schemas.microsoft.com/office/drawing/2014/main" val="2808553507"/>
                    </a:ext>
                  </a:extLst>
                </a:gridCol>
                <a:gridCol w="9377722">
                  <a:extLst>
                    <a:ext uri="{9D8B030D-6E8A-4147-A177-3AD203B41FA5}">
                      <a16:colId xmlns:a16="http://schemas.microsoft.com/office/drawing/2014/main" val="1039803042"/>
                    </a:ext>
                  </a:extLst>
                </a:gridCol>
              </a:tblGrid>
              <a:tr h="239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決策項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434528"/>
                  </a:ext>
                </a:extLst>
              </a:tr>
              <a:tr h="832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雲端架構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managed MongoDB + managed Redis + container app/worker/scheduler + Copilot CLI private endpoint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213979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地端首選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HA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版：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App/Worker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節點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x3、Copilot CLI x2、MongoDB replica set x3、Redis HA x2-3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199575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成本優先地端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單機最低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64 GiB / 1 TB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NVMe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全同機保守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64 GiB，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但需接受單點故障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1790"/>
                  </a:ext>
                </a:extLst>
              </a:tr>
              <a:tr h="390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基準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維持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desired 10 replicas；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依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擴到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8888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9909878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2738</TotalTime>
  <Words>5184</Words>
  <Application>Microsoft Macintosh PowerPoint</Application>
  <PresentationFormat>自訂</PresentationFormat>
  <Paragraphs>381</Paragraphs>
  <Slides>16</Slides>
  <Notes>16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4" baseType="lpstr">
      <vt:lpstr>微軟正黑體</vt:lpstr>
      <vt:lpstr>微軟正黑體</vt:lpstr>
      <vt:lpstr>標準系統字體</vt:lpstr>
      <vt:lpstr>Microsoft JhengHei Light</vt:lpstr>
      <vt:lpstr>Arial</vt:lpstr>
      <vt:lpstr>Roboto</vt:lpstr>
      <vt:lpstr>Times New Roman</vt:lpstr>
      <vt:lpstr>數科處範本</vt:lpstr>
      <vt:lpstr>InfoGather</vt:lpstr>
      <vt:lpstr>專案技術堆疊與系統邊界概覽</vt:lpstr>
      <vt:lpstr>專案技術堆疊與系統邊界概覽</vt:lpstr>
      <vt:lpstr>現行環境盤點與容量基準</vt:lpstr>
      <vt:lpstr>平台資料規模現況 (2026/6/1)</vt:lpstr>
      <vt:lpstr>資料成長趨勢與負載來源分析</vt:lpstr>
      <vt:lpstr>背景處理流程與 Worker 併發模型</vt:lpstr>
      <vt:lpstr>Copilot CLI Server 與 LLM Runtime 架構依賴</vt:lpstr>
      <vt:lpstr>容量估算模型與正式規格推導</vt:lpstr>
      <vt:lpstr>地端正式環境目標架構</vt:lpstr>
      <vt:lpstr>地端硬體資源配置建議</vt:lpstr>
      <vt:lpstr>雲端正式環境目標架構</vt:lpstr>
      <vt:lpstr>雲端服務選型與資源配置建議</vt:lpstr>
      <vt:lpstr>安全控管、備份與災難復原策略</vt:lpstr>
      <vt:lpstr>可觀測性、告警與擴充機制</vt:lpstr>
      <vt:lpstr>正式環境建置結論與導入建議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133</cp:revision>
  <dcterms:modified xsi:type="dcterms:W3CDTF">2026-06-02T10:23:01Z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