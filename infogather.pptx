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4"/>
  </p:sldMasterIdLst>
  <p:notesMasterIdLst>
    <p:notesMasterId r:id="rId20"/>
  </p:notesMasterIdLst>
  <p:sldIdLst>
    <p:sldId id="256" r:id="rId5"/>
    <p:sldId id="2147471220" r:id="rId6"/>
    <p:sldId id="2147471203" r:id="rId7"/>
    <p:sldId id="2147471206" r:id="rId8"/>
    <p:sldId id="2147471207" r:id="rId9"/>
    <p:sldId id="2147471208" r:id="rId10"/>
    <p:sldId id="2147471209" r:id="rId11"/>
    <p:sldId id="2147471210" r:id="rId12"/>
    <p:sldId id="2147471211" r:id="rId13"/>
    <p:sldId id="2147471212" r:id="rId14"/>
    <p:sldId id="2147471214" r:id="rId15"/>
    <p:sldId id="2147471215" r:id="rId16"/>
    <p:sldId id="2147471216" r:id="rId17"/>
    <p:sldId id="2147471217" r:id="rId18"/>
    <p:sldId id="2147471221" r:id="rId19"/>
  </p:sldIdLst>
  <p:sldSz cx="11520488" cy="6480175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2" roundtripDataSignature="AMtx7mhqKJAzFugGzrpaCdpbPJOL8Owfd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周立筠-數位金融部-證券" initials="MSOffice" lastIdx="1" clrIdx="0">
    <p:extLst>
      <p:ext uri="{19B8F6BF-5375-455C-9EA6-DF929625EA0E}">
        <p15:presenceInfo xmlns:p15="http://schemas.microsoft.com/office/powerpoint/2012/main" userId="周立筠-數位金融部-證券" providerId="None"/>
      </p:ext>
    </p:extLst>
  </p:cmAuthor>
  <p:cmAuthor id="2" name="吳憲驊-人力資源處-永豐銀行" initials="吳憲驊-人力資源處-永豐銀行" lastIdx="1" clrIdx="1">
    <p:extLst>
      <p:ext uri="{19B8F6BF-5375-455C-9EA6-DF929625EA0E}">
        <p15:presenceInfo xmlns:p15="http://schemas.microsoft.com/office/powerpoint/2012/main" userId="S::simonwu@sinopac.com::c372d5aa-c765-4280-a5c9-548c4152a5d4" providerId="AD"/>
      </p:ext>
    </p:extLst>
  </p:cmAuthor>
  <p:cmAuthor id="3" name="張天豪-數位金融處-永豐銀行" initials="張天豪-數位金融處-永豐銀行" lastIdx="1" clrIdx="2">
    <p:extLst>
      <p:ext uri="{19B8F6BF-5375-455C-9EA6-DF929625EA0E}">
        <p15:presenceInfo xmlns:p15="http://schemas.microsoft.com/office/powerpoint/2012/main" userId="S::darby@sinopac.com::0d835702-99c9-4ef6-82d8-3ca86d4ccc1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2006"/>
    <a:srgbClr val="713F12"/>
    <a:srgbClr val="854D0E"/>
    <a:srgbClr val="A16207"/>
    <a:srgbClr val="CA8A04"/>
    <a:srgbClr val="EAB308"/>
    <a:srgbClr val="FACC15"/>
    <a:srgbClr val="FDE047"/>
    <a:srgbClr val="FEF08A"/>
    <a:srgbClr val="FEF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DB7C30-2B5D-4D34-8F22-85940E495A18}">
  <a:tblStyle styleId="{91DB7C30-2B5D-4D34-8F22-85940E495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D87DB6-C1B6-446D-86CF-44D372F8A82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7E2D07F-EAD9-47BB-8D15-AB9D181D91B3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850"/>
    <p:restoredTop sz="67250"/>
  </p:normalViewPr>
  <p:slideViewPr>
    <p:cSldViewPr snapToGrid="0">
      <p:cViewPr varScale="1">
        <p:scale>
          <a:sx n="79" d="100"/>
          <a:sy n="79" d="100"/>
        </p:scale>
        <p:origin x="74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3" Type="http://schemas.openxmlformats.org/officeDocument/2006/relationships/commentAuthors" Target="commentAuthors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52" Type="http://customschemas.google.com/relationships/presentationmetadata" Target="meta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6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鄧昱辰-數位金融處-永豐銀行" userId="S::abnerden@sinopac.com::bac69c27-d65c-4a8e-9604-5b752fd98276" providerId="AD" clId="Web-{BD436DF0-F36C-3C10-2DF2-C064A6340344}"/>
    <pc:docChg chg="modSld">
      <pc:chgData name="鄧昱辰-數位金融處-永豐銀行" userId="S::abnerden@sinopac.com::bac69c27-d65c-4a8e-9604-5b752fd98276" providerId="AD" clId="Web-{BD436DF0-F36C-3C10-2DF2-C064A6340344}" dt="2025-07-02T08:48:48.862" v="4" actId="20577"/>
      <pc:docMkLst>
        <pc:docMk/>
      </pc:docMkLst>
      <pc:sldChg chg="modSp">
        <pc:chgData name="鄧昱辰-數位金融處-永豐銀行" userId="S::abnerden@sinopac.com::bac69c27-d65c-4a8e-9604-5b752fd98276" providerId="AD" clId="Web-{BD436DF0-F36C-3C10-2DF2-C064A6340344}" dt="2025-07-02T08:48:48.862" v="4" actId="20577"/>
        <pc:sldMkLst>
          <pc:docMk/>
          <pc:sldMk cId="4060586183" sldId="2147471188"/>
        </pc:sldMkLst>
      </pc:sldChg>
    </pc:docChg>
  </pc:docChgLst>
  <pc:docChgLst>
    <pc:chgData name="周立筠-數據應用部-永豐金證券" userId="ee349c15-f274-43a3-b0c9-48d528d95247" providerId="ADAL" clId="{60EF727E-7560-4199-9548-178954D6DF8E}"/>
    <pc:docChg chg="undo custSel modSld">
      <pc:chgData name="周立筠-數據應用部-永豐金證券" userId="ee349c15-f274-43a3-b0c9-48d528d95247" providerId="ADAL" clId="{60EF727E-7560-4199-9548-178954D6DF8E}" dt="2024-08-23T09:45:13.775" v="159" actId="14100"/>
      <pc:docMkLst>
        <pc:docMk/>
      </pc:docMkLst>
      <pc:sldChg chg="modSp addCm modCm">
        <pc:chgData name="周立筠-數據應用部-永豐金證券" userId="ee349c15-f274-43a3-b0c9-48d528d95247" providerId="ADAL" clId="{60EF727E-7560-4199-9548-178954D6DF8E}" dt="2024-08-23T09:28:50.074" v="151" actId="14100"/>
        <pc:sldMkLst>
          <pc:docMk/>
          <pc:sldMk cId="3262633635" sldId="297"/>
        </pc:sldMkLst>
      </pc:sldChg>
      <pc:sldChg chg="addSp delSp modSp">
        <pc:chgData name="周立筠-數據應用部-永豐金證券" userId="ee349c15-f274-43a3-b0c9-48d528d95247" providerId="ADAL" clId="{60EF727E-7560-4199-9548-178954D6DF8E}" dt="2024-08-23T09:45:13.775" v="159" actId="14100"/>
        <pc:sldMkLst>
          <pc:docMk/>
          <pc:sldMk cId="2826782116" sldId="298"/>
        </pc:sldMkLst>
      </pc:sldChg>
    </pc:docChg>
  </pc:docChgLst>
  <pc:docChgLst>
    <pc:chgData name="周立筠-數據應用部-永豐金證券" userId="ee349c15-f274-43a3-b0c9-48d528d95247" providerId="ADAL" clId="{3FB2CB3A-96A0-4538-BF95-B43B96849497}"/>
    <pc:docChg chg="undo custSel addSld modSld sldOrd">
      <pc:chgData name="周立筠-數據應用部-永豐金證券" userId="ee349c15-f274-43a3-b0c9-48d528d95247" providerId="ADAL" clId="{3FB2CB3A-96A0-4538-BF95-B43B96849497}" dt="2024-09-06T07:42:04.870" v="136" actId="20577"/>
      <pc:docMkLst>
        <pc:docMk/>
      </pc:docMkLst>
      <pc:sldChg chg="modSp ord">
        <pc:chgData name="周立筠-數據應用部-永豐金證券" userId="ee349c15-f274-43a3-b0c9-48d528d95247" providerId="ADAL" clId="{3FB2CB3A-96A0-4538-BF95-B43B96849497}" dt="2024-09-06T07:32:13.670" v="14" actId="20577"/>
        <pc:sldMkLst>
          <pc:docMk/>
          <pc:sldMk cId="2022153893" sldId="295"/>
        </pc:sldMkLst>
      </pc:sldChg>
      <pc:sldChg chg="ord">
        <pc:chgData name="周立筠-數據應用部-永豐金證券" userId="ee349c15-f274-43a3-b0c9-48d528d95247" providerId="ADAL" clId="{3FB2CB3A-96A0-4538-BF95-B43B96849497}" dt="2024-09-06T07:29:51.430" v="5" actId="20577"/>
        <pc:sldMkLst>
          <pc:docMk/>
          <pc:sldMk cId="4245503187" sldId="2147471171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31:40.591" v="11" actId="14734"/>
        <pc:sldMkLst>
          <pc:docMk/>
          <pc:sldMk cId="1504610650" sldId="2147471172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42:04.870" v="136" actId="20577"/>
        <pc:sldMkLst>
          <pc:docMk/>
          <pc:sldMk cId="3155411272" sldId="2147471173"/>
        </pc:sldMkLst>
      </pc:sldChg>
    </pc:docChg>
  </pc:docChgLst>
  <pc:docChgLst>
    <pc:chgData name="陳韋樺-數位科技處-永豐金控" userId="701130e9-61c9-4993-9d2b-72f9303521e5" providerId="ADAL" clId="{80DAA328-AAE6-42A8-AA4F-C352BC19A94D}"/>
    <pc:docChg chg="undo custSel modSld">
      <pc:chgData name="陳韋樺-數位科技處-永豐金控" userId="701130e9-61c9-4993-9d2b-72f9303521e5" providerId="ADAL" clId="{80DAA328-AAE6-42A8-AA4F-C352BC19A94D}" dt="2025-07-08T01:43:26.008" v="4" actId="20577"/>
      <pc:docMkLst>
        <pc:docMk/>
      </pc:docMkLst>
      <pc:sldChg chg="modSp mod">
        <pc:chgData name="陳韋樺-數位科技處-永豐金控" userId="701130e9-61c9-4993-9d2b-72f9303521e5" providerId="ADAL" clId="{80DAA328-AAE6-42A8-AA4F-C352BC19A94D}" dt="2025-07-08T01:43:26.008" v="4" actId="20577"/>
        <pc:sldMkLst>
          <pc:docMk/>
          <pc:sldMk cId="0" sldId="256"/>
        </pc:sldMkLst>
      </pc:sldChg>
    </pc:docChg>
  </pc:docChgLst>
  <pc:docChgLst>
    <pc:chgData name="張天豪-數位金融處-永豐銀行" userId="0d835702-99c9-4ef6-82d8-3ca86d4ccc15" providerId="ADAL" clId="{D2AF67AB-EFE6-5583-B6E8-67F78036965D}"/>
    <pc:docChg chg="custSel addSld delSld modSld modSection">
      <pc:chgData name="張天豪-數位金融處-永豐銀行" userId="0d835702-99c9-4ef6-82d8-3ca86d4ccc15" providerId="ADAL" clId="{D2AF67AB-EFE6-5583-B6E8-67F78036965D}" dt="2025-09-15T05:42:40.118" v="2" actId="2696"/>
      <pc:docMkLst>
        <pc:docMk/>
      </pc:docMkLst>
      <pc:sldChg chg="addSp delSp modSp new del mod chgLayout">
        <pc:chgData name="張天豪-數位金融處-永豐銀行" userId="0d835702-99c9-4ef6-82d8-3ca86d4ccc15" providerId="ADAL" clId="{D2AF67AB-EFE6-5583-B6E8-67F78036965D}" dt="2025-09-15T05:42:40.118" v="2" actId="2696"/>
        <pc:sldMkLst>
          <pc:docMk/>
          <pc:sldMk cId="4260387952" sldId="2147471190"/>
        </pc:sldMkLst>
        <pc:spChg chg="del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2" creationId="{C8E2D793-753F-D8E0-6C96-C3E4A92D305F}"/>
          </ac:spMkLst>
        </pc:spChg>
        <pc:spChg chg="add mod ord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3" creationId="{4720BA31-8393-D7D0-C165-7006096CE23F}"/>
          </ac:spMkLst>
        </pc:spChg>
      </pc:sldChg>
    </pc:docChg>
  </pc:docChgLst>
  <pc:docChgLst>
    <pc:chgData name="張天豪-數位金融處-永豐銀行" userId="0d835702-99c9-4ef6-82d8-3ca86d4ccc15" providerId="ADAL" clId="{3535DB18-1BBF-46AC-A302-CA4DEF9EDE65}"/>
    <pc:docChg chg="undo custSel modSld modMainMaster">
      <pc:chgData name="張天豪-數位金融處-永豐銀行" userId="0d835702-99c9-4ef6-82d8-3ca86d4ccc15" providerId="ADAL" clId="{3535DB18-1BBF-46AC-A302-CA4DEF9EDE65}" dt="2024-08-27T06:35:43.088" v="30" actId="478"/>
      <pc:docMkLst>
        <pc:docMk/>
      </pc:docMkLst>
      <pc:sldChg chg="modSp mod addCm">
        <pc:chgData name="張天豪-數位金融處-永豐銀行" userId="0d835702-99c9-4ef6-82d8-3ca86d4ccc15" providerId="ADAL" clId="{3535DB18-1BBF-46AC-A302-CA4DEF9EDE65}" dt="2024-08-27T06:35:05.491" v="23" actId="15"/>
        <pc:sldMkLst>
          <pc:docMk/>
          <pc:sldMk cId="0" sldId="258"/>
        </pc:sldMkLst>
      </pc:sldChg>
      <pc:sldMasterChg chg="modSldLayout">
        <pc:chgData name="張天豪-數位金融處-永豐銀行" userId="0d835702-99c9-4ef6-82d8-3ca86d4ccc15" providerId="ADAL" clId="{3535DB18-1BBF-46AC-A302-CA4DEF9EDE65}" dt="2024-08-27T06:35:43.088" v="30" actId="478"/>
        <pc:sldMasterMkLst>
          <pc:docMk/>
          <pc:sldMasterMk cId="0" sldId="2147483648"/>
        </pc:sldMasterMkLst>
        <pc:sldLayoutChg chg="addSp delSp modSp mod">
          <pc:chgData name="張天豪-數位金融處-永豐銀行" userId="0d835702-99c9-4ef6-82d8-3ca86d4ccc15" providerId="ADAL" clId="{3535DB18-1BBF-46AC-A302-CA4DEF9EDE65}" dt="2024-08-27T06:35:43.088" v="30" actId="478"/>
          <pc:sldLayoutMkLst>
            <pc:docMk/>
            <pc:sldMasterMk cId="0" sldId="2147483648"/>
            <pc:sldLayoutMk cId="0" sldId="2147483652"/>
          </pc:sldLayoutMkLst>
        </pc:sldLayoutChg>
      </pc:sldMasterChg>
    </pc:docChg>
  </pc:docChgLst>
  <pc:docChgLst>
    <pc:chgData name="傅安-數位金融處-永豐銀行" userId="c8345a55-179c-4faf-b159-cca2c6631c14" providerId="ADAL" clId="{E1FFCD7C-0205-415A-938E-C70C935D38B7}"/>
    <pc:docChg chg="undo custSel addSld delSld modSection">
      <pc:chgData name="傅安-數位金融處-永豐銀行" userId="c8345a55-179c-4faf-b159-cca2c6631c14" providerId="ADAL" clId="{E1FFCD7C-0205-415A-938E-C70C935D38B7}" dt="2025-10-31T09:22:15.910" v="1" actId="47"/>
      <pc:docMkLst>
        <pc:docMk/>
      </pc:docMkLst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7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8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9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0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1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4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2406361714" sldId="29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3467411777" sldId="2147471189"/>
        </pc:sldMkLst>
      </pc:sldChg>
    </pc:docChg>
  </pc:docChgLst>
  <pc:docChgLst>
    <pc:chgData name="張天豪-數位金融處-永豐銀行" userId="0d835702-99c9-4ef6-82d8-3ca86d4ccc15" providerId="ADAL" clId="{13649D83-BEB4-0446-824D-B84D0069EC2E}"/>
    <pc:docChg chg="undo custSel addSld modSld sldOrd modSection">
      <pc:chgData name="張天豪-數位金融處-永豐銀行" userId="0d835702-99c9-4ef6-82d8-3ca86d4ccc15" providerId="ADAL" clId="{13649D83-BEB4-0446-824D-B84D0069EC2E}" dt="2024-09-30T06:06:32.388" v="718" actId="404"/>
      <pc:docMkLst>
        <pc:docMk/>
      </pc:docMkLst>
      <pc:sldChg chg="modSp mod">
        <pc:chgData name="張天豪-數位金融處-永豐銀行" userId="0d835702-99c9-4ef6-82d8-3ca86d4ccc15" providerId="ADAL" clId="{13649D83-BEB4-0446-824D-B84D0069EC2E}" dt="2024-09-30T06:05:54.645" v="708" actId="6549"/>
        <pc:sldMkLst>
          <pc:docMk/>
          <pc:sldMk cId="0" sldId="258"/>
        </pc:sldMkLst>
      </pc:sldChg>
      <pc:sldChg chg="modSp mod">
        <pc:chgData name="張天豪-數位金融處-永豐銀行" userId="0d835702-99c9-4ef6-82d8-3ca86d4ccc15" providerId="ADAL" clId="{13649D83-BEB4-0446-824D-B84D0069EC2E}" dt="2024-09-22T01:12:10.917" v="128" actId="14734"/>
        <pc:sldMkLst>
          <pc:docMk/>
          <pc:sldMk cId="0" sldId="262"/>
        </pc:sldMkLst>
      </pc:sldChg>
      <pc:sldChg chg="modSp mod">
        <pc:chgData name="張天豪-數位金融處-永豐銀行" userId="0d835702-99c9-4ef6-82d8-3ca86d4ccc15" providerId="ADAL" clId="{13649D83-BEB4-0446-824D-B84D0069EC2E}" dt="2024-09-22T01:05:29.023" v="3" actId="15"/>
        <pc:sldMkLst>
          <pc:docMk/>
          <pc:sldMk cId="4191026547" sldId="299"/>
        </pc:sldMkLst>
      </pc:sldChg>
      <pc:sldChg chg="modSp mod">
        <pc:chgData name="張天豪-數位金融處-永豐銀行" userId="0d835702-99c9-4ef6-82d8-3ca86d4ccc15" providerId="ADAL" clId="{13649D83-BEB4-0446-824D-B84D0069EC2E}" dt="2024-09-22T01:16:48.728" v="140" actId="20577"/>
        <pc:sldMkLst>
          <pc:docMk/>
          <pc:sldMk cId="393315683" sldId="2147471185"/>
        </pc:sldMkLst>
      </pc:sldChg>
      <pc:sldChg chg="addSp delSp modSp new mod modClrScheme chgLayout">
        <pc:chgData name="張天豪-數位金融處-永豐銀行" userId="0d835702-99c9-4ef6-82d8-3ca86d4ccc15" providerId="ADAL" clId="{13649D83-BEB4-0446-824D-B84D0069EC2E}" dt="2024-09-30T06:06:32.388" v="718" actId="404"/>
        <pc:sldMkLst>
          <pc:docMk/>
          <pc:sldMk cId="4060586183" sldId="2147471188"/>
        </pc:sldMkLst>
      </pc:sldChg>
      <pc:sldChg chg="modSp mod">
        <pc:chgData name="張天豪-數位金融處-永豐銀行" userId="0d835702-99c9-4ef6-82d8-3ca86d4ccc15" providerId="ADAL" clId="{13649D83-BEB4-0446-824D-B84D0069EC2E}" dt="2024-09-30T06:05:26.038" v="680" actId="255"/>
        <pc:sldMkLst>
          <pc:docMk/>
          <pc:sldMk cId="3467411777" sldId="2147471189"/>
        </pc:sldMkLst>
      </pc:sldChg>
    </pc:docChg>
  </pc:docChgLst>
  <pc:docChgLst>
    <pc:chgData name="吳憲驊-人力資源處-永豐銀行" userId="S::simonwu@sinopac.com::c372d5aa-c765-4280-a5c9-548c4152a5d4" providerId="AD" clId="Web-{566E13FB-08C0-32D8-F6D2-084C6563C8D8}"/>
    <pc:docChg chg="modSld">
      <pc:chgData name="吳憲驊-人力資源處-永豐銀行" userId="S::simonwu@sinopac.com::c372d5aa-c765-4280-a5c9-548c4152a5d4" providerId="AD" clId="Web-{566E13FB-08C0-32D8-F6D2-084C6563C8D8}" dt="2024-08-29T09:14:57.922" v="14" actId="20577"/>
      <pc:docMkLst>
        <pc:docMk/>
      </pc:docMkLst>
      <pc:sldChg chg="modSp">
        <pc:chgData name="吳憲驊-人力資源處-永豐銀行" userId="S::simonwu@sinopac.com::c372d5aa-c765-4280-a5c9-548c4152a5d4" providerId="AD" clId="Web-{566E13FB-08C0-32D8-F6D2-084C6563C8D8}" dt="2024-08-29T09:14:57.922" v="14" actId="20577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EBE3A055-FF26-45CD-9847-CB698884E610}"/>
    <pc:docChg chg="undo redo custSel addSld delSld modSld sldOrd modMainMaster addSection delSection modSection">
      <pc:chgData name="吳憲驊-人力資源處-永豐銀行" userId="c372d5aa-c765-4280-a5c9-548c4152a5d4" providerId="ADAL" clId="{EBE3A055-FF26-45CD-9847-CB698884E610}" dt="2024-09-30T06:05:20.298" v="4408" actId="404"/>
      <pc:docMkLst>
        <pc:docMk/>
      </pc:docMkLst>
      <pc:sldChg chg="modSp mod">
        <pc:chgData name="吳憲驊-人力資源處-永豐銀行" userId="c372d5aa-c765-4280-a5c9-548c4152a5d4" providerId="ADAL" clId="{EBE3A055-FF26-45CD-9847-CB698884E610}" dt="2024-09-06T01:52:09.293" v="932" actId="948"/>
        <pc:sldMkLst>
          <pc:docMk/>
          <pc:sldMk cId="0" sldId="256"/>
        </pc:sldMkLst>
      </pc:sldChg>
      <pc:sldChg chg="addSp delSp modSp mod modClrScheme delCm chgLayout">
        <pc:chgData name="吳憲驊-人力資源處-永豐銀行" userId="c372d5aa-c765-4280-a5c9-548c4152a5d4" providerId="ADAL" clId="{EBE3A055-FF26-45CD-9847-CB698884E610}" dt="2024-09-30T03:54:33.357" v="4288" actId="700"/>
        <pc:sldMkLst>
          <pc:docMk/>
          <pc:sldMk cId="0" sldId="258"/>
        </pc:sldMkLst>
      </pc:sldChg>
      <pc:sldChg chg="modSp mod">
        <pc:chgData name="吳憲驊-人力資源處-永豐銀行" userId="c372d5aa-c765-4280-a5c9-548c4152a5d4" providerId="ADAL" clId="{EBE3A055-FF26-45CD-9847-CB698884E610}" dt="2024-09-30T03:30:19.007" v="3758" actId="207"/>
        <pc:sldMkLst>
          <pc:docMk/>
          <pc:sldMk cId="0" sldId="259"/>
        </pc:sldMkLst>
      </pc:sldChg>
      <pc:sldChg chg="modSp mod">
        <pc:chgData name="吳憲驊-人力資源處-永豐銀行" userId="c372d5aa-c765-4280-a5c9-548c4152a5d4" providerId="ADAL" clId="{EBE3A055-FF26-45CD-9847-CB698884E610}" dt="2024-09-30T03:30:24.098" v="3760" actId="404"/>
        <pc:sldMkLst>
          <pc:docMk/>
          <pc:sldMk cId="0" sldId="260"/>
        </pc:sldMkLst>
      </pc:sldChg>
      <pc:sldChg chg="modSp mod">
        <pc:chgData name="吳憲驊-人力資源處-永豐銀行" userId="c372d5aa-c765-4280-a5c9-548c4152a5d4" providerId="ADAL" clId="{EBE3A055-FF26-45CD-9847-CB698884E610}" dt="2024-09-30T03:30:26.553" v="3762" actId="404"/>
        <pc:sldMkLst>
          <pc:docMk/>
          <pc:sldMk cId="0" sldId="261"/>
        </pc:sldMkLst>
      </pc:sldChg>
      <pc:sldChg chg="modSp mod">
        <pc:chgData name="吳憲驊-人力資源處-永豐銀行" userId="c372d5aa-c765-4280-a5c9-548c4152a5d4" providerId="ADAL" clId="{EBE3A055-FF26-45CD-9847-CB698884E610}" dt="2024-09-30T03:16:45.585" v="3597" actId="404"/>
        <pc:sldMkLst>
          <pc:docMk/>
          <pc:sldMk cId="0" sldId="262"/>
        </pc:sldMkLst>
      </pc:sldChg>
      <pc:sldChg chg="modSp del mod">
        <pc:chgData name="吳憲驊-人力資源處-永豐銀行" userId="c372d5aa-c765-4280-a5c9-548c4152a5d4" providerId="ADAL" clId="{EBE3A055-FF26-45CD-9847-CB698884E610}" dt="2024-09-06T10:03:19.657" v="2377" actId="47"/>
        <pc:sldMkLst>
          <pc:docMk/>
          <pc:sldMk cId="0" sldId="263"/>
        </pc:sldMkLst>
      </pc:sldChg>
      <pc:sldChg chg="ord">
        <pc:chgData name="吳憲驊-人力資源處-永豐銀行" userId="c372d5aa-c765-4280-a5c9-548c4152a5d4" providerId="ADAL" clId="{EBE3A055-FF26-45CD-9847-CB698884E610}" dt="2024-09-06T10:05:31.351" v="2385" actId="404"/>
        <pc:sldMkLst>
          <pc:docMk/>
          <pc:sldMk cId="0" sldId="264"/>
        </pc:sldMkLst>
      </pc:sldChg>
      <pc:sldChg chg="modSp del mod ord">
        <pc:chgData name="吳憲驊-人力資源處-永豐銀行" userId="c372d5aa-c765-4280-a5c9-548c4152a5d4" providerId="ADAL" clId="{EBE3A055-FF26-45CD-9847-CB698884E610}" dt="2024-09-06T10:08:06.584" v="2435" actId="47"/>
        <pc:sldMkLst>
          <pc:docMk/>
          <pc:sldMk cId="0" sldId="265"/>
        </pc:sldMkLst>
      </pc:sldChg>
      <pc:sldChg chg="modSp mod">
        <pc:chgData name="吳憲驊-人力資源處-永豐銀行" userId="c372d5aa-c765-4280-a5c9-548c4152a5d4" providerId="ADAL" clId="{EBE3A055-FF26-45CD-9847-CB698884E610}" dt="2024-09-06T02:41:12.502" v="1440" actId="404"/>
        <pc:sldMkLst>
          <pc:docMk/>
          <pc:sldMk cId="0" sldId="266"/>
        </pc:sldMkLst>
      </pc:sldChg>
      <pc:sldChg chg="modSp mod">
        <pc:chgData name="吳憲驊-人力資源處-永豐銀行" userId="c372d5aa-c765-4280-a5c9-548c4152a5d4" providerId="ADAL" clId="{EBE3A055-FF26-45CD-9847-CB698884E610}" dt="2024-09-06T09:10:15.245" v="1774" actId="108"/>
        <pc:sldMkLst>
          <pc:docMk/>
          <pc:sldMk cId="0" sldId="267"/>
        </pc:sldMkLst>
      </pc:sldChg>
      <pc:sldChg chg="modSp mod">
        <pc:chgData name="吳憲驊-人力資源處-永豐銀行" userId="c372d5aa-c765-4280-a5c9-548c4152a5d4" providerId="ADAL" clId="{EBE3A055-FF26-45CD-9847-CB698884E610}" dt="2024-09-06T02:17:10.131" v="1114" actId="20577"/>
        <pc:sldMkLst>
          <pc:docMk/>
          <pc:sldMk cId="0" sldId="268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0.576" v="1639" actId="47"/>
        <pc:sldMkLst>
          <pc:docMk/>
          <pc:sldMk cId="0" sldId="269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7.944" v="1640" actId="47"/>
        <pc:sldMkLst>
          <pc:docMk/>
          <pc:sldMk cId="0" sldId="270"/>
        </pc:sldMkLst>
      </pc:sldChg>
      <pc:sldChg chg="modSp mod">
        <pc:chgData name="吳憲驊-人力資源處-永豐銀行" userId="c372d5aa-c765-4280-a5c9-548c4152a5d4" providerId="ADAL" clId="{EBE3A055-FF26-45CD-9847-CB698884E610}" dt="2024-09-30T03:34:57.167" v="3786" actId="207"/>
        <pc:sldMkLst>
          <pc:docMk/>
          <pc:sldMk cId="0" sldId="271"/>
        </pc:sldMkLst>
      </pc:sldChg>
      <pc:sldChg chg="del">
        <pc:chgData name="吳憲驊-人力資源處-永豐銀行" userId="c372d5aa-c765-4280-a5c9-548c4152a5d4" providerId="ADAL" clId="{EBE3A055-FF26-45CD-9847-CB698884E610}" dt="2024-09-06T02:06:21.412" v="959" actId="47"/>
        <pc:sldMkLst>
          <pc:docMk/>
          <pc:sldMk cId="0" sldId="272"/>
        </pc:sldMkLst>
      </pc:sldChg>
      <pc:sldChg chg="del">
        <pc:chgData name="吳憲驊-人力資源處-永豐銀行" userId="c372d5aa-c765-4280-a5c9-548c4152a5d4" providerId="ADAL" clId="{EBE3A055-FF26-45CD-9847-CB698884E610}" dt="2024-09-06T02:06:22.515" v="960" actId="47"/>
        <pc:sldMkLst>
          <pc:docMk/>
          <pc:sldMk cId="0" sldId="273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4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5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6"/>
        </pc:sldMkLst>
      </pc:sldChg>
      <pc:sldChg chg="modSp del mod ord">
        <pc:chgData name="吳憲驊-人力資源處-永豐銀行" userId="c372d5aa-c765-4280-a5c9-548c4152a5d4" providerId="ADAL" clId="{EBE3A055-FF26-45CD-9847-CB698884E610}" dt="2024-09-06T03:23:38.051" v="1729" actId="47"/>
        <pc:sldMkLst>
          <pc:docMk/>
          <pc:sldMk cId="0" sldId="277"/>
        </pc:sldMkLst>
      </pc:sldChg>
      <pc:sldChg chg="modSp del mod">
        <pc:chgData name="吳憲驊-人力資源處-永豐銀行" userId="c372d5aa-c765-4280-a5c9-548c4152a5d4" providerId="ADAL" clId="{EBE3A055-FF26-45CD-9847-CB698884E610}" dt="2024-09-06T02:06:25.232" v="961" actId="47"/>
        <pc:sldMkLst>
          <pc:docMk/>
          <pc:sldMk cId="0" sldId="278"/>
        </pc:sldMkLst>
      </pc:sldChg>
      <pc:sldChg chg="del">
        <pc:chgData name="吳憲驊-人力資源處-永豐銀行" userId="c372d5aa-c765-4280-a5c9-548c4152a5d4" providerId="ADAL" clId="{EBE3A055-FF26-45CD-9847-CB698884E610}" dt="2024-09-06T02:06:26.187" v="962" actId="47"/>
        <pc:sldMkLst>
          <pc:docMk/>
          <pc:sldMk cId="0" sldId="279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17.105" v="4374" actId="14100"/>
        <pc:sldMkLst>
          <pc:docMk/>
          <pc:sldMk cId="0" sldId="281"/>
        </pc:sldMkLst>
      </pc:sldChg>
      <pc:sldChg chg="modSp mod">
        <pc:chgData name="吳憲驊-人力資源處-永豐銀行" userId="c372d5aa-c765-4280-a5c9-548c4152a5d4" providerId="ADAL" clId="{EBE3A055-FF26-45CD-9847-CB698884E610}" dt="2024-09-24T01:16:46.073" v="2669" actId="1076"/>
        <pc:sldMkLst>
          <pc:docMk/>
          <pc:sldMk cId="0" sldId="282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20.298" v="4408" actId="404"/>
        <pc:sldMkLst>
          <pc:docMk/>
          <pc:sldMk cId="0" sldId="286"/>
        </pc:sldMkLst>
      </pc:sldChg>
      <pc:sldChg chg="modSp mod">
        <pc:chgData name="吳憲驊-人力資源處-永豐銀行" userId="c372d5aa-c765-4280-a5c9-548c4152a5d4" providerId="ADAL" clId="{EBE3A055-FF26-45CD-9847-CB698884E610}" dt="2024-09-30T03:32:58.465" v="3765" actId="20577"/>
        <pc:sldMkLst>
          <pc:docMk/>
          <pc:sldMk cId="0" sldId="287"/>
        </pc:sldMkLst>
      </pc:sldChg>
      <pc:sldChg chg="modSp mod">
        <pc:chgData name="吳憲驊-人力資源處-永豐銀行" userId="c372d5aa-c765-4280-a5c9-548c4152a5d4" providerId="ADAL" clId="{EBE3A055-FF26-45CD-9847-CB698884E610}" dt="2024-09-30T03:33:00.811" v="3766" actId="20577"/>
        <pc:sldMkLst>
          <pc:docMk/>
          <pc:sldMk cId="0" sldId="288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17.629" v="4406" actId="700"/>
        <pc:sldMkLst>
          <pc:docMk/>
          <pc:sldMk cId="0" sldId="289"/>
        </pc:sldMkLst>
      </pc:sldChg>
      <pc:sldChg chg="modSp mod">
        <pc:chgData name="吳憲驊-人力資源處-永豐銀行" userId="c372d5aa-c765-4280-a5c9-548c4152a5d4" providerId="ADAL" clId="{EBE3A055-FF26-45CD-9847-CB698884E610}" dt="2024-09-30T03:33:17.758" v="3768" actId="20577"/>
        <pc:sldMkLst>
          <pc:docMk/>
          <pc:sldMk cId="0" sldId="290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53.989" v="4385" actId="404"/>
        <pc:sldMkLst>
          <pc:docMk/>
          <pc:sldMk cId="2697488364" sldId="291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30T03:15:33.795" v="3578" actId="14100"/>
        <pc:sldMkLst>
          <pc:docMk/>
          <pc:sldMk cId="2406361714" sldId="292"/>
        </pc:sldMkLst>
      </pc:sldChg>
      <pc:sldChg chg="modSp del mod ord modShow">
        <pc:chgData name="吳憲驊-人力資源處-永豐銀行" userId="c372d5aa-c765-4280-a5c9-548c4152a5d4" providerId="ADAL" clId="{EBE3A055-FF26-45CD-9847-CB698884E610}" dt="2024-09-24T01:14:51.710" v="2665" actId="47"/>
        <pc:sldMkLst>
          <pc:docMk/>
          <pc:sldMk cId="3121629751" sldId="293"/>
        </pc:sldMkLst>
      </pc:sldChg>
      <pc:sldChg chg="addSp modSp del mod ord delCm">
        <pc:chgData name="吳憲驊-人力資源處-永豐銀行" userId="c372d5aa-c765-4280-a5c9-548c4152a5d4" providerId="ADAL" clId="{EBE3A055-FF26-45CD-9847-CB698884E610}" dt="2024-09-06T09:30:19.344" v="1945" actId="47"/>
        <pc:sldMkLst>
          <pc:docMk/>
          <pc:sldMk cId="673018660" sldId="294"/>
        </pc:sldMkLst>
      </pc:sldChg>
      <pc:sldChg chg="modSp mod ord">
        <pc:chgData name="吳憲驊-人力資源處-永豐銀行" userId="c372d5aa-c765-4280-a5c9-548c4152a5d4" providerId="ADAL" clId="{EBE3A055-FF26-45CD-9847-CB698884E610}" dt="2024-09-24T01:08:40.626" v="2664" actId="207"/>
        <pc:sldMkLst>
          <pc:docMk/>
          <pc:sldMk cId="2022153893" sldId="295"/>
        </pc:sldMkLst>
      </pc:sldChg>
      <pc:sldChg chg="modSp mod delCm">
        <pc:chgData name="吳憲驊-人力資源處-永豐銀行" userId="c372d5aa-c765-4280-a5c9-548c4152a5d4" providerId="ADAL" clId="{EBE3A055-FF26-45CD-9847-CB698884E610}" dt="2024-09-20T06:02:24.677" v="2612" actId="207"/>
        <pc:sldMkLst>
          <pc:docMk/>
          <pc:sldMk cId="3262633635" sldId="297"/>
        </pc:sldMkLst>
      </pc:sldChg>
      <pc:sldChg chg="modSp del mod">
        <pc:chgData name="吳憲驊-人力資源處-永豐銀行" userId="c372d5aa-c765-4280-a5c9-548c4152a5d4" providerId="ADAL" clId="{EBE3A055-FF26-45CD-9847-CB698884E610}" dt="2024-09-06T08:56:06.116" v="1731" actId="47"/>
        <pc:sldMkLst>
          <pc:docMk/>
          <pc:sldMk cId="2826782116" sldId="298"/>
        </pc:sldMkLst>
      </pc:sldChg>
      <pc:sldChg chg="modSp new del mod">
        <pc:chgData name="吳憲驊-人力資源處-永豐銀行" userId="c372d5aa-c765-4280-a5c9-548c4152a5d4" providerId="ADAL" clId="{EBE3A055-FF26-45CD-9847-CB698884E610}" dt="2024-09-06T01:58:53.780" v="953" actId="47"/>
        <pc:sldMkLst>
          <pc:docMk/>
          <pc:sldMk cId="535572816" sldId="299"/>
        </pc:sldMkLst>
      </pc:sldChg>
      <pc:sldChg chg="addSp delSp modSp add del mod">
        <pc:chgData name="吳憲驊-人力資源處-永豐銀行" userId="c372d5aa-c765-4280-a5c9-548c4152a5d4" providerId="ADAL" clId="{EBE3A055-FF26-45CD-9847-CB698884E610}" dt="2024-09-06T01:27:07.721" v="125" actId="47"/>
        <pc:sldMkLst>
          <pc:docMk/>
          <pc:sldMk cId="3368370710" sldId="299"/>
        </pc:sldMkLst>
      </pc:sldChg>
      <pc:sldChg chg="new del">
        <pc:chgData name="吳憲驊-人力資源處-永豐銀行" userId="c372d5aa-c765-4280-a5c9-548c4152a5d4" providerId="ADAL" clId="{EBE3A055-FF26-45CD-9847-CB698884E610}" dt="2024-09-06T01:58:30.280" v="941" actId="47"/>
        <pc:sldMkLst>
          <pc:docMk/>
          <pc:sldMk cId="3690986561" sldId="299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06T09:11:00.817" v="1779" actId="20577"/>
        <pc:sldMkLst>
          <pc:docMk/>
          <pc:sldMk cId="4191026547" sldId="29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06T01:33:49.871" v="194" actId="47"/>
        <pc:sldMkLst>
          <pc:docMk/>
          <pc:sldMk cId="4200769607" sldId="299"/>
        </pc:sldMkLst>
      </pc:sldChg>
      <pc:sldChg chg="addSp modSp add mod">
        <pc:chgData name="吳憲驊-人力資源處-永豐銀行" userId="c372d5aa-c765-4280-a5c9-548c4152a5d4" providerId="ADAL" clId="{EBE3A055-FF26-45CD-9847-CB698884E610}" dt="2024-09-30T03:34:38.001" v="3780" actId="404"/>
        <pc:sldMkLst>
          <pc:docMk/>
          <pc:sldMk cId="2718007652" sldId="2132739904"/>
        </pc:sldMkLst>
      </pc:sldChg>
      <pc:sldChg chg="modSp add mod">
        <pc:chgData name="吳憲驊-人力資源處-永豐銀行" userId="c372d5aa-c765-4280-a5c9-548c4152a5d4" providerId="ADAL" clId="{EBE3A055-FF26-45CD-9847-CB698884E610}" dt="2024-09-20T05:57:23.821" v="2582" actId="20577"/>
        <pc:sldMkLst>
          <pc:docMk/>
          <pc:sldMk cId="1087620128" sldId="2132739928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06T02:52:14.102" v="1487" actId="47"/>
        <pc:sldMkLst>
          <pc:docMk/>
          <pc:sldMk cId="2991285827" sldId="2147471015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20T05:57:21.476" v="2580" actId="47"/>
        <pc:sldMkLst>
          <pc:docMk/>
          <pc:sldMk cId="3906953588" sldId="2147471163"/>
        </pc:sldMkLst>
      </pc:sldChg>
      <pc:sldChg chg="modSp add del mod">
        <pc:chgData name="吳憲驊-人力資源處-永豐銀行" userId="c372d5aa-c765-4280-a5c9-548c4152a5d4" providerId="ADAL" clId="{EBE3A055-FF26-45CD-9847-CB698884E610}" dt="2024-09-20T05:57:12.814" v="2577" actId="47"/>
        <pc:sldMkLst>
          <pc:docMk/>
          <pc:sldMk cId="4245503187" sldId="2147471171"/>
        </pc:sldMkLst>
      </pc:sldChg>
      <pc:sldChg chg="del">
        <pc:chgData name="吳憲驊-人力資源處-永豐銀行" userId="c372d5aa-c765-4280-a5c9-548c4152a5d4" providerId="ADAL" clId="{EBE3A055-FF26-45CD-9847-CB698884E610}" dt="2024-09-06T08:56:02.319" v="1730" actId="47"/>
        <pc:sldMkLst>
          <pc:docMk/>
          <pc:sldMk cId="1504610650" sldId="2147471172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06T10:09:00.513" v="2486" actId="255"/>
        <pc:sldMkLst>
          <pc:docMk/>
          <pc:sldMk cId="3155411272" sldId="2147471173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16.230" v="2585" actId="47"/>
        <pc:sldMkLst>
          <pc:docMk/>
          <pc:sldMk cId="2528477559" sldId="2147471174"/>
        </pc:sldMkLst>
      </pc:sldChg>
      <pc:sldChg chg="modSp add mod ord">
        <pc:chgData name="吳憲驊-人力資源處-永豐銀行" userId="c372d5aa-c765-4280-a5c9-548c4152a5d4" providerId="ADAL" clId="{EBE3A055-FF26-45CD-9847-CB698884E610}" dt="2024-09-30T03:34:34.474" v="3778" actId="207"/>
        <pc:sldMkLst>
          <pc:docMk/>
          <pc:sldMk cId="269871982" sldId="2147471175"/>
        </pc:sldMkLst>
      </pc:sldChg>
      <pc:sldChg chg="modSp add mod">
        <pc:chgData name="吳憲驊-人力資源處-永豐銀行" userId="c372d5aa-c765-4280-a5c9-548c4152a5d4" providerId="ADAL" clId="{EBE3A055-FF26-45CD-9847-CB698884E610}" dt="2024-09-06T09:24:26.987" v="1875" actId="20577"/>
        <pc:sldMkLst>
          <pc:docMk/>
          <pc:sldMk cId="2495256314" sldId="2147471176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2092506589" sldId="2147471177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26.422" v="2590" actId="47"/>
        <pc:sldMkLst>
          <pc:docMk/>
          <pc:sldMk cId="1671451404" sldId="2147471178"/>
        </pc:sldMkLst>
      </pc:sldChg>
      <pc:sldChg chg="modSp add del mod ord replI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500988513" sldId="2147471179"/>
        </pc:sldMkLst>
      </pc:sldChg>
      <pc:sldChg chg="modSp add mod ord">
        <pc:chgData name="吳憲驊-人力資源處-永豐銀行" userId="c372d5aa-c765-4280-a5c9-548c4152a5d4" providerId="ADAL" clId="{EBE3A055-FF26-45CD-9847-CB698884E610}" dt="2024-09-20T06:18:12.897" v="2644" actId="207"/>
        <pc:sldMkLst>
          <pc:docMk/>
          <pc:sldMk cId="399943788" sldId="2147471180"/>
        </pc:sldMkLst>
      </pc:sldChg>
      <pc:sldChg chg="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642251706" sldId="2147471181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26T09:46:19.715" v="2812" actId="2711"/>
        <pc:sldMkLst>
          <pc:docMk/>
          <pc:sldMk cId="2544379920" sldId="2147471182"/>
        </pc:sldMkLst>
      </pc:sldChg>
      <pc:sldChg chg="addSp delSp modSp add del mod ord">
        <pc:chgData name="吳憲驊-人力資源處-永豐銀行" userId="c372d5aa-c765-4280-a5c9-548c4152a5d4" providerId="ADAL" clId="{EBE3A055-FF26-45CD-9847-CB698884E610}" dt="2024-09-06T09:52:34.002" v="2252" actId="47"/>
        <pc:sldMkLst>
          <pc:docMk/>
          <pc:sldMk cId="2234440729" sldId="2147471183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008557657" sldId="2147471184"/>
        </pc:sldMkLst>
      </pc:sldChg>
      <pc:sldChg chg="modSp add mod ord">
        <pc:chgData name="吳憲驊-人力資源處-永豐銀行" userId="c372d5aa-c765-4280-a5c9-548c4152a5d4" providerId="ADAL" clId="{EBE3A055-FF26-45CD-9847-CB698884E610}" dt="2024-09-06T10:05:42.743" v="2410" actId="20577"/>
        <pc:sldMkLst>
          <pc:docMk/>
          <pc:sldMk cId="393315683" sldId="2147471185"/>
        </pc:sldMkLst>
      </pc:sldChg>
      <pc:sldChg chg="addSp delSp modSp add mod ord modClrScheme chgLayout">
        <pc:chgData name="吳憲驊-人力資源處-永豐銀行" userId="c372d5aa-c765-4280-a5c9-548c4152a5d4" providerId="ADAL" clId="{EBE3A055-FF26-45CD-9847-CB698884E610}" dt="2024-09-30T06:02:59.666" v="4368" actId="404"/>
        <pc:sldMkLst>
          <pc:docMk/>
          <pc:sldMk cId="2193386975" sldId="2147471186"/>
        </pc:sldMkLst>
      </pc:sldChg>
      <pc:sldChg chg="add">
        <pc:chgData name="吳憲驊-人力資源處-永豐銀行" userId="c372d5aa-c765-4280-a5c9-548c4152a5d4" providerId="ADAL" clId="{EBE3A055-FF26-45CD-9847-CB698884E610}" dt="2024-09-06T10:08:14.157" v="2436" actId="2890"/>
        <pc:sldMkLst>
          <pc:docMk/>
          <pc:sldMk cId="3424880807" sldId="2147471187"/>
        </pc:sldMkLst>
      </pc:sldChg>
      <pc:sldChg chg="add del">
        <pc:chgData name="吳憲驊-人力資源處-永豐銀行" userId="c372d5aa-c765-4280-a5c9-548c4152a5d4" providerId="ADAL" clId="{EBE3A055-FF26-45CD-9847-CB698884E610}" dt="2024-09-09T03:56:36.297" v="2491" actId="47"/>
        <pc:sldMkLst>
          <pc:docMk/>
          <pc:sldMk cId="922226238" sldId="2147471188"/>
        </pc:sldMkLst>
      </pc:sldChg>
      <pc:sldChg chg="modSp mod chgLayout">
        <pc:chgData name="吳憲驊-人力資源處-永豐銀行" userId="c372d5aa-c765-4280-a5c9-548c4152a5d4" providerId="ADAL" clId="{EBE3A055-FF26-45CD-9847-CB698884E610}" dt="2024-09-30T05:56:19.372" v="4291" actId="404"/>
        <pc:sldMkLst>
          <pc:docMk/>
          <pc:sldMk cId="4060586183" sldId="2147471188"/>
        </pc:sldMkLst>
      </pc:sldChg>
      <pc:sldChg chg="add del">
        <pc:chgData name="吳憲驊-人力資源處-永豐銀行" userId="c372d5aa-c765-4280-a5c9-548c4152a5d4" providerId="ADAL" clId="{EBE3A055-FF26-45CD-9847-CB698884E610}" dt="2024-09-26T09:48:05.353" v="2814" actId="2890"/>
        <pc:sldMkLst>
          <pc:docMk/>
          <pc:sldMk cId="2913165393" sldId="214747118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26T09:49:09.602" v="2876" actId="47"/>
        <pc:sldMkLst>
          <pc:docMk/>
          <pc:sldMk cId="3105233477" sldId="2147471189"/>
        </pc:sldMkLst>
      </pc:sldChg>
      <pc:sldChg chg="addSp delSp modSp add mod ord chgLayout">
        <pc:chgData name="吳憲驊-人力資源處-永豐銀行" userId="c372d5aa-c765-4280-a5c9-548c4152a5d4" providerId="ADAL" clId="{EBE3A055-FF26-45CD-9847-CB698884E610}" dt="2024-09-30T05:59:45.495" v="4317" actId="403"/>
        <pc:sldMkLst>
          <pc:docMk/>
          <pc:sldMk cId="3467411777" sldId="2147471189"/>
        </pc:sldMkLst>
      </pc:sldChg>
      <pc:sldMasterChg chg="addSp delSp modSp mod delSldLayout modSldLayout sldLayoutOrd">
        <pc:chgData name="吳憲驊-人力資源處-永豐銀行" userId="c372d5aa-c765-4280-a5c9-548c4152a5d4" providerId="ADAL" clId="{EBE3A055-FF26-45CD-9847-CB698884E610}" dt="2024-09-30T03:53:18.173" v="4266" actId="20577"/>
        <pc:sldMasterMkLst>
          <pc:docMk/>
          <pc:sldMasterMk cId="0" sldId="2147483648"/>
        </pc:sldMasterMkLst>
        <pc:sldLayoutChg chg="addSp delSp modSp mod ord">
          <pc:chgData name="吳憲驊-人力資源處-永豐銀行" userId="c372d5aa-c765-4280-a5c9-548c4152a5d4" providerId="ADAL" clId="{EBE3A055-FF26-45CD-9847-CB698884E610}" dt="2024-09-30T03:53:18.173" v="4266" actId="20577"/>
          <pc:sldLayoutMkLst>
            <pc:docMk/>
            <pc:sldMasterMk cId="0" sldId="2147483648"/>
            <pc:sldLayoutMk cId="0" sldId="2147483651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06T02:11:41.253" v="965" actId="6014"/>
          <pc:sldLayoutMkLst>
            <pc:docMk/>
            <pc:sldMasterMk cId="0" sldId="2147483648"/>
            <pc:sldLayoutMk cId="0" sldId="2147483652"/>
          </pc:sldLayoutMkLst>
        </pc:sldLayoutChg>
        <pc:sldLayoutChg chg="modSp mod">
          <pc:chgData name="吳憲驊-人力資源處-永豐銀行" userId="c372d5aa-c765-4280-a5c9-548c4152a5d4" providerId="ADAL" clId="{EBE3A055-FF26-45CD-9847-CB698884E610}" dt="2024-09-06T01:32:30.947" v="169" actId="20577"/>
          <pc:sldLayoutMkLst>
            <pc:docMk/>
            <pc:sldMasterMk cId="0" sldId="2147483648"/>
            <pc:sldLayoutMk cId="2989105902" sldId="2147483654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30T03:52:53.479" v="4250" actId="20577"/>
          <pc:sldLayoutMkLst>
            <pc:docMk/>
            <pc:sldMasterMk cId="0" sldId="2147483648"/>
            <pc:sldLayoutMk cId="1016505608" sldId="2147483659"/>
          </pc:sldLayoutMkLst>
        </pc:sldLayoutChg>
        <pc:sldLayoutChg chg="addSp delSp modSp del mod">
          <pc:chgData name="吳憲驊-人力資源處-永豐銀行" userId="c372d5aa-c765-4280-a5c9-548c4152a5d4" providerId="ADAL" clId="{EBE3A055-FF26-45CD-9847-CB698884E610}" dt="2024-09-06T01:57:39.997" v="937" actId="2696"/>
          <pc:sldLayoutMkLst>
            <pc:docMk/>
            <pc:sldMasterMk cId="0" sldId="2147483648"/>
            <pc:sldLayoutMk cId="1397769940" sldId="2147483659"/>
          </pc:sldLayoutMkLst>
        </pc:sldLayoutChg>
      </pc:sldMasterChg>
    </pc:docChg>
  </pc:docChgLst>
  <pc:docChgLst>
    <pc:chgData name="李宣諭-數位金融處-永豐銀行" userId="6301128a-36be-4004-bf48-5b6edf7c200a" providerId="ADAL" clId="{5556FE67-40C6-4518-82D8-D031FD5835E3}"/>
    <pc:docChg chg="modMainMaster">
      <pc:chgData name="李宣諭-數位金融處-永豐銀行" userId="6301128a-36be-4004-bf48-5b6edf7c200a" providerId="ADAL" clId="{5556FE67-40C6-4518-82D8-D031FD5835E3}" dt="2025-04-09T03:20:37.614" v="0" actId="1076"/>
      <pc:docMkLst>
        <pc:docMk/>
      </pc:docMkLst>
      <pc:sldMasterChg chg="modSldLayout">
        <pc:chgData name="李宣諭-數位金融處-永豐銀行" userId="6301128a-36be-4004-bf48-5b6edf7c200a" providerId="ADAL" clId="{5556FE67-40C6-4518-82D8-D031FD5835E3}" dt="2025-04-09T03:20:37.614" v="0" actId="1076"/>
        <pc:sldMasterMkLst>
          <pc:docMk/>
          <pc:sldMasterMk cId="0" sldId="2147483648"/>
        </pc:sldMasterMkLst>
        <pc:sldLayoutChg chg="modSp mod">
          <pc:chgData name="李宣諭-數位金融處-永豐銀行" userId="6301128a-36be-4004-bf48-5b6edf7c200a" providerId="ADAL" clId="{5556FE67-40C6-4518-82D8-D031FD5835E3}" dt="2025-04-09T03:20:37.614" v="0" actId="1076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  <pc:docChgLst>
    <pc:chgData name="周立筠-數據應用部-永豐金證券" userId="ee349c15-f274-43a3-b0c9-48d528d95247" providerId="ADAL" clId="{C906908C-602B-40BA-8197-1638BF03C79B}"/>
    <pc:docChg chg="modSld">
      <pc:chgData name="周立筠-數據應用部-永豐金證券" userId="ee349c15-f274-43a3-b0c9-48d528d95247" providerId="ADAL" clId="{C906908C-602B-40BA-8197-1638BF03C79B}" dt="2024-09-09T02:23:14.879" v="0" actId="14734"/>
      <pc:docMkLst>
        <pc:docMk/>
      </pc:docMkLst>
      <pc:sldChg chg="modSp mod">
        <pc:chgData name="周立筠-數據應用部-永豐金證券" userId="ee349c15-f274-43a3-b0c9-48d528d95247" providerId="ADAL" clId="{C906908C-602B-40BA-8197-1638BF03C79B}" dt="2024-09-09T02:23:14.879" v="0" actId="14734"/>
        <pc:sldMkLst>
          <pc:docMk/>
          <pc:sldMk cId="3155411272" sldId="2147471173"/>
        </pc:sldMkLst>
      </pc:sldChg>
    </pc:docChg>
  </pc:docChgLst>
  <pc:docChgLst>
    <pc:chgData name="周立筠-數據應用部-永豐金證券" userId="S::liyun0222.zhou@sinopac.com::ee349c15-f274-43a3-b0c9-48d528d95247" providerId="AD" clId="Web-{5A204781-D460-E2E0-652B-45D9DE8FA1C8}"/>
    <pc:docChg chg="modSld">
      <pc:chgData name="周立筠-數據應用部-永豐金證券" userId="S::liyun0222.zhou@sinopac.com::ee349c15-f274-43a3-b0c9-48d528d95247" providerId="AD" clId="Web-{5A204781-D460-E2E0-652B-45D9DE8FA1C8}" dt="2024-10-14T01:13:08.839" v="7"/>
      <pc:docMkLst>
        <pc:docMk/>
      </pc:docMkLst>
      <pc:sldChg chg="addSp delSp modSp">
        <pc:chgData name="周立筠-數據應用部-永豐金證券" userId="S::liyun0222.zhou@sinopac.com::ee349c15-f274-43a3-b0c9-48d528d95247" providerId="AD" clId="Web-{5A204781-D460-E2E0-652B-45D9DE8FA1C8}" dt="2024-10-14T01:13:08.839" v="7"/>
        <pc:sldMkLst>
          <pc:docMk/>
          <pc:sldMk cId="2022153893" sldId="295"/>
        </pc:sldMkLst>
      </pc:sldChg>
    </pc:docChg>
  </pc:docChgLst>
  <pc:docChgLst>
    <pc:chgData name="陳韋樺-數位科技處-永豐金控" userId="701130e9-61c9-4993-9d2b-72f9303521e5" providerId="ADAL" clId="{F94F54DA-E015-4898-AD0E-43B761B2E22F}"/>
    <pc:docChg chg="modSld modNotesMaster">
      <pc:chgData name="陳韋樺-數位科技處-永豐金控" userId="701130e9-61c9-4993-9d2b-72f9303521e5" providerId="ADAL" clId="{F94F54DA-E015-4898-AD0E-43B761B2E22F}" dt="2025-07-22T03:27:11.652" v="1" actId="1076"/>
      <pc:docMkLst>
        <pc:docMk/>
      </pc:docMkLst>
      <pc:sldChg chg="modSp mod">
        <pc:chgData name="陳韋樺-數位科技處-永豐金控" userId="701130e9-61c9-4993-9d2b-72f9303521e5" providerId="ADAL" clId="{F94F54DA-E015-4898-AD0E-43B761B2E22F}" dt="2025-07-22T03:26:40.854" v="0" actId="1076"/>
        <pc:sldMkLst>
          <pc:docMk/>
          <pc:sldMk cId="0" sldId="256"/>
        </pc:sldMkLst>
      </pc:sldChg>
    </pc:docChg>
  </pc:docChgLst>
  <pc:docChgLst>
    <pc:chgData name="周立筠-數據應用部-永豐金證券" userId="S::liyun0222.zhou@sinopac.com::ee349c15-f274-43a3-b0c9-48d528d95247" providerId="AD" clId="Web-{9C13AFE3-8240-BC94-48CC-0CB3BB172451}"/>
    <pc:docChg chg="modSld">
      <pc:chgData name="周立筠-數據應用部-永豐金證券" userId="S::liyun0222.zhou@sinopac.com::ee349c15-f274-43a3-b0c9-48d528d95247" providerId="AD" clId="Web-{9C13AFE3-8240-BC94-48CC-0CB3BB172451}" dt="2024-09-30T01:52:35.281" v="3" actId="20577"/>
      <pc:docMkLst>
        <pc:docMk/>
      </pc:docMkLst>
      <pc:sldChg chg="modSp">
        <pc:chgData name="周立筠-數據應用部-永豐金證券" userId="S::liyun0222.zhou@sinopac.com::ee349c15-f274-43a3-b0c9-48d528d95247" providerId="AD" clId="Web-{9C13AFE3-8240-BC94-48CC-0CB3BB172451}" dt="2024-09-30T01:52:35.281" v="3" actId="20577"/>
        <pc:sldMkLst>
          <pc:docMk/>
          <pc:sldMk cId="0" sldId="258"/>
        </pc:sldMkLst>
      </pc:sldChg>
    </pc:docChg>
  </pc:docChgLst>
  <pc:docChgLst>
    <pc:chgData name="周立筠-數據應用部-永豐金證券" userId="ee349c15-f274-43a3-b0c9-48d528d95247" providerId="ADAL" clId="{4E0ABDCF-1B67-4881-8BC6-D6262098E4C1}"/>
    <pc:docChg chg="addSld modSld">
      <pc:chgData name="周立筠-數據應用部-永豐金證券" userId="ee349c15-f274-43a3-b0c9-48d528d95247" providerId="ADAL" clId="{4E0ABDCF-1B67-4881-8BC6-D6262098E4C1}" dt="2024-10-11T06:03:24.106" v="27"/>
      <pc:docMkLst>
        <pc:docMk/>
      </pc:docMkLst>
      <pc:sldChg chg="addSp modSp add">
        <pc:chgData name="周立筠-數據應用部-永豐金證券" userId="ee349c15-f274-43a3-b0c9-48d528d95247" providerId="ADAL" clId="{4E0ABDCF-1B67-4881-8BC6-D6262098E4C1}" dt="2024-10-11T06:03:24.106" v="27"/>
        <pc:sldMkLst>
          <pc:docMk/>
          <pc:sldMk cId="3905871497" sldId="2147471190"/>
        </pc:sldMkLst>
      </pc:sldChg>
    </pc:docChg>
  </pc:docChgLst>
  <pc:docChgLst>
    <pc:chgData name="吳憲驊-人力資源處-永豐銀行" userId="S::simonwu@sinopac.com::c372d5aa-c765-4280-a5c9-548c4152a5d4" providerId="AD" clId="Web-{AD6359EA-AF55-13A8-8FC0-F1DDB072E1CC}"/>
    <pc:docChg chg="modSld">
      <pc:chgData name="吳憲驊-人力資源處-永豐銀行" userId="S::simonwu@sinopac.com::c372d5aa-c765-4280-a5c9-548c4152a5d4" providerId="AD" clId="Web-{AD6359EA-AF55-13A8-8FC0-F1DDB072E1CC}" dt="2024-10-11T06:24:11.220" v="1"/>
      <pc:docMkLst>
        <pc:docMk/>
      </pc:docMkLst>
      <pc:sldChg chg="modSp">
        <pc:chgData name="吳憲驊-人力資源處-永豐銀行" userId="S::simonwu@sinopac.com::c372d5aa-c765-4280-a5c9-548c4152a5d4" providerId="AD" clId="Web-{AD6359EA-AF55-13A8-8FC0-F1DDB072E1CC}" dt="2024-10-11T06:24:11.220" v="1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A5CB0424-1DCD-41DE-B858-D55378E4CD93}"/>
    <pc:docChg chg="custSel addSld delSld modSld modMainMaster modSection">
      <pc:chgData name="吳憲驊-人力資源處-永豐銀行" userId="c372d5aa-c765-4280-a5c9-548c4152a5d4" providerId="ADAL" clId="{A5CB0424-1DCD-41DE-B858-D55378E4CD93}" dt="2024-09-23T03:47:43.608" v="334" actId="6549"/>
      <pc:docMkLst>
        <pc:docMk/>
      </pc:docMkLst>
      <pc:sldChg chg="modSp mod">
        <pc:chgData name="吳憲驊-人力資源處-永豐銀行" userId="c372d5aa-c765-4280-a5c9-548c4152a5d4" providerId="ADAL" clId="{A5CB0424-1DCD-41DE-B858-D55378E4CD93}" dt="2024-09-23T03:47:43.608" v="334" actId="6549"/>
        <pc:sldMkLst>
          <pc:docMk/>
          <pc:sldMk cId="4060586183" sldId="2147471188"/>
        </pc:sldMkLst>
      </pc:sldChg>
      <pc:sldChg chg="addSp modSp new del mod modClrScheme chgLayout">
        <pc:chgData name="吳憲驊-人力資源處-永豐銀行" userId="c372d5aa-c765-4280-a5c9-548c4152a5d4" providerId="ADAL" clId="{A5CB0424-1DCD-41DE-B858-D55378E4CD93}" dt="2024-09-23T03:37:14.100" v="17" actId="47"/>
        <pc:sldMkLst>
          <pc:docMk/>
          <pc:sldMk cId="3271968025" sldId="2147471189"/>
        </pc:sldMkLst>
      </pc:sldChg>
      <pc:sldMasterChg chg="modSldLayout">
        <pc:chgData name="吳憲驊-人力資源處-永豐銀行" userId="c372d5aa-c765-4280-a5c9-548c4152a5d4" providerId="ADAL" clId="{A5CB0424-1DCD-41DE-B858-D55378E4CD93}" dt="2024-09-23T03:37:04.143" v="8" actId="1076"/>
        <pc:sldMasterMkLst>
          <pc:docMk/>
          <pc:sldMasterMk cId="0" sldId="2147483648"/>
        </pc:sldMasterMkLst>
        <pc:sldLayoutChg chg="addSp delSp modSp mod">
          <pc:chgData name="吳憲驊-人力資源處-永豐銀行" userId="c372d5aa-c765-4280-a5c9-548c4152a5d4" providerId="ADAL" clId="{A5CB0424-1DCD-41DE-B858-D55378E4CD93}" dt="2024-09-23T03:37:04.143" v="8" actId="1076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吳憲驊-人力資源處-永豐銀行" userId="S::simonwu@sinopac.com::c372d5aa-c765-4280-a5c9-548c4152a5d4" providerId="AD" clId="Web-{76B08719-CE9C-CA5C-98B8-63898D770A1E}"/>
    <pc:docChg chg="addSld delSld addSection modSection">
      <pc:chgData name="吳憲驊-人力資源處-永豐銀行" userId="S::simonwu@sinopac.com::c372d5aa-c765-4280-a5c9-548c4152a5d4" providerId="AD" clId="Web-{76B08719-CE9C-CA5C-98B8-63898D770A1E}" dt="2024-09-06T10:15:50.990" v="31"/>
      <pc:docMkLst>
        <pc:docMk/>
      </pc:docMkLst>
      <pc:sldChg chg="add del">
        <pc:chgData name="吳憲驊-人力資源處-永豐銀行" userId="S::simonwu@sinopac.com::c372d5aa-c765-4280-a5c9-548c4152a5d4" providerId="AD" clId="Web-{76B08719-CE9C-CA5C-98B8-63898D770A1E}" dt="2024-09-06T10:15:15.536" v="7"/>
        <pc:sldMkLst>
          <pc:docMk/>
          <pc:sldMk cId="0" sldId="256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67" v="8"/>
        <pc:sldMkLst>
          <pc:docMk/>
          <pc:sldMk cId="0" sldId="257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98" v="9"/>
        <pc:sldMkLst>
          <pc:docMk/>
          <pc:sldMk cId="0" sldId="258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677" v="10"/>
        <pc:sldMkLst>
          <pc:docMk/>
          <pc:sldMk cId="0" sldId="259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755" v="11"/>
        <pc:sldMkLst>
          <pc:docMk/>
          <pc:sldMk cId="0" sldId="260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833" v="12"/>
        <pc:sldMkLst>
          <pc:docMk/>
          <pc:sldMk cId="0" sldId="261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927" v="13"/>
        <pc:sldMkLst>
          <pc:docMk/>
          <pc:sldMk cId="0" sldId="26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36" v="22"/>
        <pc:sldMkLst>
          <pc:docMk/>
          <pc:sldMk cId="0" sldId="264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208" v="24"/>
        <pc:sldMkLst>
          <pc:docMk/>
          <pc:sldMk cId="2406361714" sldId="29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864" v="27"/>
        <pc:sldMkLst>
          <pc:docMk/>
          <pc:sldMk cId="3121629751" sldId="29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536" v="25"/>
        <pc:sldMkLst>
          <pc:docMk/>
          <pc:sldMk cId="2022153893" sldId="29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692" v="26"/>
        <pc:sldMkLst>
          <pc:docMk/>
          <pc:sldMk cId="3155411272" sldId="214747117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30.020" v="28"/>
        <pc:sldMkLst>
          <pc:docMk/>
          <pc:sldMk cId="393315683" sldId="214747118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67" v="23"/>
        <pc:sldMkLst>
          <pc:docMk/>
          <pc:sldMk cId="2193386975" sldId="2147471186"/>
        </pc:sldMkLst>
      </pc:sldChg>
    </pc:docChg>
  </pc:docChgLst>
  <pc:docChgLst>
    <pc:chgData name="周立筠-數據應用部-永豐金證券" userId="S::liyun0222.zhou@sinopac.com::ee349c15-f274-43a3-b0c9-48d528d95247" providerId="AD" clId="Web-{FA426A10-BA6B-DDFE-201A-190FFCD3F55B}"/>
    <pc:docChg chg="addSld delSld modSld addSection modSection">
      <pc:chgData name="周立筠-數據應用部-永豐金證券" userId="S::liyun0222.zhou@sinopac.com::ee349c15-f274-43a3-b0c9-48d528d95247" providerId="AD" clId="Web-{FA426A10-BA6B-DDFE-201A-190FFCD3F55B}" dt="2024-08-23T09:16:34.093" v="83" actId="1076"/>
      <pc:docMkLst>
        <pc:docMk/>
      </pc:docMkLst>
      <pc:sldChg chg="modSp add replId">
        <pc:chgData name="周立筠-數據應用部-永豐金證券" userId="S::liyun0222.zhou@sinopac.com::ee349c15-f274-43a3-b0c9-48d528d95247" providerId="AD" clId="Web-{FA426A10-BA6B-DDFE-201A-190FFCD3F55B}" dt="2024-08-23T09:10:04.631" v="80" actId="1076"/>
        <pc:sldMkLst>
          <pc:docMk/>
          <pc:sldMk cId="3262633635" sldId="297"/>
        </pc:sldMkLst>
      </pc:sldChg>
      <pc:sldChg chg="addSp modSp new">
        <pc:chgData name="周立筠-數據應用部-永豐金證券" userId="S::liyun0222.zhou@sinopac.com::ee349c15-f274-43a3-b0c9-48d528d95247" providerId="AD" clId="Web-{FA426A10-BA6B-DDFE-201A-190FFCD3F55B}" dt="2024-08-23T09:16:34.093" v="83" actId="1076"/>
        <pc:sldMkLst>
          <pc:docMk/>
          <pc:sldMk cId="2826782116" sldId="298"/>
        </pc:sldMkLst>
      </pc:sldChg>
    </pc:docChg>
  </pc:docChgLst>
  <pc:docChgLst>
    <pc:chgData name="傅安-數位金融處-永豐銀行" userId="c8345a55-179c-4faf-b159-cca2c6631c14" providerId="ADAL" clId="{FC04D932-23C0-426C-B700-25BA7DA62966}"/>
    <pc:docChg chg="undo custSel addSld delSld modSld modSection">
      <pc:chgData name="傅安-數位金融處-永豐銀行" userId="c8345a55-179c-4faf-b159-cca2c6631c14" providerId="ADAL" clId="{FC04D932-23C0-426C-B700-25BA7DA62966}" dt="2025-07-14T08:12:18.285" v="70" actId="680"/>
      <pc:docMkLst>
        <pc:docMk/>
      </pc:docMkLst>
      <pc:sldChg chg="modSp mod">
        <pc:chgData name="傅安-數位金融處-永豐銀行" userId="c8345a55-179c-4faf-b159-cca2c6631c14" providerId="ADAL" clId="{FC04D932-23C0-426C-B700-25BA7DA62966}" dt="2025-07-14T08:12:17.924" v="69"/>
        <pc:sldMkLst>
          <pc:docMk/>
          <pc:sldMk cId="0" sldId="256"/>
        </pc:sldMkLst>
      </pc:sldChg>
      <pc:sldChg chg="new del">
        <pc:chgData name="傅安-數位金融處-永豐銀行" userId="c8345a55-179c-4faf-b159-cca2c6631c14" providerId="ADAL" clId="{FC04D932-23C0-426C-B700-25BA7DA62966}" dt="2025-07-14T08:12:18.285" v="70" actId="680"/>
        <pc:sldMkLst>
          <pc:docMk/>
          <pc:sldMk cId="3701876126" sldId="2147471190"/>
        </pc:sldMkLst>
      </pc:sldChg>
    </pc:docChg>
  </pc:docChgLst>
  <pc:docChgLst>
    <pc:chgData name="吳憲驊-人力資源處-永豐銀行" userId="c372d5aa-c765-4280-a5c9-548c4152a5d4" providerId="ADAL" clId="{898F72A5-CF0B-4BC5-833D-22D2B31FA266}"/>
    <pc:docChg chg="undo custSel delSld modSld modSection">
      <pc:chgData name="吳憲驊-人力資源處-永豐銀行" userId="c372d5aa-c765-4280-a5c9-548c4152a5d4" providerId="ADAL" clId="{898F72A5-CF0B-4BC5-833D-22D2B31FA266}" dt="2024-08-27T05:50:47.744" v="22" actId="2165"/>
      <pc:docMkLst>
        <pc:docMk/>
      </pc:docMkLst>
      <pc:sldChg chg="delSp mod">
        <pc:chgData name="吳憲驊-人力資源處-永豐銀行" userId="c372d5aa-c765-4280-a5c9-548c4152a5d4" providerId="ADAL" clId="{898F72A5-CF0B-4BC5-833D-22D2B31FA266}" dt="2024-08-23T08:22:23.087" v="1" actId="478"/>
        <pc:sldMkLst>
          <pc:docMk/>
          <pc:sldMk cId="3121629751" sldId="293"/>
        </pc:sldMkLst>
      </pc:sldChg>
      <pc:sldChg chg="modSp mod addCm modCm">
        <pc:chgData name="吳憲驊-人力資源處-永豐銀行" userId="c372d5aa-c765-4280-a5c9-548c4152a5d4" providerId="ADAL" clId="{898F72A5-CF0B-4BC5-833D-22D2B31FA266}" dt="2024-08-27T05:50:47.744" v="22" actId="2165"/>
        <pc:sldMkLst>
          <pc:docMk/>
          <pc:sldMk cId="673018660" sldId="294"/>
        </pc:sldMkLst>
      </pc:sldChg>
      <pc:sldChg chg="modSp mod">
        <pc:chgData name="吳憲驊-人力資源處-永豐銀行" userId="c372d5aa-c765-4280-a5c9-548c4152a5d4" providerId="ADAL" clId="{898F72A5-CF0B-4BC5-833D-22D2B31FA266}" dt="2024-08-23T10:03:46.763" v="16" actId="20577"/>
        <pc:sldMkLst>
          <pc:docMk/>
          <pc:sldMk cId="3262633635" sldId="297"/>
        </pc:sldMkLst>
      </pc:sldChg>
    </pc:docChg>
  </pc:docChgLst>
  <pc:docChgLst>
    <pc:chgData name="王雋凱-數位金融處-永豐銀行" userId="f78494d6-bac0-4c9e-94cd-0b5e029c0856" providerId="ADAL" clId="{9A569F61-9D88-48E2-A5EB-7100445BBAB5}"/>
    <pc:docChg chg="modSld sldOrd">
      <pc:chgData name="王雋凱-數位金融處-永豐銀行" userId="f78494d6-bac0-4c9e-94cd-0b5e029c0856" providerId="ADAL" clId="{9A569F61-9D88-48E2-A5EB-7100445BBAB5}" dt="2025-06-18T00:28:24.595" v="1"/>
      <pc:docMkLst>
        <pc:docMk/>
      </pc:docMkLst>
      <pc:sldChg chg="ord">
        <pc:chgData name="王雋凱-數位金融處-永豐銀行" userId="f78494d6-bac0-4c9e-94cd-0b5e029c0856" providerId="ADAL" clId="{9A569F61-9D88-48E2-A5EB-7100445BBAB5}" dt="2025-06-18T00:28:24.595" v="1"/>
        <pc:sldMkLst>
          <pc:docMk/>
          <pc:sldMk cId="0" sldId="258"/>
        </pc:sldMkLst>
      </pc:sldChg>
    </pc:docChg>
  </pc:docChgLst>
  <pc:docChgLst>
    <pc:chgData name="張天豪-數位金融處-永豐銀行" userId="0d835702-99c9-4ef6-82d8-3ca86d4ccc15" providerId="ADAL" clId="{05C68244-A0A4-5F4B-A227-C47B6FE62571}"/>
    <pc:docChg chg="undo custSel addSld delSld modSld modMainMaster modSection">
      <pc:chgData name="張天豪-數位金融處-永豐銀行" userId="0d835702-99c9-4ef6-82d8-3ca86d4ccc15" providerId="ADAL" clId="{05C68244-A0A4-5F4B-A227-C47B6FE62571}" dt="2024-11-23T00:59:06.402" v="223" actId="12"/>
      <pc:docMkLst>
        <pc:docMk/>
      </pc:docMkLst>
      <pc:sldChg chg="modSp mod">
        <pc:chgData name="張天豪-數位金融處-永豐銀行" userId="0d835702-99c9-4ef6-82d8-3ca86d4ccc15" providerId="ADAL" clId="{05C68244-A0A4-5F4B-A227-C47B6FE62571}" dt="2024-10-12T11:25:14.956" v="80" actId="20577"/>
        <pc:sldMkLst>
          <pc:docMk/>
          <pc:sldMk cId="2406361714" sldId="292"/>
        </pc:sldMkLst>
      </pc:sldChg>
      <pc:sldChg chg="modSp mod">
        <pc:chgData name="張天豪-數位金融處-永豐銀行" userId="0d835702-99c9-4ef6-82d8-3ca86d4ccc15" providerId="ADAL" clId="{05C68244-A0A4-5F4B-A227-C47B6FE62571}" dt="2024-10-13T02:59:04.551" v="212" actId="6549"/>
        <pc:sldMkLst>
          <pc:docMk/>
          <pc:sldMk cId="2022153893" sldId="295"/>
        </pc:sldMkLst>
      </pc:sldChg>
      <pc:sldChg chg="modSp mod">
        <pc:chgData name="張天豪-數位金融處-永豐銀行" userId="0d835702-99c9-4ef6-82d8-3ca86d4ccc15" providerId="ADAL" clId="{05C68244-A0A4-5F4B-A227-C47B6FE62571}" dt="2024-10-12T11:29:08.768" v="165"/>
        <pc:sldMkLst>
          <pc:docMk/>
          <pc:sldMk cId="3262633635" sldId="297"/>
        </pc:sldMkLst>
      </pc:sldChg>
      <pc:sldChg chg="modSp mod">
        <pc:chgData name="張天豪-數位金融處-永豐銀行" userId="0d835702-99c9-4ef6-82d8-3ca86d4ccc15" providerId="ADAL" clId="{05C68244-A0A4-5F4B-A227-C47B6FE62571}" dt="2024-10-12T11:25:27.938" v="88" actId="20577"/>
        <pc:sldMkLst>
          <pc:docMk/>
          <pc:sldMk cId="3155411272" sldId="2147471173"/>
        </pc:sldMkLst>
      </pc:sldChg>
      <pc:sldChg chg="modSp mod">
        <pc:chgData name="張天豪-數位金融處-永豐銀行" userId="0d835702-99c9-4ef6-82d8-3ca86d4ccc15" providerId="ADAL" clId="{05C68244-A0A4-5F4B-A227-C47B6FE62571}" dt="2024-10-12T11:28:12.213" v="152" actId="207"/>
        <pc:sldMkLst>
          <pc:docMk/>
          <pc:sldMk cId="2495256314" sldId="2147471176"/>
        </pc:sldMkLst>
      </pc:sldChg>
      <pc:sldChg chg="add del">
        <pc:chgData name="張天豪-數位金融處-永豐銀行" userId="0d835702-99c9-4ef6-82d8-3ca86d4ccc15" providerId="ADAL" clId="{05C68244-A0A4-5F4B-A227-C47B6FE62571}" dt="2024-10-12T11:29:13.617" v="166" actId="2696"/>
        <pc:sldMkLst>
          <pc:docMk/>
          <pc:sldMk cId="424210253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6:42.301" v="102" actId="2696"/>
        <pc:sldMkLst>
          <pc:docMk/>
          <pc:sldMk cId="717366664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8:19.946" v="153" actId="2696"/>
        <pc:sldMkLst>
          <pc:docMk/>
          <pc:sldMk cId="750805866" sldId="2147471190"/>
        </pc:sldMkLst>
      </pc:sldChg>
      <pc:sldChg chg="del">
        <pc:chgData name="張天豪-數位金融處-永豐銀行" userId="0d835702-99c9-4ef6-82d8-3ca86d4ccc15" providerId="ADAL" clId="{05C68244-A0A4-5F4B-A227-C47B6FE62571}" dt="2024-10-12T11:23:56.255" v="44" actId="2696"/>
        <pc:sldMkLst>
          <pc:docMk/>
          <pc:sldMk cId="3905871497" sldId="2147471190"/>
        </pc:sldMkLst>
      </pc:sldChg>
      <pc:sldMasterChg chg="modSldLayout sldLayoutOrd">
        <pc:chgData name="張天豪-數位金融處-永豐銀行" userId="0d835702-99c9-4ef6-82d8-3ca86d4ccc15" providerId="ADAL" clId="{05C68244-A0A4-5F4B-A227-C47B6FE62571}" dt="2024-11-23T00:59:06.402" v="223" actId="12"/>
        <pc:sldMasterMkLst>
          <pc:docMk/>
          <pc:sldMasterMk cId="0" sldId="2147483648"/>
        </pc:sldMasterMkLst>
        <pc:sldLayoutChg chg="modSp">
          <pc:chgData name="張天豪-數位金融處-永豐銀行" userId="0d835702-99c9-4ef6-82d8-3ca86d4ccc15" providerId="ADAL" clId="{05C68244-A0A4-5F4B-A227-C47B6FE62571}" dt="2024-10-13T02:53:19.336" v="171" actId="12"/>
          <pc:sldLayoutMkLst>
            <pc:docMk/>
            <pc:sldMasterMk cId="0" sldId="2147483648"/>
            <pc:sldLayoutMk cId="0" sldId="2147483651"/>
          </pc:sldLayoutMkLst>
        </pc:sldLayoutChg>
        <pc:sldLayoutChg chg="ord">
          <pc:chgData name="張天豪-數位金融處-永豐銀行" userId="0d835702-99c9-4ef6-82d8-3ca86d4ccc15" providerId="ADAL" clId="{05C68244-A0A4-5F4B-A227-C47B6FE62571}" dt="2024-11-11T08:29:41.246" v="213" actId="20578"/>
          <pc:sldLayoutMkLst>
            <pc:docMk/>
            <pc:sldMasterMk cId="0" sldId="2147483648"/>
            <pc:sldLayoutMk cId="0" sldId="2147483652"/>
          </pc:sldLayoutMkLst>
        </pc:sldLayoutChg>
        <pc:sldLayoutChg chg="modSp">
          <pc:chgData name="張天豪-數位金融處-永豐銀行" userId="0d835702-99c9-4ef6-82d8-3ca86d4ccc15" providerId="ADAL" clId="{05C68244-A0A4-5F4B-A227-C47B6FE62571}" dt="2024-11-23T00:59:06.402" v="223" actId="12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周立筠-數據應用部-永豐金證券" userId="S::liyun0222.zhou@sinopac.com::ee349c15-f274-43a3-b0c9-48d528d95247" providerId="AD" clId="Web-{A48564C8-421B-2203-E695-99D400D4424E}"/>
    <pc:docChg chg="modSld">
      <pc:chgData name="周立筠-數據應用部-永豐金證券" userId="S::liyun0222.zhou@sinopac.com::ee349c15-f274-43a3-b0c9-48d528d95247" providerId="AD" clId="Web-{A48564C8-421B-2203-E695-99D400D4424E}" dt="2024-08-23T09:42:27.791" v="49"/>
      <pc:docMkLst>
        <pc:docMk/>
      </pc:docMkLst>
      <pc:sldChg chg="modSp">
        <pc:chgData name="周立筠-數據應用部-永豐金證券" userId="S::liyun0222.zhou@sinopac.com::ee349c15-f274-43a3-b0c9-48d528d95247" providerId="AD" clId="Web-{A48564C8-421B-2203-E695-99D400D4424E}" dt="2024-08-23T09:42:27.791" v="49"/>
        <pc:sldMkLst>
          <pc:docMk/>
          <pc:sldMk cId="3262633635" sldId="2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0962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821615" y="337747"/>
            <a:ext cx="5695200" cy="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58750" indent="0">
              <a:buNone/>
            </a:pPr>
            <a:r>
              <a:rPr lang="zh-TW" altLang="en-US" sz="1400" dirty="0"/>
              <a:t>各位好，今天要說明的是 </a:t>
            </a: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正式環境資源與系統架構提案。</a:t>
            </a:r>
            <a:endParaRPr lang="en-US" altLang="zh-TW" sz="1400" dirty="0"/>
          </a:p>
          <a:p>
            <a:pPr marL="158750" indent="0">
              <a:buNone/>
            </a:pPr>
            <a:endParaRPr lang="zh-TW" altLang="en-US" sz="1400" dirty="0"/>
          </a:p>
          <a:p>
            <a:pPr marL="158750" indent="0">
              <a:buNone/>
            </a:pPr>
            <a:r>
              <a:rPr lang="zh-TW" altLang="en-US" sz="1400" dirty="0"/>
              <a:t>這份提案會從目前系統架構、資料規模、背景任務負載、</a:t>
            </a:r>
            <a:r>
              <a:rPr lang="en" altLang="zh-TW" sz="1400" dirty="0"/>
              <a:t>LLM runtime </a:t>
            </a:r>
            <a:r>
              <a:rPr lang="zh-TW" altLang="en-US" sz="1400" dirty="0"/>
              <a:t>依賴，以及正式環境需要考量的安全、備份、監控與高可用需求出發，推導出比較合理的部署架構與資源配置。</a:t>
            </a:r>
          </a:p>
          <a:p>
            <a:pPr marL="158750" indent="0">
              <a:buNone/>
            </a:pPr>
            <a:endParaRPr lang="en" altLang="zh-TW" sz="1400" dirty="0"/>
          </a:p>
          <a:p>
            <a:pPr marL="158750" indent="0">
              <a:buNone/>
            </a:pPr>
            <a:r>
              <a:rPr lang="en" altLang="zh-TW" sz="1400" dirty="0" err="1"/>
              <a:t>InfoGather</a:t>
            </a:r>
            <a:r>
              <a:rPr lang="en" altLang="zh-TW" sz="1400" dirty="0"/>
              <a:t> </a:t>
            </a:r>
            <a:r>
              <a:rPr lang="zh-TW" altLang="en-US" sz="1400" dirty="0"/>
              <a:t>目前已經包含前端、後端 </a:t>
            </a:r>
            <a:r>
              <a:rPr lang="en" altLang="zh-TW" sz="1400" dirty="0"/>
              <a:t>API</a:t>
            </a:r>
            <a:r>
              <a:rPr lang="zh-TW" altLang="en" sz="1400" dirty="0"/>
              <a:t>、</a:t>
            </a:r>
            <a:r>
              <a:rPr lang="zh-TW" altLang="en-US" sz="1400" dirty="0"/>
              <a:t>背景處理、資料庫、</a:t>
            </a:r>
            <a:r>
              <a:rPr lang="en" altLang="zh-TW" sz="1400" dirty="0"/>
              <a:t>queue</a:t>
            </a:r>
            <a:r>
              <a:rPr lang="zh-TW" altLang="en" sz="1400" dirty="0"/>
              <a:t>，</a:t>
            </a:r>
            <a:r>
              <a:rPr lang="zh-TW" altLang="en-US" sz="1400" dirty="0"/>
              <a:t>以及 </a:t>
            </a:r>
            <a:r>
              <a:rPr lang="en" altLang="zh-TW" sz="1400" dirty="0"/>
              <a:t>LLM runtime</a:t>
            </a:r>
            <a:r>
              <a:rPr lang="zh-TW" altLang="en" sz="1400" dirty="0"/>
              <a:t>。</a:t>
            </a:r>
            <a:r>
              <a:rPr lang="zh-TW" altLang="en-US" sz="1400" dirty="0"/>
              <a:t>接下來我會先帶大家看現況，再說明地端與雲端兩種部署方案，最後收斂成正式環境的建置建議。</a:t>
            </a:r>
          </a:p>
          <a:p>
            <a:pPr marL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sz="1400" dirty="0"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3536950" y="1177925"/>
            <a:ext cx="13887450" cy="78120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這一頁先建立共同畫面。</a:t>
            </a: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可以分成幾個主要層級。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前端是 </a:t>
            </a:r>
            <a:r>
              <a:rPr lang="en" altLang="zh-TW" dirty="0"/>
              <a:t>Angular SPA</a:t>
            </a:r>
            <a:r>
              <a:rPr lang="zh-TW" altLang="en" dirty="0"/>
              <a:t>，</a:t>
            </a:r>
            <a:r>
              <a:rPr lang="zh-TW" altLang="en-US" dirty="0"/>
              <a:t>後端是 </a:t>
            </a:r>
            <a:r>
              <a:rPr lang="en" altLang="zh-TW" dirty="0"/>
              <a:t>Node.js / </a:t>
            </a:r>
            <a:r>
              <a:rPr lang="en" altLang="zh-TW" dirty="0" err="1"/>
              <a:t>NestJS</a:t>
            </a:r>
            <a:r>
              <a:rPr lang="en" altLang="zh-TW" dirty="0"/>
              <a:t> API</a:t>
            </a:r>
            <a:r>
              <a:rPr lang="zh-TW" altLang="en" dirty="0"/>
              <a:t>，</a:t>
            </a:r>
            <a:r>
              <a:rPr lang="zh-TW" altLang="en-US" dirty="0"/>
              <a:t>資料層使用 </a:t>
            </a:r>
            <a:r>
              <a:rPr lang="en" altLang="zh-TW" dirty="0"/>
              <a:t>MongoDB</a:t>
            </a:r>
            <a:r>
              <a:rPr lang="zh-TW" altLang="en" dirty="0"/>
              <a:t>，</a:t>
            </a:r>
            <a:r>
              <a:rPr lang="zh-TW" altLang="en-US" dirty="0"/>
              <a:t>背景任務透過 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en" altLang="zh-TW" dirty="0" err="1"/>
              <a:t>BullMQ</a:t>
            </a:r>
            <a:r>
              <a:rPr lang="zh-TW" altLang="en" dirty="0"/>
              <a:t>、</a:t>
            </a:r>
            <a:r>
              <a:rPr lang="en" altLang="zh-TW" dirty="0"/>
              <a:t>scheduler </a:t>
            </a:r>
            <a:r>
              <a:rPr lang="zh-TW" altLang="en-US" dirty="0"/>
              <a:t>和 </a:t>
            </a:r>
            <a:r>
              <a:rPr lang="en" altLang="zh-TW" dirty="0"/>
              <a:t>worker pool </a:t>
            </a:r>
            <a:r>
              <a:rPr lang="zh-TW" altLang="en-US" dirty="0"/>
              <a:t>處理。</a:t>
            </a:r>
            <a:r>
              <a:rPr lang="en" altLang="zh-TW" dirty="0"/>
              <a:t>LLM </a:t>
            </a:r>
            <a:r>
              <a:rPr lang="zh-TW" altLang="en-US" dirty="0"/>
              <a:t>相關流程則透過 </a:t>
            </a:r>
            <a:r>
              <a:rPr lang="en" altLang="zh-TW" dirty="0"/>
              <a:t>Copilot CLI server</a:t>
            </a:r>
            <a:r>
              <a:rPr lang="zh-TW" altLang="en" dirty="0"/>
              <a:t>，</a:t>
            </a:r>
            <a:r>
              <a:rPr lang="zh-TW" altLang="en-US" dirty="0"/>
              <a:t>再轉接到 </a:t>
            </a:r>
            <a:r>
              <a:rPr lang="en" altLang="zh-TW" dirty="0"/>
              <a:t>OpenAI-compatible BYOK provider</a:t>
            </a:r>
            <a:r>
              <a:rPr lang="zh-TW" altLang="en" dirty="0"/>
              <a:t>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這裡要特別注意，</a:t>
            </a: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會持續執行多種背景工作，例如資料來源抓取、文章處理、助手評估、通知與 </a:t>
            </a:r>
            <a:r>
              <a:rPr lang="en" altLang="zh-TW" dirty="0"/>
              <a:t>brief </a:t>
            </a:r>
            <a:r>
              <a:rPr lang="zh-TW" altLang="en-US" dirty="0"/>
              <a:t>產生。這些流程主要由 </a:t>
            </a:r>
            <a:r>
              <a:rPr lang="en" altLang="zh-TW" dirty="0"/>
              <a:t>worker </a:t>
            </a:r>
            <a:r>
              <a:rPr lang="zh-TW" altLang="en-US" dirty="0"/>
              <a:t>處理，因此正式環境的負載來源，除了使用者操作 </a:t>
            </a:r>
            <a:r>
              <a:rPr lang="en" altLang="zh-TW" dirty="0"/>
              <a:t>API</a:t>
            </a:r>
            <a:r>
              <a:rPr lang="zh-TW" altLang="en" dirty="0"/>
              <a:t>，</a:t>
            </a:r>
            <a:r>
              <a:rPr lang="zh-TW" altLang="en-US" dirty="0"/>
              <a:t>也包含後台任務的持續處理量。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另外，</a:t>
            </a:r>
            <a:r>
              <a:rPr lang="en" altLang="zh-TW" dirty="0"/>
              <a:t>Copilot CLI server </a:t>
            </a:r>
            <a:r>
              <a:rPr lang="zh-TW" altLang="en-US" dirty="0"/>
              <a:t>是 </a:t>
            </a:r>
            <a:r>
              <a:rPr lang="en" altLang="zh-TW" dirty="0"/>
              <a:t>API app </a:t>
            </a:r>
            <a:r>
              <a:rPr lang="zh-TW" altLang="en-US" dirty="0"/>
              <a:t>和 </a:t>
            </a:r>
            <a:r>
              <a:rPr lang="en" altLang="zh-TW" dirty="0"/>
              <a:t>worker </a:t>
            </a:r>
            <a:r>
              <a:rPr lang="zh-TW" altLang="en-US" dirty="0"/>
              <a:t>共用的 </a:t>
            </a:r>
            <a:r>
              <a:rPr lang="en" altLang="zh-TW" dirty="0"/>
              <a:t>LLM runtime endpoint</a:t>
            </a:r>
            <a:r>
              <a:rPr lang="zh-TW" altLang="en" dirty="0"/>
              <a:t>。</a:t>
            </a:r>
            <a:r>
              <a:rPr lang="en" altLang="zh-TW" dirty="0"/>
              <a:t>API </a:t>
            </a:r>
            <a:r>
              <a:rPr lang="zh-TW" altLang="en-US" dirty="0"/>
              <a:t>和 </a:t>
            </a:r>
            <a:r>
              <a:rPr lang="en" altLang="zh-TW" dirty="0"/>
              <a:t>worker </a:t>
            </a:r>
            <a:r>
              <a:rPr lang="zh-TW" altLang="en-US" dirty="0"/>
              <a:t>會透過 </a:t>
            </a:r>
            <a:r>
              <a:rPr lang="en" altLang="zh-TW" dirty="0"/>
              <a:t>COPILOT_CLI_URL </a:t>
            </a:r>
            <a:r>
              <a:rPr lang="zh-TW" altLang="en-US" dirty="0"/>
              <a:t>連到它，再由它負責 </a:t>
            </a:r>
            <a:r>
              <a:rPr lang="en" altLang="zh-TW" dirty="0"/>
              <a:t>session</a:t>
            </a:r>
            <a:r>
              <a:rPr lang="zh-TW" altLang="en" dirty="0"/>
              <a:t>、</a:t>
            </a:r>
            <a:r>
              <a:rPr lang="en" altLang="zh-TW" dirty="0"/>
              <a:t>streaming</a:t>
            </a:r>
            <a:r>
              <a:rPr lang="zh-TW" altLang="en" dirty="0"/>
              <a:t>、</a:t>
            </a:r>
            <a:r>
              <a:rPr lang="zh-TW" altLang="en-US" dirty="0"/>
              <a:t>工具協調與 </a:t>
            </a:r>
            <a:r>
              <a:rPr lang="en" altLang="zh-TW" dirty="0"/>
              <a:t>LLM provider </a:t>
            </a:r>
            <a:r>
              <a:rPr lang="zh-TW" altLang="en-US" dirty="0"/>
              <a:t>轉接。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因此後續正式環境估算，會從前台服務、背景任務、資料層與 </a:t>
            </a:r>
            <a:r>
              <a:rPr lang="en" altLang="zh-TW" dirty="0"/>
              <a:t>LLM runtime </a:t>
            </a:r>
            <a:r>
              <a:rPr lang="zh-TW" altLang="en-US" dirty="0"/>
              <a:t>幾個面向一起來看。</a:t>
            </a:r>
          </a:p>
        </p:txBody>
      </p:sp>
    </p:spTree>
    <p:extLst>
      <p:ext uri="{BB962C8B-B14F-4D97-AF65-F5344CB8AC3E}">
        <p14:creationId xmlns:p14="http://schemas.microsoft.com/office/powerpoint/2010/main" val="1645579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這一頁看目前實際環境。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目前主機是 </a:t>
            </a:r>
            <a:r>
              <a:rPr lang="en-US" altLang="zh-TW" dirty="0"/>
              <a:t>8 </a:t>
            </a:r>
            <a:r>
              <a:rPr lang="en" altLang="zh-TW" dirty="0"/>
              <a:t>vCPU</a:t>
            </a:r>
            <a:r>
              <a:rPr lang="zh-TW" altLang="en" dirty="0"/>
              <a:t>、</a:t>
            </a:r>
            <a:r>
              <a:rPr lang="en" altLang="zh-TW" dirty="0"/>
              <a:t>15 GiB RAM</a:t>
            </a:r>
            <a:r>
              <a:rPr lang="zh-TW" altLang="en" dirty="0"/>
              <a:t>，</a:t>
            </a:r>
            <a:r>
              <a:rPr lang="zh-TW" altLang="en-US" dirty="0"/>
              <a:t>上面同時跑 </a:t>
            </a:r>
            <a:r>
              <a:rPr lang="en" altLang="zh-TW" dirty="0" err="1"/>
              <a:t>InfoGather</a:t>
            </a:r>
            <a:r>
              <a:rPr lang="en" altLang="zh-TW" dirty="0"/>
              <a:t> app</a:t>
            </a:r>
            <a:r>
              <a:rPr lang="zh-TW" altLang="en" dirty="0"/>
              <a:t>、</a:t>
            </a:r>
            <a:r>
              <a:rPr lang="en" altLang="zh-TW" dirty="0"/>
              <a:t>scheduler</a:t>
            </a:r>
            <a:r>
              <a:rPr lang="zh-TW" altLang="en" dirty="0"/>
              <a:t>、</a:t>
            </a:r>
            <a:r>
              <a:rPr lang="en" altLang="zh-TW" dirty="0"/>
              <a:t>10 </a:t>
            </a:r>
            <a:r>
              <a:rPr lang="zh-TW" altLang="en-US" dirty="0"/>
              <a:t>個 </a:t>
            </a:r>
            <a:r>
              <a:rPr lang="en" altLang="zh-TW" dirty="0"/>
              <a:t>worker</a:t>
            </a:r>
            <a:r>
              <a:rPr lang="zh-TW" altLang="en" dirty="0"/>
              <a:t>、</a:t>
            </a:r>
            <a:r>
              <a:rPr lang="en" altLang="zh-TW" dirty="0"/>
              <a:t>MongoDB</a:t>
            </a:r>
            <a:r>
              <a:rPr lang="zh-TW" altLang="en" dirty="0"/>
              <a:t>、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en" altLang="zh-TW" dirty="0"/>
              <a:t>Copilot CLI server</a:t>
            </a:r>
            <a:r>
              <a:rPr lang="zh-TW" altLang="en" dirty="0"/>
              <a:t>，</a:t>
            </a:r>
            <a:r>
              <a:rPr lang="zh-TW" altLang="en-US" dirty="0"/>
              <a:t>以及其他既有服務。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從目前觀測來看，單一 </a:t>
            </a:r>
            <a:r>
              <a:rPr lang="en" altLang="zh-TW" dirty="0"/>
              <a:t>worker </a:t>
            </a:r>
            <a:r>
              <a:rPr lang="zh-TW" altLang="en-US" dirty="0"/>
              <a:t>大約使用 </a:t>
            </a:r>
            <a:r>
              <a:rPr lang="en-US" altLang="zh-TW" dirty="0"/>
              <a:t>88 </a:t>
            </a:r>
            <a:r>
              <a:rPr lang="zh-TW" altLang="en-US" dirty="0"/>
              <a:t>到 </a:t>
            </a:r>
            <a:r>
              <a:rPr lang="en-US" altLang="zh-TW" dirty="0"/>
              <a:t>116 </a:t>
            </a:r>
            <a:r>
              <a:rPr lang="en" altLang="zh-TW" dirty="0"/>
              <a:t>MiB RAM</a:t>
            </a:r>
            <a:r>
              <a:rPr lang="zh-TW" altLang="en" dirty="0"/>
              <a:t>，</a:t>
            </a:r>
            <a:r>
              <a:rPr lang="en" altLang="zh-TW" dirty="0"/>
              <a:t>10 </a:t>
            </a:r>
            <a:r>
              <a:rPr lang="zh-TW" altLang="en-US" dirty="0"/>
              <a:t>個 </a:t>
            </a:r>
            <a:r>
              <a:rPr lang="en" altLang="zh-TW" dirty="0"/>
              <a:t>worker </a:t>
            </a:r>
            <a:r>
              <a:rPr lang="zh-TW" altLang="en-US" dirty="0"/>
              <a:t>合計約 </a:t>
            </a:r>
            <a:r>
              <a:rPr lang="en-US" altLang="zh-TW" dirty="0"/>
              <a:t>1 </a:t>
            </a:r>
            <a:r>
              <a:rPr lang="en" altLang="zh-TW" dirty="0"/>
              <a:t>GiB</a:t>
            </a:r>
            <a:r>
              <a:rPr lang="zh-TW" altLang="en" dirty="0"/>
              <a:t>。</a:t>
            </a:r>
            <a:r>
              <a:rPr lang="en" altLang="zh-TW" dirty="0"/>
              <a:t>Copilot CLI server </a:t>
            </a:r>
            <a:r>
              <a:rPr lang="zh-TW" altLang="en-US" dirty="0"/>
              <a:t>閒置時約 </a:t>
            </a:r>
            <a:r>
              <a:rPr lang="en-US" altLang="zh-TW" dirty="0"/>
              <a:t>294 </a:t>
            </a:r>
            <a:r>
              <a:rPr lang="en" altLang="zh-TW" dirty="0"/>
              <a:t>MiB</a:t>
            </a:r>
            <a:r>
              <a:rPr lang="zh-TW" altLang="en" dirty="0"/>
              <a:t>，</a:t>
            </a:r>
            <a:r>
              <a:rPr lang="en" altLang="zh-TW" dirty="0"/>
              <a:t>MongoDB </a:t>
            </a:r>
            <a:r>
              <a:rPr lang="zh-TW" altLang="en-US" dirty="0"/>
              <a:t>約 </a:t>
            </a:r>
            <a:r>
              <a:rPr lang="en-US" altLang="zh-TW" dirty="0"/>
              <a:t>1.53 </a:t>
            </a:r>
            <a:r>
              <a:rPr lang="en" altLang="zh-TW" dirty="0"/>
              <a:t>GiB</a:t>
            </a:r>
            <a:r>
              <a:rPr lang="zh-TW" altLang="en" dirty="0"/>
              <a:t>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這些數字可以作為現況基準，但正式環境不能直接照這個數字配置。原因是目前看到的是單一時間點的觀測結果，無法代表尖峰情境。</a:t>
            </a:r>
          </a:p>
          <a:p>
            <a:pPr marL="158750" indent="0">
              <a:buNone/>
            </a:pPr>
            <a:r>
              <a:rPr lang="zh-TW" altLang="en-US" dirty="0"/>
              <a:t>當 </a:t>
            </a:r>
            <a:r>
              <a:rPr lang="en" altLang="zh-TW" dirty="0"/>
              <a:t>feed </a:t>
            </a:r>
            <a:r>
              <a:rPr lang="zh-TW" altLang="en-US" dirty="0"/>
              <a:t>抓取、文章萃取、助手評估同時發生時，</a:t>
            </a:r>
            <a:r>
              <a:rPr lang="en-US" altLang="zh-TW" dirty="0"/>
              <a:t>10 </a:t>
            </a:r>
            <a:r>
              <a:rPr lang="zh-TW" altLang="en-US" dirty="0"/>
              <a:t>個 </a:t>
            </a:r>
            <a:r>
              <a:rPr lang="en" altLang="zh-TW" dirty="0"/>
              <a:t>worker </a:t>
            </a:r>
            <a:r>
              <a:rPr lang="zh-TW" altLang="en-US" dirty="0"/>
              <a:t>會一起把壓力推到 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en" altLang="zh-TW" dirty="0"/>
              <a:t>MongoDB</a:t>
            </a:r>
            <a:r>
              <a:rPr lang="zh-TW" altLang="en" dirty="0"/>
              <a:t>、</a:t>
            </a:r>
            <a:r>
              <a:rPr lang="en" altLang="zh-TW" dirty="0"/>
              <a:t>Copilot CLI</a:t>
            </a:r>
            <a:r>
              <a:rPr lang="zh-TW" altLang="en" dirty="0"/>
              <a:t>，</a:t>
            </a:r>
            <a:r>
              <a:rPr lang="zh-TW" altLang="en-US" dirty="0"/>
              <a:t>以及外部 </a:t>
            </a:r>
            <a:r>
              <a:rPr lang="en" altLang="zh-TW" dirty="0"/>
              <a:t>LLM/API</a:t>
            </a:r>
            <a:r>
              <a:rPr lang="zh-TW" altLang="en" dirty="0"/>
              <a:t>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所以這一頁的重點是，目前主機可以提供容量參考；正式環境需要額外預留尖峰、服務隔離、備份、高可用與維運操作空間。</a:t>
            </a:r>
          </a:p>
        </p:txBody>
      </p:sp>
    </p:spTree>
    <p:extLst>
      <p:ext uri="{BB962C8B-B14F-4D97-AF65-F5344CB8AC3E}">
        <p14:creationId xmlns:p14="http://schemas.microsoft.com/office/powerpoint/2010/main" val="27613498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這一頁看目前資料量。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截至 </a:t>
            </a:r>
            <a:r>
              <a:rPr lang="en-US" altLang="zh-TW" dirty="0"/>
              <a:t>2026 </a:t>
            </a:r>
            <a:r>
              <a:rPr lang="zh-TW" altLang="en-US" dirty="0"/>
              <a:t>年 </a:t>
            </a:r>
            <a:r>
              <a:rPr lang="en-US" altLang="zh-TW" dirty="0"/>
              <a:t>6 </a:t>
            </a:r>
            <a:r>
              <a:rPr lang="zh-TW" altLang="en-US" dirty="0"/>
              <a:t>月 </a:t>
            </a:r>
            <a:r>
              <a:rPr lang="en-US" altLang="zh-TW" dirty="0"/>
              <a:t>1 </a:t>
            </a:r>
            <a:r>
              <a:rPr lang="zh-TW" altLang="en-US" dirty="0"/>
              <a:t>日，</a:t>
            </a:r>
            <a:r>
              <a:rPr lang="en" altLang="zh-TW" dirty="0"/>
              <a:t>MongoDB </a:t>
            </a:r>
            <a:r>
              <a:rPr lang="zh-TW" altLang="en-US" dirty="0"/>
              <a:t>有 </a:t>
            </a:r>
            <a:r>
              <a:rPr lang="en-US" altLang="zh-TW" b="1" dirty="0"/>
              <a:t>29 </a:t>
            </a:r>
            <a:r>
              <a:rPr lang="zh-TW" altLang="en-US" b="1" dirty="0"/>
              <a:t>個 </a:t>
            </a:r>
            <a:r>
              <a:rPr lang="en" altLang="zh-TW" b="1" dirty="0"/>
              <a:t>collections</a:t>
            </a:r>
            <a:r>
              <a:rPr lang="zh-TW" altLang="en" dirty="0"/>
              <a:t>，</a:t>
            </a:r>
            <a:r>
              <a:rPr lang="zh-TW" altLang="en-US" dirty="0"/>
              <a:t>總文件數約 </a:t>
            </a:r>
            <a:r>
              <a:rPr lang="en-US" altLang="zh-TW" b="1" dirty="0"/>
              <a:t>111 </a:t>
            </a:r>
            <a:r>
              <a:rPr lang="zh-TW" altLang="en-US" b="1" dirty="0"/>
              <a:t>萬筆</a:t>
            </a:r>
            <a:r>
              <a:rPr lang="zh-TW" altLang="en-US" dirty="0"/>
              <a:t>。資料本體加上索引，實體大小約 </a:t>
            </a:r>
            <a:r>
              <a:rPr lang="en-US" altLang="zh-TW" b="1" dirty="0"/>
              <a:t>1.36 </a:t>
            </a:r>
            <a:r>
              <a:rPr lang="en" altLang="zh-TW" b="1" dirty="0"/>
              <a:t>GiB</a:t>
            </a:r>
            <a:r>
              <a:rPr lang="zh-TW" altLang="en" dirty="0"/>
              <a:t>。</a:t>
            </a:r>
            <a:endParaRPr lang="en-US" altLang="zh-TW" dirty="0"/>
          </a:p>
          <a:p>
            <a:pPr marL="158750" indent="0">
              <a:buNone/>
            </a:pPr>
            <a:endParaRPr lang="zh-TW" altLang="en" dirty="0"/>
          </a:p>
          <a:p>
            <a:pPr marL="158750" indent="0">
              <a:buNone/>
            </a:pPr>
            <a:r>
              <a:rPr lang="zh-TW" altLang="en-US" dirty="0"/>
              <a:t>從容量來看，這個規模短期內還不算大。不過資料庫規劃不能只看總容量，還要看資料集中在哪裡，以及索引是否會影響查詢效能。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目前最大宗是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articles</a:t>
            </a:r>
            <a:r>
              <a:rPr lang="en" altLang="zh-TW" dirty="0"/>
              <a:t> </a:t>
            </a:r>
            <a:r>
              <a:rPr lang="zh-TW" altLang="en-US" dirty="0"/>
              <a:t>和 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assistantarticles</a:t>
            </a:r>
            <a:r>
              <a:rPr lang="zh-TW" altLang="en" dirty="0"/>
              <a:t>。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articles</a:t>
            </a:r>
            <a:r>
              <a:rPr lang="en" altLang="zh-TW" dirty="0"/>
              <a:t> </a:t>
            </a:r>
            <a:r>
              <a:rPr lang="zh-TW" altLang="en-US" dirty="0"/>
              <a:t>約 </a:t>
            </a:r>
            <a:r>
              <a:rPr lang="en-US" altLang="zh-TW" dirty="0"/>
              <a:t>24.7 </a:t>
            </a:r>
            <a:r>
              <a:rPr lang="zh-TW" altLang="en-US" dirty="0"/>
              <a:t>萬筆，代表平台收進來的文章；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assistantarticles</a:t>
            </a:r>
            <a:r>
              <a:rPr lang="en" altLang="zh-TW" dirty="0"/>
              <a:t> </a:t>
            </a:r>
            <a:r>
              <a:rPr lang="zh-TW" altLang="en-US" dirty="0"/>
              <a:t>約 </a:t>
            </a:r>
            <a:r>
              <a:rPr lang="en-US" altLang="zh-TW" dirty="0"/>
              <a:t>86 </a:t>
            </a:r>
            <a:r>
              <a:rPr lang="zh-TW" altLang="en-US" dirty="0"/>
              <a:t>萬筆，代表資訊助手對文章做過的評估結果。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另外，</a:t>
            </a:r>
            <a:r>
              <a:rPr lang="en" altLang="zh-TW" dirty="0"/>
              <a:t>MongoDB </a:t>
            </a:r>
            <a:r>
              <a:rPr lang="zh-TW" altLang="en-US" dirty="0"/>
              <a:t>的 </a:t>
            </a:r>
            <a:r>
              <a:rPr lang="en" altLang="zh-TW" dirty="0"/>
              <a:t>index </a:t>
            </a:r>
            <a:r>
              <a:rPr lang="zh-TW" altLang="en-US" dirty="0"/>
              <a:t>約 </a:t>
            </a:r>
            <a:r>
              <a:rPr lang="en-US" altLang="zh-TW" dirty="0"/>
              <a:t>825 </a:t>
            </a:r>
            <a:r>
              <a:rPr lang="en" altLang="zh-TW" dirty="0"/>
              <a:t>MiB</a:t>
            </a:r>
            <a:r>
              <a:rPr lang="zh-TW" altLang="en" dirty="0"/>
              <a:t>，</a:t>
            </a:r>
            <a:r>
              <a:rPr lang="zh-TW" altLang="en-US" dirty="0"/>
              <a:t>其中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articles</a:t>
            </a:r>
            <a:r>
              <a:rPr lang="en" altLang="zh-TW" dirty="0"/>
              <a:t> </a:t>
            </a:r>
            <a:r>
              <a:rPr lang="zh-TW" altLang="en-US" dirty="0"/>
              <a:t>的 </a:t>
            </a:r>
            <a:r>
              <a:rPr lang="en" altLang="zh-TW" dirty="0"/>
              <a:t>index </a:t>
            </a:r>
            <a:r>
              <a:rPr lang="zh-TW" altLang="en-US" dirty="0"/>
              <a:t>約 </a:t>
            </a:r>
            <a:r>
              <a:rPr lang="en-US" altLang="zh-TW" dirty="0"/>
              <a:t>741 </a:t>
            </a:r>
            <a:r>
              <a:rPr lang="en" altLang="zh-TW" dirty="0"/>
              <a:t>MiB</a:t>
            </a:r>
            <a:r>
              <a:rPr lang="zh-TW" altLang="en" dirty="0"/>
              <a:t>。</a:t>
            </a:r>
            <a:r>
              <a:rPr lang="zh-TW" altLang="en-US" dirty="0"/>
              <a:t>這代表後續查詢效能會受到索引記憶體命中率影響。如果索引無法穩定留在 </a:t>
            </a:r>
            <a:r>
              <a:rPr lang="en" altLang="zh-TW" dirty="0"/>
              <a:t>memory</a:t>
            </a:r>
            <a:r>
              <a:rPr lang="zh-TW" altLang="en" dirty="0"/>
              <a:t>，</a:t>
            </a:r>
            <a:r>
              <a:rPr lang="zh-TW" altLang="en-US" dirty="0"/>
              <a:t>查詢延遲就可能上升。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所以後面估 </a:t>
            </a:r>
            <a:r>
              <a:rPr lang="en" altLang="zh-TW" dirty="0"/>
              <a:t>MongoDB RAM </a:t>
            </a:r>
            <a:r>
              <a:rPr lang="zh-TW" altLang="en-US" dirty="0"/>
              <a:t>時，我們不會只看資料庫現在佔多少空間，而是會看索引吃多少記憶體、未來成長多快，以及查詢速度能不能維持穩定。</a:t>
            </a:r>
          </a:p>
        </p:txBody>
      </p:sp>
    </p:spTree>
    <p:extLst>
      <p:ext uri="{BB962C8B-B14F-4D97-AF65-F5344CB8AC3E}">
        <p14:creationId xmlns:p14="http://schemas.microsoft.com/office/powerpoint/2010/main" val="18835701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這一頁看資料成長速度。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近 </a:t>
            </a:r>
            <a:r>
              <a:rPr lang="en-US" altLang="zh-TW" dirty="0"/>
              <a:t>30 </a:t>
            </a:r>
            <a:r>
              <a:rPr lang="zh-TW" altLang="en-US" dirty="0"/>
              <a:t>天新增文章約 </a:t>
            </a:r>
            <a:r>
              <a:rPr lang="en-US" altLang="zh-TW" b="1" dirty="0"/>
              <a:t>10.4 </a:t>
            </a:r>
            <a:r>
              <a:rPr lang="zh-TW" altLang="en-US" b="1" dirty="0"/>
              <a:t>萬篇</a:t>
            </a:r>
            <a:r>
              <a:rPr lang="zh-TW" altLang="en-US" dirty="0"/>
              <a:t>，新增助手評估約 </a:t>
            </a:r>
            <a:r>
              <a:rPr lang="en-US" altLang="zh-TW" b="1" dirty="0"/>
              <a:t>41.8 </a:t>
            </a:r>
            <a:r>
              <a:rPr lang="zh-TW" altLang="en-US" b="1" dirty="0"/>
              <a:t>萬筆</a:t>
            </a:r>
            <a:r>
              <a:rPr lang="zh-TW" altLang="en-US" dirty="0"/>
              <a:t>。近 </a:t>
            </a:r>
            <a:r>
              <a:rPr lang="en-US" altLang="zh-TW" dirty="0"/>
              <a:t>7 </a:t>
            </a:r>
            <a:r>
              <a:rPr lang="zh-TW" altLang="en-US" dirty="0"/>
              <a:t>天新增文章約 </a:t>
            </a:r>
            <a:r>
              <a:rPr lang="en-US" altLang="zh-TW" b="1" dirty="0"/>
              <a:t>3.7 </a:t>
            </a:r>
            <a:r>
              <a:rPr lang="zh-TW" altLang="en-US" b="1" dirty="0"/>
              <a:t>萬篇</a:t>
            </a:r>
            <a:r>
              <a:rPr lang="zh-TW" altLang="en-US" dirty="0"/>
              <a:t>，新增助手評估約 </a:t>
            </a:r>
            <a:r>
              <a:rPr lang="en-US" altLang="zh-TW" b="1" dirty="0"/>
              <a:t>13.3 </a:t>
            </a:r>
            <a:r>
              <a:rPr lang="zh-TW" altLang="en-US" b="1" dirty="0"/>
              <a:t>萬筆</a:t>
            </a:r>
            <a:r>
              <a:rPr lang="zh-TW" altLang="en-US" dirty="0"/>
              <a:t>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可以看到，助手評估的成長速度明顯高於文章數。原因是每篇文章進來後，還可能觸發多個資訊助手規則評估。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從來源來看，近 </a:t>
            </a:r>
            <a:r>
              <a:rPr lang="en-US" altLang="zh-TW" dirty="0"/>
              <a:t>7 </a:t>
            </a:r>
            <a:r>
              <a:rPr lang="zh-TW" altLang="en-US" dirty="0"/>
              <a:t>天文章主要來自 </a:t>
            </a:r>
            <a:r>
              <a:rPr lang="en" altLang="zh-TW" dirty="0"/>
              <a:t>RSS</a:t>
            </a:r>
            <a:r>
              <a:rPr lang="zh-TW" altLang="en" dirty="0"/>
              <a:t>，</a:t>
            </a:r>
            <a:r>
              <a:rPr lang="zh-TW" altLang="en-US" dirty="0"/>
              <a:t>其次是 </a:t>
            </a:r>
            <a:r>
              <a:rPr lang="en" altLang="zh-TW" dirty="0" err="1"/>
              <a:t>Infominer</a:t>
            </a:r>
            <a:r>
              <a:rPr lang="zh-TW" altLang="en" dirty="0"/>
              <a:t>，</a:t>
            </a:r>
            <a:r>
              <a:rPr lang="en" altLang="zh-TW" dirty="0"/>
              <a:t>Search </a:t>
            </a:r>
            <a:r>
              <a:rPr lang="zh-TW" altLang="en-US" dirty="0"/>
              <a:t>目前比例較低。以目前資料估算，每篇文章平均會產生約 </a:t>
            </a:r>
            <a:r>
              <a:rPr lang="en-US" altLang="zh-TW" dirty="0"/>
              <a:t>3.55 </a:t>
            </a:r>
            <a:r>
              <a:rPr lang="zh-TW" altLang="en-US" dirty="0"/>
              <a:t>筆助手評估。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所以正式環境規劃時，要同時看文章新增量與助手評估量。文章數增加後，後續的 </a:t>
            </a:r>
            <a:r>
              <a:rPr lang="en" altLang="zh-TW" dirty="0"/>
              <a:t>assistant evaluation</a:t>
            </a:r>
            <a:r>
              <a:rPr lang="zh-TW" altLang="en" dirty="0"/>
              <a:t>、</a:t>
            </a:r>
            <a:r>
              <a:rPr lang="en" altLang="zh-TW" dirty="0"/>
              <a:t>Copilot CLI session</a:t>
            </a:r>
            <a:r>
              <a:rPr lang="zh-TW" altLang="en" dirty="0"/>
              <a:t>、</a:t>
            </a:r>
            <a:r>
              <a:rPr lang="en" altLang="zh-TW" dirty="0"/>
              <a:t>LLM request rate </a:t>
            </a:r>
            <a:r>
              <a:rPr lang="zh-TW" altLang="en-US" dirty="0"/>
              <a:t>和 </a:t>
            </a:r>
            <a:r>
              <a:rPr lang="en" altLang="zh-TW" dirty="0"/>
              <a:t>LLM </a:t>
            </a:r>
            <a:r>
              <a:rPr lang="zh-TW" altLang="en-US" dirty="0"/>
              <a:t>成本都會一起被放大。</a:t>
            </a:r>
          </a:p>
        </p:txBody>
      </p:sp>
    </p:spTree>
    <p:extLst>
      <p:ext uri="{BB962C8B-B14F-4D97-AF65-F5344CB8AC3E}">
        <p14:creationId xmlns:p14="http://schemas.microsoft.com/office/powerpoint/2010/main" val="27667824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這一頁說明背景任務怎麼運作。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流程一開始由 </a:t>
            </a:r>
            <a:r>
              <a:rPr lang="en" altLang="zh-TW" dirty="0"/>
              <a:t>scheduler </a:t>
            </a:r>
            <a:r>
              <a:rPr lang="zh-TW" altLang="en-US" dirty="0"/>
              <a:t>找出到期的 </a:t>
            </a:r>
            <a:r>
              <a:rPr lang="en" altLang="zh-TW" dirty="0"/>
              <a:t>feed</a:t>
            </a:r>
            <a:r>
              <a:rPr lang="zh-TW" altLang="en" dirty="0"/>
              <a:t>，</a:t>
            </a:r>
            <a:r>
              <a:rPr lang="zh-TW" altLang="en-US" dirty="0"/>
              <a:t>然後把任務丟進 </a:t>
            </a:r>
            <a:r>
              <a:rPr lang="en" altLang="zh-TW" dirty="0"/>
              <a:t>feed queue</a:t>
            </a:r>
            <a:r>
              <a:rPr lang="zh-TW" altLang="en" dirty="0"/>
              <a:t>。</a:t>
            </a:r>
            <a:r>
              <a:rPr lang="en" altLang="zh-TW" dirty="0"/>
              <a:t>worker </a:t>
            </a:r>
            <a:r>
              <a:rPr lang="zh-TW" altLang="en-US" dirty="0"/>
              <a:t>拿到任務後，會去 </a:t>
            </a:r>
            <a:r>
              <a:rPr lang="en" altLang="zh-TW" dirty="0"/>
              <a:t>RSS feeds</a:t>
            </a:r>
            <a:r>
              <a:rPr lang="zh-TW" altLang="en" dirty="0"/>
              <a:t>、</a:t>
            </a:r>
            <a:r>
              <a:rPr lang="en" altLang="zh-TW" dirty="0"/>
              <a:t> </a:t>
            </a:r>
            <a:r>
              <a:rPr lang="zh-TW" altLang="en-US" dirty="0"/>
              <a:t>或 </a:t>
            </a:r>
            <a:r>
              <a:rPr lang="en" altLang="zh-TW" dirty="0" err="1"/>
              <a:t>Infominer</a:t>
            </a:r>
            <a:r>
              <a:rPr lang="en" altLang="zh-TW" dirty="0"/>
              <a:t> </a:t>
            </a:r>
            <a:r>
              <a:rPr lang="zh-TW" altLang="en-US" dirty="0"/>
              <a:t>抓資料。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抓到資料後，文章會進入 </a:t>
            </a:r>
            <a:r>
              <a:rPr lang="en" altLang="zh-TW" dirty="0"/>
              <a:t>article queue</a:t>
            </a:r>
            <a:r>
              <a:rPr lang="zh-TW" altLang="en" dirty="0"/>
              <a:t>。</a:t>
            </a:r>
            <a:r>
              <a:rPr lang="en" altLang="zh-TW" dirty="0"/>
              <a:t>article processor </a:t>
            </a:r>
            <a:r>
              <a:rPr lang="zh-TW" altLang="en-US" dirty="0"/>
              <a:t>會做去重、萃取和摘要；如果需要 </a:t>
            </a:r>
            <a:r>
              <a:rPr lang="en" altLang="zh-TW" dirty="0"/>
              <a:t>LLM</a:t>
            </a:r>
            <a:r>
              <a:rPr lang="zh-TW" altLang="en" dirty="0"/>
              <a:t>，</a:t>
            </a:r>
            <a:r>
              <a:rPr lang="zh-TW" altLang="en-US" dirty="0"/>
              <a:t>就會透過 </a:t>
            </a:r>
            <a:r>
              <a:rPr lang="en" altLang="zh-TW" dirty="0"/>
              <a:t>Copilot CLI </a:t>
            </a:r>
            <a:r>
              <a:rPr lang="zh-TW" altLang="en-US" dirty="0"/>
              <a:t>建立 </a:t>
            </a:r>
            <a:r>
              <a:rPr lang="en" altLang="zh-TW" dirty="0"/>
              <a:t>session</a:t>
            </a:r>
            <a:r>
              <a:rPr lang="zh-TW" altLang="en" dirty="0"/>
              <a:t>，</a:t>
            </a:r>
            <a:r>
              <a:rPr lang="zh-TW" altLang="en-US" dirty="0"/>
              <a:t>再轉接到 </a:t>
            </a:r>
            <a:r>
              <a:rPr lang="en" altLang="zh-TW" dirty="0"/>
              <a:t>LLM provider</a:t>
            </a:r>
            <a:r>
              <a:rPr lang="zh-TW" altLang="en" dirty="0"/>
              <a:t>。</a:t>
            </a:r>
            <a:r>
              <a:rPr lang="zh-TW" altLang="en-US" dirty="0"/>
              <a:t>完成後，文章會寫入 </a:t>
            </a:r>
            <a:r>
              <a:rPr lang="en" altLang="zh-TW" dirty="0"/>
              <a:t>MongoDB</a:t>
            </a:r>
            <a:r>
              <a:rPr lang="zh-TW" altLang="en" dirty="0"/>
              <a:t>。</a:t>
            </a:r>
            <a:endParaRPr lang="en-US" altLang="zh-TW" dirty="0"/>
          </a:p>
          <a:p>
            <a:pPr marL="158750" indent="0">
              <a:buNone/>
            </a:pPr>
            <a:endParaRPr lang="zh-TW" altLang="en" dirty="0"/>
          </a:p>
          <a:p>
            <a:pPr marL="158750" indent="0">
              <a:buNone/>
            </a:pPr>
            <a:r>
              <a:rPr lang="zh-TW" altLang="en-US" dirty="0"/>
              <a:t>文章入庫後，系統會依照文章來源和助手設定，把助手評估任務送進 </a:t>
            </a:r>
            <a:r>
              <a:rPr lang="en" altLang="zh-TW" dirty="0"/>
              <a:t>assistant queue</a:t>
            </a:r>
            <a:r>
              <a:rPr lang="zh-TW" altLang="en" dirty="0"/>
              <a:t>。</a:t>
            </a:r>
            <a:r>
              <a:rPr lang="en" altLang="zh-TW" dirty="0"/>
              <a:t>worker </a:t>
            </a:r>
            <a:r>
              <a:rPr lang="zh-TW" altLang="en-US" dirty="0"/>
              <a:t>再透過 </a:t>
            </a:r>
            <a:r>
              <a:rPr lang="en" altLang="zh-TW" dirty="0"/>
              <a:t>Copilot CLI </a:t>
            </a:r>
            <a:r>
              <a:rPr lang="zh-TW" altLang="en-US" dirty="0"/>
              <a:t>和 </a:t>
            </a:r>
            <a:r>
              <a:rPr lang="en" altLang="zh-TW" dirty="0"/>
              <a:t>LLM provider</a:t>
            </a:r>
            <a:r>
              <a:rPr lang="zh-TW" altLang="en" dirty="0"/>
              <a:t>，</a:t>
            </a:r>
            <a:r>
              <a:rPr lang="zh-TW" altLang="en-US" dirty="0"/>
              <a:t>判斷文章是否符合某個助手規則，最後寫入 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assistantarticles</a:t>
            </a:r>
            <a:r>
              <a:rPr lang="zh-TW" altLang="en" dirty="0"/>
              <a:t>。</a:t>
            </a:r>
            <a:endParaRPr lang="en-US" altLang="zh-TW" dirty="0"/>
          </a:p>
          <a:p>
            <a:pPr marL="158750" indent="0">
              <a:buNone/>
            </a:pPr>
            <a:endParaRPr lang="zh-TW" altLang="en" dirty="0"/>
          </a:p>
          <a:p>
            <a:pPr marL="158750" indent="0">
              <a:buNone/>
            </a:pPr>
            <a:r>
              <a:rPr lang="zh-TW" altLang="en-US" dirty="0"/>
              <a:t>所以 </a:t>
            </a:r>
            <a:r>
              <a:rPr lang="en-US" altLang="zh-TW" dirty="0"/>
              <a:t>10 </a:t>
            </a:r>
            <a:r>
              <a:rPr lang="zh-TW" altLang="en-US" dirty="0"/>
              <a:t>個 </a:t>
            </a:r>
            <a:r>
              <a:rPr lang="en" altLang="zh-TW" dirty="0"/>
              <a:t>worker </a:t>
            </a:r>
            <a:r>
              <a:rPr lang="zh-TW" altLang="en-US" dirty="0"/>
              <a:t>是目前系統的吞吐量基準。正式環境如果要提升吞吐量，除了增加 </a:t>
            </a:r>
            <a:r>
              <a:rPr lang="en" altLang="zh-TW" dirty="0"/>
              <a:t>worker</a:t>
            </a:r>
            <a:r>
              <a:rPr lang="zh-TW" altLang="en" dirty="0"/>
              <a:t>，</a:t>
            </a:r>
            <a:r>
              <a:rPr lang="zh-TW" altLang="en-US" dirty="0"/>
              <a:t>也要一起評估 </a:t>
            </a:r>
            <a:r>
              <a:rPr lang="en" altLang="zh-TW" dirty="0"/>
              <a:t>Redis queue</a:t>
            </a:r>
            <a:r>
              <a:rPr lang="zh-TW" altLang="en" dirty="0"/>
              <a:t>、</a:t>
            </a:r>
            <a:r>
              <a:rPr lang="en" altLang="zh-TW" dirty="0"/>
              <a:t>MongoDB connection pool</a:t>
            </a:r>
            <a:r>
              <a:rPr lang="zh-TW" altLang="en" dirty="0"/>
              <a:t>、</a:t>
            </a:r>
            <a:r>
              <a:rPr lang="en" altLang="zh-TW" dirty="0"/>
              <a:t>Copilot CLI session capacity</a:t>
            </a:r>
            <a:r>
              <a:rPr lang="zh-TW" altLang="en" dirty="0"/>
              <a:t>、</a:t>
            </a:r>
            <a:r>
              <a:rPr lang="zh-TW" altLang="en-US" dirty="0"/>
              <a:t>外部 </a:t>
            </a:r>
            <a:r>
              <a:rPr lang="en" altLang="zh-TW" dirty="0"/>
              <a:t>API rate limit</a:t>
            </a:r>
            <a:r>
              <a:rPr lang="zh-TW" altLang="en" dirty="0"/>
              <a:t>，</a:t>
            </a:r>
            <a:r>
              <a:rPr lang="zh-TW" altLang="en-US" dirty="0"/>
              <a:t>以及 </a:t>
            </a:r>
            <a:r>
              <a:rPr lang="en" altLang="zh-TW" dirty="0"/>
              <a:t>LLM concurrency control</a:t>
            </a:r>
            <a:r>
              <a:rPr lang="zh-TW" altLang="en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8194504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FBFE9-BDAE-280B-8DD5-E700368C7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0FA225D-0355-CAAC-A7E5-2B08D2B59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948C75-5477-39A2-5C94-94EB5B8189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這一頁補充 </a:t>
            </a:r>
            <a:r>
              <a:rPr lang="en" altLang="zh-TW" dirty="0"/>
              <a:t>Copilot CLI server </a:t>
            </a:r>
            <a:r>
              <a:rPr lang="zh-TW" altLang="en-US" dirty="0"/>
              <a:t>的角色。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/>
              <a:t>Copilot CLI server </a:t>
            </a:r>
            <a:r>
              <a:rPr lang="zh-TW" altLang="en-US" dirty="0"/>
              <a:t>是 </a:t>
            </a:r>
            <a:r>
              <a:rPr lang="en" altLang="zh-TW" dirty="0"/>
              <a:t>API app </a:t>
            </a:r>
            <a:r>
              <a:rPr lang="zh-TW" altLang="en-US" dirty="0"/>
              <a:t>和 </a:t>
            </a:r>
            <a:r>
              <a:rPr lang="en" altLang="zh-TW" dirty="0"/>
              <a:t>worker </a:t>
            </a:r>
            <a:r>
              <a:rPr lang="zh-TW" altLang="en-US" dirty="0"/>
              <a:t>共用的 </a:t>
            </a:r>
            <a:r>
              <a:rPr lang="en" altLang="zh-TW" dirty="0"/>
              <a:t>LLM runtime endpoint</a:t>
            </a:r>
            <a:r>
              <a:rPr lang="zh-TW" altLang="en" dirty="0"/>
              <a:t>。</a:t>
            </a:r>
            <a:r>
              <a:rPr lang="zh-TW" altLang="en-US" dirty="0"/>
              <a:t>系統會透過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COPILOT_CLI_URL</a:t>
            </a:r>
            <a:r>
              <a:rPr lang="en" altLang="zh-TW" dirty="0"/>
              <a:t> </a:t>
            </a:r>
            <a:r>
              <a:rPr lang="zh-TW" altLang="en-US" dirty="0"/>
              <a:t>連到它，再由它負責 </a:t>
            </a:r>
            <a:r>
              <a:rPr lang="en" altLang="zh-TW" dirty="0"/>
              <a:t>Copilot SDK session</a:t>
            </a:r>
            <a:r>
              <a:rPr lang="zh-TW" altLang="en" dirty="0"/>
              <a:t>、</a:t>
            </a:r>
            <a:r>
              <a:rPr lang="en" altLang="zh-TW" dirty="0"/>
              <a:t>JSON-RPC</a:t>
            </a:r>
            <a:r>
              <a:rPr lang="zh-TW" altLang="en" dirty="0"/>
              <a:t>、</a:t>
            </a:r>
            <a:r>
              <a:rPr lang="en" altLang="zh-TW" dirty="0"/>
              <a:t>streaming</a:t>
            </a:r>
            <a:r>
              <a:rPr lang="zh-TW" altLang="en" dirty="0"/>
              <a:t>、</a:t>
            </a:r>
            <a:r>
              <a:rPr lang="zh-TW" altLang="en-US" dirty="0"/>
              <a:t>工具呼叫協調、</a:t>
            </a:r>
            <a:r>
              <a:rPr lang="en" altLang="zh-TW" dirty="0"/>
              <a:t>permission handler</a:t>
            </a:r>
            <a:r>
              <a:rPr lang="zh-TW" altLang="en" dirty="0"/>
              <a:t>，</a:t>
            </a:r>
            <a:r>
              <a:rPr lang="zh-TW" altLang="en-US" dirty="0"/>
              <a:t>以及 </a:t>
            </a:r>
            <a:r>
              <a:rPr lang="en" altLang="zh-TW" dirty="0"/>
              <a:t>BYOK provider </a:t>
            </a:r>
            <a:r>
              <a:rPr lang="zh-TW" altLang="en-US" dirty="0"/>
              <a:t>轉接。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它本身不執行模型推論，但負責 </a:t>
            </a:r>
            <a:r>
              <a:rPr lang="en" altLang="zh-TW" dirty="0"/>
              <a:t>LLM </a:t>
            </a:r>
            <a:r>
              <a:rPr lang="zh-TW" altLang="en-US" dirty="0"/>
              <a:t>流程的控制面。只要這個服務不穩，</a:t>
            </a:r>
            <a:r>
              <a:rPr lang="en" altLang="zh-TW" dirty="0"/>
              <a:t>Agent chat</a:t>
            </a:r>
            <a:r>
              <a:rPr lang="zh-TW" altLang="en" dirty="0"/>
              <a:t>、</a:t>
            </a:r>
            <a:r>
              <a:rPr lang="en" altLang="zh-TW" dirty="0"/>
              <a:t>article extraction</a:t>
            </a:r>
            <a:r>
              <a:rPr lang="zh-TW" altLang="en" dirty="0"/>
              <a:t>、</a:t>
            </a:r>
            <a:r>
              <a:rPr lang="en" altLang="zh-TW" dirty="0"/>
              <a:t>assistant evaluation </a:t>
            </a:r>
            <a:r>
              <a:rPr lang="zh-TW" altLang="en-US" dirty="0"/>
              <a:t>都會受到影響。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目前看到它閒置時約 </a:t>
            </a:r>
            <a:r>
              <a:rPr lang="en-US" altLang="zh-TW" dirty="0"/>
              <a:t>294 </a:t>
            </a:r>
            <a:r>
              <a:rPr lang="en" altLang="zh-TW" dirty="0"/>
              <a:t>MiB RAM</a:t>
            </a:r>
            <a:r>
              <a:rPr lang="zh-TW" altLang="en" dirty="0"/>
              <a:t>，</a:t>
            </a:r>
            <a:r>
              <a:rPr lang="en" altLang="zh-TW" dirty="0"/>
              <a:t>CPU </a:t>
            </a:r>
            <a:r>
              <a:rPr lang="zh-TW" altLang="en-US" dirty="0"/>
              <a:t>幾乎沒有壓力。不過正式環境不能用 </a:t>
            </a:r>
            <a:r>
              <a:rPr lang="en" altLang="zh-TW" dirty="0"/>
              <a:t>idle </a:t>
            </a:r>
            <a:r>
              <a:rPr lang="zh-TW" altLang="en-US" dirty="0"/>
              <a:t>數字估算，真正要看的，是同時 </a:t>
            </a:r>
            <a:r>
              <a:rPr lang="en" altLang="zh-TW" dirty="0"/>
              <a:t>session </a:t>
            </a:r>
            <a:r>
              <a:rPr lang="zh-TW" altLang="en-US" dirty="0"/>
              <a:t>數、</a:t>
            </a:r>
            <a:r>
              <a:rPr lang="en" altLang="zh-TW" dirty="0"/>
              <a:t>streaming </a:t>
            </a:r>
            <a:r>
              <a:rPr lang="zh-TW" altLang="en-US" dirty="0"/>
              <a:t>穩定性，以及 </a:t>
            </a:r>
            <a:r>
              <a:rPr lang="en-US" altLang="zh-TW" dirty="0"/>
              <a:t>10 </a:t>
            </a:r>
            <a:r>
              <a:rPr lang="zh-TW" altLang="en-US" dirty="0"/>
              <a:t>個 </a:t>
            </a:r>
            <a:r>
              <a:rPr lang="en" altLang="zh-TW" dirty="0"/>
              <a:t>worker </a:t>
            </a:r>
            <a:r>
              <a:rPr lang="zh-TW" altLang="en-US" dirty="0"/>
              <a:t>同時呼叫時的延遲與錯誤率。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因此建議把 </a:t>
            </a:r>
            <a:r>
              <a:rPr lang="en" altLang="zh-TW" dirty="0"/>
              <a:t>Copilot CLI server </a:t>
            </a:r>
            <a:r>
              <a:rPr lang="zh-TW" altLang="en-US" dirty="0"/>
              <a:t>視為獨立 </a:t>
            </a:r>
            <a:r>
              <a:rPr lang="en" altLang="zh-TW" dirty="0"/>
              <a:t>runtime service</a:t>
            </a:r>
            <a:r>
              <a:rPr lang="zh-TW" altLang="en" dirty="0"/>
              <a:t>。</a:t>
            </a:r>
            <a:r>
              <a:rPr lang="zh-TW" altLang="en-US" dirty="0"/>
              <a:t>地端至少預留 </a:t>
            </a:r>
            <a:r>
              <a:rPr lang="en-US" altLang="zh-TW" dirty="0"/>
              <a:t>2 </a:t>
            </a:r>
            <a:r>
              <a:rPr lang="en" altLang="zh-TW" dirty="0"/>
              <a:t>vCPU</a:t>
            </a:r>
            <a:r>
              <a:rPr lang="zh-TW" altLang="en" dirty="0"/>
              <a:t>、</a:t>
            </a:r>
            <a:r>
              <a:rPr lang="en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4 </a:t>
            </a:r>
            <a:r>
              <a:rPr lang="en" altLang="zh-TW" dirty="0"/>
              <a:t>GiB RAM</a:t>
            </a:r>
            <a:r>
              <a:rPr lang="zh-TW" altLang="en" dirty="0"/>
              <a:t>；</a:t>
            </a:r>
            <a:r>
              <a:rPr lang="zh-TW" altLang="en-US" dirty="0"/>
              <a:t>雲端建議 </a:t>
            </a:r>
            <a:r>
              <a:rPr lang="en-US" altLang="zh-TW" dirty="0"/>
              <a:t>1 </a:t>
            </a:r>
            <a:r>
              <a:rPr lang="zh-TW" altLang="en-US" dirty="0"/>
              <a:t>到 </a:t>
            </a:r>
            <a:r>
              <a:rPr lang="en-US" altLang="zh-TW" dirty="0"/>
              <a:t>2 </a:t>
            </a:r>
            <a:r>
              <a:rPr lang="en" altLang="zh-TW" dirty="0"/>
              <a:t>replicas</a:t>
            </a:r>
            <a:r>
              <a:rPr lang="zh-TW" altLang="en" dirty="0"/>
              <a:t>。</a:t>
            </a:r>
            <a:endParaRPr lang="en-US" altLang="zh-TW" dirty="0"/>
          </a:p>
          <a:p>
            <a:pPr marL="158750" indent="0">
              <a:buNone/>
            </a:pPr>
            <a:endParaRPr lang="zh-TW" altLang="en" dirty="0"/>
          </a:p>
          <a:p>
            <a:pPr marL="158750" indent="0">
              <a:buNone/>
            </a:pPr>
            <a:r>
              <a:rPr lang="zh-TW" altLang="en-US" dirty="0"/>
              <a:t>如果要做高可用，還需要驗證 </a:t>
            </a:r>
            <a:r>
              <a:rPr lang="en" altLang="zh-TW" dirty="0"/>
              <a:t>session affinity </a:t>
            </a:r>
            <a:r>
              <a:rPr lang="zh-TW" altLang="en-US" dirty="0"/>
              <a:t>或 </a:t>
            </a:r>
            <a:r>
              <a:rPr lang="en" altLang="zh-TW" dirty="0"/>
              <a:t>active/standby</a:t>
            </a:r>
            <a:r>
              <a:rPr lang="zh-TW" altLang="en" dirty="0"/>
              <a:t>，</a:t>
            </a:r>
            <a:r>
              <a:rPr lang="zh-TW" altLang="en-US" dirty="0"/>
              <a:t>避免 </a:t>
            </a:r>
            <a:r>
              <a:rPr lang="en" altLang="zh-TW" dirty="0"/>
              <a:t>streaming session </a:t>
            </a:r>
            <a:r>
              <a:rPr lang="zh-TW" altLang="en-US" dirty="0"/>
              <a:t>中斷或狀態不一致。</a:t>
            </a:r>
          </a:p>
        </p:txBody>
      </p:sp>
    </p:spTree>
    <p:extLst>
      <p:ext uri="{BB962C8B-B14F-4D97-AF65-F5344CB8AC3E}">
        <p14:creationId xmlns:p14="http://schemas.microsoft.com/office/powerpoint/2010/main" val="42048930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F5C75-EC3C-8AD0-EB4D-0061A191F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81A65A9-F39C-DF70-EA0D-5B4743205B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E395D90-EF97-B131-0916-6249EBCCEC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這一頁主要是把前面看到的系統現況，轉換成正式環境規格的評估依據。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目前的 </a:t>
            </a:r>
            <a:r>
              <a:rPr lang="en-US" altLang="zh-TW" dirty="0"/>
              <a:t>8 </a:t>
            </a:r>
            <a:r>
              <a:rPr lang="en" altLang="zh-TW" dirty="0"/>
              <a:t>vCPU</a:t>
            </a:r>
            <a:r>
              <a:rPr lang="zh-TW" altLang="en" dirty="0"/>
              <a:t>、</a:t>
            </a:r>
            <a:r>
              <a:rPr lang="en" altLang="zh-TW" dirty="0"/>
              <a:t>15 GiB RAM</a:t>
            </a:r>
            <a:r>
              <a:rPr lang="zh-TW" altLang="en" dirty="0"/>
              <a:t>，</a:t>
            </a:r>
            <a:r>
              <a:rPr lang="zh-TW" altLang="en-US" dirty="0"/>
              <a:t>可以作為現況參考，但不能直接當成正式環境規格。正式環境還需要預留尖峰流量、備份作業、高可用設計、維運操作，以及服務隔離所需的空間。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容量估算主要看五個面向。</a:t>
            </a:r>
          </a:p>
          <a:p>
            <a:pPr marL="158750" indent="0">
              <a:buNone/>
            </a:pPr>
            <a:r>
              <a:rPr lang="zh-TW" altLang="en-US" dirty="0"/>
              <a:t>第一是 </a:t>
            </a:r>
            <a:r>
              <a:rPr lang="en" altLang="zh-TW" dirty="0"/>
              <a:t>worker </a:t>
            </a:r>
            <a:r>
              <a:rPr lang="zh-TW" altLang="en-US" dirty="0"/>
              <a:t>併發。目前 </a:t>
            </a:r>
            <a:r>
              <a:rPr lang="en-US" altLang="zh-TW" dirty="0"/>
              <a:t>10 </a:t>
            </a:r>
            <a:r>
              <a:rPr lang="zh-TW" altLang="en-US" dirty="0"/>
              <a:t>個 </a:t>
            </a:r>
            <a:r>
              <a:rPr lang="en" altLang="zh-TW" dirty="0"/>
              <a:t>worker </a:t>
            </a:r>
            <a:r>
              <a:rPr lang="zh-TW" altLang="en-US" dirty="0"/>
              <a:t>是常態吞吐量基準，正式環境至少要能穩定承接 </a:t>
            </a:r>
            <a:r>
              <a:rPr lang="en-US" altLang="zh-TW" dirty="0"/>
              <a:t>10 </a:t>
            </a:r>
            <a:r>
              <a:rPr lang="zh-TW" altLang="en-US" dirty="0"/>
              <a:t>個，並保留擴到 </a:t>
            </a:r>
            <a:r>
              <a:rPr lang="en-US" altLang="zh-TW" dirty="0"/>
              <a:t>20 </a:t>
            </a:r>
            <a:r>
              <a:rPr lang="zh-TW" altLang="en-US" dirty="0"/>
              <a:t>個的空間。</a:t>
            </a:r>
          </a:p>
          <a:p>
            <a:pPr marL="158750" indent="0">
              <a:buNone/>
            </a:pPr>
            <a:r>
              <a:rPr lang="zh-TW" altLang="en-US" dirty="0"/>
              <a:t>第二是 </a:t>
            </a:r>
            <a:r>
              <a:rPr lang="en" altLang="zh-TW" dirty="0"/>
              <a:t>MongoDB</a:t>
            </a:r>
            <a:r>
              <a:rPr lang="zh-TW" altLang="en" dirty="0"/>
              <a:t>。</a:t>
            </a:r>
            <a:r>
              <a:rPr lang="zh-TW" altLang="en-US" dirty="0"/>
              <a:t>雖然目前資料加索引約 </a:t>
            </a:r>
            <a:r>
              <a:rPr lang="en-US" altLang="zh-TW" dirty="0"/>
              <a:t>1.36 </a:t>
            </a:r>
            <a:r>
              <a:rPr lang="en" altLang="zh-TW" dirty="0"/>
              <a:t>GiB</a:t>
            </a:r>
            <a:r>
              <a:rPr lang="zh-TW" altLang="en" dirty="0"/>
              <a:t>，</a:t>
            </a:r>
            <a:r>
              <a:rPr lang="zh-TW" altLang="en-US" dirty="0"/>
              <a:t>但正式規格還要看索引記憶體用量、成長速度、</a:t>
            </a:r>
            <a:r>
              <a:rPr lang="en" altLang="zh-TW" dirty="0"/>
              <a:t>slow query </a:t>
            </a:r>
            <a:r>
              <a:rPr lang="zh-TW" altLang="en-US" dirty="0"/>
              <a:t>狀況與備份容量。</a:t>
            </a:r>
          </a:p>
          <a:p>
            <a:pPr marL="158750" indent="0">
              <a:buNone/>
            </a:pPr>
            <a:r>
              <a:rPr lang="zh-TW" altLang="en-US" dirty="0"/>
              <a:t>第三是 </a:t>
            </a:r>
            <a:r>
              <a:rPr lang="en" altLang="zh-TW" dirty="0"/>
              <a:t>Redis</a:t>
            </a:r>
            <a:r>
              <a:rPr lang="zh-TW" altLang="en" dirty="0"/>
              <a:t>。</a:t>
            </a:r>
            <a:r>
              <a:rPr lang="en" altLang="zh-TW" dirty="0"/>
              <a:t>Redis </a:t>
            </a:r>
            <a:r>
              <a:rPr lang="zh-TW" altLang="en-US" dirty="0"/>
              <a:t>需要依照 </a:t>
            </a:r>
            <a:r>
              <a:rPr lang="en" altLang="zh-TW" dirty="0"/>
              <a:t>queue retention</a:t>
            </a:r>
            <a:r>
              <a:rPr lang="zh-TW" altLang="en" dirty="0"/>
              <a:t>、</a:t>
            </a:r>
            <a:r>
              <a:rPr lang="en" altLang="zh-TW" dirty="0"/>
              <a:t>backlog</a:t>
            </a:r>
            <a:r>
              <a:rPr lang="zh-TW" altLang="en" dirty="0"/>
              <a:t>、</a:t>
            </a:r>
            <a:r>
              <a:rPr lang="en" altLang="zh-TW" dirty="0"/>
              <a:t>failed jobs </a:t>
            </a:r>
            <a:r>
              <a:rPr lang="zh-TW" altLang="en-US" dirty="0"/>
              <a:t>和 </a:t>
            </a:r>
            <a:r>
              <a:rPr lang="en" altLang="zh-TW" dirty="0"/>
              <a:t>queue depth </a:t>
            </a:r>
            <a:r>
              <a:rPr lang="zh-TW" altLang="en-US" dirty="0"/>
              <a:t>來估算，避免背景任務累積時成為瓶頸。</a:t>
            </a:r>
          </a:p>
          <a:p>
            <a:pPr marL="158750" indent="0">
              <a:buNone/>
            </a:pPr>
            <a:r>
              <a:rPr lang="zh-TW" altLang="en-US" dirty="0"/>
              <a:t>第四是 </a:t>
            </a:r>
            <a:r>
              <a:rPr lang="en" altLang="zh-TW" dirty="0"/>
              <a:t>Copilot CLI</a:t>
            </a:r>
            <a:r>
              <a:rPr lang="zh-TW" altLang="en" dirty="0"/>
              <a:t>。</a:t>
            </a:r>
            <a:r>
              <a:rPr lang="zh-TW" altLang="en-US" dirty="0"/>
              <a:t>這部分要看尖峰 </a:t>
            </a:r>
            <a:r>
              <a:rPr lang="en" altLang="zh-TW" dirty="0"/>
              <a:t>session </a:t>
            </a:r>
            <a:r>
              <a:rPr lang="zh-TW" altLang="en-US" dirty="0"/>
              <a:t>數、</a:t>
            </a:r>
            <a:r>
              <a:rPr lang="en" altLang="zh-TW" dirty="0"/>
              <a:t>streaming </a:t>
            </a:r>
            <a:r>
              <a:rPr lang="zh-TW" altLang="en-US" dirty="0"/>
              <a:t>穩定性，以及是否需要高可用設計，不能只看目前閒置時的記憶體用量。</a:t>
            </a:r>
          </a:p>
          <a:p>
            <a:pPr marL="158750" indent="0">
              <a:buNone/>
            </a:pPr>
            <a:r>
              <a:rPr lang="zh-TW" altLang="en-US" dirty="0"/>
              <a:t>第五是可用性。能不能接受單點故障，會直接影響是否需要 </a:t>
            </a:r>
            <a:r>
              <a:rPr lang="en" altLang="zh-TW" dirty="0"/>
              <a:t>MongoDB replica set</a:t>
            </a:r>
            <a:r>
              <a:rPr lang="zh-TW" altLang="en" dirty="0"/>
              <a:t>、</a:t>
            </a:r>
            <a:r>
              <a:rPr lang="en" altLang="zh-TW" dirty="0"/>
              <a:t>Redis HA</a:t>
            </a:r>
            <a:r>
              <a:rPr lang="zh-TW" altLang="en" dirty="0"/>
              <a:t>、</a:t>
            </a:r>
            <a:r>
              <a:rPr lang="en" altLang="zh-TW" dirty="0"/>
              <a:t>Copilot CLI HA </a:t>
            </a:r>
            <a:r>
              <a:rPr lang="zh-TW" altLang="en-US" dirty="0"/>
              <a:t>和多節點部署。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因此，如果採地端部署，最低正式起步建議是 </a:t>
            </a:r>
            <a:r>
              <a:rPr lang="en-US" altLang="zh-TW" dirty="0"/>
              <a:t>16 </a:t>
            </a:r>
            <a:r>
              <a:rPr lang="en" altLang="zh-TW" dirty="0"/>
              <a:t>vCPU</a:t>
            </a:r>
            <a:r>
              <a:rPr lang="zh-TW" altLang="en" dirty="0"/>
              <a:t>、</a:t>
            </a:r>
            <a:r>
              <a:rPr lang="en" altLang="zh-TW" dirty="0"/>
              <a:t>64 GiB RAM</a:t>
            </a:r>
            <a:r>
              <a:rPr lang="zh-TW" altLang="en" dirty="0"/>
              <a:t>、</a:t>
            </a:r>
            <a:r>
              <a:rPr lang="en" altLang="zh-TW" dirty="0"/>
              <a:t>1 TB SSD</a:t>
            </a:r>
            <a:r>
              <a:rPr lang="zh-TW" altLang="en" dirty="0"/>
              <a:t>；</a:t>
            </a:r>
            <a:r>
              <a:rPr lang="zh-TW" altLang="en-US" dirty="0"/>
              <a:t>如果所有服務全部同機，保守建議提高到 </a:t>
            </a:r>
            <a:r>
              <a:rPr lang="en-US" altLang="zh-TW" dirty="0"/>
              <a:t>24 </a:t>
            </a:r>
            <a:r>
              <a:rPr lang="en" altLang="zh-TW" dirty="0"/>
              <a:t>vCPU</a:t>
            </a:r>
            <a:r>
              <a:rPr lang="zh-TW" altLang="en" dirty="0"/>
              <a:t>、</a:t>
            </a:r>
            <a:r>
              <a:rPr lang="en" altLang="zh-TW" dirty="0"/>
              <a:t>64 GiB</a:t>
            </a:r>
            <a:r>
              <a:rPr lang="zh-TW" altLang="en" dirty="0"/>
              <a:t>。</a:t>
            </a:r>
            <a:r>
              <a:rPr lang="zh-TW" altLang="en-US" dirty="0"/>
              <a:t>若採雲端部署，則建議 </a:t>
            </a:r>
            <a:r>
              <a:rPr lang="en" altLang="zh-TW" dirty="0"/>
              <a:t>API 2 replicas</a:t>
            </a:r>
            <a:r>
              <a:rPr lang="zh-TW" altLang="en" dirty="0"/>
              <a:t>、</a:t>
            </a:r>
            <a:r>
              <a:rPr lang="en" altLang="zh-TW" dirty="0"/>
              <a:t>worker desired 10</a:t>
            </a:r>
            <a:r>
              <a:rPr lang="zh-TW" altLang="en" dirty="0"/>
              <a:t>、</a:t>
            </a:r>
            <a:r>
              <a:rPr lang="en" altLang="zh-TW" dirty="0"/>
              <a:t>max 20</a:t>
            </a:r>
            <a:r>
              <a:rPr lang="zh-TW" altLang="en" dirty="0"/>
              <a:t>，</a:t>
            </a:r>
            <a:r>
              <a:rPr lang="zh-TW" altLang="en-US" dirty="0"/>
              <a:t>並搭配 </a:t>
            </a:r>
            <a:r>
              <a:rPr lang="en" altLang="zh-TW" dirty="0"/>
              <a:t>managed MongoDB</a:t>
            </a:r>
            <a:r>
              <a:rPr lang="zh-TW" altLang="en" dirty="0"/>
              <a:t>、</a:t>
            </a:r>
            <a:r>
              <a:rPr lang="en" altLang="zh-TW" dirty="0"/>
              <a:t>managed Redis </a:t>
            </a:r>
            <a:r>
              <a:rPr lang="zh-TW" altLang="en-US" dirty="0"/>
              <a:t>和 </a:t>
            </a:r>
            <a:r>
              <a:rPr lang="en" altLang="zh-TW" dirty="0"/>
              <a:t>Copilot CLI private endpoint</a:t>
            </a:r>
            <a:r>
              <a:rPr lang="zh-TW" altLang="en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6545873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ACDF9-0454-9867-FDE0-88277C991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3B81752-C91C-BA8C-9D0A-3CFAC0210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7B44D02-578D-5F2C-4C59-A3FDAB5090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這一頁看地端正式環境的目標架構。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整體可以分成四層：入口層、應用層、資料層，以及觀測與備份層。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入口層負責接外部流量，通常會有 </a:t>
            </a:r>
            <a:r>
              <a:rPr lang="en" altLang="zh-TW" dirty="0"/>
              <a:t>Firewall</a:t>
            </a:r>
            <a:r>
              <a:rPr lang="zh-TW" altLang="en" dirty="0"/>
              <a:t>、</a:t>
            </a:r>
            <a:r>
              <a:rPr lang="en" altLang="zh-TW" dirty="0"/>
              <a:t>WAF</a:t>
            </a:r>
            <a:r>
              <a:rPr lang="zh-TW" altLang="en" dirty="0"/>
              <a:t>、</a:t>
            </a:r>
            <a:r>
              <a:rPr lang="en" altLang="zh-TW" dirty="0"/>
              <a:t>Load Balancer </a:t>
            </a:r>
            <a:r>
              <a:rPr lang="zh-TW" altLang="en-US" dirty="0"/>
              <a:t>或 </a:t>
            </a:r>
            <a:r>
              <a:rPr lang="en" altLang="zh-TW" dirty="0"/>
              <a:t>Nginx HA</a:t>
            </a:r>
            <a:r>
              <a:rPr lang="zh-TW" altLang="en" dirty="0"/>
              <a:t>。</a:t>
            </a:r>
            <a:r>
              <a:rPr lang="zh-TW" altLang="en-US" dirty="0"/>
              <a:t>應用層放 </a:t>
            </a:r>
            <a:r>
              <a:rPr lang="en" altLang="zh-TW" dirty="0"/>
              <a:t>API app</a:t>
            </a:r>
            <a:r>
              <a:rPr lang="zh-TW" altLang="en" dirty="0"/>
              <a:t>、</a:t>
            </a:r>
            <a:r>
              <a:rPr lang="en" altLang="zh-TW" dirty="0"/>
              <a:t>scheduler</a:t>
            </a:r>
            <a:r>
              <a:rPr lang="zh-TW" altLang="en" dirty="0"/>
              <a:t>、</a:t>
            </a:r>
            <a:r>
              <a:rPr lang="en" altLang="zh-TW" dirty="0"/>
              <a:t>worker pool </a:t>
            </a:r>
            <a:r>
              <a:rPr lang="zh-TW" altLang="en-US" dirty="0"/>
              <a:t>和 </a:t>
            </a:r>
            <a:r>
              <a:rPr lang="en" altLang="zh-TW" dirty="0"/>
              <a:t>Copilot CLI server</a:t>
            </a:r>
            <a:r>
              <a:rPr lang="zh-TW" altLang="en" dirty="0"/>
              <a:t>。</a:t>
            </a:r>
            <a:r>
              <a:rPr lang="zh-TW" altLang="en-US" dirty="0"/>
              <a:t>資料層放 </a:t>
            </a:r>
            <a:r>
              <a:rPr lang="en" altLang="zh-TW" dirty="0"/>
              <a:t>MongoDB replica set </a:t>
            </a:r>
            <a:r>
              <a:rPr lang="zh-TW" altLang="en-US" dirty="0"/>
              <a:t>和 </a:t>
            </a:r>
            <a:r>
              <a:rPr lang="en" altLang="zh-TW" dirty="0"/>
              <a:t>Redis HA</a:t>
            </a:r>
            <a:r>
              <a:rPr lang="zh-TW" altLang="en" dirty="0"/>
              <a:t>。</a:t>
            </a:r>
            <a:r>
              <a:rPr lang="zh-TW" altLang="en-US" dirty="0"/>
              <a:t>觀測與備份層則負責 </a:t>
            </a:r>
            <a:r>
              <a:rPr lang="en" altLang="zh-TW" dirty="0"/>
              <a:t>metrics</a:t>
            </a:r>
            <a:r>
              <a:rPr lang="zh-TW" altLang="en" dirty="0"/>
              <a:t>、</a:t>
            </a:r>
            <a:r>
              <a:rPr lang="en" altLang="zh-TW" dirty="0"/>
              <a:t>logs</a:t>
            </a:r>
            <a:r>
              <a:rPr lang="zh-TW" altLang="en" dirty="0"/>
              <a:t>、</a:t>
            </a:r>
            <a:r>
              <a:rPr lang="en" altLang="zh-TW" dirty="0"/>
              <a:t>alerts</a:t>
            </a:r>
            <a:r>
              <a:rPr lang="zh-TW" altLang="en" dirty="0"/>
              <a:t>、</a:t>
            </a:r>
            <a:r>
              <a:rPr lang="en" altLang="zh-TW" dirty="0"/>
              <a:t>backup </a:t>
            </a:r>
            <a:r>
              <a:rPr lang="zh-TW" altLang="en-US" dirty="0"/>
              <a:t>和 </a:t>
            </a:r>
            <a:r>
              <a:rPr lang="en" altLang="zh-TW" dirty="0"/>
              <a:t>restore drill</a:t>
            </a:r>
            <a:r>
              <a:rPr lang="zh-TW" altLang="en" dirty="0"/>
              <a:t>。</a:t>
            </a:r>
            <a:endParaRPr lang="en-US" altLang="zh-TW" dirty="0"/>
          </a:p>
          <a:p>
            <a:pPr marL="158750" indent="0">
              <a:buNone/>
            </a:pPr>
            <a:endParaRPr lang="zh-TW" altLang="en" dirty="0"/>
          </a:p>
          <a:p>
            <a:pPr marL="158750" indent="0">
              <a:buNone/>
            </a:pPr>
            <a:r>
              <a:rPr lang="zh-TW" altLang="en-US" dirty="0"/>
              <a:t>這樣拆分的目的，是降低服務彼此搶資源的風險。</a:t>
            </a:r>
            <a:r>
              <a:rPr lang="en" altLang="zh-TW" dirty="0"/>
              <a:t>API </a:t>
            </a:r>
            <a:r>
              <a:rPr lang="zh-TW" altLang="en-US" dirty="0"/>
              <a:t>和 </a:t>
            </a:r>
            <a:r>
              <a:rPr lang="en" altLang="zh-TW" dirty="0"/>
              <a:t>worker </a:t>
            </a:r>
            <a:r>
              <a:rPr lang="zh-TW" altLang="en-US" dirty="0"/>
              <a:t>都會連 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en" altLang="zh-TW" dirty="0"/>
              <a:t>MongoDB </a:t>
            </a:r>
            <a:r>
              <a:rPr lang="zh-TW" altLang="en-US" dirty="0"/>
              <a:t>和 </a:t>
            </a:r>
            <a:r>
              <a:rPr lang="en" altLang="zh-TW" dirty="0"/>
              <a:t>Copilot CLI</a:t>
            </a:r>
            <a:r>
              <a:rPr lang="zh-TW" altLang="en" dirty="0"/>
              <a:t>；</a:t>
            </a:r>
            <a:r>
              <a:rPr lang="en" altLang="zh-TW" dirty="0"/>
              <a:t>Copilot CLI </a:t>
            </a:r>
            <a:r>
              <a:rPr lang="zh-TW" altLang="en-US" dirty="0"/>
              <a:t>又會連到外部 </a:t>
            </a:r>
            <a:r>
              <a:rPr lang="en" altLang="zh-TW" dirty="0"/>
              <a:t>LLM endpoint</a:t>
            </a:r>
            <a:r>
              <a:rPr lang="zh-TW" altLang="en" dirty="0"/>
              <a:t>。</a:t>
            </a:r>
            <a:r>
              <a:rPr lang="zh-TW" altLang="en-US" dirty="0"/>
              <a:t>任何一個環節被打滿，都可能讓 </a:t>
            </a:r>
            <a:r>
              <a:rPr lang="en" altLang="zh-TW" dirty="0"/>
              <a:t>ingestion </a:t>
            </a:r>
            <a:r>
              <a:rPr lang="zh-TW" altLang="en-US" dirty="0"/>
              <a:t>或助手評估流程變慢。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因此，如果地端要達到正式 </a:t>
            </a:r>
            <a:r>
              <a:rPr lang="en" altLang="zh-TW" dirty="0"/>
              <a:t>SLA</a:t>
            </a:r>
            <a:r>
              <a:rPr lang="zh-TW" altLang="en" dirty="0"/>
              <a:t>，</a:t>
            </a:r>
            <a:r>
              <a:rPr lang="zh-TW" altLang="en-US" dirty="0"/>
              <a:t>建議把資料層和 </a:t>
            </a:r>
            <a:r>
              <a:rPr lang="en" altLang="zh-TW" dirty="0"/>
              <a:t>LLM runtime endpoint </a:t>
            </a:r>
            <a:r>
              <a:rPr lang="zh-TW" altLang="en-US" dirty="0"/>
              <a:t>獨立出來，並加上健康檢查、監控、備份與替換策略。</a:t>
            </a:r>
          </a:p>
        </p:txBody>
      </p:sp>
    </p:spTree>
    <p:extLst>
      <p:ext uri="{BB962C8B-B14F-4D97-AF65-F5344CB8AC3E}">
        <p14:creationId xmlns:p14="http://schemas.microsoft.com/office/powerpoint/2010/main" val="4262003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這一頁把地端方案分成兩種：成本優先的單機正式起步，以及高可用正式版。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如果先以成本優先考量，最低建議是 </a:t>
            </a:r>
            <a:r>
              <a:rPr lang="en-US" altLang="zh-TW" b="1" dirty="0"/>
              <a:t>16 </a:t>
            </a:r>
            <a:r>
              <a:rPr lang="en" altLang="zh-TW" b="1" dirty="0"/>
              <a:t>vCPU</a:t>
            </a:r>
            <a:r>
              <a:rPr lang="zh-TW" altLang="en" b="1" dirty="0"/>
              <a:t>、</a:t>
            </a:r>
            <a:r>
              <a:rPr lang="en" altLang="zh-TW" b="1" dirty="0"/>
              <a:t>64 GiB RAM</a:t>
            </a:r>
            <a:r>
              <a:rPr lang="zh-TW" altLang="en" b="1" dirty="0"/>
              <a:t>、</a:t>
            </a:r>
            <a:r>
              <a:rPr lang="en" altLang="zh-TW" b="1" dirty="0"/>
              <a:t>1 TB SSD</a:t>
            </a:r>
            <a:r>
              <a:rPr lang="zh-TW" altLang="en" dirty="0"/>
              <a:t>。</a:t>
            </a:r>
            <a:r>
              <a:rPr lang="zh-TW" altLang="en-US" dirty="0"/>
              <a:t>這個規格可以承接目前資料量與 </a:t>
            </a:r>
            <a:r>
              <a:rPr lang="en-US" altLang="zh-TW" dirty="0"/>
              <a:t>10 </a:t>
            </a:r>
            <a:r>
              <a:rPr lang="zh-TW" altLang="en-US" dirty="0"/>
              <a:t>個 </a:t>
            </a:r>
            <a:r>
              <a:rPr lang="en" altLang="zh-TW" dirty="0"/>
              <a:t>worker </a:t>
            </a:r>
            <a:r>
              <a:rPr lang="zh-TW" altLang="en-US" dirty="0"/>
              <a:t>的初始運作，但要接受單點故障風險。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如果 </a:t>
            </a:r>
            <a:r>
              <a:rPr lang="en" altLang="zh-TW" dirty="0"/>
              <a:t>Copilot CLI</a:t>
            </a:r>
            <a:r>
              <a:rPr lang="zh-TW" altLang="en" dirty="0"/>
              <a:t>、</a:t>
            </a:r>
            <a:r>
              <a:rPr lang="en" altLang="zh-TW" dirty="0"/>
              <a:t>MongoDB</a:t>
            </a:r>
            <a:r>
              <a:rPr lang="zh-TW" altLang="en" dirty="0"/>
              <a:t>、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en" altLang="zh-TW" dirty="0"/>
              <a:t>API </a:t>
            </a:r>
            <a:r>
              <a:rPr lang="zh-TW" altLang="en-US" dirty="0"/>
              <a:t>和 </a:t>
            </a:r>
            <a:r>
              <a:rPr lang="en-US" altLang="zh-TW" dirty="0"/>
              <a:t>10 </a:t>
            </a:r>
            <a:r>
              <a:rPr lang="zh-TW" altLang="en-US" dirty="0"/>
              <a:t>個 </a:t>
            </a:r>
            <a:r>
              <a:rPr lang="en" altLang="zh-TW" dirty="0"/>
              <a:t>worker </a:t>
            </a:r>
            <a:r>
              <a:rPr lang="zh-TW" altLang="en-US" dirty="0"/>
              <a:t>全部同機，建議提高到 </a:t>
            </a:r>
            <a:r>
              <a:rPr lang="en-US" altLang="zh-TW" b="1" dirty="0"/>
              <a:t>24 </a:t>
            </a:r>
            <a:r>
              <a:rPr lang="en" altLang="zh-TW" b="1" dirty="0"/>
              <a:t>vCPU</a:t>
            </a:r>
            <a:r>
              <a:rPr lang="zh-TW" altLang="en" b="1" dirty="0"/>
              <a:t>、</a:t>
            </a:r>
            <a:r>
              <a:rPr lang="en" altLang="zh-TW" b="1" dirty="0"/>
              <a:t>64 GiB RAM</a:t>
            </a:r>
            <a:r>
              <a:rPr lang="zh-TW" altLang="en" dirty="0"/>
              <a:t>。</a:t>
            </a:r>
            <a:r>
              <a:rPr lang="zh-TW" altLang="en-US" dirty="0"/>
              <a:t>原因是 </a:t>
            </a:r>
            <a:r>
              <a:rPr lang="en" altLang="zh-TW" dirty="0"/>
              <a:t>MongoDB </a:t>
            </a:r>
            <a:r>
              <a:rPr lang="zh-TW" altLang="en-US" dirty="0"/>
              <a:t>需要保留 </a:t>
            </a:r>
            <a:r>
              <a:rPr lang="en" altLang="zh-TW" dirty="0"/>
              <a:t>index working set</a:t>
            </a:r>
            <a:r>
              <a:rPr lang="zh-TW" altLang="en" dirty="0"/>
              <a:t>，</a:t>
            </a:r>
            <a:r>
              <a:rPr lang="en" altLang="zh-TW" dirty="0"/>
              <a:t>Redis </a:t>
            </a:r>
            <a:r>
              <a:rPr lang="zh-TW" altLang="en-US" dirty="0"/>
              <a:t>要預留 </a:t>
            </a:r>
            <a:r>
              <a:rPr lang="en" altLang="zh-TW" dirty="0"/>
              <a:t>queue backlog</a:t>
            </a:r>
            <a:r>
              <a:rPr lang="zh-TW" altLang="en" dirty="0"/>
              <a:t>，</a:t>
            </a:r>
            <a:r>
              <a:rPr lang="en" altLang="zh-TW" dirty="0"/>
              <a:t>Copilot CLI </a:t>
            </a:r>
            <a:r>
              <a:rPr lang="zh-TW" altLang="en-US" dirty="0"/>
              <a:t>要承接 </a:t>
            </a:r>
            <a:r>
              <a:rPr lang="en" altLang="zh-TW" dirty="0"/>
              <a:t>session orchestration</a:t>
            </a:r>
            <a:r>
              <a:rPr lang="zh-TW" altLang="en" dirty="0"/>
              <a:t>，</a:t>
            </a:r>
            <a:r>
              <a:rPr lang="en" altLang="zh-TW" dirty="0"/>
              <a:t>worker </a:t>
            </a:r>
            <a:r>
              <a:rPr lang="zh-TW" altLang="en-US" dirty="0"/>
              <a:t>也會消耗 </a:t>
            </a:r>
            <a:r>
              <a:rPr lang="en" altLang="zh-TW" dirty="0"/>
              <a:t>CPU </a:t>
            </a:r>
            <a:r>
              <a:rPr lang="zh-TW" altLang="en-US" dirty="0"/>
              <a:t>和連線數。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如果目標是正式營運與較穩定 </a:t>
            </a:r>
            <a:r>
              <a:rPr lang="en" altLang="zh-TW" dirty="0"/>
              <a:t>SLA</a:t>
            </a:r>
            <a:r>
              <a:rPr lang="zh-TW" altLang="en" dirty="0"/>
              <a:t>，</a:t>
            </a:r>
            <a:r>
              <a:rPr lang="zh-TW" altLang="en-US" dirty="0"/>
              <a:t>建議走高可用版：</a:t>
            </a:r>
            <a:r>
              <a:rPr lang="en-US" altLang="zh-TW" dirty="0"/>
              <a:t>3 </a:t>
            </a:r>
            <a:r>
              <a:rPr lang="zh-TW" altLang="en-US" dirty="0"/>
              <a:t>台 </a:t>
            </a:r>
            <a:r>
              <a:rPr lang="en" altLang="zh-TW" dirty="0"/>
              <a:t>App/Worker </a:t>
            </a:r>
            <a:r>
              <a:rPr lang="zh-TW" altLang="en-US" dirty="0"/>
              <a:t>節點、</a:t>
            </a:r>
            <a:r>
              <a:rPr lang="en-US" altLang="zh-TW" dirty="0"/>
              <a:t>2 </a:t>
            </a:r>
            <a:r>
              <a:rPr lang="zh-TW" altLang="en-US" dirty="0"/>
              <a:t>個 </a:t>
            </a:r>
            <a:r>
              <a:rPr lang="en" altLang="zh-TW" dirty="0"/>
              <a:t>Copilot CLI instances</a:t>
            </a:r>
            <a:r>
              <a:rPr lang="zh-TW" altLang="en" dirty="0"/>
              <a:t>、</a:t>
            </a:r>
            <a:r>
              <a:rPr lang="en" altLang="zh-TW" dirty="0"/>
              <a:t>3 </a:t>
            </a:r>
            <a:r>
              <a:rPr lang="zh-TW" altLang="en-US" dirty="0"/>
              <a:t>台 </a:t>
            </a:r>
            <a:r>
              <a:rPr lang="en" altLang="zh-TW" dirty="0"/>
              <a:t>MongoDB replica set</a:t>
            </a:r>
            <a:r>
              <a:rPr lang="zh-TW" altLang="en" dirty="0"/>
              <a:t>，</a:t>
            </a:r>
            <a:r>
              <a:rPr lang="zh-TW" altLang="en-US" dirty="0"/>
              <a:t>以及 </a:t>
            </a:r>
            <a:r>
              <a:rPr lang="en-US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3 </a:t>
            </a:r>
            <a:r>
              <a:rPr lang="zh-TW" altLang="en-US" dirty="0"/>
              <a:t>台 </a:t>
            </a:r>
            <a:r>
              <a:rPr lang="en" altLang="zh-TW" dirty="0"/>
              <a:t>Redis HA </a:t>
            </a:r>
            <a:r>
              <a:rPr lang="zh-TW" altLang="en-US" dirty="0"/>
              <a:t>節點。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簡單來說，單機方案適合快速上線與控成本；</a:t>
            </a:r>
            <a:r>
              <a:rPr lang="en" altLang="zh-TW" dirty="0"/>
              <a:t>HA </a:t>
            </a:r>
            <a:r>
              <a:rPr lang="zh-TW" altLang="en-US" dirty="0"/>
              <a:t>方案比較適合長期正式營運。</a:t>
            </a:r>
          </a:p>
        </p:txBody>
      </p:sp>
    </p:spTree>
    <p:extLst>
      <p:ext uri="{BB962C8B-B14F-4D97-AF65-F5344CB8AC3E}">
        <p14:creationId xmlns:p14="http://schemas.microsoft.com/office/powerpoint/2010/main" val="40597301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這一頁看雲端正式環境。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雲端方案的重點，是把前端、應用層和資料層拆清楚，並盡量使用 </a:t>
            </a:r>
            <a:r>
              <a:rPr lang="en" altLang="zh-TW" dirty="0"/>
              <a:t>managed services </a:t>
            </a:r>
            <a:r>
              <a:rPr lang="zh-TW" altLang="en-US" dirty="0"/>
              <a:t>降低維運負擔。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/>
              <a:t>Web </a:t>
            </a:r>
            <a:r>
              <a:rPr lang="zh-TW" altLang="en-US" dirty="0"/>
              <a:t>前端可以放在 </a:t>
            </a:r>
            <a:r>
              <a:rPr lang="en" altLang="zh-TW" dirty="0"/>
              <a:t>Static Hosting </a:t>
            </a:r>
            <a:r>
              <a:rPr lang="zh-TW" altLang="en-US" dirty="0"/>
              <a:t>搭配 </a:t>
            </a:r>
            <a:r>
              <a:rPr lang="en" altLang="zh-TW" dirty="0"/>
              <a:t>CDN</a:t>
            </a:r>
            <a:r>
              <a:rPr lang="zh-TW" altLang="en" dirty="0"/>
              <a:t>。</a:t>
            </a:r>
            <a:r>
              <a:rPr lang="en" altLang="zh-TW" dirty="0"/>
              <a:t>API </a:t>
            </a:r>
            <a:r>
              <a:rPr lang="zh-TW" altLang="en-US" dirty="0"/>
              <a:t>透過 </a:t>
            </a:r>
            <a:r>
              <a:rPr lang="en" altLang="zh-TW" dirty="0"/>
              <a:t>HTTPS Load Balancer </a:t>
            </a:r>
            <a:r>
              <a:rPr lang="zh-TW" altLang="en-US" dirty="0"/>
              <a:t>或 </a:t>
            </a:r>
            <a:r>
              <a:rPr lang="en" altLang="zh-TW" dirty="0"/>
              <a:t>WAF </a:t>
            </a:r>
            <a:r>
              <a:rPr lang="zh-TW" altLang="en-US" dirty="0"/>
              <a:t>對外服務。應用層用 </a:t>
            </a:r>
            <a:r>
              <a:rPr lang="en" altLang="zh-TW" dirty="0"/>
              <a:t>container compute </a:t>
            </a:r>
            <a:r>
              <a:rPr lang="zh-TW" altLang="en-US" dirty="0"/>
              <a:t>跑 </a:t>
            </a:r>
            <a:r>
              <a:rPr lang="en" altLang="zh-TW" dirty="0"/>
              <a:t>API app</a:t>
            </a:r>
            <a:r>
              <a:rPr lang="zh-TW" altLang="en" dirty="0"/>
              <a:t>、</a:t>
            </a:r>
            <a:r>
              <a:rPr lang="en" altLang="zh-TW" dirty="0"/>
              <a:t>scheduler</a:t>
            </a:r>
            <a:r>
              <a:rPr lang="zh-TW" altLang="en" dirty="0"/>
              <a:t>、</a:t>
            </a:r>
            <a:r>
              <a:rPr lang="en" altLang="zh-TW" dirty="0"/>
              <a:t>worker replicas </a:t>
            </a:r>
            <a:r>
              <a:rPr lang="zh-TW" altLang="en-US" dirty="0"/>
              <a:t>和 </a:t>
            </a:r>
            <a:r>
              <a:rPr lang="en" altLang="zh-TW" dirty="0"/>
              <a:t>Copilot CLI replicas</a:t>
            </a:r>
            <a:r>
              <a:rPr lang="zh-TW" altLang="en" dirty="0"/>
              <a:t>。</a:t>
            </a:r>
            <a:endParaRPr lang="en-US" altLang="zh-TW" dirty="0"/>
          </a:p>
          <a:p>
            <a:pPr marL="158750" indent="0">
              <a:buNone/>
            </a:pPr>
            <a:endParaRPr lang="zh-TW" altLang="en" dirty="0"/>
          </a:p>
          <a:p>
            <a:pPr marL="158750" indent="0">
              <a:buNone/>
            </a:pPr>
            <a:r>
              <a:rPr lang="zh-TW" altLang="en-US" dirty="0"/>
              <a:t>資料層建議使用 </a:t>
            </a:r>
            <a:r>
              <a:rPr lang="en" altLang="zh-TW" dirty="0"/>
              <a:t>managed services</a:t>
            </a:r>
            <a:r>
              <a:rPr lang="zh-TW" altLang="en" dirty="0"/>
              <a:t>。</a:t>
            </a:r>
            <a:r>
              <a:rPr lang="en" altLang="zh-TW" dirty="0"/>
              <a:t>MongoDB </a:t>
            </a:r>
            <a:r>
              <a:rPr lang="zh-TW" altLang="en-US" dirty="0"/>
              <a:t>使用 </a:t>
            </a:r>
            <a:r>
              <a:rPr lang="en" altLang="zh-TW" dirty="0"/>
              <a:t>Atlas M20 </a:t>
            </a:r>
            <a:r>
              <a:rPr lang="zh-TW" altLang="en-US" dirty="0"/>
              <a:t>起步，資料量或正式穩定需求增加後再升 </a:t>
            </a:r>
            <a:r>
              <a:rPr lang="en" altLang="zh-TW" dirty="0"/>
              <a:t>M30</a:t>
            </a:r>
            <a:r>
              <a:rPr lang="zh-TW" altLang="en" dirty="0"/>
              <a:t>。</a:t>
            </a:r>
            <a:r>
              <a:rPr lang="en" altLang="zh-TW" dirty="0"/>
              <a:t>Redis </a:t>
            </a:r>
            <a:r>
              <a:rPr lang="zh-TW" altLang="en-US" dirty="0"/>
              <a:t>使用 </a:t>
            </a:r>
            <a:r>
              <a:rPr lang="en" altLang="zh-TW" dirty="0"/>
              <a:t>managed Redis</a:t>
            </a:r>
            <a:r>
              <a:rPr lang="zh-TW" altLang="en" dirty="0"/>
              <a:t>，</a:t>
            </a:r>
            <a:r>
              <a:rPr lang="zh-TW" altLang="en-US" dirty="0"/>
              <a:t>從 </a:t>
            </a:r>
            <a:r>
              <a:rPr lang="en-US" altLang="zh-TW" dirty="0"/>
              <a:t>8 </a:t>
            </a:r>
            <a:r>
              <a:rPr lang="en" altLang="zh-TW" dirty="0"/>
              <a:t>GiB </a:t>
            </a:r>
            <a:r>
              <a:rPr lang="zh-TW" altLang="en-US" dirty="0"/>
              <a:t>起步，視 </a:t>
            </a:r>
            <a:r>
              <a:rPr lang="en" altLang="zh-TW" dirty="0"/>
              <a:t>queue backlog </a:t>
            </a:r>
            <a:r>
              <a:rPr lang="zh-TW" altLang="en-US" dirty="0"/>
              <a:t>和 </a:t>
            </a:r>
            <a:r>
              <a:rPr lang="en" altLang="zh-TW" dirty="0"/>
              <a:t>retention </a:t>
            </a:r>
            <a:r>
              <a:rPr lang="zh-TW" altLang="en-US" dirty="0"/>
              <a:t>狀況調整到 </a:t>
            </a:r>
            <a:r>
              <a:rPr lang="en-US" altLang="zh-TW" dirty="0"/>
              <a:t>16 </a:t>
            </a:r>
            <a:r>
              <a:rPr lang="en" altLang="zh-TW" dirty="0"/>
              <a:t>GiB</a:t>
            </a:r>
            <a:r>
              <a:rPr lang="zh-TW" altLang="en" dirty="0"/>
              <a:t>。</a:t>
            </a:r>
            <a:endParaRPr lang="en-US" altLang="zh-TW" dirty="0"/>
          </a:p>
          <a:p>
            <a:pPr marL="158750" indent="0">
              <a:buNone/>
            </a:pPr>
            <a:endParaRPr lang="zh-TW" altLang="en" dirty="0"/>
          </a:p>
          <a:p>
            <a:pPr marL="158750" indent="0">
              <a:buNone/>
            </a:pPr>
            <a:r>
              <a:rPr lang="en" altLang="zh-TW" dirty="0"/>
              <a:t>Copilot CLI server </a:t>
            </a:r>
            <a:r>
              <a:rPr lang="zh-TW" altLang="en-US" dirty="0"/>
              <a:t>建議放在 </a:t>
            </a:r>
            <a:r>
              <a:rPr lang="en" altLang="zh-TW" dirty="0"/>
              <a:t>private endpoint </a:t>
            </a:r>
            <a:r>
              <a:rPr lang="zh-TW" altLang="en-US" dirty="0"/>
              <a:t>後面，只允許 </a:t>
            </a:r>
            <a:r>
              <a:rPr lang="en" altLang="zh-TW" dirty="0"/>
              <a:t>API </a:t>
            </a:r>
            <a:r>
              <a:rPr lang="zh-TW" altLang="en-US" dirty="0"/>
              <a:t>和 </a:t>
            </a:r>
            <a:r>
              <a:rPr lang="en" altLang="zh-TW" dirty="0"/>
              <a:t>worker </a:t>
            </a:r>
            <a:r>
              <a:rPr lang="zh-TW" altLang="en-US" dirty="0"/>
              <a:t>連線，不直接對外開放。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雲端方案的優點，是 </a:t>
            </a:r>
            <a:r>
              <a:rPr lang="en" altLang="zh-TW" dirty="0"/>
              <a:t>MongoDB</a:t>
            </a:r>
            <a:r>
              <a:rPr lang="zh-TW" altLang="en" dirty="0"/>
              <a:t>、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zh-TW" altLang="en-US" dirty="0"/>
              <a:t>備份、監控與部分高可用能力可以交給成熟平台處理。工程團隊可以把重點放在應用邏輯、</a:t>
            </a:r>
            <a:r>
              <a:rPr lang="en" altLang="zh-TW" dirty="0"/>
              <a:t>worker pipeline</a:t>
            </a:r>
            <a:r>
              <a:rPr lang="zh-TW" altLang="en" dirty="0"/>
              <a:t>、</a:t>
            </a:r>
            <a:r>
              <a:rPr lang="en" altLang="zh-TW" dirty="0"/>
              <a:t>LLM runtime </a:t>
            </a:r>
            <a:r>
              <a:rPr lang="zh-TW" altLang="en-US" dirty="0"/>
              <a:t>與成本控管上。</a:t>
            </a:r>
          </a:p>
        </p:txBody>
      </p:sp>
    </p:spTree>
    <p:extLst>
      <p:ext uri="{BB962C8B-B14F-4D97-AF65-F5344CB8AC3E}">
        <p14:creationId xmlns:p14="http://schemas.microsoft.com/office/powerpoint/2010/main" val="8487427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這一頁整理雲端服務選型和資源配置。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/>
              <a:t>Web </a:t>
            </a:r>
            <a:r>
              <a:rPr lang="zh-TW" altLang="en-US" dirty="0"/>
              <a:t>層建議用 </a:t>
            </a:r>
            <a:r>
              <a:rPr lang="en" altLang="zh-TW" dirty="0"/>
              <a:t>Static Hosting </a:t>
            </a:r>
            <a:r>
              <a:rPr lang="zh-TW" altLang="en-US" dirty="0"/>
              <a:t>搭配 </a:t>
            </a:r>
            <a:r>
              <a:rPr lang="en" altLang="zh-TW" dirty="0"/>
              <a:t>CDN</a:t>
            </a:r>
            <a:r>
              <a:rPr lang="zh-TW" altLang="en" dirty="0"/>
              <a:t>。</a:t>
            </a:r>
            <a:r>
              <a:rPr lang="en" altLang="zh-TW" dirty="0"/>
              <a:t>API app </a:t>
            </a:r>
            <a:r>
              <a:rPr lang="zh-TW" altLang="en-US" dirty="0"/>
              <a:t>建議 </a:t>
            </a:r>
            <a:r>
              <a:rPr lang="en-US" altLang="zh-TW" dirty="0"/>
              <a:t>2 </a:t>
            </a:r>
            <a:r>
              <a:rPr lang="en" altLang="zh-TW" dirty="0"/>
              <a:t>replicas</a:t>
            </a:r>
            <a:r>
              <a:rPr lang="zh-TW" altLang="en" dirty="0"/>
              <a:t>，</a:t>
            </a:r>
            <a:r>
              <a:rPr lang="zh-TW" altLang="en-US" dirty="0"/>
              <a:t>每個 </a:t>
            </a:r>
            <a:r>
              <a:rPr lang="en-US" altLang="zh-TW" dirty="0"/>
              <a:t>1 </a:t>
            </a:r>
            <a:r>
              <a:rPr lang="zh-TW" altLang="en-US" dirty="0"/>
              <a:t>到 </a:t>
            </a:r>
            <a:r>
              <a:rPr lang="en-US" altLang="zh-TW" dirty="0"/>
              <a:t>2 </a:t>
            </a:r>
            <a:r>
              <a:rPr lang="en" altLang="zh-TW" dirty="0"/>
              <a:t>vCPU</a:t>
            </a:r>
            <a:r>
              <a:rPr lang="zh-TW" altLang="en" dirty="0"/>
              <a:t>、</a:t>
            </a:r>
            <a:r>
              <a:rPr lang="en" altLang="zh-TW" dirty="0"/>
              <a:t>2 </a:t>
            </a:r>
            <a:r>
              <a:rPr lang="zh-TW" altLang="en-US" dirty="0"/>
              <a:t>到 </a:t>
            </a:r>
            <a:r>
              <a:rPr lang="en-US" altLang="zh-TW" dirty="0"/>
              <a:t>4 </a:t>
            </a:r>
            <a:r>
              <a:rPr lang="en" altLang="zh-TW" dirty="0"/>
              <a:t>GiB RAM</a:t>
            </a:r>
            <a:r>
              <a:rPr lang="zh-TW" altLang="en" dirty="0"/>
              <a:t>，</a:t>
            </a:r>
            <a:r>
              <a:rPr lang="zh-TW" altLang="en-US" dirty="0"/>
              <a:t>確保其中一個 </a:t>
            </a:r>
            <a:r>
              <a:rPr lang="en" altLang="zh-TW" dirty="0"/>
              <a:t>instance </a:t>
            </a:r>
            <a:r>
              <a:rPr lang="zh-TW" altLang="en-US" dirty="0"/>
              <a:t>重啟或維護時，另一個仍可承接流量。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Worker </a:t>
            </a:r>
            <a:r>
              <a:rPr lang="zh-TW" altLang="en-US" dirty="0"/>
              <a:t>建議以 </a:t>
            </a:r>
            <a:r>
              <a:rPr lang="en" altLang="zh-TW" dirty="0"/>
              <a:t>desired 10 replicas </a:t>
            </a:r>
            <a:r>
              <a:rPr lang="zh-TW" altLang="en-US" dirty="0"/>
              <a:t>作為基準，每個 </a:t>
            </a:r>
            <a:r>
              <a:rPr lang="en-US" altLang="zh-TW" dirty="0"/>
              <a:t>0.5 </a:t>
            </a:r>
            <a:r>
              <a:rPr lang="zh-TW" altLang="en-US" dirty="0"/>
              <a:t>到 </a:t>
            </a:r>
            <a:r>
              <a:rPr lang="en-US" altLang="zh-TW" dirty="0"/>
              <a:t>1 </a:t>
            </a:r>
            <a:r>
              <a:rPr lang="en" altLang="zh-TW" dirty="0"/>
              <a:t>vCPU</a:t>
            </a:r>
            <a:r>
              <a:rPr lang="zh-TW" altLang="en" dirty="0"/>
              <a:t>、</a:t>
            </a:r>
            <a:r>
              <a:rPr lang="en" altLang="zh-TW" dirty="0"/>
              <a:t>512 MiB </a:t>
            </a:r>
            <a:r>
              <a:rPr lang="zh-TW" altLang="en-US" dirty="0"/>
              <a:t>到 </a:t>
            </a:r>
            <a:r>
              <a:rPr lang="en-US" altLang="zh-TW" dirty="0"/>
              <a:t>1 </a:t>
            </a:r>
            <a:r>
              <a:rPr lang="en" altLang="zh-TW" dirty="0"/>
              <a:t>GiB RAM</a:t>
            </a:r>
            <a:r>
              <a:rPr lang="zh-TW" altLang="en" dirty="0"/>
              <a:t>。</a:t>
            </a:r>
            <a:r>
              <a:rPr lang="zh-TW" altLang="en-US" dirty="0"/>
              <a:t>後續如果 </a:t>
            </a:r>
            <a:r>
              <a:rPr lang="en" altLang="zh-TW" dirty="0"/>
              <a:t>queue depth </a:t>
            </a:r>
            <a:r>
              <a:rPr lang="zh-TW" altLang="en-US" dirty="0"/>
              <a:t>或 </a:t>
            </a:r>
            <a:r>
              <a:rPr lang="en" altLang="zh-TW" dirty="0"/>
              <a:t>job duration </a:t>
            </a:r>
            <a:r>
              <a:rPr lang="zh-TW" altLang="en-US" dirty="0"/>
              <a:t>上升，可以擴到 </a:t>
            </a:r>
            <a:r>
              <a:rPr lang="en-US" altLang="zh-TW" dirty="0"/>
              <a:t>20</a:t>
            </a:r>
            <a:r>
              <a:rPr lang="zh-TW" altLang="en-US" dirty="0"/>
              <a:t>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Scheduler </a:t>
            </a:r>
            <a:r>
              <a:rPr lang="zh-TW" altLang="en-US" dirty="0"/>
              <a:t>建議 </a:t>
            </a:r>
            <a:r>
              <a:rPr lang="en-US" altLang="zh-TW" dirty="0"/>
              <a:t>1 </a:t>
            </a:r>
            <a:r>
              <a:rPr lang="en" altLang="zh-TW" dirty="0"/>
              <a:t>replica</a:t>
            </a:r>
            <a:r>
              <a:rPr lang="zh-TW" altLang="en" dirty="0"/>
              <a:t>，</a:t>
            </a:r>
            <a:r>
              <a:rPr lang="zh-TW" altLang="en-US" dirty="0"/>
              <a:t>避免同一批排程被重複觸發。</a:t>
            </a:r>
            <a:r>
              <a:rPr lang="en" altLang="zh-TW" dirty="0"/>
              <a:t>Copilot CLI server </a:t>
            </a:r>
            <a:r>
              <a:rPr lang="zh-TW" altLang="en-US" dirty="0"/>
              <a:t>建議 </a:t>
            </a:r>
            <a:r>
              <a:rPr lang="en-US" altLang="zh-TW" dirty="0"/>
              <a:t>1 </a:t>
            </a:r>
            <a:r>
              <a:rPr lang="zh-TW" altLang="en-US" dirty="0"/>
              <a:t>到 </a:t>
            </a:r>
            <a:r>
              <a:rPr lang="en-US" altLang="zh-TW" dirty="0"/>
              <a:t>2 </a:t>
            </a:r>
            <a:r>
              <a:rPr lang="en" altLang="zh-TW" dirty="0"/>
              <a:t>replicas</a:t>
            </a:r>
            <a:r>
              <a:rPr lang="zh-TW" altLang="en" dirty="0"/>
              <a:t>，</a:t>
            </a:r>
            <a:r>
              <a:rPr lang="zh-TW" altLang="en-US" dirty="0"/>
              <a:t>並透過 </a:t>
            </a:r>
            <a:r>
              <a:rPr lang="en" altLang="zh-TW" dirty="0"/>
              <a:t>private LB </a:t>
            </a:r>
            <a:r>
              <a:rPr lang="zh-TW" altLang="en-US" dirty="0"/>
              <a:t>或 </a:t>
            </a:r>
            <a:r>
              <a:rPr lang="en" altLang="zh-TW" dirty="0"/>
              <a:t>private endpoint </a:t>
            </a:r>
            <a:r>
              <a:rPr lang="zh-TW" altLang="en-US" dirty="0"/>
              <a:t>供 </a:t>
            </a:r>
            <a:r>
              <a:rPr lang="en" altLang="zh-TW" dirty="0"/>
              <a:t>API </a:t>
            </a:r>
            <a:r>
              <a:rPr lang="zh-TW" altLang="en-US" dirty="0"/>
              <a:t>和 </a:t>
            </a:r>
            <a:r>
              <a:rPr lang="en" altLang="zh-TW" dirty="0"/>
              <a:t>worker </a:t>
            </a:r>
            <a:r>
              <a:rPr lang="zh-TW" altLang="en-US" dirty="0"/>
              <a:t>使用。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MongoDB </a:t>
            </a:r>
            <a:r>
              <a:rPr lang="zh-TW" altLang="en-US" dirty="0"/>
              <a:t>建議從 </a:t>
            </a:r>
            <a:r>
              <a:rPr lang="en" altLang="zh-TW" dirty="0"/>
              <a:t>Atlas M20 </a:t>
            </a:r>
            <a:r>
              <a:rPr lang="zh-TW" altLang="en-US" dirty="0"/>
              <a:t>起步，正式穩定或資料持續成長後再升 </a:t>
            </a:r>
            <a:r>
              <a:rPr lang="en" altLang="zh-TW" dirty="0"/>
              <a:t>M30</a:t>
            </a:r>
            <a:r>
              <a:rPr lang="zh-TW" altLang="en" dirty="0"/>
              <a:t>。</a:t>
            </a:r>
            <a:r>
              <a:rPr lang="en" altLang="zh-TW" dirty="0"/>
              <a:t>Redis </a:t>
            </a:r>
            <a:r>
              <a:rPr lang="zh-TW" altLang="en-US" dirty="0"/>
              <a:t>可以先用 </a:t>
            </a:r>
            <a:r>
              <a:rPr lang="en-US" altLang="zh-TW" dirty="0"/>
              <a:t>8 </a:t>
            </a:r>
            <a:r>
              <a:rPr lang="en" altLang="zh-TW" dirty="0"/>
              <a:t>GiB</a:t>
            </a:r>
            <a:r>
              <a:rPr lang="zh-TW" altLang="en" dirty="0"/>
              <a:t>；</a:t>
            </a:r>
            <a:r>
              <a:rPr lang="zh-TW" altLang="en-US" dirty="0"/>
              <a:t>如果 </a:t>
            </a:r>
            <a:r>
              <a:rPr lang="en" altLang="zh-TW" dirty="0"/>
              <a:t>job history</a:t>
            </a:r>
            <a:r>
              <a:rPr lang="zh-TW" altLang="en" dirty="0"/>
              <a:t>、</a:t>
            </a:r>
            <a:r>
              <a:rPr lang="en" altLang="zh-TW" dirty="0"/>
              <a:t>failed jobs </a:t>
            </a:r>
            <a:r>
              <a:rPr lang="zh-TW" altLang="en-US" dirty="0"/>
              <a:t>或 </a:t>
            </a:r>
            <a:r>
              <a:rPr lang="en" altLang="zh-TW" dirty="0"/>
              <a:t>queue backlog </a:t>
            </a:r>
            <a:r>
              <a:rPr lang="zh-TW" altLang="en-US" dirty="0"/>
              <a:t>壓力較大，再提高到 </a:t>
            </a:r>
            <a:r>
              <a:rPr lang="en-US" altLang="zh-TW" dirty="0"/>
              <a:t>16 </a:t>
            </a:r>
            <a:r>
              <a:rPr lang="en" altLang="zh-TW" dirty="0"/>
              <a:t>GiB</a:t>
            </a:r>
            <a:r>
              <a:rPr lang="zh-TW" altLang="en" dirty="0"/>
              <a:t>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服務選型上，</a:t>
            </a:r>
            <a:r>
              <a:rPr lang="en" altLang="zh-TW" dirty="0"/>
              <a:t>AWS</a:t>
            </a:r>
            <a:r>
              <a:rPr lang="zh-TW" altLang="en" dirty="0"/>
              <a:t>、</a:t>
            </a:r>
            <a:r>
              <a:rPr lang="en" altLang="zh-TW" dirty="0"/>
              <a:t>Azure</a:t>
            </a:r>
            <a:r>
              <a:rPr lang="zh-TW" altLang="en" dirty="0"/>
              <a:t>、</a:t>
            </a:r>
            <a:r>
              <a:rPr lang="en" altLang="zh-TW" dirty="0"/>
              <a:t>GCP </a:t>
            </a:r>
            <a:r>
              <a:rPr lang="zh-TW" altLang="en-US" dirty="0"/>
              <a:t>都有對應方案。</a:t>
            </a:r>
            <a:r>
              <a:rPr lang="en" altLang="zh-TW" dirty="0"/>
              <a:t>AWS </a:t>
            </a:r>
            <a:r>
              <a:rPr lang="zh-TW" altLang="en-US" dirty="0"/>
              <a:t>可以用 </a:t>
            </a:r>
            <a:r>
              <a:rPr lang="en" altLang="zh-TW" dirty="0"/>
              <a:t>ECS/Fargate </a:t>
            </a:r>
            <a:r>
              <a:rPr lang="zh-TW" altLang="en-US" dirty="0"/>
              <a:t>或 </a:t>
            </a:r>
            <a:r>
              <a:rPr lang="en" altLang="zh-TW" dirty="0"/>
              <a:t>EKS</a:t>
            </a:r>
            <a:r>
              <a:rPr lang="zh-TW" altLang="en" dirty="0"/>
              <a:t>，</a:t>
            </a:r>
            <a:r>
              <a:rPr lang="en" altLang="zh-TW" dirty="0"/>
              <a:t>Azure </a:t>
            </a:r>
            <a:r>
              <a:rPr lang="zh-TW" altLang="en-US" dirty="0"/>
              <a:t>可以用 </a:t>
            </a:r>
            <a:r>
              <a:rPr lang="en" altLang="zh-TW" dirty="0"/>
              <a:t>Container Apps </a:t>
            </a:r>
            <a:r>
              <a:rPr lang="zh-TW" altLang="en-US" dirty="0"/>
              <a:t>或 </a:t>
            </a:r>
            <a:r>
              <a:rPr lang="en" altLang="zh-TW" dirty="0"/>
              <a:t>AKS</a:t>
            </a:r>
            <a:r>
              <a:rPr lang="zh-TW" altLang="en" dirty="0"/>
              <a:t>，</a:t>
            </a:r>
            <a:r>
              <a:rPr lang="en" altLang="zh-TW" dirty="0"/>
              <a:t>GCP </a:t>
            </a:r>
            <a:r>
              <a:rPr lang="zh-TW" altLang="en-US" dirty="0"/>
              <a:t>可以用 </a:t>
            </a:r>
            <a:r>
              <a:rPr lang="en" altLang="zh-TW" dirty="0"/>
              <a:t>Cloud Run </a:t>
            </a:r>
            <a:r>
              <a:rPr lang="zh-TW" altLang="en-US" dirty="0"/>
              <a:t>或 </a:t>
            </a:r>
            <a:r>
              <a:rPr lang="en" altLang="zh-TW" dirty="0"/>
              <a:t>GKE</a:t>
            </a:r>
            <a:r>
              <a:rPr lang="zh-TW" altLang="en" dirty="0"/>
              <a:t>。</a:t>
            </a:r>
            <a:r>
              <a:rPr lang="zh-TW" altLang="en-US" dirty="0"/>
              <a:t>資料層建議優先使用 </a:t>
            </a:r>
            <a:r>
              <a:rPr lang="en" altLang="zh-TW" dirty="0"/>
              <a:t>MongoDB Atlas </a:t>
            </a:r>
            <a:r>
              <a:rPr lang="zh-TW" altLang="en-US" dirty="0"/>
              <a:t>和 </a:t>
            </a:r>
            <a:r>
              <a:rPr lang="en" altLang="zh-TW" dirty="0"/>
              <a:t>managed Redis</a:t>
            </a:r>
            <a:r>
              <a:rPr lang="zh-TW" altLang="en" dirty="0"/>
              <a:t>，</a:t>
            </a:r>
            <a:r>
              <a:rPr lang="zh-TW" altLang="en-US" dirty="0"/>
              <a:t>降低自行維運風險。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第一階段建議保留 </a:t>
            </a:r>
            <a:r>
              <a:rPr lang="en" altLang="zh-TW" dirty="0"/>
              <a:t>MongoDB Atlas</a:t>
            </a:r>
            <a:r>
              <a:rPr lang="zh-TW" altLang="en" dirty="0"/>
              <a:t>，</a:t>
            </a:r>
            <a:r>
              <a:rPr lang="zh-TW" altLang="en-US" dirty="0"/>
              <a:t>因為目前系統使用 </a:t>
            </a:r>
            <a:r>
              <a:rPr lang="en" altLang="zh-TW" dirty="0"/>
              <a:t>Mongoose </a:t>
            </a:r>
            <a:r>
              <a:rPr lang="zh-TW" altLang="en-US" dirty="0"/>
              <a:t>和 </a:t>
            </a:r>
            <a:r>
              <a:rPr lang="en" altLang="zh-TW" dirty="0"/>
              <a:t>MongoDB </a:t>
            </a:r>
            <a:r>
              <a:rPr lang="zh-TW" altLang="en-US" dirty="0"/>
              <a:t>的 </a:t>
            </a:r>
            <a:r>
              <a:rPr lang="en" altLang="zh-TW" dirty="0"/>
              <a:t>query/index </a:t>
            </a:r>
            <a:r>
              <a:rPr lang="zh-TW" altLang="en-US" dirty="0"/>
              <a:t>語意，</a:t>
            </a:r>
            <a:r>
              <a:rPr lang="en" altLang="zh-TW" dirty="0"/>
              <a:t>Atlas </a:t>
            </a:r>
            <a:r>
              <a:rPr lang="zh-TW" altLang="en-US" dirty="0"/>
              <a:t>會是風險最低的路徑。</a:t>
            </a:r>
          </a:p>
        </p:txBody>
      </p:sp>
    </p:spTree>
    <p:extLst>
      <p:ext uri="{BB962C8B-B14F-4D97-AF65-F5344CB8AC3E}">
        <p14:creationId xmlns:p14="http://schemas.microsoft.com/office/powerpoint/2010/main" val="15523964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這一頁談安全、備份和災難復原。這些原則不管地端或雲端都一樣，只是實作工具不同。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正式環境對外應該只暴露 </a:t>
            </a:r>
            <a:r>
              <a:rPr lang="en" altLang="zh-TW" dirty="0"/>
              <a:t>Web</a:t>
            </a:r>
            <a:r>
              <a:rPr lang="zh-TW" altLang="en" dirty="0"/>
              <a:t>、</a:t>
            </a:r>
            <a:r>
              <a:rPr lang="en" altLang="zh-TW" dirty="0"/>
              <a:t>API </a:t>
            </a:r>
            <a:r>
              <a:rPr lang="zh-TW" altLang="en-US" dirty="0"/>
              <a:t>或 </a:t>
            </a:r>
            <a:r>
              <a:rPr lang="en" altLang="zh-TW" dirty="0"/>
              <a:t>Load Balancer</a:t>
            </a:r>
            <a:r>
              <a:rPr lang="zh-TW" altLang="en" dirty="0"/>
              <a:t>。</a:t>
            </a:r>
            <a:r>
              <a:rPr lang="en" altLang="zh-TW" dirty="0"/>
              <a:t>MongoDB</a:t>
            </a:r>
            <a:r>
              <a:rPr lang="zh-TW" altLang="en" dirty="0"/>
              <a:t>、</a:t>
            </a:r>
            <a:r>
              <a:rPr lang="en" altLang="zh-TW" dirty="0"/>
              <a:t>Redis </a:t>
            </a:r>
            <a:r>
              <a:rPr lang="zh-TW" altLang="en-US" dirty="0"/>
              <a:t>和 </a:t>
            </a:r>
            <a:r>
              <a:rPr lang="en" altLang="zh-TW" dirty="0"/>
              <a:t>Copilot CLI endpoint </a:t>
            </a:r>
            <a:r>
              <a:rPr lang="zh-TW" altLang="en-US" dirty="0"/>
              <a:t>都應該放在 </a:t>
            </a:r>
            <a:r>
              <a:rPr lang="en" altLang="zh-TW" dirty="0"/>
              <a:t>private network</a:t>
            </a:r>
            <a:r>
              <a:rPr lang="zh-TW" altLang="en" dirty="0"/>
              <a:t>，</a:t>
            </a:r>
            <a:r>
              <a:rPr lang="zh-TW" altLang="en-US" dirty="0"/>
              <a:t>只允許 </a:t>
            </a:r>
            <a:r>
              <a:rPr lang="en" altLang="zh-TW" dirty="0"/>
              <a:t>API</a:t>
            </a:r>
            <a:r>
              <a:rPr lang="zh-TW" altLang="en" dirty="0"/>
              <a:t>、</a:t>
            </a:r>
            <a:r>
              <a:rPr lang="en" altLang="zh-TW" dirty="0"/>
              <a:t>worker </a:t>
            </a:r>
            <a:r>
              <a:rPr lang="zh-TW" altLang="en-US" dirty="0"/>
              <a:t>和必要維運節點連線。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-US" altLang="zh-TW" dirty="0"/>
              <a:t>secret value </a:t>
            </a:r>
            <a:r>
              <a:rPr lang="zh-TW" altLang="en-US" dirty="0"/>
              <a:t>也要集中管理。像 </a:t>
            </a:r>
            <a:r>
              <a:rPr lang="en" altLang="zh-TW" dirty="0"/>
              <a:t>Mongo URI</a:t>
            </a:r>
            <a:r>
              <a:rPr lang="zh-TW" altLang="en" dirty="0"/>
              <a:t>、</a:t>
            </a:r>
            <a:r>
              <a:rPr lang="en" altLang="zh-TW" dirty="0"/>
              <a:t>Redis URL</a:t>
            </a:r>
            <a:r>
              <a:rPr lang="zh-TW" altLang="en" dirty="0"/>
              <a:t>、</a:t>
            </a:r>
            <a:r>
              <a:rPr lang="en" altLang="zh-TW" dirty="0"/>
              <a:t>OpenAI API key</a:t>
            </a:r>
            <a:r>
              <a:rPr lang="zh-TW" altLang="en" dirty="0"/>
              <a:t>、</a:t>
            </a:r>
            <a:r>
              <a:rPr lang="en" altLang="zh-TW" dirty="0"/>
              <a:t>Microsoft OAuth credentials</a:t>
            </a:r>
            <a:r>
              <a:rPr lang="zh-TW" altLang="en" dirty="0"/>
              <a:t>，</a:t>
            </a:r>
            <a:r>
              <a:rPr lang="zh-TW" altLang="en-US" dirty="0"/>
              <a:t>都不應該散落在部署腳本或手動指令裡，而是要放在 </a:t>
            </a:r>
            <a:r>
              <a:rPr lang="en" altLang="zh-TW" dirty="0"/>
              <a:t>Secrets Manager</a:t>
            </a:r>
            <a:r>
              <a:rPr lang="zh-TW" altLang="en" dirty="0"/>
              <a:t>、</a:t>
            </a:r>
            <a:r>
              <a:rPr lang="en" altLang="zh-TW" dirty="0"/>
              <a:t>Key Vault</a:t>
            </a:r>
            <a:r>
              <a:rPr lang="zh-TW" altLang="en" dirty="0"/>
              <a:t>、</a:t>
            </a:r>
            <a:r>
              <a:rPr lang="en" altLang="zh-TW" dirty="0"/>
              <a:t>Vault </a:t>
            </a:r>
            <a:r>
              <a:rPr lang="zh-TW" altLang="en-US" dirty="0"/>
              <a:t>或既有密碼管理系統中。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權限方面，建議採最小權限原則。資料庫帳號至少區分 </a:t>
            </a:r>
            <a:r>
              <a:rPr lang="en" altLang="zh-TW" dirty="0"/>
              <a:t>app</a:t>
            </a:r>
            <a:r>
              <a:rPr lang="zh-TW" altLang="en" dirty="0"/>
              <a:t>、</a:t>
            </a:r>
            <a:r>
              <a:rPr lang="en" altLang="zh-TW" dirty="0"/>
              <a:t>backup </a:t>
            </a:r>
            <a:r>
              <a:rPr lang="zh-TW" altLang="en-US" dirty="0"/>
              <a:t>和 </a:t>
            </a:r>
            <a:r>
              <a:rPr lang="en" altLang="zh-TW" dirty="0"/>
              <a:t>admin</a:t>
            </a:r>
            <a:r>
              <a:rPr lang="zh-TW" altLang="en" dirty="0"/>
              <a:t>，</a:t>
            </a:r>
            <a:r>
              <a:rPr lang="zh-TW" altLang="en-US" dirty="0"/>
              <a:t>避免所有服務共用最高權限帳號。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備份方面，</a:t>
            </a:r>
            <a:r>
              <a:rPr lang="en" altLang="zh-TW" dirty="0"/>
              <a:t>MongoDB </a:t>
            </a:r>
            <a:r>
              <a:rPr lang="zh-TW" altLang="en-US" dirty="0"/>
              <a:t>至少要 </a:t>
            </a:r>
            <a:r>
              <a:rPr lang="en" altLang="zh-TW" dirty="0"/>
              <a:t>daily snapshot </a:t>
            </a:r>
            <a:r>
              <a:rPr lang="zh-TW" altLang="en-US" dirty="0"/>
              <a:t>或 </a:t>
            </a:r>
            <a:r>
              <a:rPr lang="en" altLang="zh-TW" dirty="0"/>
              <a:t>dump</a:t>
            </a:r>
            <a:r>
              <a:rPr lang="zh-TW" altLang="en" dirty="0"/>
              <a:t>。</a:t>
            </a:r>
            <a:r>
              <a:rPr lang="zh-TW" altLang="en-US" dirty="0"/>
              <a:t>雲端可以使用 </a:t>
            </a:r>
            <a:r>
              <a:rPr lang="en" altLang="zh-TW" dirty="0"/>
              <a:t>managed snapshot </a:t>
            </a:r>
            <a:r>
              <a:rPr lang="zh-TW" altLang="en-US" dirty="0"/>
              <a:t>和 </a:t>
            </a:r>
            <a:r>
              <a:rPr lang="en" altLang="zh-TW" dirty="0"/>
              <a:t>PITR (Point-in-Time Recovery)</a:t>
            </a:r>
            <a:r>
              <a:rPr lang="zh-TW" altLang="en" dirty="0"/>
              <a:t>；</a:t>
            </a:r>
            <a:r>
              <a:rPr lang="zh-TW" altLang="en-US" dirty="0"/>
              <a:t>地端則需要外部 </a:t>
            </a:r>
            <a:r>
              <a:rPr lang="en" altLang="zh-TW" dirty="0"/>
              <a:t>NAS</a:t>
            </a:r>
            <a:r>
              <a:rPr lang="zh-TW" altLang="en" dirty="0"/>
              <a:t>、</a:t>
            </a:r>
            <a:r>
              <a:rPr lang="zh-TW" altLang="en-US" dirty="0"/>
              <a:t>備份主機或異地保存。</a:t>
            </a:r>
            <a:r>
              <a:rPr lang="en" altLang="zh-TW" dirty="0"/>
              <a:t>Redis </a:t>
            </a:r>
            <a:r>
              <a:rPr lang="zh-TW" altLang="en-US" dirty="0"/>
              <a:t>是否持久化，可以依 </a:t>
            </a:r>
            <a:r>
              <a:rPr lang="en" altLang="zh-TW" dirty="0"/>
              <a:t>queue </a:t>
            </a:r>
            <a:r>
              <a:rPr lang="zh-TW" altLang="en-US" dirty="0"/>
              <a:t>是否能重建來決定，但 </a:t>
            </a:r>
            <a:r>
              <a:rPr lang="en" altLang="zh-TW" dirty="0"/>
              <a:t>failed jobs </a:t>
            </a:r>
            <a:r>
              <a:rPr lang="zh-TW" altLang="en-US" dirty="0"/>
              <a:t>和重要 </a:t>
            </a:r>
            <a:r>
              <a:rPr lang="en" altLang="zh-TW" dirty="0"/>
              <a:t>operational log </a:t>
            </a:r>
            <a:r>
              <a:rPr lang="zh-TW" altLang="en-US" dirty="0"/>
              <a:t>建議保留。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zh-TW" altLang="en-US" dirty="0"/>
              <a:t>最後，備份需要定期做 </a:t>
            </a:r>
            <a:r>
              <a:rPr lang="en" altLang="zh-TW" dirty="0"/>
              <a:t>restore drill</a:t>
            </a:r>
            <a:r>
              <a:rPr lang="zh-TW" altLang="en" dirty="0"/>
              <a:t>。</a:t>
            </a:r>
            <a:r>
              <a:rPr lang="zh-TW" altLang="en-US" dirty="0"/>
              <a:t>只有真的演練過還原，</a:t>
            </a:r>
            <a:r>
              <a:rPr lang="en" altLang="zh-TW" dirty="0"/>
              <a:t>RPO (Recovery Point Objective) </a:t>
            </a:r>
            <a:r>
              <a:rPr lang="zh-TW" altLang="en-US" dirty="0"/>
              <a:t>和 </a:t>
            </a:r>
            <a:r>
              <a:rPr lang="en" altLang="zh-TW" dirty="0"/>
              <a:t>RTO (Recovery Time Objective) </a:t>
            </a:r>
            <a:r>
              <a:rPr lang="zh-TW" altLang="en-US" dirty="0"/>
              <a:t>才能被驗證。</a:t>
            </a:r>
          </a:p>
        </p:txBody>
      </p:sp>
    </p:spTree>
    <p:extLst>
      <p:ext uri="{BB962C8B-B14F-4D97-AF65-F5344CB8AC3E}">
        <p14:creationId xmlns:p14="http://schemas.microsoft.com/office/powerpoint/2010/main" val="6829501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dirty="0"/>
              <a:t>這一頁主要說明正式環境上線後，要看哪些指標來判斷系統是否穩定。</a:t>
            </a:r>
            <a:endParaRPr lang="en-US" altLang="zh-TW" dirty="0"/>
          </a:p>
          <a:p>
            <a:pPr marL="158750" indent="0">
              <a:buNone/>
            </a:pPr>
            <a:endParaRPr lang="zh-TW" altLang="en-US" dirty="0"/>
          </a:p>
          <a:p>
            <a:pPr marL="158750" indent="0">
              <a:buNone/>
            </a:pPr>
            <a:r>
              <a:rPr lang="en" altLang="zh-TW" dirty="0" err="1"/>
              <a:t>InfoGather</a:t>
            </a:r>
            <a:r>
              <a:rPr lang="en" altLang="zh-TW" dirty="0"/>
              <a:t> </a:t>
            </a:r>
            <a:r>
              <a:rPr lang="zh-TW" altLang="en-US" dirty="0"/>
              <a:t>不能只看 </a:t>
            </a:r>
            <a:r>
              <a:rPr lang="en" altLang="zh-TW" dirty="0"/>
              <a:t>CPU </a:t>
            </a:r>
            <a:r>
              <a:rPr lang="zh-TW" altLang="en-US" dirty="0"/>
              <a:t>和 </a:t>
            </a:r>
            <a:r>
              <a:rPr lang="en" altLang="zh-TW" dirty="0"/>
              <a:t>RAM</a:t>
            </a:r>
            <a:r>
              <a:rPr lang="zh-TW" altLang="en" dirty="0"/>
              <a:t>。</a:t>
            </a:r>
            <a:r>
              <a:rPr lang="en" altLang="zh-TW" dirty="0"/>
              <a:t>CPU </a:t>
            </a:r>
            <a:r>
              <a:rPr lang="zh-TW" altLang="en-US" dirty="0"/>
              <a:t>沒滿，不代表系統沒有壓力；瓶頸可能出現在背景任務排隊、資料庫查詢變慢、</a:t>
            </a:r>
            <a:r>
              <a:rPr lang="en" altLang="zh-TW" dirty="0"/>
              <a:t>Copilot CLI session </a:t>
            </a:r>
            <a:r>
              <a:rPr lang="zh-TW" altLang="en-US" dirty="0"/>
              <a:t>增加，或外部 </a:t>
            </a:r>
            <a:r>
              <a:rPr lang="en" altLang="zh-TW" dirty="0"/>
              <a:t>LLM provider </a:t>
            </a:r>
            <a:r>
              <a:rPr lang="zh-TW" altLang="en-US" dirty="0"/>
              <a:t>開始限流。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API </a:t>
            </a:r>
            <a:r>
              <a:rPr lang="zh-TW" altLang="en-US" dirty="0"/>
              <a:t>層主要看回應速度、錯誤率，以及 </a:t>
            </a:r>
            <a:r>
              <a:rPr lang="en" altLang="zh-TW" dirty="0"/>
              <a:t>SSE </a:t>
            </a:r>
            <a:r>
              <a:rPr lang="zh-TW" altLang="en-US" dirty="0"/>
              <a:t>連線是否穩定。</a:t>
            </a:r>
            <a:r>
              <a:rPr lang="en" altLang="zh-TW" dirty="0"/>
              <a:t>Worker </a:t>
            </a:r>
            <a:r>
              <a:rPr lang="zh-TW" altLang="en-US" dirty="0"/>
              <a:t>層要看任務排隊數量、任務處理時間與失敗比例。</a:t>
            </a:r>
            <a:r>
              <a:rPr lang="en" altLang="zh-TW" dirty="0"/>
              <a:t>Redis </a:t>
            </a:r>
            <a:r>
              <a:rPr lang="zh-TW" altLang="en-US" dirty="0"/>
              <a:t>要看記憶體使用量、資料是否被淘汰，以及 </a:t>
            </a:r>
            <a:r>
              <a:rPr lang="en" altLang="zh-TW" dirty="0"/>
              <a:t>queue </a:t>
            </a:r>
            <a:r>
              <a:rPr lang="zh-TW" altLang="en-US" dirty="0"/>
              <a:t>操作是否變慢。</a:t>
            </a:r>
            <a:r>
              <a:rPr lang="en" altLang="zh-TW" dirty="0"/>
              <a:t>MongoDB </a:t>
            </a:r>
            <a:r>
              <a:rPr lang="zh-TW" altLang="en-US" dirty="0"/>
              <a:t>則要看慢查詢、連線數、索引大小，以及常用資料和索引是否能穩定留在記憶體中。</a:t>
            </a:r>
          </a:p>
          <a:p>
            <a:pPr marL="158750" indent="0">
              <a:buNone/>
            </a:pPr>
            <a:endParaRPr lang="en" altLang="zh-TW" dirty="0"/>
          </a:p>
          <a:p>
            <a:pPr marL="158750" indent="0">
              <a:buNone/>
            </a:pPr>
            <a:r>
              <a:rPr lang="en" altLang="zh-TW" dirty="0"/>
              <a:t>Copilot CLI </a:t>
            </a:r>
            <a:r>
              <a:rPr lang="zh-TW" altLang="en-US" dirty="0"/>
              <a:t>也要納入監控，包含 </a:t>
            </a:r>
            <a:r>
              <a:rPr lang="en" altLang="zh-TW" dirty="0"/>
              <a:t>session </a:t>
            </a:r>
            <a:r>
              <a:rPr lang="zh-TW" altLang="en-US" dirty="0"/>
              <a:t>回應時間、</a:t>
            </a:r>
            <a:r>
              <a:rPr lang="en" altLang="zh-TW" dirty="0"/>
              <a:t>active sessions</a:t>
            </a:r>
            <a:r>
              <a:rPr lang="zh-TW" altLang="en" dirty="0"/>
              <a:t>、</a:t>
            </a:r>
            <a:r>
              <a:rPr lang="zh-TW" altLang="en-US" dirty="0"/>
              <a:t>錯誤率與 </a:t>
            </a:r>
            <a:r>
              <a:rPr lang="en" altLang="zh-TW" dirty="0"/>
              <a:t>container </a:t>
            </a:r>
            <a:r>
              <a:rPr lang="zh-TW" altLang="en-US" dirty="0"/>
              <a:t>重啟次數。外部 </a:t>
            </a:r>
            <a:r>
              <a:rPr lang="en" altLang="zh-TW" dirty="0"/>
              <a:t>LLM provider </a:t>
            </a:r>
            <a:r>
              <a:rPr lang="zh-TW" altLang="en-US" dirty="0"/>
              <a:t>則要看 </a:t>
            </a:r>
            <a:r>
              <a:rPr lang="en" altLang="zh-TW" dirty="0"/>
              <a:t>API </a:t>
            </a:r>
            <a:r>
              <a:rPr lang="zh-TW" altLang="en-US" dirty="0"/>
              <a:t>回應速度、</a:t>
            </a:r>
            <a:r>
              <a:rPr lang="en-US" altLang="zh-TW" dirty="0"/>
              <a:t>429/5</a:t>
            </a:r>
            <a:r>
              <a:rPr lang="en" altLang="zh-TW" dirty="0"/>
              <a:t>xx </a:t>
            </a:r>
            <a:r>
              <a:rPr lang="zh-TW" altLang="en-US" dirty="0"/>
              <a:t>錯誤，以及每日成本是否超出預期。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所以 </a:t>
            </a:r>
            <a:r>
              <a:rPr lang="en" altLang="zh-TW" dirty="0"/>
              <a:t>worker </a:t>
            </a:r>
            <a:r>
              <a:rPr lang="zh-TW" altLang="en-US" dirty="0"/>
              <a:t>要不要擴充，不能只看 </a:t>
            </a:r>
            <a:r>
              <a:rPr lang="en" altLang="zh-TW" dirty="0"/>
              <a:t>CPU</a:t>
            </a:r>
            <a:r>
              <a:rPr lang="zh-TW" altLang="en" dirty="0"/>
              <a:t>。</a:t>
            </a:r>
            <a:r>
              <a:rPr lang="zh-TW" altLang="en-US" dirty="0"/>
              <a:t>有時候 </a:t>
            </a:r>
            <a:r>
              <a:rPr lang="en" altLang="zh-TW" dirty="0"/>
              <a:t>CPU </a:t>
            </a:r>
            <a:r>
              <a:rPr lang="zh-TW" altLang="en-US" dirty="0"/>
              <a:t>還沒滿，但任務已經開始排隊，或 </a:t>
            </a:r>
            <a:r>
              <a:rPr lang="en" altLang="zh-TW" dirty="0"/>
              <a:t>LLM provider </a:t>
            </a:r>
            <a:r>
              <a:rPr lang="zh-TW" altLang="en-US" dirty="0"/>
              <a:t>已經回傳 </a:t>
            </a:r>
            <a:r>
              <a:rPr lang="en-US" altLang="zh-TW" dirty="0"/>
              <a:t>429</a:t>
            </a:r>
            <a:r>
              <a:rPr lang="zh-TW" altLang="en-US" dirty="0"/>
              <a:t>，瓶頸其實在 </a:t>
            </a:r>
            <a:r>
              <a:rPr lang="en" altLang="zh-TW" dirty="0"/>
              <a:t>queue </a:t>
            </a:r>
            <a:r>
              <a:rPr lang="zh-TW" altLang="en-US" dirty="0"/>
              <a:t>或外部 </a:t>
            </a:r>
            <a:r>
              <a:rPr lang="en" altLang="zh-TW" dirty="0"/>
              <a:t>API</a:t>
            </a:r>
            <a:r>
              <a:rPr lang="zh-TW" altLang="en" dirty="0"/>
              <a:t>。</a:t>
            </a:r>
          </a:p>
          <a:p>
            <a:pPr marL="158750" indent="0">
              <a:buNone/>
            </a:pPr>
            <a:endParaRPr lang="en-US" altLang="zh-TW" dirty="0"/>
          </a:p>
          <a:p>
            <a:pPr marL="158750" indent="0">
              <a:buNone/>
            </a:pPr>
            <a:r>
              <a:rPr lang="zh-TW" altLang="en-US" dirty="0"/>
              <a:t>正式環境建議把任務排隊數量、任務處理時間、</a:t>
            </a:r>
            <a:r>
              <a:rPr lang="en" altLang="zh-TW" dirty="0"/>
              <a:t>Copilot CLI session </a:t>
            </a:r>
            <a:r>
              <a:rPr lang="zh-TW" altLang="en-US" dirty="0"/>
              <a:t>延遲，以及 </a:t>
            </a:r>
            <a:r>
              <a:rPr lang="en" altLang="zh-TW" dirty="0"/>
              <a:t>LLM 429 </a:t>
            </a:r>
            <a:r>
              <a:rPr lang="zh-TW" altLang="en-US" dirty="0"/>
              <a:t>錯誤率當成關鍵指標。雲端可以依照 </a:t>
            </a:r>
            <a:r>
              <a:rPr lang="en" altLang="zh-TW" dirty="0"/>
              <a:t>queue depth </a:t>
            </a:r>
            <a:r>
              <a:rPr lang="zh-TW" altLang="en-US" dirty="0"/>
              <a:t>自動擴充 </a:t>
            </a:r>
            <a:r>
              <a:rPr lang="en" altLang="zh-TW" dirty="0"/>
              <a:t>worker</a:t>
            </a:r>
            <a:r>
              <a:rPr lang="zh-TW" altLang="en" dirty="0"/>
              <a:t>；</a:t>
            </a:r>
            <a:r>
              <a:rPr lang="zh-TW" altLang="en-US" dirty="0"/>
              <a:t>地端則要先定義清楚，什麼情況要加 </a:t>
            </a:r>
            <a:r>
              <a:rPr lang="en" altLang="zh-TW" dirty="0"/>
              <a:t>worker</a:t>
            </a:r>
            <a:r>
              <a:rPr lang="zh-TW" altLang="en" dirty="0"/>
              <a:t>、</a:t>
            </a:r>
            <a:r>
              <a:rPr lang="zh-TW" altLang="en-US" dirty="0"/>
              <a:t>調整 </a:t>
            </a:r>
            <a:r>
              <a:rPr lang="en" altLang="zh-TW" dirty="0"/>
              <a:t>Redis</a:t>
            </a:r>
            <a:r>
              <a:rPr lang="zh-TW" altLang="en" dirty="0"/>
              <a:t>、</a:t>
            </a:r>
            <a:r>
              <a:rPr lang="zh-TW" altLang="en-US" dirty="0"/>
              <a:t>擴充 </a:t>
            </a:r>
            <a:r>
              <a:rPr lang="en" altLang="zh-TW" dirty="0"/>
              <a:t>MongoDB</a:t>
            </a:r>
            <a:r>
              <a:rPr lang="zh-TW" altLang="en" dirty="0"/>
              <a:t>，</a:t>
            </a:r>
            <a:r>
              <a:rPr lang="zh-TW" altLang="en-US" dirty="0"/>
              <a:t>或降低 </a:t>
            </a:r>
            <a:r>
              <a:rPr lang="en" altLang="zh-TW" dirty="0"/>
              <a:t>LLM </a:t>
            </a:r>
            <a:r>
              <a:rPr lang="zh-TW" altLang="en-US" dirty="0"/>
              <a:t>併發量。</a:t>
            </a:r>
          </a:p>
        </p:txBody>
      </p:sp>
    </p:spTree>
    <p:extLst>
      <p:ext uri="{BB962C8B-B14F-4D97-AF65-F5344CB8AC3E}">
        <p14:creationId xmlns:p14="http://schemas.microsoft.com/office/powerpoint/2010/main" val="6901647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最後這一頁我們收斂成建置建議。整體來看，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InfoGather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已經具備正式環境規劃的基礎，但不建議直接沿用目前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8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15 GiB RAM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的單機環境作為正式規格。原因是目前已經有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container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在處理背景工作，而且這些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會共同依賴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Redis/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BullMQ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server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</a:p>
          <a:p>
            <a:pPr marL="158750" indent="0">
              <a:buNone/>
            </a:pP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如果採地端成本優先方案，最低起步建議是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16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64 GiB RAM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 TB SSD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這可以作為正式起步，但要接受單點故障。如果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app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全部同機，保守建議提高到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24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vCPU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64 GiB RAM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</a:p>
          <a:p>
            <a:pPr marL="158750" indent="0">
              <a:buNone/>
            </a:pP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如果採雲端方案，建議使用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containerized app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scheduler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搭配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managed MongoDB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managed Redis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以及獨立的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private endpoint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若目標是正式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SLA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我會比較建議優先考慮雲端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managed services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或是地端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HA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架構，而不是長期停留在單機方案。</a:t>
            </a:r>
          </a:p>
          <a:p>
            <a:pPr marL="158750" indent="0">
              <a:buNone/>
            </a:pPr>
            <a:endParaRPr lang="en-US" altLang="zh-TW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>
              <a:buNone/>
            </a:pP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導入順序可以分四步。第一步，先確認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SLA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RPO/RTO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成本上限，以及到底選地端或雲端。第二步，確認容量基準、</a:t>
            </a:r>
            <a:r>
              <a:rPr lang="en" altLang="zh-TW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BullMQ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retention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 queue depth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failed rate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第三步，建立一個接近正式環境的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staging-like production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而且裡面一定要包含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endpoint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。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第四步，做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ingestion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assistant evaluation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壓測，確認 </a:t>
            </a:r>
            <a:r>
              <a:rPr lang="en-US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個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是否足夠、是否需要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max 20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，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以及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的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HA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或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affinity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是否穩定。正式切換後，再依照監控資料持續調整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worker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Redis</a:t>
            </a:r>
            <a:r>
              <a:rPr lang="zh-TW" altLang="en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、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MongoDB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和 </a:t>
            </a:r>
            <a:r>
              <a:rPr lang="en" altLang="zh-TW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Copilot CLI </a:t>
            </a:r>
            <a:r>
              <a:rPr lang="zh-TW" alt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規格。</a:t>
            </a:r>
          </a:p>
          <a:p>
            <a:pPr marL="158750" indent="0">
              <a:buNone/>
            </a:pP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55850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userDrawn="1">
  <p:cSld name="標題及物件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4"/>
          <p:cNvSpPr txBox="1">
            <a:spLocks noGrp="1"/>
          </p:cNvSpPr>
          <p:nvPr>
            <p:ph type="title"/>
          </p:nvPr>
        </p:nvSpPr>
        <p:spPr>
          <a:xfrm>
            <a:off x="179388" y="72000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38"/>
            <a:ext cx="111617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cxnSp>
        <p:nvCxnSpPr>
          <p:cNvPr id="20" name="Google Shape;20;p34"/>
          <p:cNvCxnSpPr>
            <a:cxnSpLocks/>
          </p:cNvCxnSpPr>
          <p:nvPr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603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oogle Shape;9;p32">
            <a:extLst>
              <a:ext uri="{FF2B5EF4-FFF2-40B4-BE49-F238E27FC236}">
                <a16:creationId xmlns:a16="http://schemas.microsoft.com/office/drawing/2014/main" id="{728D7485-3340-DD7C-9D2E-D9DE76FC1DDB}"/>
              </a:ext>
            </a:extLst>
          </p:cNvPr>
          <p:cNvCxnSpPr>
            <a:cxnSpLocks/>
          </p:cNvCxnSpPr>
          <p:nvPr userDrawn="1"/>
        </p:nvCxnSpPr>
        <p:spPr>
          <a:xfrm>
            <a:off x="1440000" y="2880000"/>
            <a:ext cx="576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Google Shape;10;p32">
            <a:extLst>
              <a:ext uri="{FF2B5EF4-FFF2-40B4-BE49-F238E27FC236}">
                <a16:creationId xmlns:a16="http://schemas.microsoft.com/office/drawing/2014/main" id="{7B925996-2FA7-4A3F-652D-7B1D8634C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576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0000" tIns="46800" rIns="90000" bIns="468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5137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oogle Shape;9;p32"/>
          <p:cNvCxnSpPr>
            <a:cxnSpLocks/>
          </p:cNvCxnSpPr>
          <p:nvPr/>
        </p:nvCxnSpPr>
        <p:spPr>
          <a:xfrm>
            <a:off x="1440000" y="2880000"/>
            <a:ext cx="864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10;p32"/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2"/>
          <p:cNvSpPr txBox="1">
            <a:spLocks noGrp="1"/>
          </p:cNvSpPr>
          <p:nvPr>
            <p:ph type="body" idx="1"/>
          </p:nvPr>
        </p:nvSpPr>
        <p:spPr>
          <a:xfrm>
            <a:off x="1440000" y="4320000"/>
            <a:ext cx="864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  <a:defRPr sz="28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32"/>
          <p:cNvSpPr txBox="1">
            <a:spLocks noGrp="1"/>
          </p:cNvSpPr>
          <p:nvPr>
            <p:ph type="body" idx="2"/>
          </p:nvPr>
        </p:nvSpPr>
        <p:spPr>
          <a:xfrm>
            <a:off x="1440000" y="5040000"/>
            <a:ext cx="86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Microsoft JhengHei"/>
              <a:buNone/>
              <a:defRPr sz="1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兩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9;p49">
            <a:extLst>
              <a:ext uri="{FF2B5EF4-FFF2-40B4-BE49-F238E27FC236}">
                <a16:creationId xmlns:a16="http://schemas.microsoft.com/office/drawing/2014/main" id="{4B1AA4F1-C32F-CE82-074E-09C5168186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9388" y="71438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cxnSp>
        <p:nvCxnSpPr>
          <p:cNvPr id="6" name="Google Shape;30;p49">
            <a:extLst>
              <a:ext uri="{FF2B5EF4-FFF2-40B4-BE49-F238E27FC236}">
                <a16:creationId xmlns:a16="http://schemas.microsoft.com/office/drawing/2014/main" id="{29CA88E3-41D3-FF37-BF7E-B456D3066D29}"/>
              </a:ext>
            </a:extLst>
          </p:cNvPr>
          <p:cNvCxnSpPr>
            <a:cxnSpLocks/>
          </p:cNvCxnSpPr>
          <p:nvPr userDrawn="1"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" name="Google Shape;19;p34">
            <a:extLst>
              <a:ext uri="{FF2B5EF4-FFF2-40B4-BE49-F238E27FC236}">
                <a16:creationId xmlns:a16="http://schemas.microsoft.com/office/drawing/2014/main" id="{E8E59DF3-723D-F8D2-F968-6FCDA67BCDDC}"/>
              </a:ext>
            </a:extLst>
          </p:cNvPr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49"/>
            <a:ext cx="54721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sp>
        <p:nvSpPr>
          <p:cNvPr id="7" name="Google Shape;19;p34">
            <a:extLst>
              <a:ext uri="{FF2B5EF4-FFF2-40B4-BE49-F238E27FC236}">
                <a16:creationId xmlns:a16="http://schemas.microsoft.com/office/drawing/2014/main" id="{AB88F2E6-F0E1-9028-69C7-33CBCB9759A2}"/>
              </a:ext>
            </a:extLst>
          </p:cNvPr>
          <p:cNvSpPr txBox="1">
            <a:spLocks noGrp="1"/>
          </p:cNvSpPr>
          <p:nvPr>
            <p:ph type="body" idx="10" hasCustomPrompt="1"/>
          </p:nvPr>
        </p:nvSpPr>
        <p:spPr>
          <a:xfrm>
            <a:off x="5868990" y="719149"/>
            <a:ext cx="54721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zh-TW" altLang="en-US" sz="16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zh-TW" altLang="en-US" sz="14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zh-TW" altLang="en-US" sz="12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zh-TW" altLang="en-US" sz="10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lang="en-US" altLang="zh-TW" sz="800" b="0" i="0" u="none" strike="noStrike" cap="none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1650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64E9B3DD-FAA0-DF43-8AE4-2105CE51701D}"/>
              </a:ext>
            </a:extLst>
          </p:cNvPr>
          <p:cNvSpPr txBox="1"/>
          <p:nvPr userDrawn="1"/>
        </p:nvSpPr>
        <p:spPr>
          <a:xfrm>
            <a:off x="604826" y="608597"/>
            <a:ext cx="1031083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96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Template Version</a:t>
            </a:r>
          </a:p>
          <a:p>
            <a:pPr algn="ctr"/>
            <a:r>
              <a:rPr kumimoji="1" lang="en-US" altLang="zh-TW" sz="240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v7.1</a:t>
            </a:r>
            <a:endParaRPr kumimoji="1" lang="zh-TW" altLang="en-US" sz="2400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89105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31D3636-C8D9-A34B-A3BF-045464A9529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94000"/>
            <a:ext cx="4406303" cy="705606"/>
          </a:xfrm>
          <a:prstGeom prst="rect">
            <a:avLst/>
          </a:prstGeom>
        </p:spPr>
      </p:pic>
      <p:sp>
        <p:nvSpPr>
          <p:cNvPr id="6" name="Google Shape;6;p31"/>
          <p:cNvSpPr/>
          <p:nvPr/>
        </p:nvSpPr>
        <p:spPr>
          <a:xfrm>
            <a:off x="0" y="6237968"/>
            <a:ext cx="381603" cy="242207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88150" tIns="44050" rIns="88150" bIns="44050" anchor="b" anchorCtr="0">
            <a:spAutoFit/>
          </a:bodyPr>
          <a:lstStyle/>
          <a:p>
            <a:pPr marL="0" marR="0" lvl="0" indent="0" algn="ctr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zh-TW" sz="1200" b="0" i="0" u="none" strike="noStrike" cap="none" smtClean="0">
                <a:solidFill>
                  <a:schemeClr val="dk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pPr marL="0" marR="0" lvl="0" indent="0" algn="ctr" rtl="0">
                <a:lnSpc>
                  <a:spcPct val="83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D86D7F2-4668-134E-BDFC-689955836914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000" y="6156000"/>
            <a:ext cx="2462731" cy="29122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2DBFD30-7CBC-FF44-A3CD-E1370C8D3C2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62000" y="6228000"/>
            <a:ext cx="1636426" cy="206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6400" tIns="43200" rIns="86400" bIns="43200" anchor="ctr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9pPr>
          </a:lstStyle>
          <a:p>
            <a:pPr algn="ctr" eaLnBrk="1" hangingPunct="1">
              <a:lnSpc>
                <a:spcPts val="964"/>
              </a:lnSpc>
              <a:defRPr/>
            </a:pPr>
            <a:r>
              <a:rPr lang="zh-TW" altLang="en-US" sz="800" b="0">
                <a:solidFill>
                  <a:srgbClr val="B2B2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機密資料僅限永豐金控內部使用 </a:t>
            </a:r>
            <a:endParaRPr lang="en-US" altLang="zh-TW" sz="800" b="0">
              <a:solidFill>
                <a:srgbClr val="B2B2B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8" r:id="rId2"/>
    <p:sldLayoutId id="2147483657" r:id="rId3"/>
    <p:sldLayoutId id="2147483649" r:id="rId4"/>
    <p:sldLayoutId id="2147483659" r:id="rId5"/>
    <p:sldLayoutId id="2147483654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97" userDrawn="1">
          <p15:clr>
            <a:srgbClr val="A4A3A4"/>
          </p15:clr>
        </p15:guide>
        <p15:guide id="3" pos="7144" userDrawn="1">
          <p15:clr>
            <a:srgbClr val="A4A3A4"/>
          </p15:clr>
        </p15:guide>
        <p15:guide id="4" pos="113" userDrawn="1">
          <p15:clr>
            <a:srgbClr val="A4A3A4"/>
          </p15:clr>
        </p15:guide>
        <p15:guide id="5" orient="horz" pos="3855" userDrawn="1">
          <p15:clr>
            <a:srgbClr val="A4A3A4"/>
          </p15:clr>
        </p15:guide>
        <p15:guide id="6" orient="horz" pos="45" userDrawn="1">
          <p15:clr>
            <a:srgbClr val="A4A3A4"/>
          </p15:clr>
        </p15:guide>
        <p15:guide id="11" pos="3629" userDrawn="1">
          <p15:clr>
            <a:srgbClr val="F26B43"/>
          </p15:clr>
        </p15:guide>
        <p15:guide id="12" pos="3560" userDrawn="1">
          <p15:clr>
            <a:srgbClr val="A4A3A4"/>
          </p15:clr>
        </p15:guide>
        <p15:guide id="13" pos="2495" userDrawn="1">
          <p15:clr>
            <a:srgbClr val="A4A3A4"/>
          </p15:clr>
        </p15:guide>
        <p15:guide id="14" pos="2381" userDrawn="1">
          <p15:clr>
            <a:srgbClr val="A4A3A4"/>
          </p15:clr>
        </p15:guide>
        <p15:guide id="15" pos="4762" userDrawn="1">
          <p15:clr>
            <a:srgbClr val="A4A3A4"/>
          </p15:clr>
        </p15:guide>
        <p15:guide id="16" pos="4876" userDrawn="1">
          <p15:clr>
            <a:srgbClr val="A4A3A4"/>
          </p15:clr>
        </p15:guide>
        <p15:guide id="18" orient="horz" pos="385" userDrawn="1">
          <p15:clr>
            <a:srgbClr val="A4A3A4"/>
          </p15:clr>
        </p15:guide>
        <p15:guide id="19" orient="horz" pos="4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title"/>
          </p:nvPr>
        </p:nvSpPr>
        <p:spPr>
          <a:xfrm>
            <a:off x="1440000" y="20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r>
              <a:rPr lang="en-US" altLang="zh-TW" b="1" dirty="0" err="1"/>
              <a:t>InfoGather</a:t>
            </a:r>
            <a:endParaRPr lang="zh-TW" altLang="en-US"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lang="zh-TW" altLang="en-US" sz="2800" b="0" dirty="0"/>
              <a:t>數位科技處</a:t>
            </a:r>
            <a:endParaRPr sz="2800" b="0" dirty="0"/>
          </a:p>
        </p:txBody>
      </p:sp>
      <p:sp>
        <p:nvSpPr>
          <p:cNvPr id="38" name="Google Shape;38;p1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TW" sz="1600" b="0" dirty="0"/>
              <a:t>2026.06.03</a:t>
            </a:r>
            <a:endParaRPr lang="en-US" sz="1600" b="0" dirty="0"/>
          </a:p>
        </p:txBody>
      </p:sp>
      <p:sp>
        <p:nvSpPr>
          <p:cNvPr id="2" name="Google Shape;36;p1">
            <a:extLst>
              <a:ext uri="{FF2B5EF4-FFF2-40B4-BE49-F238E27FC236}">
                <a16:creationId xmlns:a16="http://schemas.microsoft.com/office/drawing/2014/main" id="{54650CD5-C1B9-D7DB-46A1-AE5D76D77848}"/>
              </a:ext>
            </a:extLst>
          </p:cNvPr>
          <p:cNvSpPr txBox="1">
            <a:spLocks/>
          </p:cNvSpPr>
          <p:nvPr/>
        </p:nvSpPr>
        <p:spPr>
          <a:xfrm>
            <a:off x="1440000" y="29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zh-TW" altLang="en-US" b="1" dirty="0"/>
              <a:t>正式環境資源與系統架構提案</a:t>
            </a:r>
            <a:endParaRPr 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801ACD8A-4D12-CEB7-1EE7-0B401E349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專案技術堆疊與系統邊界概覽</a:t>
            </a:r>
            <a:endParaRPr lang="zh-TW" altLang="en-US" dirty="0"/>
          </a:p>
        </p:txBody>
      </p:sp>
      <p:pic>
        <p:nvPicPr>
          <p:cNvPr id="10" name="圖片 9" descr="一張含有 文字, 圖表, 行, 方案 的圖片&#10;&#10;AI 產生的內容可能不正確。">
            <a:extLst>
              <a:ext uri="{FF2B5EF4-FFF2-40B4-BE49-F238E27FC236}">
                <a16:creationId xmlns:a16="http://schemas.microsoft.com/office/drawing/2014/main" id="{F4F6C02F-3991-F4E0-5DD5-F1AA1480B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1547" y="1170087"/>
            <a:ext cx="6158941" cy="4140000"/>
          </a:xfrm>
          <a:prstGeom prst="rect">
            <a:avLst/>
          </a:prstGeom>
        </p:spPr>
      </p:pic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CFB29A8E-2079-83BF-B28C-C814D2CC00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648472"/>
              </p:ext>
            </p:extLst>
          </p:nvPr>
        </p:nvGraphicFramePr>
        <p:xfrm>
          <a:off x="360000" y="900002"/>
          <a:ext cx="4320000" cy="4410087"/>
        </p:xfrm>
        <a:graphic>
          <a:graphicData uri="http://schemas.openxmlformats.org/drawingml/2006/table">
            <a:tbl>
              <a:tblPr/>
              <a:tblGrid>
                <a:gridCol w="1568870">
                  <a:extLst>
                    <a:ext uri="{9D8B030D-6E8A-4147-A177-3AD203B41FA5}">
                      <a16:colId xmlns:a16="http://schemas.microsoft.com/office/drawing/2014/main" val="3834313168"/>
                    </a:ext>
                  </a:extLst>
                </a:gridCol>
                <a:gridCol w="2751130">
                  <a:extLst>
                    <a:ext uri="{9D8B030D-6E8A-4147-A177-3AD203B41FA5}">
                      <a16:colId xmlns:a16="http://schemas.microsoft.com/office/drawing/2014/main" val="1878565637"/>
                    </a:ext>
                  </a:extLst>
                </a:gridCol>
              </a:tblGrid>
              <a:tr h="366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層級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技術 </a:t>
                      </a:r>
                      <a:r>
                        <a:rPr lang="en-US" altLang="zh-TW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7186625"/>
                  </a:ext>
                </a:extLst>
              </a:tr>
              <a:tr h="366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Frontend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Angular SPA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551253"/>
                  </a:ext>
                </a:extLst>
              </a:tr>
              <a:tr h="366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Backend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/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NestJS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API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2187132"/>
                  </a:ext>
                </a:extLst>
              </a:tr>
              <a:tr h="366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Monorepo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Nx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+ TypeScript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9358494"/>
                  </a:ext>
                </a:extLst>
              </a:tr>
              <a:tr h="4925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Database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+ Mongoose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207332"/>
                  </a:ext>
                </a:extLst>
              </a:tr>
              <a:tr h="366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 +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BullMQ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6940464"/>
                  </a:ext>
                </a:extLst>
              </a:tr>
              <a:tr h="6525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Background runtime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 + worker pool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9180048"/>
                  </a:ext>
                </a:extLst>
              </a:tr>
              <a:tr h="9383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runtime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 + </a:t>
                      </a:r>
                    </a:p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OpenAI-compatible BYOK provider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674035"/>
                  </a:ext>
                </a:extLst>
              </a:tr>
              <a:tr h="4925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Deployment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Docker containers</a:t>
                      </a:r>
                    </a:p>
                  </a:txBody>
                  <a:tcPr marL="74988" marR="74988" marT="34610" marB="3461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14432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090846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53C80681-C176-4267-4BE3-B996573AA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現行環境盤點與容量基準</a:t>
            </a:r>
            <a:endParaRPr lang="zh-TW" altLang="en-US" dirty="0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3C3EFA68-764E-6DB1-61B1-CD86F6B7A3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617564"/>
              </p:ext>
            </p:extLst>
          </p:nvPr>
        </p:nvGraphicFramePr>
        <p:xfrm>
          <a:off x="360000" y="900000"/>
          <a:ext cx="6621268" cy="4316916"/>
        </p:xfrm>
        <a:graphic>
          <a:graphicData uri="http://schemas.openxmlformats.org/drawingml/2006/table">
            <a:tbl>
              <a:tblPr/>
              <a:tblGrid>
                <a:gridCol w="2367973">
                  <a:extLst>
                    <a:ext uri="{9D8B030D-6E8A-4147-A177-3AD203B41FA5}">
                      <a16:colId xmlns:a16="http://schemas.microsoft.com/office/drawing/2014/main" val="3248524934"/>
                    </a:ext>
                  </a:extLst>
                </a:gridCol>
                <a:gridCol w="4253295">
                  <a:extLst>
                    <a:ext uri="{9D8B030D-6E8A-4147-A177-3AD203B41FA5}">
                      <a16:colId xmlns:a16="http://schemas.microsoft.com/office/drawing/2014/main" val="1726863037"/>
                    </a:ext>
                  </a:extLst>
                </a:gridCol>
              </a:tblGrid>
              <a:tr h="29565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項目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目前觀測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7234323"/>
                  </a:ext>
                </a:extLst>
              </a:tr>
              <a:tr h="29565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主機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CPU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 vCPU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100606"/>
                  </a:ext>
                </a:extLst>
              </a:tr>
              <a:tr h="48817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主機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RAM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15 GiB total /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3.4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available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044234"/>
                  </a:ext>
                </a:extLst>
              </a:tr>
              <a:tr h="29565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CPU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型號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Intel Xeon Gold 6444Y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9800794"/>
                  </a:ext>
                </a:extLst>
              </a:tr>
              <a:tr h="48817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app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container，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104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 RAM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4536929"/>
                  </a:ext>
                </a:extLst>
              </a:tr>
              <a:tr h="48817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scheduler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container，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42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 RAM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7595766"/>
                  </a:ext>
                </a:extLst>
              </a:tr>
              <a:tr h="48817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worker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10 containers，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單個約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88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116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 RAM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4842820"/>
                  </a:ext>
                </a:extLst>
              </a:tr>
              <a:tr h="48817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container，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294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 RAM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1724784"/>
                  </a:ext>
                </a:extLst>
              </a:tr>
              <a:tr h="295652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container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1.53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2008894"/>
                  </a:ext>
                </a:extLst>
              </a:tr>
              <a:tr h="48817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 container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3.49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RAM，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單次取樣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CPU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94%</a:t>
                      </a:r>
                    </a:p>
                  </a:txBody>
                  <a:tcPr marL="111729" marR="111729" marT="51567" marB="51567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3438439"/>
                  </a:ext>
                </a:extLst>
              </a:tr>
            </a:tbl>
          </a:graphicData>
        </a:graphic>
      </p:graphicFrame>
      <p:pic>
        <p:nvPicPr>
          <p:cNvPr id="10" name="圖片 9" descr="一張含有 文字, 圖表, 螢幕擷取畫面, 行 的圖片&#10;&#10;AI 產生的內容可能不正確。">
            <a:extLst>
              <a:ext uri="{FF2B5EF4-FFF2-40B4-BE49-F238E27FC236}">
                <a16:creationId xmlns:a16="http://schemas.microsoft.com/office/drawing/2014/main" id="{F6E77F68-FF1D-679C-F0FF-7D32F5C644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4702" y="684283"/>
            <a:ext cx="4228302" cy="54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0408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0542C68-8839-9A8B-97D9-D0C57708D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平台資料規模現況 </a:t>
            </a:r>
            <a:r>
              <a:rPr lang="en-US" altLang="zh-TW" b="1" dirty="0"/>
              <a:t>(2026/6/1)</a:t>
            </a:r>
            <a:endParaRPr lang="zh-TW" altLang="en-US" dirty="0"/>
          </a:p>
        </p:txBody>
      </p:sp>
      <p:pic>
        <p:nvPicPr>
          <p:cNvPr id="5" name="圖片 4" descr="一張含有 文字, 圖表, 圓形, 螢幕擷取畫面 的圖片&#10;&#10;AI 產生的內容可能不正確。">
            <a:extLst>
              <a:ext uri="{FF2B5EF4-FFF2-40B4-BE49-F238E27FC236}">
                <a16:creationId xmlns:a16="http://schemas.microsoft.com/office/drawing/2014/main" id="{E41E590A-3389-EB08-1312-A5A30E14A9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1100" y="1398131"/>
            <a:ext cx="5760000" cy="3683911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5E75A55E-A3FE-54A3-470F-15C8E7332C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3614444"/>
              </p:ext>
            </p:extLst>
          </p:nvPr>
        </p:nvGraphicFramePr>
        <p:xfrm>
          <a:off x="360000" y="900000"/>
          <a:ext cx="5035552" cy="4734930"/>
        </p:xfrm>
        <a:graphic>
          <a:graphicData uri="http://schemas.openxmlformats.org/drawingml/2006/table">
            <a:tbl>
              <a:tblPr/>
              <a:tblGrid>
                <a:gridCol w="2670686">
                  <a:extLst>
                    <a:ext uri="{9D8B030D-6E8A-4147-A177-3AD203B41FA5}">
                      <a16:colId xmlns:a16="http://schemas.microsoft.com/office/drawing/2014/main" val="259132352"/>
                    </a:ext>
                  </a:extLst>
                </a:gridCol>
                <a:gridCol w="2364866">
                  <a:extLst>
                    <a:ext uri="{9D8B030D-6E8A-4147-A177-3AD203B41FA5}">
                      <a16:colId xmlns:a16="http://schemas.microsoft.com/office/drawing/2014/main" val="3310965031"/>
                    </a:ext>
                  </a:extLst>
                </a:gridCol>
              </a:tblGrid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資料類型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數量 </a:t>
                      </a:r>
                      <a:r>
                        <a:rPr lang="en-US" altLang="zh-TW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用量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0475173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collections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7440520"/>
                  </a:ext>
                </a:extLst>
              </a:tr>
              <a:tr h="5123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documents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1,113,082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3184062"/>
                  </a:ext>
                </a:extLst>
              </a:tr>
              <a:tr h="5123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logical data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934.84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4743495"/>
                  </a:ext>
                </a:extLst>
              </a:tr>
              <a:tr h="5255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storage + indexes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1.36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5244651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使用者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users</a:t>
                      </a:r>
                      <a:endParaRPr lang="zh-TW" altLang="en-US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172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1175309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工作空間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workspaces </a:t>
                      </a:r>
                      <a:endParaRPr lang="zh-TW" altLang="en-US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4755333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資料來源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176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，其中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159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active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6874716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資訊助手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41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，其中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38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active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25383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文章總數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articles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246,876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029550"/>
                  </a:ext>
                </a:extLst>
              </a:tr>
              <a:tr h="2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收錄總數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assistantarticles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859,775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9509251"/>
                  </a:ext>
                </a:extLst>
              </a:tr>
              <a:tr h="3168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通知數量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notifications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2,662</a:t>
                      </a:r>
                    </a:p>
                  </a:txBody>
                  <a:tcPr marL="111357" marR="111357" marT="51395" marB="51395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09579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69290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33837FF0-BD18-E34D-7D90-7289CB4396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資料成長趨勢與負載來源分析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147A043A-80A9-E93B-98A0-73950A1BB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zh-TW" altLang="en-US" b="1" dirty="0"/>
              <a:t>近 </a:t>
            </a:r>
            <a:r>
              <a:rPr lang="en-US" altLang="zh-TW" b="1" dirty="0"/>
              <a:t>7 </a:t>
            </a:r>
            <a:r>
              <a:rPr lang="zh-TW" altLang="en-US" b="1" dirty="0"/>
              <a:t>天文章分布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A9527EF-1F7D-4C3D-9EB2-DB4E2DD17A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4283255"/>
              </p:ext>
            </p:extLst>
          </p:nvPr>
        </p:nvGraphicFramePr>
        <p:xfrm>
          <a:off x="360000" y="900000"/>
          <a:ext cx="4582044" cy="2407920"/>
        </p:xfrm>
        <a:graphic>
          <a:graphicData uri="http://schemas.openxmlformats.org/drawingml/2006/table">
            <a:tbl>
              <a:tblPr/>
              <a:tblGrid>
                <a:gridCol w="1145511">
                  <a:extLst>
                    <a:ext uri="{9D8B030D-6E8A-4147-A177-3AD203B41FA5}">
                      <a16:colId xmlns:a16="http://schemas.microsoft.com/office/drawing/2014/main" val="1443164175"/>
                    </a:ext>
                  </a:extLst>
                </a:gridCol>
                <a:gridCol w="1145511">
                  <a:extLst>
                    <a:ext uri="{9D8B030D-6E8A-4147-A177-3AD203B41FA5}">
                      <a16:colId xmlns:a16="http://schemas.microsoft.com/office/drawing/2014/main" val="3297387404"/>
                    </a:ext>
                  </a:extLst>
                </a:gridCol>
                <a:gridCol w="1145511">
                  <a:extLst>
                    <a:ext uri="{9D8B030D-6E8A-4147-A177-3AD203B41FA5}">
                      <a16:colId xmlns:a16="http://schemas.microsoft.com/office/drawing/2014/main" val="838764606"/>
                    </a:ext>
                  </a:extLst>
                </a:gridCol>
                <a:gridCol w="1145511">
                  <a:extLst>
                    <a:ext uri="{9D8B030D-6E8A-4147-A177-3AD203B41FA5}">
                      <a16:colId xmlns:a16="http://schemas.microsoft.com/office/drawing/2014/main" val="77401749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7 </a:t>
                      </a: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近 </a:t>
                      </a:r>
                      <a:r>
                        <a:rPr lang="en-US" altLang="zh-TW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30 </a:t>
                      </a: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4329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articles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3,163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37,432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103,698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23046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assistantarticles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8,490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132,961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418,290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43621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users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-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11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40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418439"/>
                  </a:ext>
                </a:extLst>
              </a:tr>
            </a:tbl>
          </a:graphicData>
        </a:graphic>
      </p:graphicFrame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FE0FCCE8-9462-5EE5-3660-2FD97FD3C1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239204"/>
              </p:ext>
            </p:extLst>
          </p:nvPr>
        </p:nvGraphicFramePr>
        <p:xfrm>
          <a:off x="360000" y="4140000"/>
          <a:ext cx="4582044" cy="1432560"/>
        </p:xfrm>
        <a:graphic>
          <a:graphicData uri="http://schemas.openxmlformats.org/drawingml/2006/table">
            <a:tbl>
              <a:tblPr/>
              <a:tblGrid>
                <a:gridCol w="2291022">
                  <a:extLst>
                    <a:ext uri="{9D8B030D-6E8A-4147-A177-3AD203B41FA5}">
                      <a16:colId xmlns:a16="http://schemas.microsoft.com/office/drawing/2014/main" val="3890450412"/>
                    </a:ext>
                  </a:extLst>
                </a:gridCol>
                <a:gridCol w="2291022">
                  <a:extLst>
                    <a:ext uri="{9D8B030D-6E8A-4147-A177-3AD203B41FA5}">
                      <a16:colId xmlns:a16="http://schemas.microsoft.com/office/drawing/2014/main" val="42031947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來源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新增文章數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367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RSS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31,035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81563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Infominer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5,803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61563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Search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594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6223953"/>
                  </a:ext>
                </a:extLst>
              </a:tr>
            </a:tbl>
          </a:graphicData>
        </a:graphic>
      </p:graphicFrame>
      <p:pic>
        <p:nvPicPr>
          <p:cNvPr id="12" name="圖片 11" descr="一張含有 文字, 螢幕擷取畫面, 行, 圖表 的圖片&#10;&#10;AI 產生的內容可能不正確。">
            <a:extLst>
              <a:ext uri="{FF2B5EF4-FFF2-40B4-BE49-F238E27FC236}">
                <a16:creationId xmlns:a16="http://schemas.microsoft.com/office/drawing/2014/main" id="{B45136C2-2149-4ACA-E062-C3AC83ECC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488" y="907920"/>
            <a:ext cx="5760000" cy="4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589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5041E92-989B-9A46-146E-0975F6E83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背景處理流程與 </a:t>
            </a:r>
            <a:r>
              <a:rPr lang="en" altLang="zh-TW" b="1" dirty="0"/>
              <a:t>Worker </a:t>
            </a:r>
            <a:r>
              <a:rPr lang="zh-TW" altLang="en-US" b="1" dirty="0"/>
              <a:t>併發模型</a:t>
            </a:r>
          </a:p>
        </p:txBody>
      </p:sp>
      <p:pic>
        <p:nvPicPr>
          <p:cNvPr id="8" name="圖片 7" descr="一張含有 文字, 收據, 行, 螢幕擷取畫面 的圖片&#10;&#10;AI 產生的內容可能不正確。">
            <a:extLst>
              <a:ext uri="{FF2B5EF4-FFF2-40B4-BE49-F238E27FC236}">
                <a16:creationId xmlns:a16="http://schemas.microsoft.com/office/drawing/2014/main" id="{B7212FA8-44FB-AD02-A86A-6E3FB5D26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388" y="1155153"/>
            <a:ext cx="11161712" cy="452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67429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3B69F-5174-A6B4-2FBE-79580190E0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E5B19756-50D1-C758-BC5D-212204A71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altLang="zh-TW" b="1" dirty="0"/>
              <a:t>Copilot CLI Server </a:t>
            </a:r>
            <a:r>
              <a:rPr lang="zh-TW" altLang="en-US" b="1" dirty="0"/>
              <a:t>與 </a:t>
            </a:r>
            <a:r>
              <a:rPr lang="en" altLang="zh-TW" b="1" dirty="0"/>
              <a:t>LLM Runtime </a:t>
            </a:r>
            <a:r>
              <a:rPr lang="zh-TW" altLang="en-US" b="1" dirty="0"/>
              <a:t>架構依賴</a:t>
            </a:r>
            <a:endParaRPr lang="zh-TW" altLang="en-US" dirty="0"/>
          </a:p>
        </p:txBody>
      </p:sp>
      <p:pic>
        <p:nvPicPr>
          <p:cNvPr id="3" name="圖片 2" descr="一張含有 文字, 行, 圖表, 字型 的圖片&#10;&#10;AI 產生的內容可能不正確。">
            <a:extLst>
              <a:ext uri="{FF2B5EF4-FFF2-40B4-BE49-F238E27FC236}">
                <a16:creationId xmlns:a16="http://schemas.microsoft.com/office/drawing/2014/main" id="{C6C17537-D257-2967-CC17-7F34ABDE5F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5" y="1119739"/>
            <a:ext cx="11163878" cy="4240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0050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65A66-D067-312F-6F8C-15BF5B0ABE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BBA14674-C702-8CD8-F724-D35985064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容量估算模型與正式規格推導</a:t>
            </a:r>
            <a:endParaRPr lang="zh-TW" altLang="en-US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6BE2AF2-DF98-D750-791B-677C61E8D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7355347"/>
              </p:ext>
            </p:extLst>
          </p:nvPr>
        </p:nvGraphicFramePr>
        <p:xfrm>
          <a:off x="270244" y="959192"/>
          <a:ext cx="10980000" cy="5040001"/>
        </p:xfrm>
        <a:graphic>
          <a:graphicData uri="http://schemas.openxmlformats.org/drawingml/2006/table">
            <a:tbl>
              <a:tblPr/>
              <a:tblGrid>
                <a:gridCol w="1612659">
                  <a:extLst>
                    <a:ext uri="{9D8B030D-6E8A-4147-A177-3AD203B41FA5}">
                      <a16:colId xmlns:a16="http://schemas.microsoft.com/office/drawing/2014/main" val="2123368786"/>
                    </a:ext>
                  </a:extLst>
                </a:gridCol>
                <a:gridCol w="3122447">
                  <a:extLst>
                    <a:ext uri="{9D8B030D-6E8A-4147-A177-3AD203B41FA5}">
                      <a16:colId xmlns:a16="http://schemas.microsoft.com/office/drawing/2014/main" val="1069270127"/>
                    </a:ext>
                  </a:extLst>
                </a:gridCol>
                <a:gridCol w="3122447">
                  <a:extLst>
                    <a:ext uri="{9D8B030D-6E8A-4147-A177-3AD203B41FA5}">
                      <a16:colId xmlns:a16="http://schemas.microsoft.com/office/drawing/2014/main" val="1248998521"/>
                    </a:ext>
                  </a:extLst>
                </a:gridCol>
                <a:gridCol w="3122447">
                  <a:extLst>
                    <a:ext uri="{9D8B030D-6E8A-4147-A177-3AD203B41FA5}">
                      <a16:colId xmlns:a16="http://schemas.microsoft.com/office/drawing/2014/main" val="3028758474"/>
                    </a:ext>
                  </a:extLst>
                </a:gridCol>
              </a:tblGrid>
              <a:tr h="3264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估算面向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現況基準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正式環境推導方式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規格影響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0202012"/>
                  </a:ext>
                </a:extLst>
              </a:tr>
              <a:tr h="5768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主機基準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 vCPU /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15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現況只作參考，不直接作為正式規格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正式環境需預留尖峰、備援與維運空間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474158"/>
                  </a:ext>
                </a:extLst>
              </a:tr>
              <a:tr h="827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背景併發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10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個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 container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以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desired 10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為常態吞吐量，保留擴到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20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的空間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影響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CPU、Redis queue、MongoDB connections、LLM request rate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214502"/>
                  </a:ext>
                </a:extLst>
              </a:tr>
              <a:tr h="827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資料庫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physical size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1.36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GiB，indexes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824.84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以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working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set、index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growth、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備份與查詢延遲估算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影響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RAM、IOPS、storage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與備份容量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0958491"/>
                  </a:ext>
                </a:extLst>
              </a:tr>
              <a:tr h="827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 current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34.35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MiB，peak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3.71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以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retention、backlog、failed jobs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depth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設計容量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影響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 RAM、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持久化與告警門檻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3195975"/>
                  </a:ext>
                </a:extLst>
              </a:tr>
              <a:tr h="827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runtime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idle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約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294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MiB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不用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idle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值估算，改以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尖峰與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HA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規劃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影響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CPU/RAM、replicas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private endpoint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設計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7405971"/>
                  </a:ext>
                </a:extLst>
              </a:tr>
              <a:tr h="8273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可用性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單機開發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準正式基準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依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SLA、RPO/RTO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與是否接受單點故障決定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影響節點數、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replica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set、Redis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HA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與備份策略</a:t>
                      </a:r>
                    </a:p>
                  </a:txBody>
                  <a:tcPr marL="80209" marR="80209" marT="37019" marB="370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495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7096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0D8E7-39C8-1526-3062-EBAE24F9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標題 5">
            <a:extLst>
              <a:ext uri="{FF2B5EF4-FFF2-40B4-BE49-F238E27FC236}">
                <a16:creationId xmlns:a16="http://schemas.microsoft.com/office/drawing/2014/main" id="{DD6A2B2A-31CB-BCB5-B060-583EF6320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地端正式環境目標架構</a:t>
            </a:r>
            <a:endParaRPr lang="zh-TW" altLang="en-US" dirty="0"/>
          </a:p>
        </p:txBody>
      </p:sp>
      <p:pic>
        <p:nvPicPr>
          <p:cNvPr id="9" name="圖片 8" descr="一張含有 圖表, 文字, 行, 字型 的圖片&#10;&#10;AI 產生的內容可能不正確。">
            <a:extLst>
              <a:ext uri="{FF2B5EF4-FFF2-40B4-BE49-F238E27FC236}">
                <a16:creationId xmlns:a16="http://schemas.microsoft.com/office/drawing/2014/main" id="{3A3EF873-ADCA-13F9-F1DD-9B81D43539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388" y="710474"/>
            <a:ext cx="11155919" cy="5308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925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E523D7-1DBB-94F3-0598-5F448DDD3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地端硬體資源配置建議</a:t>
            </a:r>
            <a:endParaRPr lang="zh-TW" altLang="en-US" dirty="0"/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11C676A0-063F-C6DC-B2AD-9E14D53EF7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1" dirty="0"/>
              <a:t>單機正式起步，成本優先</a:t>
            </a:r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DB13F6A7-99BC-8B3D-3226-1AF992300943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lang="zh-TW" altLang="en-US" b="1" dirty="0"/>
              <a:t>高可用正式版，建議目標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12F0E2C9-9145-83CA-8603-270C7A6148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1614102"/>
              </p:ext>
            </p:extLst>
          </p:nvPr>
        </p:nvGraphicFramePr>
        <p:xfrm>
          <a:off x="507478" y="1286994"/>
          <a:ext cx="4819896" cy="3474016"/>
        </p:xfrm>
        <a:graphic>
          <a:graphicData uri="http://schemas.openxmlformats.org/drawingml/2006/table">
            <a:tbl>
              <a:tblPr/>
              <a:tblGrid>
                <a:gridCol w="1866932">
                  <a:extLst>
                    <a:ext uri="{9D8B030D-6E8A-4147-A177-3AD203B41FA5}">
                      <a16:colId xmlns:a16="http://schemas.microsoft.com/office/drawing/2014/main" val="56781804"/>
                    </a:ext>
                  </a:extLst>
                </a:gridCol>
                <a:gridCol w="2952964">
                  <a:extLst>
                    <a:ext uri="{9D8B030D-6E8A-4147-A177-3AD203B41FA5}">
                      <a16:colId xmlns:a16="http://schemas.microsoft.com/office/drawing/2014/main" val="753797986"/>
                    </a:ext>
                  </a:extLst>
                </a:gridCol>
              </a:tblGrid>
              <a:tr h="32740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建議規格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523034"/>
                  </a:ext>
                </a:extLst>
              </a:tr>
              <a:tr h="32740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主機，最低可用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 vCPU / 64 GiB RAM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853832"/>
                  </a:ext>
                </a:extLst>
              </a:tr>
              <a:tr h="390245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主機，同機保守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24 vCPU / 64 GiB RAM，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適用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</a:t>
                      </a:r>
                      <a:r>
                        <a:rPr lang="en" sz="14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CLI、MongoDB、Redis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10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全部同機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1430596"/>
                  </a:ext>
                </a:extLst>
              </a:tr>
              <a:tr h="32740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磁碟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TB SSD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4844085"/>
                  </a:ext>
                </a:extLst>
              </a:tr>
              <a:tr h="248619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10 containers，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每個預留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0.5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512 MiB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057500"/>
                  </a:ext>
                </a:extLst>
              </a:tr>
              <a:tr h="382716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預留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2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RAM；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若高可用則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instances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9105535"/>
                  </a:ext>
                </a:extLst>
              </a:tr>
              <a:tr h="32740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預留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5676398"/>
                  </a:ext>
                </a:extLst>
              </a:tr>
              <a:tr h="327407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sz="14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預留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 </a:t>
                      </a:r>
                      <a:r>
                        <a:rPr lang="zh-TW" altLang="en-US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 </a:t>
                      </a:r>
                      <a:r>
                        <a:rPr lang="en" sz="14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123729" marR="123729" marT="57106" marB="5710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3383062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123E37C-203B-29E5-D060-46ECDDADF6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78684"/>
              </p:ext>
            </p:extLst>
          </p:nvPr>
        </p:nvGraphicFramePr>
        <p:xfrm>
          <a:off x="6193360" y="1286994"/>
          <a:ext cx="4819650" cy="3360420"/>
        </p:xfrm>
        <a:graphic>
          <a:graphicData uri="http://schemas.openxmlformats.org/drawingml/2006/table">
            <a:tbl>
              <a:tblPr/>
              <a:tblGrid>
                <a:gridCol w="2119709">
                  <a:extLst>
                    <a:ext uri="{9D8B030D-6E8A-4147-A177-3AD203B41FA5}">
                      <a16:colId xmlns:a16="http://schemas.microsoft.com/office/drawing/2014/main" val="631541485"/>
                    </a:ext>
                  </a:extLst>
                </a:gridCol>
                <a:gridCol w="2699941">
                  <a:extLst>
                    <a:ext uri="{9D8B030D-6E8A-4147-A177-3AD203B41FA5}">
                      <a16:colId xmlns:a16="http://schemas.microsoft.com/office/drawing/2014/main" val="399202275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層級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建議規格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61427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App/Worker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節點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 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台，每台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32 GiB RAM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33473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台或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replicas，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每個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2 GiB RAM，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透過 </a:t>
                      </a: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private endpoint </a:t>
                      </a:r>
                      <a:r>
                        <a:rPr lang="zh-TW" altLang="en-US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連線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73897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replica set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台，每台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16 GiB RAM / 500 GB SSD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14981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 HA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3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台，每台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8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0978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Load balancer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台小型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VM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或硬體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虛擬 </a:t>
                      </a:r>
                      <a:r>
                        <a:rPr lang="en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LB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83853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Backup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每日至少一次，保留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7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14 </a:t>
                      </a:r>
                      <a:r>
                        <a:rPr lang="zh-TW" altLang="en-US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天</a:t>
                      </a:r>
                    </a:p>
                  </a:txBody>
                  <a:tcPr marL="123825" marR="123825" marT="57150" marB="5715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351714"/>
                  </a:ext>
                </a:extLst>
              </a:tr>
            </a:tbl>
          </a:graphicData>
        </a:graphic>
      </p:graphicFrame>
      <p:pic>
        <p:nvPicPr>
          <p:cNvPr id="9" name="圖片 8">
            <a:extLst>
              <a:ext uri="{FF2B5EF4-FFF2-40B4-BE49-F238E27FC236}">
                <a16:creationId xmlns:a16="http://schemas.microsoft.com/office/drawing/2014/main" id="{5BD639D5-72EA-2409-2EF2-C3E747DD17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79" y="4991579"/>
            <a:ext cx="10505531" cy="769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044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C76462-7BAE-6D5E-8305-364A8235E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雲端正式環境目標架構</a:t>
            </a:r>
            <a:endParaRPr lang="zh-TW" altLang="en-US" dirty="0"/>
          </a:p>
        </p:txBody>
      </p:sp>
      <p:pic>
        <p:nvPicPr>
          <p:cNvPr id="7" name="圖片 6" descr="一張含有 文字, 圖表, 行, 螢幕擷取畫面 的圖片&#10;&#10;AI 產生的內容可能不正確。">
            <a:extLst>
              <a:ext uri="{FF2B5EF4-FFF2-40B4-BE49-F238E27FC236}">
                <a16:creationId xmlns:a16="http://schemas.microsoft.com/office/drawing/2014/main" id="{C7175291-5E53-C00E-2AE7-DCDB3CBD5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388" y="784055"/>
            <a:ext cx="11161712" cy="5271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9016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96E34D-E82B-A211-DD25-CA7D8A5F3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雲端服務選型與資源配置建議</a:t>
            </a:r>
            <a:endParaRPr lang="zh-TW" altLang="en-US" dirty="0"/>
          </a:p>
        </p:txBody>
      </p:sp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id="{78418F25-2136-37E1-D74E-032AE5C595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1" dirty="0"/>
              <a:t>資源配置建議</a:t>
            </a:r>
          </a:p>
        </p:txBody>
      </p:sp>
      <p:sp>
        <p:nvSpPr>
          <p:cNvPr id="8" name="文字版面配置區 7">
            <a:extLst>
              <a:ext uri="{FF2B5EF4-FFF2-40B4-BE49-F238E27FC236}">
                <a16:creationId xmlns:a16="http://schemas.microsoft.com/office/drawing/2014/main" id="{48998EB6-D68E-A044-7FE6-BF237FE41DC8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lang="zh-TW" altLang="en-US" b="1" dirty="0"/>
              <a:t>雲端服務選型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D842C77-3BE2-664F-4D9E-68DA57834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964329"/>
              </p:ext>
            </p:extLst>
          </p:nvPr>
        </p:nvGraphicFramePr>
        <p:xfrm>
          <a:off x="419657" y="1310897"/>
          <a:ext cx="5119752" cy="4215015"/>
        </p:xfrm>
        <a:graphic>
          <a:graphicData uri="http://schemas.openxmlformats.org/drawingml/2006/table">
            <a:tbl>
              <a:tblPr/>
              <a:tblGrid>
                <a:gridCol w="1849665">
                  <a:extLst>
                    <a:ext uri="{9D8B030D-6E8A-4147-A177-3AD203B41FA5}">
                      <a16:colId xmlns:a16="http://schemas.microsoft.com/office/drawing/2014/main" val="2780666806"/>
                    </a:ext>
                  </a:extLst>
                </a:gridCol>
                <a:gridCol w="3270087">
                  <a:extLst>
                    <a:ext uri="{9D8B030D-6E8A-4147-A177-3AD203B41FA5}">
                      <a16:colId xmlns:a16="http://schemas.microsoft.com/office/drawing/2014/main" val="840754368"/>
                    </a:ext>
                  </a:extLst>
                </a:gridCol>
              </a:tblGrid>
              <a:tr h="254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2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建議規格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56625"/>
                  </a:ext>
                </a:extLst>
              </a:tr>
              <a:tr h="254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Web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Static hosting + CDN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457967"/>
                  </a:ext>
                </a:extLst>
              </a:tr>
              <a:tr h="420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app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replicas，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每個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2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865493"/>
                  </a:ext>
                </a:extLst>
              </a:tr>
              <a:tr h="5856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desired 10 replicas，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每個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0.5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512 MiB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810914"/>
                  </a:ext>
                </a:extLst>
              </a:tr>
              <a:tr h="420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replica，0.5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512 MiB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23054"/>
                  </a:ext>
                </a:extLst>
              </a:tr>
              <a:tr h="751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replicas，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每個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1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 RAM；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高可用需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private LB / connection affinity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2761647"/>
                  </a:ext>
                </a:extLst>
              </a:tr>
              <a:tr h="420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Atlas M20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起步；正式穩定或成長後升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M30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8068412"/>
                  </a:ext>
                </a:extLst>
              </a:tr>
              <a:tr h="420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8 GiB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起步；未清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job history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前建議 </a:t>
                      </a:r>
                      <a:r>
                        <a:rPr lang="en-US" altLang="zh-TW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GiB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2488966"/>
                  </a:ext>
                </a:extLst>
              </a:tr>
              <a:tr h="5856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Backup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daily snapshots + </a:t>
                      </a: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PITR；Redis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依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可重建程度決定</a:t>
                      </a:r>
                    </a:p>
                  </a:txBody>
                  <a:tcPr marL="96135" marR="96135" marT="44370" marB="44370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3925961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7BF1A054-3755-C3FA-4C05-589494D021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478660"/>
              </p:ext>
            </p:extLst>
          </p:nvPr>
        </p:nvGraphicFramePr>
        <p:xfrm>
          <a:off x="6076126" y="1310897"/>
          <a:ext cx="5057840" cy="4111625"/>
        </p:xfrm>
        <a:graphic>
          <a:graphicData uri="http://schemas.openxmlformats.org/drawingml/2006/table">
            <a:tbl>
              <a:tblPr/>
              <a:tblGrid>
                <a:gridCol w="1264460">
                  <a:extLst>
                    <a:ext uri="{9D8B030D-6E8A-4147-A177-3AD203B41FA5}">
                      <a16:colId xmlns:a16="http://schemas.microsoft.com/office/drawing/2014/main" val="4060893576"/>
                    </a:ext>
                  </a:extLst>
                </a:gridCol>
                <a:gridCol w="1264460">
                  <a:extLst>
                    <a:ext uri="{9D8B030D-6E8A-4147-A177-3AD203B41FA5}">
                      <a16:colId xmlns:a16="http://schemas.microsoft.com/office/drawing/2014/main" val="566723699"/>
                    </a:ext>
                  </a:extLst>
                </a:gridCol>
                <a:gridCol w="1264460">
                  <a:extLst>
                    <a:ext uri="{9D8B030D-6E8A-4147-A177-3AD203B41FA5}">
                      <a16:colId xmlns:a16="http://schemas.microsoft.com/office/drawing/2014/main" val="3535926478"/>
                    </a:ext>
                  </a:extLst>
                </a:gridCol>
                <a:gridCol w="1264460">
                  <a:extLst>
                    <a:ext uri="{9D8B030D-6E8A-4147-A177-3AD203B41FA5}">
                      <a16:colId xmlns:a16="http://schemas.microsoft.com/office/drawing/2014/main" val="366705029"/>
                    </a:ext>
                  </a:extLst>
                </a:gridCol>
              </a:tblGrid>
              <a:tr h="30430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類別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AWS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Azure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GCP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8634140"/>
                  </a:ext>
                </a:extLst>
              </a:tr>
              <a:tr h="70060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Container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ECS/Fargate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EKS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Container Apps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AKS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Cloud Run </a:t>
                      </a:r>
                      <a:r>
                        <a:rPr lang="zh-TW" altLang="en-US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GKE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6090663"/>
                  </a:ext>
                </a:extLst>
              </a:tr>
              <a:tr h="70060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CDN/WAF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CloudFront + WAF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Front Door + WAF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Cloud CDN + Cloud Armor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7387911"/>
                  </a:ext>
                </a:extLst>
              </a:tr>
              <a:tr h="70060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ElastiCache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Redis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Azure Cache for Redis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Memorystore</a:t>
                      </a: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for Redis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117664"/>
                  </a:ext>
                </a:extLst>
              </a:tr>
              <a:tr h="70060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Atlas on AWS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Atlas on Azure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Atlas on GCP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336388"/>
                  </a:ext>
                </a:extLst>
              </a:tr>
              <a:tr h="50245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Secrets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Secrets Manager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Key Vault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Secret Manager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527477"/>
                  </a:ext>
                </a:extLst>
              </a:tr>
              <a:tr h="50245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Observability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CloudWatch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Azure Monitor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" sz="12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Cloud Monitoring</a:t>
                      </a:r>
                    </a:p>
                  </a:txBody>
                  <a:tcPr marL="114998" marR="114998" marT="53076" marB="53076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52790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6479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0A07C4-3598-65BC-D07F-724026954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安全控管、備份與災難復原策略</a:t>
            </a:r>
            <a:endParaRPr kumimoji="1" lang="zh-TW" altLang="en-US" dirty="0"/>
          </a:p>
        </p:txBody>
      </p:sp>
      <p:pic>
        <p:nvPicPr>
          <p:cNvPr id="7" name="圖片 6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B9642B4E-DCA0-BE62-423D-E8FDB6596A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685" y="899662"/>
            <a:ext cx="4162721" cy="5040000"/>
          </a:xfrm>
          <a:prstGeom prst="rect">
            <a:avLst/>
          </a:prstGeom>
        </p:spPr>
      </p:pic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7A644465-E11E-D788-80FC-87B3EAC6FF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8098224"/>
              </p:ext>
            </p:extLst>
          </p:nvPr>
        </p:nvGraphicFramePr>
        <p:xfrm>
          <a:off x="397564" y="1096799"/>
          <a:ext cx="5253935" cy="4645725"/>
        </p:xfrm>
        <a:graphic>
          <a:graphicData uri="http://schemas.openxmlformats.org/drawingml/2006/table">
            <a:tbl>
              <a:tblPr/>
              <a:tblGrid>
                <a:gridCol w="1520119">
                  <a:extLst>
                    <a:ext uri="{9D8B030D-6E8A-4147-A177-3AD203B41FA5}">
                      <a16:colId xmlns:a16="http://schemas.microsoft.com/office/drawing/2014/main" val="1586820247"/>
                    </a:ext>
                  </a:extLst>
                </a:gridCol>
                <a:gridCol w="3733816">
                  <a:extLst>
                    <a:ext uri="{9D8B030D-6E8A-4147-A177-3AD203B41FA5}">
                      <a16:colId xmlns:a16="http://schemas.microsoft.com/office/drawing/2014/main" val="1717609235"/>
                    </a:ext>
                  </a:extLst>
                </a:gridCol>
              </a:tblGrid>
              <a:tr h="2833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面向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建議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1150311"/>
                  </a:ext>
                </a:extLst>
              </a:tr>
              <a:tr h="6523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網路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Web/API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對外；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MongoDB/Redis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僅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private network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0845084"/>
                  </a:ext>
                </a:extLst>
              </a:tr>
              <a:tr h="4678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僅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private endpoint；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只允許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API/worker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連線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6517780"/>
                  </a:ext>
                </a:extLst>
              </a:tr>
              <a:tr h="4678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憑證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TLS everywhere；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秘密值放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Secrets Manager/Key Vault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1388301"/>
                  </a:ext>
                </a:extLst>
              </a:tr>
              <a:tr h="6523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身分權限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最小權限、分角色帳號、資料庫帳號分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app/backup/admin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5528599"/>
                  </a:ext>
                </a:extLst>
              </a:tr>
              <a:tr h="4678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備份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 daily snapshot + restore drill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247806"/>
                  </a:ext>
                </a:extLst>
              </a:tr>
              <a:tr h="6523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RPO/RTO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起步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RPO 24h / RTO 4h；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正式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HA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可降到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RPO 1h / RTO 1h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952119"/>
                  </a:ext>
                </a:extLst>
              </a:tr>
              <a:tr h="4678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稽核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admin audit、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登入、資料異動與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failure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保留</a:t>
                      </a:r>
                    </a:p>
                  </a:txBody>
                  <a:tcPr marL="107074" marR="107074" marT="49419" marB="49419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222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516941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74C772-BC05-642E-E3AB-3C3E92624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可觀測性、告警與擴充機制</a:t>
            </a:r>
            <a:endParaRPr kumimoji="1" lang="zh-TW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832473-E209-AA06-526E-F7AC3F6FE0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30765"/>
              </p:ext>
            </p:extLst>
          </p:nvPr>
        </p:nvGraphicFramePr>
        <p:xfrm>
          <a:off x="270244" y="1025090"/>
          <a:ext cx="10980000" cy="4199044"/>
        </p:xfrm>
        <a:graphic>
          <a:graphicData uri="http://schemas.openxmlformats.org/drawingml/2006/table">
            <a:tbl>
              <a:tblPr/>
              <a:tblGrid>
                <a:gridCol w="2371012">
                  <a:extLst>
                    <a:ext uri="{9D8B030D-6E8A-4147-A177-3AD203B41FA5}">
                      <a16:colId xmlns:a16="http://schemas.microsoft.com/office/drawing/2014/main" val="3476087647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1376718494"/>
                    </a:ext>
                  </a:extLst>
                </a:gridCol>
                <a:gridCol w="4304494">
                  <a:extLst>
                    <a:ext uri="{9D8B030D-6E8A-4147-A177-3AD203B41FA5}">
                      <a16:colId xmlns:a16="http://schemas.microsoft.com/office/drawing/2014/main" val="2700649521"/>
                    </a:ext>
                  </a:extLst>
                </a:gridCol>
              </a:tblGrid>
              <a:tr h="2402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類別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指標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建議告警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534179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latency、5xx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rate、SSE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disconnects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1s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5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xx &gt; 1%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375832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depth、job duration、failed rate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waiting &gt; 1,000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failed rate &gt; 5%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9751834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latency、active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sessions、error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rate、container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p95 &gt; 2s、error &gt; 1%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restart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7233328"/>
                  </a:ext>
                </a:extLst>
              </a:tr>
              <a:tr h="5530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memory、evictions、ops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</a:t>
                      </a:r>
                      <a:r>
                        <a:rPr lang="en" sz="160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sec、latency</a:t>
                      </a:r>
                      <a:endParaRPr lang="en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memory &gt; 75%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evictions &gt; 0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106408"/>
                  </a:ext>
                </a:extLst>
              </a:tr>
              <a:tr h="709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index size、working set、slow queries、connections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slow query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增加或 </a:t>
                      </a: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connections &gt; 80%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796917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LLM/API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latency、429/5xx、cost per day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429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出現或每日成本超標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8226446"/>
                  </a:ext>
                </a:extLst>
              </a:tr>
              <a:tr h="3966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Storage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DB growth、backup success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backup failed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disk &gt; 70%</a:t>
                      </a:r>
                    </a:p>
                  </a:txBody>
                  <a:tcPr marL="90780" marR="90780" marT="41898" marB="41898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90783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07856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C74E2B-39D7-359A-C70B-82540C531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正式環境建置結論與導入建議</a:t>
            </a:r>
            <a:endParaRPr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91E1199-BB0C-4912-1CAF-F485B62ECB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zh-TW" altLang="en-US" dirty="0"/>
          </a:p>
        </p:txBody>
      </p:sp>
      <p:pic>
        <p:nvPicPr>
          <p:cNvPr id="5" name="圖片 4" descr="一張含有 文字, 螢幕擷取畫面, 行, 圖表 的圖片&#10;&#10;AI 產生的內容可能不正確。">
            <a:extLst>
              <a:ext uri="{FF2B5EF4-FFF2-40B4-BE49-F238E27FC236}">
                <a16:creationId xmlns:a16="http://schemas.microsoft.com/office/drawing/2014/main" id="{976A47E5-9D86-271B-CABE-9BC9CA4EFB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44" y="719138"/>
            <a:ext cx="10980000" cy="1954931"/>
          </a:xfrm>
          <a:prstGeom prst="rect">
            <a:avLst/>
          </a:prstGeom>
        </p:spPr>
      </p:pic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CA56840-A7A2-2136-1A4B-C6F588C428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5481959"/>
              </p:ext>
            </p:extLst>
          </p:nvPr>
        </p:nvGraphicFramePr>
        <p:xfrm>
          <a:off x="270244" y="3039042"/>
          <a:ext cx="10980000" cy="2783799"/>
        </p:xfrm>
        <a:graphic>
          <a:graphicData uri="http://schemas.openxmlformats.org/drawingml/2006/table">
            <a:tbl>
              <a:tblPr/>
              <a:tblGrid>
                <a:gridCol w="1602278">
                  <a:extLst>
                    <a:ext uri="{9D8B030D-6E8A-4147-A177-3AD203B41FA5}">
                      <a16:colId xmlns:a16="http://schemas.microsoft.com/office/drawing/2014/main" val="2808553507"/>
                    </a:ext>
                  </a:extLst>
                </a:gridCol>
                <a:gridCol w="9377722">
                  <a:extLst>
                    <a:ext uri="{9D8B030D-6E8A-4147-A177-3AD203B41FA5}">
                      <a16:colId xmlns:a16="http://schemas.microsoft.com/office/drawing/2014/main" val="1039803042"/>
                    </a:ext>
                  </a:extLst>
                </a:gridCol>
              </a:tblGrid>
              <a:tr h="239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決策項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b="1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建議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434528"/>
                  </a:ext>
                </a:extLst>
              </a:tr>
              <a:tr h="832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雲端架構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managed MongoDB + managed Redis + container app/worker/scheduler + Copilot CLI private endpoint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213979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地端首選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HA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版：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App/Worker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節點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x3、Copilot CLI x2、MongoDB replica set x3、Redis HA x2-3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199575"/>
                  </a:ext>
                </a:extLst>
              </a:tr>
              <a:tr h="61173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成本優先地端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單機最低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16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64 GiB / 1 TB SSD；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全同機保守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24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vCPU / 64 GiB，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但需接受單點故障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91790"/>
                  </a:ext>
                </a:extLst>
              </a:tr>
              <a:tr h="3907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 </a:t>
                      </a:r>
                      <a:r>
                        <a:rPr lang="zh-TW" altLang="en-US" sz="160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基準</a:t>
                      </a: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維持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desired 10 replicas；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依 </a:t>
                      </a:r>
                      <a:r>
                        <a:rPr lang="en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depth 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擴到 </a:t>
                      </a:r>
                      <a:r>
                        <a:rPr lang="en-US" altLang="zh-TW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20</a:t>
                      </a:r>
                      <a:r>
                        <a:rPr lang="zh-TW" altLang="en-US" sz="160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或更多</a:t>
                      </a:r>
                      <a:endParaRPr lang="en-US" altLang="zh-TW" sz="160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marL="100775" marR="100775" marT="46512" marB="46512"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8888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69909878"/>
      </p:ext>
    </p:extLst>
  </p:cSld>
  <p:clrMapOvr>
    <a:masterClrMapping/>
  </p:clrMapOvr>
</p:sld>
</file>

<file path=ppt/theme/theme1.xml><?xml version="1.0" encoding="utf-8"?>
<a:theme xmlns:a="http://schemas.openxmlformats.org/drawingml/2006/main" name="數科處範本">
  <a:themeElements>
    <a:clrScheme name="blue-yellow-violet-rose">
      <a:dk1>
        <a:srgbClr val="000000"/>
      </a:dk1>
      <a:lt1>
        <a:srgbClr val="FFFFFF"/>
      </a:lt1>
      <a:dk2>
        <a:srgbClr val="717179"/>
      </a:dk2>
      <a:lt2>
        <a:srgbClr val="E3E3E7"/>
      </a:lt2>
      <a:accent1>
        <a:srgbClr val="3B82F6"/>
      </a:accent1>
      <a:accent2>
        <a:srgbClr val="EAB308"/>
      </a:accent2>
      <a:accent3>
        <a:srgbClr val="8B5CF6"/>
      </a:accent3>
      <a:accent4>
        <a:srgbClr val="F33F5E"/>
      </a:accent4>
      <a:accent5>
        <a:srgbClr val="10B981"/>
      </a:accent5>
      <a:accent6>
        <a:srgbClr val="FFFFFF"/>
      </a:accent6>
      <a:hlink>
        <a:srgbClr val="3B82F6"/>
      </a:hlink>
      <a:folHlink>
        <a:srgbClr val="8B5C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4F25D0FF425B4EA678AC2414B6A709" ma:contentTypeVersion="10" ma:contentTypeDescription="Create a new document." ma:contentTypeScope="" ma:versionID="8ceec2ce155b1d63c0c6fcd4110f3cfe">
  <xsd:schema xmlns:xsd="http://www.w3.org/2001/XMLSchema" xmlns:xs="http://www.w3.org/2001/XMLSchema" xmlns:p="http://schemas.microsoft.com/office/2006/metadata/properties" xmlns:ns2="7cac0686-f0c7-4236-b000-d7b90732a875" xmlns:ns3="9bfc64f2-d580-4df8-9fa4-4631ad6ac43d" targetNamespace="http://schemas.microsoft.com/office/2006/metadata/properties" ma:root="true" ma:fieldsID="267f21102a69fda15f58a0ecdfc9abe1" ns2:_="" ns3:_="">
    <xsd:import namespace="7cac0686-f0c7-4236-b000-d7b90732a875"/>
    <xsd:import namespace="9bfc64f2-d580-4df8-9fa4-4631ad6ac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ac0686-f0c7-4236-b000-d7b90732a8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fc64f2-d580-4df8-9fa4-4631ad6ac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6929C79-DB32-411C-8C37-9A0BBBB5F64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B3946E7-66F8-4182-AA38-CFC406C59F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cac0686-f0c7-4236-b000-d7b90732a875"/>
    <ds:schemaRef ds:uri="9bfc64f2-d580-4df8-9fa4-4631ad6ac43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FD5D526-59E0-46BD-B75A-4A393253F249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9bfc64f2-d580-4df8-9fa4-4631ad6ac43d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7cac0686-f0c7-4236-b000-d7b90732a875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217a5a3d-163a-4e8b-af1b-58fd7f92894f}" enabled="0" method="" siteId="{217a5a3d-163a-4e8b-af1b-58fd7f92894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3893</TotalTime>
  <Words>4464</Words>
  <Application>Microsoft Macintosh PowerPoint</Application>
  <PresentationFormat>自訂</PresentationFormat>
  <Paragraphs>428</Paragraphs>
  <Slides>15</Slides>
  <Notes>15</Notes>
  <HiddenSlides>1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3" baseType="lpstr">
      <vt:lpstr>微軟正黑體</vt:lpstr>
      <vt:lpstr>微軟正黑體</vt:lpstr>
      <vt:lpstr>標準系統字體</vt:lpstr>
      <vt:lpstr>Microsoft JhengHei Light</vt:lpstr>
      <vt:lpstr>Arial</vt:lpstr>
      <vt:lpstr>Roboto</vt:lpstr>
      <vt:lpstr>Times New Roman</vt:lpstr>
      <vt:lpstr>數科處範本</vt:lpstr>
      <vt:lpstr>InfoGather</vt:lpstr>
      <vt:lpstr>專案技術堆疊與系統邊界概覽</vt:lpstr>
      <vt:lpstr>現行環境盤點與容量基準</vt:lpstr>
      <vt:lpstr>平台資料規模現況 (2026/6/1)</vt:lpstr>
      <vt:lpstr>資料成長趨勢與負載來源分析</vt:lpstr>
      <vt:lpstr>背景處理流程與 Worker 併發模型</vt:lpstr>
      <vt:lpstr>Copilot CLI Server 與 LLM Runtime 架構依賴</vt:lpstr>
      <vt:lpstr>容量估算模型與正式規格推導</vt:lpstr>
      <vt:lpstr>地端正式環境目標架構</vt:lpstr>
      <vt:lpstr>地端硬體資源配置建議</vt:lpstr>
      <vt:lpstr>雲端正式環境目標架構</vt:lpstr>
      <vt:lpstr>雲端服務選型與資源配置建議</vt:lpstr>
      <vt:lpstr>安全控管、備份與災難復原策略</vt:lpstr>
      <vt:lpstr>可觀測性、告警與擴充機制</vt:lpstr>
      <vt:lpstr>正式環境建置結論與導入建議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封面標題(36 pt)</dc:title>
  <cp:lastModifiedBy>雋凱 王</cp:lastModifiedBy>
  <cp:revision>152</cp:revision>
  <dcterms:modified xsi:type="dcterms:W3CDTF">2026-06-03T05:37:25Z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0x010100DE4F25D0FF425B4EA678AC2414B6A709</vt:lpwstr>
  </property>
  <property fmtid="{D5CDD505-2E9C-101B-9397-08002B2CF9AE}" pid="3" name="Order">
    <vt:r8>500</vt:r8>
  </property>
  <property fmtid="{D5CDD505-2E9C-101B-9397-08002B2CF9AE}" pid="4" name="TriggerFlowInfo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</Properties>
</file>