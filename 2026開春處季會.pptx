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0"/>
  </p:notesMasterIdLst>
  <p:sldIdLst>
    <p:sldId id="256" r:id="rId5"/>
    <p:sldId id="2147471192" r:id="rId6"/>
    <p:sldId id="2147471188" r:id="rId7"/>
    <p:sldId id="2147471194" r:id="rId8"/>
    <p:sldId id="2147471191" r:id="rId9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94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55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12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D3F49-67E1-7173-A0C7-FAE72A50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0653B6-99D1-FF96-A1DA-F40C5A945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4CE22A5-6277-7222-1982-E7EAC5193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8841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240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userDrawn="1">
  <p:cSld name="盡量不要用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" name="Google Shape;24;p35"/>
          <p:cNvCxnSpPr>
            <a:cxnSpLocks/>
          </p:cNvCxnSpPr>
          <p:nvPr/>
        </p:nvCxnSpPr>
        <p:spPr>
          <a:xfrm>
            <a:off x="179388" y="611438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7" r:id="rId4"/>
    <p:sldLayoutId id="2147483649" r:id="rId5"/>
    <p:sldLayoutId id="2147483659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dirty="0"/>
              <a:t>2026 </a:t>
            </a:r>
            <a:r>
              <a:rPr lang="en-US" dirty="0" err="1"/>
              <a:t>開春處季會</a:t>
            </a:r>
            <a:endParaRPr lang="en-US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</a:t>
            </a:r>
            <a:r>
              <a:rPr lang="zh-TW" sz="1600" b="0" dirty="0"/>
              <a:t>.</a:t>
            </a:r>
            <a:r>
              <a:rPr lang="en-US" altLang="zh-TW" sz="1600" b="0" dirty="0"/>
              <a:t>0</a:t>
            </a:r>
            <a:r>
              <a:rPr lang="en-US" altLang="zh-TW" dirty="0"/>
              <a:t>3</a:t>
            </a:r>
            <a:r>
              <a:rPr lang="zh-TW" sz="1600" b="0" dirty="0"/>
              <a:t>.</a:t>
            </a:r>
            <a:r>
              <a:rPr lang="en-US" altLang="zh-TW" dirty="0"/>
              <a:t>04</a:t>
            </a:r>
            <a:endParaRPr lang="en-US" sz="16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72ED-4FD9-9899-0B03-F27F2CAB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1FC3496-6E33-6CB4-F5D8-2280B50F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城市尋寶：艋舺生存遊戲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3E309EE-CB3A-A019-9644-2CAE95C72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TW" sz="1600" dirty="0">
              <a:latin typeface="微軟正黑體"/>
              <a:ea typeface="微軟正黑體"/>
            </a:endParaRPr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000" b="1" dirty="0">
                <a:latin typeface="微軟正黑體"/>
                <a:ea typeface="微軟正黑體"/>
              </a:rPr>
              <a:t>遊戲範圍：艋舺</a:t>
            </a:r>
            <a:endParaRPr lang="en-US" altLang="zh-TW" sz="2000" b="1" dirty="0">
              <a:latin typeface="微軟正黑體"/>
              <a:ea typeface="微軟正黑體"/>
            </a:endParaRPr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000" b="1" dirty="0">
                <a:latin typeface="微軟正黑體"/>
                <a:ea typeface="微軟正黑體"/>
              </a:rPr>
              <a:t>開始地點：捷運西門站 </a:t>
            </a:r>
            <a:r>
              <a:rPr lang="en-US" altLang="zh-TW" sz="2000" b="1" dirty="0">
                <a:latin typeface="微軟正黑體"/>
                <a:ea typeface="微軟正黑體"/>
              </a:rPr>
              <a:t>1 </a:t>
            </a:r>
            <a:r>
              <a:rPr lang="zh-TW" altLang="en-US" sz="2000" b="1" dirty="0">
                <a:latin typeface="微軟正黑體"/>
                <a:ea typeface="微軟正黑體"/>
              </a:rPr>
              <a:t>號出口</a:t>
            </a:r>
            <a:endParaRPr lang="en-US" altLang="zh-TW" sz="2000" b="1" dirty="0">
              <a:latin typeface="微軟正黑體"/>
              <a:ea typeface="微軟正黑體"/>
            </a:endParaRPr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000" b="1" dirty="0">
                <a:latin typeface="微軟正黑體"/>
                <a:ea typeface="微軟正黑體"/>
              </a:rPr>
              <a:t>活動時間：</a:t>
            </a:r>
            <a:r>
              <a:rPr lang="en-US" altLang="zh-TW" sz="2000" b="1" dirty="0">
                <a:latin typeface="微軟正黑體"/>
                <a:ea typeface="微軟正黑體"/>
              </a:rPr>
              <a:t>3/4 (</a:t>
            </a:r>
            <a:r>
              <a:rPr lang="zh-TW" altLang="en-US" sz="2000" b="1" dirty="0">
                <a:latin typeface="微軟正黑體"/>
                <a:ea typeface="微軟正黑體"/>
              </a:rPr>
              <a:t>三</a:t>
            </a:r>
            <a:r>
              <a:rPr lang="en-US" altLang="zh-TW" sz="2000" b="1" dirty="0">
                <a:latin typeface="微軟正黑體"/>
                <a:ea typeface="微軟正黑體"/>
              </a:rPr>
              <a:t>)</a:t>
            </a:r>
            <a:r>
              <a:rPr lang="zh-TW" altLang="en-US" sz="2000" b="1" dirty="0">
                <a:latin typeface="微軟正黑體"/>
                <a:ea typeface="微軟正黑體"/>
              </a:rPr>
              <a:t> </a:t>
            </a:r>
            <a:r>
              <a:rPr lang="en-US" altLang="zh-TW" sz="2000" b="1" dirty="0">
                <a:latin typeface="微軟正黑體"/>
                <a:ea typeface="微軟正黑體"/>
              </a:rPr>
              <a:t> 13:30~17:30</a:t>
            </a:r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TW" sz="2000" b="1" dirty="0">
              <a:latin typeface="微軟正黑體"/>
              <a:ea typeface="微軟正黑體"/>
            </a:endParaRPr>
          </a:p>
          <a:p>
            <a:pPr marL="36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/>
              <a:t>這是一場將</a:t>
            </a:r>
            <a:r>
              <a:rPr lang="en-US" altLang="zh-TW" dirty="0"/>
              <a:t> </a:t>
            </a:r>
            <a:r>
              <a:rPr lang="zh-TW" altLang="en-US" b="1" dirty="0"/>
              <a:t>台北萬華（艋舺）</a:t>
            </a:r>
            <a:r>
              <a:rPr lang="zh-TW" altLang="en-US" dirty="0"/>
              <a:t>轉化為大型實境密室的冒險。</a:t>
            </a:r>
            <a:br>
              <a:rPr lang="en-US" altLang="zh-TW" dirty="0"/>
            </a:br>
            <a:r>
              <a:rPr lang="zh-TW" altLang="en-US" dirty="0"/>
              <a:t>故事圍繞著三百年歷史的古城，您將深入龍山寺、剝皮寮老街與神祕巷弄，在現實與虛擬之間尋找隱藏的真相。</a:t>
            </a:r>
          </a:p>
          <a:p>
            <a:pPr marL="3600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TW" dirty="0"/>
          </a:p>
          <a:p>
            <a:pPr marL="36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dirty="0"/>
              <a:t>這不只是解謎，更是一場深度的文化探險，讓您在解決燒腦難題的同時，重新認識這片土地的故事。</a:t>
            </a:r>
            <a:endParaRPr lang="en-US" altLang="zh-TW" dirty="0"/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endParaRPr lang="zh-TW" altLang="en-US" sz="2000" b="1" dirty="0"/>
          </a:p>
          <a:p>
            <a:pPr marL="3556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TW" sz="1600" dirty="0">
              <a:latin typeface="微軟正黑體"/>
              <a:ea typeface="微軟正黑體"/>
            </a:endParaRPr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AFCD767-F7BE-692C-E68A-426C5AF7BBE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36000" indent="0">
              <a:buNone/>
            </a:pPr>
            <a:r>
              <a:rPr lang="zh-TW" altLang="en-US" dirty="0"/>
              <a:t> </a:t>
            </a:r>
          </a:p>
        </p:txBody>
      </p:sp>
      <p:pic>
        <p:nvPicPr>
          <p:cNvPr id="4" name="圖片 3" descr="一張含有 文字, 天空, 鳥類, 卡通 的圖片&#10;&#10;AI 產生的內容可能不正確。">
            <a:extLst>
              <a:ext uri="{FF2B5EF4-FFF2-40B4-BE49-F238E27FC236}">
                <a16:creationId xmlns:a16="http://schemas.microsoft.com/office/drawing/2014/main" id="{47F115FC-5C67-9514-1C4C-FA0BE324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46" y="1246187"/>
            <a:ext cx="39878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遊戲方式</a:t>
            </a:r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3EB79AC9-1CF0-FDD2-811A-75630E7595C1}"/>
              </a:ext>
            </a:extLst>
          </p:cNvPr>
          <p:cNvSpPr/>
          <p:nvPr/>
        </p:nvSpPr>
        <p:spPr>
          <a:xfrm>
            <a:off x="540000" y="1440626"/>
            <a:ext cx="2160000" cy="36000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下載與報到</a:t>
            </a:r>
            <a:endParaRPr kumimoji="1"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全體下載「城市尋寶」</a:t>
            </a:r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，開啟藍牙與定位，並抵達指定的活動起點。</a:t>
            </a:r>
            <a:b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A4E23B83-399B-C46D-EC54-CA202336E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0000" y="2199001"/>
            <a:ext cx="540000" cy="540000"/>
          </a:xfrm>
          <a:prstGeom prst="rect">
            <a:avLst/>
          </a:prstGeom>
        </p:spPr>
      </p:pic>
      <p:sp>
        <p:nvSpPr>
          <p:cNvPr id="18" name="圓角矩形 17">
            <a:extLst>
              <a:ext uri="{FF2B5EF4-FFF2-40B4-BE49-F238E27FC236}">
                <a16:creationId xmlns:a16="http://schemas.microsoft.com/office/drawing/2014/main" id="{946B3F57-D5F7-5602-B1A7-995AA5CD4B85}"/>
              </a:ext>
            </a:extLst>
          </p:cNvPr>
          <p:cNvSpPr/>
          <p:nvPr/>
        </p:nvSpPr>
        <p:spPr>
          <a:xfrm>
            <a:off x="8820488" y="1440000"/>
            <a:ext cx="2160000" cy="36000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前往下一關</a:t>
            </a:r>
            <a:endParaRPr kumimoji="1"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答對後獲得下一關位置與劇情，直到破解最後真相，領取遊戲紀錄回饋。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5B8EE02-8334-1A99-729D-2D2C628230B5}"/>
              </a:ext>
            </a:extLst>
          </p:cNvPr>
          <p:cNvSpPr/>
          <p:nvPr/>
        </p:nvSpPr>
        <p:spPr>
          <a:xfrm>
            <a:off x="3300163" y="1440000"/>
            <a:ext cx="2160000" cy="36000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登入與序號</a:t>
            </a:r>
            <a:endParaRPr kumimoji="1"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由隊長輸入遊戲序號，全員掃描 </a:t>
            </a:r>
            <a:r>
              <a:rPr kumimoji="1" lang="en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QR Code 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加入隊伍，讀取故事背景後啟動首關。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576A275A-648F-3C44-039E-C0702D4F0CAA}"/>
              </a:ext>
            </a:extLst>
          </p:cNvPr>
          <p:cNvSpPr/>
          <p:nvPr/>
        </p:nvSpPr>
        <p:spPr>
          <a:xfrm>
            <a:off x="6060326" y="1440000"/>
            <a:ext cx="2160000" cy="36000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觀察與解謎</a:t>
            </a:r>
            <a:endParaRPr kumimoji="1"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搭配「實體道具包」與「現場景物」，發揮團隊觀察力，在手機上輸入答案。</a:t>
            </a:r>
            <a:b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F7FA2EFE-048F-D952-03B1-15B4565AB9DF}"/>
              </a:ext>
            </a:extLst>
          </p:cNvPr>
          <p:cNvSpPr>
            <a:spLocks noChangeAspect="1"/>
          </p:cNvSpPr>
          <p:nvPr/>
        </p:nvSpPr>
        <p:spPr>
          <a:xfrm>
            <a:off x="1440000" y="1659627"/>
            <a:ext cx="36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1</a:t>
            </a:r>
            <a:endParaRPr kumimoji="1" lang="zh-TW" altLang="en-US" b="1" dirty="0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45150BD1-B6D4-4201-756E-4009AC9C3CF2}"/>
              </a:ext>
            </a:extLst>
          </p:cNvPr>
          <p:cNvSpPr>
            <a:spLocks noChangeAspect="1"/>
          </p:cNvSpPr>
          <p:nvPr/>
        </p:nvSpPr>
        <p:spPr>
          <a:xfrm>
            <a:off x="4195707" y="1639677"/>
            <a:ext cx="36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2</a:t>
            </a:r>
            <a:endParaRPr kumimoji="1" lang="zh-TW" altLang="en-US" b="1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6CFF73D3-2B19-171E-9F04-331A6B15C396}"/>
              </a:ext>
            </a:extLst>
          </p:cNvPr>
          <p:cNvSpPr>
            <a:spLocks noChangeAspect="1"/>
          </p:cNvSpPr>
          <p:nvPr/>
        </p:nvSpPr>
        <p:spPr>
          <a:xfrm>
            <a:off x="6960326" y="1639677"/>
            <a:ext cx="36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3</a:t>
            </a:r>
            <a:endParaRPr kumimoji="1" lang="zh-TW" altLang="en-US" b="1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EF58313-AA83-5560-2A5E-2C80A8BA7029}"/>
              </a:ext>
            </a:extLst>
          </p:cNvPr>
          <p:cNvSpPr>
            <a:spLocks noChangeAspect="1"/>
          </p:cNvSpPr>
          <p:nvPr/>
        </p:nvSpPr>
        <p:spPr>
          <a:xfrm>
            <a:off x="9720488" y="1639501"/>
            <a:ext cx="36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/>
              <a:t>4</a:t>
            </a:r>
            <a:endParaRPr kumimoji="1" lang="zh-TW" altLang="en-US" b="1" dirty="0"/>
          </a:p>
        </p:txBody>
      </p:sp>
      <p:pic>
        <p:nvPicPr>
          <p:cNvPr id="26" name="圖形 25">
            <a:extLst>
              <a:ext uri="{FF2B5EF4-FFF2-40B4-BE49-F238E27FC236}">
                <a16:creationId xmlns:a16="http://schemas.microsoft.com/office/drawing/2014/main" id="{A13BD69C-BFAF-4F73-9E23-5D1250D3E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0163" y="2199001"/>
            <a:ext cx="540000" cy="540000"/>
          </a:xfrm>
          <a:prstGeom prst="rect">
            <a:avLst/>
          </a:prstGeom>
        </p:spPr>
      </p:pic>
      <p:pic>
        <p:nvPicPr>
          <p:cNvPr id="28" name="圖形 27">
            <a:extLst>
              <a:ext uri="{FF2B5EF4-FFF2-40B4-BE49-F238E27FC236}">
                <a16:creationId xmlns:a16="http://schemas.microsoft.com/office/drawing/2014/main" id="{6748D58D-6711-C717-127D-4C23217013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0326" y="2199001"/>
            <a:ext cx="540000" cy="540000"/>
          </a:xfrm>
          <a:prstGeom prst="rect">
            <a:avLst/>
          </a:prstGeom>
        </p:spPr>
      </p:pic>
      <p:pic>
        <p:nvPicPr>
          <p:cNvPr id="30" name="圖形 29">
            <a:extLst>
              <a:ext uri="{FF2B5EF4-FFF2-40B4-BE49-F238E27FC236}">
                <a16:creationId xmlns:a16="http://schemas.microsoft.com/office/drawing/2014/main" id="{00511E24-EADB-9340-E260-2E79053966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0488" y="2199001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F54F-49DD-1533-3673-8D4D7EAF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14E6AB9-256B-B27C-69F3-E2D91243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活動流程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1E27729-7999-02D6-649B-4BF4D27B7BBA}"/>
              </a:ext>
            </a:extLst>
          </p:cNvPr>
          <p:cNvGrpSpPr/>
          <p:nvPr/>
        </p:nvGrpSpPr>
        <p:grpSpPr>
          <a:xfrm>
            <a:off x="720244" y="1800000"/>
            <a:ext cx="10080000" cy="2250696"/>
            <a:chOff x="720244" y="3060087"/>
            <a:chExt cx="10080000" cy="2250696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B01D909E-D210-3E51-5C41-8B6D26225185}"/>
                </a:ext>
              </a:extLst>
            </p:cNvPr>
            <p:cNvCxnSpPr>
              <a:cxnSpLocks/>
            </p:cNvCxnSpPr>
            <p:nvPr/>
          </p:nvCxnSpPr>
          <p:spPr>
            <a:xfrm>
              <a:off x="720244" y="3240087"/>
              <a:ext cx="100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FF8674B2-21EC-630A-AC62-8D8E18F1C70E}"/>
                </a:ext>
              </a:extLst>
            </p:cNvPr>
            <p:cNvSpPr/>
            <p:nvPr/>
          </p:nvSpPr>
          <p:spPr>
            <a:xfrm>
              <a:off x="1800000" y="3060087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51D5158E-DFAA-7A25-916E-E0938FBCB435}"/>
                </a:ext>
              </a:extLst>
            </p:cNvPr>
            <p:cNvSpPr/>
            <p:nvPr/>
          </p:nvSpPr>
          <p:spPr>
            <a:xfrm>
              <a:off x="9180000" y="3061674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BCA38BD-5984-7A03-72D8-F14C2869AFDE}"/>
                </a:ext>
              </a:extLst>
            </p:cNvPr>
            <p:cNvSpPr/>
            <p:nvPr/>
          </p:nvSpPr>
          <p:spPr>
            <a:xfrm>
              <a:off x="4260000" y="3060087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D2A4042A-AE68-EA16-58B4-1EB3A79C4053}"/>
                </a:ext>
              </a:extLst>
            </p:cNvPr>
            <p:cNvSpPr/>
            <p:nvPr/>
          </p:nvSpPr>
          <p:spPr>
            <a:xfrm>
              <a:off x="6720000" y="3060087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11E8730-34CF-258F-380C-A830E671A73A}"/>
                </a:ext>
              </a:extLst>
            </p:cNvPr>
            <p:cNvSpPr txBox="1"/>
            <p:nvPr/>
          </p:nvSpPr>
          <p:spPr>
            <a:xfrm>
              <a:off x="798900" y="3771900"/>
              <a:ext cx="236220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b="1" dirty="0">
                  <a:solidFill>
                    <a:schemeClr val="accent1"/>
                  </a:solidFill>
                </a:rPr>
                <a:t>13:20</a:t>
              </a:r>
            </a:p>
            <a:p>
              <a:pPr algn="ctr"/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小組集合</a:t>
              </a:r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（西門捷運站</a:t>
              </a:r>
              <a:r>
                <a:rPr kumimoji="1" lang="en-US" altLang="zh-TW" sz="1600" dirty="0"/>
                <a:t>1</a:t>
              </a:r>
              <a:r>
                <a:rPr kumimoji="1" lang="zh-TW" altLang="en-US" sz="1600" dirty="0"/>
                <a:t>號出口）</a:t>
              </a:r>
              <a:endParaRPr kumimoji="1" lang="en-US" altLang="zh-TW" sz="1600" dirty="0"/>
            </a:p>
            <a:p>
              <a:pPr algn="ctr"/>
              <a:endParaRPr kumimoji="1" lang="zh-TW" altLang="en-US" sz="1600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6A2B752-DF8E-F870-FABB-B78B89A16FA5}"/>
                </a:ext>
              </a:extLst>
            </p:cNvPr>
            <p:cNvSpPr txBox="1"/>
            <p:nvPr/>
          </p:nvSpPr>
          <p:spPr>
            <a:xfrm>
              <a:off x="3258900" y="3771900"/>
              <a:ext cx="2362200" cy="1215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b="1" dirty="0">
                  <a:solidFill>
                    <a:schemeClr val="accent1"/>
                  </a:solidFill>
                </a:rPr>
                <a:t>13:30</a:t>
              </a:r>
            </a:p>
            <a:p>
              <a:pPr algn="ctr"/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領取實體解謎包</a:t>
              </a:r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開始啟動任務</a:t>
              </a:r>
              <a:endParaRPr kumimoji="1" lang="en-US" altLang="zh-TW" sz="16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1572120-2F6E-A70B-AAB7-32D31E2CAA3C}"/>
                </a:ext>
              </a:extLst>
            </p:cNvPr>
            <p:cNvSpPr txBox="1"/>
            <p:nvPr/>
          </p:nvSpPr>
          <p:spPr>
            <a:xfrm>
              <a:off x="5718900" y="3771900"/>
              <a:ext cx="236220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b="1" dirty="0">
                  <a:solidFill>
                    <a:schemeClr val="accent1"/>
                  </a:solidFill>
                </a:rPr>
                <a:t>17:00</a:t>
              </a:r>
            </a:p>
            <a:p>
              <a:pPr algn="ctr"/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任務收尾</a:t>
              </a:r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結算團隊成績</a:t>
              </a:r>
              <a:endParaRPr kumimoji="1" lang="en-US" altLang="zh-TW" sz="1600" dirty="0"/>
            </a:p>
            <a:p>
              <a:pPr algn="ctr"/>
              <a:endParaRPr kumimoji="1" lang="zh-TW" altLang="en-US" sz="1600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E3E0D8A-D2F5-92E3-E749-C7111BF15F56}"/>
                </a:ext>
              </a:extLst>
            </p:cNvPr>
            <p:cNvSpPr txBox="1"/>
            <p:nvPr/>
          </p:nvSpPr>
          <p:spPr>
            <a:xfrm>
              <a:off x="8178900" y="3771900"/>
              <a:ext cx="236220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b="1" dirty="0">
                  <a:solidFill>
                    <a:schemeClr val="accent1"/>
                  </a:solidFill>
                </a:rPr>
                <a:t>17:20</a:t>
              </a:r>
            </a:p>
            <a:p>
              <a:pPr algn="ctr"/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小組集合</a:t>
              </a:r>
              <a:endParaRPr kumimoji="1" lang="en-US" altLang="zh-TW" sz="1600" dirty="0"/>
            </a:p>
            <a:p>
              <a:pPr algn="ctr">
                <a:spcAft>
                  <a:spcPts val="600"/>
                </a:spcAft>
              </a:pPr>
              <a:r>
                <a:rPr kumimoji="1" lang="zh-TW" altLang="en-US" sz="1600" dirty="0"/>
                <a:t>（龍山寺前廣場）</a:t>
              </a:r>
              <a:endParaRPr kumimoji="1" lang="en-US" altLang="zh-TW" sz="1600" dirty="0"/>
            </a:p>
            <a:p>
              <a:pPr algn="ctr"/>
              <a:endParaRPr kumimoji="1" lang="zh-TW" altLang="en-US" sz="1600" dirty="0"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B51CB1D1-3046-C3EA-A89B-99D974849B6D}"/>
              </a:ext>
            </a:extLst>
          </p:cNvPr>
          <p:cNvSpPr/>
          <p:nvPr/>
        </p:nvSpPr>
        <p:spPr>
          <a:xfrm>
            <a:off x="720244" y="4432300"/>
            <a:ext cx="10080000" cy="927100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由於活動時間限制，建議每關在 </a:t>
            </a:r>
            <a:r>
              <a:rPr kumimoji="1" lang="en-US" altLang="zh-TW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 </a:t>
            </a: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分鐘內完成，</a:t>
            </a:r>
            <a:endParaRPr kumimoji="1" lang="en-US" altLang="zh-TW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spcAft>
                <a:spcPts val="600"/>
              </a:spcAft>
            </a:pP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若卡關時間過久，建議使用 </a:t>
            </a:r>
            <a:r>
              <a:rPr kumimoji="1" lang="en" altLang="zh-TW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 </a:t>
            </a: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提示以利時間控制。</a:t>
            </a:r>
            <a:endParaRPr kumimoji="1" lang="en-US" altLang="zh-TW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2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5CBF35-7B34-55AE-8AEF-F9B0199E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分組名單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FBF48AA-76E0-04C4-88DA-F8E46CCE4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043582"/>
              </p:ext>
            </p:extLst>
          </p:nvPr>
        </p:nvGraphicFramePr>
        <p:xfrm>
          <a:off x="720244" y="1080087"/>
          <a:ext cx="10080000" cy="4320000"/>
        </p:xfrm>
        <a:graphic>
          <a:graphicData uri="http://schemas.openxmlformats.org/drawingml/2006/table">
            <a:tbl>
              <a:tblPr>
                <a:tableStyleId>{C7E2D07F-EAD9-47BB-8D15-AB9D181D91B3}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70377492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1747046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86764949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77039325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67968012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9218192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2336379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92530479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1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2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3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4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5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6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7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第 </a:t>
                      </a:r>
                      <a:r>
                        <a:rPr lang="en-US" altLang="zh-TW" sz="1600" b="1" dirty="0"/>
                        <a:t>8 </a:t>
                      </a:r>
                      <a:r>
                        <a:rPr lang="zh-TW" altLang="en-US" sz="1600" b="1" dirty="0"/>
                        <a:t>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81646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沈柏妤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林維婕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李昕瑩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王康霖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張天豪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鄭昊昕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柯燕茹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林姿誼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1789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王婷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吳憲驊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林易瑩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傅安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游孟純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黃筱雲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林泓鈞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高宗毅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801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廖庭暘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張思妤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周欣融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陳宜青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楊淳先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周立夫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黃如君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張琪鈺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14489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陳智聖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李姵徵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張宇函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林佳霈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李宣諭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胡逸珊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孫語彤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黃有源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98805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彭莉婷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周國靖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鄭宇傑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王薇淳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高偉杰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黃子芸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唐俊智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蔡岳霖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65534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陳瑞得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高子華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林玉書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楊柏祥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曾乙涵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林子晴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黃仕勳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鄭雅欣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87922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許苡鈴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廖偉成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陳炘昱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林敬烜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許維仁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王億祥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許閔媗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李思穎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7634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劉德偉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蕭倚婷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陳冠宇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陳亭君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曾立豪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鄧昱辰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/>
                        <a:t>鄭書承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張夢軒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20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02506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497</Words>
  <Application>Microsoft Macintosh PowerPoint</Application>
  <PresentationFormat>自訂</PresentationFormat>
  <Paragraphs>134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微軟正黑體</vt:lpstr>
      <vt:lpstr>微軟正黑體</vt:lpstr>
      <vt:lpstr>標準系統字體</vt:lpstr>
      <vt:lpstr>Microsoft JhengHei Light</vt:lpstr>
      <vt:lpstr>Arial</vt:lpstr>
      <vt:lpstr>Roboto</vt:lpstr>
      <vt:lpstr>Times New Roman</vt:lpstr>
      <vt:lpstr>數科處範本</vt:lpstr>
      <vt:lpstr>2026 開春處季會</vt:lpstr>
      <vt:lpstr>城市尋寶：艋舺生存遊戲</vt:lpstr>
      <vt:lpstr>遊戲方式</vt:lpstr>
      <vt:lpstr>活動流程</vt:lpstr>
      <vt:lpstr>分組名單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17</cp:revision>
  <dcterms:modified xsi:type="dcterms:W3CDTF">2026-02-24T07:15:57Z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