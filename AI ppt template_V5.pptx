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1520488" cy="6480175"/>
  <p:notesSz cx="6858000" cy="9144000"/>
  <p:embeddedFontLst>
    <p:embeddedFont>
      <p:font typeface="Microsoft JhengHei" panose="020B0604030504040204" pitchFamily="34" charset="-120"/>
      <p:regular r:id="rId38"/>
      <p:bold r:id="rId39"/>
    </p:embeddedFon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hqKJAzFugGzrpaCdpbPJOL8Owf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F5-BB4D-BCBB-FCB982A3720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F5-BB4D-BCBB-FCB982A3720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EF5-BB4D-BCBB-FCB982A3720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EF5-BB4D-BCBB-FCB982A3720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EF5-BB4D-BCBB-FCB982A3720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F5-BB4D-BCBB-FCB982A3720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F5-BB4D-BCBB-FCB982A3720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EF5-BB4D-BCBB-FCB982A3720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EF5-BB4D-BCBB-FCB982A37206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EF5-BB4D-BCBB-FCB982A372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F0B2C73-924F-4FC6-A7D0-2C19A5488BEA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EF5-BB4D-BCBB-FCB982A372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C0E7D94-242E-4279-BCCC-9BF93225FF56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EF5-BB4D-BCBB-FCB982A372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79DD7F9-493D-4E57-B40D-912ECF9020F7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CEF5-BB4D-BCBB-FCB982A372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CE7E4C6-A18E-40AC-B3AA-914C7A459DC0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EF5-BB4D-BCBB-FCB982A37206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7D8B1D47-4CC0-4D00-B444-908A28193CDF}" type="CELLRANGE">
                      <a:rPr lang="zh-TW" altLang="en-US" sz="90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CEF5-BB4D-BCBB-FCB982A372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A9577F4-4994-4E1B-AE43-72F2503A9A61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CEF5-BB4D-BCBB-FCB982A3720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E7F95A22-C95E-4912-8E50-179237913473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CEF5-BB4D-BCBB-FCB982A37206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B1C289E1-5371-44CB-A6F6-F9F3A6219C3C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CEF5-BB4D-BCBB-FCB982A37206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E4095ADE-FA3E-467A-8911-6F10E1AE1254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CEF5-BB4D-BCBB-FCB982A37206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1680B03B-A073-47F6-8FC9-A892BA122F0D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CEF5-BB4D-BCBB-FCB982A372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 (篩選永豐對外曝光)'!$B$2:$B$11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 (篩選永豐對外曝光)'!$C$2:$C$11</c:f>
              <c:numCache>
                <c:formatCode>General</c:formatCode>
                <c:ptCount val="10"/>
                <c:pt idx="0">
                  <c:v>14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 (篩選永豐對外曝光)'!$D$2:$D$11</c:f>
              <c:numCache>
                <c:formatCode>General</c:formatCode>
                <c:ptCount val="10"/>
                <c:pt idx="0">
                  <c:v>54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 (篩選永豐對外曝光)'!$A$2:$A$11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CEF5-BB4D-BCBB-FCB982A37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1C8-2D4F-804D-1F313A69DFC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1C8-2D4F-804D-1F313A69DFC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1C8-2D4F-804D-1F313A69DFC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1C8-2D4F-804D-1F313A69DFC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1C8-2D4F-804D-1F313A69DFC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1C8-2D4F-804D-1F313A69DFC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1C8-2D4F-804D-1F313A69DFC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1C8-2D4F-804D-1F313A69DFC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1C8-2D4F-804D-1F313A69DFC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1C8-2D4F-804D-1F313A69DFC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D2B7FC0-3C26-480A-A95E-9B9EE3A70516}" type="CELLRANGE">
                      <a:rPr lang="en-US" altLang="zh-TW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91C8-2D4F-804D-1F313A69DF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395F95C-B425-43DE-BA2C-02ECE528649C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1C8-2D4F-804D-1F313A69DF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6BE095D-FA0C-4D64-8F9B-B517C7DE0237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91C8-2D4F-804D-1F313A69DFC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B718500-51E4-4193-880E-F8493949D185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91C8-2D4F-804D-1F313A69DFC5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60E7E6A4-4B8B-4ACE-A9C2-A1A5D9082A25}" type="CELLRANGE">
                      <a:rPr lang="zh-TW" altLang="en-US" sz="900"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91C8-2D4F-804D-1F313A69DFC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34F7E64D-DE4B-4627-A13A-D610472E562E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91C8-2D4F-804D-1F313A69DFC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DB53802B-62CF-4CC9-9CFF-181EEDC7AE45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91C8-2D4F-804D-1F313A69DFC5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9B9CCB9F-7718-4B0F-AA93-A1F3B9DCFF04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91C8-2D4F-804D-1F313A69DFC5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6E47E4C1-ADD5-46C1-B7D2-F7CFE17B2D13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91C8-2D4F-804D-1F313A69DFC5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C8707C77-7CEC-4BFC-9DA3-4D0E1693F4C1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91C8-2D4F-804D-1F313A69DF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'0210'!$C$2:$C$11</c:f>
              <c:numCache>
                <c:formatCode>General</c:formatCode>
                <c:ptCount val="10"/>
                <c:pt idx="0">
                  <c:v>44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'0210'!$D$2:$D$11</c:f>
              <c:numCache>
                <c:formatCode>General</c:formatCode>
                <c:ptCount val="10"/>
                <c:pt idx="0">
                  <c:v>84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91C8-2D4F-804D-1F313A69D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F5-BB4D-BCBB-FCB982A3720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F5-BB4D-BCBB-FCB982A3720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EF5-BB4D-BCBB-FCB982A3720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EF5-BB4D-BCBB-FCB982A3720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EF5-BB4D-BCBB-FCB982A3720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F5-BB4D-BCBB-FCB982A3720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F5-BB4D-BCBB-FCB982A3720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EF5-BB4D-BCBB-FCB982A3720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EF5-BB4D-BCBB-FCB982A37206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EF5-BB4D-BCBB-FCB982A372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B6FDCF1-043B-4FDF-A762-F12C590AC762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EF5-BB4D-BCBB-FCB982A372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6343987-D193-4F54-973F-333F0FEBF52E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EF5-BB4D-BCBB-FCB982A372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DD6F3B0-DA95-47ED-87F4-854FE8269BE3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CEF5-BB4D-BCBB-FCB982A372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5ECB9F3-E0FD-4C22-A8F2-60747E3D714A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EF5-BB4D-BCBB-FCB982A37206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7D8B1D47-4CC0-4D00-B444-908A28193CDF}" type="CELLRANGE">
                      <a:rPr lang="zh-TW" altLang="en-US" sz="90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CEF5-BB4D-BCBB-FCB982A372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4A176086-786B-424E-AD0A-D724852C881A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CEF5-BB4D-BCBB-FCB982A3720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1FAF5C14-090F-4FDB-8B38-0D2E7DB9176A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CEF5-BB4D-BCBB-FCB982A37206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3D5F5D59-9BBA-48DE-B9C9-B309FE3599F7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CEF5-BB4D-BCBB-FCB982A37206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A0D98BEF-EA28-4C94-9FFB-2855D00E1BF8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CEF5-BB4D-BCBB-FCB982A37206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5D27DBC3-DF57-48A8-AC29-BA61183DF6E5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CEF5-BB4D-BCBB-FCB982A372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 (篩選永豐對外曝光)'!$B$2:$B$11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 (篩選永豐對外曝光)'!$C$2:$C$11</c:f>
              <c:numCache>
                <c:formatCode>General</c:formatCode>
                <c:ptCount val="10"/>
                <c:pt idx="0">
                  <c:v>14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 (篩選永豐對外曝光)'!$D$2:$D$11</c:f>
              <c:numCache>
                <c:formatCode>General</c:formatCode>
                <c:ptCount val="10"/>
                <c:pt idx="0">
                  <c:v>54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 (篩選永豐對外曝光)'!$A$2:$A$11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CEF5-BB4D-BCBB-FCB982A37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1C8-2D4F-804D-1F313A69DFC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1C8-2D4F-804D-1F313A69DFC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1C8-2D4F-804D-1F313A69DFC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1C8-2D4F-804D-1F313A69DFC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1C8-2D4F-804D-1F313A69DFC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1C8-2D4F-804D-1F313A69DFC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1C8-2D4F-804D-1F313A69DFC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1C8-2D4F-804D-1F313A69DFC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1C8-2D4F-804D-1F313A69DFC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1C8-2D4F-804D-1F313A69DFC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AE9306C-92DF-45D4-BD6F-E0828D7952FA}" type="CELLRANGE">
                      <a:rPr lang="en-US" altLang="zh-TW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91C8-2D4F-804D-1F313A69DF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6FA9C60-453C-4CB1-B1F0-8EB873A1C2D9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1C8-2D4F-804D-1F313A69DF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76C5ABB-3ED9-4EAE-BE07-64C9E1F54A79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91C8-2D4F-804D-1F313A69DFC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AFBE2F0-7A31-4CC1-8F5F-1113C88CF271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91C8-2D4F-804D-1F313A69DFC5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60E7E6A4-4B8B-4ACE-A9C2-A1A5D9082A25}" type="CELLRANGE">
                      <a:rPr lang="zh-TW" altLang="en-US" sz="900"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91C8-2D4F-804D-1F313A69DFC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2504BD09-D3EC-4483-A7BD-2A8BEF39F247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91C8-2D4F-804D-1F313A69DFC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B123977E-6AE4-4779-BC16-8BF718834667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91C8-2D4F-804D-1F313A69DFC5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DA486DB2-6F31-43C2-9F50-978611BB1E02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91C8-2D4F-804D-1F313A69DFC5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BF5B9CF6-A94D-48B1-9B41-F96C9CAF527A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91C8-2D4F-804D-1F313A69DFC5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D793CA6E-A4CC-4A89-8FF0-BCB8D90A982A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91C8-2D4F-804D-1F313A69DF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'0210'!$C$2:$C$11</c:f>
              <c:numCache>
                <c:formatCode>General</c:formatCode>
                <c:ptCount val="10"/>
                <c:pt idx="0">
                  <c:v>44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'0210'!$D$2:$D$11</c:f>
              <c:numCache>
                <c:formatCode>General</c:formatCode>
                <c:ptCount val="10"/>
                <c:pt idx="0">
                  <c:v>84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91C8-2D4F-804D-1F313A69D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600" cy="78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98809eb64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298809eb64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98809eb6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2298809eb64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98809eb64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2298809eb64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3d89c15d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3d89c15d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3030b41c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3030b41c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3bcfb68ef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3bcfb68ef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107f9f4f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107f9f4f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6107f9f4f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6107f9f4f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6107f9f4f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6107f9f4f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6107f9f4f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26107f9f4f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6107f9f4fa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26107f9f4fa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98809eb64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2298809eb64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把邊界、字體、行距等數值調整成整齊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的數字，排版上優先對齊column，橫軸的部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分版面過窄，基本上只能置頂或置中(如右圖)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，因此只留content區的中心線，並在title和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content間做了半個gutter的間隔，最後新增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了無標題的母片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/>
          <p:nvPr/>
        </p:nvCxnSpPr>
        <p:spPr>
          <a:xfrm>
            <a:off x="1071392" y="2863505"/>
            <a:ext cx="94773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2005212" y="2177946"/>
            <a:ext cx="7709700" cy="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5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2955962" y="4242278"/>
            <a:ext cx="6144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7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3578271" y="5276334"/>
            <a:ext cx="4840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5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sldNum" idx="12"/>
          </p:nvPr>
        </p:nvSpPr>
        <p:spPr>
          <a:xfrm>
            <a:off x="10780200" y="5984064"/>
            <a:ext cx="6912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3"/>
          <p:cNvSpPr txBox="1">
            <a:spLocks noGrp="1"/>
          </p:cNvSpPr>
          <p:nvPr>
            <p:ph type="body" idx="1"/>
          </p:nvPr>
        </p:nvSpPr>
        <p:spPr>
          <a:xfrm>
            <a:off x="392693" y="5329858"/>
            <a:ext cx="7557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175" tIns="115175" rIns="115175" bIns="11517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3"/>
          <p:cNvSpPr txBox="1">
            <a:spLocks noGrp="1"/>
          </p:cNvSpPr>
          <p:nvPr>
            <p:ph type="sldNum" idx="12"/>
          </p:nvPr>
        </p:nvSpPr>
        <p:spPr>
          <a:xfrm>
            <a:off x="10673963" y="5874919"/>
            <a:ext cx="6912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175" tIns="115175" rIns="115175" bIns="1151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/>
          </p:nvPr>
        </p:nvSpPr>
        <p:spPr>
          <a:xfrm>
            <a:off x="555374" y="1006200"/>
            <a:ext cx="10424625" cy="5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■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●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◆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•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20" name="Google Shape;20;p34"/>
          <p:cNvCxnSpPr/>
          <p:nvPr/>
        </p:nvCxnSpPr>
        <p:spPr>
          <a:xfrm>
            <a:off x="555375" y="870750"/>
            <a:ext cx="10425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34"/>
          <p:cNvSpPr txBox="1">
            <a:spLocks noGrp="1"/>
          </p:cNvSpPr>
          <p:nvPr>
            <p:ph type="sldNum" idx="12"/>
          </p:nvPr>
        </p:nvSpPr>
        <p:spPr>
          <a:xfrm>
            <a:off x="10780200" y="5984064"/>
            <a:ext cx="6912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>
  <p:cSld name="只有標題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" name="Google Shape;24;p35"/>
          <p:cNvCxnSpPr/>
          <p:nvPr/>
        </p:nvCxnSpPr>
        <p:spPr>
          <a:xfrm>
            <a:off x="555375" y="870750"/>
            <a:ext cx="10425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5"/>
          <p:cNvSpPr txBox="1">
            <a:spLocks noGrp="1"/>
          </p:cNvSpPr>
          <p:nvPr>
            <p:ph type="sldNum" idx="12"/>
          </p:nvPr>
        </p:nvSpPr>
        <p:spPr>
          <a:xfrm>
            <a:off x="10780200" y="5984064"/>
            <a:ext cx="6912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9"/>
          <p:cNvSpPr txBox="1">
            <a:spLocks noGrp="1"/>
          </p:cNvSpPr>
          <p:nvPr>
            <p:ph type="body" idx="1"/>
          </p:nvPr>
        </p:nvSpPr>
        <p:spPr>
          <a:xfrm>
            <a:off x="540000" y="967800"/>
            <a:ext cx="5057400" cy="52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■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●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◆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body" idx="2"/>
          </p:nvPr>
        </p:nvSpPr>
        <p:spPr>
          <a:xfrm>
            <a:off x="5760000" y="967800"/>
            <a:ext cx="5220300" cy="52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■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●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◆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rgbClr val="5489A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title"/>
          </p:nvPr>
        </p:nvSpPr>
        <p:spPr>
          <a:xfrm>
            <a:off x="540000" y="288000"/>
            <a:ext cx="10440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0" name="Google Shape;30;p49"/>
          <p:cNvCxnSpPr/>
          <p:nvPr/>
        </p:nvCxnSpPr>
        <p:spPr>
          <a:xfrm>
            <a:off x="555375" y="870750"/>
            <a:ext cx="10425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49"/>
          <p:cNvSpPr txBox="1">
            <a:spLocks noGrp="1"/>
          </p:cNvSpPr>
          <p:nvPr>
            <p:ph type="sldNum" idx="12"/>
          </p:nvPr>
        </p:nvSpPr>
        <p:spPr>
          <a:xfrm>
            <a:off x="10780200" y="5984064"/>
            <a:ext cx="6912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/>
          <p:nvPr/>
        </p:nvSpPr>
        <p:spPr>
          <a:xfrm>
            <a:off x="16327" y="6238429"/>
            <a:ext cx="501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b" anchorCtr="0">
            <a:no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1"/>
          <p:cNvSpPr txBox="1">
            <a:spLocks noGrp="1"/>
          </p:cNvSpPr>
          <p:nvPr>
            <p:ph type="sldNum" idx="12"/>
          </p:nvPr>
        </p:nvSpPr>
        <p:spPr>
          <a:xfrm>
            <a:off x="10780200" y="5984064"/>
            <a:ext cx="6912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489A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>
          <p15:clr>
            <a:srgbClr val="A4A3A4"/>
          </p15:clr>
        </p15:guide>
        <p15:guide id="2" pos="3686">
          <p15:clr>
            <a:srgbClr val="547EBF"/>
          </p15:clr>
        </p15:guide>
        <p15:guide id="3" pos="6917">
          <p15:clr>
            <a:srgbClr val="A4A3A4"/>
          </p15:clr>
        </p15:guide>
        <p15:guide id="4" pos="340">
          <p15:clr>
            <a:srgbClr val="A4A3A4"/>
          </p15:clr>
        </p15:guide>
        <p15:guide id="5" orient="horz" pos="3900">
          <p15:clr>
            <a:srgbClr val="A4A3A4"/>
          </p15:clr>
        </p15:guide>
        <p15:guide id="6" orient="horz" pos="181">
          <p15:clr>
            <a:srgbClr val="A4A3A4"/>
          </p15:clr>
        </p15:guide>
        <p15:guide id="7" pos="1905">
          <p15:clr>
            <a:srgbClr val="A4A3A4"/>
          </p15:clr>
        </p15:guide>
        <p15:guide id="8" pos="2018">
          <p15:clr>
            <a:srgbClr val="A4A3A4"/>
          </p15:clr>
        </p15:guide>
        <p15:guide id="9" pos="5239">
          <p15:clr>
            <a:srgbClr val="A4A3A4"/>
          </p15:clr>
        </p15:guide>
        <p15:guide id="10" pos="5352">
          <p15:clr>
            <a:srgbClr val="A4A3A4"/>
          </p15:clr>
        </p15:guide>
        <p15:guide id="11" pos="3629">
          <p15:clr>
            <a:srgbClr val="A4A3A4"/>
          </p15:clr>
        </p15:guide>
        <p15:guide id="12" pos="3570">
          <p15:clr>
            <a:srgbClr val="547EBF"/>
          </p15:clr>
        </p15:guide>
        <p15:guide id="13" pos="2585">
          <p15:clr>
            <a:srgbClr val="F26B43"/>
          </p15:clr>
        </p15:guide>
        <p15:guide id="14" pos="2472">
          <p15:clr>
            <a:srgbClr val="F26B43"/>
          </p15:clr>
        </p15:guide>
        <p15:guide id="15" pos="4694">
          <p15:clr>
            <a:srgbClr val="F26B43"/>
          </p15:clr>
        </p15:guide>
        <p15:guide id="16" pos="4808">
          <p15:clr>
            <a:srgbClr val="F26B43"/>
          </p15:clr>
        </p15:guide>
        <p15:guide id="17" orient="horz" pos="2268">
          <p15:clr>
            <a:srgbClr val="F26B43"/>
          </p15:clr>
        </p15:guide>
        <p15:guide id="18" orient="horz" pos="544">
          <p15:clr>
            <a:srgbClr val="A4A3A4"/>
          </p15:clr>
        </p15:guide>
        <p15:guide id="19" orient="horz" pos="63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aJydGnLmdY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aJydGnLmdY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2005212" y="2177946"/>
            <a:ext cx="7709700" cy="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sz="3600" b="0"/>
              <a:t>封面標題(36 pt)</a:t>
            </a:r>
            <a:endParaRPr sz="3600" b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xfrm>
            <a:off x="2955962" y="4242278"/>
            <a:ext cx="6144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2800" b="0"/>
              <a:t>封面副標(28 pt)</a:t>
            </a:r>
            <a:endParaRPr sz="2800" b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xfrm>
            <a:off x="3578271" y="5276334"/>
            <a:ext cx="4840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b="0"/>
              <a:t>YYYY.MM.DD (16 pt)</a:t>
            </a:r>
            <a:endParaRPr sz="16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DE9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/>
        </p:nvSpPr>
        <p:spPr>
          <a:xfrm>
            <a:off x="539750" y="2901550"/>
            <a:ext cx="1044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文字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文字設定說明</a:t>
            </a:r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539750" y="1006200"/>
            <a:ext cx="10440300" cy="5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/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本頁說明文字設定原則，規範見後三頁</a:t>
            </a:r>
            <a:endParaRPr sz="1800">
              <a:solidFill>
                <a:srgbClr val="000000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內文(Main Copy)</a:t>
            </a:r>
            <a:endParaRPr sz="1800">
              <a:solidFill>
                <a:srgbClr val="000000"/>
              </a:solidFill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單頁最多/主要段落的文字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先依整份簡報的內容，決定內文的字型大小，以不壅擠且不超出輔助線區域為準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該頁如需其他層級的文字，從內文去拓展</a:t>
            </a:r>
            <a:endParaRPr sz="1800">
              <a:solidFill>
                <a:srgbClr val="000000"/>
              </a:solidFill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原則一個層級差距為 2 個單位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當只需要一個層級的標題時，使用標題2＋內文，而非標題1＋內文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字體沒特別需求時，請使用微軟正黑體</a:t>
            </a:r>
            <a:endParaRPr sz="1800">
              <a:solidFill>
                <a:srgbClr val="000000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行高為 1.5，若字數較多時，可使用 1.15，不適合再更小</a:t>
            </a:r>
            <a:endParaRPr sz="1800">
              <a:solidFill>
                <a:srgbClr val="000000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勿使用粗體、斜體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540000" y="288000"/>
            <a:ext cx="10440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>
                <a:solidFill>
                  <a:srgbClr val="212121"/>
                </a:solidFill>
              </a:rPr>
              <a:t>內文 18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5" name="Google Shape;55;p4"/>
          <p:cNvGraphicFramePr/>
          <p:nvPr/>
        </p:nvGraphicFramePr>
        <p:xfrm>
          <a:off x="539600" y="100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{91DB7C30-2B5D-4D34-8F22-85940E495A18}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7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Scale Category</a:t>
                      </a:r>
                      <a:endParaRPr sz="1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Typeface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Weight 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Size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主標(Catch)</a:t>
                      </a:r>
                      <a:endParaRPr sz="3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黑體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32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副標(Pre catch)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標題1 (</a:t>
                      </a:r>
                      <a:r>
                        <a:rPr lang="zh-TW" sz="24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1)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標題2 (</a:t>
                      </a: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2)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內文</a:t>
                      </a: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Main Copy) 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註解1 (Annotation 1)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註解2 (Annotation 2)</a:t>
                      </a:r>
                      <a:endParaRPr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98809eb64_1_1"/>
          <p:cNvSpPr txBox="1">
            <a:spLocks noGrp="1"/>
          </p:cNvSpPr>
          <p:nvPr>
            <p:ph type="title"/>
          </p:nvPr>
        </p:nvSpPr>
        <p:spPr>
          <a:xfrm>
            <a:off x="540000" y="288000"/>
            <a:ext cx="10440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>
                <a:solidFill>
                  <a:srgbClr val="212121"/>
                </a:solidFill>
              </a:rPr>
              <a:t>內文 16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1" name="Google Shape;61;g2298809eb64_1_1"/>
          <p:cNvGraphicFramePr/>
          <p:nvPr/>
        </p:nvGraphicFramePr>
        <p:xfrm>
          <a:off x="539600" y="100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{91DB7C30-2B5D-4D34-8F22-85940E495A18}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7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Scale Category</a:t>
                      </a:r>
                      <a:endParaRPr sz="1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Typeface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Weight 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Size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主標(Catch)</a:t>
                      </a:r>
                      <a:endParaRPr sz="3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黑體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32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副標(Pre catch)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20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標題1 (</a:t>
                      </a:r>
                      <a:r>
                        <a:rPr lang="zh-TW" sz="2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1)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2</a:t>
                      </a:r>
                      <a:r>
                        <a:rPr lang="zh-TW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標題2 (</a:t>
                      </a:r>
                      <a:r>
                        <a:rPr lang="zh-TW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2)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18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內文</a:t>
                      </a:r>
                      <a:r>
                        <a:rPr lang="zh-TW" sz="16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Main Copy) 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16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註解1 (Annotation 1)</a:t>
                      </a:r>
                      <a:endParaRPr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14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註解2 (Annotation 2)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98809eb64_1_6"/>
          <p:cNvSpPr txBox="1">
            <a:spLocks noGrp="1"/>
          </p:cNvSpPr>
          <p:nvPr>
            <p:ph type="title"/>
          </p:nvPr>
        </p:nvSpPr>
        <p:spPr>
          <a:xfrm>
            <a:off x="540000" y="288000"/>
            <a:ext cx="10440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>
                <a:solidFill>
                  <a:srgbClr val="212121"/>
                </a:solidFill>
              </a:rPr>
              <a:t>內文 14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7" name="Google Shape;67;g2298809eb64_1_6"/>
          <p:cNvGraphicFramePr/>
          <p:nvPr/>
        </p:nvGraphicFramePr>
        <p:xfrm>
          <a:off x="539600" y="100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{91DB7C30-2B5D-4D34-8F22-85940E495A18}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7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Scale Category</a:t>
                      </a:r>
                      <a:endParaRPr sz="1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Typeface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Weight 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Size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主標(Catch)</a:t>
                      </a:r>
                      <a:endParaRPr sz="3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黑體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32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副標(Pre catch)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20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標題1 (</a:t>
                      </a: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1)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2</a:t>
                      </a:r>
                      <a:r>
                        <a:rPr lang="zh-TW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標題2 (</a:t>
                      </a: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2)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</a:t>
                      </a:r>
                      <a:r>
                        <a:rPr lang="zh-TW"/>
                        <a:t>6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內文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Main Copy) 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</a:t>
                      </a:r>
                      <a:r>
                        <a:rPr lang="zh-TW"/>
                        <a:t>4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註解1 (Annotation 1)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</a:t>
                      </a:r>
                      <a:r>
                        <a:rPr lang="zh-TW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註解2 (Annotation 2)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</a:t>
                      </a:r>
                      <a:r>
                        <a:rPr lang="zh-TW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D03238"/>
                </a:solidFill>
              </a:rPr>
              <a:t>[主標 32]</a:t>
            </a:r>
            <a:r>
              <a:rPr lang="zh-TW"/>
              <a:t>永豐 AI關鍵佈局</a:t>
            </a:r>
            <a:r>
              <a:rPr lang="zh-TW">
                <a:solidFill>
                  <a:srgbClr val="FF0000"/>
                </a:solidFill>
              </a:rPr>
              <a:t> </a:t>
            </a:r>
            <a:r>
              <a:rPr lang="zh-TW" sz="2000">
                <a:solidFill>
                  <a:srgbClr val="D03238"/>
                </a:solidFill>
              </a:rPr>
              <a:t>[副標 20]</a:t>
            </a:r>
            <a:r>
              <a:rPr lang="zh-TW" sz="2000">
                <a:solidFill>
                  <a:schemeClr val="dk1"/>
                </a:solidFill>
              </a:rPr>
              <a:t>樂學好開心</a:t>
            </a:r>
            <a:endParaRPr sz="2000"/>
          </a:p>
        </p:txBody>
      </p:sp>
      <p:graphicFrame>
        <p:nvGraphicFramePr>
          <p:cNvPr id="73" name="Google Shape;73;p7"/>
          <p:cNvGraphicFramePr/>
          <p:nvPr/>
        </p:nvGraphicFramePr>
        <p:xfrm>
          <a:off x="540000" y="10080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9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5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zh-TW" sz="2000" u="none" strike="noStrike" cap="none">
                          <a:solidFill>
                            <a:srgbClr val="FFD2D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[標題1</a:t>
                      </a:r>
                      <a:r>
                        <a:rPr lang="zh-TW" sz="2000">
                          <a:solidFill>
                            <a:srgbClr val="FFD2D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2000" u="none" strike="noStrike" cap="none">
                          <a:solidFill>
                            <a:srgbClr val="FFD2D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20]</a:t>
                      </a:r>
                      <a:r>
                        <a:rPr lang="zh-TW" sz="2000" u="none" strike="noStrike" cap="non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重視顧客需求體驗、提高數位化程度</a:t>
                      </a:r>
                      <a:endParaRPr sz="20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879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[標題2</a:t>
                      </a:r>
                      <a:r>
                        <a:rPr lang="zh-TW" sz="1600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16]</a:t>
                      </a: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業務．行銷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風險．決策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流程．營運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[標題2]</a:t>
                      </a:r>
                      <a:endParaRPr sz="16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描述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[內文</a:t>
                      </a:r>
                      <a:r>
                        <a:rPr lang="zh-TW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4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14]</a:t>
                      </a:r>
                      <a:r>
                        <a:rPr lang="zh-TW" sz="140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建立每一位顧客專屬的「行銷基因」，提供個人化的商品推薦。透過了解顧客潛在的動機，提供行銷成功率。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突破過往資料取得以及固有規則設定方式，以系統化方式加入更多數據、科學化方式產出決策參考依據。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重點發展文件辨識與流程自動化技術，針對大量紙本工作，有效降低錯誤，進而提升人力效能及作業效率。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廣度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提供 38 項指標，包含商品(外匯/存款/投資理財/信用卡/授信等)、行為偏好及客群指數，應用於 6 種渠道(電話、簡訊、分行等)。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已運用於零售/法人信用評等、不動產估價、房價指數、信用卡盜刷、理專風險等面向。控管風險、提升服務品質。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運用於銀行、證券、租賃等 3 家子公司，包含電費單、票據、基金配息、財力文件等作業流程。優化流程同時提升顧客體驗。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亮點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信貸撥款數單月平均金額，相較於以往未使用 AI 分數成長近 7 成；換匯交易金額成長近 3 倍。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秒估房貸提供顧客即時、準確的服務；無時間差判斷信用卡偽冒風險，每月擋下約 1 億盜刷金額。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票據辨識解決峰日 5 倍的負荷量；過去中央掃票機集中處理的流程，透過輕量化的模型往分散式處理轉型。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1800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D03238"/>
                </a:solidFill>
              </a:rPr>
              <a:t>[主標 32]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數據趨勢洞察 </a:t>
            </a:r>
            <a:r>
              <a:rPr lang="zh-TW" sz="2000">
                <a:solidFill>
                  <a:srgbClr val="D03238"/>
                </a:solidFill>
              </a:rPr>
              <a:t>[副標 20]</a:t>
            </a:r>
            <a:r>
              <a:rPr lang="zh-TW" sz="2000">
                <a:latin typeface="Microsoft JhengHei"/>
                <a:ea typeface="Microsoft JhengHei"/>
                <a:cs typeface="Microsoft JhengHei"/>
                <a:sym typeface="Microsoft JhengHei"/>
              </a:rPr>
              <a:t>證券案</a:t>
            </a:r>
            <a:endParaRPr sz="2000"/>
          </a:p>
        </p:txBody>
      </p:sp>
      <p:sp>
        <p:nvSpPr>
          <p:cNvPr id="79" name="Google Shape;79;p8"/>
          <p:cNvSpPr txBox="1"/>
          <p:nvPr/>
        </p:nvSpPr>
        <p:spPr>
          <a:xfrm>
            <a:off x="547458" y="1015290"/>
            <a:ext cx="10282500" cy="14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TW" sz="2200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[標題1 22]</a:t>
            </a:r>
            <a:r>
              <a:rPr lang="zh-TW" sz="2200">
                <a:solidFill>
                  <a:schemeClr val="dk1"/>
                </a:solidFill>
                <a:highlight>
                  <a:srgbClr val="C4D5E9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另一個面向</a:t>
            </a:r>
            <a:endParaRPr sz="2200">
              <a:solidFill>
                <a:srgbClr val="FF0000"/>
              </a:solidFill>
              <a:highlight>
                <a:srgbClr val="C4D5E9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[標題2</a:t>
            </a:r>
            <a:r>
              <a:rPr lang="zh-TW" sz="1800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18</a:t>
            </a:r>
            <a:r>
              <a:rPr lang="zh-TW" sz="18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]</a:t>
            </a: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透過證券結合銀行的資料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6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[內文</a:t>
            </a:r>
            <a:r>
              <a:rPr lang="zh-TW" sz="1600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6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16]</a:t>
            </a:r>
            <a:r>
              <a:rPr lang="zh-TW" sz="16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有些證券戶的主要往來銀行可能非永豐銀行，如何吸引這些客戶使用永豐銀行服務及商品?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利用證券資料預測銀行行為，找出與銀行行為相關度高的證券特性，對證券戶推薦適合的銀行商品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6023346" y="3155422"/>
            <a:ext cx="5089200" cy="2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i="0" u="none" strike="noStrike" cap="none">
                <a:solidFill>
                  <a:srgbClr val="D03238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[</a:t>
            </a:r>
            <a:r>
              <a:rPr lang="zh-TW" sz="14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註解1</a:t>
            </a:r>
            <a:r>
              <a:rPr lang="zh-TW" sz="1400" i="0" u="none" strike="noStrike" cap="none">
                <a:solidFill>
                  <a:srgbClr val="D03238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]</a:t>
            </a:r>
            <a:r>
              <a:rPr lang="zh-TW" sz="140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條件</a:t>
            </a:r>
            <a:endParaRPr sz="1400" i="0" u="none" strike="noStrike" cap="none">
              <a:solidFill>
                <a:schemeClr val="dk1"/>
              </a:solidFill>
              <a:highlight>
                <a:srgbClr val="FFFFFF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9" marR="0" lvl="0" indent="-160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AutoNum type="arabicPeriod"/>
            </a:pPr>
            <a:r>
              <a:rPr lang="zh-TW" sz="14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證_現貨現有銀行數位大戶數 = 0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9" marR="0" lvl="0" indent="-160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AutoNum type="arabicPeriod"/>
            </a:pPr>
            <a:r>
              <a:rPr lang="zh-TW" sz="14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證_近1年現資券AUM最大餘額 &gt; 500,000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4F81B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利用上述條件挑選出的客戶中，有 70.6% 符合目標客群定義，且可涵蓋 67.8% 的目標客群</a:t>
            </a:r>
            <a:endParaRPr sz="14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在證券資料中符合條件的客戶，存款總AP高的機率大</a:t>
            </a:r>
            <a:endParaRPr sz="14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9" marR="0" lvl="0" indent="-160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03238"/>
              </a:buClr>
              <a:buSzPts val="1400"/>
              <a:buFont typeface="Microsoft JhengHei"/>
              <a:buChar char="→"/>
            </a:pPr>
            <a:r>
              <a:rPr lang="zh-TW" sz="14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設計銀行存款類商品</a:t>
            </a:r>
            <a:br>
              <a:rPr lang="zh-TW" sz="14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40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吸引上述證券客戶將存款移轉到本行</a:t>
            </a:r>
            <a:endParaRPr sz="1400" i="0" u="none" strike="noStrike" cap="none">
              <a:solidFill>
                <a:srgbClr val="D032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1914807" y="3223531"/>
            <a:ext cx="2491500" cy="441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證_現貨現有銀行數位大戶數</a:t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539750" y="4277547"/>
            <a:ext cx="2620800" cy="441900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證_近1年現資券AUM最大餘額 </a:t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3238984" y="4277547"/>
            <a:ext cx="2621100" cy="441900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證_近1年複委託證券交易金額 </a:t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547458" y="5282603"/>
            <a:ext cx="1077900" cy="4419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24.7%</a:t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1881555" y="5277133"/>
            <a:ext cx="1077900" cy="441900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25400" cap="flat" cmpd="sng">
            <a:solidFill>
              <a:srgbClr val="FF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67.8%</a:t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3339488" y="5275354"/>
            <a:ext cx="1077900" cy="4419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6.4%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4681417" y="5266118"/>
            <a:ext cx="1077900" cy="4419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1.1%</a:t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1914807" y="3744097"/>
            <a:ext cx="65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0</a:t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371388" y="4828338"/>
            <a:ext cx="130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&lt;= 500,000</a:t>
            </a:r>
            <a:endParaRPr/>
          </a:p>
        </p:txBody>
      </p:sp>
      <p:sp>
        <p:nvSpPr>
          <p:cNvPr id="90" name="Google Shape;90;p8"/>
          <p:cNvSpPr txBox="1"/>
          <p:nvPr/>
        </p:nvSpPr>
        <p:spPr>
          <a:xfrm>
            <a:off x="3735584" y="3744097"/>
            <a:ext cx="5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&gt; 0</a:t>
            </a:r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2056285" y="4835246"/>
            <a:ext cx="130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&gt; 500,000</a:t>
            </a:r>
            <a:endParaRPr/>
          </a:p>
        </p:txBody>
      </p:sp>
      <p:sp>
        <p:nvSpPr>
          <p:cNvPr id="92" name="Google Shape;92;p8"/>
          <p:cNvSpPr txBox="1"/>
          <p:nvPr/>
        </p:nvSpPr>
        <p:spPr>
          <a:xfrm>
            <a:off x="3339487" y="4837254"/>
            <a:ext cx="120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&lt;= 300,000</a:t>
            </a: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4454879" y="4843505"/>
            <a:ext cx="130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&gt; 300,000</a:t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4919845" y="4014754"/>
            <a:ext cx="83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7.5%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547458" y="4008778"/>
            <a:ext cx="83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92.5%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855855" y="2839409"/>
            <a:ext cx="459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[註解1</a:t>
            </a:r>
            <a:r>
              <a:rPr lang="zh-TW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14]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目標客群: 銀_當年度存款總 AP &gt; 275 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97" name="Google Shape;97;p8"/>
          <p:cNvCxnSpPr>
            <a:stCxn id="81" idx="2"/>
            <a:endCxn id="82" idx="0"/>
          </p:cNvCxnSpPr>
          <p:nvPr/>
        </p:nvCxnSpPr>
        <p:spPr>
          <a:xfrm rot="5400000">
            <a:off x="2199357" y="3316231"/>
            <a:ext cx="612000" cy="1310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FF7C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8" name="Google Shape;98;p8"/>
          <p:cNvCxnSpPr>
            <a:stCxn id="81" idx="2"/>
            <a:endCxn id="83" idx="0"/>
          </p:cNvCxnSpPr>
          <p:nvPr/>
        </p:nvCxnSpPr>
        <p:spPr>
          <a:xfrm rot="-5400000" flipH="1">
            <a:off x="3549057" y="3276931"/>
            <a:ext cx="612000" cy="1389000"/>
          </a:xfrm>
          <a:prstGeom prst="curvedConnector3">
            <a:avLst>
              <a:gd name="adj1" fmla="val 50010"/>
            </a:avLst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" name="Google Shape;99;p8"/>
          <p:cNvCxnSpPr>
            <a:stCxn id="83" idx="2"/>
            <a:endCxn id="87" idx="0"/>
          </p:cNvCxnSpPr>
          <p:nvPr/>
        </p:nvCxnSpPr>
        <p:spPr>
          <a:xfrm rot="-5400000" flipH="1">
            <a:off x="4611634" y="4657347"/>
            <a:ext cx="546600" cy="670800"/>
          </a:xfrm>
          <a:prstGeom prst="curvedConnector3">
            <a:avLst>
              <a:gd name="adj1" fmla="val 50008"/>
            </a:avLst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0" name="Google Shape;100;p8"/>
          <p:cNvCxnSpPr>
            <a:stCxn id="82" idx="2"/>
            <a:endCxn id="85" idx="0"/>
          </p:cNvCxnSpPr>
          <p:nvPr/>
        </p:nvCxnSpPr>
        <p:spPr>
          <a:xfrm rot="-5400000" flipH="1">
            <a:off x="1856450" y="4713147"/>
            <a:ext cx="557700" cy="570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FF7C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1" name="Google Shape;101;p8"/>
          <p:cNvCxnSpPr>
            <a:stCxn id="83" idx="2"/>
            <a:endCxn id="86" idx="0"/>
          </p:cNvCxnSpPr>
          <p:nvPr/>
        </p:nvCxnSpPr>
        <p:spPr>
          <a:xfrm rot="5400000">
            <a:off x="3936034" y="4661847"/>
            <a:ext cx="555900" cy="6711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2" name="Google Shape;102;p8"/>
          <p:cNvCxnSpPr>
            <a:stCxn id="82" idx="2"/>
            <a:endCxn id="84" idx="0"/>
          </p:cNvCxnSpPr>
          <p:nvPr/>
        </p:nvCxnSpPr>
        <p:spPr>
          <a:xfrm rot="5400000">
            <a:off x="1186700" y="4619097"/>
            <a:ext cx="563100" cy="763800"/>
          </a:xfrm>
          <a:prstGeom prst="curvedConnector3">
            <a:avLst>
              <a:gd name="adj1" fmla="val 50006"/>
            </a:avLst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DE9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98809eb64_1_17"/>
          <p:cNvSpPr txBox="1"/>
          <p:nvPr/>
        </p:nvSpPr>
        <p:spPr>
          <a:xfrm>
            <a:off x="539750" y="2901550"/>
            <a:ext cx="1044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配色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3d89c15d02_0_0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配色1</a:t>
            </a:r>
            <a:endParaRPr/>
          </a:p>
        </p:txBody>
      </p:sp>
      <p:sp>
        <p:nvSpPr>
          <p:cNvPr id="113" name="Google Shape;113;g23d89c15d02_0_0"/>
          <p:cNvSpPr txBox="1"/>
          <p:nvPr/>
        </p:nvSpPr>
        <p:spPr>
          <a:xfrm>
            <a:off x="562500" y="1008075"/>
            <a:ext cx="1041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使用「滴管」工具選取顏色，或輸入＃開頭之國際色碼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14" name="Google Shape;114;g23d89c15d02_0_0"/>
          <p:cNvGraphicFramePr/>
          <p:nvPr/>
        </p:nvGraphicFramePr>
        <p:xfrm>
          <a:off x="539713" y="1469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13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文字、深色底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淺色底、螢光筆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顏色一(藍)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87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AE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8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965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9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#58798f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#cbdde9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#93aec1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#6689a1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#496578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#293c49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顏色二(綠)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278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7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A6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84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68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#42786f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#bed7d5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#73a6a0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#46847b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#3b6860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#283e38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顏色三(黃)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3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BC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99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6A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#ffd34e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#febc05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#fe9903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#fe6a08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顏色四(紅)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99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5B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28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#d03238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#f6d6d7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#e8999c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#d95b60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#a6282d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#7d1e22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功能顏色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無彩色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#808080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#f8f8f8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#dddddd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#b2b2b2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#5f5f5f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#333333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#d03238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#f6d6d7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綠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3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#00b176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#b7e3cd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3030b41c5_0_12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配色1說明</a:t>
            </a:r>
            <a:endParaRPr/>
          </a:p>
        </p:txBody>
      </p:sp>
      <p:sp>
        <p:nvSpPr>
          <p:cNvPr id="120" name="Google Shape;120;g253030b41c5_0_12"/>
          <p:cNvSpPr txBox="1">
            <a:spLocks noGrp="1"/>
          </p:cNvSpPr>
          <p:nvPr>
            <p:ph type="body" idx="1"/>
          </p:nvPr>
        </p:nvSpPr>
        <p:spPr>
          <a:xfrm>
            <a:off x="555374" y="1006200"/>
            <a:ext cx="5112000" cy="51858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150" tIns="44050" rIns="88150" bIns="44050" anchor="t" anchorCtr="0">
            <a:noAutofit/>
          </a:bodyPr>
          <a:lstStyle/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單頁有彩色(非灰階) ≤ 3 種</a:t>
            </a:r>
            <a:endParaRPr sz="1800">
              <a:solidFill>
                <a:srgbClr val="000000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8F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58798F"/>
                </a:solidFill>
              </a:rPr>
              <a:t>超連結(藍) #58798f</a:t>
            </a:r>
            <a:endParaRPr sz="1800">
              <a:solidFill>
                <a:srgbClr val="58798F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3238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D03238"/>
                </a:solidFill>
              </a:rPr>
              <a:t>強調文字(紅) #d03238</a:t>
            </a:r>
            <a:endParaRPr sz="1800">
              <a:solidFill>
                <a:srgbClr val="D03238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highlight>
                  <a:srgbClr val="FFD2D2"/>
                </a:highlight>
              </a:rPr>
              <a:t>螢光筆(紅) #f6d6d7</a:t>
            </a:r>
            <a:endParaRPr sz="1800">
              <a:solidFill>
                <a:srgbClr val="000000"/>
              </a:solidFill>
              <a:highlight>
                <a:srgbClr val="FFD2D2"/>
              </a:highlight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色塊 </a:t>
            </a:r>
            <a:r>
              <a:rPr lang="zh-TW" sz="1200">
                <a:solidFill>
                  <a:srgbClr val="58798F"/>
                </a:solidFill>
              </a:rPr>
              <a:t>➊</a:t>
            </a:r>
            <a:endParaRPr sz="1200">
              <a:solidFill>
                <a:srgbClr val="58798F"/>
              </a:solidFill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大面積以淺色底為主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單頁深色區域 ≤ 20% 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圖標 </a:t>
            </a:r>
            <a:r>
              <a:rPr lang="zh-TW" sz="1200">
                <a:solidFill>
                  <a:srgbClr val="58798F"/>
                </a:solidFill>
              </a:rPr>
              <a:t>➋</a:t>
            </a:r>
            <a:endParaRPr sz="1200">
              <a:solidFill>
                <a:srgbClr val="58798F"/>
              </a:solidFill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預設放置在圖片左上角，除非擋住重要資訊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21" name="Google Shape;121;g253030b41c5_0_12"/>
          <p:cNvGraphicFramePr/>
          <p:nvPr/>
        </p:nvGraphicFramePr>
        <p:xfrm>
          <a:off x="5851550" y="100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255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#cbdde9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#58798f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87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#bed7d5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7D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#42786f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278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#ffebb3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#ffc629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#f6d6d7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#d03238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" name="Google Shape;122;g253030b41c5_0_12"/>
          <p:cNvPicPr preferRelativeResize="0"/>
          <p:nvPr/>
        </p:nvPicPr>
        <p:blipFill rotWithShape="1">
          <a:blip r:embed="rId3">
            <a:alphaModFix/>
          </a:blip>
          <a:srcRect l="50661" t="-11141" b="-11153"/>
          <a:stretch/>
        </p:blipFill>
        <p:spPr>
          <a:xfrm>
            <a:off x="5851525" y="3825575"/>
            <a:ext cx="2553901" cy="1962995"/>
          </a:xfrm>
          <a:prstGeom prst="rect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3" name="Google Shape;123;g253030b41c5_0_12"/>
          <p:cNvSpPr/>
          <p:nvPr/>
        </p:nvSpPr>
        <p:spPr>
          <a:xfrm>
            <a:off x="10728740" y="1008074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➊</a:t>
            </a:r>
            <a:endParaRPr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4" name="Google Shape;124;g253030b41c5_0_12"/>
          <p:cNvSpPr/>
          <p:nvPr/>
        </p:nvSpPr>
        <p:spPr>
          <a:xfrm>
            <a:off x="5851538" y="3825575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58798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➋</a:t>
            </a:r>
            <a:endParaRPr>
              <a:solidFill>
                <a:srgbClr val="58798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配色範例1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5851525" y="1014675"/>
            <a:ext cx="2449500" cy="3336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行動計畫</a:t>
            </a:r>
            <a:endParaRPr sz="1568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558900" y="1014675"/>
            <a:ext cx="5108400" cy="3336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經營策略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496300" y="1014675"/>
            <a:ext cx="2484300" cy="333600"/>
          </a:xfrm>
          <a:prstGeom prst="rect">
            <a:avLst/>
          </a:prstGeom>
          <a:solidFill>
            <a:srgbClr val="FFEBB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成功指標</a:t>
            </a:r>
            <a:endParaRPr sz="1568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559026" y="28329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風險．決策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2064420" y="2684964"/>
            <a:ext cx="3570453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配合金融風險管理佈局，提供技術支援配套</a:t>
            </a:r>
            <a:b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(信用風險、市場風險、行為風險)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5897563" y="2675915"/>
            <a:ext cx="240347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信用風險：信貸進件、銀證所得替代、法金額度預估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市場風險：核心存款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行為風險：理專風險、信用卡盜刷</a:t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8570913" y="2676811"/>
            <a:ext cx="240347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模型部署：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信貸進件 (Q1)、銀證所得替代 (Q2)、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法金額度預估 (Q4)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核心存款POC完成 (Q4)</a:t>
            </a:r>
            <a:endParaRPr/>
          </a:p>
        </p:txBody>
      </p:sp>
      <p:cxnSp>
        <p:nvCxnSpPr>
          <p:cNvPr id="137" name="Google Shape;137;p12"/>
          <p:cNvCxnSpPr/>
          <p:nvPr/>
        </p:nvCxnSpPr>
        <p:spPr>
          <a:xfrm>
            <a:off x="559050" y="2558756"/>
            <a:ext cx="10421844" cy="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8" name="Google Shape;138;p12"/>
          <p:cNvCxnSpPr/>
          <p:nvPr/>
        </p:nvCxnSpPr>
        <p:spPr>
          <a:xfrm>
            <a:off x="559050" y="3779509"/>
            <a:ext cx="10421844" cy="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9" name="Google Shape;139;p12"/>
          <p:cNvSpPr txBox="1"/>
          <p:nvPr/>
        </p:nvSpPr>
        <p:spPr>
          <a:xfrm>
            <a:off x="559026" y="53479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技術．研發</a:t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2064421" y="5199958"/>
            <a:ext cx="3570452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發展運算資源配置最適化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積極探索未來市場新商機</a:t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5904759" y="5190909"/>
            <a:ext cx="2396279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邊緣運算技術應用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資源配置平台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Trading：美股ETF資產配置、AI基金經理人、台股券商分點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42" name="Google Shape;142;p12"/>
          <p:cNvCxnSpPr/>
          <p:nvPr/>
        </p:nvCxnSpPr>
        <p:spPr>
          <a:xfrm>
            <a:off x="559050" y="5003842"/>
            <a:ext cx="10440738" cy="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3" name="Google Shape;143;p12"/>
          <p:cNvSpPr/>
          <p:nvPr/>
        </p:nvSpPr>
        <p:spPr>
          <a:xfrm>
            <a:off x="8570913" y="5190908"/>
            <a:ext cx="240982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 POC 完成 (Q2)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開發環境落地 (Q2)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POC完成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美股資產配置 (Q2)、AI 基金經理人 (Q4)、台股券商分點 (Q4)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559051" y="16179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業務．行銷</a:t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2064419" y="1469962"/>
            <a:ext cx="3551309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鏈結績效指標，助攻業務銷售 </a:t>
            </a:r>
            <a:b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(信貸、中高端理財、銀證數位客群)</a:t>
            </a:r>
            <a:endParaRPr/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完善資料技術串聯，提升顧客中台架構，深化業務應用</a:t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5904760" y="1460913"/>
            <a:ext cx="2396278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信貸：信貸指數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中高端理財：富能指數、潛力中高端客群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銀證數位客群：大戶指數、證券沉睡戶喚醒、存股推薦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8570913" y="1460939"/>
            <a:ext cx="240982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模型部署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信貸指數  (Q1)</a:t>
            </a:r>
            <a:endParaRPr/>
          </a:p>
          <a:p>
            <a:pPr marL="224051" marR="0" lvl="0" indent="-224051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富能指數  (Q1)、潛力中高端客群  (Q2)</a:t>
            </a:r>
            <a:endParaRPr/>
          </a:p>
          <a:p>
            <a:pPr marL="224051" marR="0" lvl="0" indent="-224051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沉睡戶喚醒 (Q1)存股推薦 (Q4)</a:t>
            </a:r>
            <a:endParaRPr/>
          </a:p>
        </p:txBody>
      </p:sp>
      <p:sp>
        <p:nvSpPr>
          <p:cNvPr id="148" name="Google Shape;148;p12"/>
          <p:cNvSpPr txBox="1"/>
          <p:nvPr/>
        </p:nvSpPr>
        <p:spPr>
          <a:xfrm>
            <a:off x="559050" y="40622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人才．文化</a:t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2064421" y="3914277"/>
            <a:ext cx="3570452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數位科技賦能，培育頂尖人才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打造數位品牌，推動數位變革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5904760" y="3905228"/>
            <a:ext cx="2396278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籌辦「技術主題競賽」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落實「數位幕僚計畫」，重點單位數位人才培育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建置「科技人才能力視覺化平台」</a:t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8570913" y="3908661"/>
            <a:ext cx="240982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提供活動相關技術支援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完成數位幕僚培訓首年結業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平台建置完成 (Q2)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招募人數 ≥6人 (Q4)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13"/>
          <p:cNvCxnSpPr/>
          <p:nvPr/>
        </p:nvCxnSpPr>
        <p:spPr>
          <a:xfrm rot="10800000">
            <a:off x="1038585" y="3879345"/>
            <a:ext cx="1500" cy="763179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157" name="Google Shape;157;p13"/>
          <p:cNvCxnSpPr/>
          <p:nvPr/>
        </p:nvCxnSpPr>
        <p:spPr>
          <a:xfrm rot="10800000">
            <a:off x="10588749" y="3877621"/>
            <a:ext cx="0" cy="758380"/>
          </a:xfrm>
          <a:prstGeom prst="straightConnector1">
            <a:avLst/>
          </a:prstGeom>
          <a:noFill/>
          <a:ln w="19050" cap="flat" cmpd="sng">
            <a:solidFill>
              <a:srgbClr val="58798F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158" name="Google Shape;158;p13"/>
          <p:cNvCxnSpPr>
            <a:stCxn id="159" idx="6"/>
          </p:cNvCxnSpPr>
          <p:nvPr/>
        </p:nvCxnSpPr>
        <p:spPr>
          <a:xfrm>
            <a:off x="1396453" y="3599903"/>
            <a:ext cx="8814600" cy="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9" name="Google Shape;159;p13"/>
          <p:cNvSpPr/>
          <p:nvPr/>
        </p:nvSpPr>
        <p:spPr>
          <a:xfrm>
            <a:off x="682182" y="3242762"/>
            <a:ext cx="714271" cy="714281"/>
          </a:xfrm>
          <a:prstGeom prst="ellipse">
            <a:avLst/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230549" y="3242762"/>
            <a:ext cx="714271" cy="714281"/>
          </a:xfrm>
          <a:prstGeom prst="ellipse">
            <a:avLst/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 sz="14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61" name="Google Shape;161;p13"/>
          <p:cNvCxnSpPr/>
          <p:nvPr/>
        </p:nvCxnSpPr>
        <p:spPr>
          <a:xfrm rot="10800000">
            <a:off x="7546274" y="2110609"/>
            <a:ext cx="1500" cy="11880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62" name="Google Shape;162;p13"/>
          <p:cNvCxnSpPr/>
          <p:nvPr/>
        </p:nvCxnSpPr>
        <p:spPr>
          <a:xfrm rot="10800000">
            <a:off x="4707266" y="2523976"/>
            <a:ext cx="0" cy="7596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63" name="Google Shape;163;p13"/>
          <p:cNvCxnSpPr/>
          <p:nvPr/>
        </p:nvCxnSpPr>
        <p:spPr>
          <a:xfrm rot="10800000">
            <a:off x="4033700" y="3871658"/>
            <a:ext cx="0" cy="75838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164" name="Google Shape;164;p13"/>
          <p:cNvCxnSpPr/>
          <p:nvPr/>
        </p:nvCxnSpPr>
        <p:spPr>
          <a:xfrm rot="10800000">
            <a:off x="6759210" y="3879345"/>
            <a:ext cx="1500" cy="763179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65" name="Google Shape;165;p13"/>
          <p:cNvSpPr txBox="1"/>
          <p:nvPr/>
        </p:nvSpPr>
        <p:spPr>
          <a:xfrm>
            <a:off x="1827503" y="2832599"/>
            <a:ext cx="2055515" cy="4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培訓課程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5895171" y="2855276"/>
            <a:ext cx="2055515" cy="4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專案體驗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3811579" y="1915119"/>
            <a:ext cx="1803899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行銷案例探討</a:t>
            </a:r>
            <a:endParaRPr sz="11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6699564" y="993803"/>
            <a:ext cx="1705385" cy="117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AI專案解方規劃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透過科技轉型顧問之協助，體驗將需求、可行性評估、PoC、至專案解方規劃之過程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9692706" y="4622972"/>
            <a:ext cx="18039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結業餐會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頒獎、結業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、專案開展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281523" y="4660132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啟動說明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1434981" y="1192379"/>
            <a:ext cx="1515600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數位溝通力建立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業務流程圖實作、OCR案例溝通體驗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6004465" y="4649309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非AI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腦力激盪餐會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75" rIns="88150" bIns="440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配色範例2</a:t>
            </a:r>
            <a:endParaRPr>
              <a:highlight>
                <a:srgbClr val="FFFF00"/>
              </a:highlight>
            </a:endParaRPr>
          </a:p>
        </p:txBody>
      </p:sp>
      <p:cxnSp>
        <p:nvCxnSpPr>
          <p:cNvPr id="174" name="Google Shape;174;p13"/>
          <p:cNvCxnSpPr>
            <a:endCxn id="171" idx="2"/>
          </p:cNvCxnSpPr>
          <p:nvPr/>
        </p:nvCxnSpPr>
        <p:spPr>
          <a:xfrm rot="10800000">
            <a:off x="2192781" y="1961021"/>
            <a:ext cx="0" cy="13188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75" name="Google Shape;175;p13"/>
          <p:cNvSpPr txBox="1"/>
          <p:nvPr/>
        </p:nvSpPr>
        <p:spPr>
          <a:xfrm>
            <a:off x="1996951" y="4658805"/>
            <a:ext cx="1515600" cy="135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溝通力建立</a:t>
            </a:r>
            <a:b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業務流程與AI命題描繪執行探討-Regression/</a:t>
            </a:r>
            <a:b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Classification</a:t>
            </a:r>
            <a:endParaRPr/>
          </a:p>
        </p:txBody>
      </p:sp>
      <p:cxnSp>
        <p:nvCxnSpPr>
          <p:cNvPr id="176" name="Google Shape;176;p13"/>
          <p:cNvCxnSpPr/>
          <p:nvPr/>
        </p:nvCxnSpPr>
        <p:spPr>
          <a:xfrm rot="10800000">
            <a:off x="2753965" y="3884144"/>
            <a:ext cx="0" cy="75838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77" name="Google Shape;177;p13"/>
          <p:cNvSpPr txBox="1"/>
          <p:nvPr/>
        </p:nvSpPr>
        <p:spPr>
          <a:xfrm>
            <a:off x="3274779" y="4641963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OCR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案例探討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742884" y="1902063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RPA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案例探討</a:t>
            </a:r>
            <a:endParaRPr/>
          </a:p>
        </p:txBody>
      </p:sp>
      <p:cxnSp>
        <p:nvCxnSpPr>
          <p:cNvPr id="179" name="Google Shape;179;p13"/>
          <p:cNvCxnSpPr/>
          <p:nvPr/>
        </p:nvCxnSpPr>
        <p:spPr>
          <a:xfrm rot="10800000">
            <a:off x="3497481" y="2519859"/>
            <a:ext cx="0" cy="7587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80" name="Google Shape;180;p13"/>
          <p:cNvSpPr txBox="1"/>
          <p:nvPr/>
        </p:nvSpPr>
        <p:spPr>
          <a:xfrm>
            <a:off x="5488631" y="1914466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腦力激盪餐會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81" name="Google Shape;181;p13"/>
          <p:cNvCxnSpPr/>
          <p:nvPr/>
        </p:nvCxnSpPr>
        <p:spPr>
          <a:xfrm rot="10800000">
            <a:off x="6239956" y="2531896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82" name="Google Shape;182;p13"/>
          <p:cNvCxnSpPr/>
          <p:nvPr/>
        </p:nvCxnSpPr>
        <p:spPr>
          <a:xfrm rot="10800000">
            <a:off x="8455119" y="3846585"/>
            <a:ext cx="0" cy="802724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83" name="Google Shape;183;p13"/>
          <p:cNvSpPr txBox="1"/>
          <p:nvPr/>
        </p:nvSpPr>
        <p:spPr>
          <a:xfrm>
            <a:off x="7537852" y="4643565"/>
            <a:ext cx="1810437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非AI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專案解方規劃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透過科技轉型顧問之協助，體驗將需求、可行性評估、至專案解方規劃之過程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649232" y="2864355"/>
            <a:ext cx="89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單位-月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85" name="Google Shape;185;p13"/>
          <p:cNvCxnSpPr/>
          <p:nvPr/>
        </p:nvCxnSpPr>
        <p:spPr>
          <a:xfrm rot="10800000">
            <a:off x="5460783" y="3606684"/>
            <a:ext cx="0" cy="1042625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86" name="Google Shape;186;p13"/>
          <p:cNvSpPr txBox="1"/>
          <p:nvPr/>
        </p:nvSpPr>
        <p:spPr>
          <a:xfrm>
            <a:off x="4700309" y="4653451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業務單位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處內需求盤點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8702698" y="2127158"/>
            <a:ext cx="1515600" cy="369300"/>
          </a:xfrm>
          <a:prstGeom prst="rect">
            <a:avLst/>
          </a:prstGeom>
          <a:solidFill>
            <a:srgbClr val="F6D6D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解方分享交流會</a:t>
            </a:r>
            <a:endParaRPr/>
          </a:p>
        </p:txBody>
      </p:sp>
      <p:cxnSp>
        <p:nvCxnSpPr>
          <p:cNvPr id="188" name="Google Shape;188;p13"/>
          <p:cNvCxnSpPr/>
          <p:nvPr/>
        </p:nvCxnSpPr>
        <p:spPr>
          <a:xfrm rot="10800000">
            <a:off x="9462929" y="2536709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89" name="Google Shape;189;p13"/>
          <p:cNvSpPr/>
          <p:nvPr/>
        </p:nvSpPr>
        <p:spPr>
          <a:xfrm>
            <a:off x="1778151" y="3242762"/>
            <a:ext cx="3313569" cy="71428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668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811232" y="3246162"/>
            <a:ext cx="4057677" cy="71428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4684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425428" y="3318060"/>
            <a:ext cx="563677" cy="563685"/>
          </a:xfrm>
          <a:prstGeom prst="ellipse">
            <a:avLst/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9178660" y="3318060"/>
            <a:ext cx="563677" cy="563685"/>
          </a:xfrm>
          <a:prstGeom prst="ellipse">
            <a:avLst/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875457" y="3318060"/>
            <a:ext cx="1169421" cy="561285"/>
          </a:xfrm>
          <a:prstGeom prst="roundRect">
            <a:avLst>
              <a:gd name="adj" fmla="val 50000"/>
            </a:avLst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3153392" y="3331896"/>
            <a:ext cx="1169421" cy="547450"/>
          </a:xfrm>
          <a:prstGeom prst="roundRect">
            <a:avLst>
              <a:gd name="adj" fmla="val 50000"/>
            </a:avLst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922673" y="3318060"/>
            <a:ext cx="1169421" cy="553598"/>
          </a:xfrm>
          <a:prstGeom prst="roundRect">
            <a:avLst>
              <a:gd name="adj" fmla="val 50000"/>
            </a:avLst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7203535" y="3322078"/>
            <a:ext cx="1848553" cy="553598"/>
          </a:xfrm>
          <a:prstGeom prst="roundRect">
            <a:avLst>
              <a:gd name="adj" fmla="val 50000"/>
            </a:avLst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~ 9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配色範例3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539750" y="3748200"/>
            <a:ext cx="5127600" cy="2043000"/>
          </a:xfrm>
          <a:prstGeom prst="rect">
            <a:avLst/>
          </a:prstGeom>
          <a:solidFill>
            <a:srgbClr val="CBDDE9"/>
          </a:solidFill>
          <a:ln w="12700" cap="flat" cmpd="sng">
            <a:solidFill>
              <a:srgbClr val="CBDD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0000" rIns="91425" bIns="90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不定期議題討論</a:t>
            </a:r>
            <a:endParaRPr sz="18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成員：蘇威嘉、嚴國瑞、劉柏甫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討論包括雲端應用、資料共享、資料整合、ChatGPT 應用及 AI 專案執行內容議題，將視需要不定期討論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參與 41AI 日，與數金處「投資顧問部」進行技術交流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539750" y="2002550"/>
            <a:ext cx="5127600" cy="1449300"/>
          </a:xfrm>
          <a:prstGeom prst="rect">
            <a:avLst/>
          </a:prstGeom>
          <a:noFill/>
          <a:ln w="12700" cap="flat" cmpd="sng">
            <a:solidFill>
              <a:srgbClr val="668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0000" rIns="91425" bIns="90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定期會議</a:t>
            </a:r>
            <a:endParaRPr sz="18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自 3 月起邀請財務長翁唯峻參與數科處主管定期週會議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了解數科處運作情況、各專案執行狀況等，使證券、金控互相熟悉業務，創造更多數位科技之證券面相應用</a:t>
            </a:r>
            <a:endParaRPr sz="18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5853150" y="1282850"/>
            <a:ext cx="5127600" cy="2169000"/>
          </a:xfrm>
          <a:prstGeom prst="rect">
            <a:avLst/>
          </a:prstGeom>
          <a:solidFill>
            <a:srgbClr val="BED7D5"/>
          </a:solidFill>
          <a:ln w="12700" cap="flat" cmpd="sng">
            <a:solidFill>
              <a:srgbClr val="BED7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0000" rIns="91425" bIns="90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數位幕僚計畫</a:t>
            </a:r>
            <a:endParaRPr sz="18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自 2023.02 啟動，目的為培養</a:t>
            </a:r>
            <a:b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單位數位人才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證券參與單位包含通路營運處、</a:t>
            </a:r>
            <a:b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投資事業處、數位金融處、風險</a:t>
            </a:r>
            <a:b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管理處、營運中心、金融商品部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5848700" y="3748200"/>
            <a:ext cx="5127600" cy="2043000"/>
          </a:xfrm>
          <a:prstGeom prst="rect">
            <a:avLst/>
          </a:prstGeom>
          <a:noFill/>
          <a:ln w="12700" cap="flat" cmpd="sng">
            <a:solidFill>
              <a:srgbClr val="4684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0000" rIns="91425" bIns="90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專案執行</a:t>
            </a:r>
            <a:endParaRPr sz="180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[營運中心] 證券配息確認單，</a:t>
            </a:r>
            <a:r>
              <a:rPr lang="zh-TW">
                <a:solidFill>
                  <a:srgbClr val="00B17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已完成</a:t>
            </a:r>
            <a:endParaRPr>
              <a:solidFill>
                <a:srgbClr val="00B17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[數金處　] 沉睡戶喚醒，</a:t>
            </a:r>
            <a:r>
              <a:rPr lang="zh-TW">
                <a:solidFill>
                  <a:srgbClr val="00B17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已完成</a:t>
            </a:r>
            <a:endParaRPr>
              <a:solidFill>
                <a:srgbClr val="00B17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[數金處　] 豐存股推薦，</a:t>
            </a:r>
            <a:r>
              <a:rPr lang="zh-TW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進行中</a:t>
            </a:r>
            <a:endParaRPr>
              <a:solidFill>
                <a:srgbClr val="D032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[營運中心] 外幣債辨識，</a:t>
            </a:r>
            <a:r>
              <a:rPr lang="zh-TW">
                <a:solidFill>
                  <a:srgbClr val="00B17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已完成</a:t>
            </a:r>
            <a:endParaRPr>
              <a:solidFill>
                <a:srgbClr val="00B17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[財管部　] 境外基金庫存辨識，</a:t>
            </a:r>
            <a:r>
              <a:rPr lang="zh-TW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進行中</a:t>
            </a:r>
            <a:endParaRPr>
              <a:solidFill>
                <a:srgbClr val="D032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206" name="Google Shape;206;p15"/>
          <p:cNvGrpSpPr/>
          <p:nvPr/>
        </p:nvGrpSpPr>
        <p:grpSpPr>
          <a:xfrm>
            <a:off x="944449" y="1079220"/>
            <a:ext cx="4284542" cy="850963"/>
            <a:chOff x="3610276" y="3140427"/>
            <a:chExt cx="4284542" cy="850963"/>
          </a:xfrm>
        </p:grpSpPr>
        <p:pic>
          <p:nvPicPr>
            <p:cNvPr id="207" name="Google Shape;207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27065" y="3140427"/>
              <a:ext cx="850963" cy="850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5"/>
            <p:cNvSpPr/>
            <p:nvPr/>
          </p:nvSpPr>
          <p:spPr>
            <a:xfrm>
              <a:off x="3610276" y="3622297"/>
              <a:ext cx="1665514" cy="294704"/>
            </a:xfrm>
            <a:prstGeom prst="roundRect">
              <a:avLst>
                <a:gd name="adj" fmla="val 535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highlight>
                    <a:srgbClr val="CBDDE9"/>
                  </a:highlight>
                  <a:latin typeface="Microsoft JhengHei"/>
                  <a:ea typeface="Microsoft JhengHei"/>
                  <a:cs typeface="Microsoft JhengHei"/>
                  <a:sym typeface="Microsoft JhengHei"/>
                </a:rPr>
                <a:t>數位科技處</a:t>
              </a:r>
              <a:endParaRPr sz="1800" b="0" i="0" u="none" strike="noStrike" cap="none">
                <a:solidFill>
                  <a:schemeClr val="dk1"/>
                </a:solidFill>
                <a:highlight>
                  <a:srgbClr val="CBDDE9"/>
                </a:highlight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6229304" y="3622297"/>
              <a:ext cx="1665514" cy="294704"/>
            </a:xfrm>
            <a:prstGeom prst="roundRect">
              <a:avLst>
                <a:gd name="adj" fmla="val 535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highlight>
                    <a:srgbClr val="FFEBB3"/>
                  </a:highlight>
                  <a:latin typeface="Microsoft JhengHei"/>
                  <a:ea typeface="Microsoft JhengHei"/>
                  <a:cs typeface="Microsoft JhengHei"/>
                  <a:sym typeface="Microsoft JhengHei"/>
                </a:rPr>
                <a:t>永豐金證券</a:t>
              </a:r>
              <a:endParaRPr sz="1800" b="0" i="0" u="none" strike="noStrike" cap="none">
                <a:solidFill>
                  <a:schemeClr val="dk1"/>
                </a:solidFill>
                <a:highlight>
                  <a:srgbClr val="FFEBB3"/>
                </a:highlight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8738506" y="1619124"/>
            <a:ext cx="2378700" cy="1751762"/>
            <a:chOff x="8547070" y="1809521"/>
            <a:chExt cx="2378700" cy="1751762"/>
          </a:xfrm>
        </p:grpSpPr>
        <p:pic>
          <p:nvPicPr>
            <p:cNvPr id="211" name="Google Shape;211;p15" descr="一張含有 文字, 人員, 室內 的圖片&#10;&#10;自動產生的描述"/>
            <p:cNvPicPr preferRelativeResize="0"/>
            <p:nvPr/>
          </p:nvPicPr>
          <p:blipFill rotWithShape="1">
            <a:blip r:embed="rId4">
              <a:alphaModFix/>
            </a:blip>
            <a:srcRect l="14870" t="6464" r="13398" b="6027"/>
            <a:stretch/>
          </p:blipFill>
          <p:spPr>
            <a:xfrm>
              <a:off x="8572490" y="1809521"/>
              <a:ext cx="2117100" cy="1449300"/>
            </a:xfrm>
            <a:prstGeom prst="roundRect">
              <a:avLst>
                <a:gd name="adj" fmla="val 3250"/>
              </a:avLst>
            </a:prstGeom>
            <a:noFill/>
            <a:ln>
              <a:noFill/>
            </a:ln>
          </p:spPr>
        </p:pic>
        <p:sp>
          <p:nvSpPr>
            <p:cNvPr id="212" name="Google Shape;212;p15"/>
            <p:cNvSpPr txBox="1"/>
            <p:nvPr/>
          </p:nvSpPr>
          <p:spPr>
            <a:xfrm>
              <a:off x="8547070" y="3299682"/>
              <a:ext cx="23787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100" b="0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2023.03.08 證券說明會大合照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配色範例4</a:t>
            </a:r>
            <a:endParaRPr/>
          </a:p>
        </p:txBody>
      </p:sp>
      <p:grpSp>
        <p:nvGrpSpPr>
          <p:cNvPr id="218" name="Google Shape;218;p16"/>
          <p:cNvGrpSpPr/>
          <p:nvPr/>
        </p:nvGrpSpPr>
        <p:grpSpPr>
          <a:xfrm>
            <a:off x="7552282" y="4372127"/>
            <a:ext cx="3711106" cy="1780005"/>
            <a:chOff x="6308314" y="3321761"/>
            <a:chExt cx="4333583" cy="2078571"/>
          </a:xfrm>
        </p:grpSpPr>
        <p:pic>
          <p:nvPicPr>
            <p:cNvPr id="219" name="Google Shape;219;p16"/>
            <p:cNvPicPr preferRelativeResize="0"/>
            <p:nvPr/>
          </p:nvPicPr>
          <p:blipFill rotWithShape="1">
            <a:blip r:embed="rId3">
              <a:alphaModFix/>
            </a:blip>
            <a:srcRect l="2302" t="28549" r="1712" b="4200"/>
            <a:stretch/>
          </p:blipFill>
          <p:spPr>
            <a:xfrm>
              <a:off x="6308314" y="4606056"/>
              <a:ext cx="4333583" cy="79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6"/>
            <p:cNvPicPr preferRelativeResize="0"/>
            <p:nvPr/>
          </p:nvPicPr>
          <p:blipFill rotWithShape="1">
            <a:blip r:embed="rId4">
              <a:alphaModFix/>
            </a:blip>
            <a:srcRect l="3436" t="21116" r="983" b="17894"/>
            <a:stretch/>
          </p:blipFill>
          <p:spPr>
            <a:xfrm>
              <a:off x="6308314" y="3941015"/>
              <a:ext cx="4333583" cy="67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6"/>
            <p:cNvPicPr preferRelativeResize="0"/>
            <p:nvPr/>
          </p:nvPicPr>
          <p:blipFill rotWithShape="1">
            <a:blip r:embed="rId5">
              <a:alphaModFix/>
            </a:blip>
            <a:srcRect l="2311" t="17887" r="1296" b="17724"/>
            <a:stretch/>
          </p:blipFill>
          <p:spPr>
            <a:xfrm>
              <a:off x="6308314" y="3321761"/>
              <a:ext cx="4333583" cy="6746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" name="Google Shape;222;p16"/>
          <p:cNvGrpSpPr/>
          <p:nvPr/>
        </p:nvGrpSpPr>
        <p:grpSpPr>
          <a:xfrm>
            <a:off x="2309217" y="4372263"/>
            <a:ext cx="3396674" cy="1730866"/>
            <a:chOff x="1323059" y="3854826"/>
            <a:chExt cx="4481577" cy="2283706"/>
          </a:xfrm>
        </p:grpSpPr>
        <p:pic>
          <p:nvPicPr>
            <p:cNvPr id="223" name="Google Shape;223;p16"/>
            <p:cNvPicPr preferRelativeResize="0"/>
            <p:nvPr/>
          </p:nvPicPr>
          <p:blipFill rotWithShape="1">
            <a:blip r:embed="rId6">
              <a:alphaModFix/>
            </a:blip>
            <a:srcRect l="1118" t="13641" r="7376" b="20117"/>
            <a:stretch/>
          </p:blipFill>
          <p:spPr>
            <a:xfrm>
              <a:off x="1327823" y="3854826"/>
              <a:ext cx="4436390" cy="763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16"/>
            <p:cNvPicPr preferRelativeResize="0"/>
            <p:nvPr/>
          </p:nvPicPr>
          <p:blipFill rotWithShape="1">
            <a:blip r:embed="rId7">
              <a:alphaModFix/>
            </a:blip>
            <a:srcRect l="1988" t="7980" r="3726" b="22949"/>
            <a:stretch/>
          </p:blipFill>
          <p:spPr>
            <a:xfrm>
              <a:off x="1368246" y="4622796"/>
              <a:ext cx="4436390" cy="684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16"/>
            <p:cNvPicPr preferRelativeResize="0"/>
            <p:nvPr/>
          </p:nvPicPr>
          <p:blipFill rotWithShape="1">
            <a:blip r:embed="rId8">
              <a:alphaModFix/>
            </a:blip>
            <a:srcRect t="12172" r="6276" b="10102"/>
            <a:stretch/>
          </p:blipFill>
          <p:spPr>
            <a:xfrm>
              <a:off x="1323059" y="5309359"/>
              <a:ext cx="4445731" cy="8291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16"/>
          <p:cNvSpPr txBox="1">
            <a:spLocks noGrp="1"/>
          </p:cNvSpPr>
          <p:nvPr>
            <p:ph type="body" idx="1"/>
          </p:nvPr>
        </p:nvSpPr>
        <p:spPr>
          <a:xfrm>
            <a:off x="548800" y="1023775"/>
            <a:ext cx="5302800" cy="3003300"/>
          </a:xfrm>
          <a:prstGeom prst="rect">
            <a:avLst/>
          </a:prstGeom>
          <a:noFill/>
          <a:ln w="9525" cap="flat" cmpd="sng">
            <a:solidFill>
              <a:srgbClr val="668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rgbClr val="000000"/>
                </a:solidFill>
              </a:rPr>
              <a:t>目標提升整體客戶 AUM，將 AUM 分佈曲線「右移」，讓模型專注在紅色區域</a:t>
            </a:r>
            <a:endParaRPr sz="1400">
              <a:solidFill>
                <a:srgbClr val="000000"/>
              </a:solidFill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rgbClr val="000000"/>
                </a:solidFill>
              </a:rPr>
              <a:t>數科處提出 AUM 提升總額 =</a:t>
            </a:r>
            <a:br>
              <a:rPr lang="zh-TW" sz="1400">
                <a:solidFill>
                  <a:srgbClr val="000000"/>
                </a:solidFill>
              </a:rPr>
            </a:br>
            <a:r>
              <a:rPr lang="zh-TW" sz="1400">
                <a:solidFill>
                  <a:srgbClr val="58798F"/>
                </a:solidFill>
              </a:rPr>
              <a:t>N (客戶數) × A (單一客戶 AUM 提升) × P (預測精準度)</a:t>
            </a:r>
            <a:endParaRPr sz="1400">
              <a:solidFill>
                <a:srgbClr val="58798F"/>
              </a:solidFill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rgbClr val="000000"/>
                </a:solidFill>
              </a:rPr>
              <a:t>探討參數</a:t>
            </a:r>
            <a:endParaRPr sz="1400">
              <a:solidFill>
                <a:srgbClr val="000000"/>
              </a:solidFill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絕對成長：1萬、2萬… AUM 提升金額 </a:t>
            </a:r>
            <a:endParaRPr sz="12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相對成長：5%、10% … AUM 提升比例</a:t>
            </a:r>
            <a:endParaRPr sz="12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基本門檻：10萬、20萬… 低於採絕對成長；高於採相對成長</a:t>
            </a:r>
            <a:endParaRPr sz="12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成長高 ➜ </a:t>
            </a:r>
            <a:r>
              <a:rPr lang="zh-TW" sz="1200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N▼</a:t>
            </a: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zh-TW" sz="1200">
                <a:solidFill>
                  <a:srgbClr val="00B17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A▲</a:t>
            </a: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| 成長低 ➜</a:t>
            </a:r>
            <a:r>
              <a:rPr lang="zh-TW" sz="1200">
                <a:solidFill>
                  <a:srgbClr val="00B17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N▲</a:t>
            </a: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zh-TW" sz="1200">
                <a:solidFill>
                  <a:srgbClr val="D0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A▼</a:t>
            </a:r>
            <a:endParaRPr sz="1200">
              <a:solidFill>
                <a:srgbClr val="D032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zh-TW"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引入 P 取得 AUM 提升總額平衡點</a:t>
            </a:r>
            <a:endParaRPr sz="1200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 flipH="1">
            <a:off x="6346551" y="4010463"/>
            <a:ext cx="674578" cy="26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切點1</a:t>
            </a:r>
            <a:endParaRPr sz="1200" b="0" i="0" u="none" strike="noStrike" cap="none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 flipH="1">
            <a:off x="8434606" y="4010463"/>
            <a:ext cx="674578" cy="26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切點2</a:t>
            </a:r>
            <a:endParaRPr sz="1200" b="0" i="0" u="none" strike="noStrike" cap="none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 flipH="1">
            <a:off x="5888771" y="1105629"/>
            <a:ext cx="216375" cy="44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人數</a:t>
            </a:r>
            <a:endParaRPr/>
          </a:p>
        </p:txBody>
      </p:sp>
      <p:grpSp>
        <p:nvGrpSpPr>
          <p:cNvPr id="230" name="Google Shape;230;p16"/>
          <p:cNvGrpSpPr/>
          <p:nvPr/>
        </p:nvGrpSpPr>
        <p:grpSpPr>
          <a:xfrm>
            <a:off x="6175796" y="1023784"/>
            <a:ext cx="5071830" cy="3003271"/>
            <a:chOff x="6175796" y="1023784"/>
            <a:chExt cx="5071830" cy="4892204"/>
          </a:xfrm>
        </p:grpSpPr>
        <p:sp>
          <p:nvSpPr>
            <p:cNvPr id="231" name="Google Shape;231;p16"/>
            <p:cNvSpPr/>
            <p:nvPr/>
          </p:nvSpPr>
          <p:spPr>
            <a:xfrm>
              <a:off x="6278336" y="1183821"/>
              <a:ext cx="4294414" cy="4351565"/>
            </a:xfrm>
            <a:custGeom>
              <a:avLst/>
              <a:gdLst/>
              <a:ahLst/>
              <a:cxnLst/>
              <a:rect l="l" t="t" r="r" b="b"/>
              <a:pathLst>
                <a:path w="4294414" h="4351565" extrusionOk="0">
                  <a:moveTo>
                    <a:pt x="0" y="8165"/>
                  </a:moveTo>
                  <a:lnTo>
                    <a:pt x="24493" y="481693"/>
                  </a:lnTo>
                  <a:lnTo>
                    <a:pt x="97971" y="1069522"/>
                  </a:lnTo>
                  <a:lnTo>
                    <a:pt x="179614" y="1714500"/>
                  </a:lnTo>
                  <a:lnTo>
                    <a:pt x="269421" y="2163536"/>
                  </a:lnTo>
                  <a:lnTo>
                    <a:pt x="408214" y="2490108"/>
                  </a:lnTo>
                  <a:lnTo>
                    <a:pt x="555171" y="2824843"/>
                  </a:lnTo>
                  <a:lnTo>
                    <a:pt x="726621" y="3110593"/>
                  </a:lnTo>
                  <a:lnTo>
                    <a:pt x="938893" y="3404508"/>
                  </a:lnTo>
                  <a:lnTo>
                    <a:pt x="1151164" y="3616779"/>
                  </a:lnTo>
                  <a:lnTo>
                    <a:pt x="1461407" y="3796393"/>
                  </a:lnTo>
                  <a:lnTo>
                    <a:pt x="1853293" y="3927022"/>
                  </a:lnTo>
                  <a:lnTo>
                    <a:pt x="2890157" y="4163786"/>
                  </a:lnTo>
                  <a:lnTo>
                    <a:pt x="3763735" y="4302579"/>
                  </a:lnTo>
                  <a:lnTo>
                    <a:pt x="4139293" y="4351565"/>
                  </a:lnTo>
                  <a:lnTo>
                    <a:pt x="4294414" y="4351565"/>
                  </a:lnTo>
                  <a:lnTo>
                    <a:pt x="3886200" y="4286250"/>
                  </a:lnTo>
                  <a:lnTo>
                    <a:pt x="3371850" y="4196443"/>
                  </a:lnTo>
                  <a:lnTo>
                    <a:pt x="3126921" y="4139293"/>
                  </a:lnTo>
                  <a:lnTo>
                    <a:pt x="2628900" y="4024993"/>
                  </a:lnTo>
                  <a:lnTo>
                    <a:pt x="2106385" y="3878036"/>
                  </a:lnTo>
                  <a:lnTo>
                    <a:pt x="1771650" y="3763736"/>
                  </a:lnTo>
                  <a:lnTo>
                    <a:pt x="1404257" y="3543300"/>
                  </a:lnTo>
                  <a:lnTo>
                    <a:pt x="1232807" y="3298372"/>
                  </a:lnTo>
                  <a:lnTo>
                    <a:pt x="1004207" y="2971800"/>
                  </a:lnTo>
                  <a:lnTo>
                    <a:pt x="857250" y="2686050"/>
                  </a:lnTo>
                  <a:lnTo>
                    <a:pt x="677635" y="2302329"/>
                  </a:lnTo>
                  <a:lnTo>
                    <a:pt x="604157" y="2008415"/>
                  </a:lnTo>
                  <a:lnTo>
                    <a:pt x="489857" y="1338943"/>
                  </a:lnTo>
                  <a:lnTo>
                    <a:pt x="440871" y="832758"/>
                  </a:lnTo>
                  <a:lnTo>
                    <a:pt x="351064" y="81643"/>
                  </a:lnTo>
                  <a:lnTo>
                    <a:pt x="351064" y="0"/>
                  </a:lnTo>
                  <a:lnTo>
                    <a:pt x="0" y="81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 txBox="1"/>
            <p:nvPr/>
          </p:nvSpPr>
          <p:spPr>
            <a:xfrm flipH="1">
              <a:off x="10472926" y="5567482"/>
              <a:ext cx="774700" cy="265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0" i="0" u="none" strike="noStrike" cap="none">
                  <a:solidFill>
                    <a:srgbClr val="3F3F3F"/>
                  </a:solidFill>
                  <a:latin typeface="Consolas"/>
                  <a:ea typeface="Consolas"/>
                  <a:cs typeface="Consolas"/>
                  <a:sym typeface="Consolas"/>
                </a:rPr>
                <a:t>AUM</a:t>
              </a:r>
              <a:endParaRPr sz="12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33" name="Google Shape;233;p16"/>
            <p:cNvGrpSpPr/>
            <p:nvPr/>
          </p:nvGrpSpPr>
          <p:grpSpPr>
            <a:xfrm>
              <a:off x="6175796" y="1023784"/>
              <a:ext cx="4741396" cy="4892204"/>
              <a:chOff x="6146272" y="1083214"/>
              <a:chExt cx="4914892" cy="4758786"/>
            </a:xfrm>
          </p:grpSpPr>
          <p:grpSp>
            <p:nvGrpSpPr>
              <p:cNvPr id="234" name="Google Shape;234;p16"/>
              <p:cNvGrpSpPr/>
              <p:nvPr/>
            </p:nvGrpSpPr>
            <p:grpSpPr>
              <a:xfrm>
                <a:off x="6146272" y="1083214"/>
                <a:ext cx="4914892" cy="4758786"/>
                <a:chOff x="6239933" y="1037406"/>
                <a:chExt cx="4597400" cy="2523066"/>
              </a:xfrm>
            </p:grpSpPr>
            <p:cxnSp>
              <p:nvCxnSpPr>
                <p:cNvPr id="235" name="Google Shape;235;p16"/>
                <p:cNvCxnSpPr/>
                <p:nvPr/>
              </p:nvCxnSpPr>
              <p:spPr>
                <a:xfrm>
                  <a:off x="6239933" y="3553825"/>
                  <a:ext cx="4597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36" name="Google Shape;236;p16"/>
                <p:cNvCxnSpPr/>
                <p:nvPr/>
              </p:nvCxnSpPr>
              <p:spPr>
                <a:xfrm rot="10800000">
                  <a:off x="6240991" y="1037406"/>
                  <a:ext cx="0" cy="252306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237" name="Google Shape;237;p16"/>
              <p:cNvCxnSpPr/>
              <p:nvPr/>
            </p:nvCxnSpPr>
            <p:spPr>
              <a:xfrm>
                <a:off x="6719983" y="1149463"/>
                <a:ext cx="0" cy="468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42786F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8" name="Google Shape;238;p16"/>
              <p:cNvCxnSpPr/>
              <p:nvPr/>
            </p:nvCxnSpPr>
            <p:spPr>
              <a:xfrm>
                <a:off x="8792748" y="1149463"/>
                <a:ext cx="0" cy="468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42786F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sp>
            <p:nvSpPr>
              <p:cNvPr id="239" name="Google Shape;239;p16"/>
              <p:cNvSpPr/>
              <p:nvPr/>
            </p:nvSpPr>
            <p:spPr>
              <a:xfrm>
                <a:off x="6222999" y="1228967"/>
                <a:ext cx="4428595" cy="4243145"/>
              </a:xfrm>
              <a:custGeom>
                <a:avLst/>
                <a:gdLst/>
                <a:ahLst/>
                <a:cxnLst/>
                <a:rect l="l" t="t" r="r" b="b"/>
                <a:pathLst>
                  <a:path w="4216400" h="2311400" extrusionOk="0">
                    <a:moveTo>
                      <a:pt x="0" y="0"/>
                    </a:moveTo>
                    <a:cubicBezTo>
                      <a:pt x="19755" y="157338"/>
                      <a:pt x="39511" y="314677"/>
                      <a:pt x="93133" y="516466"/>
                    </a:cubicBezTo>
                    <a:cubicBezTo>
                      <a:pt x="146755" y="718255"/>
                      <a:pt x="162277" y="983544"/>
                      <a:pt x="321733" y="1210733"/>
                    </a:cubicBezTo>
                    <a:cubicBezTo>
                      <a:pt x="481189" y="1437922"/>
                      <a:pt x="750711" y="1727200"/>
                      <a:pt x="1049867" y="1879600"/>
                    </a:cubicBezTo>
                    <a:cubicBezTo>
                      <a:pt x="1349023" y="2032000"/>
                      <a:pt x="1677812" y="2057400"/>
                      <a:pt x="2116667" y="2125133"/>
                    </a:cubicBezTo>
                    <a:cubicBezTo>
                      <a:pt x="2555522" y="2192866"/>
                      <a:pt x="3333045" y="2254956"/>
                      <a:pt x="3683000" y="2286000"/>
                    </a:cubicBezTo>
                    <a:cubicBezTo>
                      <a:pt x="4032955" y="2317044"/>
                      <a:pt x="4090811" y="2294467"/>
                      <a:pt x="4216400" y="2311400"/>
                    </a:cubicBezTo>
                  </a:path>
                </a:pathLst>
              </a:custGeom>
              <a:noFill/>
              <a:ln w="25400" cap="flat" cmpd="sng">
                <a:solidFill>
                  <a:srgbClr val="5879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240" name="Google Shape;240;p16"/>
            <p:cNvSpPr/>
            <p:nvPr/>
          </p:nvSpPr>
          <p:spPr>
            <a:xfrm>
              <a:off x="6635762" y="1161887"/>
              <a:ext cx="4272265" cy="4362106"/>
            </a:xfrm>
            <a:custGeom>
              <a:avLst/>
              <a:gdLst/>
              <a:ahLst/>
              <a:cxnLst/>
              <a:rect l="l" t="t" r="r" b="b"/>
              <a:pathLst>
                <a:path w="4216400" h="2311400" extrusionOk="0">
                  <a:moveTo>
                    <a:pt x="0" y="0"/>
                  </a:moveTo>
                  <a:cubicBezTo>
                    <a:pt x="19755" y="157338"/>
                    <a:pt x="39511" y="314677"/>
                    <a:pt x="93133" y="516466"/>
                  </a:cubicBezTo>
                  <a:cubicBezTo>
                    <a:pt x="146755" y="718255"/>
                    <a:pt x="162277" y="983544"/>
                    <a:pt x="321733" y="1210733"/>
                  </a:cubicBezTo>
                  <a:cubicBezTo>
                    <a:pt x="481189" y="1437922"/>
                    <a:pt x="750711" y="1727200"/>
                    <a:pt x="1049867" y="1879600"/>
                  </a:cubicBezTo>
                  <a:cubicBezTo>
                    <a:pt x="1349023" y="2032000"/>
                    <a:pt x="1677812" y="2057400"/>
                    <a:pt x="2116667" y="2125133"/>
                  </a:cubicBezTo>
                  <a:cubicBezTo>
                    <a:pt x="2555522" y="2192866"/>
                    <a:pt x="3333045" y="2254956"/>
                    <a:pt x="3683000" y="2286000"/>
                  </a:cubicBezTo>
                  <a:cubicBezTo>
                    <a:pt x="4032955" y="2317044"/>
                    <a:pt x="4090811" y="2294467"/>
                    <a:pt x="4216400" y="2311400"/>
                  </a:cubicBezTo>
                </a:path>
              </a:pathLst>
            </a:custGeom>
            <a:noFill/>
            <a:ln w="25400" cap="flat" cmpd="sng">
              <a:solidFill>
                <a:srgbClr val="E157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41" name="Google Shape;241;p16"/>
            <p:cNvCxnSpPr/>
            <p:nvPr/>
          </p:nvCxnSpPr>
          <p:spPr>
            <a:xfrm>
              <a:off x="6335645" y="1979839"/>
              <a:ext cx="357720" cy="0"/>
            </a:xfrm>
            <a:prstGeom prst="straightConnector1">
              <a:avLst/>
            </a:prstGeom>
            <a:noFill/>
            <a:ln w="28575" cap="flat" cmpd="sng">
              <a:solidFill>
                <a:srgbClr val="E15738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2" name="Google Shape;242;p16"/>
            <p:cNvCxnSpPr/>
            <p:nvPr/>
          </p:nvCxnSpPr>
          <p:spPr>
            <a:xfrm>
              <a:off x="6523435" y="3240087"/>
              <a:ext cx="357720" cy="0"/>
            </a:xfrm>
            <a:prstGeom prst="straightConnector1">
              <a:avLst/>
            </a:prstGeom>
            <a:noFill/>
            <a:ln w="28575" cap="flat" cmpd="sng">
              <a:solidFill>
                <a:srgbClr val="E15738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3" name="Google Shape;243;p16"/>
            <p:cNvCxnSpPr/>
            <p:nvPr/>
          </p:nvCxnSpPr>
          <p:spPr>
            <a:xfrm>
              <a:off x="7107170" y="4389664"/>
              <a:ext cx="357720" cy="0"/>
            </a:xfrm>
            <a:prstGeom prst="straightConnector1">
              <a:avLst/>
            </a:prstGeom>
            <a:noFill/>
            <a:ln w="28575" cap="flat" cmpd="sng">
              <a:solidFill>
                <a:srgbClr val="E15738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aphicFrame>
        <p:nvGraphicFramePr>
          <p:cNvPr id="244" name="Google Shape;244;p16"/>
          <p:cNvGraphicFramePr/>
          <p:nvPr/>
        </p:nvGraphicFramePr>
        <p:xfrm>
          <a:off x="548789" y="42841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100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57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大大➜大戶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Top 1k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人數分佈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 排序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(專家法)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大戶➜大神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Top 200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人數分佈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 排序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(專家法)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等級變化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模型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等級變化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模型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 成長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 成長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配色範例5</a:t>
            </a:r>
            <a:endParaRPr/>
          </a:p>
        </p:txBody>
      </p:sp>
      <p:graphicFrame>
        <p:nvGraphicFramePr>
          <p:cNvPr id="250" name="Google Shape;250;p17"/>
          <p:cNvGraphicFramePr/>
          <p:nvPr/>
        </p:nvGraphicFramePr>
        <p:xfrm>
          <a:off x="540000" y="100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94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3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名單數 3.5k | 200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10k | 200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1k | 1k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5k | 5k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10k | 10k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測試月份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2022.08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417 </a:t>
                      </a:r>
                      <a:r>
                        <a:rPr lang="zh-TW" sz="9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-18%</a:t>
                      </a:r>
                      <a:endParaRPr sz="11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847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1,153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+36%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498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544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847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1,515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1,141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1,823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(544)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(503) </a:t>
                      </a:r>
                      <a:r>
                        <a:rPr lang="zh-TW" sz="9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-8%</a:t>
                      </a:r>
                      <a:endParaRPr sz="11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(925)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(1,326)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+43%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(611)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(676)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(1,371)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(2,385)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(2,019)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(3,730)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368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617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+68%</a:t>
                      </a:r>
                      <a:endParaRPr sz="9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643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1,434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+123%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475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766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1,496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+95%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949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2,174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(399)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(665)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+67%</a:t>
                      </a:r>
                      <a:endParaRPr sz="11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(717)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(1,260)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(600)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(742)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(1,266)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(2,376)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+88%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(1,784)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(4,046)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+127%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363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1,021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528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257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-51%</a:t>
                      </a:r>
                      <a:endParaRPr sz="900" b="0" i="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1,043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+15%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1,558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(395)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(477)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(688)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(1,168)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(571)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(388)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-32%</a:t>
                      </a:r>
                      <a:endParaRPr>
                        <a:solidFill>
                          <a:srgbClr val="D03238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(1,285)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(1,724)</a:t>
                      </a:r>
                      <a:r>
                        <a:rPr lang="zh-TW" sz="11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+34%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(1,277)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(3,115) </a:t>
                      </a:r>
                      <a:r>
                        <a:rPr lang="zh-TW" sz="900" b="0" i="0" strike="noStrike" cap="none">
                          <a:solidFill>
                            <a:srgbClr val="40896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+144%</a:t>
                      </a:r>
                      <a:endParaRPr/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572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1,090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441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830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1,339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1,735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+72%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(403)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(626)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+55%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(711)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(1,250)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(531)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(616)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(1,336)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(2,012)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+51%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(1,839)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(3,299)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+79%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2023.01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437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453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+4%</a:t>
                      </a:r>
                      <a:endParaRPr sz="9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792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1,122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+42%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503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-3%</a:t>
                      </a:r>
                      <a:endParaRPr sz="900" b="0" i="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891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1,487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+67%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1,306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2,216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(463)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(513)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(847)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(1,258)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+49%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(574)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(620)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(1,360)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(2,247)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(1,946)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(3,803)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1" name="Google Shape;251;p17"/>
          <p:cNvSpPr txBox="1">
            <a:spLocks noGrp="1"/>
          </p:cNvSpPr>
          <p:nvPr>
            <p:ph type="body" idx="1"/>
          </p:nvPr>
        </p:nvSpPr>
        <p:spPr>
          <a:xfrm>
            <a:off x="540000" y="4040383"/>
            <a:ext cx="10440000" cy="1367100"/>
          </a:xfrm>
          <a:prstGeom prst="rect">
            <a:avLst/>
          </a:prstGeom>
          <a:noFill/>
          <a:ln w="9525" cap="flat" cmpd="sng">
            <a:solidFill>
              <a:srgbClr val="668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0000" bIns="90000" anchor="t" anchorCtr="0">
            <a:spAutoFit/>
          </a:bodyPr>
          <a:lstStyle/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rgbClr val="000000"/>
                </a:solidFill>
              </a:rPr>
              <a:t>名單數 3.5k | 200 表示大大➜大戶取 Top 3.5k、大戶➜大神取 Top 200，餘類推</a:t>
            </a:r>
            <a:endParaRPr sz="1400">
              <a:solidFill>
                <a:srgbClr val="000000"/>
              </a:solidFill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</a:rPr>
              <a:t>成效比較：名單所有客戶 AUM</a:t>
            </a:r>
            <a:r>
              <a:rPr lang="zh-TW" sz="1400" baseline="-25000">
                <a:solidFill>
                  <a:schemeClr val="dk1"/>
                </a:solidFill>
              </a:rPr>
              <a:t>T</a:t>
            </a:r>
            <a:r>
              <a:rPr lang="zh-TW" sz="1400">
                <a:solidFill>
                  <a:schemeClr val="dk1"/>
                </a:solidFill>
              </a:rPr>
              <a:t> − AUM</a:t>
            </a:r>
            <a:r>
              <a:rPr lang="zh-TW" sz="1400" baseline="-25000">
                <a:solidFill>
                  <a:schemeClr val="dk1"/>
                </a:solidFill>
              </a:rPr>
              <a:t>T-2</a:t>
            </a:r>
            <a:r>
              <a:rPr lang="zh-TW" sz="1400">
                <a:solidFill>
                  <a:schemeClr val="dk1"/>
                </a:solidFill>
              </a:rPr>
              <a:t> (百萬元)，T 為月份</a:t>
            </a:r>
            <a:endParaRPr sz="1400"/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</a:rPr>
              <a:t>括號內為僅計算預測正確(升等/成長)客戶的 AUM 變化，此「神諭」結果可以用來評估模型的進步空間</a:t>
            </a:r>
            <a:endParaRPr sz="1400"/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</a:rPr>
              <a:t>可以看到</a:t>
            </a:r>
            <a:r>
              <a:rPr lang="zh-TW" sz="1400">
                <a:highlight>
                  <a:srgbClr val="F6D6D7"/>
                </a:highlight>
              </a:rPr>
              <a:t>在名單數增加時，AUM 成長模型有更好的表現</a:t>
            </a:r>
            <a:r>
              <a:rPr lang="zh-TW" sz="1400">
                <a:solidFill>
                  <a:schemeClr val="dk1"/>
                </a:solidFill>
              </a:rPr>
              <a:t>，與模型設計的理論一致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配色範例6</a:t>
            </a:r>
            <a:endParaRPr/>
          </a:p>
        </p:txBody>
      </p:sp>
      <p:graphicFrame>
        <p:nvGraphicFramePr>
          <p:cNvPr id="257" name="Google Shape;257;p18"/>
          <p:cNvGraphicFramePr/>
          <p:nvPr/>
        </p:nvGraphicFramePr>
        <p:xfrm>
          <a:off x="540075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5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7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17150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決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方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6C0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數位幕僚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DAE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科技顧問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7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EBB3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篩選條件</a:t>
                      </a:r>
                      <a:endParaRPr sz="1400" u="none" strike="noStrike" cap="none">
                        <a:highlight>
                          <a:srgbClr val="FFEBB3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EBB3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預期效益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EBB3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CBDDE9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篩選條件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CBDDE9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180000" marB="91425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CBDDE9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預期效益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CBDDE9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2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單位主管支持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熟悉業務全貌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曾經、期待參與技術專案(nice to have)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數位窗口，快速聯繫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數位顧問，數位議題諮詢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數位幕僚，制定單位數位化發展藍圖、KPI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俱數位化、自動化、智能化等多面向專業能力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俱服務熱忱，能換位思考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樂於分享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58798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融入業務實務，提升實戰經驗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有效發揮科技長才，加速專案落地可行性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58798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業務專業 + 數位溝通力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科技專業 + 顧問服務能力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8" name="Google Shape;258;p18"/>
          <p:cNvGraphicFramePr/>
          <p:nvPr/>
        </p:nvGraphicFramePr>
        <p:xfrm>
          <a:off x="540000" y="100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5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810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痛</a:t>
                      </a:r>
                      <a:br>
                        <a:rPr lang="zh-TW" sz="1400" u="none" strike="noStrike" cap="none"/>
                      </a:br>
                      <a:r>
                        <a:rPr lang="zh-TW" sz="1400" u="none" strike="noStrike" cap="none"/>
                        <a:t>點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應用單位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FEBC0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技術單位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即時、專業的回饋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完整、易懂的整理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專案有效溝通</a:t>
                      </a:r>
                      <a:endParaRPr sz="1400" u="none" strike="noStrike" cap="none"/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真正、關鍵的需求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技術、成果的分享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專案有效溝通</a:t>
                      </a:r>
                      <a:endParaRPr sz="1400" u="none" strike="noStrike" cap="none"/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0075" y="4137544"/>
            <a:ext cx="584700" cy="5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0075" y="1550588"/>
            <a:ext cx="584700" cy="5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配色範例7</a:t>
            </a:r>
            <a:endParaRPr/>
          </a:p>
        </p:txBody>
      </p:sp>
      <p:graphicFrame>
        <p:nvGraphicFramePr>
          <p:cNvPr id="266" name="Google Shape;266;p19"/>
          <p:cNvGraphicFramePr/>
          <p:nvPr/>
        </p:nvGraphicFramePr>
        <p:xfrm>
          <a:off x="540643" y="10061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94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7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月份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7~9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數位幕僚機制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啟動會議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(02/22)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數位溝通力建立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(03/16)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 RPA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案例探討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(04/13)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 AI 行銷案例探討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(05/11)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腦力激盪餐會 [AI]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(6/13)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專業解方規劃 [AI]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解方分享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(10/24*)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結業典禮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(11/14)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溝通力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(03/30)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(04/06)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 OCR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案例探討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(04/27)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6D6D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業務單位需求盤點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6D6D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腦力激盪餐會 [非 AI]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(6/27)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專業解方規劃 [非 AI]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科技顧問養成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rgbClr val="58798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科技顧問標準建立與人員培訓</a:t>
                      </a:r>
                      <a:endParaRPr sz="1200" u="none" strike="noStrike" cap="none">
                        <a:solidFill>
                          <a:srgbClr val="58798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訪談 SOP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顧問式訪談與評估 checklist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標準説帖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案例撰寫與解說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內部定期管理與檢視機制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集團案例解說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協助需求盤點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實地查訪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可行性評估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解方規劃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POC (視專案情況)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業務單位主管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6D6D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主持處內</a:t>
                      </a:r>
                      <a:br>
                        <a:rPr lang="zh-TW" sz="1200">
                          <a:solidFill>
                            <a:schemeClr val="dk1"/>
                          </a:solidFill>
                          <a:highlight>
                            <a:srgbClr val="F6D6D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6D6D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需求盤點</a:t>
                      </a:r>
                      <a:endParaRPr sz="1200" u="none" strike="noStrike" cap="none">
                        <a:highlight>
                          <a:srgbClr val="F6D6D7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數科處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主管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引導需求</a:t>
                      </a:r>
                      <a:b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精鍊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引導專案</a:t>
                      </a:r>
                      <a:b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後續規劃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/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3bcfb68efc_1_45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配色2</a:t>
            </a:r>
            <a:endParaRPr/>
          </a:p>
        </p:txBody>
      </p:sp>
      <p:sp>
        <p:nvSpPr>
          <p:cNvPr id="272" name="Google Shape;272;g23bcfb68efc_1_45"/>
          <p:cNvSpPr txBox="1"/>
          <p:nvPr/>
        </p:nvSpPr>
        <p:spPr>
          <a:xfrm>
            <a:off x="562500" y="1008075"/>
            <a:ext cx="1041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使用「滴管」工具選取顏色，或輸入＃開頭之國際色碼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73" name="Google Shape;273;g23bcfb68efc_1_45"/>
          <p:cNvGraphicFramePr/>
          <p:nvPr/>
        </p:nvGraphicFramePr>
        <p:xfrm>
          <a:off x="539713" y="1469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13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5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文字、深色底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淺色底、螢光筆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顏色一(藍)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9A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B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9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7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4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#49a4ff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#bedeff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#6fb6fc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#4495f9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#3d75d6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#3245a4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顏色二(紫)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338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BE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68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2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13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00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#8338ec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#d6bef2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#9c68d7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#7824c7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#6013b8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#3d00a7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顏色三(紅)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58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0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0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00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#ff006e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#ffb7ce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#f6588a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#ee0057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#c70050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#900048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顏色四(黃)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3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BC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99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6A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#ffd34e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#febc05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#fe9903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#fe6a08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功能顏色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無彩色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#808080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#f8f8f8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#dddddd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#b2b2b2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#5f5f5f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#333333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#d03238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#ffd2d2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綠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3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#00b176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#b7e3cd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6107f9f4fa_0_30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配色2說明</a:t>
            </a:r>
            <a:endParaRPr/>
          </a:p>
        </p:txBody>
      </p:sp>
      <p:sp>
        <p:nvSpPr>
          <p:cNvPr id="279" name="Google Shape;279;g26107f9f4fa_0_30"/>
          <p:cNvSpPr txBox="1">
            <a:spLocks noGrp="1"/>
          </p:cNvSpPr>
          <p:nvPr>
            <p:ph type="body" idx="1"/>
          </p:nvPr>
        </p:nvSpPr>
        <p:spPr>
          <a:xfrm>
            <a:off x="555374" y="1006200"/>
            <a:ext cx="5112000" cy="51858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150" tIns="44050" rIns="88150" bIns="44050" anchor="t" anchorCtr="0">
            <a:noAutofit/>
          </a:bodyPr>
          <a:lstStyle/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單頁有彩色(非灰階) ≤ 3 種</a:t>
            </a:r>
            <a:endParaRPr sz="1800">
              <a:solidFill>
                <a:srgbClr val="000000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A4FF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49A4FF"/>
                </a:solidFill>
              </a:rPr>
              <a:t>超連結(藍) #49A4FF</a:t>
            </a:r>
            <a:endParaRPr sz="1800">
              <a:solidFill>
                <a:srgbClr val="49A4FF"/>
              </a:solidFill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6E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FF006E"/>
                </a:solidFill>
              </a:rPr>
              <a:t>強調文字(紅) #FF006E</a:t>
            </a:r>
            <a:endParaRPr sz="1800">
              <a:solidFill>
                <a:srgbClr val="FF006E"/>
              </a:solidFill>
            </a:endParaRPr>
          </a:p>
          <a:p>
            <a:pPr marL="251998" marR="0" lvl="0" indent="-173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zh-TW" sz="1600">
                <a:solidFill>
                  <a:srgbClr val="000000"/>
                </a:solidFill>
                <a:highlight>
                  <a:srgbClr val="FFEBB3"/>
                </a:highlight>
              </a:rPr>
              <a:t>螢光筆(黃) #</a:t>
            </a:r>
            <a:r>
              <a:rPr lang="zh-TW" sz="1600">
                <a:solidFill>
                  <a:srgbClr val="410002"/>
                </a:solidFill>
                <a:highlight>
                  <a:srgbClr val="FFEBB3"/>
                </a:highlight>
              </a:rPr>
              <a:t>FFEBB3</a:t>
            </a:r>
            <a:endParaRPr sz="1600">
              <a:solidFill>
                <a:srgbClr val="000000"/>
              </a:solidFill>
              <a:highlight>
                <a:srgbClr val="FFEBB3"/>
              </a:highlight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色塊 </a:t>
            </a:r>
            <a:r>
              <a:rPr lang="zh-TW" sz="1200">
                <a:solidFill>
                  <a:srgbClr val="49A4FF"/>
                </a:solidFill>
              </a:rPr>
              <a:t>➊</a:t>
            </a:r>
            <a:endParaRPr sz="1200">
              <a:solidFill>
                <a:srgbClr val="49A4FF"/>
              </a:solidFill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大面積以淺色底為主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單頁深色區域 ≤20% 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</a:rPr>
              <a:t>圖標 </a:t>
            </a:r>
            <a:r>
              <a:rPr lang="zh-TW" sz="1200">
                <a:solidFill>
                  <a:srgbClr val="49A4FF"/>
                </a:solidFill>
              </a:rPr>
              <a:t>➋</a:t>
            </a:r>
            <a:endParaRPr sz="1200">
              <a:solidFill>
                <a:srgbClr val="49A4FF"/>
              </a:solidFill>
            </a:endParaRPr>
          </a:p>
          <a:p>
            <a:pPr marL="431999" marR="0" lvl="1" indent="-186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預設放置在圖片左上角，除非擋住重要資訊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80" name="Google Shape;280;g26107f9f4fa_0_30"/>
          <p:cNvGraphicFramePr/>
          <p:nvPr/>
        </p:nvGraphicFramePr>
        <p:xfrm>
          <a:off x="5851550" y="100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255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#BEDEFF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#49A4FF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9A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#D6BEF2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BE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#8338EC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33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#FFB7CE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7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#FF006E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zh-TW" sz="1600">
                          <a:solidFill>
                            <a:srgbClr val="41000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FFEBB3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#FFC629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1" name="Google Shape;281;g26107f9f4fa_0_30"/>
          <p:cNvPicPr preferRelativeResize="0"/>
          <p:nvPr/>
        </p:nvPicPr>
        <p:blipFill rotWithShape="1">
          <a:blip r:embed="rId3">
            <a:alphaModFix/>
          </a:blip>
          <a:srcRect l="50661" t="-11141" b="-11153"/>
          <a:stretch/>
        </p:blipFill>
        <p:spPr>
          <a:xfrm>
            <a:off x="5851525" y="3825575"/>
            <a:ext cx="2553901" cy="1962995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2" name="Google Shape;282;g26107f9f4fa_0_30"/>
          <p:cNvSpPr/>
          <p:nvPr/>
        </p:nvSpPr>
        <p:spPr>
          <a:xfrm>
            <a:off x="10728740" y="1008074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➊</a:t>
            </a:r>
            <a:endParaRPr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3" name="Google Shape;283;g26107f9f4fa_0_30"/>
          <p:cNvSpPr/>
          <p:nvPr/>
        </p:nvSpPr>
        <p:spPr>
          <a:xfrm>
            <a:off x="5851538" y="3825575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49A4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➋</a:t>
            </a:r>
            <a:endParaRPr>
              <a:solidFill>
                <a:srgbClr val="49A4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g26107f9f4fa_0_51"/>
          <p:cNvCxnSpPr/>
          <p:nvPr/>
        </p:nvCxnSpPr>
        <p:spPr>
          <a:xfrm rot="10800000">
            <a:off x="1038585" y="3879324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289" name="Google Shape;289;g26107f9f4fa_0_51"/>
          <p:cNvCxnSpPr/>
          <p:nvPr/>
        </p:nvCxnSpPr>
        <p:spPr>
          <a:xfrm rot="10800000">
            <a:off x="10588749" y="3877601"/>
            <a:ext cx="0" cy="7584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290" name="Google Shape;290;g26107f9f4fa_0_51"/>
          <p:cNvCxnSpPr>
            <a:stCxn id="291" idx="6"/>
          </p:cNvCxnSpPr>
          <p:nvPr/>
        </p:nvCxnSpPr>
        <p:spPr>
          <a:xfrm>
            <a:off x="1396482" y="3599912"/>
            <a:ext cx="8814600" cy="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91" name="Google Shape;291;g26107f9f4fa_0_51"/>
          <p:cNvSpPr/>
          <p:nvPr/>
        </p:nvSpPr>
        <p:spPr>
          <a:xfrm>
            <a:off x="682182" y="3242762"/>
            <a:ext cx="714300" cy="714300"/>
          </a:xfrm>
          <a:prstGeom prst="ellipse">
            <a:avLst/>
          </a:prstGeom>
          <a:solidFill>
            <a:srgbClr val="49A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2" name="Google Shape;292;g26107f9f4fa_0_51"/>
          <p:cNvSpPr/>
          <p:nvPr/>
        </p:nvSpPr>
        <p:spPr>
          <a:xfrm>
            <a:off x="10230549" y="3242762"/>
            <a:ext cx="714300" cy="71430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 sz="14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93" name="Google Shape;293;g26107f9f4fa_0_51"/>
          <p:cNvCxnSpPr/>
          <p:nvPr/>
        </p:nvCxnSpPr>
        <p:spPr>
          <a:xfrm rot="10800000">
            <a:off x="7546274" y="2110609"/>
            <a:ext cx="1500" cy="11880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294" name="Google Shape;294;g26107f9f4fa_0_51"/>
          <p:cNvCxnSpPr/>
          <p:nvPr/>
        </p:nvCxnSpPr>
        <p:spPr>
          <a:xfrm rot="10800000">
            <a:off x="4707266" y="2523976"/>
            <a:ext cx="0" cy="7596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295" name="Google Shape;295;g26107f9f4fa_0_51"/>
          <p:cNvCxnSpPr/>
          <p:nvPr/>
        </p:nvCxnSpPr>
        <p:spPr>
          <a:xfrm rot="10800000">
            <a:off x="4033700" y="3871638"/>
            <a:ext cx="0" cy="7584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296" name="Google Shape;296;g26107f9f4fa_0_51"/>
          <p:cNvCxnSpPr/>
          <p:nvPr/>
        </p:nvCxnSpPr>
        <p:spPr>
          <a:xfrm rot="10800000">
            <a:off x="6759210" y="3879324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297" name="Google Shape;297;g26107f9f4fa_0_51"/>
          <p:cNvSpPr txBox="1"/>
          <p:nvPr/>
        </p:nvSpPr>
        <p:spPr>
          <a:xfrm>
            <a:off x="1827503" y="2832599"/>
            <a:ext cx="20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培訓課程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8" name="Google Shape;298;g26107f9f4fa_0_51"/>
          <p:cNvSpPr txBox="1"/>
          <p:nvPr/>
        </p:nvSpPr>
        <p:spPr>
          <a:xfrm>
            <a:off x="5895171" y="2855276"/>
            <a:ext cx="20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專案體驗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9" name="Google Shape;299;g26107f9f4fa_0_51"/>
          <p:cNvSpPr txBox="1"/>
          <p:nvPr/>
        </p:nvSpPr>
        <p:spPr>
          <a:xfrm>
            <a:off x="3811579" y="1915119"/>
            <a:ext cx="18039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行銷案例探討</a:t>
            </a:r>
            <a:endParaRPr sz="11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0" name="Google Shape;300;g26107f9f4fa_0_51"/>
          <p:cNvSpPr txBox="1"/>
          <p:nvPr/>
        </p:nvSpPr>
        <p:spPr>
          <a:xfrm>
            <a:off x="6699564" y="993803"/>
            <a:ext cx="17055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AI專案解方規劃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透過科技轉型顧問之協助，體驗將需求、可行性評估、PoC、至專案解方規劃之過程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1" name="Google Shape;301;g26107f9f4fa_0_51"/>
          <p:cNvSpPr txBox="1"/>
          <p:nvPr/>
        </p:nvSpPr>
        <p:spPr>
          <a:xfrm>
            <a:off x="9692706" y="4622972"/>
            <a:ext cx="18039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結業餐會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頒獎、結業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、專案開展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2" name="Google Shape;302;g26107f9f4fa_0_51"/>
          <p:cNvSpPr txBox="1"/>
          <p:nvPr/>
        </p:nvSpPr>
        <p:spPr>
          <a:xfrm>
            <a:off x="281523" y="4660132"/>
            <a:ext cx="151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啟動說明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3" name="Google Shape;303;g26107f9f4fa_0_51"/>
          <p:cNvSpPr txBox="1"/>
          <p:nvPr/>
        </p:nvSpPr>
        <p:spPr>
          <a:xfrm>
            <a:off x="1434981" y="1192379"/>
            <a:ext cx="15156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數位溝通力建立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業務流程圖實作、OCR案例溝通體驗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4" name="Google Shape;304;g26107f9f4fa_0_51"/>
          <p:cNvSpPr txBox="1"/>
          <p:nvPr/>
        </p:nvSpPr>
        <p:spPr>
          <a:xfrm>
            <a:off x="6004465" y="4649309"/>
            <a:ext cx="151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非AI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腦力激盪餐會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5" name="Google Shape;305;g26107f9f4fa_0_51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75" rIns="88150" bIns="440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配色範例1</a:t>
            </a:r>
            <a:endParaRPr>
              <a:highlight>
                <a:srgbClr val="FFFF00"/>
              </a:highlight>
            </a:endParaRPr>
          </a:p>
        </p:txBody>
      </p:sp>
      <p:cxnSp>
        <p:nvCxnSpPr>
          <p:cNvPr id="306" name="Google Shape;306;g26107f9f4fa_0_51"/>
          <p:cNvCxnSpPr>
            <a:endCxn id="303" idx="2"/>
          </p:cNvCxnSpPr>
          <p:nvPr/>
        </p:nvCxnSpPr>
        <p:spPr>
          <a:xfrm rot="10800000">
            <a:off x="2192781" y="1936979"/>
            <a:ext cx="0" cy="13188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307" name="Google Shape;307;g26107f9f4fa_0_51"/>
          <p:cNvSpPr txBox="1"/>
          <p:nvPr/>
        </p:nvSpPr>
        <p:spPr>
          <a:xfrm>
            <a:off x="1996951" y="4658805"/>
            <a:ext cx="1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溝通力建立</a:t>
            </a:r>
            <a:b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業務流程與AI命題描繪執行探討-Regression/</a:t>
            </a:r>
            <a:b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Classification</a:t>
            </a:r>
            <a:endParaRPr/>
          </a:p>
        </p:txBody>
      </p:sp>
      <p:cxnSp>
        <p:nvCxnSpPr>
          <p:cNvPr id="308" name="Google Shape;308;g26107f9f4fa_0_51"/>
          <p:cNvCxnSpPr/>
          <p:nvPr/>
        </p:nvCxnSpPr>
        <p:spPr>
          <a:xfrm rot="10800000">
            <a:off x="2753965" y="3884124"/>
            <a:ext cx="0" cy="7584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309" name="Google Shape;309;g26107f9f4fa_0_51"/>
          <p:cNvSpPr txBox="1"/>
          <p:nvPr/>
        </p:nvSpPr>
        <p:spPr>
          <a:xfrm>
            <a:off x="3274779" y="4641963"/>
            <a:ext cx="151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OCR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案例探討</a:t>
            </a:r>
            <a:endParaRPr/>
          </a:p>
        </p:txBody>
      </p:sp>
      <p:sp>
        <p:nvSpPr>
          <p:cNvPr id="310" name="Google Shape;310;g26107f9f4fa_0_51"/>
          <p:cNvSpPr txBox="1"/>
          <p:nvPr/>
        </p:nvSpPr>
        <p:spPr>
          <a:xfrm>
            <a:off x="2742884" y="1902063"/>
            <a:ext cx="151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RPA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案例探討</a:t>
            </a:r>
            <a:endParaRPr/>
          </a:p>
        </p:txBody>
      </p:sp>
      <p:cxnSp>
        <p:nvCxnSpPr>
          <p:cNvPr id="311" name="Google Shape;311;g26107f9f4fa_0_51"/>
          <p:cNvCxnSpPr/>
          <p:nvPr/>
        </p:nvCxnSpPr>
        <p:spPr>
          <a:xfrm rot="10800000">
            <a:off x="3497481" y="2519859"/>
            <a:ext cx="0" cy="7587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312" name="Google Shape;312;g26107f9f4fa_0_51"/>
          <p:cNvSpPr txBox="1"/>
          <p:nvPr/>
        </p:nvSpPr>
        <p:spPr>
          <a:xfrm>
            <a:off x="5488631" y="1914466"/>
            <a:ext cx="151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腦力激盪餐會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13" name="Google Shape;313;g26107f9f4fa_0_51"/>
          <p:cNvCxnSpPr/>
          <p:nvPr/>
        </p:nvCxnSpPr>
        <p:spPr>
          <a:xfrm rot="10800000">
            <a:off x="6239956" y="2531896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314" name="Google Shape;314;g26107f9f4fa_0_51"/>
          <p:cNvCxnSpPr/>
          <p:nvPr/>
        </p:nvCxnSpPr>
        <p:spPr>
          <a:xfrm rot="10800000">
            <a:off x="8455119" y="3846509"/>
            <a:ext cx="0" cy="8028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315" name="Google Shape;315;g26107f9f4fa_0_51"/>
          <p:cNvSpPr txBox="1"/>
          <p:nvPr/>
        </p:nvSpPr>
        <p:spPr>
          <a:xfrm>
            <a:off x="7537852" y="4643565"/>
            <a:ext cx="18105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非AI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專案解方規劃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透過科技轉型顧問之協助，體驗將需求、可行性評估、至專案解方規劃之過程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6" name="Google Shape;316;g26107f9f4fa_0_51"/>
          <p:cNvSpPr txBox="1"/>
          <p:nvPr/>
        </p:nvSpPr>
        <p:spPr>
          <a:xfrm>
            <a:off x="649232" y="2864355"/>
            <a:ext cx="89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單位-月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17" name="Google Shape;317;g26107f9f4fa_0_51"/>
          <p:cNvCxnSpPr/>
          <p:nvPr/>
        </p:nvCxnSpPr>
        <p:spPr>
          <a:xfrm rot="10800000">
            <a:off x="5460783" y="3606809"/>
            <a:ext cx="0" cy="10425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318" name="Google Shape;318;g26107f9f4fa_0_51"/>
          <p:cNvSpPr txBox="1"/>
          <p:nvPr/>
        </p:nvSpPr>
        <p:spPr>
          <a:xfrm>
            <a:off x="4700309" y="4653451"/>
            <a:ext cx="151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業務單位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處內需求盤點</a:t>
            </a:r>
            <a:endParaRPr/>
          </a:p>
        </p:txBody>
      </p:sp>
      <p:sp>
        <p:nvSpPr>
          <p:cNvPr id="319" name="Google Shape;319;g26107f9f4fa_0_51"/>
          <p:cNvSpPr txBox="1"/>
          <p:nvPr/>
        </p:nvSpPr>
        <p:spPr>
          <a:xfrm>
            <a:off x="8702698" y="2127158"/>
            <a:ext cx="1515600" cy="369300"/>
          </a:xfrm>
          <a:prstGeom prst="rect">
            <a:avLst/>
          </a:prstGeom>
          <a:solidFill>
            <a:srgbClr val="FFB7CE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解方分享交流會</a:t>
            </a:r>
            <a:endParaRPr/>
          </a:p>
        </p:txBody>
      </p:sp>
      <p:cxnSp>
        <p:nvCxnSpPr>
          <p:cNvPr id="320" name="Google Shape;320;g26107f9f4fa_0_51"/>
          <p:cNvCxnSpPr/>
          <p:nvPr/>
        </p:nvCxnSpPr>
        <p:spPr>
          <a:xfrm rot="10800000">
            <a:off x="9462929" y="2536709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321" name="Google Shape;321;g26107f9f4fa_0_51"/>
          <p:cNvSpPr/>
          <p:nvPr/>
        </p:nvSpPr>
        <p:spPr>
          <a:xfrm>
            <a:off x="1778151" y="3242762"/>
            <a:ext cx="3313500" cy="7143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449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2" name="Google Shape;322;g26107f9f4fa_0_51"/>
          <p:cNvSpPr/>
          <p:nvPr/>
        </p:nvSpPr>
        <p:spPr>
          <a:xfrm>
            <a:off x="5811232" y="3246162"/>
            <a:ext cx="4057800" cy="7143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782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3" name="Google Shape;323;g26107f9f4fa_0_51"/>
          <p:cNvSpPr/>
          <p:nvPr/>
        </p:nvSpPr>
        <p:spPr>
          <a:xfrm>
            <a:off x="4425428" y="3318060"/>
            <a:ext cx="563700" cy="563700"/>
          </a:xfrm>
          <a:prstGeom prst="ellipse">
            <a:avLst/>
          </a:prstGeom>
          <a:solidFill>
            <a:srgbClr val="49A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4" name="Google Shape;324;g26107f9f4fa_0_51"/>
          <p:cNvSpPr/>
          <p:nvPr/>
        </p:nvSpPr>
        <p:spPr>
          <a:xfrm>
            <a:off x="9178660" y="3318060"/>
            <a:ext cx="563700" cy="56370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5" name="Google Shape;325;g26107f9f4fa_0_51"/>
          <p:cNvSpPr/>
          <p:nvPr/>
        </p:nvSpPr>
        <p:spPr>
          <a:xfrm>
            <a:off x="1875457" y="3318060"/>
            <a:ext cx="1169400" cy="561300"/>
          </a:xfrm>
          <a:prstGeom prst="roundRect">
            <a:avLst>
              <a:gd name="adj" fmla="val 50000"/>
            </a:avLst>
          </a:prstGeom>
          <a:solidFill>
            <a:srgbClr val="49A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26107f9f4fa_0_51"/>
          <p:cNvSpPr/>
          <p:nvPr/>
        </p:nvSpPr>
        <p:spPr>
          <a:xfrm>
            <a:off x="3153392" y="3331896"/>
            <a:ext cx="1169400" cy="547500"/>
          </a:xfrm>
          <a:prstGeom prst="roundRect">
            <a:avLst>
              <a:gd name="adj" fmla="val 50000"/>
            </a:avLst>
          </a:prstGeom>
          <a:solidFill>
            <a:srgbClr val="49A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26107f9f4fa_0_51"/>
          <p:cNvSpPr/>
          <p:nvPr/>
        </p:nvSpPr>
        <p:spPr>
          <a:xfrm>
            <a:off x="5922673" y="3318060"/>
            <a:ext cx="1169400" cy="553500"/>
          </a:xfrm>
          <a:prstGeom prst="roundRect">
            <a:avLst>
              <a:gd name="adj" fmla="val 50000"/>
            </a:avLst>
          </a:prstGeom>
          <a:solidFill>
            <a:srgbClr val="8338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26107f9f4fa_0_51"/>
          <p:cNvSpPr/>
          <p:nvPr/>
        </p:nvSpPr>
        <p:spPr>
          <a:xfrm>
            <a:off x="7203535" y="3322078"/>
            <a:ext cx="1848600" cy="553500"/>
          </a:xfrm>
          <a:prstGeom prst="roundRect">
            <a:avLst>
              <a:gd name="adj" fmla="val 50000"/>
            </a:avLst>
          </a:prstGeom>
          <a:solidFill>
            <a:srgbClr val="8338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~ 9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6107f9f4fa_0_95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配色範例2</a:t>
            </a:r>
            <a:endParaRPr/>
          </a:p>
        </p:txBody>
      </p:sp>
      <p:graphicFrame>
        <p:nvGraphicFramePr>
          <p:cNvPr id="334" name="Google Shape;334;g26107f9f4fa_0_95"/>
          <p:cNvGraphicFramePr/>
          <p:nvPr/>
        </p:nvGraphicFramePr>
        <p:xfrm>
          <a:off x="540000" y="100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94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3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名單數 3.5k | 200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10k | 200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1k | 1k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5k | 5k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10k | 10k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測試月份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2022.08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417 </a:t>
                      </a:r>
                      <a:r>
                        <a:rPr lang="zh-TW" sz="9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-18%</a:t>
                      </a:r>
                      <a:endParaRPr sz="11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847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1,153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+36%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498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544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847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1,515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1,141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1,823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(544)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(503) </a:t>
                      </a:r>
                      <a:r>
                        <a:rPr lang="zh-TW" sz="9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-8%</a:t>
                      </a:r>
                      <a:endParaRPr sz="11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(925)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(1,326)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+43%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(611)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(676)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(1,371)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(2,385)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(2,019)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(3,730)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368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617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+68%</a:t>
                      </a:r>
                      <a:endParaRPr sz="9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643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1,434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+123%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475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766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1,496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+95%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949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2,174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(399)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(665)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+67%</a:t>
                      </a:r>
                      <a:endParaRPr sz="11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(717)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(1,260)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(600)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(742)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(1,266)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(2,376)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+88%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(1,784)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(4,046)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+127%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363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1,021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528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257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-51%</a:t>
                      </a:r>
                      <a:endParaRPr sz="900" b="0" i="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1,043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+15%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1,558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(395)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(477)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(688)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(1,168)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(571)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(388)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-32%</a:t>
                      </a:r>
                      <a:endParaRPr>
                        <a:solidFill>
                          <a:srgbClr val="D03238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(1,285)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(1,724)</a:t>
                      </a:r>
                      <a:r>
                        <a:rPr lang="zh-TW" sz="11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+34%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(1,277)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(3,115) </a:t>
                      </a:r>
                      <a:r>
                        <a:rPr lang="zh-TW" sz="900" b="0" i="0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+144%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572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1,090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441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830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1,339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1,735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+72%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(403)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(626)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+55%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(711)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(1,250)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(531)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(616)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(1,336)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(2,012)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+51%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(1,839)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(3,299)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+79%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2023.01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437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453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+4%</a:t>
                      </a:r>
                      <a:endParaRPr sz="9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792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1,122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+42%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503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-3%</a:t>
                      </a:r>
                      <a:endParaRPr sz="900" b="0" i="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891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1,487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+67%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1,306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2,216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(463)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(513)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(847)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(1,258)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+49%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(574)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(620)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(1,360)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(2,247)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(1,946)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(3,803)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35" name="Google Shape;335;g26107f9f4fa_0_95"/>
          <p:cNvSpPr txBox="1">
            <a:spLocks noGrp="1"/>
          </p:cNvSpPr>
          <p:nvPr>
            <p:ph type="body" idx="1"/>
          </p:nvPr>
        </p:nvSpPr>
        <p:spPr>
          <a:xfrm>
            <a:off x="540000" y="4040383"/>
            <a:ext cx="10440000" cy="1367100"/>
          </a:xfrm>
          <a:prstGeom prst="rect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0000" bIns="90000" anchor="t" anchorCtr="0">
            <a:spAutoFit/>
          </a:bodyPr>
          <a:lstStyle/>
          <a:p>
            <a:pPr marL="251999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◦"/>
            </a:pPr>
            <a:r>
              <a:rPr lang="zh-TW" sz="1400">
                <a:solidFill>
                  <a:schemeClr val="dk1"/>
                </a:solidFill>
              </a:rPr>
              <a:t>名單數 3.5k | 200 表示大大➜大戶取 Top 3.5k、大戶➜大神取 Top 200，餘類推</a:t>
            </a:r>
            <a:endParaRPr sz="1400"/>
          </a:p>
          <a:p>
            <a:pPr marL="251999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◦"/>
            </a:pPr>
            <a:r>
              <a:rPr lang="zh-TW" sz="1400">
                <a:solidFill>
                  <a:schemeClr val="dk1"/>
                </a:solidFill>
              </a:rPr>
              <a:t>成效比較：名單所有客戶 AUM</a:t>
            </a:r>
            <a:r>
              <a:rPr lang="zh-TW" sz="1400" baseline="-25000">
                <a:solidFill>
                  <a:schemeClr val="dk1"/>
                </a:solidFill>
              </a:rPr>
              <a:t>T</a:t>
            </a:r>
            <a:r>
              <a:rPr lang="zh-TW" sz="1400">
                <a:solidFill>
                  <a:schemeClr val="dk1"/>
                </a:solidFill>
              </a:rPr>
              <a:t> − AUM</a:t>
            </a:r>
            <a:r>
              <a:rPr lang="zh-TW" sz="1400" baseline="-25000">
                <a:solidFill>
                  <a:schemeClr val="dk1"/>
                </a:solidFill>
              </a:rPr>
              <a:t>T-2</a:t>
            </a:r>
            <a:r>
              <a:rPr lang="zh-TW" sz="1400">
                <a:solidFill>
                  <a:schemeClr val="dk1"/>
                </a:solidFill>
              </a:rPr>
              <a:t> (百萬元)，T 為月份</a:t>
            </a:r>
            <a:endParaRPr sz="1400">
              <a:solidFill>
                <a:schemeClr val="dk1"/>
              </a:solidFill>
            </a:endParaRPr>
          </a:p>
          <a:p>
            <a:pPr marL="251999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◦"/>
            </a:pPr>
            <a:r>
              <a:rPr lang="zh-TW" sz="1400">
                <a:solidFill>
                  <a:schemeClr val="dk1"/>
                </a:solidFill>
              </a:rPr>
              <a:t>括號內為僅計算預測正確(升等/成長)客戶的 AUM 變化，此「神諭」結果可以用來評估模型的進步空間</a:t>
            </a:r>
            <a:endParaRPr sz="1400">
              <a:solidFill>
                <a:schemeClr val="dk1"/>
              </a:solidFill>
            </a:endParaRPr>
          </a:p>
          <a:p>
            <a:pPr marL="251999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◦"/>
            </a:pPr>
            <a:r>
              <a:rPr lang="zh-TW" sz="1400">
                <a:solidFill>
                  <a:schemeClr val="dk1"/>
                </a:solidFill>
              </a:rPr>
              <a:t>可以看到</a:t>
            </a:r>
            <a:r>
              <a:rPr lang="zh-TW" sz="1400">
                <a:highlight>
                  <a:srgbClr val="FFEBB3"/>
                </a:highlight>
              </a:rPr>
              <a:t>在名單數增加時，AUM 成長模型有更好的表現</a:t>
            </a:r>
            <a:r>
              <a:rPr lang="zh-TW" sz="1400">
                <a:solidFill>
                  <a:schemeClr val="dk1"/>
                </a:solidFill>
              </a:rPr>
              <a:t>，與模型設計的理論一致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6107f9f4fa_0_101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配色範例3</a:t>
            </a:r>
            <a:endParaRPr/>
          </a:p>
        </p:txBody>
      </p:sp>
      <p:graphicFrame>
        <p:nvGraphicFramePr>
          <p:cNvPr id="341" name="Google Shape;341;g26107f9f4fa_0_101"/>
          <p:cNvGraphicFramePr/>
          <p:nvPr/>
        </p:nvGraphicFramePr>
        <p:xfrm>
          <a:off x="540075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5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17150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決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方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6C0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數位幕僚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科技顧問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BE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endParaRPr sz="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7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BEDE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篩選條件</a:t>
                      </a:r>
                      <a:endParaRPr sz="1400" u="none" strike="noStrike" cap="none">
                        <a:highlight>
                          <a:srgbClr val="BEDEFF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0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BEDE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預期效益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BEDE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D6BEF2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篩選條件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6BEF2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180000" marB="914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D6BEF2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預期效益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6BEF2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8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單位主管支持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熟悉業務全貌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曾經、期待參與技術專案(nice to have)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9A4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數位窗口，快速聯繫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數位顧問，數位議題諮詢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數位幕僚，制定單位數位化發展藍圖、KPI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9A4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俱數位化、自動化、智能化等多面向專業能力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俱服務熱忱，能換位思考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樂於分享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58798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融入業務實務，提升實戰經驗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有效發揮科技長才，加速專案落地可行性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58798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業務專業 + 數位溝通力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科技專業 + 顧問服務能力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2" name="Google Shape;342;g26107f9f4fa_0_101"/>
          <p:cNvGraphicFramePr/>
          <p:nvPr/>
        </p:nvGraphicFramePr>
        <p:xfrm>
          <a:off x="540000" y="100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5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810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痛</a:t>
                      </a:r>
                      <a:br>
                        <a:rPr lang="zh-TW" sz="1400" u="none" strike="noStrike" cap="none"/>
                      </a:br>
                      <a:r>
                        <a:rPr lang="zh-TW" sz="1400" u="none" strike="noStrike" cap="none"/>
                        <a:t>點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49A4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應用單位</a:t>
                      </a:r>
                      <a:endParaRPr sz="1400" u="none" strike="noStrike" cap="none">
                        <a:solidFill>
                          <a:srgbClr val="49A4FF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4495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8338EC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技術單位</a:t>
                      </a:r>
                      <a:endParaRPr sz="1400" u="none" strike="noStrike" cap="none">
                        <a:solidFill>
                          <a:srgbClr val="8338EC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7824C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即時、專業的回饋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完整、易懂的整理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專案有效溝通</a:t>
                      </a:r>
                      <a:endParaRPr sz="1400" u="none" strike="noStrike" cap="none"/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真正、關鍵的需求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技術、成果的分享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專案有效溝通</a:t>
                      </a:r>
                      <a:endParaRPr sz="1400" u="none" strike="noStrike" cap="none"/>
                    </a:p>
                  </a:txBody>
                  <a:tcPr marL="91425" marR="91425" marT="18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43" name="Google Shape;343;g26107f9f4fa_0_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0075" y="4137544"/>
            <a:ext cx="584700" cy="5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26107f9f4fa_0_1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0075" y="1550588"/>
            <a:ext cx="584700" cy="5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6107f9f4fa_0_109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配色範例4</a:t>
            </a:r>
            <a:endParaRPr/>
          </a:p>
        </p:txBody>
      </p:sp>
      <p:graphicFrame>
        <p:nvGraphicFramePr>
          <p:cNvPr id="350" name="Google Shape;350;g26107f9f4fa_0_109"/>
          <p:cNvGraphicFramePr/>
          <p:nvPr/>
        </p:nvGraphicFramePr>
        <p:xfrm>
          <a:off x="540643" y="10061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94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7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8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月份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7~9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</a:t>
                      </a:r>
                      <a:endParaRPr sz="16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數位幕僚機制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啟動會議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(02/22)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數位溝通力建立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(03/16)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 RPA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案例探討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(04/13)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 AI 行銷案例探討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(05/11)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腦力激盪餐會 [AI]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(6/13)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專業解方規劃 [AI]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解方分享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(10/24*)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結業典禮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(11/14)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溝通力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(03/30)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(04/06)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 OCR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案例探討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(04/27)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FB7CE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業務單位需求盤點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B7CE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腦力激盪餐會 [非 AI]</a:t>
                      </a:r>
                      <a:b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(6/27)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專業解方規劃 [非 AI]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科技顧問養成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solidFill>
                            <a:srgbClr val="49A4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科技顧問標準建立與人員培訓</a:t>
                      </a:r>
                      <a:endParaRPr sz="1200" u="none" strike="noStrike" cap="none">
                        <a:solidFill>
                          <a:srgbClr val="49A4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訪談 SOP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顧問式訪談與評估 checklist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標準説帖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案例撰寫與解說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內部定期管理與檢視機制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集團案例解說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協助需求盤點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實地查訪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可行性評估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解方規劃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51998" marR="0" lvl="0" indent="-148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○"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POC (視專案情況)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業務單位主管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FB7CE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主持處內</a:t>
                      </a:r>
                      <a:br>
                        <a:rPr lang="zh-TW" sz="1200">
                          <a:solidFill>
                            <a:schemeClr val="dk1"/>
                          </a:solidFill>
                          <a:highlight>
                            <a:srgbClr val="FFB7CE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FB7CE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需求盤點</a:t>
                      </a:r>
                      <a:endParaRPr sz="1200" u="none" strike="noStrike" cap="none">
                        <a:highlight>
                          <a:srgbClr val="FFB7CE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數科處</a:t>
                      </a:r>
                      <a:b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主管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引導需求</a:t>
                      </a:r>
                      <a:b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精鍊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引導專案</a:t>
                      </a:r>
                      <a:b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後續規劃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2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出席</a:t>
                      </a:r>
                      <a:endParaRPr/>
                    </a:p>
                  </a:txBody>
                  <a:tcPr marL="91450" marR="91450" marT="90000" marB="90000" anchor="ctr">
                    <a:lnL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DE9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298809eb64_1_21"/>
          <p:cNvSpPr txBox="1"/>
          <p:nvPr/>
        </p:nvSpPr>
        <p:spPr>
          <a:xfrm>
            <a:off x="539750" y="2901550"/>
            <a:ext cx="1044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輔助線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 txBox="1">
            <a:spLocks noGrp="1"/>
          </p:cNvSpPr>
          <p:nvPr>
            <p:ph type="body" idx="1"/>
          </p:nvPr>
        </p:nvSpPr>
        <p:spPr>
          <a:xfrm>
            <a:off x="555374" y="1006200"/>
            <a:ext cx="104247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spAutoFit/>
          </a:bodyPr>
          <a:lstStyle/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開啟與關閉：[檢視] &gt; [輔助線]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86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Gutter縮小為字型10之寬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1" name="Google Shape;361;p21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</a:t>
            </a:r>
            <a:endParaRPr/>
          </a:p>
        </p:txBody>
      </p:sp>
      <p:cxnSp>
        <p:nvCxnSpPr>
          <p:cNvPr id="362" name="Google Shape;362;p21"/>
          <p:cNvCxnSpPr/>
          <p:nvPr/>
        </p:nvCxnSpPr>
        <p:spPr>
          <a:xfrm>
            <a:off x="0" y="3240088"/>
            <a:ext cx="11547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3" name="Google Shape;363;p21"/>
          <p:cNvCxnSpPr/>
          <p:nvPr/>
        </p:nvCxnSpPr>
        <p:spPr>
          <a:xfrm>
            <a:off x="0" y="3614738"/>
            <a:ext cx="115470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4" name="Google Shape;364;p21"/>
          <p:cNvSpPr txBox="1"/>
          <p:nvPr/>
        </p:nvSpPr>
        <p:spPr>
          <a:xfrm>
            <a:off x="1114053" y="2881100"/>
            <a:ext cx="17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中心線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1114053" y="3291325"/>
            <a:ext cx="17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內文區中心線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/>
          <p:nvPr/>
        </p:nvSpPr>
        <p:spPr>
          <a:xfrm>
            <a:off x="539749" y="1008856"/>
            <a:ext cx="5126259" cy="5183187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5851525" y="1008856"/>
            <a:ext cx="5128474" cy="5183187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2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 </a:t>
            </a:r>
            <a:r>
              <a:rPr lang="zh-TW" sz="2000"/>
              <a:t>2 欄(藍輔助線)</a:t>
            </a:r>
            <a:endParaRPr sz="3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/>
          <p:nvPr/>
        </p:nvSpPr>
        <p:spPr>
          <a:xfrm>
            <a:off x="539750" y="1008856"/>
            <a:ext cx="3384550" cy="5183187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7632700" y="1008061"/>
            <a:ext cx="3347300" cy="5183187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4104425" y="1008060"/>
            <a:ext cx="3347299" cy="5183187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 </a:t>
            </a:r>
            <a:r>
              <a:rPr lang="zh-TW" sz="2000"/>
              <a:t>3 欄(紅輔助線)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"/>
          <p:cNvSpPr/>
          <p:nvPr/>
        </p:nvSpPr>
        <p:spPr>
          <a:xfrm>
            <a:off x="539750" y="1008856"/>
            <a:ext cx="2484438" cy="5183183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8496300" y="1008062"/>
            <a:ext cx="2483700" cy="5183188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3203575" y="1007684"/>
            <a:ext cx="2465388" cy="5185032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5851525" y="1007309"/>
            <a:ext cx="2465388" cy="5186777"/>
          </a:xfrm>
          <a:prstGeom prst="rect">
            <a:avLst/>
          </a:prstGeom>
          <a:solidFill>
            <a:srgbClr val="BED7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4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 </a:t>
            </a:r>
            <a:r>
              <a:rPr lang="zh-TW" sz="2000"/>
              <a:t>4 欄(灰輔助線)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輔助線範例1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539751" y="1008202"/>
            <a:ext cx="10440988" cy="875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5492" marR="0" lvl="0" indent="-2945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■"/>
            </a:pPr>
            <a:r>
              <a:rPr lang="zh-TW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依同業數位科技應用發展市場聲量與公開資訊分析，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永豐目前在</a:t>
            </a:r>
            <a:r>
              <a:rPr lang="zh-TW" i="0" u="sng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數位科技的應用成果與研發領域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之市場地位位居「領導者」</a:t>
            </a:r>
            <a:r>
              <a:rPr lang="zh-TW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，與金融研訓院《金融科技創新與數位轉型調查》評選永豐為「數位轉型領先者」相符。</a:t>
            </a:r>
            <a:endParaRPr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75492" marR="0" lvl="0" indent="-294542" algn="l" rtl="0">
              <a:lnSpc>
                <a:spcPct val="100000"/>
              </a:lnSpc>
              <a:spcBef>
                <a:spcPts val="57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■"/>
            </a:pPr>
            <a:r>
              <a:rPr lang="zh-TW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同業數位科技應用總聲量中，國泰金控除位居第一外；更是投入大量資源於在人工智慧、區塊鏈、雲端服務、數據資料、機器人流程自動化之技術研發。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其中，</a:t>
            </a:r>
            <a:r>
              <a:rPr lang="zh-TW" i="0" u="sng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針對區塊鏈部分扮演先驅領導角色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，倡議《區塊鏈聯盟自律公約》並建立「聯盟鏈」（產險聯盟鏈、環球貿易共享鏈、身份認證）。</a:t>
            </a:r>
            <a:endParaRPr i="0" u="none" strike="noStrike" cap="none">
              <a:solidFill>
                <a:srgbClr val="0070C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396" name="Google Shape;396;p25"/>
          <p:cNvGrpSpPr/>
          <p:nvPr/>
        </p:nvGrpSpPr>
        <p:grpSpPr>
          <a:xfrm>
            <a:off x="5880849" y="2176631"/>
            <a:ext cx="5096197" cy="4025286"/>
            <a:chOff x="6237338" y="2021283"/>
            <a:chExt cx="5411992" cy="4274719"/>
          </a:xfrm>
        </p:grpSpPr>
        <p:sp>
          <p:nvSpPr>
            <p:cNvPr id="397" name="Google Shape;397;p25"/>
            <p:cNvSpPr/>
            <p:nvPr/>
          </p:nvSpPr>
          <p:spPr>
            <a:xfrm>
              <a:off x="6587193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8" name="Google Shape;398;p25"/>
            <p:cNvSpPr/>
            <p:nvPr/>
          </p:nvSpPr>
          <p:spPr>
            <a:xfrm>
              <a:off x="6587193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9" name="Google Shape;399;p25"/>
            <p:cNvSpPr/>
            <p:nvPr/>
          </p:nvSpPr>
          <p:spPr>
            <a:xfrm>
              <a:off x="9160908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0" name="Google Shape;400;p25"/>
            <p:cNvSpPr/>
            <p:nvPr/>
          </p:nvSpPr>
          <p:spPr>
            <a:xfrm>
              <a:off x="9160908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01" name="Google Shape;401;p25"/>
            <p:cNvCxnSpPr/>
            <p:nvPr/>
          </p:nvCxnSpPr>
          <p:spPr>
            <a:xfrm rot="10800000">
              <a:off x="6424318" y="2021283"/>
              <a:ext cx="0" cy="3848067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2" name="Google Shape;402;p25"/>
            <p:cNvCxnSpPr/>
            <p:nvPr/>
          </p:nvCxnSpPr>
          <p:spPr>
            <a:xfrm>
              <a:off x="6580229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03" name="Google Shape;403;p25"/>
            <p:cNvSpPr txBox="1"/>
            <p:nvPr/>
          </p:nvSpPr>
          <p:spPr>
            <a:xfrm>
              <a:off x="6599882" y="5926670"/>
              <a:ext cx="2186815" cy="369332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廣度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4" name="Google Shape;404;p25"/>
            <p:cNvSpPr txBox="1"/>
            <p:nvPr/>
          </p:nvSpPr>
          <p:spPr>
            <a:xfrm>
              <a:off x="6237338" y="4046593"/>
              <a:ext cx="369332" cy="2031325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5" name="Google Shape;405;p25"/>
            <p:cNvSpPr/>
            <p:nvPr/>
          </p:nvSpPr>
          <p:spPr>
            <a:xfrm>
              <a:off x="6742414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潛力者</a:t>
              </a:r>
              <a:endParaRPr/>
            </a:p>
          </p:txBody>
        </p:sp>
        <p:sp>
          <p:nvSpPr>
            <p:cNvPr id="406" name="Google Shape;406;p25"/>
            <p:cNvSpPr/>
            <p:nvPr/>
          </p:nvSpPr>
          <p:spPr>
            <a:xfrm>
              <a:off x="9311711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積極者</a:t>
              </a:r>
              <a:endParaRPr/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6742414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挑戰者</a:t>
              </a:r>
              <a:endParaRPr/>
            </a:p>
          </p:txBody>
        </p:sp>
        <p:sp>
          <p:nvSpPr>
            <p:cNvPr id="408" name="Google Shape;408;p25"/>
            <p:cNvSpPr/>
            <p:nvPr/>
          </p:nvSpPr>
          <p:spPr>
            <a:xfrm>
              <a:off x="9311711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領導者</a:t>
              </a:r>
              <a:endParaRPr/>
            </a:p>
          </p:txBody>
        </p:sp>
        <p:graphicFrame>
          <p:nvGraphicFramePr>
            <p:cNvPr id="409" name="Google Shape;409;p25"/>
            <p:cNvGraphicFramePr/>
            <p:nvPr/>
          </p:nvGraphicFramePr>
          <p:xfrm>
            <a:off x="6583501" y="2021283"/>
            <a:ext cx="5055164" cy="39121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410" name="Google Shape;410;p25"/>
            <p:cNvSpPr/>
            <p:nvPr/>
          </p:nvSpPr>
          <p:spPr>
            <a:xfrm rot="5400000">
              <a:off x="5707709" y="3117213"/>
              <a:ext cx="1384995" cy="25736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TW" sz="12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以永豐媒體曝光視角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25"/>
          <p:cNvGrpSpPr/>
          <p:nvPr/>
        </p:nvGrpSpPr>
        <p:grpSpPr>
          <a:xfrm>
            <a:off x="543443" y="2169401"/>
            <a:ext cx="5096198" cy="3823242"/>
            <a:chOff x="253607" y="2013588"/>
            <a:chExt cx="5423735" cy="4068964"/>
          </a:xfrm>
        </p:grpSpPr>
        <p:sp>
          <p:nvSpPr>
            <p:cNvPr id="412" name="Google Shape;412;p25"/>
            <p:cNvSpPr/>
            <p:nvPr/>
          </p:nvSpPr>
          <p:spPr>
            <a:xfrm>
              <a:off x="615205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615205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4" name="Google Shape;414;p25"/>
            <p:cNvSpPr/>
            <p:nvPr/>
          </p:nvSpPr>
          <p:spPr>
            <a:xfrm>
              <a:off x="3188920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3188920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16" name="Google Shape;416;p25"/>
            <p:cNvCxnSpPr/>
            <p:nvPr/>
          </p:nvCxnSpPr>
          <p:spPr>
            <a:xfrm rot="10800000" flipH="1">
              <a:off x="450015" y="2013588"/>
              <a:ext cx="4677" cy="3919806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7" name="Google Shape;417;p25"/>
            <p:cNvCxnSpPr/>
            <p:nvPr/>
          </p:nvCxnSpPr>
          <p:spPr>
            <a:xfrm>
              <a:off x="608241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18" name="Google Shape;418;p25"/>
            <p:cNvSpPr/>
            <p:nvPr/>
          </p:nvSpPr>
          <p:spPr>
            <a:xfrm>
              <a:off x="770426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潛力者</a:t>
              </a:r>
              <a:endParaRPr/>
            </a:p>
          </p:txBody>
        </p:sp>
        <p:sp>
          <p:nvSpPr>
            <p:cNvPr id="419" name="Google Shape;419;p25"/>
            <p:cNvSpPr/>
            <p:nvPr/>
          </p:nvSpPr>
          <p:spPr>
            <a:xfrm>
              <a:off x="3339723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積極者</a:t>
              </a:r>
              <a:endParaRPr/>
            </a:p>
          </p:txBody>
        </p:sp>
        <p:sp>
          <p:nvSpPr>
            <p:cNvPr id="420" name="Google Shape;420;p25"/>
            <p:cNvSpPr/>
            <p:nvPr/>
          </p:nvSpPr>
          <p:spPr>
            <a:xfrm>
              <a:off x="770426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挑戰者</a:t>
              </a:r>
              <a:endParaRPr/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3339723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領導者</a:t>
              </a:r>
              <a:endParaRPr/>
            </a:p>
          </p:txBody>
        </p:sp>
        <p:graphicFrame>
          <p:nvGraphicFramePr>
            <p:cNvPr id="422" name="Google Shape;422;p25"/>
            <p:cNvGraphicFramePr/>
            <p:nvPr/>
          </p:nvGraphicFramePr>
          <p:xfrm>
            <a:off x="612970" y="2013588"/>
            <a:ext cx="5062134" cy="39130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423" name="Google Shape;423;p25"/>
            <p:cNvSpPr txBox="1"/>
            <p:nvPr/>
          </p:nvSpPr>
          <p:spPr>
            <a:xfrm>
              <a:off x="253607" y="4046593"/>
              <a:ext cx="369332" cy="2031325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輔助線範例1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539751" y="1008202"/>
            <a:ext cx="10440988" cy="875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5492" marR="0" lvl="0" indent="-2945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■"/>
            </a:pPr>
            <a:r>
              <a:rPr lang="zh-TW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依同業數位科技應用發展市場聲量與公開資訊分析，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永豐目前在</a:t>
            </a:r>
            <a:r>
              <a:rPr lang="zh-TW" i="0" u="sng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數位科技的應用成果與研發領域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之市場地位位居「領導者」</a:t>
            </a:r>
            <a:r>
              <a:rPr lang="zh-TW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，與金融研訓院《金融科技創新與數位轉型調查》評選永豐為「數位轉型領先者」相符。</a:t>
            </a:r>
            <a:endParaRPr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75492" marR="0" lvl="0" indent="-294542" algn="l" rtl="0">
              <a:lnSpc>
                <a:spcPct val="100000"/>
              </a:lnSpc>
              <a:spcBef>
                <a:spcPts val="57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Char char="■"/>
            </a:pPr>
            <a:r>
              <a:rPr lang="zh-TW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同業數位科技應用總聲量中，國泰金控除位居第一外；更是投入大量資源於在人工智慧、區塊鏈、雲端服務、數據資料、機器人流程自動化之技術研發。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其中，</a:t>
            </a:r>
            <a:r>
              <a:rPr lang="zh-TW" i="0" u="sng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針對區塊鏈部分扮演先驅領導角色</a:t>
            </a:r>
            <a:r>
              <a:rPr lang="zh-TW" i="0" u="none" strike="noStrike" cap="none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，倡議《區塊鏈聯盟自律公約》並建立「聯盟鏈」（產險聯盟鏈、環球貿易共享鏈、身份認證）。</a:t>
            </a:r>
            <a:endParaRPr i="0" u="none" strike="noStrike" cap="none">
              <a:solidFill>
                <a:srgbClr val="0070C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30" name="Google Shape;430;p26"/>
          <p:cNvGrpSpPr/>
          <p:nvPr/>
        </p:nvGrpSpPr>
        <p:grpSpPr>
          <a:xfrm>
            <a:off x="5880849" y="2176631"/>
            <a:ext cx="5096197" cy="4025286"/>
            <a:chOff x="6237338" y="2021283"/>
            <a:chExt cx="5411992" cy="4274719"/>
          </a:xfrm>
        </p:grpSpPr>
        <p:sp>
          <p:nvSpPr>
            <p:cNvPr id="431" name="Google Shape;431;p26"/>
            <p:cNvSpPr/>
            <p:nvPr/>
          </p:nvSpPr>
          <p:spPr>
            <a:xfrm>
              <a:off x="6587193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6587193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9160908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9160908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35" name="Google Shape;435;p26"/>
            <p:cNvCxnSpPr/>
            <p:nvPr/>
          </p:nvCxnSpPr>
          <p:spPr>
            <a:xfrm rot="10800000">
              <a:off x="6424318" y="2021283"/>
              <a:ext cx="0" cy="3848067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6" name="Google Shape;436;p26"/>
            <p:cNvCxnSpPr/>
            <p:nvPr/>
          </p:nvCxnSpPr>
          <p:spPr>
            <a:xfrm>
              <a:off x="6580229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37" name="Google Shape;437;p26"/>
            <p:cNvSpPr txBox="1"/>
            <p:nvPr/>
          </p:nvSpPr>
          <p:spPr>
            <a:xfrm>
              <a:off x="6599882" y="5926670"/>
              <a:ext cx="2186815" cy="369332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廣度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8" name="Google Shape;438;p26"/>
            <p:cNvSpPr txBox="1"/>
            <p:nvPr/>
          </p:nvSpPr>
          <p:spPr>
            <a:xfrm>
              <a:off x="6237338" y="4046593"/>
              <a:ext cx="369332" cy="2031325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6742414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潛力者</a:t>
              </a:r>
              <a:endParaRPr/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9311711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積極者</a:t>
              </a: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6742414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挑戰者</a:t>
              </a: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9311711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領導者</a:t>
              </a:r>
              <a:endParaRPr/>
            </a:p>
          </p:txBody>
        </p:sp>
        <p:graphicFrame>
          <p:nvGraphicFramePr>
            <p:cNvPr id="443" name="Google Shape;443;p26"/>
            <p:cNvGraphicFramePr/>
            <p:nvPr/>
          </p:nvGraphicFramePr>
          <p:xfrm>
            <a:off x="6583501" y="2021283"/>
            <a:ext cx="5055164" cy="39121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444" name="Google Shape;444;p26"/>
            <p:cNvSpPr/>
            <p:nvPr/>
          </p:nvSpPr>
          <p:spPr>
            <a:xfrm rot="5400000">
              <a:off x="5707709" y="3117213"/>
              <a:ext cx="1384995" cy="25736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TW" sz="12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以永豐媒體曝光視角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5" name="Google Shape;445;p26"/>
          <p:cNvGrpSpPr/>
          <p:nvPr/>
        </p:nvGrpSpPr>
        <p:grpSpPr>
          <a:xfrm>
            <a:off x="543443" y="2169401"/>
            <a:ext cx="5096198" cy="3823242"/>
            <a:chOff x="253607" y="2013588"/>
            <a:chExt cx="5423735" cy="4068964"/>
          </a:xfrm>
        </p:grpSpPr>
        <p:sp>
          <p:nvSpPr>
            <p:cNvPr id="446" name="Google Shape;446;p26"/>
            <p:cNvSpPr/>
            <p:nvPr/>
          </p:nvSpPr>
          <p:spPr>
            <a:xfrm>
              <a:off x="615205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615205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3188920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3188920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50" name="Google Shape;450;p26"/>
            <p:cNvCxnSpPr/>
            <p:nvPr/>
          </p:nvCxnSpPr>
          <p:spPr>
            <a:xfrm rot="10800000" flipH="1">
              <a:off x="450015" y="2013588"/>
              <a:ext cx="4677" cy="3919806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51" name="Google Shape;451;p26"/>
            <p:cNvCxnSpPr/>
            <p:nvPr/>
          </p:nvCxnSpPr>
          <p:spPr>
            <a:xfrm>
              <a:off x="608241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52" name="Google Shape;452;p26"/>
            <p:cNvSpPr/>
            <p:nvPr/>
          </p:nvSpPr>
          <p:spPr>
            <a:xfrm>
              <a:off x="770426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潛力者</a:t>
              </a: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339723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積極者</a:t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770426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挑戰者</a:t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339723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領導者</a:t>
              </a:r>
              <a:endParaRPr/>
            </a:p>
          </p:txBody>
        </p:sp>
        <p:graphicFrame>
          <p:nvGraphicFramePr>
            <p:cNvPr id="456" name="Google Shape;456;p26"/>
            <p:cNvGraphicFramePr/>
            <p:nvPr/>
          </p:nvGraphicFramePr>
          <p:xfrm>
            <a:off x="612970" y="2013588"/>
            <a:ext cx="5062134" cy="39130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457" name="Google Shape;457;p26"/>
            <p:cNvSpPr txBox="1"/>
            <p:nvPr/>
          </p:nvSpPr>
          <p:spPr>
            <a:xfrm>
              <a:off x="253607" y="4046593"/>
              <a:ext cx="369300" cy="2031300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58" name="Google Shape;458;p26"/>
          <p:cNvCxnSpPr/>
          <p:nvPr/>
        </p:nvCxnSpPr>
        <p:spPr>
          <a:xfrm rot="10800000">
            <a:off x="5666400" y="0"/>
            <a:ext cx="30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9" name="Google Shape;459;p26"/>
          <p:cNvCxnSpPr/>
          <p:nvPr/>
        </p:nvCxnSpPr>
        <p:spPr>
          <a:xfrm rot="10800000">
            <a:off x="585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" name="Google Shape;460;p26"/>
          <p:cNvCxnSpPr/>
          <p:nvPr/>
        </p:nvCxnSpPr>
        <p:spPr>
          <a:xfrm>
            <a:off x="0" y="6192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1" name="Google Shape;461;p26"/>
          <p:cNvCxnSpPr/>
          <p:nvPr/>
        </p:nvCxnSpPr>
        <p:spPr>
          <a:xfrm rot="10800000" flipH="1">
            <a:off x="10" y="1008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2" name="Google Shape;462;p26"/>
          <p:cNvCxnSpPr/>
          <p:nvPr/>
        </p:nvCxnSpPr>
        <p:spPr>
          <a:xfrm rot="10800000">
            <a:off x="5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3" name="Google Shape;463;p26"/>
          <p:cNvCxnSpPr/>
          <p:nvPr/>
        </p:nvCxnSpPr>
        <p:spPr>
          <a:xfrm rot="10800000">
            <a:off x="1098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輔助線範例2</a:t>
            </a:r>
            <a:endParaRPr/>
          </a:p>
        </p:txBody>
      </p:sp>
      <p:sp>
        <p:nvSpPr>
          <p:cNvPr id="469" name="Google Shape;469;p27"/>
          <p:cNvSpPr txBox="1"/>
          <p:nvPr/>
        </p:nvSpPr>
        <p:spPr>
          <a:xfrm>
            <a:off x="4111625" y="1011236"/>
            <a:ext cx="3302001" cy="33180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行動計畫</a:t>
            </a:r>
            <a:endParaRPr sz="1568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0" name="Google Shape;470;p27"/>
          <p:cNvSpPr txBox="1"/>
          <p:nvPr/>
        </p:nvSpPr>
        <p:spPr>
          <a:xfrm>
            <a:off x="540000" y="1008063"/>
            <a:ext cx="3302000" cy="331809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經營策略</a:t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7678738" y="1010893"/>
            <a:ext cx="3301013" cy="331809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成功指標</a:t>
            </a:r>
            <a:endParaRPr sz="1568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2" name="Google Shape;472;p27"/>
          <p:cNvSpPr txBox="1"/>
          <p:nvPr/>
        </p:nvSpPr>
        <p:spPr>
          <a:xfrm>
            <a:off x="0" y="2821207"/>
            <a:ext cx="1039281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風險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決策</a:t>
            </a:r>
            <a:endParaRPr/>
          </a:p>
        </p:txBody>
      </p:sp>
      <p:sp>
        <p:nvSpPr>
          <p:cNvPr id="473" name="Google Shape;473;p27"/>
          <p:cNvSpPr/>
          <p:nvPr/>
        </p:nvSpPr>
        <p:spPr>
          <a:xfrm>
            <a:off x="1039280" y="2675915"/>
            <a:ext cx="2802469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配合金融風險管理佈局，提供技術支援配套</a:t>
            </a:r>
            <a:b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(信用風險、市場風險、行為風險)</a:t>
            </a:r>
            <a:endParaRPr sz="1200" b="0" i="0" u="none" strike="noStrike" cap="none">
              <a:solidFill>
                <a:srgbClr val="0F243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4111625" y="2675915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信用風險：信貸進件、銀證所得替代、法金額度預估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市場風險：核心存款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行為風險：理專風險、信用卡盜刷</a:t>
            </a:r>
            <a:endParaRPr/>
          </a:p>
        </p:txBody>
      </p:sp>
      <p:sp>
        <p:nvSpPr>
          <p:cNvPr id="475" name="Google Shape;475;p27"/>
          <p:cNvSpPr/>
          <p:nvPr/>
        </p:nvSpPr>
        <p:spPr>
          <a:xfrm>
            <a:off x="7678738" y="2666631"/>
            <a:ext cx="3301262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模型部署：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信貸進件 (Q1)、銀證所得替代 (Q2)、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法金額度預估 (Q4)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核心存款POC完成 (Q4)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模型部署：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理專風險 (Q2)、信用卡盜刷 (Q4)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76" name="Google Shape;476;p27"/>
          <p:cNvCxnSpPr/>
          <p:nvPr/>
        </p:nvCxnSpPr>
        <p:spPr>
          <a:xfrm>
            <a:off x="246553" y="2558756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77" name="Google Shape;477;p27"/>
          <p:cNvCxnSpPr/>
          <p:nvPr/>
        </p:nvCxnSpPr>
        <p:spPr>
          <a:xfrm>
            <a:off x="246553" y="3779509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78" name="Google Shape;478;p27"/>
          <p:cNvSpPr txBox="1"/>
          <p:nvPr/>
        </p:nvSpPr>
        <p:spPr>
          <a:xfrm>
            <a:off x="1" y="5333438"/>
            <a:ext cx="1039280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技術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研發</a:t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1039280" y="5190909"/>
            <a:ext cx="2802469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發展運算資源配置最適化</a:t>
            </a:r>
            <a:endParaRPr sz="1200" b="0" i="0" u="none" strike="noStrike" cap="none">
              <a:solidFill>
                <a:srgbClr val="0F243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積極探索未來市場新商機</a:t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4111625" y="5190909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邊緣運算技術應用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 資源配置平台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Trading：美股ETF資產配置、AI基金經理人、台股券商分點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商機洞察，以數據驅動的分析，找出可能的業務商機</a:t>
            </a:r>
            <a:endParaRPr/>
          </a:p>
        </p:txBody>
      </p:sp>
      <p:cxnSp>
        <p:nvCxnSpPr>
          <p:cNvPr id="481" name="Google Shape;481;p27"/>
          <p:cNvCxnSpPr/>
          <p:nvPr/>
        </p:nvCxnSpPr>
        <p:spPr>
          <a:xfrm>
            <a:off x="246553" y="5003842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82" name="Google Shape;482;p27"/>
          <p:cNvSpPr/>
          <p:nvPr/>
        </p:nvSpPr>
        <p:spPr>
          <a:xfrm>
            <a:off x="7678738" y="5181859"/>
            <a:ext cx="3301262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 POC 完成 (Q2)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開發環境落地 (Q2)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POC完成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美股資產配置 (Q2)、AI 基金經理人 (Q4)、台股券商分點 (Q4)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商機洞察報告≥2份 (Q4)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27"/>
          <p:cNvSpPr txBox="1"/>
          <p:nvPr/>
        </p:nvSpPr>
        <p:spPr>
          <a:xfrm>
            <a:off x="0" y="1616972"/>
            <a:ext cx="1039283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業務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行銷</a:t>
            </a: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1039284" y="1460913"/>
            <a:ext cx="2802466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鏈結績效指標，助攻業務銷售 </a:t>
            </a:r>
            <a:b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(信貸、中高端理財、銀證數位客群)</a:t>
            </a:r>
            <a:endParaRPr/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完善資料技術串聯，提升顧客中台架構，深化業務應用</a:t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4111625" y="1460913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信貸：信貸指數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中高端理財：富能指數、潛力中高端客群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銀證數位客群：大戶指數、證券沉睡戶喚醒、存股推薦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模型庫擴充 (人事時地物)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標籤資料庫整合運用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7678490" y="1339872"/>
            <a:ext cx="3301262" cy="121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信貸指數  (Q1)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富能指數  (Q1)、潛力中高端客群  (Q2)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沉睡戶喚醒 (Q1)、大戶指數 (Q2)、存股推薦 (Q4)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新增模型數 ≥ 20；更新模型數 ≥ 100 (Q4)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模型導入標籤  (Q4)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7" name="Google Shape;487;p27"/>
          <p:cNvSpPr txBox="1"/>
          <p:nvPr/>
        </p:nvSpPr>
        <p:spPr>
          <a:xfrm>
            <a:off x="-1" y="4060570"/>
            <a:ext cx="1039281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人才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文化</a:t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1039280" y="3905228"/>
            <a:ext cx="2802470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數位科技賦能，培育頂尖人才</a:t>
            </a:r>
            <a:endParaRPr sz="1200" b="0" i="0" u="none" strike="noStrike" cap="none">
              <a:solidFill>
                <a:srgbClr val="0F243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打造數位品牌，推動數位變革</a:t>
            </a:r>
            <a:endParaRPr sz="1200" b="0" i="0" u="none" strike="noStrike" cap="none">
              <a:solidFill>
                <a:srgbClr val="0F243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4111625" y="3905228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籌辦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技術主題競賽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落實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數位幕僚計畫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，重點單位數位人才培育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建置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科技人才能力視覺化平台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協辦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圖靈團隊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第四期招募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各項專利申請及對外論文發表</a:t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7678739" y="3896959"/>
            <a:ext cx="3302000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提供活動相關技術支援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完成數位幕僚培訓首年結業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平台建置完成 (Q2)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招募人數 ≥6人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專利≥2件 (Q4)，期刊投稿≥1篇 (Q2)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8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輔助線範例2</a:t>
            </a:r>
            <a:endParaRPr/>
          </a:p>
        </p:txBody>
      </p:sp>
      <p:sp>
        <p:nvSpPr>
          <p:cNvPr id="496" name="Google Shape;496;p28"/>
          <p:cNvSpPr txBox="1"/>
          <p:nvPr/>
        </p:nvSpPr>
        <p:spPr>
          <a:xfrm>
            <a:off x="4111625" y="1011236"/>
            <a:ext cx="3348038" cy="33180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行動計畫</a:t>
            </a:r>
            <a:endParaRPr sz="1568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7" name="Google Shape;497;p28"/>
          <p:cNvSpPr txBox="1"/>
          <p:nvPr/>
        </p:nvSpPr>
        <p:spPr>
          <a:xfrm>
            <a:off x="540000" y="1008063"/>
            <a:ext cx="3384300" cy="331809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經營策略</a:t>
            </a:r>
            <a:endParaRPr/>
          </a:p>
        </p:txBody>
      </p:sp>
      <p:sp>
        <p:nvSpPr>
          <p:cNvPr id="498" name="Google Shape;498;p28"/>
          <p:cNvSpPr txBox="1"/>
          <p:nvPr/>
        </p:nvSpPr>
        <p:spPr>
          <a:xfrm>
            <a:off x="7631714" y="1010893"/>
            <a:ext cx="3348038" cy="331809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成功指標</a:t>
            </a:r>
            <a:endParaRPr sz="1568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546352" y="2821207"/>
            <a:ext cx="1039281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風險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決策</a:t>
            </a:r>
            <a:endParaRPr/>
          </a:p>
        </p:txBody>
      </p:sp>
      <p:sp>
        <p:nvSpPr>
          <p:cNvPr id="500" name="Google Shape;500;p28"/>
          <p:cNvSpPr/>
          <p:nvPr/>
        </p:nvSpPr>
        <p:spPr>
          <a:xfrm>
            <a:off x="1591982" y="2675915"/>
            <a:ext cx="2338917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配合金融風險管理佈局，提供技術支援配套</a:t>
            </a:r>
            <a:b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(信用風險、市場風險、行為風險)</a:t>
            </a:r>
            <a:endParaRPr sz="1200" b="0" i="0" u="none" strike="noStrike" cap="none">
              <a:solidFill>
                <a:srgbClr val="0F243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4111625" y="2675915"/>
            <a:ext cx="3333749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信用風險：信貸進件、銀證所得替代、法金額度預估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市場風險：核心存款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行為風險：理專風險、信用卡盜刷</a:t>
            </a: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7632709" y="2666631"/>
            <a:ext cx="334729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模型部署：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信貸進件 (Q1)、銀證所得替代 (Q2)、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法金額度預估 (Q4)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核心存款POC完成 (Q4)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模型部署：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理專風險 (Q2)、信用卡盜刷 (Q4)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03" name="Google Shape;503;p28"/>
          <p:cNvCxnSpPr/>
          <p:nvPr/>
        </p:nvCxnSpPr>
        <p:spPr>
          <a:xfrm>
            <a:off x="246553" y="2558756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04" name="Google Shape;504;p28"/>
          <p:cNvCxnSpPr/>
          <p:nvPr/>
        </p:nvCxnSpPr>
        <p:spPr>
          <a:xfrm>
            <a:off x="246553" y="3779509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05" name="Google Shape;505;p28"/>
          <p:cNvSpPr txBox="1"/>
          <p:nvPr/>
        </p:nvSpPr>
        <p:spPr>
          <a:xfrm>
            <a:off x="546353" y="5333438"/>
            <a:ext cx="1039280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技術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研發</a:t>
            </a:r>
            <a:endParaRPr/>
          </a:p>
        </p:txBody>
      </p:sp>
      <p:sp>
        <p:nvSpPr>
          <p:cNvPr id="506" name="Google Shape;506;p28"/>
          <p:cNvSpPr/>
          <p:nvPr/>
        </p:nvSpPr>
        <p:spPr>
          <a:xfrm>
            <a:off x="1591982" y="5190909"/>
            <a:ext cx="2338917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發展運算資源配置最適化</a:t>
            </a:r>
            <a:endParaRPr sz="1200" b="0" i="0" u="none" strike="noStrike" cap="none">
              <a:solidFill>
                <a:srgbClr val="0F243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積極探索未來市場新商機</a:t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4111625" y="5190909"/>
            <a:ext cx="3333749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邊緣運算技術應用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 資源配置平台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Trading：美股ETF資產配置、AI基金經理人、台股券商分點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商機洞察，以數據驅動的分析，找出可能的業務商機</a:t>
            </a:r>
            <a:endParaRPr/>
          </a:p>
        </p:txBody>
      </p:sp>
      <p:cxnSp>
        <p:nvCxnSpPr>
          <p:cNvPr id="508" name="Google Shape;508;p28"/>
          <p:cNvCxnSpPr/>
          <p:nvPr/>
        </p:nvCxnSpPr>
        <p:spPr>
          <a:xfrm>
            <a:off x="246553" y="5003842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09" name="Google Shape;509;p28"/>
          <p:cNvSpPr/>
          <p:nvPr/>
        </p:nvSpPr>
        <p:spPr>
          <a:xfrm>
            <a:off x="7632709" y="5181859"/>
            <a:ext cx="334729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 POC 完成 (Q2)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開發環境落地 (Q2)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POC完成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美股資產配置 (Q2)、AI 基金經理人 (Q4)、台股券商分點 (Q4)</a:t>
            </a:r>
            <a:endParaRPr/>
          </a:p>
          <a:p>
            <a:pPr marL="224051" marR="0" lvl="0" indent="-2240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商機洞察報告≥2份 (Q4)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0" name="Google Shape;510;p28"/>
          <p:cNvSpPr txBox="1"/>
          <p:nvPr/>
        </p:nvSpPr>
        <p:spPr>
          <a:xfrm>
            <a:off x="546352" y="1616972"/>
            <a:ext cx="1039283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業務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行銷</a:t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1591984" y="1460913"/>
            <a:ext cx="2338915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鏈結績效指標，助攻業務銷售 </a:t>
            </a:r>
            <a:b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(信貸、中高端理財、銀證數位客群)</a:t>
            </a:r>
            <a:endParaRPr/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完善資料技術串聯，提升顧客中台架構，深化業務應用</a:t>
            </a:r>
            <a:endParaRPr/>
          </a:p>
        </p:txBody>
      </p:sp>
      <p:sp>
        <p:nvSpPr>
          <p:cNvPr id="512" name="Google Shape;512;p28"/>
          <p:cNvSpPr/>
          <p:nvPr/>
        </p:nvSpPr>
        <p:spPr>
          <a:xfrm>
            <a:off x="4111625" y="1460913"/>
            <a:ext cx="3333749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信貸：信貸指數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中高端理財：富能指數、潛力中高端客群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銀證數位客群：大戶指數、證券沉睡戶喚醒、存股推薦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模型庫擴充 (人事時地物)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標籤資料庫整合運用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7632461" y="1339872"/>
            <a:ext cx="3347291" cy="121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信貸指數  (Q1)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富能指數  (Q1)、潛力中高端客群  (Q2)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沉睡戶喚醒 (Q1)、大戶指數 (Q2)、存股推薦 (Q4)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新增模型數 ≥ 20；更新模型數 ≥ 100 (Q4)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模型導入標籤  (Q4)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28"/>
          <p:cNvSpPr txBox="1"/>
          <p:nvPr/>
        </p:nvSpPr>
        <p:spPr>
          <a:xfrm>
            <a:off x="546351" y="4060570"/>
            <a:ext cx="1039281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人才</a:t>
            </a:r>
            <a:endParaRPr sz="1764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文化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1591982" y="3905228"/>
            <a:ext cx="2338918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0064" marR="0" lvl="0" indent="-280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數位科技賦能，培育頂尖人才</a:t>
            </a:r>
            <a:endParaRPr sz="1200" b="0" i="0" u="none" strike="noStrike" cap="none">
              <a:solidFill>
                <a:srgbClr val="0F243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0064" marR="0" lvl="0" indent="-280064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zh-TW" sz="1200" b="0" i="0" u="none" strike="noStrike" cap="none">
                <a:solidFill>
                  <a:srgbClr val="0F243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打造數位品牌，推動數位變革</a:t>
            </a:r>
            <a:endParaRPr sz="1200" b="0" i="0" u="none" strike="noStrike" cap="none">
              <a:solidFill>
                <a:srgbClr val="0F243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4111625" y="3905228"/>
            <a:ext cx="3333749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籌辦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技術主題競賽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落實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數位幕僚計畫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，重點單位數位人才培育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建置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科技人才能力視覺化平台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協辦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圖靈團隊</a:t>
            </a:r>
            <a:r>
              <a:rPr lang="zh-TW"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第四期招募</a:t>
            </a:r>
            <a:endParaRPr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各項專利申請及對外論文發表</a:t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7632700" y="3896959"/>
            <a:ext cx="3348039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提供活動相關技術支援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完成數位幕僚培訓首年結業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平台建置完成 (Q2)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招募人數 ≥6人 (Q4)</a:t>
            </a:r>
            <a:endParaRPr/>
          </a:p>
          <a:p>
            <a:pPr marL="224051" marR="0" lvl="0" indent="-22405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專利≥2件 (Q4)，期刊投稿≥1篇 (Q2)</a:t>
            </a:r>
            <a:endParaRPr sz="1200" b="0" i="0" u="none" strike="noStrike" cap="none">
              <a:solidFill>
                <a:srgbClr val="C0504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18" name="Google Shape;518;p28"/>
          <p:cNvCxnSpPr/>
          <p:nvPr/>
        </p:nvCxnSpPr>
        <p:spPr>
          <a:xfrm rot="10800000">
            <a:off x="3924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9" name="Google Shape;519;p28"/>
          <p:cNvCxnSpPr/>
          <p:nvPr/>
        </p:nvCxnSpPr>
        <p:spPr>
          <a:xfrm>
            <a:off x="0" y="6192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0" name="Google Shape;520;p28"/>
          <p:cNvCxnSpPr/>
          <p:nvPr/>
        </p:nvCxnSpPr>
        <p:spPr>
          <a:xfrm rot="10800000" flipH="1">
            <a:off x="10" y="1008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1" name="Google Shape;521;p28"/>
          <p:cNvCxnSpPr/>
          <p:nvPr/>
        </p:nvCxnSpPr>
        <p:spPr>
          <a:xfrm rot="10800000">
            <a:off x="5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2" name="Google Shape;522;p28"/>
          <p:cNvCxnSpPr/>
          <p:nvPr/>
        </p:nvCxnSpPr>
        <p:spPr>
          <a:xfrm rot="10800000">
            <a:off x="1098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3" name="Google Shape;523;p28"/>
          <p:cNvCxnSpPr/>
          <p:nvPr/>
        </p:nvCxnSpPr>
        <p:spPr>
          <a:xfrm rot="10800000">
            <a:off x="4104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4" name="Google Shape;524;p28"/>
          <p:cNvCxnSpPr/>
          <p:nvPr/>
        </p:nvCxnSpPr>
        <p:spPr>
          <a:xfrm rot="10800000">
            <a:off x="7452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5" name="Google Shape;525;p28"/>
          <p:cNvCxnSpPr/>
          <p:nvPr/>
        </p:nvCxnSpPr>
        <p:spPr>
          <a:xfrm rot="10800000">
            <a:off x="7632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 txBox="1"/>
          <p:nvPr/>
        </p:nvSpPr>
        <p:spPr>
          <a:xfrm>
            <a:off x="539750" y="1008000"/>
            <a:ext cx="8140500" cy="39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spAutoFit/>
          </a:bodyPr>
          <a:lstStyle/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為有效彰顯本公司在 AI 技術研發與國內同業差異度，擬效仿國外著名金融機構(如</a:t>
            </a:r>
            <a:r>
              <a:rPr lang="zh-TW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J.P. Morgan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)，將研發成果發表於國際著名學術研討會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效益</a:t>
            </a:r>
            <a:b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1) 名聲：當人家問起 “誰能代表 AI 與金融？” 時，答案要毫無疑問是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2) 招募 3) 創意：透過研討會與產官學的頂級研究者交流，獲得人才與想法 </a:t>
            </a:r>
            <a:r>
              <a:rPr lang="zh-TW" sz="1200">
                <a:solidFill>
                  <a:srgbClr val="58798F"/>
                </a:solidFill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 CTO of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4) 激勵同仁投入研發 5) 與國內同業間的宣傳方式(如：廣告、競賽等)建立區隔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擬選擇投稿至 International Conference on Machine Learning (ICML) 研討會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該研討會與 ICLR、NIPS 並列</a:t>
            </a:r>
            <a:r>
              <a:rPr lang="zh-TW" sz="1200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 AI 研討會</a:t>
            </a:r>
            <a:endParaRPr sz="1200">
              <a:solidFill>
                <a:srgbClr val="FF5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若獲選，將成為首家於 ICML 發表之台灣金融機構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考量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挑選學術價值大於實務價值的技術發表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該技術在金融領域的應用已申請專利，發表後一年內也可以追加專利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截稿日 2023/1/26 正值過年期間，會議日期為 2023/7/27，地點在夏威夷</a:t>
            </a:r>
            <a:endParaRPr sz="1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31" name="Google Shape;53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9763" y="1722782"/>
            <a:ext cx="2823507" cy="241974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9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輔助線範例3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 txBox="1"/>
          <p:nvPr/>
        </p:nvSpPr>
        <p:spPr>
          <a:xfrm>
            <a:off x="539750" y="1008000"/>
            <a:ext cx="6915900" cy="41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spAutoFit/>
          </a:bodyPr>
          <a:lstStyle/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為有效彰顯本公司在 AI 技術研發與國內同業差異度，擬效仿國外著名金融機構(如 </a:t>
            </a:r>
            <a:r>
              <a:rPr lang="zh-TW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J.P. Morgan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)，將研發成果發表於國際著名學術研討會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效益</a:t>
            </a:r>
            <a:b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1) 名聲：當人家問起 “誰能代表 AI 與金融？” 時，答案要毫無疑問是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2) 招募 3) 創意：透過研討會與產官學的頂級研究者交流，獲得人才與想法 </a:t>
            </a:r>
            <a:r>
              <a:rPr lang="zh-TW" sz="1200">
                <a:solidFill>
                  <a:srgbClr val="58798F"/>
                </a:solidFill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 CTO of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4) 激勵同仁投入研發 5) 與國內同業間的宣傳方式(如：廣告、競賽等)建立區隔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擬選擇投稿至 International Conference on Machine Learning (ICML) 研討會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該研討會與 ICLR、NIPS 並列</a:t>
            </a:r>
            <a:r>
              <a:rPr lang="zh-TW" sz="1200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 AI 研討會</a:t>
            </a:r>
            <a:endParaRPr sz="1200">
              <a:solidFill>
                <a:srgbClr val="FF5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若獲選，將成為首家於 ICML 發表之台灣金融機構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160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考量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挑選學術價值大於實務價值的技術發表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該技術在金融領域的應用已申請專利，發表後一年內也可以追加專利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999" marR="0" lvl="1" indent="-148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截稿日 2023/1/26 正值過年期間，會議日期為 2023/7/27，地點在夏威夷</a:t>
            </a:r>
            <a:endParaRPr sz="1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38" name="Google Shape;53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8850" y="1008000"/>
            <a:ext cx="3301900" cy="2829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9" name="Google Shape;539;p30"/>
          <p:cNvCxnSpPr/>
          <p:nvPr/>
        </p:nvCxnSpPr>
        <p:spPr>
          <a:xfrm>
            <a:off x="0" y="6192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0" name="Google Shape;540;p30"/>
          <p:cNvCxnSpPr/>
          <p:nvPr/>
        </p:nvCxnSpPr>
        <p:spPr>
          <a:xfrm rot="10800000" flipH="1">
            <a:off x="10" y="1008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1" name="Google Shape;541;p30"/>
          <p:cNvCxnSpPr/>
          <p:nvPr/>
        </p:nvCxnSpPr>
        <p:spPr>
          <a:xfrm rot="10800000">
            <a:off x="5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2" name="Google Shape;542;p30"/>
          <p:cNvCxnSpPr/>
          <p:nvPr/>
        </p:nvCxnSpPr>
        <p:spPr>
          <a:xfrm rot="10800000">
            <a:off x="7452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3" name="Google Shape;543;p30"/>
          <p:cNvCxnSpPr/>
          <p:nvPr/>
        </p:nvCxnSpPr>
        <p:spPr>
          <a:xfrm rot="10800000">
            <a:off x="7632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F8AF4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4" name="Google Shape;544;p30"/>
          <p:cNvCxnSpPr/>
          <p:nvPr/>
        </p:nvCxnSpPr>
        <p:spPr>
          <a:xfrm rot="10800000">
            <a:off x="1098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5" name="Google Shape;545;p30"/>
          <p:cNvSpPr txBox="1">
            <a:spLocks noGrp="1"/>
          </p:cNvSpPr>
          <p:nvPr>
            <p:ph type="title"/>
          </p:nvPr>
        </p:nvSpPr>
        <p:spPr>
          <a:xfrm>
            <a:off x="555000" y="288000"/>
            <a:ext cx="10425000" cy="584700"/>
          </a:xfrm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輔助線範例3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al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6896</Words>
  <Application>Microsoft Office PowerPoint</Application>
  <PresentationFormat>自訂</PresentationFormat>
  <Paragraphs>1098</Paragraphs>
  <Slides>35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2" baseType="lpstr">
      <vt:lpstr>Arial</vt:lpstr>
      <vt:lpstr>Century Gothic</vt:lpstr>
      <vt:lpstr>Times New Roman</vt:lpstr>
      <vt:lpstr>Microsoft JhengHei</vt:lpstr>
      <vt:lpstr>Consolas</vt:lpstr>
      <vt:lpstr>Roboto</vt:lpstr>
      <vt:lpstr>Universal Template</vt:lpstr>
      <vt:lpstr>封面標題(36 pt)</vt:lpstr>
      <vt:lpstr>PowerPoint 簡報</vt:lpstr>
      <vt:lpstr>文字設定說明</vt:lpstr>
      <vt:lpstr>內文 18</vt:lpstr>
      <vt:lpstr>內文 16</vt:lpstr>
      <vt:lpstr>內文 14</vt:lpstr>
      <vt:lpstr>[主標 32]永豐 AI關鍵佈局 [副標 20]樂學好開心</vt:lpstr>
      <vt:lpstr>[主標 32]數據趨勢洞察 [副標 20]證券案</vt:lpstr>
      <vt:lpstr>PowerPoint 簡報</vt:lpstr>
      <vt:lpstr>配色1</vt:lpstr>
      <vt:lpstr>配色1說明</vt:lpstr>
      <vt:lpstr>配色範例1</vt:lpstr>
      <vt:lpstr>配色範例2</vt:lpstr>
      <vt:lpstr>配色範例3</vt:lpstr>
      <vt:lpstr>配色範例4</vt:lpstr>
      <vt:lpstr>配色範例5</vt:lpstr>
      <vt:lpstr>配色範例6</vt:lpstr>
      <vt:lpstr>配色範例7</vt:lpstr>
      <vt:lpstr>配色2</vt:lpstr>
      <vt:lpstr>配色2說明</vt:lpstr>
      <vt:lpstr>配色範例1</vt:lpstr>
      <vt:lpstr>配色範例2</vt:lpstr>
      <vt:lpstr>配色範例3</vt:lpstr>
      <vt:lpstr>配色範例4</vt:lpstr>
      <vt:lpstr>PowerPoint 簡報</vt:lpstr>
      <vt:lpstr>輔助線</vt:lpstr>
      <vt:lpstr>輔助線範例 2 欄(藍輔助線)</vt:lpstr>
      <vt:lpstr>輔助線範例 3 欄(紅輔助線)</vt:lpstr>
      <vt:lpstr>輔助線範例 4 欄(灰輔助線)</vt:lpstr>
      <vt:lpstr>輔助線範例1</vt:lpstr>
      <vt:lpstr>輔助線範例1</vt:lpstr>
      <vt:lpstr>輔助線範例2</vt:lpstr>
      <vt:lpstr>輔助線範例2</vt:lpstr>
      <vt:lpstr>輔助線範例3</vt:lpstr>
      <vt:lpstr>輔助線範例3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王婷-數位金融處-永豐銀行</cp:lastModifiedBy>
  <cp:revision>1</cp:revision>
  <dcterms:modified xsi:type="dcterms:W3CDTF">2025-08-15T03:22:41Z</dcterms:modified>
</cp:coreProperties>
</file>