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6"/>
  </p:notesMasterIdLst>
  <p:sldIdLst>
    <p:sldId id="256" r:id="rId5"/>
    <p:sldId id="2147471201" r:id="rId6"/>
    <p:sldId id="2147471203" r:id="rId7"/>
    <p:sldId id="2147471205" r:id="rId8"/>
    <p:sldId id="2147471206" r:id="rId9"/>
    <p:sldId id="2147471208" r:id="rId10"/>
    <p:sldId id="2147471209" r:id="rId11"/>
    <p:sldId id="2147471210" r:id="rId12"/>
    <p:sldId id="2147471211" r:id="rId13"/>
    <p:sldId id="2147471212" r:id="rId14"/>
    <p:sldId id="2147471199" r:id="rId15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89"/>
    <p:restoredTop sz="51038"/>
  </p:normalViewPr>
  <p:slideViewPr>
    <p:cSldViewPr snapToGrid="0">
      <p:cViewPr>
        <p:scale>
          <a:sx n="70" d="100"/>
          <a:sy n="70" d="100"/>
        </p:scale>
        <p:origin x="164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0" indent="0">
              <a:buNone/>
            </a:pPr>
            <a:r>
              <a:rPr lang="zh-TW" altLang="en-US" sz="1400" dirty="0"/>
              <a:t>大家好，今天要分享的主題是「槓桿 </a:t>
            </a:r>
            <a:r>
              <a:rPr lang="en" altLang="zh-TW" sz="1400" dirty="0"/>
              <a:t>ETF </a:t>
            </a:r>
            <a:r>
              <a:rPr lang="zh-TW" altLang="en-US" sz="1400" dirty="0"/>
              <a:t>投資法」。</a:t>
            </a:r>
          </a:p>
          <a:p>
            <a:pPr marL="158750" indent="0">
              <a:buNone/>
            </a:pPr>
            <a:endParaRPr lang="en-US" altLang="zh-TW" sz="1400" dirty="0"/>
          </a:p>
          <a:p>
            <a:pPr marL="158750" indent="0">
              <a:buNone/>
            </a:pPr>
            <a:r>
              <a:rPr lang="zh-TW" altLang="en-US" sz="1400" dirty="0"/>
              <a:t>這邊以 </a:t>
            </a:r>
            <a:r>
              <a:rPr lang="en-US" altLang="zh-TW" sz="1400" dirty="0"/>
              <a:t>00631</a:t>
            </a:r>
            <a:r>
              <a:rPr lang="en" altLang="zh-TW" sz="1400" dirty="0"/>
              <a:t>L</a:t>
            </a:r>
            <a:r>
              <a:rPr lang="zh-TW" altLang="en" sz="1400" dirty="0"/>
              <a:t>，</a:t>
            </a:r>
            <a:r>
              <a:rPr lang="zh-TW" altLang="en-US" sz="1400" dirty="0"/>
              <a:t>也就是元大台灣 </a:t>
            </a:r>
            <a:r>
              <a:rPr lang="en-US" altLang="zh-TW" sz="1400" dirty="0"/>
              <a:t>50 </a:t>
            </a:r>
            <a:r>
              <a:rPr lang="zh-TW" altLang="en-US" sz="1400" dirty="0"/>
              <a:t>正 </a:t>
            </a:r>
            <a:r>
              <a:rPr lang="en-US" altLang="zh-TW" sz="1400" dirty="0"/>
              <a:t>2</a:t>
            </a:r>
            <a:r>
              <a:rPr lang="zh-TW" altLang="en-US" sz="1400" dirty="0"/>
              <a:t>，作為主要研究標的，透過回測槓桿 </a:t>
            </a:r>
            <a:r>
              <a:rPr lang="en" altLang="zh-TW" sz="1400" dirty="0"/>
              <a:t>ETF</a:t>
            </a:r>
            <a:r>
              <a:rPr lang="zh-TW" altLang="en-US" sz="1400" dirty="0"/>
              <a:t> 的長期配置策略。</a:t>
            </a:r>
          </a:p>
          <a:p>
            <a:pPr marL="158750" indent="0">
              <a:buNone/>
            </a:pPr>
            <a:endParaRPr lang="en-US" altLang="zh-TW" sz="1400" dirty="0"/>
          </a:p>
          <a:p>
            <a:pPr marL="158750" indent="0">
              <a:buNone/>
            </a:pPr>
            <a:r>
              <a:rPr lang="zh-TW" altLang="en-US" sz="1400" dirty="0"/>
              <a:t>重點不是討論槓桿 </a:t>
            </a:r>
            <a:r>
              <a:rPr lang="en" altLang="zh-TW" sz="1400" dirty="0"/>
              <a:t>ETF </a:t>
            </a:r>
            <a:r>
              <a:rPr lang="zh-TW" altLang="en-US" sz="1400" dirty="0"/>
              <a:t>的短線操作，而是想看看它是否能透過合理配置與再平衡，成為長期投資的一種工具。</a:t>
            </a: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首先先說明什麼是槓桿 </a:t>
            </a:r>
            <a:r>
              <a:rPr lang="en" altLang="zh-TW" dirty="0"/>
              <a:t>ETF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endParaRPr lang="en" altLang="zh-TW" dirty="0"/>
          </a:p>
          <a:p>
            <a:pPr marL="158750" indent="0">
              <a:buNone/>
            </a:pPr>
            <a:r>
              <a:rPr lang="en" altLang="zh-TW" dirty="0"/>
              <a:t>ETF </a:t>
            </a:r>
            <a:r>
              <a:rPr lang="zh-TW" altLang="en-US" dirty="0"/>
              <a:t>依照追蹤方式，大致可以分成三種常見型態。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第一種是原型 </a:t>
            </a:r>
            <a:r>
              <a:rPr lang="en" altLang="zh-TW" dirty="0"/>
              <a:t>ETF</a:t>
            </a:r>
            <a:r>
              <a:rPr lang="zh-TW" altLang="en" dirty="0"/>
              <a:t>，</a:t>
            </a:r>
            <a:r>
              <a:rPr lang="zh-TW" altLang="en-US" dirty="0"/>
              <a:t>例如 </a:t>
            </a:r>
            <a:r>
              <a:rPr lang="en-US" altLang="zh-TW" dirty="0"/>
              <a:t>0050</a:t>
            </a:r>
            <a:r>
              <a:rPr lang="zh-TW" altLang="en-US" dirty="0"/>
              <a:t>，主要追蹤台灣 </a:t>
            </a:r>
            <a:r>
              <a:rPr lang="en-US" altLang="zh-TW" dirty="0"/>
              <a:t>50 </a:t>
            </a:r>
            <a:r>
              <a:rPr lang="zh-TW" altLang="en-US" dirty="0"/>
              <a:t>指數。指數上漲或下跌 </a:t>
            </a:r>
            <a:r>
              <a:rPr lang="en-US" altLang="zh-TW" dirty="0"/>
              <a:t>1</a:t>
            </a:r>
            <a:r>
              <a:rPr lang="zh-TW" altLang="en-US" dirty="0"/>
              <a:t>％，</a:t>
            </a:r>
            <a:r>
              <a:rPr lang="en-US" altLang="zh-TW" dirty="0"/>
              <a:t>0050 </a:t>
            </a:r>
            <a:r>
              <a:rPr lang="zh-TW" altLang="en-US" dirty="0"/>
              <a:t>大致也會同方向變動 </a:t>
            </a:r>
            <a:r>
              <a:rPr lang="en-US" altLang="zh-TW" dirty="0"/>
              <a:t>1</a:t>
            </a:r>
            <a:r>
              <a:rPr lang="zh-TW" altLang="en-US" dirty="0"/>
              <a:t>％。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第二種是槓桿型 </a:t>
            </a:r>
            <a:r>
              <a:rPr lang="en" altLang="zh-TW" dirty="0"/>
              <a:t>ETF</a:t>
            </a:r>
            <a:r>
              <a:rPr lang="zh-TW" altLang="en" dirty="0"/>
              <a:t>，</a:t>
            </a:r>
            <a:r>
              <a:rPr lang="zh-TW" altLang="en-US" dirty="0"/>
              <a:t>例如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" dirty="0"/>
              <a:t>，</a:t>
            </a:r>
            <a:r>
              <a:rPr lang="zh-TW" altLang="en-US" dirty="0"/>
              <a:t>目標是追蹤台灣 </a:t>
            </a:r>
            <a:r>
              <a:rPr lang="en-US" altLang="zh-TW" dirty="0"/>
              <a:t>50 </a:t>
            </a:r>
            <a:r>
              <a:rPr lang="zh-TW" altLang="en-US" dirty="0"/>
              <a:t>指數單日正向 </a:t>
            </a:r>
            <a:r>
              <a:rPr lang="en-US" altLang="zh-TW" dirty="0"/>
              <a:t>2 </a:t>
            </a:r>
            <a:r>
              <a:rPr lang="zh-TW" altLang="en-US" dirty="0"/>
              <a:t>倍報酬。也就是指數單日上漲 </a:t>
            </a:r>
            <a:r>
              <a:rPr lang="en-US" altLang="zh-TW" dirty="0"/>
              <a:t>1</a:t>
            </a:r>
            <a:r>
              <a:rPr lang="zh-TW" altLang="en-US" dirty="0"/>
              <a:t>％時，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的目標約上漲 </a:t>
            </a:r>
            <a:r>
              <a:rPr lang="en-US" altLang="zh-TW" dirty="0"/>
              <a:t>2</a:t>
            </a:r>
            <a:r>
              <a:rPr lang="zh-TW" altLang="en-US" dirty="0"/>
              <a:t>％；反之亦然。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第三種是反向型 </a:t>
            </a:r>
            <a:r>
              <a:rPr lang="en" altLang="zh-TW" dirty="0"/>
              <a:t>ETF</a:t>
            </a:r>
            <a:r>
              <a:rPr lang="zh-TW" altLang="en" dirty="0"/>
              <a:t>，</a:t>
            </a:r>
            <a:r>
              <a:rPr lang="zh-TW" altLang="en-US" dirty="0"/>
              <a:t>例如 </a:t>
            </a:r>
            <a:r>
              <a:rPr lang="en-US" altLang="zh-TW" dirty="0"/>
              <a:t>00632</a:t>
            </a:r>
            <a:r>
              <a:rPr lang="en" altLang="zh-TW" dirty="0"/>
              <a:t>R</a:t>
            </a:r>
            <a:r>
              <a:rPr lang="zh-TW" altLang="en" dirty="0"/>
              <a:t>，</a:t>
            </a:r>
            <a:r>
              <a:rPr lang="zh-TW" altLang="en-US" dirty="0"/>
              <a:t>漲跌方向則與追蹤指數相反。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槓桿 </a:t>
            </a:r>
            <a:r>
              <a:rPr lang="en" altLang="zh-TW" dirty="0"/>
              <a:t>ETF </a:t>
            </a:r>
            <a:r>
              <a:rPr lang="zh-TW" altLang="en-US" dirty="0"/>
              <a:t>通常透過期貨、交換契約等工具建立倍數曝險。這裡要注意的是，它追蹤的是「單日」倍數報酬，不代表長期報酬一定會等於指數的 </a:t>
            </a:r>
            <a:r>
              <a:rPr lang="en-US" altLang="zh-TW" dirty="0"/>
              <a:t>2 </a:t>
            </a:r>
            <a:r>
              <a:rPr lang="zh-TW" altLang="en-US" dirty="0"/>
              <a:t>倍。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不過從資產配置角度來看，槓桿 </a:t>
            </a:r>
            <a:r>
              <a:rPr lang="en" altLang="zh-TW" dirty="0"/>
              <a:t>ETF </a:t>
            </a:r>
            <a:r>
              <a:rPr lang="zh-TW" altLang="en-US" dirty="0"/>
              <a:t>的重點在於：可以用較少本金建立接近相同的市場曝險。例如用一半資金買進 </a:t>
            </a:r>
            <a:r>
              <a:rPr lang="en-US" altLang="zh-TW" dirty="0"/>
              <a:t>2 </a:t>
            </a:r>
            <a:r>
              <a:rPr lang="zh-TW" altLang="en-US" dirty="0"/>
              <a:t>倍 </a:t>
            </a:r>
            <a:r>
              <a:rPr lang="en" altLang="zh-TW" dirty="0"/>
              <a:t>ETF</a:t>
            </a:r>
            <a:r>
              <a:rPr lang="zh-TW" altLang="en" dirty="0"/>
              <a:t>，</a:t>
            </a:r>
            <a:r>
              <a:rPr lang="zh-TW" altLang="en-US" dirty="0"/>
              <a:t>理論上就能建立約 </a:t>
            </a:r>
            <a:r>
              <a:rPr lang="en-US" altLang="zh-TW" dirty="0"/>
              <a:t>100</a:t>
            </a:r>
            <a:r>
              <a:rPr lang="zh-TW" altLang="en-US" dirty="0"/>
              <a:t>％ 的市場曝險。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2281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3C57-AAA4-70F9-6608-51E8C8B8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8BF51BD-8B4E-4749-4DE9-D3280C380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8C2998-64E5-A9B7-182E-C39BBF60C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接下來看曝險比例與資金配置。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曝險比例可以理解為資金承受市場風險的程度。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以 </a:t>
            </a:r>
            <a:r>
              <a:rPr lang="en-US" altLang="zh-TW" dirty="0"/>
              <a:t>100 </a:t>
            </a:r>
            <a:r>
              <a:rPr lang="zh-TW" altLang="en-US" dirty="0"/>
              <a:t>萬元為例，如果全數買進 </a:t>
            </a:r>
            <a:r>
              <a:rPr lang="en-US" altLang="zh-TW" dirty="0"/>
              <a:t>0050</a:t>
            </a:r>
            <a:r>
              <a:rPr lang="zh-TW" altLang="en-US" dirty="0"/>
              <a:t>，因為 </a:t>
            </a:r>
            <a:r>
              <a:rPr lang="en-US" altLang="zh-TW" dirty="0"/>
              <a:t>0050 </a:t>
            </a:r>
            <a:r>
              <a:rPr lang="zh-TW" altLang="en-US" dirty="0"/>
              <a:t>是原形 </a:t>
            </a:r>
            <a:r>
              <a:rPr lang="en" altLang="zh-TW" dirty="0"/>
              <a:t>ETF</a:t>
            </a:r>
            <a:r>
              <a:rPr lang="zh-TW" altLang="en" dirty="0"/>
              <a:t>，</a:t>
            </a:r>
            <a:r>
              <a:rPr lang="zh-TW" altLang="en-US" dirty="0"/>
              <a:t>所以市場曝險約為 </a:t>
            </a:r>
            <a:r>
              <a:rPr lang="en-US" altLang="zh-TW" dirty="0"/>
              <a:t>100 </a:t>
            </a:r>
            <a:r>
              <a:rPr lang="zh-TW" altLang="en-US" dirty="0"/>
              <a:t>萬元，也就是 </a:t>
            </a:r>
            <a:r>
              <a:rPr lang="en-US" altLang="zh-TW" dirty="0"/>
              <a:t>100</a:t>
            </a:r>
            <a:r>
              <a:rPr lang="zh-TW" altLang="en-US" dirty="0"/>
              <a:t>％。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如果只拿 </a:t>
            </a:r>
            <a:r>
              <a:rPr lang="en-US" altLang="zh-TW" dirty="0"/>
              <a:t>50 </a:t>
            </a:r>
            <a:r>
              <a:rPr lang="zh-TW" altLang="en-US" dirty="0"/>
              <a:t>萬元買進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" dirty="0"/>
              <a:t>，</a:t>
            </a:r>
            <a:r>
              <a:rPr lang="zh-TW" altLang="en-US" dirty="0"/>
              <a:t>因為它是 </a:t>
            </a:r>
            <a:r>
              <a:rPr lang="en-US" altLang="zh-TW" dirty="0"/>
              <a:t>2 </a:t>
            </a:r>
            <a:r>
              <a:rPr lang="zh-TW" altLang="en-US" dirty="0"/>
              <a:t>倍槓桿 </a:t>
            </a:r>
            <a:r>
              <a:rPr lang="en" altLang="zh-TW" dirty="0"/>
              <a:t>ETF</a:t>
            </a:r>
            <a:r>
              <a:rPr lang="zh-TW" altLang="en" dirty="0"/>
              <a:t>，</a:t>
            </a:r>
            <a:r>
              <a:rPr lang="zh-TW" altLang="en-US" dirty="0"/>
              <a:t>所以同樣可以建立約 </a:t>
            </a:r>
            <a:r>
              <a:rPr lang="en-US" altLang="zh-TW" dirty="0"/>
              <a:t>100 </a:t>
            </a:r>
            <a:r>
              <a:rPr lang="zh-TW" altLang="en-US" dirty="0"/>
              <a:t>萬元的市場曝險，剩下 </a:t>
            </a:r>
            <a:r>
              <a:rPr lang="en-US" altLang="zh-TW" dirty="0"/>
              <a:t>50 </a:t>
            </a:r>
            <a:r>
              <a:rPr lang="zh-TW" altLang="en-US" dirty="0"/>
              <a:t>萬元則保留為現金。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因此，</a:t>
            </a:r>
            <a:r>
              <a:rPr lang="en-US" altLang="zh-TW" dirty="0"/>
              <a:t>0050 </a:t>
            </a:r>
            <a:r>
              <a:rPr lang="zh-TW" altLang="en-US" dirty="0"/>
              <a:t>全額投入與 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的 </a:t>
            </a:r>
            <a:r>
              <a:rPr lang="en-US" altLang="zh-TW" dirty="0"/>
              <a:t>50:50 </a:t>
            </a:r>
            <a:r>
              <a:rPr lang="zh-TW" altLang="en-US" dirty="0"/>
              <a:t>配置，雖然投入市場的本金不同，但初始市場曝險都接近 </a:t>
            </a:r>
            <a:r>
              <a:rPr lang="en-US" altLang="zh-TW" dirty="0"/>
              <a:t>100</a:t>
            </a:r>
            <a:r>
              <a:rPr lang="zh-TW" altLang="en-US" dirty="0"/>
              <a:t>％。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如果投入 </a:t>
            </a:r>
            <a:r>
              <a:rPr lang="en-US" altLang="zh-TW" dirty="0"/>
              <a:t>00631L</a:t>
            </a:r>
            <a:r>
              <a:rPr lang="zh-TW" altLang="en-US" dirty="0"/>
              <a:t> 的資金愈多，就可以建立愈大的市場曝險部位，例如將全數資金買入 </a:t>
            </a:r>
            <a:r>
              <a:rPr lang="en-US" altLang="zh-TW" dirty="0"/>
              <a:t>00631L</a:t>
            </a:r>
            <a:r>
              <a:rPr lang="zh-TW" altLang="en-US" dirty="0"/>
              <a:t>，就可以建立 </a:t>
            </a:r>
            <a:r>
              <a:rPr lang="en-US" altLang="zh-TW" dirty="0"/>
              <a:t>200</a:t>
            </a:r>
            <a:r>
              <a:rPr lang="zh-TW" altLang="en-US" dirty="0"/>
              <a:t>％ 的市場曝險。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5465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CE7F-50E6-A0F9-4929-E7D19618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3486306-F149-70C5-2716-B7B0DD8DF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4C13F6-3CCB-7A2B-2F11-D4CD9DDF5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年度再平衡是指每年固定一次，把投資組合調回原本設定的比例。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以 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的 </a:t>
            </a:r>
            <a:r>
              <a:rPr lang="en" altLang="zh-TW" dirty="0"/>
              <a:t>50</a:t>
            </a:r>
            <a:r>
              <a:rPr lang="en-US" altLang="zh-TW" dirty="0"/>
              <a:t>:</a:t>
            </a:r>
            <a:r>
              <a:rPr lang="en" altLang="zh-TW" dirty="0"/>
              <a:t>50 </a:t>
            </a:r>
            <a:r>
              <a:rPr lang="zh-TW" altLang="en-US" dirty="0"/>
              <a:t>配置為例，一開始是 </a:t>
            </a:r>
            <a:r>
              <a:rPr lang="en-US" altLang="zh-TW" dirty="0"/>
              <a:t>50</a:t>
            </a:r>
            <a:r>
              <a:rPr lang="zh-TW" altLang="en-US" dirty="0"/>
              <a:t>％ 投入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" dirty="0"/>
              <a:t>，</a:t>
            </a:r>
            <a:r>
              <a:rPr lang="en" altLang="zh-TW" dirty="0"/>
              <a:t>50</a:t>
            </a:r>
            <a:r>
              <a:rPr lang="zh-TW" altLang="en" dirty="0"/>
              <a:t>％ </a:t>
            </a:r>
            <a:r>
              <a:rPr lang="zh-TW" altLang="en-US" dirty="0"/>
              <a:t>保留現金。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如果市場上漲，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部位會變大，投資組合的曝險也會提高；如果市場下跌，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部位會變小，曝險則會下降。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年度再平衡的目的，就是每年把配置調回 </a:t>
            </a:r>
            <a:r>
              <a:rPr lang="en-US" altLang="zh-TW" dirty="0"/>
              <a:t>50:50</a:t>
            </a:r>
            <a:r>
              <a:rPr lang="zh-TW" altLang="en-US" dirty="0"/>
              <a:t>，讓投資組合維持接近 </a:t>
            </a:r>
            <a:r>
              <a:rPr lang="en-US" altLang="zh-TW" dirty="0"/>
              <a:t>100</a:t>
            </a:r>
            <a:r>
              <a:rPr lang="zh-TW" altLang="en-US" dirty="0"/>
              <a:t>％ 的市場曝險。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換句話說，再平衡不是預測市場，而是用固定紀律控制風險。</a:t>
            </a:r>
          </a:p>
        </p:txBody>
      </p:sp>
    </p:spTree>
    <p:extLst>
      <p:ext uri="{BB962C8B-B14F-4D97-AF65-F5344CB8AC3E}">
        <p14:creationId xmlns:p14="http://schemas.microsoft.com/office/powerpoint/2010/main" val="1123572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接下來進入回測設定。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這次比較三種約 </a:t>
            </a:r>
            <a:r>
              <a:rPr lang="en-US" altLang="zh-TW" dirty="0"/>
              <a:t>100</a:t>
            </a:r>
            <a:r>
              <a:rPr lang="zh-TW" altLang="en-US" dirty="0"/>
              <a:t>％ 初始市場曝險的長期配置策略。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第一種是 </a:t>
            </a:r>
            <a:r>
              <a:rPr lang="en-US" altLang="zh-TW" dirty="0"/>
              <a:t>0050</a:t>
            </a:r>
            <a:r>
              <a:rPr lang="zh-TW" altLang="en-US" dirty="0"/>
              <a:t>，</a:t>
            </a:r>
            <a:r>
              <a:rPr lang="en-US" altLang="zh-TW" dirty="0"/>
              <a:t>100 </a:t>
            </a:r>
            <a:r>
              <a:rPr lang="zh-TW" altLang="en-US" dirty="0"/>
              <a:t>萬元全數買進，作為長期持有基準。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第二種是 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的 </a:t>
            </a:r>
            <a:r>
              <a:rPr lang="en-US" altLang="zh-TW" dirty="0"/>
              <a:t>50:50 </a:t>
            </a:r>
            <a:r>
              <a:rPr lang="zh-TW" altLang="en-US" dirty="0"/>
              <a:t>配置法，</a:t>
            </a:r>
            <a:r>
              <a:rPr lang="en-US" altLang="zh-TW" dirty="0"/>
              <a:t>50 </a:t>
            </a:r>
            <a:r>
              <a:rPr lang="zh-TW" altLang="en-US" dirty="0"/>
              <a:t>萬元買進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" dirty="0"/>
              <a:t>，</a:t>
            </a:r>
            <a:r>
              <a:rPr lang="en" altLang="zh-TW" dirty="0"/>
              <a:t>50 </a:t>
            </a:r>
            <a:r>
              <a:rPr lang="zh-TW" altLang="en-US" dirty="0"/>
              <a:t>萬元保留現金，買進後不再平衡。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第三種是 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的 </a:t>
            </a:r>
            <a:r>
              <a:rPr lang="en-US" altLang="zh-TW" dirty="0"/>
              <a:t>50:50 </a:t>
            </a:r>
            <a:r>
              <a:rPr lang="zh-TW" altLang="en-US" dirty="0"/>
              <a:t>年度再平衡。同樣從 </a:t>
            </a:r>
            <a:r>
              <a:rPr lang="en-US" altLang="zh-TW" dirty="0"/>
              <a:t>50:50 </a:t>
            </a:r>
            <a:r>
              <a:rPr lang="zh-TW" altLang="en-US" dirty="0"/>
              <a:t>開始，但每年第一個交易日調回目標比例。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回測期間是 </a:t>
            </a:r>
            <a:r>
              <a:rPr lang="en-US" altLang="zh-TW" dirty="0"/>
              <a:t>2014 </a:t>
            </a:r>
            <a:r>
              <a:rPr lang="zh-TW" altLang="en-US" dirty="0"/>
              <a:t>年 </a:t>
            </a:r>
            <a:r>
              <a:rPr lang="en-US" altLang="zh-TW" dirty="0"/>
              <a:t>10 </a:t>
            </a:r>
            <a:r>
              <a:rPr lang="zh-TW" altLang="en-US" dirty="0"/>
              <a:t>月 </a:t>
            </a:r>
            <a:r>
              <a:rPr lang="en-US" altLang="zh-TW" dirty="0"/>
              <a:t>31 </a:t>
            </a:r>
            <a:r>
              <a:rPr lang="zh-TW" altLang="en-US" dirty="0"/>
              <a:t>日到 </a:t>
            </a:r>
            <a:r>
              <a:rPr lang="en-US" altLang="zh-TW" dirty="0"/>
              <a:t>2026 </a:t>
            </a:r>
            <a:r>
              <a:rPr lang="zh-TW" altLang="en-US" dirty="0"/>
              <a:t>年 </a:t>
            </a:r>
            <a:r>
              <a:rPr lang="en-US" altLang="zh-TW" dirty="0"/>
              <a:t>6 </a:t>
            </a:r>
            <a:r>
              <a:rPr lang="zh-TW" altLang="en-US" dirty="0"/>
              <a:t>月 </a:t>
            </a:r>
            <a:r>
              <a:rPr lang="en-US" altLang="zh-TW" dirty="0"/>
              <a:t>18 </a:t>
            </a:r>
            <a:r>
              <a:rPr lang="zh-TW" altLang="en-US" dirty="0"/>
              <a:t>日。資料使用還原股價，已納入配息與分割調整。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不過，這次回測沒有納入手續費和交易稅，因此結果主要用來觀察策略特性，而不是精準預估實際投資績效。</a:t>
            </a:r>
            <a:endParaRPr lang="en-US" altLang="zh-TW" dirty="0"/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4982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先看第一個策略，</a:t>
            </a:r>
            <a:r>
              <a:rPr lang="en-US" altLang="zh-TW" dirty="0"/>
              <a:t>0050 100</a:t>
            </a:r>
            <a:r>
              <a:rPr lang="zh-TW" altLang="en-US" dirty="0"/>
              <a:t>％ 曝險。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這個策略是把 </a:t>
            </a:r>
            <a:r>
              <a:rPr lang="en-US" altLang="zh-TW" dirty="0"/>
              <a:t>100 </a:t>
            </a:r>
            <a:r>
              <a:rPr lang="zh-TW" altLang="en-US" dirty="0"/>
              <a:t>萬元全數投入 </a:t>
            </a:r>
            <a:r>
              <a:rPr lang="en-US" altLang="zh-TW" dirty="0"/>
              <a:t>0050</a:t>
            </a:r>
            <a:r>
              <a:rPr lang="zh-TW" altLang="en-US" dirty="0"/>
              <a:t>，作為長期持有基準。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回測結果顯示，最終資產約 </a:t>
            </a:r>
            <a:r>
              <a:rPr lang="en-US" altLang="zh-TW" dirty="0"/>
              <a:t>930 </a:t>
            </a:r>
            <a:r>
              <a:rPr lang="zh-TW" altLang="en-US" dirty="0"/>
              <a:t>萬元，報酬率約 </a:t>
            </a:r>
            <a:r>
              <a:rPr lang="en-US" altLang="zh-TW" dirty="0"/>
              <a:t>830</a:t>
            </a:r>
            <a:r>
              <a:rPr lang="zh-TW" altLang="en-US" dirty="0"/>
              <a:t>％，年化回報率約 </a:t>
            </a:r>
            <a:r>
              <a:rPr lang="en-US" altLang="zh-TW" dirty="0"/>
              <a:t>21.9</a:t>
            </a:r>
            <a:r>
              <a:rPr lang="zh-TW" altLang="en-US" dirty="0"/>
              <a:t>％。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年化波動率約 </a:t>
            </a:r>
            <a:r>
              <a:rPr lang="en-US" altLang="zh-TW" dirty="0"/>
              <a:t>23.7</a:t>
            </a:r>
            <a:r>
              <a:rPr lang="zh-TW" altLang="en-US" dirty="0"/>
              <a:t>％，最大回撤約負 </a:t>
            </a:r>
            <a:r>
              <a:rPr lang="en-US" altLang="zh-TW" dirty="0"/>
              <a:t>34</a:t>
            </a:r>
            <a:r>
              <a:rPr lang="zh-TW" altLang="en-US" dirty="0"/>
              <a:t>％。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這個策略相對簡單、也能完整參與大盤長期報酬。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不過，因為資金全數投入市場，所以缺少現金部位，在資金調度與配置調整上彈性較低。</a:t>
            </a:r>
          </a:p>
        </p:txBody>
      </p:sp>
    </p:spTree>
    <p:extLst>
      <p:ext uri="{BB962C8B-B14F-4D97-AF65-F5344CB8AC3E}">
        <p14:creationId xmlns:p14="http://schemas.microsoft.com/office/powerpoint/2010/main" val="650077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第二個策略是 </a:t>
            </a:r>
            <a:r>
              <a:rPr lang="en-US" altLang="zh-TW" dirty="0"/>
              <a:t>00631</a:t>
            </a:r>
            <a:r>
              <a:rPr lang="en" altLang="zh-TW" dirty="0"/>
              <a:t>L 50</a:t>
            </a:r>
            <a:r>
              <a:rPr lang="zh-TW" altLang="en" dirty="0"/>
              <a:t>：</a:t>
            </a:r>
            <a:r>
              <a:rPr lang="en" altLang="zh-TW" dirty="0"/>
              <a:t>50 </a:t>
            </a:r>
            <a:r>
              <a:rPr lang="zh-TW" altLang="en-US" dirty="0"/>
              <a:t>配置法。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這個策略一開始只拿 </a:t>
            </a:r>
            <a:r>
              <a:rPr lang="en-US" altLang="zh-TW" dirty="0"/>
              <a:t>50 </a:t>
            </a:r>
            <a:r>
              <a:rPr lang="zh-TW" altLang="en-US" dirty="0"/>
              <a:t>萬元投入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" dirty="0"/>
              <a:t>，</a:t>
            </a:r>
            <a:r>
              <a:rPr lang="zh-TW" altLang="en-US" dirty="0"/>
              <a:t>另外 </a:t>
            </a:r>
            <a:r>
              <a:rPr lang="en-US" altLang="zh-TW" dirty="0"/>
              <a:t>50 </a:t>
            </a:r>
            <a:r>
              <a:rPr lang="zh-TW" altLang="en-US" dirty="0"/>
              <a:t>萬元保留現金，之後不再平衡。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回測結果顯示，最終資產約 </a:t>
            </a:r>
            <a:r>
              <a:rPr lang="en-US" altLang="zh-TW" dirty="0"/>
              <a:t>2,124 </a:t>
            </a:r>
            <a:r>
              <a:rPr lang="zh-TW" altLang="en-US" dirty="0"/>
              <a:t>萬元，報酬率超過 </a:t>
            </a:r>
            <a:r>
              <a:rPr lang="en-US" altLang="zh-TW" dirty="0"/>
              <a:t>2,000</a:t>
            </a:r>
            <a:r>
              <a:rPr lang="zh-TW" altLang="en-US" dirty="0"/>
              <a:t>％，年化回報率約 </a:t>
            </a:r>
            <a:r>
              <a:rPr lang="en-US" altLang="zh-TW" dirty="0"/>
              <a:t>31.2</a:t>
            </a:r>
            <a:r>
              <a:rPr lang="zh-TW" altLang="en-US" dirty="0"/>
              <a:t>％，明顯高於 </a:t>
            </a:r>
            <a:r>
              <a:rPr lang="en-US" altLang="zh-TW" dirty="0"/>
              <a:t>0050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主要原因是市場長期上漲時，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部位會持續變大，投資組合的實際曝險也會被動提高。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但風險也同步放大。這個策略的年化波動率接近 </a:t>
            </a:r>
            <a:r>
              <a:rPr lang="en-US" altLang="zh-TW" dirty="0"/>
              <a:t>40</a:t>
            </a:r>
            <a:r>
              <a:rPr lang="zh-TW" altLang="en-US" dirty="0"/>
              <a:t>％，最大回撤達到負 </a:t>
            </a:r>
            <a:r>
              <a:rPr lang="en-US" altLang="zh-TW" dirty="0"/>
              <a:t>51</a:t>
            </a:r>
            <a:r>
              <a:rPr lang="zh-TW" altLang="en-US" dirty="0"/>
              <a:t>％，所以投資人也必須承受更大的資產波動與回撤。</a:t>
            </a:r>
          </a:p>
        </p:txBody>
      </p:sp>
    </p:spTree>
    <p:extLst>
      <p:ext uri="{BB962C8B-B14F-4D97-AF65-F5344CB8AC3E}">
        <p14:creationId xmlns:p14="http://schemas.microsoft.com/office/powerpoint/2010/main" val="3328853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第三個策略是 </a:t>
            </a: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的 </a:t>
            </a:r>
            <a:r>
              <a:rPr lang="en" altLang="zh-TW" dirty="0"/>
              <a:t>50</a:t>
            </a:r>
            <a:r>
              <a:rPr lang="en-US" altLang="zh-TW" dirty="0"/>
              <a:t>:</a:t>
            </a:r>
            <a:r>
              <a:rPr lang="en" altLang="zh-TW" dirty="0"/>
              <a:t>50 </a:t>
            </a:r>
            <a:r>
              <a:rPr lang="zh-TW" altLang="en-US" dirty="0"/>
              <a:t>年度再平衡。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這個策略同樣以 </a:t>
            </a:r>
            <a:r>
              <a:rPr lang="en-US" altLang="zh-TW" dirty="0"/>
              <a:t>50</a:t>
            </a:r>
            <a:r>
              <a:rPr lang="zh-TW" altLang="en-US" dirty="0"/>
              <a:t>％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" dirty="0"/>
              <a:t>、</a:t>
            </a:r>
            <a:r>
              <a:rPr lang="en" altLang="zh-TW" dirty="0"/>
              <a:t>50</a:t>
            </a:r>
            <a:r>
              <a:rPr lang="zh-TW" altLang="en" dirty="0"/>
              <a:t>％ </a:t>
            </a:r>
            <a:r>
              <a:rPr lang="zh-TW" altLang="en-US" dirty="0"/>
              <a:t>現金開始，但每年會調回目標比例。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回測結果顯示，最終資產約 </a:t>
            </a:r>
            <a:r>
              <a:rPr lang="en-US" altLang="zh-TW" dirty="0"/>
              <a:t>900 </a:t>
            </a:r>
            <a:r>
              <a:rPr lang="zh-TW" altLang="en-US" dirty="0"/>
              <a:t>萬元，報酬率約 </a:t>
            </a:r>
            <a:r>
              <a:rPr lang="en-US" altLang="zh-TW" dirty="0"/>
              <a:t>801</a:t>
            </a:r>
            <a:r>
              <a:rPr lang="zh-TW" altLang="en-US" dirty="0"/>
              <a:t>％，年化回報率約 </a:t>
            </a:r>
            <a:r>
              <a:rPr lang="en-US" altLang="zh-TW" dirty="0"/>
              <a:t>21.6</a:t>
            </a:r>
            <a:r>
              <a:rPr lang="zh-TW" altLang="en-US" dirty="0"/>
              <a:t>％，和 </a:t>
            </a:r>
            <a:r>
              <a:rPr lang="en-US" altLang="zh-TW" dirty="0"/>
              <a:t>0050 </a:t>
            </a:r>
            <a:r>
              <a:rPr lang="zh-TW" altLang="en-US" dirty="0"/>
              <a:t>相當接近。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風險方面，年化波動率約 </a:t>
            </a:r>
            <a:r>
              <a:rPr lang="en-US" altLang="zh-TW" dirty="0"/>
              <a:t>23.8</a:t>
            </a:r>
            <a:r>
              <a:rPr lang="zh-TW" altLang="en-US" dirty="0"/>
              <a:t>％，最大回撤約負 </a:t>
            </a:r>
            <a:r>
              <a:rPr lang="en-US" altLang="zh-TW" dirty="0"/>
              <a:t>31.6</a:t>
            </a:r>
            <a:r>
              <a:rPr lang="zh-TW" altLang="en-US" dirty="0"/>
              <a:t>％，也接近 </a:t>
            </a:r>
            <a:r>
              <a:rPr lang="en-US" altLang="zh-TW" dirty="0"/>
              <a:t>0050</a:t>
            </a:r>
            <a:r>
              <a:rPr lang="zh-TW" altLang="en-US" dirty="0"/>
              <a:t>，甚至最大回撤略低。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這代表年度再平衡有效控制了槓桿部位，避免曝險在市場上漲後持續膨脹，把曝險維持在目標範圍內。</a:t>
            </a:r>
          </a:p>
        </p:txBody>
      </p:sp>
    </p:spTree>
    <p:extLst>
      <p:ext uri="{BB962C8B-B14F-4D97-AF65-F5344CB8AC3E}">
        <p14:creationId xmlns:p14="http://schemas.microsoft.com/office/powerpoint/2010/main" val="1548627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接下來把三種策略放在一起比較。</a:t>
            </a:r>
            <a:endParaRPr lang="en-US" altLang="zh-TW" dirty="0"/>
          </a:p>
          <a:p>
            <a:pPr marL="158750" indent="0">
              <a:buNone/>
            </a:pPr>
            <a:endParaRPr kumimoji="1" lang="en-US" altLang="zh-TW" dirty="0"/>
          </a:p>
          <a:p>
            <a:pPr marL="158750" indent="0">
              <a:buNone/>
            </a:pPr>
            <a:r>
              <a:rPr lang="en-US" altLang="zh-TW" dirty="0"/>
              <a:t>0050 </a:t>
            </a:r>
            <a:r>
              <a:rPr lang="zh-TW" altLang="en-US" dirty="0"/>
              <a:t>是市場主流推薦穩健且具代表性的投資策略；</a:t>
            </a:r>
            <a:r>
              <a:rPr lang="en" altLang="zh-TW" dirty="0"/>
              <a:t>00631L </a:t>
            </a:r>
            <a:r>
              <a:rPr lang="zh-TW" altLang="en-US" dirty="0"/>
              <a:t>的 </a:t>
            </a:r>
            <a:r>
              <a:rPr lang="en" altLang="zh-TW" dirty="0"/>
              <a:t>50:50 </a:t>
            </a:r>
            <a:r>
              <a:rPr lang="zh-TW" altLang="en-US" dirty="0"/>
              <a:t>不再平衡報酬最高，但風險也明顯放大；年度再平衡則能把風險拉回接近 </a:t>
            </a:r>
            <a:r>
              <a:rPr lang="en-US" altLang="zh-TW" dirty="0"/>
              <a:t>0050</a:t>
            </a:r>
            <a:r>
              <a:rPr lang="zh-TW" altLang="en-US" dirty="0"/>
              <a:t>，同時保留現金配置彈性。</a:t>
            </a:r>
            <a:endParaRPr lang="en-US" altLang="zh-TW" dirty="0"/>
          </a:p>
          <a:p>
            <a:pPr marL="158750" indent="0">
              <a:buNone/>
            </a:pPr>
            <a:endParaRPr kumimoji="1" lang="en-US" altLang="zh-TW" dirty="0"/>
          </a:p>
          <a:p>
            <a:pPr marL="158750" indent="0">
              <a:buNone/>
            </a:pPr>
            <a:r>
              <a:rPr lang="zh-TW" altLang="en-US" dirty="0"/>
              <a:t>這也說明，槓桿 </a:t>
            </a:r>
            <a:r>
              <a:rPr lang="en" altLang="zh-TW" dirty="0"/>
              <a:t>ETF </a:t>
            </a:r>
            <a:r>
              <a:rPr lang="zh-TW" altLang="en-US" dirty="0"/>
              <a:t>不一定只能用來追求高報酬，也可以透過配置與再平衡，成為一種可控風險的長期投資工具。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1938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接下來談保留現金的策略價值。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剛才的回測中，現金部位基本上沒有特別計算收益。這一頁進一步假設，現金部位以年化 </a:t>
            </a:r>
            <a:r>
              <a:rPr lang="en-US" altLang="zh-TW" dirty="0"/>
              <a:t>1</a:t>
            </a:r>
            <a:r>
              <a:rPr lang="zh-TW" altLang="en-US" dirty="0"/>
              <a:t>％，依照實際日數複利計算。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可以看到，</a:t>
            </a:r>
            <a:r>
              <a:rPr lang="en-US" altLang="zh-TW" dirty="0"/>
              <a:t>0050 </a:t>
            </a:r>
            <a:r>
              <a:rPr lang="zh-TW" altLang="en-US" dirty="0"/>
              <a:t>因為幾乎沒有現金部位，所以計入利息後影響很小。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en-US" altLang="zh-TW" dirty="0"/>
              <a:t>00631</a:t>
            </a:r>
            <a:r>
              <a:rPr lang="en" altLang="zh-TW" dirty="0"/>
              <a:t>L </a:t>
            </a:r>
            <a:r>
              <a:rPr lang="zh-TW" altLang="en-US" dirty="0"/>
              <a:t>的 </a:t>
            </a:r>
            <a:r>
              <a:rPr lang="en" altLang="zh-TW" dirty="0"/>
              <a:t>50</a:t>
            </a:r>
            <a:r>
              <a:rPr lang="en-US" altLang="zh-TW" dirty="0"/>
              <a:t>:</a:t>
            </a:r>
            <a:r>
              <a:rPr lang="en" altLang="zh-TW" dirty="0"/>
              <a:t>50 </a:t>
            </a:r>
            <a:r>
              <a:rPr lang="zh-TW" altLang="en-US" dirty="0"/>
              <a:t>不再平衡，因為一開始保留現金，最終資產增加約 </a:t>
            </a:r>
            <a:r>
              <a:rPr lang="en-US" altLang="zh-TW" dirty="0"/>
              <a:t>6.1 </a:t>
            </a:r>
            <a:r>
              <a:rPr lang="zh-TW" altLang="en-US" dirty="0"/>
              <a:t>萬元。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而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-US" dirty="0"/>
              <a:t> 的 </a:t>
            </a:r>
            <a:r>
              <a:rPr lang="en" altLang="zh-TW" dirty="0"/>
              <a:t>50</a:t>
            </a:r>
            <a:r>
              <a:rPr lang="en-US" altLang="zh-TW" dirty="0"/>
              <a:t>:</a:t>
            </a:r>
            <a:r>
              <a:rPr lang="en" altLang="zh-TW" dirty="0"/>
              <a:t>50 </a:t>
            </a:r>
            <a:r>
              <a:rPr lang="zh-TW" altLang="en-US" dirty="0"/>
              <a:t>年度再平衡，因為策略中持續保留現金部位，所以受益最大，最終資產增加約 </a:t>
            </a:r>
            <a:r>
              <a:rPr lang="en-US" altLang="zh-TW" dirty="0"/>
              <a:t>46.3 </a:t>
            </a:r>
            <a:r>
              <a:rPr lang="zh-TW" altLang="en-US" dirty="0"/>
              <a:t>萬元。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這樣計算後，實際上 </a:t>
            </a:r>
            <a:r>
              <a:rPr lang="en-US" altLang="zh-TW" dirty="0"/>
              <a:t>00631</a:t>
            </a:r>
            <a:r>
              <a:rPr lang="en" altLang="zh-TW" dirty="0"/>
              <a:t>L</a:t>
            </a:r>
            <a:r>
              <a:rPr lang="zh-TW" altLang="en-US" dirty="0"/>
              <a:t> 的 </a:t>
            </a:r>
            <a:r>
              <a:rPr lang="en" altLang="zh-TW" dirty="0"/>
              <a:t>50</a:t>
            </a:r>
            <a:r>
              <a:rPr lang="en-US" altLang="zh-TW" dirty="0"/>
              <a:t>:</a:t>
            </a:r>
            <a:r>
              <a:rPr lang="en" altLang="zh-TW" dirty="0"/>
              <a:t>50 </a:t>
            </a:r>
            <a:r>
              <a:rPr lang="zh-TW" altLang="en-US" dirty="0"/>
              <a:t>年度再平衡報酬就會超越單純買進 </a:t>
            </a:r>
            <a:r>
              <a:rPr lang="en-US" altLang="zh-TW" dirty="0"/>
              <a:t>0050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不過，現金的價值不只是利息，更重要的是保留策略彈性。當市場下跌時，投資人仍有資金可以逢低加碼或買回目標配置；同時，現金部位也能降低滿倉投資帶來的波動壓力，讓投資組合保有生活支出與策略調整的空間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所以在槓桿 </a:t>
            </a:r>
            <a:r>
              <a:rPr lang="en" altLang="zh-TW" dirty="0"/>
              <a:t>ETF </a:t>
            </a:r>
            <a:r>
              <a:rPr lang="zh-TW" altLang="en-US" dirty="0"/>
              <a:t>配置中，現金不是低效率資產，而是風險控制與策略執行的一部分。</a:t>
            </a:r>
          </a:p>
          <a:p>
            <a:pPr marL="15875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35841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最後做一個總結。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這次回測想說明的是，槓桿 </a:t>
            </a:r>
            <a:r>
              <a:rPr lang="en" altLang="zh-TW" dirty="0"/>
              <a:t>ETF </a:t>
            </a:r>
            <a:r>
              <a:rPr lang="zh-TW" altLang="en-US" dirty="0"/>
              <a:t>不是只能用在短線交易。從資產配置角度來看，它也可以用較少本金建立目標市場曝險，並透過再平衡來控制風險。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我們同時比較了三種策略，以 </a:t>
            </a:r>
            <a:r>
              <a:rPr lang="en-US" altLang="zh-TW" dirty="0"/>
              <a:t>0050 </a:t>
            </a:r>
            <a:r>
              <a:rPr lang="zh-TW" altLang="en-US" dirty="0"/>
              <a:t>作為穩健的長期持有基準；</a:t>
            </a:r>
            <a:r>
              <a:rPr lang="en-US" altLang="zh-TW" dirty="0"/>
              <a:t>00631</a:t>
            </a:r>
            <a:r>
              <a:rPr lang="en" altLang="zh-TW" dirty="0"/>
              <a:t>L 50</a:t>
            </a:r>
            <a:r>
              <a:rPr lang="zh-TW" altLang="en" dirty="0"/>
              <a:t>：</a:t>
            </a:r>
            <a:r>
              <a:rPr lang="en" altLang="zh-TW" dirty="0"/>
              <a:t>50 </a:t>
            </a:r>
            <a:r>
              <a:rPr lang="zh-TW" altLang="en-US" dirty="0"/>
              <a:t>不再平衡具備最高報酬，但波動與回撤也明顯放大；</a:t>
            </a:r>
            <a:r>
              <a:rPr lang="en-US" altLang="zh-TW" dirty="0"/>
              <a:t>00631</a:t>
            </a:r>
            <a:r>
              <a:rPr lang="en" altLang="zh-TW" dirty="0"/>
              <a:t>L 50</a:t>
            </a:r>
            <a:r>
              <a:rPr lang="zh-TW" altLang="en" dirty="0"/>
              <a:t>：</a:t>
            </a:r>
            <a:r>
              <a:rPr lang="en" altLang="zh-TW" dirty="0"/>
              <a:t>50 </a:t>
            </a:r>
            <a:r>
              <a:rPr lang="zh-TW" altLang="en-US" dirty="0"/>
              <a:t>年度再平衡則在風險接近 </a:t>
            </a:r>
            <a:r>
              <a:rPr lang="en-US" altLang="zh-TW" dirty="0"/>
              <a:t>0050 </a:t>
            </a:r>
            <a:r>
              <a:rPr lang="zh-TW" altLang="en-US" dirty="0"/>
              <a:t>的情況下，保留現金部位與配置彈性。</a:t>
            </a:r>
            <a:endParaRPr lang="en-US" altLang="zh-TW" dirty="0"/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進一步來看，槓桿 </a:t>
            </a:r>
            <a:r>
              <a:rPr lang="en" altLang="zh-TW" dirty="0"/>
              <a:t>ETF </a:t>
            </a:r>
            <a:r>
              <a:rPr lang="zh-TW" altLang="en-US" dirty="0"/>
              <a:t>也可以應用在生命週期投資法。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在投資初期，資產規模相對較小，時間較長，可以考慮用槓桿 </a:t>
            </a:r>
            <a:r>
              <a:rPr lang="en" altLang="zh-TW" dirty="0"/>
              <a:t>ETF </a:t>
            </a:r>
            <a:r>
              <a:rPr lang="zh-TW" altLang="en-US" dirty="0"/>
              <a:t>提高股票曝險，提升資產累積效率。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在資產累積期，可以透過再平衡維持目標曝險，避免槓桿部位隨市場上漲而過度膨脹。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到了資產成熟期，則可以逐步降低槓桿與股票曝險，讓投資組合回到自己可以承受的風險水準。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以上是今天的分享，謝謝大家。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5697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;p49">
            <a:extLst>
              <a:ext uri="{FF2B5EF4-FFF2-40B4-BE49-F238E27FC236}">
                <a16:creationId xmlns:a16="http://schemas.microsoft.com/office/drawing/2014/main" id="{4B1AA4F1-C32F-CE82-074E-09C516818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" name="Google Shape;30;p49">
            <a:extLst>
              <a:ext uri="{FF2B5EF4-FFF2-40B4-BE49-F238E27FC236}">
                <a16:creationId xmlns:a16="http://schemas.microsoft.com/office/drawing/2014/main" id="{29CA88E3-41D3-FF37-BF7E-B456D3066D29}"/>
              </a:ext>
            </a:extLst>
          </p:cNvPr>
          <p:cNvCxnSpPr>
            <a:cxnSpLocks/>
          </p:cNvCxnSpPr>
          <p:nvPr userDrawn="1"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9;p34">
            <a:extLst>
              <a:ext uri="{FF2B5EF4-FFF2-40B4-BE49-F238E27FC236}">
                <a16:creationId xmlns:a16="http://schemas.microsoft.com/office/drawing/2014/main" id="{E8E59DF3-723D-F8D2-F968-6FCDA67BCDDC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7" name="Google Shape;19;p34">
            <a:extLst>
              <a:ext uri="{FF2B5EF4-FFF2-40B4-BE49-F238E27FC236}">
                <a16:creationId xmlns:a16="http://schemas.microsoft.com/office/drawing/2014/main" id="{AB88F2E6-F0E1-9028-69C7-33CBCB9759A2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5868990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6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4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2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0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en-US" altLang="zh-TW" sz="8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50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9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ks.com.tw/products/001095337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0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altLang="en-US" sz="4400" b="1" dirty="0"/>
              <a:t>槓桿</a:t>
            </a:r>
            <a:r>
              <a:rPr lang="en-US" altLang="zh-TW" sz="4400" b="1" dirty="0"/>
              <a:t> ETF </a:t>
            </a:r>
            <a:r>
              <a:rPr lang="zh-TW" altLang="en-US" sz="4400" b="1" dirty="0"/>
              <a:t>投資法</a:t>
            </a:r>
            <a:endParaRPr lang="en-US" sz="4400" b="1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 </a:t>
            </a:r>
            <a:r>
              <a:rPr lang="en-US" altLang="zh-TW" sz="2800" b="0" dirty="0"/>
              <a:t>– </a:t>
            </a:r>
            <a:r>
              <a:rPr lang="zh-TW" altLang="en-US" sz="2800" b="0" dirty="0"/>
              <a:t>數位科技發展組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2026.06.29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54650CD5-C1B9-D7DB-46A1-AE5D76D77848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b="1" dirty="0"/>
              <a:t>回測實證 </a:t>
            </a:r>
            <a:r>
              <a:rPr lang="en-US" altLang="zh-TW" b="1" dirty="0"/>
              <a:t>00631</a:t>
            </a:r>
            <a:r>
              <a:rPr lang="en" altLang="zh-TW" b="1" dirty="0"/>
              <a:t>L </a:t>
            </a:r>
            <a:r>
              <a:rPr lang="zh-TW" altLang="en-US" b="1" dirty="0"/>
              <a:t>槓桿投資策略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F63A5-F21D-3560-F0F7-125F4630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什麼是槓桿 </a:t>
            </a:r>
            <a:r>
              <a:rPr lang="en-US" altLang="zh-TW" b="1" dirty="0"/>
              <a:t>ETF</a:t>
            </a:r>
            <a:r>
              <a:rPr lang="zh-TW" altLang="en-US" b="1" dirty="0"/>
              <a:t>？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DF7CAB-0405-1E13-8981-5652E964F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sz="1800" dirty="0"/>
              <a:t>ETF </a:t>
            </a:r>
            <a:r>
              <a:rPr lang="zh-TW" altLang="en-US" sz="1800" dirty="0"/>
              <a:t>可依追蹤方式分成三種常見型態：</a:t>
            </a:r>
            <a:endParaRPr lang="en-US" altLang="zh-TW" sz="1800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lvl="1"/>
            <a:r>
              <a:rPr lang="zh-TW" altLang="en-US" sz="1600" dirty="0"/>
              <a:t>槓桿 </a:t>
            </a:r>
            <a:r>
              <a:rPr lang="en" altLang="zh-TW" sz="1600" dirty="0"/>
              <a:t>ETF </a:t>
            </a:r>
            <a:r>
              <a:rPr lang="zh-TW" altLang="en-US" sz="1600" dirty="0"/>
              <a:t>透過期貨、交換契約等工具建立倍數曝險。</a:t>
            </a:r>
          </a:p>
          <a:p>
            <a:pPr lvl="1"/>
            <a:r>
              <a:rPr lang="en-US" altLang="zh-TW" sz="1600" dirty="0"/>
              <a:t>2 </a:t>
            </a:r>
            <a:r>
              <a:rPr lang="zh-TW" altLang="en-US" sz="1600" dirty="0"/>
              <a:t>倍槓桿 </a:t>
            </a:r>
            <a:r>
              <a:rPr lang="en" altLang="zh-TW" sz="1600" dirty="0"/>
              <a:t>ETF </a:t>
            </a:r>
            <a:r>
              <a:rPr lang="zh-TW" altLang="en-US" sz="1600" dirty="0"/>
              <a:t>的目標是標的指數單日報酬的約 </a:t>
            </a:r>
            <a:r>
              <a:rPr lang="en-US" altLang="zh-TW" sz="1600" dirty="0"/>
              <a:t>2 </a:t>
            </a:r>
            <a:r>
              <a:rPr lang="zh-TW" altLang="en-US" sz="1600" dirty="0"/>
              <a:t>倍。</a:t>
            </a:r>
          </a:p>
          <a:p>
            <a:pPr lvl="1"/>
            <a:r>
              <a:rPr lang="zh-TW" altLang="en-US" sz="1600" dirty="0"/>
              <a:t>使用一半資金買進 </a:t>
            </a:r>
            <a:r>
              <a:rPr lang="en-US" altLang="zh-TW" sz="1600" dirty="0"/>
              <a:t>2 </a:t>
            </a:r>
            <a:r>
              <a:rPr lang="zh-TW" altLang="en-US" sz="1600" dirty="0"/>
              <a:t>倍槓桿 </a:t>
            </a:r>
            <a:r>
              <a:rPr lang="en" altLang="zh-TW" sz="1600" dirty="0"/>
              <a:t>ETF</a:t>
            </a:r>
            <a:r>
              <a:rPr lang="zh-TW" altLang="en" sz="1600" dirty="0"/>
              <a:t>，</a:t>
            </a:r>
            <a:r>
              <a:rPr lang="zh-TW" altLang="en-US" sz="1600" dirty="0"/>
              <a:t>可建立約 </a:t>
            </a:r>
            <a:r>
              <a:rPr lang="en-US" altLang="zh-TW" sz="1600" dirty="0"/>
              <a:t>100</a:t>
            </a:r>
            <a:r>
              <a:rPr lang="zh-TW" altLang="en-US" sz="1600" dirty="0"/>
              <a:t>％ 的市場曝險。</a:t>
            </a:r>
          </a:p>
          <a:p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FD744E-F8D8-44BD-372B-3216A3537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939529"/>
              </p:ext>
            </p:extLst>
          </p:nvPr>
        </p:nvGraphicFramePr>
        <p:xfrm>
          <a:off x="540244" y="1328256"/>
          <a:ext cx="10080001" cy="2697206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387029">
                  <a:extLst>
                    <a:ext uri="{9D8B030D-6E8A-4147-A177-3AD203B41FA5}">
                      <a16:colId xmlns:a16="http://schemas.microsoft.com/office/drawing/2014/main" val="561613303"/>
                    </a:ext>
                  </a:extLst>
                </a:gridCol>
                <a:gridCol w="2850287">
                  <a:extLst>
                    <a:ext uri="{9D8B030D-6E8A-4147-A177-3AD203B41FA5}">
                      <a16:colId xmlns:a16="http://schemas.microsoft.com/office/drawing/2014/main" val="3600502695"/>
                    </a:ext>
                  </a:extLst>
                </a:gridCol>
                <a:gridCol w="2804321">
                  <a:extLst>
                    <a:ext uri="{9D8B030D-6E8A-4147-A177-3AD203B41FA5}">
                      <a16:colId xmlns:a16="http://schemas.microsoft.com/office/drawing/2014/main" val="2940150857"/>
                    </a:ext>
                  </a:extLst>
                </a:gridCol>
                <a:gridCol w="1530674">
                  <a:extLst>
                    <a:ext uri="{9D8B030D-6E8A-4147-A177-3AD203B41FA5}">
                      <a16:colId xmlns:a16="http://schemas.microsoft.com/office/drawing/2014/main" val="3541124933"/>
                    </a:ext>
                  </a:extLst>
                </a:gridCol>
                <a:gridCol w="1507690">
                  <a:extLst>
                    <a:ext uri="{9D8B030D-6E8A-4147-A177-3AD203B41FA5}">
                      <a16:colId xmlns:a16="http://schemas.microsoft.com/office/drawing/2014/main" val="3087129378"/>
                    </a:ext>
                  </a:extLst>
                </a:gridCol>
              </a:tblGrid>
              <a:tr h="44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代表 </a:t>
                      </a:r>
                      <a:r>
                        <a:rPr lang="en" altLang="zh-TW" sz="1600" b="1" dirty="0"/>
                        <a:t>ETF</a:t>
                      </a:r>
                      <a:endParaRPr lang="zh-TW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追蹤目標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指數上漲 </a:t>
                      </a:r>
                      <a:r>
                        <a:rPr lang="en-US" altLang="zh-TW" sz="1600" b="1" dirty="0"/>
                        <a:t>1</a:t>
                      </a:r>
                      <a:r>
                        <a:rPr lang="zh-TW" altLang="en-US" sz="1600" b="1" dirty="0"/>
                        <a:t>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指數下跌 </a:t>
                      </a:r>
                      <a:r>
                        <a:rPr lang="en-US" altLang="zh-TW" sz="1600" b="1" dirty="0"/>
                        <a:t>1%</a:t>
                      </a:r>
                      <a:endParaRPr lang="zh-TW" altLang="en-US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699097"/>
                  </a:ext>
                </a:extLst>
              </a:tr>
              <a:tr h="751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原型 </a:t>
                      </a:r>
                      <a:r>
                        <a:rPr lang="en-US" altLang="zh-TW" sz="1600" b="1" dirty="0"/>
                        <a:t>ETF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元大台灣</a:t>
                      </a:r>
                      <a:r>
                        <a:rPr lang="en-US" altLang="zh-TW" sz="1600" b="1" dirty="0"/>
                        <a:t>50</a:t>
                      </a:r>
                      <a:r>
                        <a:rPr lang="zh-TW" altLang="en-US" sz="1600" dirty="0"/>
                        <a:t>（</a:t>
                      </a:r>
                      <a:r>
                        <a:rPr lang="en-US" altLang="zh-TW" sz="1600" dirty="0"/>
                        <a:t>0050</a:t>
                      </a:r>
                      <a:r>
                        <a:rPr lang="zh-TW" altLang="en-US" sz="1600" dirty="0"/>
                        <a:t>）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台灣 </a:t>
                      </a:r>
                      <a:r>
                        <a:rPr lang="en-US" altLang="zh-TW" sz="1600" dirty="0"/>
                        <a:t>50 </a:t>
                      </a:r>
                      <a:r>
                        <a:rPr lang="zh-TW" altLang="en-US" sz="1600" dirty="0"/>
                        <a:t>指數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+1</a:t>
                      </a:r>
                      <a:r>
                        <a:rPr lang="zh-TW" altLang="en-US" sz="1600" dirty="0"/>
                        <a:t>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-1</a:t>
                      </a:r>
                      <a:r>
                        <a:rPr lang="zh-TW" altLang="en-US" sz="1600" dirty="0"/>
                        <a:t>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310113"/>
                  </a:ext>
                </a:extLst>
              </a:tr>
              <a:tr h="751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槓桿型</a:t>
                      </a:r>
                      <a:r>
                        <a:rPr lang="en-US" altLang="zh-TW" sz="1600" b="1" dirty="0"/>
                        <a:t> ETF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元大台灣</a:t>
                      </a:r>
                      <a:r>
                        <a:rPr lang="en-US" altLang="zh-TW" sz="1600" b="1" dirty="0"/>
                        <a:t>50</a:t>
                      </a:r>
                      <a:r>
                        <a:rPr lang="zh-TW" altLang="en-US" sz="1600" b="1" dirty="0"/>
                        <a:t>正</a:t>
                      </a:r>
                      <a:r>
                        <a:rPr lang="en-US" altLang="zh-TW" sz="1600" b="1" dirty="0"/>
                        <a:t>2</a:t>
                      </a:r>
                      <a:r>
                        <a:rPr lang="zh-TW" altLang="en-US" sz="1600" dirty="0"/>
                        <a:t>（</a:t>
                      </a:r>
                      <a:r>
                        <a:rPr lang="en" altLang="zh-TW" sz="1600" dirty="0"/>
                        <a:t>00631L</a:t>
                      </a:r>
                      <a:r>
                        <a:rPr lang="zh-TW" altLang="en-US" sz="16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台灣 </a:t>
                      </a:r>
                      <a:r>
                        <a:rPr lang="en-US" altLang="zh-TW" sz="1600" dirty="0"/>
                        <a:t>50 </a:t>
                      </a:r>
                      <a:r>
                        <a:rPr lang="zh-TW" altLang="en-US" sz="1600" dirty="0"/>
                        <a:t>指數單日正向 </a:t>
                      </a:r>
                      <a:r>
                        <a:rPr lang="en-US" altLang="zh-TW" sz="1600" dirty="0"/>
                        <a:t>2 </a:t>
                      </a:r>
                      <a:r>
                        <a:rPr lang="zh-TW" altLang="en-US" sz="1600" dirty="0"/>
                        <a:t>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+2</a:t>
                      </a:r>
                      <a:r>
                        <a:rPr lang="zh-TW" altLang="en-US" sz="1600" dirty="0"/>
                        <a:t>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-2</a:t>
                      </a:r>
                      <a:r>
                        <a:rPr lang="zh-TW" altLang="en-US" sz="1600" dirty="0"/>
                        <a:t>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14132"/>
                  </a:ext>
                </a:extLst>
              </a:tr>
              <a:tr h="751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/>
                        <a:t>反向型</a:t>
                      </a:r>
                      <a:r>
                        <a:rPr lang="en-US" altLang="zh-TW" sz="1600" b="1" dirty="0"/>
                        <a:t> ETF</a:t>
                      </a:r>
                      <a:endParaRPr lang="e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元大台灣</a:t>
                      </a:r>
                      <a:r>
                        <a:rPr lang="en-US" altLang="zh-TW" sz="1600" b="1" dirty="0"/>
                        <a:t>50</a:t>
                      </a:r>
                      <a:r>
                        <a:rPr lang="zh-TW" altLang="en-US" sz="1600" b="1" dirty="0"/>
                        <a:t>反</a:t>
                      </a:r>
                      <a:r>
                        <a:rPr lang="en-US" altLang="zh-TW" sz="1600" b="1" dirty="0"/>
                        <a:t>1</a:t>
                      </a:r>
                      <a:r>
                        <a:rPr lang="zh-TW" altLang="en-US" sz="1600" dirty="0"/>
                        <a:t>（</a:t>
                      </a:r>
                      <a:r>
                        <a:rPr lang="en" altLang="zh-TW" sz="1600" dirty="0"/>
                        <a:t>00632R</a:t>
                      </a:r>
                      <a:r>
                        <a:rPr lang="zh-TW" altLang="en-US" sz="1600" dirty="0"/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dirty="0"/>
                        <a:t>台灣 </a:t>
                      </a:r>
                      <a:r>
                        <a:rPr lang="en-US" altLang="zh-TW" sz="1600" dirty="0"/>
                        <a:t>50 </a:t>
                      </a:r>
                      <a:r>
                        <a:rPr lang="zh-TW" altLang="en-US" sz="1600" dirty="0"/>
                        <a:t>指數單日反向 </a:t>
                      </a:r>
                      <a:r>
                        <a:rPr lang="en-US" altLang="zh-TW" sz="1600" dirty="0"/>
                        <a:t>1 </a:t>
                      </a:r>
                      <a:r>
                        <a:rPr lang="zh-TW" altLang="en-US" sz="1600" dirty="0"/>
                        <a:t>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-1</a:t>
                      </a:r>
                      <a:r>
                        <a:rPr lang="zh-TW" altLang="en-US" sz="1600" dirty="0"/>
                        <a:t>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約 </a:t>
                      </a:r>
                      <a:r>
                        <a:rPr lang="en-US" altLang="zh-TW" sz="1600" dirty="0"/>
                        <a:t>+1</a:t>
                      </a:r>
                      <a:r>
                        <a:rPr lang="zh-TW" altLang="en-US" sz="1600" dirty="0"/>
                        <a:t>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66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15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AAD29-1FC0-8594-5CFD-66A82938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0F5422-3699-9DFB-79F7-ECD677F6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曝險比例與資金配置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7205F2-CC3B-77EE-BA3B-FDE8356BD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曝險比例代表資金承受市場風險的程度。以 </a:t>
            </a:r>
            <a:r>
              <a:rPr lang="en-US" altLang="zh-TW" sz="1800" dirty="0"/>
              <a:t>100 </a:t>
            </a:r>
            <a:r>
              <a:rPr lang="zh-TW" altLang="en-US" sz="1800" dirty="0"/>
              <a:t>萬元資金為例</a:t>
            </a:r>
            <a:r>
              <a:rPr lang="zh-TW" altLang="en-US" dirty="0"/>
              <a:t>：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lvl="1"/>
            <a:r>
              <a:rPr lang="en-US" altLang="zh-TW" sz="1600" dirty="0"/>
              <a:t>0050 </a:t>
            </a:r>
            <a:r>
              <a:rPr lang="zh-TW" altLang="en-US" sz="1600" dirty="0"/>
              <a:t>全額投入與 </a:t>
            </a:r>
            <a:r>
              <a:rPr lang="en-US" altLang="zh-TW" sz="1600" dirty="0"/>
              <a:t>00631</a:t>
            </a:r>
            <a:r>
              <a:rPr lang="en" altLang="zh-TW" sz="1600" dirty="0"/>
              <a:t>L </a:t>
            </a:r>
            <a:r>
              <a:rPr lang="zh-TW" altLang="en-US" sz="1600" dirty="0"/>
              <a:t>的</a:t>
            </a:r>
            <a:r>
              <a:rPr lang="en" altLang="zh-TW" sz="1600" dirty="0"/>
              <a:t> 50</a:t>
            </a:r>
            <a:r>
              <a:rPr lang="en-US" altLang="zh-TW" sz="1600" dirty="0"/>
              <a:t>:</a:t>
            </a:r>
            <a:r>
              <a:rPr lang="en" altLang="zh-TW" sz="1600" dirty="0"/>
              <a:t>50 </a:t>
            </a:r>
            <a:r>
              <a:rPr lang="zh-TW" altLang="en-US" sz="1600" dirty="0"/>
              <a:t>配置，初始市場曝險皆約為 </a:t>
            </a:r>
            <a:r>
              <a:rPr lang="en-US" altLang="zh-TW" sz="1600" dirty="0"/>
              <a:t>100%</a:t>
            </a:r>
            <a:r>
              <a:rPr lang="zh-TW" altLang="en" sz="1600" dirty="0"/>
              <a:t>。</a:t>
            </a:r>
            <a:endParaRPr lang="zh-TW" altLang="en-US" sz="1600" dirty="0"/>
          </a:p>
        </p:txBody>
      </p:sp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4AEF19B-5AE3-B803-0B21-F1484DCF9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439651"/>
            <a:ext cx="9580645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93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E9E2-DF3F-6F05-8634-D074DC17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1B6CA212-5ABF-892C-7F26-71DB7FDD8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719138"/>
            <a:ext cx="8964768" cy="5040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869E425-E4BC-DBEF-E099-EAA54783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年度再平衡策略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835BA2-B52C-24CC-718E-F0A0781F0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年度再平衡是指每年固定一次，將投資組合調回原本設定的比例。</a:t>
            </a:r>
            <a:endParaRPr lang="en-US" altLang="zh-TW" sz="18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lvl="1"/>
            <a:endParaRPr lang="en-US" altLang="zh-TW" sz="1600" dirty="0"/>
          </a:p>
          <a:p>
            <a:pPr marL="288000" lvl="1" indent="0">
              <a:buNone/>
            </a:pPr>
            <a:endParaRPr lang="en-US" altLang="zh-TW" sz="1600" dirty="0"/>
          </a:p>
          <a:p>
            <a:pPr lvl="1"/>
            <a:r>
              <a:rPr lang="zh-TW" altLang="en-US" sz="1600" dirty="0"/>
              <a:t>以 </a:t>
            </a:r>
            <a:r>
              <a:rPr lang="en-US" altLang="zh-TW" sz="1600" dirty="0"/>
              <a:t>00631L </a:t>
            </a:r>
            <a:r>
              <a:rPr lang="zh-TW" altLang="en-US" sz="1600" dirty="0"/>
              <a:t>的 </a:t>
            </a:r>
            <a:r>
              <a:rPr lang="en-US" altLang="zh-TW" sz="1600" dirty="0"/>
              <a:t>50:50 </a:t>
            </a:r>
            <a:r>
              <a:rPr lang="zh-TW" altLang="en-US" sz="1600" dirty="0"/>
              <a:t>配置法為例，每年再平衡一次，讓投資組合維持接近 </a:t>
            </a:r>
            <a:r>
              <a:rPr lang="en-US" altLang="zh-TW" sz="1600" dirty="0"/>
              <a:t>100</a:t>
            </a:r>
            <a:r>
              <a:rPr lang="zh-TW" altLang="en-US" sz="1600" dirty="0"/>
              <a:t>％ 的市場曝險。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89066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DE6698-C991-5E01-0A9A-9A32CA307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回測設定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F65328-D288-AE1B-163B-014C2EF5D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比較三種約 </a:t>
            </a:r>
            <a:r>
              <a:rPr lang="en-US" altLang="zh-TW" sz="1800" dirty="0"/>
              <a:t>100% </a:t>
            </a:r>
            <a:r>
              <a:rPr lang="zh-TW" altLang="en-US" sz="1800" dirty="0"/>
              <a:t>初始市場曝險的長期配置策略：</a:t>
            </a:r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pPr marL="36000" indent="0">
              <a:buNone/>
            </a:pPr>
            <a:endParaRPr lang="en-US" altLang="zh-TW" sz="1800" dirty="0"/>
          </a:p>
          <a:p>
            <a:pPr>
              <a:spcAft>
                <a:spcPts val="600"/>
              </a:spcAft>
            </a:pPr>
            <a:r>
              <a:rPr lang="zh-TW" altLang="en-US" sz="1800" dirty="0"/>
              <a:t>設定與限制：</a:t>
            </a:r>
          </a:p>
          <a:p>
            <a:pPr lvl="1"/>
            <a:r>
              <a:rPr lang="zh-TW" altLang="en-US" sz="1600" dirty="0"/>
              <a:t>期間：</a:t>
            </a:r>
            <a:r>
              <a:rPr lang="en-US" altLang="zh-TW" sz="1600" dirty="0"/>
              <a:t>2014 </a:t>
            </a:r>
            <a:r>
              <a:rPr lang="zh-TW" altLang="en-US" sz="1600" dirty="0"/>
              <a:t>年 </a:t>
            </a:r>
            <a:r>
              <a:rPr lang="en-US" altLang="zh-TW" sz="1600" dirty="0"/>
              <a:t>10 </a:t>
            </a:r>
            <a:r>
              <a:rPr lang="zh-TW" altLang="en-US" sz="1600" dirty="0"/>
              <a:t>月 </a:t>
            </a:r>
            <a:r>
              <a:rPr lang="en-US" altLang="zh-TW" sz="1600" dirty="0"/>
              <a:t>31 </a:t>
            </a:r>
            <a:r>
              <a:rPr lang="zh-TW" altLang="en-US" sz="1600" dirty="0"/>
              <a:t>日至 </a:t>
            </a:r>
            <a:r>
              <a:rPr lang="en-US" altLang="zh-TW" sz="1600" dirty="0"/>
              <a:t>2026 </a:t>
            </a:r>
            <a:r>
              <a:rPr lang="zh-TW" altLang="en-US" sz="1600" dirty="0"/>
              <a:t>年 </a:t>
            </a:r>
            <a:r>
              <a:rPr lang="en-US" altLang="zh-TW" sz="1600" dirty="0"/>
              <a:t>6 </a:t>
            </a:r>
            <a:r>
              <a:rPr lang="zh-TW" altLang="en-US" sz="1600" dirty="0"/>
              <a:t>月 </a:t>
            </a:r>
            <a:r>
              <a:rPr lang="en-US" altLang="zh-TW" sz="1600" dirty="0"/>
              <a:t>26 </a:t>
            </a:r>
            <a:r>
              <a:rPr lang="zh-TW" altLang="en-US" sz="1600" dirty="0"/>
              <a:t>日</a:t>
            </a:r>
          </a:p>
          <a:p>
            <a:pPr lvl="1"/>
            <a:r>
              <a:rPr lang="zh-TW" altLang="en-US" sz="1600" dirty="0"/>
              <a:t>資料：使用還原股價，納入配息與分割調整</a:t>
            </a:r>
          </a:p>
          <a:p>
            <a:pPr lvl="1"/>
            <a:r>
              <a:rPr lang="zh-TW" altLang="en-US" sz="1600" dirty="0"/>
              <a:t>未納入：手續費、交易稅、滑價等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B2CBF3D-30D4-9D10-4085-1C8C883743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49796"/>
              </p:ext>
            </p:extLst>
          </p:nvPr>
        </p:nvGraphicFramePr>
        <p:xfrm>
          <a:off x="506412" y="1397000"/>
          <a:ext cx="10080000" cy="2700001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3201651">
                  <a:extLst>
                    <a:ext uri="{9D8B030D-6E8A-4147-A177-3AD203B41FA5}">
                      <a16:colId xmlns:a16="http://schemas.microsoft.com/office/drawing/2014/main" val="322337325"/>
                    </a:ext>
                  </a:extLst>
                </a:gridCol>
                <a:gridCol w="6878349">
                  <a:extLst>
                    <a:ext uri="{9D8B030D-6E8A-4147-A177-3AD203B41FA5}">
                      <a16:colId xmlns:a16="http://schemas.microsoft.com/office/drawing/2014/main" val="2436567396"/>
                    </a:ext>
                  </a:extLst>
                </a:gridCol>
              </a:tblGrid>
              <a:tr h="441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策略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</a:rPr>
                        <a:t>配置方式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84211669"/>
                  </a:ext>
                </a:extLst>
              </a:tr>
              <a:tr h="7528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1600" b="1" dirty="0">
                          <a:effectLst/>
                        </a:rPr>
                        <a:t>0050</a:t>
                      </a:r>
                      <a:r>
                        <a:rPr lang="zh-TW" altLang="en-US" sz="1600" dirty="0">
                          <a:effectLst/>
                        </a:rPr>
                        <a:t>（</a:t>
                      </a:r>
                      <a:r>
                        <a:rPr lang="en-US" altLang="zh-TW" sz="1600" dirty="0">
                          <a:effectLst/>
                        </a:rPr>
                        <a:t>100%</a:t>
                      </a:r>
                      <a:r>
                        <a:rPr lang="zh-TW" altLang="en-US" sz="1600" dirty="0">
                          <a:effectLst/>
                        </a:rPr>
                        <a:t> 曝險）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100 </a:t>
                      </a:r>
                      <a:r>
                        <a:rPr lang="zh-TW" altLang="en-US" sz="1600" dirty="0">
                          <a:effectLst/>
                        </a:rPr>
                        <a:t>萬元全數買進 </a:t>
                      </a:r>
                      <a:r>
                        <a:rPr lang="en-US" altLang="zh-TW" sz="1600" dirty="0">
                          <a:effectLst/>
                        </a:rPr>
                        <a:t>0050</a:t>
                      </a:r>
                      <a:r>
                        <a:rPr lang="zh-TW" altLang="en-US" sz="1600" dirty="0">
                          <a:effectLst/>
                        </a:rPr>
                        <a:t>，建立 </a:t>
                      </a:r>
                      <a:r>
                        <a:rPr lang="en-US" altLang="zh-TW" sz="1600" dirty="0">
                          <a:effectLst/>
                        </a:rPr>
                        <a:t>100% </a:t>
                      </a:r>
                      <a:r>
                        <a:rPr lang="zh-TW" altLang="en-US" sz="1600" dirty="0">
                          <a:effectLst/>
                        </a:rPr>
                        <a:t>市場曝險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49624507"/>
                  </a:ext>
                </a:extLst>
              </a:tr>
              <a:tr h="7528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altLang="zh-TW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00631L</a:t>
                      </a:r>
                      <a:r>
                        <a:rPr lang="zh-TW" altLang="en-US" sz="1600" dirty="0">
                          <a:effectLst/>
                        </a:rPr>
                        <a:t>（</a:t>
                      </a:r>
                      <a:r>
                        <a:rPr lang="en-US" altLang="zh-TW" sz="1600" dirty="0">
                          <a:effectLst/>
                        </a:rPr>
                        <a:t>50:50 </a:t>
                      </a:r>
                      <a:r>
                        <a:rPr lang="zh-TW" altLang="en-US" sz="1600" dirty="0">
                          <a:effectLst/>
                        </a:rPr>
                        <a:t>配置法）</a:t>
                      </a:r>
                      <a:endParaRPr lang="en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50 </a:t>
                      </a:r>
                      <a:r>
                        <a:rPr lang="zh-TW" altLang="en-US" sz="1600" dirty="0">
                          <a:effectLst/>
                        </a:rPr>
                        <a:t>萬元買進 </a:t>
                      </a:r>
                      <a:r>
                        <a:rPr lang="en-US" altLang="zh-TW" sz="1600" dirty="0">
                          <a:effectLst/>
                        </a:rPr>
                        <a:t>00631L</a:t>
                      </a:r>
                      <a:r>
                        <a:rPr lang="zh-TW" altLang="en-US" sz="1600" dirty="0">
                          <a:effectLst/>
                        </a:rPr>
                        <a:t>，</a:t>
                      </a:r>
                      <a:r>
                        <a:rPr lang="en-US" altLang="zh-TW" sz="1600" dirty="0">
                          <a:effectLst/>
                        </a:rPr>
                        <a:t>50 </a:t>
                      </a:r>
                      <a:r>
                        <a:rPr lang="zh-TW" altLang="en-US" sz="1600" dirty="0">
                          <a:effectLst/>
                        </a:rPr>
                        <a:t>萬元保留現金，建立接近 </a:t>
                      </a:r>
                      <a:r>
                        <a:rPr lang="en-US" altLang="zh-TW" sz="1600" dirty="0">
                          <a:effectLst/>
                        </a:rPr>
                        <a:t>100% </a:t>
                      </a:r>
                      <a:r>
                        <a:rPr lang="zh-TW" altLang="en-US" sz="1600" dirty="0">
                          <a:effectLst/>
                        </a:rPr>
                        <a:t>初始曝險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08389541"/>
                  </a:ext>
                </a:extLst>
              </a:tr>
              <a:tr h="75281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altLang="zh-TW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00631L</a:t>
                      </a:r>
                      <a:r>
                        <a:rPr lang="en" altLang="zh-TW" sz="1600" dirty="0">
                          <a:effectLst/>
                        </a:rPr>
                        <a:t> </a:t>
                      </a:r>
                      <a:r>
                        <a:rPr lang="zh-TW" altLang="en-US" sz="1600" dirty="0">
                          <a:effectLst/>
                        </a:rPr>
                        <a:t>（</a:t>
                      </a:r>
                      <a:r>
                        <a:rPr lang="en-US" altLang="zh-TW" sz="1600" dirty="0">
                          <a:effectLst/>
                        </a:rPr>
                        <a:t>50:50 </a:t>
                      </a:r>
                      <a:r>
                        <a:rPr lang="zh-TW" altLang="en-US" sz="1600" dirty="0">
                          <a:effectLst/>
                        </a:rPr>
                        <a:t>年度再平衡）</a:t>
                      </a:r>
                      <a:endParaRPr lang="en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600" dirty="0"/>
                        <a:t>每年第一個交易日調回 </a:t>
                      </a:r>
                      <a:r>
                        <a:rPr lang="en-US" altLang="zh-TW" sz="1600" dirty="0"/>
                        <a:t>00631</a:t>
                      </a:r>
                      <a:r>
                        <a:rPr lang="en" altLang="zh-TW" sz="1600" dirty="0"/>
                        <a:t>L </a:t>
                      </a:r>
                      <a:r>
                        <a:rPr lang="zh-TW" altLang="en-US" sz="1600" dirty="0"/>
                        <a:t>的 </a:t>
                      </a:r>
                      <a:r>
                        <a:rPr lang="en" altLang="zh-TW" sz="1600" dirty="0"/>
                        <a:t>50</a:t>
                      </a:r>
                      <a:r>
                        <a:rPr lang="en-US" altLang="zh-TW" sz="1600" dirty="0"/>
                        <a:t>:</a:t>
                      </a:r>
                      <a:r>
                        <a:rPr lang="en" altLang="zh-TW" sz="1600" dirty="0"/>
                        <a:t>50 </a:t>
                      </a:r>
                      <a:r>
                        <a:rPr lang="zh-TW" altLang="en-US" sz="1600" dirty="0"/>
                        <a:t>配置</a:t>
                      </a:r>
                      <a:r>
                        <a:rPr lang="zh-TW" altLang="en" sz="1600" dirty="0"/>
                        <a:t>，</a:t>
                      </a:r>
                      <a:r>
                        <a:rPr lang="zh-TW" altLang="en-US" sz="1600" dirty="0"/>
                        <a:t>維持目標曝險與現金部位</a:t>
                      </a:r>
                      <a:endParaRPr lang="zh-TW" alt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4437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603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44D6-DD8B-1DE1-3B9F-6EE6C9694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F261D-E959-AB25-97E1-9CF4147D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策略一：</a:t>
            </a:r>
            <a:r>
              <a:rPr lang="en-US" altLang="zh-TW" b="1" dirty="0"/>
              <a:t>0050</a:t>
            </a:r>
            <a:r>
              <a:rPr lang="zh-TW" altLang="en-US" b="1" dirty="0"/>
              <a:t>（</a:t>
            </a:r>
            <a:r>
              <a:rPr lang="en-US" altLang="zh-TW" b="1" dirty="0"/>
              <a:t>100%</a:t>
            </a:r>
            <a:r>
              <a:rPr lang="zh-TW" altLang="en-US" b="1" dirty="0"/>
              <a:t> 曝險）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B51746-FC87-E92E-8CF1-7B83419D9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以 </a:t>
            </a:r>
            <a:r>
              <a:rPr lang="en-US" altLang="zh-TW" sz="1800" dirty="0"/>
              <a:t>100 </a:t>
            </a:r>
            <a:r>
              <a:rPr lang="zh-TW" altLang="en-US" sz="1800" dirty="0"/>
              <a:t>萬元全數投入 </a:t>
            </a:r>
            <a:r>
              <a:rPr lang="en-US" altLang="zh-TW" sz="1800" dirty="0"/>
              <a:t>0050</a:t>
            </a:r>
            <a:r>
              <a:rPr lang="zh-TW" altLang="en-US" sz="1800" dirty="0"/>
              <a:t>，作為長期持有基準。</a:t>
            </a:r>
          </a:p>
          <a:p>
            <a:pPr marL="36000" indent="0">
              <a:buNone/>
            </a:pPr>
            <a:endParaRPr lang="en-US" altLang="zh-TW" sz="18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542A1B7-4821-07F1-F9A4-3BCC6DEBC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05651"/>
              </p:ext>
            </p:extLst>
          </p:nvPr>
        </p:nvGraphicFramePr>
        <p:xfrm>
          <a:off x="7159168" y="1259651"/>
          <a:ext cx="4006764" cy="43200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113596">
                  <a:extLst>
                    <a:ext uri="{9D8B030D-6E8A-4147-A177-3AD203B41FA5}">
                      <a16:colId xmlns:a16="http://schemas.microsoft.com/office/drawing/2014/main" val="322337325"/>
                    </a:ext>
                  </a:extLst>
                </a:gridCol>
                <a:gridCol w="1893168">
                  <a:extLst>
                    <a:ext uri="{9D8B030D-6E8A-4147-A177-3AD203B41FA5}">
                      <a16:colId xmlns:a16="http://schemas.microsoft.com/office/drawing/2014/main" val="2436567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最終資產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9,305,502.40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842116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最高資產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9,648,382.15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496245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報酬率（％）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830.55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083895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年化回報率（％）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21.92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44371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年化波動率（％）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23.68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20459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夏普比率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0.93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898532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索提諾比率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1.69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876875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最大回撤率（％）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-33.96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457349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平均回撤率（％）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-3.29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156960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最大回撤期間（天）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759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859675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平均回撤期間（天）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34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209122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交易次數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21333398"/>
                  </a:ext>
                </a:extLst>
              </a:tr>
            </a:tbl>
          </a:graphicData>
        </a:graphic>
      </p:graphicFrame>
      <p:pic>
        <p:nvPicPr>
          <p:cNvPr id="5" name="圖片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E664DB51-6119-19A5-F08D-2E96EF2C5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3" y="1259651"/>
            <a:ext cx="6308571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53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9C345-F419-8B7F-5DD1-9153A17E4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A44F30-1CC9-D80E-5A33-29E4E628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策略二：</a:t>
            </a:r>
            <a:r>
              <a:rPr lang="en-US" altLang="zh-TW" b="1" dirty="0"/>
              <a:t>00631L</a:t>
            </a:r>
            <a:r>
              <a:rPr lang="zh-TW" altLang="en-US" b="1" dirty="0"/>
              <a:t>（</a:t>
            </a:r>
            <a:r>
              <a:rPr lang="en-US" altLang="zh-TW" b="1" dirty="0"/>
              <a:t>50:50</a:t>
            </a:r>
            <a:r>
              <a:rPr lang="zh-TW" altLang="en-US" b="1" dirty="0"/>
              <a:t> 配置法）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D267A8-4536-28F4-01CC-E8D75A3D2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以 </a:t>
            </a:r>
            <a:r>
              <a:rPr lang="en-US" altLang="zh-TW" sz="1800" dirty="0"/>
              <a:t>50 </a:t>
            </a:r>
            <a:r>
              <a:rPr lang="zh-TW" altLang="en-US" sz="1800" dirty="0"/>
              <a:t>萬元投入 </a:t>
            </a:r>
            <a:r>
              <a:rPr lang="en-US" altLang="zh-TW" sz="1800" dirty="0"/>
              <a:t>00631</a:t>
            </a:r>
            <a:r>
              <a:rPr lang="en" altLang="zh-TW" sz="1800" dirty="0"/>
              <a:t>L</a:t>
            </a:r>
            <a:r>
              <a:rPr lang="zh-TW" altLang="en" sz="1800" dirty="0"/>
              <a:t>，</a:t>
            </a:r>
            <a:r>
              <a:rPr lang="zh-TW" altLang="en-US" sz="1800" dirty="0"/>
              <a:t>另外 </a:t>
            </a:r>
            <a:r>
              <a:rPr lang="en-US" altLang="zh-TW" sz="1800" dirty="0"/>
              <a:t>50 </a:t>
            </a:r>
            <a:r>
              <a:rPr lang="zh-TW" altLang="en-US" sz="1800" dirty="0"/>
              <a:t>萬元保留現金，不再平衡。</a:t>
            </a:r>
          </a:p>
          <a:p>
            <a:pPr marL="36000" indent="0">
              <a:buNone/>
            </a:pPr>
            <a:endParaRPr lang="en-US" altLang="zh-TW" sz="1800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C771785-656E-73C3-8D64-392AEF74C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000959"/>
              </p:ext>
            </p:extLst>
          </p:nvPr>
        </p:nvGraphicFramePr>
        <p:xfrm>
          <a:off x="7159168" y="1260000"/>
          <a:ext cx="4006764" cy="43200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113596">
                  <a:extLst>
                    <a:ext uri="{9D8B030D-6E8A-4147-A177-3AD203B41FA5}">
                      <a16:colId xmlns:a16="http://schemas.microsoft.com/office/drawing/2014/main" val="322337325"/>
                    </a:ext>
                  </a:extLst>
                </a:gridCol>
                <a:gridCol w="1893168">
                  <a:extLst>
                    <a:ext uri="{9D8B030D-6E8A-4147-A177-3AD203B41FA5}">
                      <a16:colId xmlns:a16="http://schemas.microsoft.com/office/drawing/2014/main" val="2436567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最終資產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21,239,120.72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842116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最高資產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22,956,511.20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496245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報酬率（％）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2,023.91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083895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年化回報率（％）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31.19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44371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年化波動率（％）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39.88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20459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夏普比率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0.78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898532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索提諾比率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1.50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876875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最大回撤率（％）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-51.42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457349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平均回撤率（％）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-3.98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156960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最大回撤期間（天）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738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859675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平均回撤期間（天）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209122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交易次數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21333398"/>
                  </a:ext>
                </a:extLst>
              </a:tr>
            </a:tbl>
          </a:graphicData>
        </a:graphic>
      </p:graphicFrame>
      <p:pic>
        <p:nvPicPr>
          <p:cNvPr id="5" name="圖片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F15E6F9C-92A3-7728-92E9-58CED0FA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3" y="1259651"/>
            <a:ext cx="6308571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36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4FBBD-FD0A-72F3-5A5F-C74A7B45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6BD61-16A4-B3D9-34FC-454633FD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策略三：</a:t>
            </a:r>
            <a:r>
              <a:rPr lang="en-US" altLang="zh-TW" b="1" dirty="0"/>
              <a:t>00631L</a:t>
            </a:r>
            <a:r>
              <a:rPr lang="zh-TW" altLang="en-US" b="1" dirty="0"/>
              <a:t>（</a:t>
            </a:r>
            <a:r>
              <a:rPr lang="en-US" altLang="zh-TW" b="1" dirty="0"/>
              <a:t>50:50</a:t>
            </a:r>
            <a:r>
              <a:rPr lang="zh-TW" altLang="en-US" b="1" dirty="0"/>
              <a:t> 年度再平衡）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7581CF-6815-CA49-F658-8B5091375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以 </a:t>
            </a:r>
            <a:r>
              <a:rPr lang="en-US" altLang="zh-TW" sz="1800" dirty="0"/>
              <a:t>50</a:t>
            </a:r>
            <a:r>
              <a:rPr lang="zh-TW" altLang="en-US" sz="1800" dirty="0"/>
              <a:t>：</a:t>
            </a:r>
            <a:r>
              <a:rPr lang="en-US" altLang="zh-TW" sz="1800" dirty="0"/>
              <a:t>50 </a:t>
            </a:r>
            <a:r>
              <a:rPr lang="zh-TW" altLang="en-US" sz="1800" dirty="0"/>
              <a:t>配置為基準，每年第一個交易日調回目標比例。</a:t>
            </a:r>
          </a:p>
          <a:p>
            <a:endParaRPr lang="zh-TW" altLang="en-US" sz="1800" dirty="0"/>
          </a:p>
          <a:p>
            <a:pPr marL="36000" indent="0">
              <a:buNone/>
            </a:pPr>
            <a:endParaRPr lang="en-US" altLang="zh-TW" sz="1800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13EAEBB-E28B-F900-A4CC-180F95838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37730"/>
              </p:ext>
            </p:extLst>
          </p:nvPr>
        </p:nvGraphicFramePr>
        <p:xfrm>
          <a:off x="7159168" y="1260000"/>
          <a:ext cx="4006764" cy="43200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113596">
                  <a:extLst>
                    <a:ext uri="{9D8B030D-6E8A-4147-A177-3AD203B41FA5}">
                      <a16:colId xmlns:a16="http://schemas.microsoft.com/office/drawing/2014/main" val="322337325"/>
                    </a:ext>
                  </a:extLst>
                </a:gridCol>
                <a:gridCol w="1893168">
                  <a:extLst>
                    <a:ext uri="{9D8B030D-6E8A-4147-A177-3AD203B41FA5}">
                      <a16:colId xmlns:a16="http://schemas.microsoft.com/office/drawing/2014/main" val="24365673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最終資產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9,006,429.59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842116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最高資產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9,532,882.43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496245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報酬率（％）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800.64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083895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年化回報率（％）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21.56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443712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年化波動率（％）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23.75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2045953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夏普比率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0.91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8985328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索提諾比率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1.59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876875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最大回撤率（％）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-31.55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457349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平均回撤率（％）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-2.95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156960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最大回撤期間（天）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514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859675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平均回撤期間（天）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28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2091229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effectLst/>
                        </a:rPr>
                        <a:t>交易次數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13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21333398"/>
                  </a:ext>
                </a:extLst>
              </a:tr>
            </a:tbl>
          </a:graphicData>
        </a:graphic>
      </p:graphicFrame>
      <p:pic>
        <p:nvPicPr>
          <p:cNvPr id="5" name="圖片 4" descr="一張含有 文字,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7D0EB0CF-856F-4057-6100-0D8C80EAE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93" y="1259651"/>
            <a:ext cx="6308571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47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6899B4-5D22-7F50-FAF7-E52FCB23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三種策略比較</a:t>
            </a:r>
            <a:endParaRPr lang="zh-TW" altLang="en-US" dirty="0"/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297B8D00-7FE9-E228-BFFD-BD5920C2D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pPr marL="36000" indent="0">
              <a:buNone/>
            </a:pPr>
            <a:endParaRPr lang="en-US" altLang="zh-TW" sz="1800" dirty="0"/>
          </a:p>
          <a:p>
            <a:pPr lvl="1"/>
            <a:r>
              <a:rPr lang="en" altLang="zh-TW" sz="1600" dirty="0"/>
              <a:t>00631L 50</a:t>
            </a:r>
            <a:r>
              <a:rPr lang="zh-TW" altLang="en" sz="1600" dirty="0"/>
              <a:t>：</a:t>
            </a:r>
            <a:r>
              <a:rPr lang="en" altLang="zh-TW" sz="1600" dirty="0"/>
              <a:t>50 </a:t>
            </a:r>
            <a:r>
              <a:rPr lang="zh-TW" altLang="en-US" sz="1600" dirty="0"/>
              <a:t>不再平衡報酬最高，但風險也顯著放大。</a:t>
            </a:r>
            <a:endParaRPr lang="en-US" altLang="zh-TW" sz="1600" dirty="0"/>
          </a:p>
          <a:p>
            <a:pPr lvl="1"/>
            <a:r>
              <a:rPr lang="zh-TW" altLang="en-US" sz="1600" dirty="0"/>
              <a:t>年度再平衡則能把風險拉回接近 </a:t>
            </a:r>
            <a:r>
              <a:rPr lang="en-US" altLang="zh-TW" sz="1600" dirty="0"/>
              <a:t>0050</a:t>
            </a:r>
            <a:r>
              <a:rPr lang="zh-TW" altLang="en-US" sz="1600" dirty="0"/>
              <a:t>，並保留較高的現金配置彈性。</a:t>
            </a:r>
          </a:p>
          <a:p>
            <a:endParaRPr lang="zh-TW" altLang="en-US" sz="1800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DB8949E-861D-CDE6-73F1-06F818DD3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40687"/>
              </p:ext>
            </p:extLst>
          </p:nvPr>
        </p:nvGraphicFramePr>
        <p:xfrm>
          <a:off x="360244" y="957326"/>
          <a:ext cx="10800000" cy="425958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322337325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436567396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3129139864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607105673"/>
                    </a:ext>
                  </a:extLst>
                </a:gridCol>
              </a:tblGrid>
              <a:tr h="25702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TW" altLang="en-US" sz="1400" b="1" dirty="0">
                        <a:effectLst/>
                      </a:endParaRP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effectLst/>
                        </a:rPr>
                        <a:t>0050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（</a:t>
                      </a:r>
                      <a:r>
                        <a:rPr lang="en-US" altLang="zh-TW" sz="1400" b="1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％ 曝險）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effectLst/>
                        </a:rPr>
                        <a:t>00631L（50:50 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配置法）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effectLst/>
                        </a:rPr>
                        <a:t>00631L（50:50 </a:t>
                      </a:r>
                      <a:r>
                        <a:rPr lang="zh-TW" altLang="en-US" sz="1400" b="1" dirty="0">
                          <a:solidFill>
                            <a:srgbClr val="000000"/>
                          </a:solidFill>
                          <a:effectLst/>
                        </a:rPr>
                        <a:t>年度再平衡）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4602439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最終資產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9,305,502.40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21,239,120.72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9,006,429.59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8421166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最高資產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9,648,382.15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22,956,511.20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9,532,882.43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49624507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報酬率（％）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830.55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2,023.91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800.64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0838954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>
                          <a:effectLst/>
                        </a:rPr>
                        <a:t>年化回報率（％）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21.92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31.19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21.56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4437126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年化波動率（％）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23.68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39.88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23.75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20459530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夏普比率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0.93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0.78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0.91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89853288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索提諾比率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1.69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1.50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1.59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87687580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最大回撤率（％）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-33.96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-51.42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-31.55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45734923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平均回撤率（％）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-3.29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-3.98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-2.95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615696075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最大回撤期間（天）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759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738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514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85967501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平均回撤期間（天）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34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29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28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20912299"/>
                  </a:ext>
                </a:extLst>
              </a:tr>
              <a:tr h="249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交易次數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</a:rPr>
                        <a:t>13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21333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327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B00381-8626-A635-966F-AE48AF01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保留現金的策略價值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4B42A2-3715-2086-4275-36C348918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dirty="0"/>
              <a:t>若現金部位以年化 </a:t>
            </a:r>
            <a:r>
              <a:rPr lang="en-US" altLang="zh-TW" sz="1800" dirty="0"/>
              <a:t>1</a:t>
            </a:r>
            <a:r>
              <a:rPr lang="zh-TW" altLang="en-US" sz="1800" dirty="0"/>
              <a:t>％、依實際日數複利計算，年度再平衡受益最大。</a:t>
            </a:r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endParaRPr lang="en-US" altLang="zh-TW" sz="1800" dirty="0"/>
          </a:p>
          <a:p>
            <a:pPr marL="36000" indent="0">
              <a:buNone/>
            </a:pPr>
            <a:endParaRPr lang="en-US" altLang="zh-TW" sz="1800" dirty="0"/>
          </a:p>
          <a:p>
            <a:pPr>
              <a:spcAft>
                <a:spcPts val="600"/>
              </a:spcAft>
            </a:pPr>
            <a:r>
              <a:rPr lang="zh-TW" altLang="en-US" sz="1800" dirty="0"/>
              <a:t>現金的重點不只利息，而是保留策略彈性：</a:t>
            </a:r>
          </a:p>
          <a:p>
            <a:pPr lvl="1"/>
            <a:r>
              <a:rPr lang="zh-TW" altLang="en-US" sz="1600" dirty="0"/>
              <a:t>下跌後仍有資金逢低加碼或買回目標配置。</a:t>
            </a:r>
          </a:p>
          <a:p>
            <a:pPr lvl="1"/>
            <a:r>
              <a:rPr lang="zh-TW" altLang="en-US" sz="1600" dirty="0"/>
              <a:t>降低滿倉波動與被迫賣出的壓力。</a:t>
            </a:r>
          </a:p>
          <a:p>
            <a:pPr lvl="1"/>
            <a:r>
              <a:rPr lang="zh-TW" altLang="en-US" sz="1600" dirty="0"/>
              <a:t>保留生活支出與策略調整空間。</a:t>
            </a:r>
          </a:p>
          <a:p>
            <a:endParaRPr lang="zh-TW" altLang="en-US" sz="18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468E0D5-EE7F-E15E-C693-8D7D5EBC9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918427"/>
              </p:ext>
            </p:extLst>
          </p:nvPr>
        </p:nvGraphicFramePr>
        <p:xfrm>
          <a:off x="540243" y="1259999"/>
          <a:ext cx="10440001" cy="1605178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3167245">
                  <a:extLst>
                    <a:ext uri="{9D8B030D-6E8A-4147-A177-3AD203B41FA5}">
                      <a16:colId xmlns:a16="http://schemas.microsoft.com/office/drawing/2014/main" val="2392440813"/>
                    </a:ext>
                  </a:extLst>
                </a:gridCol>
                <a:gridCol w="2424252">
                  <a:extLst>
                    <a:ext uri="{9D8B030D-6E8A-4147-A177-3AD203B41FA5}">
                      <a16:colId xmlns:a16="http://schemas.microsoft.com/office/drawing/2014/main" val="3576572970"/>
                    </a:ext>
                  </a:extLst>
                </a:gridCol>
                <a:gridCol w="2424252">
                  <a:extLst>
                    <a:ext uri="{9D8B030D-6E8A-4147-A177-3AD203B41FA5}">
                      <a16:colId xmlns:a16="http://schemas.microsoft.com/office/drawing/2014/main" val="324857548"/>
                    </a:ext>
                  </a:extLst>
                </a:gridCol>
                <a:gridCol w="2424252">
                  <a:extLst>
                    <a:ext uri="{9D8B030D-6E8A-4147-A177-3AD203B41FA5}">
                      <a16:colId xmlns:a16="http://schemas.microsoft.com/office/drawing/2014/main" val="2510807233"/>
                    </a:ext>
                  </a:extLst>
                </a:gridCol>
              </a:tblGrid>
              <a:tr h="4099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1" dirty="0">
                          <a:effectLst/>
                        </a:rPr>
                        <a:t>策略</a:t>
                      </a:r>
                    </a:p>
                  </a:txBody>
                  <a:tcPr marL="113823" marR="113823" marT="52534" marB="52534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原最終資產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zh-TW" alt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計入現金 </a:t>
                      </a:r>
                      <a:r>
                        <a:rPr lang="en-US" altLang="zh-TW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lang="zh-TW" alt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％ 利息後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增加金額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33894590"/>
                  </a:ext>
                </a:extLst>
              </a:tr>
              <a:tr h="398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600" b="1" dirty="0"/>
                        <a:t>0050</a:t>
                      </a:r>
                      <a:r>
                        <a:rPr lang="zh-TW" altLang="en-US" sz="1600" b="1" dirty="0"/>
                        <a:t>（</a:t>
                      </a:r>
                      <a:r>
                        <a:rPr lang="en-US" altLang="zh-TW" sz="1600" b="1" dirty="0"/>
                        <a:t>100%</a:t>
                      </a:r>
                      <a:r>
                        <a:rPr lang="zh-TW" altLang="en-US" sz="1600" b="1" dirty="0"/>
                        <a:t> 曝險）</a:t>
                      </a:r>
                      <a:endParaRPr lang="en-US" altLang="zh-TW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9,305,502.40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9,305,503.19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0.79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62667945"/>
                  </a:ext>
                </a:extLst>
              </a:tr>
              <a:tr h="398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600" b="1" dirty="0"/>
                        <a:t>00631L</a:t>
                      </a:r>
                      <a:r>
                        <a:rPr lang="zh-TW" altLang="en-US" sz="1600" b="1" dirty="0"/>
                        <a:t>（</a:t>
                      </a:r>
                      <a:r>
                        <a:rPr lang="en-US" altLang="zh-TW" sz="1600" b="1" dirty="0"/>
                        <a:t>50:50</a:t>
                      </a:r>
                      <a:r>
                        <a:rPr lang="zh-TW" altLang="en-US" sz="1600" b="1" dirty="0"/>
                        <a:t> 配置法）</a:t>
                      </a:r>
                      <a:endParaRPr lang="en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21,239,120.72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21,300,616.62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61,495.90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72564113"/>
                  </a:ext>
                </a:extLst>
              </a:tr>
              <a:tr h="398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600" b="1" dirty="0"/>
                        <a:t>00631L</a:t>
                      </a:r>
                      <a:r>
                        <a:rPr lang="zh-TW" altLang="en-US" sz="1600" b="1" dirty="0"/>
                        <a:t>（</a:t>
                      </a:r>
                      <a:r>
                        <a:rPr lang="en-US" altLang="zh-TW" sz="1600" b="1" dirty="0"/>
                        <a:t>50:50</a:t>
                      </a:r>
                      <a:r>
                        <a:rPr lang="zh-TW" altLang="en-US" sz="1600" b="1" dirty="0"/>
                        <a:t> 年度再平衡）</a:t>
                      </a:r>
                      <a:endParaRPr lang="zh-TW" altLang="en-US" sz="16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9,006,429.59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>
                          <a:effectLst/>
                        </a:rPr>
                        <a:t>9,469,921.48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sz="1600" dirty="0">
                          <a:effectLst/>
                        </a:rPr>
                        <a:t>463,491.89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1907373"/>
                  </a:ext>
                </a:extLst>
              </a:tr>
            </a:tbl>
          </a:graphicData>
        </a:graphic>
      </p:graphicFrame>
      <p:pic>
        <p:nvPicPr>
          <p:cNvPr id="9" name="圖片 8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0B377053-CAF3-3EB7-5691-25711445C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519" y="3052670"/>
            <a:ext cx="512272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DF8915B-E7E6-6A55-A19F-3E745BE1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總結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A16732-D8C1-2302-C2A7-627E5D7E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zh-TW" altLang="en-US" sz="1800" b="1" dirty="0"/>
              <a:t>槓桿 </a:t>
            </a:r>
            <a:r>
              <a:rPr lang="en" altLang="zh-TW" sz="1800" b="1" dirty="0"/>
              <a:t>ETF </a:t>
            </a:r>
            <a:r>
              <a:rPr lang="zh-TW" altLang="en-US" sz="1800" b="1" dirty="0"/>
              <a:t>可納入長期配置，用較少本金建立目標曝險，並透過再平衡控制風險。</a:t>
            </a:r>
            <a:endParaRPr lang="en-US" altLang="zh-TW" sz="1400" b="1" dirty="0"/>
          </a:p>
          <a:p>
            <a:r>
              <a:rPr lang="zh-TW" altLang="en-US" sz="1800" b="1" dirty="0"/>
              <a:t>三種策略比較：</a:t>
            </a:r>
          </a:p>
          <a:p>
            <a:pPr lvl="1"/>
            <a:r>
              <a:rPr lang="en-US" altLang="zh-TW" sz="1600" b="1" dirty="0"/>
              <a:t>0050</a:t>
            </a:r>
            <a:r>
              <a:rPr lang="zh-TW" altLang="en-US" sz="1600" b="1" dirty="0"/>
              <a:t>：穩健的基準策略</a:t>
            </a:r>
            <a:endParaRPr lang="en-US" altLang="zh-TW" sz="1600" b="1" dirty="0"/>
          </a:p>
          <a:p>
            <a:pPr lvl="1" indent="0">
              <a:spcAft>
                <a:spcPts val="600"/>
              </a:spcAft>
              <a:buNone/>
            </a:pPr>
            <a:r>
              <a:rPr lang="en-US" altLang="zh-TW" dirty="0"/>
              <a:t>100% </a:t>
            </a:r>
            <a:r>
              <a:rPr lang="zh-TW" altLang="en-US" dirty="0"/>
              <a:t>投入市場，參與大盤市場報酬，策略單純且具代表性，</a:t>
            </a:r>
            <a:br>
              <a:rPr lang="en-US" altLang="zh-TW" dirty="0"/>
            </a:br>
            <a:r>
              <a:rPr lang="zh-TW" altLang="en-US" dirty="0"/>
              <a:t>但資金全數投入市場，缺少保留現金後的配置與調整彈性。</a:t>
            </a:r>
          </a:p>
          <a:p>
            <a:pPr lvl="1"/>
            <a:r>
              <a:rPr lang="en-US" altLang="zh-TW" sz="1600" b="1" dirty="0"/>
              <a:t>00631</a:t>
            </a:r>
            <a:r>
              <a:rPr lang="en" altLang="zh-TW" sz="1600" b="1" dirty="0"/>
              <a:t>L 50</a:t>
            </a:r>
            <a:r>
              <a:rPr lang="zh-TW" altLang="en" sz="1600" b="1" dirty="0"/>
              <a:t>：</a:t>
            </a:r>
            <a:r>
              <a:rPr lang="en" altLang="zh-TW" sz="1600" b="1" dirty="0"/>
              <a:t>50</a:t>
            </a:r>
            <a:r>
              <a:rPr lang="zh-TW" altLang="en" sz="1600" b="1" dirty="0"/>
              <a:t>：</a:t>
            </a:r>
            <a:r>
              <a:rPr lang="zh-TW" altLang="en-US" sz="1600" b="1" dirty="0"/>
              <a:t>高報酬、高波動策略</a:t>
            </a:r>
            <a:endParaRPr lang="en-US" altLang="zh-TW" sz="1600" b="1" dirty="0"/>
          </a:p>
          <a:p>
            <a:pPr lvl="1" indent="0">
              <a:spcAft>
                <a:spcPts val="600"/>
              </a:spcAft>
              <a:buNone/>
            </a:pPr>
            <a:r>
              <a:rPr lang="zh-TW" altLang="en-US" dirty="0"/>
              <a:t>初始以 </a:t>
            </a:r>
            <a:r>
              <a:rPr lang="en-US" altLang="zh-TW" dirty="0"/>
              <a:t>50% </a:t>
            </a:r>
            <a:r>
              <a:rPr lang="zh-TW" altLang="en-US" dirty="0"/>
              <a:t>資金投入 </a:t>
            </a:r>
            <a:r>
              <a:rPr lang="en-US" altLang="zh-TW" dirty="0"/>
              <a:t>2 </a:t>
            </a:r>
            <a:r>
              <a:rPr lang="zh-TW" altLang="en-US" dirty="0"/>
              <a:t>倍 </a:t>
            </a:r>
            <a:r>
              <a:rPr lang="en" altLang="zh-TW" dirty="0"/>
              <a:t>ETF</a:t>
            </a:r>
            <a:r>
              <a:rPr lang="zh-TW" altLang="en" dirty="0"/>
              <a:t>，</a:t>
            </a:r>
            <a:r>
              <a:rPr lang="zh-TW" altLang="en-US" dirty="0"/>
              <a:t>建立接近 </a:t>
            </a:r>
            <a:r>
              <a:rPr lang="en-US" altLang="zh-TW" dirty="0"/>
              <a:t>100% </a:t>
            </a:r>
            <a:r>
              <a:rPr lang="zh-TW" altLang="en-US" dirty="0"/>
              <a:t>市場曝險；</a:t>
            </a:r>
            <a:br>
              <a:rPr lang="en-US" altLang="zh-TW" dirty="0"/>
            </a:br>
            <a:r>
              <a:rPr lang="zh-TW" altLang="en-US" dirty="0"/>
              <a:t>若不再平衡，部位會隨市場上漲被動放大，帶來較高報酬，也伴隨更大的波動與回撤。 </a:t>
            </a:r>
          </a:p>
          <a:p>
            <a:pPr lvl="1"/>
            <a:r>
              <a:rPr lang="en-US" altLang="zh-TW" sz="1600" b="1" dirty="0"/>
              <a:t>00631</a:t>
            </a:r>
            <a:r>
              <a:rPr lang="en" altLang="zh-TW" sz="1600" b="1" dirty="0"/>
              <a:t>L </a:t>
            </a:r>
            <a:r>
              <a:rPr lang="zh-TW" altLang="en-US" sz="1600" b="1" dirty="0"/>
              <a:t>年度再平衡：風險控制型槓桿配置</a:t>
            </a:r>
            <a:endParaRPr lang="en-US" altLang="zh-TW" sz="1600" dirty="0"/>
          </a:p>
          <a:p>
            <a:pPr lvl="1" indent="0">
              <a:spcAft>
                <a:spcPts val="600"/>
              </a:spcAft>
              <a:buNone/>
            </a:pPr>
            <a:r>
              <a:rPr lang="zh-TW" altLang="en-US" dirty="0"/>
              <a:t>透過定期再平衡維持目標曝險，讓風險接近 </a:t>
            </a:r>
            <a:r>
              <a:rPr lang="en-US" altLang="zh-TW" dirty="0"/>
              <a:t>0050</a:t>
            </a:r>
            <a:r>
              <a:rPr lang="zh-TW" altLang="en-US" dirty="0"/>
              <a:t>，</a:t>
            </a:r>
            <a:br>
              <a:rPr lang="en-US" altLang="zh-TW" dirty="0"/>
            </a:br>
            <a:r>
              <a:rPr lang="zh-TW" altLang="en-US" dirty="0"/>
              <a:t>同時保留現金部位，提供下跌加碼、生活支出與策略調整的彈性。</a:t>
            </a:r>
            <a:endParaRPr lang="en-US" altLang="zh-TW" b="1" dirty="0"/>
          </a:p>
          <a:p>
            <a:r>
              <a:rPr lang="zh-TW" altLang="en-US" sz="1800" b="1" dirty="0"/>
              <a:t>槓桿 </a:t>
            </a:r>
            <a:r>
              <a:rPr lang="en" altLang="zh-TW" sz="1800" b="1" dirty="0"/>
              <a:t>ETF</a:t>
            </a:r>
            <a:r>
              <a:rPr lang="zh-TW" altLang="en-US" sz="1800" b="1" dirty="0"/>
              <a:t> 可應用於生命週期投資法：</a:t>
            </a:r>
          </a:p>
          <a:p>
            <a:pPr lvl="1"/>
            <a:r>
              <a:rPr lang="zh-TW" altLang="en-US" sz="1600" b="1" dirty="0"/>
              <a:t>投資初期</a:t>
            </a:r>
            <a:r>
              <a:rPr lang="zh-TW" altLang="en-US" sz="1600" dirty="0"/>
              <a:t>：可用槓桿 </a:t>
            </a:r>
            <a:r>
              <a:rPr lang="en" altLang="zh-TW" sz="1600" dirty="0"/>
              <a:t>ETF </a:t>
            </a:r>
            <a:r>
              <a:rPr lang="zh-TW" altLang="en-US" sz="1600" dirty="0"/>
              <a:t>提高股票曝險，提升資產累積效率。 </a:t>
            </a:r>
          </a:p>
          <a:p>
            <a:pPr lvl="1"/>
            <a:r>
              <a:rPr lang="zh-TW" altLang="en-US" sz="1600" b="1" dirty="0"/>
              <a:t>資產累積期</a:t>
            </a:r>
            <a:r>
              <a:rPr lang="zh-TW" altLang="en-US" sz="1600" dirty="0"/>
              <a:t>：透過再平衡維持曝險，避免槓桿部位隨上漲過度膨脹。 </a:t>
            </a:r>
          </a:p>
          <a:p>
            <a:pPr lvl="1">
              <a:spcAft>
                <a:spcPts val="1200"/>
              </a:spcAft>
            </a:pPr>
            <a:r>
              <a:rPr lang="zh-TW" altLang="en-US" sz="1600" b="1" dirty="0"/>
              <a:t>資產成熟期</a:t>
            </a:r>
            <a:r>
              <a:rPr lang="zh-TW" altLang="en-US" sz="1600" dirty="0"/>
              <a:t>：逐步降低槓桿與股票曝險，回到可承受的風險水準。</a:t>
            </a:r>
            <a:endParaRPr lang="en-US" altLang="zh-TW" dirty="0"/>
          </a:p>
          <a:p>
            <a:r>
              <a:rPr lang="zh-TW" altLang="en-US" sz="1400" dirty="0"/>
              <a:t>延伸閱讀：</a:t>
            </a:r>
            <a:r>
              <a:rPr lang="en-US" altLang="zh-TW" sz="1400" dirty="0"/>
              <a:t>《</a:t>
            </a:r>
            <a:r>
              <a:rPr lang="zh-TW" altLang="en-US" sz="1400" dirty="0">
                <a:hlinkClick r:id="rId3"/>
              </a:rPr>
              <a:t>槓桿 </a:t>
            </a:r>
            <a:r>
              <a:rPr lang="en" altLang="zh-TW" sz="1400" dirty="0">
                <a:hlinkClick r:id="rId3"/>
              </a:rPr>
              <a:t>ETF </a:t>
            </a:r>
            <a:r>
              <a:rPr lang="zh-TW" altLang="en-US" sz="1400" dirty="0">
                <a:hlinkClick r:id="rId3"/>
              </a:rPr>
              <a:t>投資法：用 </a:t>
            </a:r>
            <a:r>
              <a:rPr lang="en-US" altLang="zh-TW" sz="1400" dirty="0">
                <a:hlinkClick r:id="rId3"/>
              </a:rPr>
              <a:t>50 </a:t>
            </a:r>
            <a:r>
              <a:rPr lang="zh-TW" altLang="en-US" sz="1400" dirty="0">
                <a:hlinkClick r:id="rId3"/>
              </a:rPr>
              <a:t>正 </a:t>
            </a:r>
            <a:r>
              <a:rPr lang="en-US" altLang="zh-TW" sz="1400" dirty="0">
                <a:hlinkClick r:id="rId3"/>
              </a:rPr>
              <a:t>2 </a:t>
            </a:r>
            <a:r>
              <a:rPr lang="zh-TW" altLang="en-US" sz="1400" dirty="0">
                <a:hlinkClick r:id="rId3"/>
              </a:rPr>
              <a:t>輕鬆打敗 </a:t>
            </a:r>
            <a:r>
              <a:rPr lang="en-US" altLang="zh-TW" sz="1400" dirty="0">
                <a:hlinkClick r:id="rId3"/>
              </a:rPr>
              <a:t>0050 </a:t>
            </a:r>
            <a:r>
              <a:rPr lang="zh-TW" altLang="en-US" sz="1400" dirty="0">
                <a:hlinkClick r:id="rId3"/>
              </a:rPr>
              <a:t>＆ </a:t>
            </a:r>
            <a:r>
              <a:rPr lang="en-US" altLang="zh-TW" sz="1400" dirty="0">
                <a:hlinkClick r:id="rId3"/>
              </a:rPr>
              <a:t>0056</a:t>
            </a:r>
            <a:r>
              <a:rPr lang="zh-TW" altLang="en-US" sz="1400" dirty="0">
                <a:hlinkClick r:id="rId3"/>
              </a:rPr>
              <a:t>，提早退休</a:t>
            </a:r>
            <a:r>
              <a:rPr lang="en-US" altLang="zh-TW" sz="1400" dirty="0"/>
              <a:t>》</a:t>
            </a:r>
            <a:endParaRPr lang="en-US" altLang="zh-TW" sz="1200" b="1" dirty="0"/>
          </a:p>
          <a:p>
            <a:endParaRPr lang="zh-TW" altLang="en-US" sz="1400" dirty="0"/>
          </a:p>
        </p:txBody>
      </p:sp>
      <p:pic>
        <p:nvPicPr>
          <p:cNvPr id="5" name="圖片 4" descr="一張含有 文字, 圖書, 標籤, 出版 的圖片&#10;&#10;AI 產生的內容可能不正確。">
            <a:extLst>
              <a:ext uri="{FF2B5EF4-FFF2-40B4-BE49-F238E27FC236}">
                <a16:creationId xmlns:a16="http://schemas.microsoft.com/office/drawing/2014/main" id="{B2AB5E2B-0B5C-B4B2-DEA9-1B26C3134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230" y="1259651"/>
            <a:ext cx="323539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83151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4321</TotalTime>
  <Words>2823</Words>
  <Application>Microsoft Macintosh PowerPoint</Application>
  <PresentationFormat>自訂</PresentationFormat>
  <Paragraphs>398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微軟正黑體</vt:lpstr>
      <vt:lpstr>微軟正黑體</vt:lpstr>
      <vt:lpstr>標準系統字體</vt:lpstr>
      <vt:lpstr>Microsoft JhengHei Light</vt:lpstr>
      <vt:lpstr>Arial</vt:lpstr>
      <vt:lpstr>Roboto</vt:lpstr>
      <vt:lpstr>Times New Roman</vt:lpstr>
      <vt:lpstr>數科處範本</vt:lpstr>
      <vt:lpstr>槓桿 ETF 投資法</vt:lpstr>
      <vt:lpstr>什麼是槓桿 ETF？</vt:lpstr>
      <vt:lpstr>曝險比例與資金配置</vt:lpstr>
      <vt:lpstr>年度再平衡策略</vt:lpstr>
      <vt:lpstr>回測設定</vt:lpstr>
      <vt:lpstr>策略一：0050（100% 曝險）</vt:lpstr>
      <vt:lpstr>策略二：00631L（50:50 配置法）</vt:lpstr>
      <vt:lpstr>策略三：00631L（50:50 年度再平衡）</vt:lpstr>
      <vt:lpstr>三種策略比較</vt:lpstr>
      <vt:lpstr>保留現金的策略價值</vt:lpstr>
      <vt:lpstr>總結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172</cp:revision>
  <dcterms:modified xsi:type="dcterms:W3CDTF">2026-06-29T02:08:07Z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