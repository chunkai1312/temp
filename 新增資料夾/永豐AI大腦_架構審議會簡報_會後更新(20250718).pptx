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1.xml" ContentType="application/vnd.openxmlformats-officedocument.presentationml.tags+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heme/theme3.xml" ContentType="application/vnd.openxmlformats-officedocument.theme+xml"/>
  <Override PartName="/ppt/tags/tag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9" r:id="rId5"/>
  </p:sldMasterIdLst>
  <p:notesMasterIdLst>
    <p:notesMasterId r:id="rId26"/>
  </p:notesMasterIdLst>
  <p:sldIdLst>
    <p:sldId id="3580" r:id="rId6"/>
    <p:sldId id="2007578854" r:id="rId7"/>
    <p:sldId id="3611" r:id="rId8"/>
    <p:sldId id="2007577810" r:id="rId9"/>
    <p:sldId id="2007577850" r:id="rId10"/>
    <p:sldId id="2007577849" r:id="rId11"/>
    <p:sldId id="2007579675" r:id="rId12"/>
    <p:sldId id="2007577851" r:id="rId13"/>
    <p:sldId id="2007577852" r:id="rId14"/>
    <p:sldId id="2007579677" r:id="rId15"/>
    <p:sldId id="2007577860" r:id="rId16"/>
    <p:sldId id="2007579676" r:id="rId17"/>
    <p:sldId id="2007579671" r:id="rId18"/>
    <p:sldId id="2007579670" r:id="rId19"/>
    <p:sldId id="2007579674" r:id="rId20"/>
    <p:sldId id="2007578853" r:id="rId21"/>
    <p:sldId id="2007579669" r:id="rId22"/>
    <p:sldId id="2007579672" r:id="rId23"/>
    <p:sldId id="2007579673" r:id="rId24"/>
    <p:sldId id="2007579678" r:id="rId25"/>
  </p:sldIdLst>
  <p:sldSz cx="12192000" cy="6858000"/>
  <p:notesSz cx="6797675" cy="9926638"/>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李倩兮-數位金融部-證券" initials="李倩兮-數位金融部-證券"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BF5"/>
    <a:srgbClr val="CFD5EA"/>
    <a:srgbClr val="000099"/>
    <a:srgbClr val="FFFF66"/>
    <a:srgbClr val="CCFF66"/>
    <a:srgbClr val="FFFF99"/>
    <a:srgbClr val="0066FF"/>
    <a:srgbClr val="FF5050"/>
    <a:srgbClr val="009900"/>
    <a:srgbClr val="00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淺色樣式 1 - 輔色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505E3EF-67EA-436B-97B2-0124C06EBD24}" styleName="中等深淺樣式 4 - 輔色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FECB4D8-DB02-4DC6-A0A2-4F2EBAE1DC90}" styleName="中等深淺樣式 1 - 輔色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A111915-BE36-4E01-A7E5-04B1672EAD32}" styleName="淺色樣式 2 - 輔色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B301B821-A1FF-4177-AEE7-76D212191A09}" styleName="中等深淺樣式 1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DF18680-E054-41AD-8BC1-D1AEF772440D}" styleName="中等深淺樣式 2 - 輔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16DA210-FB5B-4158-B5E0-FEB733F419BA}" styleName="淺色樣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淺色樣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34" autoAdjust="0"/>
    <p:restoredTop sz="94660"/>
  </p:normalViewPr>
  <p:slideViewPr>
    <p:cSldViewPr snapToGrid="0">
      <p:cViewPr varScale="1">
        <p:scale>
          <a:sx n="104" d="100"/>
          <a:sy n="104" d="100"/>
        </p:scale>
        <p:origin x="888" y="114"/>
      </p:cViewPr>
      <p:guideLst>
        <p:guide orient="horz" pos="2183"/>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commentAuthors" Target="commentAuthors.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BC0ECE87-2A18-420B-823A-8F9068BF64DC}" type="datetimeFigureOut">
              <a:rPr lang="zh-TW" altLang="en-US" smtClean="0"/>
              <a:t>2026/1/21</a:t>
            </a:fld>
            <a:endParaRPr lang="zh-TW" altLang="en-US"/>
          </a:p>
        </p:txBody>
      </p:sp>
      <p:sp>
        <p:nvSpPr>
          <p:cNvPr id="4" name="投影片影像版面配置區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F3C294F6-E268-4047-B129-4672D7BF69FC}" type="slidenum">
              <a:rPr lang="zh-TW" altLang="en-US" smtClean="0"/>
              <a:t>‹#›</a:t>
            </a:fld>
            <a:endParaRPr lang="zh-TW" altLang="en-US"/>
          </a:p>
        </p:txBody>
      </p:sp>
    </p:spTree>
    <p:extLst>
      <p:ext uri="{BB962C8B-B14F-4D97-AF65-F5344CB8AC3E}">
        <p14:creationId xmlns:p14="http://schemas.microsoft.com/office/powerpoint/2010/main" val="28345657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2.xml"/><Relationship Id="rId1" Type="http://schemas.openxmlformats.org/officeDocument/2006/relationships/tags" Target="../tags/tag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標題投影片">
    <p:spTree>
      <p:nvGrpSpPr>
        <p:cNvPr id="1" name=""/>
        <p:cNvGrpSpPr/>
        <p:nvPr/>
      </p:nvGrpSpPr>
      <p:grpSpPr>
        <a:xfrm>
          <a:off x="0" y="0"/>
          <a:ext cx="0" cy="0"/>
          <a:chOff x="0" y="0"/>
          <a:chExt cx="0" cy="0"/>
        </a:xfrm>
      </p:grpSpPr>
      <p:grpSp>
        <p:nvGrpSpPr>
          <p:cNvPr id="5" name="McK Title Elements"/>
          <p:cNvGrpSpPr>
            <a:grpSpLocks/>
          </p:cNvGrpSpPr>
          <p:nvPr/>
        </p:nvGrpSpPr>
        <p:grpSpPr bwMode="auto">
          <a:xfrm>
            <a:off x="3591727" y="2183416"/>
            <a:ext cx="6840045" cy="4601696"/>
            <a:chOff x="1663" y="1348"/>
            <a:chExt cx="3167" cy="2841"/>
          </a:xfrm>
        </p:grpSpPr>
        <p:sp>
          <p:nvSpPr>
            <p:cNvPr id="6" name="McK Confidential" hidden="1"/>
            <p:cNvSpPr txBox="1">
              <a:spLocks noChangeArrowheads="1"/>
            </p:cNvSpPr>
            <p:nvPr/>
          </p:nvSpPr>
          <p:spPr bwMode="auto">
            <a:xfrm>
              <a:off x="1663" y="1348"/>
              <a:ext cx="93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400" b="0">
                  <a:ea typeface="新細明體" pitchFamily="18" charset="-120"/>
                </a:rPr>
                <a:t>CONFIDENTIAL</a:t>
              </a:r>
            </a:p>
          </p:txBody>
        </p:sp>
        <p:sp>
          <p:nvSpPr>
            <p:cNvPr id="7" name="McK Document" hidden="1"/>
            <p:cNvSpPr txBox="1">
              <a:spLocks noChangeArrowheads="1"/>
            </p:cNvSpPr>
            <p:nvPr/>
          </p:nvSpPr>
          <p:spPr bwMode="auto">
            <a:xfrm>
              <a:off x="1663" y="3049"/>
              <a:ext cx="316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400" b="0">
                  <a:ea typeface="新細明體" pitchFamily="18" charset="-120"/>
                </a:rPr>
                <a:t>Document</a:t>
              </a:r>
            </a:p>
          </p:txBody>
        </p:sp>
        <p:sp>
          <p:nvSpPr>
            <p:cNvPr id="8" name="McK Date" hidden="1"/>
            <p:cNvSpPr txBox="1">
              <a:spLocks noChangeArrowheads="1"/>
            </p:cNvSpPr>
            <p:nvPr/>
          </p:nvSpPr>
          <p:spPr bwMode="auto">
            <a:xfrm>
              <a:off x="1663" y="3216"/>
              <a:ext cx="316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400" b="0">
                  <a:ea typeface="新細明體" pitchFamily="18" charset="-120"/>
                </a:rPr>
                <a:t>Date</a:t>
              </a:r>
            </a:p>
          </p:txBody>
        </p:sp>
        <p:sp>
          <p:nvSpPr>
            <p:cNvPr id="9" name="McK Disclaimer" hidden="1"/>
            <p:cNvSpPr>
              <a:spLocks noChangeArrowheads="1"/>
            </p:cNvSpPr>
            <p:nvPr>
              <p:custDataLst>
                <p:tags r:id="rId1"/>
              </p:custDataLst>
            </p:nvPr>
          </p:nvSpPr>
          <p:spPr bwMode="auto">
            <a:xfrm>
              <a:off x="1663" y="3847"/>
              <a:ext cx="2303" cy="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defTabSz="804863" eaLnBrk="0" hangingPunct="0">
                <a:defRPr sz="4000" b="1">
                  <a:solidFill>
                    <a:schemeClr val="tx1"/>
                  </a:solidFill>
                  <a:latin typeface="Arial" charset="0"/>
                  <a:ea typeface="华文楷体" pitchFamily="2" charset="-122"/>
                </a:defRPr>
              </a:lvl1pPr>
              <a:lvl2pPr marL="742950" indent="-285750" defTabSz="804863" eaLnBrk="0" hangingPunct="0">
                <a:defRPr sz="4000" b="1">
                  <a:solidFill>
                    <a:schemeClr val="tx1"/>
                  </a:solidFill>
                  <a:latin typeface="Arial" charset="0"/>
                  <a:ea typeface="华文楷体" pitchFamily="2" charset="-122"/>
                </a:defRPr>
              </a:lvl2pPr>
              <a:lvl3pPr marL="1143000" indent="-228600" defTabSz="804863" eaLnBrk="0" hangingPunct="0">
                <a:defRPr sz="4000" b="1">
                  <a:solidFill>
                    <a:schemeClr val="tx1"/>
                  </a:solidFill>
                  <a:latin typeface="Arial" charset="0"/>
                  <a:ea typeface="华文楷体" pitchFamily="2" charset="-122"/>
                </a:defRPr>
              </a:lvl3pPr>
              <a:lvl4pPr marL="1600200" indent="-228600" defTabSz="804863" eaLnBrk="0" hangingPunct="0">
                <a:defRPr sz="4000" b="1">
                  <a:solidFill>
                    <a:schemeClr val="tx1"/>
                  </a:solidFill>
                  <a:latin typeface="Arial" charset="0"/>
                  <a:ea typeface="华文楷体" pitchFamily="2" charset="-122"/>
                </a:defRPr>
              </a:lvl4pPr>
              <a:lvl5pPr marL="2057400" indent="-228600" defTabSz="804863" eaLnBrk="0" hangingPunct="0">
                <a:defRPr sz="4000" b="1">
                  <a:solidFill>
                    <a:schemeClr val="tx1"/>
                  </a:solidFill>
                  <a:latin typeface="Arial" charset="0"/>
                  <a:ea typeface="华文楷体" pitchFamily="2" charset="-122"/>
                </a:defRPr>
              </a:lvl5pPr>
              <a:lvl6pPr marL="2514600" indent="-228600" defTabSz="804863"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defTabSz="804863"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defTabSz="804863"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defTabSz="804863" eaLnBrk="0" fontAlgn="base" hangingPunct="0">
                <a:spcBef>
                  <a:spcPct val="0"/>
                </a:spcBef>
                <a:spcAft>
                  <a:spcPct val="0"/>
                </a:spcAft>
                <a:defRPr sz="4000" b="1">
                  <a:solidFill>
                    <a:schemeClr val="tx1"/>
                  </a:solidFill>
                  <a:latin typeface="Arial" charset="0"/>
                  <a:ea typeface="华文楷体" pitchFamily="2" charset="-122"/>
                </a:defRPr>
              </a:lvl9pPr>
            </a:lstStyle>
            <a:p>
              <a:pPr>
                <a:defRPr/>
              </a:pPr>
              <a:r>
                <a:rPr lang="en-US" altLang="zh-TW" sz="900" b="0">
                  <a:ea typeface="新細明體" pitchFamily="18" charset="-120"/>
                </a:rPr>
                <a:t>This report is solely for the use of client personnel.  No part of it may be circulated, quoted, or reproduced for distribution outside the client organization without prior written approval from McKinsey &amp; Company. This material was used by McKinsey &amp; Company during an oral presentation; it is not a complete record of the discussion.</a:t>
              </a:r>
            </a:p>
          </p:txBody>
        </p:sp>
      </p:grpSp>
      <p:sp>
        <p:nvSpPr>
          <p:cNvPr id="15" name="標題 1"/>
          <p:cNvSpPr>
            <a:spLocks noGrp="1"/>
          </p:cNvSpPr>
          <p:nvPr>
            <p:ph type="title"/>
          </p:nvPr>
        </p:nvSpPr>
        <p:spPr>
          <a:xfrm>
            <a:off x="1559542" y="2312997"/>
            <a:ext cx="9100011" cy="717546"/>
          </a:xfrm>
          <a:prstGeom prst="rect">
            <a:avLst/>
          </a:prstGeom>
        </p:spPr>
        <p:txBody>
          <a:bodyPr lIns="93296" tIns="46648" rIns="93296" bIns="46648" anchor="ctr"/>
          <a:lstStyle>
            <a:lvl1pPr algn="ctr">
              <a:defRPr sz="4000">
                <a:solidFill>
                  <a:schemeClr val="tx1"/>
                </a:solidFill>
                <a:latin typeface="+mn-ea"/>
                <a:ea typeface="+mn-ea"/>
              </a:defRPr>
            </a:lvl1pPr>
          </a:lstStyle>
          <a:p>
            <a:r>
              <a:rPr lang="zh-TW" altLang="en-US"/>
              <a:t>按一下以編輯母片標題樣式</a:t>
            </a:r>
          </a:p>
        </p:txBody>
      </p:sp>
      <p:sp>
        <p:nvSpPr>
          <p:cNvPr id="19" name="文字版面配置區 3"/>
          <p:cNvSpPr>
            <a:spLocks noGrp="1"/>
          </p:cNvSpPr>
          <p:nvPr>
            <p:ph type="body" sz="half" idx="2"/>
          </p:nvPr>
        </p:nvSpPr>
        <p:spPr>
          <a:xfrm>
            <a:off x="2858369" y="4552721"/>
            <a:ext cx="6502357" cy="559288"/>
          </a:xfrm>
          <a:prstGeom prst="rect">
            <a:avLst/>
          </a:prstGeom>
        </p:spPr>
        <p:txBody>
          <a:bodyPr lIns="93296" tIns="46648" rIns="93296" bIns="46648" anchor="ctr"/>
          <a:lstStyle>
            <a:lvl1pPr marL="0" indent="0" algn="ctr">
              <a:buNone/>
              <a:defRPr sz="2900" b="1"/>
            </a:lvl1pPr>
            <a:lvl2pPr marL="466481" indent="0">
              <a:buNone/>
              <a:defRPr sz="1200"/>
            </a:lvl2pPr>
            <a:lvl3pPr marL="932962" indent="0">
              <a:buNone/>
              <a:defRPr sz="1000"/>
            </a:lvl3pPr>
            <a:lvl4pPr marL="1399443" indent="0">
              <a:buNone/>
              <a:defRPr sz="900"/>
            </a:lvl4pPr>
            <a:lvl5pPr marL="1865925" indent="0">
              <a:buNone/>
              <a:defRPr sz="900"/>
            </a:lvl5pPr>
            <a:lvl6pPr marL="2332406" indent="0">
              <a:buNone/>
              <a:defRPr sz="900"/>
            </a:lvl6pPr>
            <a:lvl7pPr marL="2798887" indent="0">
              <a:buNone/>
              <a:defRPr sz="900"/>
            </a:lvl7pPr>
            <a:lvl8pPr marL="3265368" indent="0">
              <a:buNone/>
              <a:defRPr sz="900"/>
            </a:lvl8pPr>
            <a:lvl9pPr marL="3731849" indent="0">
              <a:buNone/>
              <a:defRPr sz="900"/>
            </a:lvl9pPr>
          </a:lstStyle>
          <a:p>
            <a:pPr lvl="0"/>
            <a:r>
              <a:rPr lang="zh-TW" altLang="en-US"/>
              <a:t>編輯母片文字樣式</a:t>
            </a:r>
          </a:p>
        </p:txBody>
      </p:sp>
      <p:sp>
        <p:nvSpPr>
          <p:cNvPr id="20" name="文字版面配置區 3"/>
          <p:cNvSpPr>
            <a:spLocks noGrp="1"/>
          </p:cNvSpPr>
          <p:nvPr>
            <p:ph type="body" sz="half" idx="10"/>
          </p:nvPr>
        </p:nvSpPr>
        <p:spPr>
          <a:xfrm>
            <a:off x="3548294" y="5584121"/>
            <a:ext cx="5122507" cy="414941"/>
          </a:xfrm>
          <a:prstGeom prst="rect">
            <a:avLst/>
          </a:prstGeom>
        </p:spPr>
        <p:txBody>
          <a:bodyPr lIns="93296" tIns="46648" rIns="93296" bIns="46648" anchor="ctr"/>
          <a:lstStyle>
            <a:lvl1pPr marL="0" indent="0" algn="ctr">
              <a:buNone/>
              <a:defRPr sz="1600" b="1">
                <a:latin typeface="+mj-ea"/>
                <a:ea typeface="+mj-ea"/>
              </a:defRPr>
            </a:lvl1pPr>
            <a:lvl2pPr marL="466481" indent="0">
              <a:buNone/>
              <a:defRPr sz="1200"/>
            </a:lvl2pPr>
            <a:lvl3pPr marL="932962" indent="0">
              <a:buNone/>
              <a:defRPr sz="1000"/>
            </a:lvl3pPr>
            <a:lvl4pPr marL="1399443" indent="0">
              <a:buNone/>
              <a:defRPr sz="900"/>
            </a:lvl4pPr>
            <a:lvl5pPr marL="1865925" indent="0">
              <a:buNone/>
              <a:defRPr sz="900"/>
            </a:lvl5pPr>
            <a:lvl6pPr marL="2332406" indent="0">
              <a:buNone/>
              <a:defRPr sz="900"/>
            </a:lvl6pPr>
            <a:lvl7pPr marL="2798887" indent="0">
              <a:buNone/>
              <a:defRPr sz="900"/>
            </a:lvl7pPr>
            <a:lvl8pPr marL="3265368" indent="0">
              <a:buNone/>
              <a:defRPr sz="900"/>
            </a:lvl8pPr>
            <a:lvl9pPr marL="3731849" indent="0">
              <a:buNone/>
              <a:defRPr sz="900"/>
            </a:lvl9pPr>
          </a:lstStyle>
          <a:p>
            <a:pPr lvl="0"/>
            <a:r>
              <a:rPr lang="zh-TW" altLang="en-US"/>
              <a:t>編輯母片文字樣式</a:t>
            </a:r>
          </a:p>
        </p:txBody>
      </p:sp>
      <p:pic>
        <p:nvPicPr>
          <p:cNvPr id="12" name="圖片 11">
            <a:extLst>
              <a:ext uri="{FF2B5EF4-FFF2-40B4-BE49-F238E27FC236}">
                <a16:creationId xmlns:a16="http://schemas.microsoft.com/office/drawing/2014/main" id="{2763EF52-3C42-441E-9CAC-467C432F95A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73337" y="325520"/>
            <a:ext cx="2269864" cy="548260"/>
          </a:xfrm>
          <a:prstGeom prst="rect">
            <a:avLst/>
          </a:prstGeom>
        </p:spPr>
      </p:pic>
      <p:sp>
        <p:nvSpPr>
          <p:cNvPr id="16" name="Line 197">
            <a:extLst>
              <a:ext uri="{FF2B5EF4-FFF2-40B4-BE49-F238E27FC236}">
                <a16:creationId xmlns:a16="http://schemas.microsoft.com/office/drawing/2014/main" id="{A7369293-6F36-440A-AA7A-D5C601E53E5B}"/>
              </a:ext>
            </a:extLst>
          </p:cNvPr>
          <p:cNvSpPr>
            <a:spLocks noChangeShapeType="1"/>
          </p:cNvSpPr>
          <p:nvPr userDrawn="1"/>
        </p:nvSpPr>
        <p:spPr bwMode="auto">
          <a:xfrm>
            <a:off x="1194430" y="3061656"/>
            <a:ext cx="9830235" cy="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zh-TW" altLang="en-US" sz="400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936929736"/>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只有標題">
    <p:spTree>
      <p:nvGrpSpPr>
        <p:cNvPr id="1" name=""/>
        <p:cNvGrpSpPr/>
        <p:nvPr/>
      </p:nvGrpSpPr>
      <p:grpSpPr>
        <a:xfrm>
          <a:off x="0" y="0"/>
          <a:ext cx="0" cy="0"/>
          <a:chOff x="0" y="0"/>
          <a:chExt cx="0" cy="0"/>
        </a:xfrm>
      </p:grpSpPr>
      <p:sp>
        <p:nvSpPr>
          <p:cNvPr id="3" name="標題 1">
            <a:extLst>
              <a:ext uri="{FF2B5EF4-FFF2-40B4-BE49-F238E27FC236}">
                <a16:creationId xmlns:a16="http://schemas.microsoft.com/office/drawing/2014/main" id="{308DA9AE-1224-417B-814C-DC2D5F72A1A1}"/>
              </a:ext>
            </a:extLst>
          </p:cNvPr>
          <p:cNvSpPr>
            <a:spLocks noGrp="1"/>
          </p:cNvSpPr>
          <p:nvPr>
            <p:ph type="title"/>
          </p:nvPr>
        </p:nvSpPr>
        <p:spPr>
          <a:xfrm>
            <a:off x="365895" y="117670"/>
            <a:ext cx="11342695" cy="635226"/>
          </a:xfrm>
          <a:prstGeom prst="rect">
            <a:avLst/>
          </a:prstGeom>
        </p:spPr>
        <p:txBody>
          <a:bodyPr lIns="93296" tIns="46648" rIns="93296" bIns="46648" anchor="ctr"/>
          <a:lstStyle>
            <a:lvl1pPr algn="l">
              <a:defRPr sz="3200" b="0">
                <a:solidFill>
                  <a:schemeClr val="tx1"/>
                </a:solidFill>
                <a:latin typeface="+mn-ea"/>
                <a:ea typeface="+mn-ea"/>
              </a:defRPr>
            </a:lvl1pPr>
          </a:lstStyle>
          <a:p>
            <a:r>
              <a:rPr lang="zh-TW" altLang="en-US"/>
              <a:t>按一下以編輯母片標題樣式</a:t>
            </a:r>
          </a:p>
        </p:txBody>
      </p:sp>
    </p:spTree>
    <p:extLst>
      <p:ext uri="{BB962C8B-B14F-4D97-AF65-F5344CB8AC3E}">
        <p14:creationId xmlns:p14="http://schemas.microsoft.com/office/powerpoint/2010/main" val="3288787392"/>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標題及物件">
    <p:spTree>
      <p:nvGrpSpPr>
        <p:cNvPr id="1" name=""/>
        <p:cNvGrpSpPr/>
        <p:nvPr/>
      </p:nvGrpSpPr>
      <p:grpSpPr>
        <a:xfrm>
          <a:off x="0" y="0"/>
          <a:ext cx="0" cy="0"/>
          <a:chOff x="0" y="0"/>
          <a:chExt cx="0" cy="0"/>
        </a:xfrm>
      </p:grpSpPr>
      <p:sp>
        <p:nvSpPr>
          <p:cNvPr id="3" name="內容版面配置區 2"/>
          <p:cNvSpPr>
            <a:spLocks noGrp="1"/>
          </p:cNvSpPr>
          <p:nvPr>
            <p:ph sz="quarter" idx="10"/>
          </p:nvPr>
        </p:nvSpPr>
        <p:spPr>
          <a:xfrm>
            <a:off x="406041" y="907057"/>
            <a:ext cx="11336724" cy="5474738"/>
          </a:xfrm>
          <a:prstGeom prst="rect">
            <a:avLst/>
          </a:prstGeom>
        </p:spPr>
        <p:txBody>
          <a:bodyPr lIns="93296" tIns="46648" rIns="93296" bIns="46648"/>
          <a:lstStyle>
            <a:lvl1pPr>
              <a:spcBef>
                <a:spcPts val="0"/>
              </a:spcBef>
              <a:spcAft>
                <a:spcPts val="612"/>
              </a:spcAft>
              <a:defRPr sz="2400">
                <a:latin typeface="Arial" panose="020B0604020202020204" pitchFamily="34" charset="0"/>
                <a:cs typeface="Arial" panose="020B0604020202020204" pitchFamily="34" charset="0"/>
              </a:defRPr>
            </a:lvl1pPr>
            <a:lvl2pPr marL="147396" indent="-145775">
              <a:spcBef>
                <a:spcPts val="0"/>
              </a:spcBef>
              <a:spcAft>
                <a:spcPts val="612"/>
              </a:spcAft>
              <a:buFont typeface="Wingdings" panose="05000000000000000000" pitchFamily="2" charset="2"/>
              <a:buChar char="n"/>
              <a:defRPr sz="2000">
                <a:latin typeface="Arial" panose="020B0604020202020204" pitchFamily="34" charset="0"/>
                <a:cs typeface="Arial" panose="020B0604020202020204" pitchFamily="34" charset="0"/>
              </a:defRPr>
            </a:lvl2pPr>
            <a:lvl3pPr marL="301269" indent="-152254">
              <a:spcBef>
                <a:spcPts val="0"/>
              </a:spcBef>
              <a:spcAft>
                <a:spcPts val="612"/>
              </a:spcAft>
              <a:buFont typeface="Wingdings" panose="05000000000000000000" pitchFamily="2" charset="2"/>
              <a:buChar char="l"/>
              <a:defRPr sz="1800">
                <a:latin typeface="Arial" panose="020B0604020202020204" pitchFamily="34" charset="0"/>
                <a:cs typeface="Arial" panose="020B0604020202020204" pitchFamily="34" charset="0"/>
              </a:defRPr>
            </a:lvl3pPr>
            <a:lvl4pPr marL="440566" indent="-137677">
              <a:spcBef>
                <a:spcPts val="0"/>
              </a:spcBef>
              <a:spcAft>
                <a:spcPts val="612"/>
              </a:spcAft>
              <a:buFont typeface="Wingdings" panose="05000000000000000000" pitchFamily="2" charset="2"/>
              <a:buChar char="u"/>
              <a:defRPr sz="1600">
                <a:latin typeface="Arial" panose="020B0604020202020204" pitchFamily="34" charset="0"/>
                <a:cs typeface="Arial" panose="020B0604020202020204" pitchFamily="34" charset="0"/>
              </a:defRPr>
            </a:lvl4pPr>
            <a:lvl5pPr marL="594440" indent="-152254">
              <a:spcBef>
                <a:spcPts val="0"/>
              </a:spcBef>
              <a:spcAft>
                <a:spcPts val="612"/>
              </a:spcAft>
              <a:buFont typeface="Arial" panose="020B0604020202020204" pitchFamily="34" charset="0"/>
              <a:buChar char="•"/>
              <a:defRPr sz="1400">
                <a:latin typeface="Arial" panose="020B0604020202020204" pitchFamily="34" charset="0"/>
                <a:cs typeface="Arial" panose="020B0604020202020204" pitchFamily="34" charset="0"/>
              </a:defRPr>
            </a:lvl5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標題 1">
            <a:extLst>
              <a:ext uri="{FF2B5EF4-FFF2-40B4-BE49-F238E27FC236}">
                <a16:creationId xmlns:a16="http://schemas.microsoft.com/office/drawing/2014/main" id="{4321A70B-658B-41E8-8042-267C93707898}"/>
              </a:ext>
            </a:extLst>
          </p:cNvPr>
          <p:cNvSpPr>
            <a:spLocks noGrp="1"/>
          </p:cNvSpPr>
          <p:nvPr>
            <p:ph type="title"/>
          </p:nvPr>
        </p:nvSpPr>
        <p:spPr>
          <a:xfrm>
            <a:off x="365895" y="117670"/>
            <a:ext cx="11342695" cy="635226"/>
          </a:xfrm>
          <a:prstGeom prst="rect">
            <a:avLst/>
          </a:prstGeom>
        </p:spPr>
        <p:txBody>
          <a:bodyPr lIns="93296" tIns="46648" rIns="93296" bIns="46648" anchor="ctr"/>
          <a:lstStyle>
            <a:lvl1pPr algn="l">
              <a:defRPr sz="3200" b="0">
                <a:solidFill>
                  <a:schemeClr val="tx1"/>
                </a:solidFill>
                <a:latin typeface="+mn-ea"/>
                <a:ea typeface="+mn-ea"/>
              </a:defRPr>
            </a:lvl1pPr>
          </a:lstStyle>
          <a:p>
            <a:r>
              <a:rPr lang="zh-TW" altLang="en-US"/>
              <a:t>按一下以編輯母片標題樣式</a:t>
            </a:r>
          </a:p>
        </p:txBody>
      </p:sp>
    </p:spTree>
    <p:extLst>
      <p:ext uri="{BB962C8B-B14F-4D97-AF65-F5344CB8AC3E}">
        <p14:creationId xmlns:p14="http://schemas.microsoft.com/office/powerpoint/2010/main" val="947851389"/>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標題及物件">
    <p:spTree>
      <p:nvGrpSpPr>
        <p:cNvPr id="1" name=""/>
        <p:cNvGrpSpPr/>
        <p:nvPr/>
      </p:nvGrpSpPr>
      <p:grpSpPr>
        <a:xfrm>
          <a:off x="0" y="0"/>
          <a:ext cx="0" cy="0"/>
          <a:chOff x="0" y="0"/>
          <a:chExt cx="0" cy="0"/>
        </a:xfrm>
      </p:grpSpPr>
      <p:sp>
        <p:nvSpPr>
          <p:cNvPr id="3" name="內容版面配置區 2"/>
          <p:cNvSpPr>
            <a:spLocks noGrp="1"/>
          </p:cNvSpPr>
          <p:nvPr>
            <p:ph idx="1"/>
          </p:nvPr>
        </p:nvSpPr>
        <p:spPr>
          <a:xfrm>
            <a:off x="527052" y="1196975"/>
            <a:ext cx="11203515" cy="5099050"/>
          </a:xfrm>
          <a:prstGeom prst="rect">
            <a:avLst/>
          </a:prstGeom>
        </p:spPr>
        <p:txBody>
          <a:bodyPr lIns="89611" tIns="44806" rIns="89611" bIns="44806"/>
          <a:lstStyle>
            <a:lvl1pPr>
              <a:defRPr sz="2755"/>
            </a:lvl1pPr>
            <a:lvl2pPr>
              <a:defRPr sz="2449"/>
            </a:lvl2pPr>
            <a:lvl3pPr>
              <a:defRPr sz="2041"/>
            </a:lvl3pPr>
            <a:lvl4pPr>
              <a:defRPr sz="1837"/>
            </a:lvl4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標題 1">
            <a:extLst>
              <a:ext uri="{FF2B5EF4-FFF2-40B4-BE49-F238E27FC236}">
                <a16:creationId xmlns:a16="http://schemas.microsoft.com/office/drawing/2014/main" id="{07C719C0-6BA2-4862-90F0-8CD98A6A0C6C}"/>
              </a:ext>
            </a:extLst>
          </p:cNvPr>
          <p:cNvSpPr>
            <a:spLocks noGrp="1"/>
          </p:cNvSpPr>
          <p:nvPr>
            <p:ph type="title"/>
          </p:nvPr>
        </p:nvSpPr>
        <p:spPr>
          <a:xfrm>
            <a:off x="365895" y="117670"/>
            <a:ext cx="11342695" cy="635226"/>
          </a:xfrm>
          <a:prstGeom prst="rect">
            <a:avLst/>
          </a:prstGeom>
        </p:spPr>
        <p:txBody>
          <a:bodyPr lIns="93296" tIns="46648" rIns="93296" bIns="46648" anchor="ctr"/>
          <a:lstStyle>
            <a:lvl1pPr algn="l">
              <a:defRPr sz="3200" b="0">
                <a:solidFill>
                  <a:schemeClr val="tx1"/>
                </a:solidFill>
                <a:latin typeface="+mn-ea"/>
                <a:ea typeface="+mn-ea"/>
              </a:defRPr>
            </a:lvl1pPr>
          </a:lstStyle>
          <a:p>
            <a:r>
              <a:rPr lang="zh-TW" altLang="en-US"/>
              <a:t>按一下以編輯母片標題樣式</a:t>
            </a:r>
          </a:p>
        </p:txBody>
      </p:sp>
    </p:spTree>
    <p:extLst>
      <p:ext uri="{BB962C8B-B14F-4D97-AF65-F5344CB8AC3E}">
        <p14:creationId xmlns:p14="http://schemas.microsoft.com/office/powerpoint/2010/main" val="14891484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標題投影片">
    <p:spTree>
      <p:nvGrpSpPr>
        <p:cNvPr id="1" name=""/>
        <p:cNvGrpSpPr/>
        <p:nvPr/>
      </p:nvGrpSpPr>
      <p:grpSpPr>
        <a:xfrm>
          <a:off x="0" y="0"/>
          <a:ext cx="0" cy="0"/>
          <a:chOff x="0" y="0"/>
          <a:chExt cx="0" cy="0"/>
        </a:xfrm>
      </p:grpSpPr>
      <p:grpSp>
        <p:nvGrpSpPr>
          <p:cNvPr id="5" name="McK Title Elements"/>
          <p:cNvGrpSpPr>
            <a:grpSpLocks/>
          </p:cNvGrpSpPr>
          <p:nvPr/>
        </p:nvGrpSpPr>
        <p:grpSpPr bwMode="auto">
          <a:xfrm>
            <a:off x="3591727" y="2183416"/>
            <a:ext cx="6840045" cy="4601696"/>
            <a:chOff x="1663" y="1348"/>
            <a:chExt cx="3167" cy="2841"/>
          </a:xfrm>
        </p:grpSpPr>
        <p:sp>
          <p:nvSpPr>
            <p:cNvPr id="6" name="McK Confidential" hidden="1"/>
            <p:cNvSpPr txBox="1">
              <a:spLocks noChangeArrowheads="1"/>
            </p:cNvSpPr>
            <p:nvPr/>
          </p:nvSpPr>
          <p:spPr bwMode="auto">
            <a:xfrm>
              <a:off x="1663" y="1348"/>
              <a:ext cx="93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400" b="0">
                  <a:ea typeface="新細明體" pitchFamily="18" charset="-120"/>
                </a:rPr>
                <a:t>CONFIDENTIAL</a:t>
              </a:r>
            </a:p>
          </p:txBody>
        </p:sp>
        <p:sp>
          <p:nvSpPr>
            <p:cNvPr id="7" name="McK Document" hidden="1"/>
            <p:cNvSpPr txBox="1">
              <a:spLocks noChangeArrowheads="1"/>
            </p:cNvSpPr>
            <p:nvPr/>
          </p:nvSpPr>
          <p:spPr bwMode="auto">
            <a:xfrm>
              <a:off x="1663" y="3049"/>
              <a:ext cx="316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400" b="0">
                  <a:ea typeface="新細明體" pitchFamily="18" charset="-120"/>
                </a:rPr>
                <a:t>Document</a:t>
              </a:r>
            </a:p>
          </p:txBody>
        </p:sp>
        <p:sp>
          <p:nvSpPr>
            <p:cNvPr id="8" name="McK Date" hidden="1"/>
            <p:cNvSpPr txBox="1">
              <a:spLocks noChangeArrowheads="1"/>
            </p:cNvSpPr>
            <p:nvPr/>
          </p:nvSpPr>
          <p:spPr bwMode="auto">
            <a:xfrm>
              <a:off x="1663" y="3216"/>
              <a:ext cx="316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400" b="0">
                  <a:ea typeface="新細明體" pitchFamily="18" charset="-120"/>
                </a:rPr>
                <a:t>Date</a:t>
              </a:r>
            </a:p>
          </p:txBody>
        </p:sp>
        <p:sp>
          <p:nvSpPr>
            <p:cNvPr id="9" name="McK Disclaimer" hidden="1"/>
            <p:cNvSpPr>
              <a:spLocks noChangeArrowheads="1"/>
            </p:cNvSpPr>
            <p:nvPr>
              <p:custDataLst>
                <p:tags r:id="rId1"/>
              </p:custDataLst>
            </p:nvPr>
          </p:nvSpPr>
          <p:spPr bwMode="auto">
            <a:xfrm>
              <a:off x="1663" y="3847"/>
              <a:ext cx="2303" cy="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defTabSz="804863" eaLnBrk="0" hangingPunct="0">
                <a:defRPr sz="4000" b="1">
                  <a:solidFill>
                    <a:schemeClr val="tx1"/>
                  </a:solidFill>
                  <a:latin typeface="Arial" charset="0"/>
                  <a:ea typeface="华文楷体" pitchFamily="2" charset="-122"/>
                </a:defRPr>
              </a:lvl1pPr>
              <a:lvl2pPr marL="742950" indent="-285750" defTabSz="804863" eaLnBrk="0" hangingPunct="0">
                <a:defRPr sz="4000" b="1">
                  <a:solidFill>
                    <a:schemeClr val="tx1"/>
                  </a:solidFill>
                  <a:latin typeface="Arial" charset="0"/>
                  <a:ea typeface="华文楷体" pitchFamily="2" charset="-122"/>
                </a:defRPr>
              </a:lvl2pPr>
              <a:lvl3pPr marL="1143000" indent="-228600" defTabSz="804863" eaLnBrk="0" hangingPunct="0">
                <a:defRPr sz="4000" b="1">
                  <a:solidFill>
                    <a:schemeClr val="tx1"/>
                  </a:solidFill>
                  <a:latin typeface="Arial" charset="0"/>
                  <a:ea typeface="华文楷体" pitchFamily="2" charset="-122"/>
                </a:defRPr>
              </a:lvl3pPr>
              <a:lvl4pPr marL="1600200" indent="-228600" defTabSz="804863" eaLnBrk="0" hangingPunct="0">
                <a:defRPr sz="4000" b="1">
                  <a:solidFill>
                    <a:schemeClr val="tx1"/>
                  </a:solidFill>
                  <a:latin typeface="Arial" charset="0"/>
                  <a:ea typeface="华文楷体" pitchFamily="2" charset="-122"/>
                </a:defRPr>
              </a:lvl4pPr>
              <a:lvl5pPr marL="2057400" indent="-228600" defTabSz="804863" eaLnBrk="0" hangingPunct="0">
                <a:defRPr sz="4000" b="1">
                  <a:solidFill>
                    <a:schemeClr val="tx1"/>
                  </a:solidFill>
                  <a:latin typeface="Arial" charset="0"/>
                  <a:ea typeface="华文楷体" pitchFamily="2" charset="-122"/>
                </a:defRPr>
              </a:lvl5pPr>
              <a:lvl6pPr marL="2514600" indent="-228600" defTabSz="804863"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defTabSz="804863"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defTabSz="804863"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defTabSz="804863" eaLnBrk="0" fontAlgn="base" hangingPunct="0">
                <a:spcBef>
                  <a:spcPct val="0"/>
                </a:spcBef>
                <a:spcAft>
                  <a:spcPct val="0"/>
                </a:spcAft>
                <a:defRPr sz="4000" b="1">
                  <a:solidFill>
                    <a:schemeClr val="tx1"/>
                  </a:solidFill>
                  <a:latin typeface="Arial" charset="0"/>
                  <a:ea typeface="华文楷体" pitchFamily="2" charset="-122"/>
                </a:defRPr>
              </a:lvl9pPr>
            </a:lstStyle>
            <a:p>
              <a:pPr>
                <a:defRPr/>
              </a:pPr>
              <a:r>
                <a:rPr lang="en-US" altLang="zh-TW" sz="900" b="0">
                  <a:ea typeface="新細明體" pitchFamily="18" charset="-120"/>
                </a:rPr>
                <a:t>This report is solely for the use of client personnel.  No part of it may be circulated, quoted, or reproduced for distribution outside the client organization without prior written approval from McKinsey &amp; Company. This material was used by McKinsey &amp; Company during an oral presentation; it is not a complete record of the discussion.</a:t>
              </a:r>
            </a:p>
          </p:txBody>
        </p:sp>
      </p:grpSp>
      <p:sp>
        <p:nvSpPr>
          <p:cNvPr id="10" name="Line 197"/>
          <p:cNvSpPr>
            <a:spLocks noChangeShapeType="1"/>
          </p:cNvSpPr>
          <p:nvPr/>
        </p:nvSpPr>
        <p:spPr bwMode="auto">
          <a:xfrm>
            <a:off x="1133890" y="3030543"/>
            <a:ext cx="10030052" cy="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lIns="93296" tIns="46648" rIns="93296" bIns="46648"/>
          <a:lstStyle/>
          <a:p>
            <a:endParaRPr lang="zh-TW" altLang="en-US" sz="1800"/>
          </a:p>
        </p:txBody>
      </p:sp>
      <p:sp>
        <p:nvSpPr>
          <p:cNvPr id="15" name="標題 1"/>
          <p:cNvSpPr>
            <a:spLocks noGrp="1"/>
          </p:cNvSpPr>
          <p:nvPr>
            <p:ph type="title"/>
          </p:nvPr>
        </p:nvSpPr>
        <p:spPr>
          <a:xfrm>
            <a:off x="1545995" y="2312997"/>
            <a:ext cx="9100011" cy="717546"/>
          </a:xfrm>
          <a:prstGeom prst="rect">
            <a:avLst/>
          </a:prstGeom>
        </p:spPr>
        <p:txBody>
          <a:bodyPr lIns="93296" tIns="46648" rIns="93296" bIns="46648" anchor="ctr"/>
          <a:lstStyle>
            <a:lvl1pPr algn="ctr">
              <a:defRPr sz="4000">
                <a:solidFill>
                  <a:schemeClr val="tx1"/>
                </a:solidFill>
                <a:latin typeface="+mn-ea"/>
                <a:ea typeface="+mn-ea"/>
              </a:defRPr>
            </a:lvl1pPr>
          </a:lstStyle>
          <a:p>
            <a:r>
              <a:rPr lang="zh-TW" altLang="en-US"/>
              <a:t>按一下以編輯母片標題樣式</a:t>
            </a:r>
          </a:p>
        </p:txBody>
      </p:sp>
      <p:sp>
        <p:nvSpPr>
          <p:cNvPr id="19" name="文字版面配置區 3"/>
          <p:cNvSpPr>
            <a:spLocks noGrp="1"/>
          </p:cNvSpPr>
          <p:nvPr>
            <p:ph type="body" sz="half" idx="2"/>
          </p:nvPr>
        </p:nvSpPr>
        <p:spPr>
          <a:xfrm>
            <a:off x="2844822" y="4552721"/>
            <a:ext cx="6502357" cy="559288"/>
          </a:xfrm>
          <a:prstGeom prst="rect">
            <a:avLst/>
          </a:prstGeom>
        </p:spPr>
        <p:txBody>
          <a:bodyPr lIns="93296" tIns="46648" rIns="93296" bIns="46648" anchor="ctr"/>
          <a:lstStyle>
            <a:lvl1pPr marL="0" indent="0" algn="ctr">
              <a:buNone/>
              <a:defRPr sz="2900" b="1"/>
            </a:lvl1pPr>
            <a:lvl2pPr marL="466481" indent="0">
              <a:buNone/>
              <a:defRPr sz="1200"/>
            </a:lvl2pPr>
            <a:lvl3pPr marL="932962" indent="0">
              <a:buNone/>
              <a:defRPr sz="1000"/>
            </a:lvl3pPr>
            <a:lvl4pPr marL="1399443" indent="0">
              <a:buNone/>
              <a:defRPr sz="900"/>
            </a:lvl4pPr>
            <a:lvl5pPr marL="1865925" indent="0">
              <a:buNone/>
              <a:defRPr sz="900"/>
            </a:lvl5pPr>
            <a:lvl6pPr marL="2332406" indent="0">
              <a:buNone/>
              <a:defRPr sz="900"/>
            </a:lvl6pPr>
            <a:lvl7pPr marL="2798887" indent="0">
              <a:buNone/>
              <a:defRPr sz="900"/>
            </a:lvl7pPr>
            <a:lvl8pPr marL="3265368" indent="0">
              <a:buNone/>
              <a:defRPr sz="900"/>
            </a:lvl8pPr>
            <a:lvl9pPr marL="3731849" indent="0">
              <a:buNone/>
              <a:defRPr sz="900"/>
            </a:lvl9pPr>
          </a:lstStyle>
          <a:p>
            <a:pPr lvl="0"/>
            <a:r>
              <a:rPr lang="zh-TW" altLang="en-US"/>
              <a:t>編輯母片文字樣式</a:t>
            </a:r>
          </a:p>
        </p:txBody>
      </p:sp>
      <p:sp>
        <p:nvSpPr>
          <p:cNvPr id="20" name="文字版面配置區 3"/>
          <p:cNvSpPr>
            <a:spLocks noGrp="1"/>
          </p:cNvSpPr>
          <p:nvPr>
            <p:ph type="body" sz="half" idx="10"/>
          </p:nvPr>
        </p:nvSpPr>
        <p:spPr>
          <a:xfrm>
            <a:off x="3534747" y="5584121"/>
            <a:ext cx="5122507" cy="414941"/>
          </a:xfrm>
          <a:prstGeom prst="rect">
            <a:avLst/>
          </a:prstGeom>
        </p:spPr>
        <p:txBody>
          <a:bodyPr lIns="93296" tIns="46648" rIns="93296" bIns="46648" anchor="ctr"/>
          <a:lstStyle>
            <a:lvl1pPr marL="0" indent="0" algn="ctr">
              <a:buNone/>
              <a:defRPr sz="1600" b="1">
                <a:latin typeface="+mj-ea"/>
                <a:ea typeface="+mj-ea"/>
              </a:defRPr>
            </a:lvl1pPr>
            <a:lvl2pPr marL="466481" indent="0">
              <a:buNone/>
              <a:defRPr sz="1200"/>
            </a:lvl2pPr>
            <a:lvl3pPr marL="932962" indent="0">
              <a:buNone/>
              <a:defRPr sz="1000"/>
            </a:lvl3pPr>
            <a:lvl4pPr marL="1399443" indent="0">
              <a:buNone/>
              <a:defRPr sz="900"/>
            </a:lvl4pPr>
            <a:lvl5pPr marL="1865925" indent="0">
              <a:buNone/>
              <a:defRPr sz="900"/>
            </a:lvl5pPr>
            <a:lvl6pPr marL="2332406" indent="0">
              <a:buNone/>
              <a:defRPr sz="900"/>
            </a:lvl6pPr>
            <a:lvl7pPr marL="2798887" indent="0">
              <a:buNone/>
              <a:defRPr sz="900"/>
            </a:lvl7pPr>
            <a:lvl8pPr marL="3265368" indent="0">
              <a:buNone/>
              <a:defRPr sz="900"/>
            </a:lvl8pPr>
            <a:lvl9pPr marL="3731849" indent="0">
              <a:buNone/>
              <a:defRPr sz="900"/>
            </a:lvl9pPr>
          </a:lstStyle>
          <a:p>
            <a:pPr lvl="0"/>
            <a:r>
              <a:rPr lang="zh-TW" altLang="en-US"/>
              <a:t>編輯母片文字樣式</a:t>
            </a:r>
          </a:p>
        </p:txBody>
      </p:sp>
      <p:pic>
        <p:nvPicPr>
          <p:cNvPr id="13" name="圖片 12">
            <a:extLst>
              <a:ext uri="{FF2B5EF4-FFF2-40B4-BE49-F238E27FC236}">
                <a16:creationId xmlns:a16="http://schemas.microsoft.com/office/drawing/2014/main" id="{81DF74DF-1305-48F3-AAC0-A9F787C21A96}"/>
              </a:ext>
            </a:extLst>
          </p:cNvPr>
          <p:cNvPicPr>
            <a:picLocks noChangeAspect="1"/>
          </p:cNvPicPr>
          <p:nvPr userDrawn="1"/>
        </p:nvPicPr>
        <p:blipFill>
          <a:blip r:embed="rId3"/>
          <a:stretch>
            <a:fillRect/>
          </a:stretch>
        </p:blipFill>
        <p:spPr>
          <a:xfrm>
            <a:off x="151876" y="145570"/>
            <a:ext cx="2788238" cy="761934"/>
          </a:xfrm>
          <a:prstGeom prst="rect">
            <a:avLst/>
          </a:prstGeom>
        </p:spPr>
      </p:pic>
    </p:spTree>
    <p:extLst>
      <p:ext uri="{BB962C8B-B14F-4D97-AF65-F5344CB8AC3E}">
        <p14:creationId xmlns:p14="http://schemas.microsoft.com/office/powerpoint/2010/main" val="858258401"/>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只有標題">
    <p:spTree>
      <p:nvGrpSpPr>
        <p:cNvPr id="1" name=""/>
        <p:cNvGrpSpPr/>
        <p:nvPr/>
      </p:nvGrpSpPr>
      <p:grpSpPr>
        <a:xfrm>
          <a:off x="0" y="0"/>
          <a:ext cx="0" cy="0"/>
          <a:chOff x="0" y="0"/>
          <a:chExt cx="0" cy="0"/>
        </a:xfrm>
      </p:grpSpPr>
      <p:sp>
        <p:nvSpPr>
          <p:cNvPr id="5" name="標題 1"/>
          <p:cNvSpPr>
            <a:spLocks noGrp="1"/>
          </p:cNvSpPr>
          <p:nvPr>
            <p:ph type="title"/>
          </p:nvPr>
        </p:nvSpPr>
        <p:spPr>
          <a:xfrm>
            <a:off x="365895" y="150922"/>
            <a:ext cx="11421551" cy="635226"/>
          </a:xfrm>
          <a:prstGeom prst="rect">
            <a:avLst/>
          </a:prstGeom>
        </p:spPr>
        <p:txBody>
          <a:bodyPr lIns="93296" tIns="46648" rIns="93296" bIns="46648" anchor="ctr"/>
          <a:lstStyle>
            <a:lvl1pPr algn="l">
              <a:defRPr sz="3200" b="1">
                <a:solidFill>
                  <a:schemeClr val="tx1"/>
                </a:solidFill>
                <a:latin typeface="+mn-ea"/>
                <a:ea typeface="+mn-ea"/>
              </a:defRPr>
            </a:lvl1pPr>
          </a:lstStyle>
          <a:p>
            <a:r>
              <a:rPr lang="zh-TW" altLang="en-US"/>
              <a:t>按一下以編輯母片標題樣式</a:t>
            </a:r>
          </a:p>
        </p:txBody>
      </p:sp>
    </p:spTree>
    <p:extLst>
      <p:ext uri="{BB962C8B-B14F-4D97-AF65-F5344CB8AC3E}">
        <p14:creationId xmlns:p14="http://schemas.microsoft.com/office/powerpoint/2010/main" val="3525573888"/>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標題及物件">
    <p:spTree>
      <p:nvGrpSpPr>
        <p:cNvPr id="1" name=""/>
        <p:cNvGrpSpPr/>
        <p:nvPr/>
      </p:nvGrpSpPr>
      <p:grpSpPr>
        <a:xfrm>
          <a:off x="0" y="0"/>
          <a:ext cx="0" cy="0"/>
          <a:chOff x="0" y="0"/>
          <a:chExt cx="0" cy="0"/>
        </a:xfrm>
      </p:grpSpPr>
      <p:sp>
        <p:nvSpPr>
          <p:cNvPr id="5" name="標題 1"/>
          <p:cNvSpPr>
            <a:spLocks noGrp="1"/>
          </p:cNvSpPr>
          <p:nvPr>
            <p:ph type="title"/>
          </p:nvPr>
        </p:nvSpPr>
        <p:spPr>
          <a:xfrm>
            <a:off x="365895" y="150922"/>
            <a:ext cx="11342695" cy="635226"/>
          </a:xfrm>
          <a:prstGeom prst="rect">
            <a:avLst/>
          </a:prstGeom>
        </p:spPr>
        <p:txBody>
          <a:bodyPr lIns="93296" tIns="46648" rIns="93296" bIns="46648" anchor="ctr"/>
          <a:lstStyle>
            <a:lvl1pPr algn="l">
              <a:defRPr sz="3200" b="1">
                <a:solidFill>
                  <a:schemeClr val="tx1"/>
                </a:solidFill>
                <a:latin typeface="+mn-ea"/>
                <a:ea typeface="+mn-ea"/>
              </a:defRPr>
            </a:lvl1pPr>
          </a:lstStyle>
          <a:p>
            <a:r>
              <a:rPr lang="zh-TW" altLang="en-US"/>
              <a:t>按一下以編輯母片標題樣式</a:t>
            </a:r>
          </a:p>
        </p:txBody>
      </p:sp>
      <p:sp>
        <p:nvSpPr>
          <p:cNvPr id="3" name="內容版面配置區 2"/>
          <p:cNvSpPr>
            <a:spLocks noGrp="1"/>
          </p:cNvSpPr>
          <p:nvPr>
            <p:ph sz="quarter" idx="10"/>
          </p:nvPr>
        </p:nvSpPr>
        <p:spPr>
          <a:xfrm>
            <a:off x="406041" y="907057"/>
            <a:ext cx="11336724" cy="5474738"/>
          </a:xfrm>
          <a:prstGeom prst="rect">
            <a:avLst/>
          </a:prstGeom>
        </p:spPr>
        <p:txBody>
          <a:bodyPr lIns="93296" tIns="46648" rIns="93296" bIns="46648"/>
          <a:lstStyle>
            <a:lvl1pPr>
              <a:spcBef>
                <a:spcPts val="0"/>
              </a:spcBef>
              <a:spcAft>
                <a:spcPts val="612"/>
              </a:spcAft>
              <a:defRPr sz="2400">
                <a:latin typeface="Arial" panose="020B0604020202020204" pitchFamily="34" charset="0"/>
                <a:cs typeface="Arial" panose="020B0604020202020204" pitchFamily="34" charset="0"/>
              </a:defRPr>
            </a:lvl1pPr>
            <a:lvl2pPr marL="147396" indent="-145775">
              <a:spcBef>
                <a:spcPts val="0"/>
              </a:spcBef>
              <a:spcAft>
                <a:spcPts val="612"/>
              </a:spcAft>
              <a:buFont typeface="Wingdings" panose="05000000000000000000" pitchFamily="2" charset="2"/>
              <a:buChar char="n"/>
              <a:defRPr sz="2000">
                <a:latin typeface="Arial" panose="020B0604020202020204" pitchFamily="34" charset="0"/>
                <a:cs typeface="Arial" panose="020B0604020202020204" pitchFamily="34" charset="0"/>
              </a:defRPr>
            </a:lvl2pPr>
            <a:lvl3pPr marL="301269" indent="-152254">
              <a:spcBef>
                <a:spcPts val="0"/>
              </a:spcBef>
              <a:spcAft>
                <a:spcPts val="612"/>
              </a:spcAft>
              <a:buFont typeface="Wingdings" panose="05000000000000000000" pitchFamily="2" charset="2"/>
              <a:buChar char="l"/>
              <a:defRPr sz="1800">
                <a:latin typeface="Arial" panose="020B0604020202020204" pitchFamily="34" charset="0"/>
                <a:cs typeface="Arial" panose="020B0604020202020204" pitchFamily="34" charset="0"/>
              </a:defRPr>
            </a:lvl3pPr>
            <a:lvl4pPr marL="440566" indent="-137677">
              <a:spcBef>
                <a:spcPts val="0"/>
              </a:spcBef>
              <a:spcAft>
                <a:spcPts val="612"/>
              </a:spcAft>
              <a:buFont typeface="Wingdings" panose="05000000000000000000" pitchFamily="2" charset="2"/>
              <a:buChar char="u"/>
              <a:defRPr sz="1600">
                <a:latin typeface="Arial" panose="020B0604020202020204" pitchFamily="34" charset="0"/>
                <a:cs typeface="Arial" panose="020B0604020202020204" pitchFamily="34" charset="0"/>
              </a:defRPr>
            </a:lvl4pPr>
            <a:lvl5pPr marL="594440" indent="-152254">
              <a:spcBef>
                <a:spcPts val="0"/>
              </a:spcBef>
              <a:spcAft>
                <a:spcPts val="612"/>
              </a:spcAft>
              <a:buFont typeface="Arial" panose="020B0604020202020204" pitchFamily="34" charset="0"/>
              <a:buChar char="•"/>
              <a:defRPr sz="1400">
                <a:latin typeface="Arial" panose="020B0604020202020204" pitchFamily="34" charset="0"/>
                <a:cs typeface="Arial" panose="020B0604020202020204" pitchFamily="34" charset="0"/>
              </a:defRPr>
            </a:lvl5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1791892822"/>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1_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15A41E-9CF8-5231-8BD6-2709EE343625}"/>
              </a:ext>
            </a:extLst>
          </p:cNvPr>
          <p:cNvSpPr>
            <a:spLocks noGrp="1"/>
          </p:cNvSpPr>
          <p:nvPr>
            <p:ph type="title"/>
          </p:nvPr>
        </p:nvSpPr>
        <p:spPr>
          <a:xfrm>
            <a:off x="838200" y="365125"/>
            <a:ext cx="10515600" cy="1325563"/>
          </a:xfrm>
          <a:prstGeom prst="rect">
            <a:avLst/>
          </a:prstGeom>
        </p:spPr>
        <p:txBody>
          <a:bodyPr/>
          <a:lstStyle/>
          <a:p>
            <a:r>
              <a:rPr lang="zh-TW" altLang="en-US"/>
              <a:t>按一下以編輯母片標題樣式</a:t>
            </a:r>
          </a:p>
        </p:txBody>
      </p:sp>
    </p:spTree>
    <p:extLst>
      <p:ext uri="{BB962C8B-B14F-4D97-AF65-F5344CB8AC3E}">
        <p14:creationId xmlns:p14="http://schemas.microsoft.com/office/powerpoint/2010/main" val="3772242463"/>
      </p:ext>
    </p:extLst>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png"/><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4.png"/><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矩形 9"/>
          <p:cNvSpPr>
            <a:spLocks noChangeArrowheads="1"/>
          </p:cNvSpPr>
          <p:nvPr/>
        </p:nvSpPr>
        <p:spPr bwMode="auto">
          <a:xfrm>
            <a:off x="17279" y="6605321"/>
            <a:ext cx="531308" cy="225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96" tIns="46648" rIns="93296" bIns="46648"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algn="ctr" eaLnBrk="1" hangingPunct="1">
              <a:lnSpc>
                <a:spcPts val="1020"/>
              </a:lnSpc>
              <a:defRPr/>
            </a:pPr>
            <a:fld id="{4388E525-CACC-4238-9A15-0EC43602CEB8}" type="slidenum">
              <a:rPr lang="en-US" altLang="zh-TW" sz="1200" b="0" smtClean="0">
                <a:ea typeface="微軟正黑體" pitchFamily="34" charset="-120"/>
              </a:rPr>
              <a:pPr algn="ctr" eaLnBrk="1" hangingPunct="1">
                <a:lnSpc>
                  <a:spcPts val="1020"/>
                </a:lnSpc>
                <a:defRPr/>
              </a:pPr>
              <a:t>‹#›</a:t>
            </a:fld>
            <a:endParaRPr lang="en-US" altLang="zh-TW" sz="1200" b="0">
              <a:ea typeface="微軟正黑體" pitchFamily="34" charset="-120"/>
            </a:endParaRPr>
          </a:p>
        </p:txBody>
      </p:sp>
      <p:sp>
        <p:nvSpPr>
          <p:cNvPr id="7" name="矩形 6"/>
          <p:cNvSpPr/>
          <p:nvPr/>
        </p:nvSpPr>
        <p:spPr>
          <a:xfrm>
            <a:off x="3092209" y="6630643"/>
            <a:ext cx="5443995" cy="225144"/>
          </a:xfrm>
          <a:prstGeom prst="rect">
            <a:avLst/>
          </a:prstGeom>
        </p:spPr>
        <p:txBody>
          <a:bodyPr wrap="square" lIns="93296" tIns="46648" rIns="93296" bIns="46648" anchor="ctr">
            <a:spAutoFit/>
          </a:bodyPr>
          <a:lstStyle/>
          <a:p>
            <a:pPr fontAlgn="auto">
              <a:lnSpc>
                <a:spcPts val="1020"/>
              </a:lnSpc>
              <a:spcBef>
                <a:spcPts val="0"/>
              </a:spcBef>
              <a:spcAft>
                <a:spcPts val="0"/>
              </a:spcAft>
              <a:defRPr/>
            </a:pPr>
            <a:r>
              <a:rPr lang="zh-TW" altLang="en-US" sz="900" b="0">
                <a:solidFill>
                  <a:schemeClr val="tx1">
                    <a:lumMod val="50000"/>
                    <a:lumOff val="50000"/>
                  </a:schemeClr>
                </a:solidFill>
                <a:latin typeface="+mj-ea"/>
                <a:ea typeface="+mj-ea"/>
              </a:rPr>
              <a:t>機密資料 僅限永豐金證券內部使用 </a:t>
            </a:r>
            <a:r>
              <a:rPr lang="en-US" altLang="zh-TW" sz="900" b="0">
                <a:solidFill>
                  <a:schemeClr val="tx1">
                    <a:lumMod val="50000"/>
                    <a:lumOff val="50000"/>
                  </a:schemeClr>
                </a:solidFill>
                <a:latin typeface="+mj-ea"/>
                <a:ea typeface="+mj-ea"/>
              </a:rPr>
              <a:t>Company Confidential-For SinoPac Securities Internal Use Only</a:t>
            </a:r>
          </a:p>
        </p:txBody>
      </p:sp>
      <p:sp>
        <p:nvSpPr>
          <p:cNvPr id="6" name="Line 197">
            <a:extLst>
              <a:ext uri="{FF2B5EF4-FFF2-40B4-BE49-F238E27FC236}">
                <a16:creationId xmlns:a16="http://schemas.microsoft.com/office/drawing/2014/main" id="{BE1DEA7F-0CA1-4470-B1CF-D775DE88D64C}"/>
              </a:ext>
            </a:extLst>
          </p:cNvPr>
          <p:cNvSpPr>
            <a:spLocks noChangeShapeType="1"/>
          </p:cNvSpPr>
          <p:nvPr userDrawn="1"/>
        </p:nvSpPr>
        <p:spPr bwMode="auto">
          <a:xfrm>
            <a:off x="454443" y="792163"/>
            <a:ext cx="11248465" cy="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zh-TW" altLang="en-US" sz="4000"/>
          </a:p>
        </p:txBody>
      </p:sp>
      <p:pic>
        <p:nvPicPr>
          <p:cNvPr id="9" name="圖片 8">
            <a:extLst>
              <a:ext uri="{FF2B5EF4-FFF2-40B4-BE49-F238E27FC236}">
                <a16:creationId xmlns:a16="http://schemas.microsoft.com/office/drawing/2014/main" id="{29137214-E243-4C0E-88F6-299A0EF3D5E5}"/>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61565" y="6236047"/>
            <a:ext cx="4570242" cy="731880"/>
          </a:xfrm>
          <a:prstGeom prst="rect">
            <a:avLst/>
          </a:prstGeom>
        </p:spPr>
      </p:pic>
      <p:pic>
        <p:nvPicPr>
          <p:cNvPr id="10" name="圖片 9">
            <a:extLst>
              <a:ext uri="{FF2B5EF4-FFF2-40B4-BE49-F238E27FC236}">
                <a16:creationId xmlns:a16="http://schemas.microsoft.com/office/drawing/2014/main" id="{D7751136-E518-4B3B-8C1F-B79F91AF49F2}"/>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713693" y="6431253"/>
            <a:ext cx="2829263" cy="291591"/>
          </a:xfrm>
          <a:prstGeom prst="rect">
            <a:avLst/>
          </a:prstGeom>
        </p:spPr>
      </p:pic>
    </p:spTree>
    <p:extLst>
      <p:ext uri="{BB962C8B-B14F-4D97-AF65-F5344CB8AC3E}">
        <p14:creationId xmlns:p14="http://schemas.microsoft.com/office/powerpoint/2010/main" val="38779190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8" r:id="rId4"/>
  </p:sldLayoutIdLst>
  <p:transition spd="med"/>
  <p:txStyles>
    <p:titleStyle>
      <a:lvl1pPr algn="l" defTabSz="913526" rtl="0" eaLnBrk="1" fontAlgn="base" hangingPunct="1">
        <a:spcBef>
          <a:spcPct val="0"/>
        </a:spcBef>
        <a:spcAft>
          <a:spcPct val="0"/>
        </a:spcAft>
        <a:defRPr sz="1900" b="1">
          <a:solidFill>
            <a:schemeClr val="tx2"/>
          </a:solidFill>
          <a:latin typeface="+mj-lt"/>
          <a:ea typeface="+mj-ea"/>
          <a:cs typeface="+mj-cs"/>
        </a:defRPr>
      </a:lvl1pPr>
      <a:lvl2pPr algn="l" defTabSz="913526" rtl="0" eaLnBrk="1" fontAlgn="base" hangingPunct="1">
        <a:spcBef>
          <a:spcPct val="0"/>
        </a:spcBef>
        <a:spcAft>
          <a:spcPct val="0"/>
        </a:spcAft>
        <a:defRPr sz="1900" b="1">
          <a:solidFill>
            <a:schemeClr val="tx2"/>
          </a:solidFill>
          <a:latin typeface="Arial" charset="0"/>
        </a:defRPr>
      </a:lvl2pPr>
      <a:lvl3pPr algn="l" defTabSz="913526" rtl="0" eaLnBrk="1" fontAlgn="base" hangingPunct="1">
        <a:spcBef>
          <a:spcPct val="0"/>
        </a:spcBef>
        <a:spcAft>
          <a:spcPct val="0"/>
        </a:spcAft>
        <a:defRPr sz="1900" b="1">
          <a:solidFill>
            <a:schemeClr val="tx2"/>
          </a:solidFill>
          <a:latin typeface="Arial" charset="0"/>
        </a:defRPr>
      </a:lvl3pPr>
      <a:lvl4pPr algn="l" defTabSz="913526" rtl="0" eaLnBrk="1" fontAlgn="base" hangingPunct="1">
        <a:spcBef>
          <a:spcPct val="0"/>
        </a:spcBef>
        <a:spcAft>
          <a:spcPct val="0"/>
        </a:spcAft>
        <a:defRPr sz="1900" b="1">
          <a:solidFill>
            <a:schemeClr val="tx2"/>
          </a:solidFill>
          <a:latin typeface="Arial" charset="0"/>
        </a:defRPr>
      </a:lvl4pPr>
      <a:lvl5pPr algn="l" defTabSz="913526" rtl="0" eaLnBrk="1" fontAlgn="base" hangingPunct="1">
        <a:spcBef>
          <a:spcPct val="0"/>
        </a:spcBef>
        <a:spcAft>
          <a:spcPct val="0"/>
        </a:spcAft>
        <a:defRPr sz="1900" b="1">
          <a:solidFill>
            <a:schemeClr val="tx2"/>
          </a:solidFill>
          <a:latin typeface="Arial" charset="0"/>
        </a:defRPr>
      </a:lvl5pPr>
      <a:lvl6pPr marL="466481" algn="l" defTabSz="913526" rtl="0" eaLnBrk="1" fontAlgn="base" hangingPunct="1">
        <a:spcBef>
          <a:spcPct val="0"/>
        </a:spcBef>
        <a:spcAft>
          <a:spcPct val="0"/>
        </a:spcAft>
        <a:defRPr sz="1900" b="1">
          <a:solidFill>
            <a:schemeClr val="tx2"/>
          </a:solidFill>
          <a:latin typeface="Arial" charset="0"/>
        </a:defRPr>
      </a:lvl6pPr>
      <a:lvl7pPr marL="932962" algn="l" defTabSz="913526" rtl="0" eaLnBrk="1" fontAlgn="base" hangingPunct="1">
        <a:spcBef>
          <a:spcPct val="0"/>
        </a:spcBef>
        <a:spcAft>
          <a:spcPct val="0"/>
        </a:spcAft>
        <a:defRPr sz="1900" b="1">
          <a:solidFill>
            <a:schemeClr val="tx2"/>
          </a:solidFill>
          <a:latin typeface="Arial" charset="0"/>
        </a:defRPr>
      </a:lvl7pPr>
      <a:lvl8pPr marL="1399443" algn="l" defTabSz="913526" rtl="0" eaLnBrk="1" fontAlgn="base" hangingPunct="1">
        <a:spcBef>
          <a:spcPct val="0"/>
        </a:spcBef>
        <a:spcAft>
          <a:spcPct val="0"/>
        </a:spcAft>
        <a:defRPr sz="1900" b="1">
          <a:solidFill>
            <a:schemeClr val="tx2"/>
          </a:solidFill>
          <a:latin typeface="Arial" charset="0"/>
        </a:defRPr>
      </a:lvl8pPr>
      <a:lvl9pPr marL="1865925" algn="l" defTabSz="913526" rtl="0" eaLnBrk="1" fontAlgn="base" hangingPunct="1">
        <a:spcBef>
          <a:spcPct val="0"/>
        </a:spcBef>
        <a:spcAft>
          <a:spcPct val="0"/>
        </a:spcAft>
        <a:defRPr sz="1900" b="1">
          <a:solidFill>
            <a:schemeClr val="tx2"/>
          </a:solidFill>
          <a:latin typeface="Arial" charset="0"/>
        </a:defRPr>
      </a:lvl9pPr>
    </p:titleStyle>
    <p:bodyStyle>
      <a:lvl1pPr algn="l" defTabSz="913526" rtl="0" eaLnBrk="1" fontAlgn="base" hangingPunct="1">
        <a:spcBef>
          <a:spcPct val="0"/>
        </a:spcBef>
        <a:spcAft>
          <a:spcPct val="0"/>
        </a:spcAft>
        <a:buSzPct val="120000"/>
        <a:defRPr sz="1600">
          <a:solidFill>
            <a:schemeClr val="tx1"/>
          </a:solidFill>
          <a:latin typeface="+mn-lt"/>
          <a:ea typeface="+mn-ea"/>
          <a:cs typeface="+mn-cs"/>
        </a:defRPr>
      </a:lvl1pPr>
      <a:lvl2pPr marL="147396" indent="-145775" algn="l" defTabSz="913526" rtl="0" eaLnBrk="1" fontAlgn="base" hangingPunct="1">
        <a:spcBef>
          <a:spcPct val="0"/>
        </a:spcBef>
        <a:spcAft>
          <a:spcPct val="0"/>
        </a:spcAft>
        <a:buSzPct val="120000"/>
        <a:buChar char="•"/>
        <a:defRPr sz="1600">
          <a:solidFill>
            <a:schemeClr val="tx1"/>
          </a:solidFill>
          <a:latin typeface="+mn-lt"/>
          <a:ea typeface="+mn-ea"/>
        </a:defRPr>
      </a:lvl2pPr>
      <a:lvl3pPr marL="301269" indent="-152254" algn="l" defTabSz="913526" rtl="0" eaLnBrk="1" fontAlgn="base" hangingPunct="1">
        <a:spcBef>
          <a:spcPct val="0"/>
        </a:spcBef>
        <a:spcAft>
          <a:spcPct val="0"/>
        </a:spcAft>
        <a:buChar char="–"/>
        <a:defRPr sz="1600">
          <a:solidFill>
            <a:schemeClr val="tx1"/>
          </a:solidFill>
          <a:latin typeface="+mn-lt"/>
          <a:ea typeface="+mn-ea"/>
        </a:defRPr>
      </a:lvl3pPr>
      <a:lvl4pPr marL="440566" indent="-137677" algn="l" defTabSz="913526" rtl="0" eaLnBrk="1" fontAlgn="base" hangingPunct="1">
        <a:spcBef>
          <a:spcPct val="0"/>
        </a:spcBef>
        <a:spcAft>
          <a:spcPct val="0"/>
        </a:spcAft>
        <a:buSzPct val="89000"/>
        <a:buChar char="•"/>
        <a:defRPr sz="1600">
          <a:solidFill>
            <a:schemeClr val="tx1"/>
          </a:solidFill>
          <a:latin typeface="+mn-lt"/>
          <a:ea typeface="+mn-ea"/>
        </a:defRPr>
      </a:lvl4pPr>
      <a:lvl5pPr marL="594440" indent="-152254" algn="l" defTabSz="913526" rtl="0" eaLnBrk="1" fontAlgn="base" hangingPunct="1">
        <a:spcBef>
          <a:spcPct val="0"/>
        </a:spcBef>
        <a:spcAft>
          <a:spcPct val="0"/>
        </a:spcAft>
        <a:buSzPct val="75000"/>
        <a:buChar char="–"/>
        <a:defRPr sz="1600">
          <a:solidFill>
            <a:schemeClr val="tx1"/>
          </a:solidFill>
          <a:latin typeface="+mn-lt"/>
          <a:ea typeface="+mn-ea"/>
        </a:defRPr>
      </a:lvl5pPr>
      <a:lvl6pPr marL="1060921" indent="-152254" algn="l" defTabSz="913526" rtl="0" eaLnBrk="1" fontAlgn="base" hangingPunct="1">
        <a:spcBef>
          <a:spcPct val="0"/>
        </a:spcBef>
        <a:spcAft>
          <a:spcPct val="0"/>
        </a:spcAft>
        <a:buSzPct val="75000"/>
        <a:buChar char="–"/>
        <a:defRPr sz="1600">
          <a:solidFill>
            <a:schemeClr val="tx1"/>
          </a:solidFill>
          <a:latin typeface="+mn-lt"/>
          <a:ea typeface="+mn-ea"/>
        </a:defRPr>
      </a:lvl6pPr>
      <a:lvl7pPr marL="1527402" indent="-152254" algn="l" defTabSz="913526" rtl="0" eaLnBrk="1" fontAlgn="base" hangingPunct="1">
        <a:spcBef>
          <a:spcPct val="0"/>
        </a:spcBef>
        <a:spcAft>
          <a:spcPct val="0"/>
        </a:spcAft>
        <a:buSzPct val="75000"/>
        <a:buChar char="–"/>
        <a:defRPr sz="1600">
          <a:solidFill>
            <a:schemeClr val="tx1"/>
          </a:solidFill>
          <a:latin typeface="+mn-lt"/>
          <a:ea typeface="+mn-ea"/>
        </a:defRPr>
      </a:lvl7pPr>
      <a:lvl8pPr marL="1993884" indent="-152254" algn="l" defTabSz="913526" rtl="0" eaLnBrk="1" fontAlgn="base" hangingPunct="1">
        <a:spcBef>
          <a:spcPct val="0"/>
        </a:spcBef>
        <a:spcAft>
          <a:spcPct val="0"/>
        </a:spcAft>
        <a:buSzPct val="75000"/>
        <a:buChar char="–"/>
        <a:defRPr sz="1600">
          <a:solidFill>
            <a:schemeClr val="tx1"/>
          </a:solidFill>
          <a:latin typeface="+mn-lt"/>
          <a:ea typeface="+mn-ea"/>
        </a:defRPr>
      </a:lvl8pPr>
      <a:lvl9pPr marL="2460365" indent="-152254" algn="l" defTabSz="913526" rtl="0" eaLnBrk="1" fontAlgn="base" hangingPunct="1">
        <a:spcBef>
          <a:spcPct val="0"/>
        </a:spcBef>
        <a:spcAft>
          <a:spcPct val="0"/>
        </a:spcAft>
        <a:buSzPct val="75000"/>
        <a:buChar char="–"/>
        <a:defRPr sz="1600">
          <a:solidFill>
            <a:schemeClr val="tx1"/>
          </a:solidFill>
          <a:latin typeface="+mn-lt"/>
          <a:ea typeface="+mn-ea"/>
        </a:defRPr>
      </a:lvl9pPr>
    </p:bodyStyle>
    <p:otherStyle>
      <a:defPPr>
        <a:defRPr lang="zh-TW"/>
      </a:defPPr>
      <a:lvl1pPr marL="0" algn="l" defTabSz="932962" rtl="0" eaLnBrk="1" latinLnBrk="0" hangingPunct="1">
        <a:defRPr sz="1800" kern="1200">
          <a:solidFill>
            <a:schemeClr val="tx1"/>
          </a:solidFill>
          <a:latin typeface="+mn-lt"/>
          <a:ea typeface="+mn-ea"/>
          <a:cs typeface="+mn-cs"/>
        </a:defRPr>
      </a:lvl1pPr>
      <a:lvl2pPr marL="466481" algn="l" defTabSz="932962" rtl="0" eaLnBrk="1" latinLnBrk="0" hangingPunct="1">
        <a:defRPr sz="1800" kern="1200">
          <a:solidFill>
            <a:schemeClr val="tx1"/>
          </a:solidFill>
          <a:latin typeface="+mn-lt"/>
          <a:ea typeface="+mn-ea"/>
          <a:cs typeface="+mn-cs"/>
        </a:defRPr>
      </a:lvl2pPr>
      <a:lvl3pPr marL="932962" algn="l" defTabSz="932962" rtl="0" eaLnBrk="1" latinLnBrk="0" hangingPunct="1">
        <a:defRPr sz="1800" kern="1200">
          <a:solidFill>
            <a:schemeClr val="tx1"/>
          </a:solidFill>
          <a:latin typeface="+mn-lt"/>
          <a:ea typeface="+mn-ea"/>
          <a:cs typeface="+mn-cs"/>
        </a:defRPr>
      </a:lvl3pPr>
      <a:lvl4pPr marL="1399443" algn="l" defTabSz="932962" rtl="0" eaLnBrk="1" latinLnBrk="0" hangingPunct="1">
        <a:defRPr sz="1800" kern="1200">
          <a:solidFill>
            <a:schemeClr val="tx1"/>
          </a:solidFill>
          <a:latin typeface="+mn-lt"/>
          <a:ea typeface="+mn-ea"/>
          <a:cs typeface="+mn-cs"/>
        </a:defRPr>
      </a:lvl4pPr>
      <a:lvl5pPr marL="1865925" algn="l" defTabSz="932962" rtl="0" eaLnBrk="1" latinLnBrk="0" hangingPunct="1">
        <a:defRPr sz="1800" kern="1200">
          <a:solidFill>
            <a:schemeClr val="tx1"/>
          </a:solidFill>
          <a:latin typeface="+mn-lt"/>
          <a:ea typeface="+mn-ea"/>
          <a:cs typeface="+mn-cs"/>
        </a:defRPr>
      </a:lvl5pPr>
      <a:lvl6pPr marL="2332406" algn="l" defTabSz="932962" rtl="0" eaLnBrk="1" latinLnBrk="0" hangingPunct="1">
        <a:defRPr sz="1800" kern="1200">
          <a:solidFill>
            <a:schemeClr val="tx1"/>
          </a:solidFill>
          <a:latin typeface="+mn-lt"/>
          <a:ea typeface="+mn-ea"/>
          <a:cs typeface="+mn-cs"/>
        </a:defRPr>
      </a:lvl6pPr>
      <a:lvl7pPr marL="2798887" algn="l" defTabSz="932962" rtl="0" eaLnBrk="1" latinLnBrk="0" hangingPunct="1">
        <a:defRPr sz="1800" kern="1200">
          <a:solidFill>
            <a:schemeClr val="tx1"/>
          </a:solidFill>
          <a:latin typeface="+mn-lt"/>
          <a:ea typeface="+mn-ea"/>
          <a:cs typeface="+mn-cs"/>
        </a:defRPr>
      </a:lvl7pPr>
      <a:lvl8pPr marL="3265368" algn="l" defTabSz="932962" rtl="0" eaLnBrk="1" latinLnBrk="0" hangingPunct="1">
        <a:defRPr sz="1800" kern="1200">
          <a:solidFill>
            <a:schemeClr val="tx1"/>
          </a:solidFill>
          <a:latin typeface="+mn-lt"/>
          <a:ea typeface="+mn-ea"/>
          <a:cs typeface="+mn-cs"/>
        </a:defRPr>
      </a:lvl8pPr>
      <a:lvl9pPr marL="3731849" algn="l" defTabSz="932962"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197"/>
          <p:cNvSpPr>
            <a:spLocks noChangeShapeType="1"/>
          </p:cNvSpPr>
          <p:nvPr/>
        </p:nvSpPr>
        <p:spPr bwMode="auto">
          <a:xfrm>
            <a:off x="311011" y="808253"/>
            <a:ext cx="11477109" cy="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lIns="93296" tIns="46648" rIns="93296" bIns="46648"/>
          <a:lstStyle/>
          <a:p>
            <a:endParaRPr lang="zh-TW" altLang="en-US" sz="1800"/>
          </a:p>
        </p:txBody>
      </p:sp>
      <p:sp>
        <p:nvSpPr>
          <p:cNvPr id="1027" name="矩形 9"/>
          <p:cNvSpPr>
            <a:spLocks noChangeArrowheads="1"/>
          </p:cNvSpPr>
          <p:nvPr/>
        </p:nvSpPr>
        <p:spPr bwMode="auto">
          <a:xfrm>
            <a:off x="17279" y="6605321"/>
            <a:ext cx="531308" cy="225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96" tIns="46648" rIns="93296" bIns="46648"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algn="ctr" eaLnBrk="1" hangingPunct="1">
              <a:lnSpc>
                <a:spcPts val="1020"/>
              </a:lnSpc>
              <a:defRPr/>
            </a:pPr>
            <a:fld id="{4388E525-CACC-4238-9A15-0EC43602CEB8}" type="slidenum">
              <a:rPr lang="en-US" altLang="zh-TW" sz="1200" b="0" smtClean="0">
                <a:ea typeface="微軟正黑體" pitchFamily="34" charset="-120"/>
              </a:rPr>
              <a:pPr algn="ctr" eaLnBrk="1" hangingPunct="1">
                <a:lnSpc>
                  <a:spcPts val="1020"/>
                </a:lnSpc>
                <a:defRPr/>
              </a:pPr>
              <a:t>‹#›</a:t>
            </a:fld>
            <a:endParaRPr lang="en-US" altLang="zh-TW" sz="1200" b="0">
              <a:ea typeface="微軟正黑體" pitchFamily="34" charset="-120"/>
            </a:endParaRPr>
          </a:p>
        </p:txBody>
      </p:sp>
      <p:sp>
        <p:nvSpPr>
          <p:cNvPr id="7" name="矩形 6"/>
          <p:cNvSpPr/>
          <p:nvPr/>
        </p:nvSpPr>
        <p:spPr>
          <a:xfrm>
            <a:off x="3092209" y="6630643"/>
            <a:ext cx="5443995" cy="225144"/>
          </a:xfrm>
          <a:prstGeom prst="rect">
            <a:avLst/>
          </a:prstGeom>
        </p:spPr>
        <p:txBody>
          <a:bodyPr wrap="square" lIns="93296" tIns="46648" rIns="93296" bIns="46648" anchor="ctr">
            <a:spAutoFit/>
          </a:bodyPr>
          <a:lstStyle/>
          <a:p>
            <a:pPr fontAlgn="auto">
              <a:lnSpc>
                <a:spcPts val="1020"/>
              </a:lnSpc>
              <a:spcBef>
                <a:spcPts val="0"/>
              </a:spcBef>
              <a:spcAft>
                <a:spcPts val="0"/>
              </a:spcAft>
              <a:defRPr/>
            </a:pPr>
            <a:r>
              <a:rPr lang="zh-TW" altLang="en-US" sz="900" b="0">
                <a:solidFill>
                  <a:schemeClr val="tx1">
                    <a:lumMod val="50000"/>
                    <a:lumOff val="50000"/>
                  </a:schemeClr>
                </a:solidFill>
                <a:latin typeface="+mj-ea"/>
                <a:ea typeface="+mj-ea"/>
              </a:rPr>
              <a:t>機密資料 僅限永豐金證券內部使用 </a:t>
            </a:r>
            <a:r>
              <a:rPr lang="en-US" altLang="zh-TW" sz="900" b="0">
                <a:solidFill>
                  <a:schemeClr val="tx1">
                    <a:lumMod val="50000"/>
                    <a:lumOff val="50000"/>
                  </a:schemeClr>
                </a:solidFill>
                <a:latin typeface="+mj-ea"/>
                <a:ea typeface="+mj-ea"/>
              </a:rPr>
              <a:t>Company Confidential-For SinoPac Securities Internal Use Only</a:t>
            </a:r>
          </a:p>
        </p:txBody>
      </p:sp>
      <p:pic>
        <p:nvPicPr>
          <p:cNvPr id="8" name="圖片 7">
            <a:extLst>
              <a:ext uri="{FF2B5EF4-FFF2-40B4-BE49-F238E27FC236}">
                <a16:creationId xmlns:a16="http://schemas.microsoft.com/office/drawing/2014/main" id="{AB47283C-1845-4A85-9C34-B3ECADF9986F}"/>
              </a:ext>
            </a:extLst>
          </p:cNvPr>
          <p:cNvPicPr>
            <a:picLocks noChangeAspect="1"/>
          </p:cNvPicPr>
          <p:nvPr userDrawn="1"/>
        </p:nvPicPr>
        <p:blipFill>
          <a:blip r:embed="rId6"/>
          <a:stretch>
            <a:fillRect/>
          </a:stretch>
        </p:blipFill>
        <p:spPr>
          <a:xfrm>
            <a:off x="8717280" y="6428266"/>
            <a:ext cx="3474720" cy="442237"/>
          </a:xfrm>
          <a:prstGeom prst="rect">
            <a:avLst/>
          </a:prstGeom>
        </p:spPr>
      </p:pic>
      <p:pic>
        <p:nvPicPr>
          <p:cNvPr id="12" name="圖片 11">
            <a:extLst>
              <a:ext uri="{FF2B5EF4-FFF2-40B4-BE49-F238E27FC236}">
                <a16:creationId xmlns:a16="http://schemas.microsoft.com/office/drawing/2014/main" id="{1303B5D1-D51C-4715-9331-B7FA94411B40}"/>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70111" y="6239381"/>
            <a:ext cx="4570242" cy="731880"/>
          </a:xfrm>
          <a:prstGeom prst="rect">
            <a:avLst/>
          </a:prstGeom>
        </p:spPr>
      </p:pic>
    </p:spTree>
    <p:extLst>
      <p:ext uri="{BB962C8B-B14F-4D97-AF65-F5344CB8AC3E}">
        <p14:creationId xmlns:p14="http://schemas.microsoft.com/office/powerpoint/2010/main" val="1024087675"/>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Lst>
  <p:transition spd="med"/>
  <p:txStyles>
    <p:titleStyle>
      <a:lvl1pPr algn="l" defTabSz="913526" rtl="0" eaLnBrk="1" fontAlgn="base" hangingPunct="1">
        <a:spcBef>
          <a:spcPct val="0"/>
        </a:spcBef>
        <a:spcAft>
          <a:spcPct val="0"/>
        </a:spcAft>
        <a:defRPr sz="1900" b="1">
          <a:solidFill>
            <a:schemeClr val="tx2"/>
          </a:solidFill>
          <a:latin typeface="+mj-lt"/>
          <a:ea typeface="+mj-ea"/>
          <a:cs typeface="+mj-cs"/>
        </a:defRPr>
      </a:lvl1pPr>
      <a:lvl2pPr algn="l" defTabSz="913526" rtl="0" eaLnBrk="1" fontAlgn="base" hangingPunct="1">
        <a:spcBef>
          <a:spcPct val="0"/>
        </a:spcBef>
        <a:spcAft>
          <a:spcPct val="0"/>
        </a:spcAft>
        <a:defRPr sz="1900" b="1">
          <a:solidFill>
            <a:schemeClr val="tx2"/>
          </a:solidFill>
          <a:latin typeface="Arial" charset="0"/>
        </a:defRPr>
      </a:lvl2pPr>
      <a:lvl3pPr algn="l" defTabSz="913526" rtl="0" eaLnBrk="1" fontAlgn="base" hangingPunct="1">
        <a:spcBef>
          <a:spcPct val="0"/>
        </a:spcBef>
        <a:spcAft>
          <a:spcPct val="0"/>
        </a:spcAft>
        <a:defRPr sz="1900" b="1">
          <a:solidFill>
            <a:schemeClr val="tx2"/>
          </a:solidFill>
          <a:latin typeface="Arial" charset="0"/>
        </a:defRPr>
      </a:lvl3pPr>
      <a:lvl4pPr algn="l" defTabSz="913526" rtl="0" eaLnBrk="1" fontAlgn="base" hangingPunct="1">
        <a:spcBef>
          <a:spcPct val="0"/>
        </a:spcBef>
        <a:spcAft>
          <a:spcPct val="0"/>
        </a:spcAft>
        <a:defRPr sz="1900" b="1">
          <a:solidFill>
            <a:schemeClr val="tx2"/>
          </a:solidFill>
          <a:latin typeface="Arial" charset="0"/>
        </a:defRPr>
      </a:lvl4pPr>
      <a:lvl5pPr algn="l" defTabSz="913526" rtl="0" eaLnBrk="1" fontAlgn="base" hangingPunct="1">
        <a:spcBef>
          <a:spcPct val="0"/>
        </a:spcBef>
        <a:spcAft>
          <a:spcPct val="0"/>
        </a:spcAft>
        <a:defRPr sz="1900" b="1">
          <a:solidFill>
            <a:schemeClr val="tx2"/>
          </a:solidFill>
          <a:latin typeface="Arial" charset="0"/>
        </a:defRPr>
      </a:lvl5pPr>
      <a:lvl6pPr marL="466481" algn="l" defTabSz="913526" rtl="0" eaLnBrk="1" fontAlgn="base" hangingPunct="1">
        <a:spcBef>
          <a:spcPct val="0"/>
        </a:spcBef>
        <a:spcAft>
          <a:spcPct val="0"/>
        </a:spcAft>
        <a:defRPr sz="1900" b="1">
          <a:solidFill>
            <a:schemeClr val="tx2"/>
          </a:solidFill>
          <a:latin typeface="Arial" charset="0"/>
        </a:defRPr>
      </a:lvl6pPr>
      <a:lvl7pPr marL="932962" algn="l" defTabSz="913526" rtl="0" eaLnBrk="1" fontAlgn="base" hangingPunct="1">
        <a:spcBef>
          <a:spcPct val="0"/>
        </a:spcBef>
        <a:spcAft>
          <a:spcPct val="0"/>
        </a:spcAft>
        <a:defRPr sz="1900" b="1">
          <a:solidFill>
            <a:schemeClr val="tx2"/>
          </a:solidFill>
          <a:latin typeface="Arial" charset="0"/>
        </a:defRPr>
      </a:lvl7pPr>
      <a:lvl8pPr marL="1399443" algn="l" defTabSz="913526" rtl="0" eaLnBrk="1" fontAlgn="base" hangingPunct="1">
        <a:spcBef>
          <a:spcPct val="0"/>
        </a:spcBef>
        <a:spcAft>
          <a:spcPct val="0"/>
        </a:spcAft>
        <a:defRPr sz="1900" b="1">
          <a:solidFill>
            <a:schemeClr val="tx2"/>
          </a:solidFill>
          <a:latin typeface="Arial" charset="0"/>
        </a:defRPr>
      </a:lvl8pPr>
      <a:lvl9pPr marL="1865925" algn="l" defTabSz="913526" rtl="0" eaLnBrk="1" fontAlgn="base" hangingPunct="1">
        <a:spcBef>
          <a:spcPct val="0"/>
        </a:spcBef>
        <a:spcAft>
          <a:spcPct val="0"/>
        </a:spcAft>
        <a:defRPr sz="1900" b="1">
          <a:solidFill>
            <a:schemeClr val="tx2"/>
          </a:solidFill>
          <a:latin typeface="Arial" charset="0"/>
        </a:defRPr>
      </a:lvl9pPr>
    </p:titleStyle>
    <p:bodyStyle>
      <a:lvl1pPr algn="l" defTabSz="913526" rtl="0" eaLnBrk="1" fontAlgn="base" hangingPunct="1">
        <a:spcBef>
          <a:spcPct val="0"/>
        </a:spcBef>
        <a:spcAft>
          <a:spcPct val="0"/>
        </a:spcAft>
        <a:buSzPct val="120000"/>
        <a:defRPr sz="1600">
          <a:solidFill>
            <a:schemeClr val="tx1"/>
          </a:solidFill>
          <a:latin typeface="+mn-lt"/>
          <a:ea typeface="+mn-ea"/>
          <a:cs typeface="+mn-cs"/>
        </a:defRPr>
      </a:lvl1pPr>
      <a:lvl2pPr marL="147396" indent="-145775" algn="l" defTabSz="913526" rtl="0" eaLnBrk="1" fontAlgn="base" hangingPunct="1">
        <a:spcBef>
          <a:spcPct val="0"/>
        </a:spcBef>
        <a:spcAft>
          <a:spcPct val="0"/>
        </a:spcAft>
        <a:buSzPct val="120000"/>
        <a:buChar char="•"/>
        <a:defRPr sz="1600">
          <a:solidFill>
            <a:schemeClr val="tx1"/>
          </a:solidFill>
          <a:latin typeface="+mn-lt"/>
          <a:ea typeface="+mn-ea"/>
        </a:defRPr>
      </a:lvl2pPr>
      <a:lvl3pPr marL="301269" indent="-152254" algn="l" defTabSz="913526" rtl="0" eaLnBrk="1" fontAlgn="base" hangingPunct="1">
        <a:spcBef>
          <a:spcPct val="0"/>
        </a:spcBef>
        <a:spcAft>
          <a:spcPct val="0"/>
        </a:spcAft>
        <a:buChar char="–"/>
        <a:defRPr sz="1600">
          <a:solidFill>
            <a:schemeClr val="tx1"/>
          </a:solidFill>
          <a:latin typeface="+mn-lt"/>
          <a:ea typeface="+mn-ea"/>
        </a:defRPr>
      </a:lvl3pPr>
      <a:lvl4pPr marL="440566" indent="-137677" algn="l" defTabSz="913526" rtl="0" eaLnBrk="1" fontAlgn="base" hangingPunct="1">
        <a:spcBef>
          <a:spcPct val="0"/>
        </a:spcBef>
        <a:spcAft>
          <a:spcPct val="0"/>
        </a:spcAft>
        <a:buSzPct val="89000"/>
        <a:buChar char="•"/>
        <a:defRPr sz="1600">
          <a:solidFill>
            <a:schemeClr val="tx1"/>
          </a:solidFill>
          <a:latin typeface="+mn-lt"/>
          <a:ea typeface="+mn-ea"/>
        </a:defRPr>
      </a:lvl4pPr>
      <a:lvl5pPr marL="594440" indent="-152254" algn="l" defTabSz="913526" rtl="0" eaLnBrk="1" fontAlgn="base" hangingPunct="1">
        <a:spcBef>
          <a:spcPct val="0"/>
        </a:spcBef>
        <a:spcAft>
          <a:spcPct val="0"/>
        </a:spcAft>
        <a:buSzPct val="75000"/>
        <a:buChar char="–"/>
        <a:defRPr sz="1600">
          <a:solidFill>
            <a:schemeClr val="tx1"/>
          </a:solidFill>
          <a:latin typeface="+mn-lt"/>
          <a:ea typeface="+mn-ea"/>
        </a:defRPr>
      </a:lvl5pPr>
      <a:lvl6pPr marL="1060921" indent="-152254" algn="l" defTabSz="913526" rtl="0" eaLnBrk="1" fontAlgn="base" hangingPunct="1">
        <a:spcBef>
          <a:spcPct val="0"/>
        </a:spcBef>
        <a:spcAft>
          <a:spcPct val="0"/>
        </a:spcAft>
        <a:buSzPct val="75000"/>
        <a:buChar char="–"/>
        <a:defRPr sz="1600">
          <a:solidFill>
            <a:schemeClr val="tx1"/>
          </a:solidFill>
          <a:latin typeface="+mn-lt"/>
          <a:ea typeface="+mn-ea"/>
        </a:defRPr>
      </a:lvl6pPr>
      <a:lvl7pPr marL="1527402" indent="-152254" algn="l" defTabSz="913526" rtl="0" eaLnBrk="1" fontAlgn="base" hangingPunct="1">
        <a:spcBef>
          <a:spcPct val="0"/>
        </a:spcBef>
        <a:spcAft>
          <a:spcPct val="0"/>
        </a:spcAft>
        <a:buSzPct val="75000"/>
        <a:buChar char="–"/>
        <a:defRPr sz="1600">
          <a:solidFill>
            <a:schemeClr val="tx1"/>
          </a:solidFill>
          <a:latin typeface="+mn-lt"/>
          <a:ea typeface="+mn-ea"/>
        </a:defRPr>
      </a:lvl7pPr>
      <a:lvl8pPr marL="1993884" indent="-152254" algn="l" defTabSz="913526" rtl="0" eaLnBrk="1" fontAlgn="base" hangingPunct="1">
        <a:spcBef>
          <a:spcPct val="0"/>
        </a:spcBef>
        <a:spcAft>
          <a:spcPct val="0"/>
        </a:spcAft>
        <a:buSzPct val="75000"/>
        <a:buChar char="–"/>
        <a:defRPr sz="1600">
          <a:solidFill>
            <a:schemeClr val="tx1"/>
          </a:solidFill>
          <a:latin typeface="+mn-lt"/>
          <a:ea typeface="+mn-ea"/>
        </a:defRPr>
      </a:lvl8pPr>
      <a:lvl9pPr marL="2460365" indent="-152254" algn="l" defTabSz="913526" rtl="0" eaLnBrk="1" fontAlgn="base" hangingPunct="1">
        <a:spcBef>
          <a:spcPct val="0"/>
        </a:spcBef>
        <a:spcAft>
          <a:spcPct val="0"/>
        </a:spcAft>
        <a:buSzPct val="75000"/>
        <a:buChar char="–"/>
        <a:defRPr sz="1600">
          <a:solidFill>
            <a:schemeClr val="tx1"/>
          </a:solidFill>
          <a:latin typeface="+mn-lt"/>
          <a:ea typeface="+mn-ea"/>
        </a:defRPr>
      </a:lvl9pPr>
    </p:bodyStyle>
    <p:otherStyle>
      <a:defPPr>
        <a:defRPr lang="zh-TW"/>
      </a:defPPr>
      <a:lvl1pPr marL="0" algn="l" defTabSz="932962" rtl="0" eaLnBrk="1" latinLnBrk="0" hangingPunct="1">
        <a:defRPr sz="1800" kern="1200">
          <a:solidFill>
            <a:schemeClr val="tx1"/>
          </a:solidFill>
          <a:latin typeface="+mn-lt"/>
          <a:ea typeface="+mn-ea"/>
          <a:cs typeface="+mn-cs"/>
        </a:defRPr>
      </a:lvl1pPr>
      <a:lvl2pPr marL="466481" algn="l" defTabSz="932962" rtl="0" eaLnBrk="1" latinLnBrk="0" hangingPunct="1">
        <a:defRPr sz="1800" kern="1200">
          <a:solidFill>
            <a:schemeClr val="tx1"/>
          </a:solidFill>
          <a:latin typeface="+mn-lt"/>
          <a:ea typeface="+mn-ea"/>
          <a:cs typeface="+mn-cs"/>
        </a:defRPr>
      </a:lvl2pPr>
      <a:lvl3pPr marL="932962" algn="l" defTabSz="932962" rtl="0" eaLnBrk="1" latinLnBrk="0" hangingPunct="1">
        <a:defRPr sz="1800" kern="1200">
          <a:solidFill>
            <a:schemeClr val="tx1"/>
          </a:solidFill>
          <a:latin typeface="+mn-lt"/>
          <a:ea typeface="+mn-ea"/>
          <a:cs typeface="+mn-cs"/>
        </a:defRPr>
      </a:lvl3pPr>
      <a:lvl4pPr marL="1399443" algn="l" defTabSz="932962" rtl="0" eaLnBrk="1" latinLnBrk="0" hangingPunct="1">
        <a:defRPr sz="1800" kern="1200">
          <a:solidFill>
            <a:schemeClr val="tx1"/>
          </a:solidFill>
          <a:latin typeface="+mn-lt"/>
          <a:ea typeface="+mn-ea"/>
          <a:cs typeface="+mn-cs"/>
        </a:defRPr>
      </a:lvl4pPr>
      <a:lvl5pPr marL="1865925" algn="l" defTabSz="932962" rtl="0" eaLnBrk="1" latinLnBrk="0" hangingPunct="1">
        <a:defRPr sz="1800" kern="1200">
          <a:solidFill>
            <a:schemeClr val="tx1"/>
          </a:solidFill>
          <a:latin typeface="+mn-lt"/>
          <a:ea typeface="+mn-ea"/>
          <a:cs typeface="+mn-cs"/>
        </a:defRPr>
      </a:lvl5pPr>
      <a:lvl6pPr marL="2332406" algn="l" defTabSz="932962" rtl="0" eaLnBrk="1" latinLnBrk="0" hangingPunct="1">
        <a:defRPr sz="1800" kern="1200">
          <a:solidFill>
            <a:schemeClr val="tx1"/>
          </a:solidFill>
          <a:latin typeface="+mn-lt"/>
          <a:ea typeface="+mn-ea"/>
          <a:cs typeface="+mn-cs"/>
        </a:defRPr>
      </a:lvl6pPr>
      <a:lvl7pPr marL="2798887" algn="l" defTabSz="932962" rtl="0" eaLnBrk="1" latinLnBrk="0" hangingPunct="1">
        <a:defRPr sz="1800" kern="1200">
          <a:solidFill>
            <a:schemeClr val="tx1"/>
          </a:solidFill>
          <a:latin typeface="+mn-lt"/>
          <a:ea typeface="+mn-ea"/>
          <a:cs typeface="+mn-cs"/>
        </a:defRPr>
      </a:lvl7pPr>
      <a:lvl8pPr marL="3265368" algn="l" defTabSz="932962" rtl="0" eaLnBrk="1" latinLnBrk="0" hangingPunct="1">
        <a:defRPr sz="1800" kern="1200">
          <a:solidFill>
            <a:schemeClr val="tx1"/>
          </a:solidFill>
          <a:latin typeface="+mn-lt"/>
          <a:ea typeface="+mn-ea"/>
          <a:cs typeface="+mn-cs"/>
        </a:defRPr>
      </a:lvl8pPr>
      <a:lvl9pPr marL="3731849" algn="l" defTabSz="93296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8.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1.png"/><Relationship Id="rId1" Type="http://schemas.openxmlformats.org/officeDocument/2006/relationships/slideLayout" Target="../slideLayouts/slideLayout6.xml"/><Relationship Id="rId4" Type="http://schemas.openxmlformats.org/officeDocument/2006/relationships/image" Target="../media/image12.e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13.png"/><Relationship Id="rId1" Type="http://schemas.openxmlformats.org/officeDocument/2006/relationships/slideLayout" Target="../slideLayouts/slideLayout6.xml"/><Relationship Id="rId4" Type="http://schemas.openxmlformats.org/officeDocument/2006/relationships/image" Target="../media/image14.emf"/></Relationships>
</file>

<file path=ppt/slides/_rels/slide2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BE57561-CBFC-4BC8-9412-1D2BC01CE28E}"/>
              </a:ext>
            </a:extLst>
          </p:cNvPr>
          <p:cNvSpPr>
            <a:spLocks noChangeArrowheads="1"/>
          </p:cNvSpPr>
          <p:nvPr/>
        </p:nvSpPr>
        <p:spPr bwMode="auto">
          <a:xfrm>
            <a:off x="1160980" y="2052004"/>
            <a:ext cx="9971069" cy="1266831"/>
          </a:xfrm>
          <a:prstGeom prst="rect">
            <a:avLst/>
          </a:prstGeom>
          <a:noFill/>
          <a:ln w="9525">
            <a:noFill/>
            <a:miter lim="800000"/>
            <a:headEnd/>
            <a:tailEnd/>
          </a:ln>
        </p:spPr>
        <p:txBody>
          <a:bodyPr wrap="none" lIns="0" tIns="0" rIns="0" bIns="0" anchor="ctr"/>
          <a:lstStyle>
            <a:defPPr>
              <a:defRPr lang="zh-TW"/>
            </a:defPPr>
            <a:lvl1pPr marL="0" algn="l" defTabSz="583028" rtl="0" eaLnBrk="1" latinLnBrk="0" hangingPunct="1">
              <a:defRPr sz="1100" kern="1200">
                <a:solidFill>
                  <a:schemeClr val="tx1"/>
                </a:solidFill>
                <a:latin typeface="+mn-lt"/>
                <a:ea typeface="+mn-ea"/>
                <a:cs typeface="+mn-cs"/>
              </a:defRPr>
            </a:lvl1pPr>
            <a:lvl2pPr marL="291527" algn="l" defTabSz="583028" rtl="0" eaLnBrk="1" latinLnBrk="0" hangingPunct="1">
              <a:defRPr sz="1100" kern="1200">
                <a:solidFill>
                  <a:schemeClr val="tx1"/>
                </a:solidFill>
                <a:latin typeface="+mn-lt"/>
                <a:ea typeface="+mn-ea"/>
                <a:cs typeface="+mn-cs"/>
              </a:defRPr>
            </a:lvl2pPr>
            <a:lvl3pPr marL="583028" algn="l" defTabSz="583028" rtl="0" eaLnBrk="1" latinLnBrk="0" hangingPunct="1">
              <a:defRPr sz="1100" kern="1200">
                <a:solidFill>
                  <a:schemeClr val="tx1"/>
                </a:solidFill>
                <a:latin typeface="+mn-lt"/>
                <a:ea typeface="+mn-ea"/>
                <a:cs typeface="+mn-cs"/>
              </a:defRPr>
            </a:lvl3pPr>
            <a:lvl4pPr marL="874568" algn="l" defTabSz="583028" rtl="0" eaLnBrk="1" latinLnBrk="0" hangingPunct="1">
              <a:defRPr sz="1100" kern="1200">
                <a:solidFill>
                  <a:schemeClr val="tx1"/>
                </a:solidFill>
                <a:latin typeface="+mn-lt"/>
                <a:ea typeface="+mn-ea"/>
                <a:cs typeface="+mn-cs"/>
              </a:defRPr>
            </a:lvl4pPr>
            <a:lvl5pPr marL="1166071" algn="l" defTabSz="583028" rtl="0" eaLnBrk="1" latinLnBrk="0" hangingPunct="1">
              <a:defRPr sz="1100" kern="1200">
                <a:solidFill>
                  <a:schemeClr val="tx1"/>
                </a:solidFill>
                <a:latin typeface="+mn-lt"/>
                <a:ea typeface="+mn-ea"/>
                <a:cs typeface="+mn-cs"/>
              </a:defRPr>
            </a:lvl5pPr>
            <a:lvl6pPr marL="1457599" algn="l" defTabSz="583028" rtl="0" eaLnBrk="1" latinLnBrk="0" hangingPunct="1">
              <a:defRPr sz="1100" kern="1200">
                <a:solidFill>
                  <a:schemeClr val="tx1"/>
                </a:solidFill>
                <a:latin typeface="+mn-lt"/>
                <a:ea typeface="+mn-ea"/>
                <a:cs typeface="+mn-cs"/>
              </a:defRPr>
            </a:lvl6pPr>
            <a:lvl7pPr marL="1749110" algn="l" defTabSz="583028" rtl="0" eaLnBrk="1" latinLnBrk="0" hangingPunct="1">
              <a:defRPr sz="1100" kern="1200">
                <a:solidFill>
                  <a:schemeClr val="tx1"/>
                </a:solidFill>
                <a:latin typeface="+mn-lt"/>
                <a:ea typeface="+mn-ea"/>
                <a:cs typeface="+mn-cs"/>
              </a:defRPr>
            </a:lvl7pPr>
            <a:lvl8pPr marL="2040622" algn="l" defTabSz="583028" rtl="0" eaLnBrk="1" latinLnBrk="0" hangingPunct="1">
              <a:defRPr sz="1100" kern="1200">
                <a:solidFill>
                  <a:schemeClr val="tx1"/>
                </a:solidFill>
                <a:latin typeface="+mn-lt"/>
                <a:ea typeface="+mn-ea"/>
                <a:cs typeface="+mn-cs"/>
              </a:defRPr>
            </a:lvl8pPr>
            <a:lvl9pPr marL="2332141" algn="l" defTabSz="583028" rtl="0" eaLnBrk="1" latinLnBrk="0" hangingPunct="1">
              <a:defRPr sz="1100" kern="1200">
                <a:solidFill>
                  <a:schemeClr val="tx1"/>
                </a:solidFill>
                <a:latin typeface="+mn-lt"/>
                <a:ea typeface="+mn-ea"/>
                <a:cs typeface="+mn-cs"/>
              </a:defRPr>
            </a:lvl9pPr>
          </a:lstStyle>
          <a:p>
            <a:pPr algn="ctr">
              <a:defRPr/>
            </a:pPr>
            <a:r>
              <a:rPr lang="zh-TW" altLang="en-US" sz="4000" b="1" dirty="0">
                <a:latin typeface="+mn-ea"/>
                <a:cs typeface="+mj-cs"/>
              </a:rPr>
              <a:t>投顧永豐大腦</a:t>
            </a:r>
            <a:endParaRPr lang="en-US" sz="4000" b="1" dirty="0">
              <a:latin typeface="+mn-ea"/>
              <a:cs typeface="+mj-cs"/>
            </a:endParaRPr>
          </a:p>
        </p:txBody>
      </p:sp>
      <p:sp>
        <p:nvSpPr>
          <p:cNvPr id="5" name="文字版面配置區 3">
            <a:extLst>
              <a:ext uri="{FF2B5EF4-FFF2-40B4-BE49-F238E27FC236}">
                <a16:creationId xmlns:a16="http://schemas.microsoft.com/office/drawing/2014/main" id="{91D6399A-C0D5-472F-BDA7-BEAF36E73C47}"/>
              </a:ext>
            </a:extLst>
          </p:cNvPr>
          <p:cNvSpPr>
            <a:spLocks noGrp="1"/>
          </p:cNvSpPr>
          <p:nvPr>
            <p:ph type="body" sz="half" idx="2"/>
          </p:nvPr>
        </p:nvSpPr>
        <p:spPr>
          <a:xfrm>
            <a:off x="2960105" y="4400365"/>
            <a:ext cx="6372818" cy="548154"/>
          </a:xfrm>
          <a:prstGeom prst="rect">
            <a:avLst/>
          </a:prstGeom>
        </p:spPr>
        <p:txBody>
          <a:bodyPr anchor="ctr"/>
          <a:lstStyle>
            <a:lvl1pPr marL="0" indent="0" algn="ctr">
              <a:buNone/>
              <a:defRPr sz="2800" b="1">
                <a:latin typeface="微軟正黑體" panose="020B0604030504040204" pitchFamily="34" charset="-120"/>
                <a:ea typeface="微軟正黑體" panose="020B0604030504040204" pitchFamily="34" charset="-12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dirty="0"/>
              <a:t>報告人</a:t>
            </a:r>
            <a:endParaRPr lang="en-US" altLang="zh-TW" dirty="0"/>
          </a:p>
          <a:p>
            <a:pPr lvl="0"/>
            <a:endParaRPr lang="en-US" altLang="zh-TW" dirty="0"/>
          </a:p>
          <a:p>
            <a:pPr lvl="0"/>
            <a:r>
              <a:rPr lang="zh-TW" altLang="en-US" sz="1600" dirty="0"/>
              <a:t>何立峯</a:t>
            </a:r>
          </a:p>
        </p:txBody>
      </p:sp>
      <p:sp>
        <p:nvSpPr>
          <p:cNvPr id="2" name="文字版面配置區 1">
            <a:extLst>
              <a:ext uri="{FF2B5EF4-FFF2-40B4-BE49-F238E27FC236}">
                <a16:creationId xmlns:a16="http://schemas.microsoft.com/office/drawing/2014/main" id="{8EE3BADA-FE26-44F0-BB76-9D8E0443D583}"/>
              </a:ext>
            </a:extLst>
          </p:cNvPr>
          <p:cNvSpPr>
            <a:spLocks noGrp="1"/>
          </p:cNvSpPr>
          <p:nvPr>
            <p:ph type="body" sz="half" idx="10"/>
          </p:nvPr>
        </p:nvSpPr>
        <p:spPr>
          <a:xfrm>
            <a:off x="3585261" y="5584121"/>
            <a:ext cx="5122507" cy="414941"/>
          </a:xfrm>
        </p:spPr>
        <p:txBody>
          <a:bodyPr/>
          <a:lstStyle/>
          <a:p>
            <a:r>
              <a:rPr lang="en-US" altLang="zh-TW" kern="0" dirty="0"/>
              <a:t>2025/06</a:t>
            </a:r>
            <a:endParaRPr lang="zh-TW" altLang="en-US" kern="0" dirty="0"/>
          </a:p>
        </p:txBody>
      </p:sp>
    </p:spTree>
    <p:extLst>
      <p:ext uri="{BB962C8B-B14F-4D97-AF65-F5344CB8AC3E}">
        <p14:creationId xmlns:p14="http://schemas.microsoft.com/office/powerpoint/2010/main" val="47869200"/>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íśľíḓé">
            <a:extLst>
              <a:ext uri="{FF2B5EF4-FFF2-40B4-BE49-F238E27FC236}">
                <a16:creationId xmlns:a16="http://schemas.microsoft.com/office/drawing/2014/main" id="{3F8DC3F0-B471-4E1B-B330-82385D9BEF8F}"/>
              </a:ext>
            </a:extLst>
          </p:cNvPr>
          <p:cNvGrpSpPr/>
          <p:nvPr/>
        </p:nvGrpSpPr>
        <p:grpSpPr>
          <a:xfrm>
            <a:off x="540009" y="983938"/>
            <a:ext cx="2318760" cy="5365557"/>
            <a:chOff x="2174243" y="1779398"/>
            <a:chExt cx="1951858" cy="4003615"/>
          </a:xfrm>
        </p:grpSpPr>
        <p:grpSp>
          <p:nvGrpSpPr>
            <p:cNvPr id="4" name="íŝḻîdé"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D0F87849-A691-4567-AB7B-EE4034ACE683}"/>
                </a:ext>
              </a:extLst>
            </p:cNvPr>
            <p:cNvGrpSpPr>
              <a:grpSpLocks noChangeAspect="1"/>
            </p:cNvGrpSpPr>
            <p:nvPr>
              <p:custDataLst>
                <p:tags r:id="rId1"/>
              </p:custDataLst>
            </p:nvPr>
          </p:nvGrpSpPr>
          <p:grpSpPr>
            <a:xfrm>
              <a:off x="2174243" y="1779398"/>
              <a:ext cx="1951858" cy="4003615"/>
              <a:chOff x="2537613" y="1779399"/>
              <a:chExt cx="1875971" cy="4003616"/>
            </a:xfrm>
          </p:grpSpPr>
          <p:cxnSp>
            <p:nvCxnSpPr>
              <p:cNvPr id="7" name="ísļîdè">
                <a:extLst>
                  <a:ext uri="{FF2B5EF4-FFF2-40B4-BE49-F238E27FC236}">
                    <a16:creationId xmlns:a16="http://schemas.microsoft.com/office/drawing/2014/main" id="{1F9BADEA-43A5-4534-8AAA-18CDCDC754ED}"/>
                  </a:ext>
                </a:extLst>
              </p:cNvPr>
              <p:cNvCxnSpPr>
                <a:cxnSpLocks/>
              </p:cNvCxnSpPr>
              <p:nvPr/>
            </p:nvCxnSpPr>
            <p:spPr>
              <a:xfrm>
                <a:off x="4413584" y="1779399"/>
                <a:ext cx="0" cy="4003616"/>
              </a:xfrm>
              <a:prstGeom prst="line">
                <a:avLst/>
              </a:prstGeom>
              <a:solidFill>
                <a:srgbClr val="FFCC00"/>
              </a:solidFill>
              <a:ln w="3175" cap="flat" cmpd="sng" algn="ctr">
                <a:solidFill>
                  <a:srgbClr val="FFFFFF">
                    <a:lumMod val="75000"/>
                  </a:srgbClr>
                </a:solidFill>
                <a:prstDash val="solid"/>
                <a:round/>
                <a:headEnd type="none" w="med" len="med"/>
                <a:tailEnd type="none" w="med" len="med"/>
              </a:ln>
              <a:effectLst/>
            </p:spPr>
          </p:cxnSp>
          <p:sp>
            <p:nvSpPr>
              <p:cNvPr id="8" name="iṥḷîďe">
                <a:extLst>
                  <a:ext uri="{FF2B5EF4-FFF2-40B4-BE49-F238E27FC236}">
                    <a16:creationId xmlns:a16="http://schemas.microsoft.com/office/drawing/2014/main" id="{63287036-7419-49F0-BBDE-BCDA17E8C588}"/>
                  </a:ext>
                </a:extLst>
              </p:cNvPr>
              <p:cNvSpPr txBox="1"/>
              <p:nvPr/>
            </p:nvSpPr>
            <p:spPr>
              <a:xfrm>
                <a:off x="2537613" y="1779399"/>
                <a:ext cx="1742365" cy="344480"/>
              </a:xfrm>
              <a:prstGeom prst="rect">
                <a:avLst/>
              </a:prstGeom>
              <a:solidFill>
                <a:srgbClr val="FFFFFF"/>
              </a:solidFill>
            </p:spPr>
            <p:txBody>
              <a:bodyPr wrap="square" rtlCol="0">
                <a:spAutoFit/>
              </a:bodyPr>
              <a:lstStyle/>
              <a:p>
                <a:pPr algn="r">
                  <a:defRPr/>
                </a:pPr>
                <a:r>
                  <a:rPr lang="tr-TR" sz="2400" b="1" kern="0">
                    <a:solidFill>
                      <a:srgbClr val="E61A11"/>
                    </a:solidFill>
                    <a:latin typeface="微軟正黑體" panose="020B0604030504040204" pitchFamily="34" charset="-120"/>
                    <a:cs typeface="+mn-ea"/>
                    <a:sym typeface="+mn-lt"/>
                  </a:rPr>
                  <a:t>CONTENTS</a:t>
                </a:r>
              </a:p>
            </p:txBody>
          </p:sp>
        </p:grpSp>
        <p:sp>
          <p:nvSpPr>
            <p:cNvPr id="5" name="íṩļîďê">
              <a:extLst>
                <a:ext uri="{FF2B5EF4-FFF2-40B4-BE49-F238E27FC236}">
                  <a16:creationId xmlns:a16="http://schemas.microsoft.com/office/drawing/2014/main" id="{4C304BFF-BDCF-4C69-9A88-EE0B0783B0CC}"/>
                </a:ext>
              </a:extLst>
            </p:cNvPr>
            <p:cNvSpPr>
              <a:spLocks noChangeAspect="1"/>
            </p:cNvSpPr>
            <p:nvPr/>
          </p:nvSpPr>
          <p:spPr bwMode="auto">
            <a:xfrm>
              <a:off x="3240882" y="4757710"/>
              <a:ext cx="588975" cy="550103"/>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rgbClr val="FFFFFF">
                <a:lumMod val="85000"/>
              </a:srgbClr>
            </a:solidFill>
            <a:ln>
              <a:noFill/>
            </a:ln>
          </p:spPr>
          <p:txBody>
            <a:bodyPr/>
            <a:lstStyle/>
            <a:p>
              <a:pPr>
                <a:defRPr/>
              </a:pPr>
              <a:endParaRPr lang="zh-CN" altLang="en-US" kern="0">
                <a:solidFill>
                  <a:srgbClr val="000000"/>
                </a:solidFill>
                <a:latin typeface="微軟正黑體" panose="020B0604030504040204" pitchFamily="34" charset="-120"/>
                <a:cs typeface="+mn-ea"/>
                <a:sym typeface="+mn-lt"/>
              </a:endParaRPr>
            </a:p>
          </p:txBody>
        </p:sp>
      </p:grpSp>
      <p:sp>
        <p:nvSpPr>
          <p:cNvPr id="9" name="文字方塊 8">
            <a:extLst>
              <a:ext uri="{FF2B5EF4-FFF2-40B4-BE49-F238E27FC236}">
                <a16:creationId xmlns:a16="http://schemas.microsoft.com/office/drawing/2014/main" id="{9D4124A3-C1BB-4361-A5D6-78FACEAE2620}"/>
              </a:ext>
            </a:extLst>
          </p:cNvPr>
          <p:cNvSpPr txBox="1"/>
          <p:nvPr/>
        </p:nvSpPr>
        <p:spPr>
          <a:xfrm>
            <a:off x="3210701" y="983938"/>
            <a:ext cx="5445129" cy="4154984"/>
          </a:xfrm>
          <a:prstGeom prst="rect">
            <a:avLst/>
          </a:prstGeom>
          <a:noFill/>
        </p:spPr>
        <p:txBody>
          <a:bodyPr wrap="square" rtlCol="0">
            <a:spAutoFit/>
          </a:bodyPr>
          <a:lstStyle/>
          <a:p>
            <a:pPr marL="342900" indent="-342900">
              <a:buFont typeface="Arial" panose="020B0604020202020204" pitchFamily="34" charset="0"/>
              <a:buChar char="•"/>
            </a:pPr>
            <a:r>
              <a:rPr lang="zh-TW" altLang="en-US" sz="2400" dirty="0"/>
              <a:t>專案總覽</a:t>
            </a:r>
            <a:endParaRPr lang="en-US" altLang="zh-TW" sz="2400" dirty="0"/>
          </a:p>
          <a:p>
            <a:pPr marL="342900" indent="-342900">
              <a:buFont typeface="Arial" panose="020B0604020202020204" pitchFamily="34" charset="0"/>
              <a:buChar char="•"/>
            </a:pPr>
            <a:r>
              <a:rPr lang="zh-TW" altLang="en-US" sz="2400" dirty="0"/>
              <a:t>專案目標</a:t>
            </a:r>
            <a:endParaRPr lang="en-US" altLang="zh-TW" sz="2400" dirty="0"/>
          </a:p>
          <a:p>
            <a:pPr marL="342900" indent="-342900">
              <a:buFont typeface="Arial" panose="020B0604020202020204" pitchFamily="34" charset="0"/>
              <a:buChar char="•"/>
            </a:pPr>
            <a:r>
              <a:rPr lang="zh-TW" altLang="en-US" sz="2400" dirty="0"/>
              <a:t>專案範圍</a:t>
            </a:r>
            <a:endParaRPr lang="en-US" altLang="zh-TW" sz="2400" dirty="0"/>
          </a:p>
          <a:p>
            <a:pPr marL="342900" indent="-342900">
              <a:buFont typeface="Arial" panose="020B0604020202020204" pitchFamily="34" charset="0"/>
              <a:buChar char="•"/>
            </a:pPr>
            <a:r>
              <a:rPr lang="zh-TW" altLang="en-US" sz="2400" dirty="0"/>
              <a:t>軟體架構</a:t>
            </a:r>
            <a:r>
              <a:rPr lang="en-US" altLang="zh-TW" sz="2000" dirty="0"/>
              <a:t>(</a:t>
            </a:r>
            <a:r>
              <a:rPr lang="zh-TW" altLang="en-US" sz="2000" dirty="0"/>
              <a:t>現況</a:t>
            </a:r>
            <a:r>
              <a:rPr lang="en-US" altLang="zh-TW" sz="2000" dirty="0"/>
              <a:t>)</a:t>
            </a:r>
            <a:endParaRPr lang="en-US" altLang="zh-TW" sz="2400" dirty="0"/>
          </a:p>
          <a:p>
            <a:pPr marL="342900" indent="-342900">
              <a:buFont typeface="Arial" panose="020B0604020202020204" pitchFamily="34" charset="0"/>
              <a:buChar char="•"/>
            </a:pPr>
            <a:r>
              <a:rPr lang="zh-TW" altLang="en-US" sz="2400" dirty="0"/>
              <a:t>硬體架構</a:t>
            </a:r>
            <a:r>
              <a:rPr lang="en-US" altLang="zh-TW" sz="2000" dirty="0"/>
              <a:t>(</a:t>
            </a:r>
            <a:r>
              <a:rPr lang="zh-TW" altLang="en-US" sz="2000" dirty="0"/>
              <a:t>現況</a:t>
            </a:r>
            <a:r>
              <a:rPr lang="en-US" altLang="zh-TW" sz="2000" dirty="0"/>
              <a:t>)</a:t>
            </a:r>
          </a:p>
          <a:p>
            <a:pPr marL="342900" indent="-342900">
              <a:buFont typeface="Arial" panose="020B0604020202020204" pitchFamily="34" charset="0"/>
              <a:buChar char="•"/>
            </a:pPr>
            <a:r>
              <a:rPr lang="zh-TW" altLang="en-US" sz="2400" dirty="0"/>
              <a:t>系統關聯圖</a:t>
            </a:r>
            <a:r>
              <a:rPr lang="en-US" altLang="zh-TW" sz="2000" dirty="0"/>
              <a:t>(</a:t>
            </a:r>
            <a:r>
              <a:rPr lang="zh-TW" altLang="en-US" sz="2000" dirty="0"/>
              <a:t>現況</a:t>
            </a:r>
            <a:r>
              <a:rPr lang="en-US" altLang="zh-TW" sz="2000" dirty="0"/>
              <a:t>)</a:t>
            </a:r>
          </a:p>
          <a:p>
            <a:pPr marL="342900" indent="-342900">
              <a:buFont typeface="Arial" panose="020B0604020202020204" pitchFamily="34" charset="0"/>
              <a:buChar char="•"/>
            </a:pPr>
            <a:r>
              <a:rPr lang="zh-TW" altLang="en-US" sz="2400" dirty="0"/>
              <a:t>專案成本</a:t>
            </a:r>
            <a:r>
              <a:rPr lang="en-US" altLang="zh-TW" sz="2000" dirty="0"/>
              <a:t>(</a:t>
            </a:r>
            <a:r>
              <a:rPr lang="zh-TW" altLang="en-US" sz="2000" dirty="0"/>
              <a:t>硬體及其他</a:t>
            </a:r>
            <a:r>
              <a:rPr lang="en-US" altLang="zh-TW" sz="2000" dirty="0"/>
              <a:t>)</a:t>
            </a:r>
          </a:p>
          <a:p>
            <a:pPr marL="342900" indent="-342900">
              <a:buFont typeface="Arial" panose="020B0604020202020204" pitchFamily="34" charset="0"/>
              <a:buChar char="•"/>
            </a:pPr>
            <a:r>
              <a:rPr lang="en-US" altLang="zh-TW" sz="2400" dirty="0"/>
              <a:t>IT </a:t>
            </a:r>
            <a:r>
              <a:rPr lang="zh-TW" altLang="en-US" sz="2400" dirty="0"/>
              <a:t>內部人力</a:t>
            </a:r>
            <a:endParaRPr lang="en-US" altLang="zh-TW" sz="2400" dirty="0"/>
          </a:p>
          <a:p>
            <a:pPr marL="342900" indent="-342900">
              <a:buFont typeface="Arial" panose="020B0604020202020204" pitchFamily="34" charset="0"/>
              <a:buChar char="•"/>
            </a:pPr>
            <a:r>
              <a:rPr lang="zh-TW" altLang="en-US" sz="2400" dirty="0"/>
              <a:t>專案時程</a:t>
            </a:r>
            <a:endParaRPr lang="en-US" altLang="zh-TW" sz="2400" dirty="0"/>
          </a:p>
          <a:p>
            <a:pPr marL="342900" indent="-342900">
              <a:buFont typeface="Arial" panose="020B0604020202020204" pitchFamily="34" charset="0"/>
              <a:buChar char="•"/>
            </a:pPr>
            <a:r>
              <a:rPr lang="zh-TW" altLang="en-US" sz="2400" dirty="0"/>
              <a:t>資安規範檢核</a:t>
            </a:r>
            <a:endParaRPr lang="en-US" altLang="zh-TW" sz="2400" dirty="0"/>
          </a:p>
          <a:p>
            <a:pPr marL="342900" indent="-342900">
              <a:buFont typeface="Arial" panose="020B0604020202020204" pitchFamily="34" charset="0"/>
              <a:buChar char="•"/>
            </a:pPr>
            <a:r>
              <a:rPr lang="zh-TW" altLang="en-US" sz="2400" dirty="0"/>
              <a:t>參考附錄</a:t>
            </a:r>
            <a:endParaRPr lang="en-US" altLang="zh-TW" sz="2400" dirty="0"/>
          </a:p>
        </p:txBody>
      </p:sp>
    </p:spTree>
    <p:extLst>
      <p:ext uri="{BB962C8B-B14F-4D97-AF65-F5344CB8AC3E}">
        <p14:creationId xmlns:p14="http://schemas.microsoft.com/office/powerpoint/2010/main" val="4052758306"/>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E3986C6-78D2-41B9-9989-1CDA62C62058}"/>
              </a:ext>
            </a:extLst>
          </p:cNvPr>
          <p:cNvSpPr>
            <a:spLocks noGrp="1"/>
          </p:cNvSpPr>
          <p:nvPr>
            <p:ph type="title"/>
          </p:nvPr>
        </p:nvSpPr>
        <p:spPr>
          <a:xfrm>
            <a:off x="527051" y="149738"/>
            <a:ext cx="11233150" cy="630238"/>
          </a:xfrm>
          <a:prstGeom prst="rect">
            <a:avLst/>
          </a:prstGeom>
        </p:spPr>
        <p:txBody>
          <a:bodyPr/>
          <a:lstStyle/>
          <a:p>
            <a:r>
              <a:rPr lang="zh-TW" altLang="en-US" sz="3200" b="0">
                <a:solidFill>
                  <a:schemeClr val="tx1"/>
                </a:solidFill>
              </a:rPr>
              <a:t>專案總覽</a:t>
            </a:r>
          </a:p>
        </p:txBody>
      </p:sp>
      <p:graphicFrame>
        <p:nvGraphicFramePr>
          <p:cNvPr id="6" name="Google Shape;130;p2">
            <a:extLst>
              <a:ext uri="{FF2B5EF4-FFF2-40B4-BE49-F238E27FC236}">
                <a16:creationId xmlns:a16="http://schemas.microsoft.com/office/drawing/2014/main" id="{101562CA-2980-47BE-8E19-F3A71C9BC32F}"/>
              </a:ext>
            </a:extLst>
          </p:cNvPr>
          <p:cNvGraphicFramePr/>
          <p:nvPr>
            <p:extLst>
              <p:ext uri="{D42A27DB-BD31-4B8C-83A1-F6EECF244321}">
                <p14:modId xmlns:p14="http://schemas.microsoft.com/office/powerpoint/2010/main" val="3649062199"/>
              </p:ext>
            </p:extLst>
          </p:nvPr>
        </p:nvGraphicFramePr>
        <p:xfrm>
          <a:off x="649705" y="994611"/>
          <a:ext cx="10772275" cy="5133472"/>
        </p:xfrm>
        <a:graphic>
          <a:graphicData uri="http://schemas.openxmlformats.org/drawingml/2006/table">
            <a:tbl>
              <a:tblPr firstRow="1" bandRow="1">
                <a:noFill/>
              </a:tblPr>
              <a:tblGrid>
                <a:gridCol w="2915611">
                  <a:extLst>
                    <a:ext uri="{9D8B030D-6E8A-4147-A177-3AD203B41FA5}">
                      <a16:colId xmlns:a16="http://schemas.microsoft.com/office/drawing/2014/main" val="20000"/>
                    </a:ext>
                  </a:extLst>
                </a:gridCol>
                <a:gridCol w="2915611">
                  <a:extLst>
                    <a:ext uri="{9D8B030D-6E8A-4147-A177-3AD203B41FA5}">
                      <a16:colId xmlns:a16="http://schemas.microsoft.com/office/drawing/2014/main" val="276506123"/>
                    </a:ext>
                  </a:extLst>
                </a:gridCol>
                <a:gridCol w="4941053">
                  <a:extLst>
                    <a:ext uri="{9D8B030D-6E8A-4147-A177-3AD203B41FA5}">
                      <a16:colId xmlns:a16="http://schemas.microsoft.com/office/drawing/2014/main" val="20001"/>
                    </a:ext>
                  </a:extLst>
                </a:gridCol>
              </a:tblGrid>
              <a:tr h="1955057">
                <a:tc gridSpan="2">
                  <a:txBody>
                    <a:bodyPr/>
                    <a:lstStyle/>
                    <a:p>
                      <a:pPr marL="0" marR="0" lvl="0" indent="0" algn="just" rtl="0">
                        <a:lnSpc>
                          <a:spcPct val="100000"/>
                        </a:lnSpc>
                        <a:spcBef>
                          <a:spcPts val="0"/>
                        </a:spcBef>
                        <a:spcAft>
                          <a:spcPts val="0"/>
                        </a:spcAft>
                        <a:buClr>
                          <a:srgbClr val="000000"/>
                        </a:buClr>
                        <a:buSzPts val="1200"/>
                        <a:buFont typeface="Arial"/>
                        <a:buNone/>
                      </a:pPr>
                      <a:r>
                        <a:rPr lang="zh-TW" altLang="en-US" sz="1600" b="1" i="0" u="none" strike="noStrike" cap="none" dirty="0">
                          <a:solidFill>
                            <a:srgbClr val="FF0000"/>
                          </a:solidFill>
                          <a:latin typeface="+mj-ea"/>
                          <a:ea typeface="+mj-ea"/>
                          <a:cs typeface="Times New Roman"/>
                          <a:sym typeface="Times New Roman"/>
                        </a:rPr>
                        <a:t>專案目標</a:t>
                      </a:r>
                      <a:endParaRPr lang="en-US" altLang="zh-TW" sz="1600" b="1" i="0" u="none" strike="noStrike" cap="none" dirty="0">
                        <a:solidFill>
                          <a:srgbClr val="FF0000"/>
                        </a:solidFill>
                        <a:latin typeface="+mj-ea"/>
                        <a:ea typeface="+mj-ea"/>
                        <a:cs typeface="Times New Roman"/>
                        <a:sym typeface="Times New Roman"/>
                      </a:endParaRPr>
                    </a:p>
                    <a:p>
                      <a:pPr marL="252000" marR="0" lvl="0" indent="-216000" algn="l" defTabSz="914400" rtl="0" eaLnBrk="1" fontAlgn="auto" latinLnBrk="0" hangingPunct="1">
                        <a:lnSpc>
                          <a:spcPct val="130000"/>
                        </a:lnSpc>
                        <a:spcBef>
                          <a:spcPts val="0"/>
                        </a:spcBef>
                        <a:spcAft>
                          <a:spcPts val="0"/>
                        </a:spcAft>
                        <a:buClrTx/>
                        <a:buSzPct val="100000"/>
                        <a:buFont typeface="Courier New"/>
                        <a:buChar char="o"/>
                        <a:tabLst>
                          <a:tab pos="172948" algn="l"/>
                        </a:tabLst>
                        <a:defRPr/>
                      </a:pPr>
                      <a:r>
                        <a:rPr kumimoji="0" lang="zh-TW" altLang="en-US" sz="1600" b="0" i="0" u="none" strike="noStrike" kern="0" cap="none" spc="0" normalizeH="0" baseline="0" noProof="0" dirty="0">
                          <a:ln>
                            <a:noFill/>
                          </a:ln>
                          <a:solidFill>
                            <a:sysClr val="windowText" lastClr="000000"/>
                          </a:solidFill>
                          <a:effectLst/>
                          <a:uLnTx/>
                          <a:uFillTx/>
                          <a:latin typeface="Microsoft JhengHei"/>
                          <a:ea typeface="Microsoft JhengHei"/>
                          <a:sym typeface="Microsoft JhengHei"/>
                        </a:rPr>
                        <a:t>本專案為永豐第一個有多 </a:t>
                      </a:r>
                      <a:r>
                        <a:rPr kumimoji="0" lang="en-US" altLang="zh-TW" sz="1600" b="0" i="0" u="none" strike="noStrike" kern="0" cap="none" spc="0" normalizeH="0" baseline="0" noProof="0" dirty="0">
                          <a:ln>
                            <a:noFill/>
                          </a:ln>
                          <a:solidFill>
                            <a:sysClr val="windowText" lastClr="000000"/>
                          </a:solidFill>
                          <a:effectLst/>
                          <a:uLnTx/>
                          <a:uFillTx/>
                          <a:latin typeface="Microsoft JhengHei"/>
                          <a:ea typeface="Microsoft JhengHei"/>
                          <a:sym typeface="Microsoft JhengHei"/>
                        </a:rPr>
                        <a:t>Agent </a:t>
                      </a:r>
                      <a:r>
                        <a:rPr kumimoji="0" lang="zh-TW" altLang="en-US" sz="1600" b="0" i="0" u="none" strike="noStrike" kern="0" cap="none" spc="0" normalizeH="0" baseline="0" noProof="0" dirty="0">
                          <a:ln>
                            <a:noFill/>
                          </a:ln>
                          <a:solidFill>
                            <a:sysClr val="windowText" lastClr="000000"/>
                          </a:solidFill>
                          <a:effectLst/>
                          <a:uLnTx/>
                          <a:uFillTx/>
                          <a:latin typeface="Microsoft JhengHei"/>
                          <a:ea typeface="Microsoft JhengHei"/>
                          <a:sym typeface="Microsoft JhengHei"/>
                        </a:rPr>
                        <a:t>組合的應用，預期透過永豐大腦打造擁有​永豐投顧研究員能力的</a:t>
                      </a:r>
                      <a:r>
                        <a:rPr kumimoji="0" lang="en-US" altLang="zh-TW" sz="1600" b="0" i="0" u="none" strike="noStrike" kern="0" cap="none" spc="0" normalizeH="0" baseline="0" noProof="0" dirty="0">
                          <a:ln>
                            <a:noFill/>
                          </a:ln>
                          <a:solidFill>
                            <a:sysClr val="windowText" lastClr="000000"/>
                          </a:solidFill>
                          <a:effectLst/>
                          <a:uLnTx/>
                          <a:uFillTx/>
                          <a:latin typeface="Microsoft JhengHei"/>
                          <a:ea typeface="Microsoft JhengHei"/>
                          <a:sym typeface="Microsoft JhengHei"/>
                        </a:rPr>
                        <a:t>AI</a:t>
                      </a:r>
                      <a:r>
                        <a:rPr kumimoji="0" lang="zh-TW" altLang="en-US" sz="1600" b="0" i="0" u="none" strike="noStrike" kern="0" cap="none" spc="0" normalizeH="0" baseline="0" noProof="0" dirty="0">
                          <a:ln>
                            <a:noFill/>
                          </a:ln>
                          <a:solidFill>
                            <a:sysClr val="windowText" lastClr="000000"/>
                          </a:solidFill>
                          <a:effectLst/>
                          <a:uLnTx/>
                          <a:uFillTx/>
                          <a:latin typeface="Microsoft JhengHei"/>
                          <a:ea typeface="Microsoft JhengHei"/>
                          <a:sym typeface="Microsoft JhengHei"/>
                        </a:rPr>
                        <a:t>研究員。擴大研究涵蓋範圍，並提升研究員報告產出的效率與品質​</a:t>
                      </a:r>
                      <a:endParaRPr kumimoji="0" lang="en-US" altLang="zh-TW" sz="1600" b="0" i="0" u="none" strike="noStrike" kern="0" cap="none" spc="0" normalizeH="0" baseline="0" noProof="0" dirty="0">
                        <a:ln>
                          <a:noFill/>
                        </a:ln>
                        <a:solidFill>
                          <a:sysClr val="windowText" lastClr="000000"/>
                        </a:solidFill>
                        <a:effectLst/>
                        <a:uLnTx/>
                        <a:uFillTx/>
                        <a:latin typeface="Microsoft JhengHei"/>
                        <a:ea typeface="Microsoft JhengHei"/>
                        <a:sym typeface="Microsoft JhengHei"/>
                      </a:endParaRPr>
                    </a:p>
                    <a:p>
                      <a:pPr marL="252000" marR="0" lvl="0" indent="-216000" algn="l" defTabSz="914400" rtl="0" eaLnBrk="1" fontAlgn="auto" latinLnBrk="0" hangingPunct="1">
                        <a:lnSpc>
                          <a:spcPct val="130000"/>
                        </a:lnSpc>
                        <a:spcBef>
                          <a:spcPts val="0"/>
                        </a:spcBef>
                        <a:spcAft>
                          <a:spcPts val="0"/>
                        </a:spcAft>
                        <a:buClrTx/>
                        <a:buSzPct val="100000"/>
                        <a:buFont typeface="Courier New"/>
                        <a:buChar char="o"/>
                        <a:tabLst>
                          <a:tab pos="172948" algn="l"/>
                        </a:tabLst>
                        <a:defRPr/>
                      </a:pPr>
                      <a:r>
                        <a:rPr kumimoji="0" lang="zh-TW" altLang="en-US" sz="1600" b="0" i="0" u="none" strike="noStrike" kern="0" cap="none" spc="0" normalizeH="0" baseline="0" noProof="0" dirty="0">
                          <a:ln>
                            <a:noFill/>
                          </a:ln>
                          <a:solidFill>
                            <a:sysClr val="windowText" lastClr="000000"/>
                          </a:solidFill>
                          <a:effectLst/>
                          <a:uLnTx/>
                          <a:uFillTx/>
                          <a:latin typeface="Microsoft JhengHei"/>
                          <a:ea typeface="Microsoft JhengHei"/>
                          <a:sym typeface="Microsoft JhengHei"/>
                        </a:rPr>
                        <a:t>預計節省研究報告產出時間 </a:t>
                      </a:r>
                      <a:r>
                        <a:rPr kumimoji="0" lang="en-US" altLang="zh-TW" sz="1600" b="1" i="0" u="none" strike="noStrike" kern="0" cap="none" spc="0" normalizeH="0" baseline="0" noProof="0" dirty="0">
                          <a:ln>
                            <a:noFill/>
                          </a:ln>
                          <a:solidFill>
                            <a:srgbClr val="F43F5E"/>
                          </a:solidFill>
                          <a:effectLst/>
                          <a:uLnTx/>
                          <a:uFillTx/>
                          <a:latin typeface="Microsoft JhengHei"/>
                          <a:ea typeface="Microsoft JhengHei"/>
                          <a:sym typeface="Microsoft JhengHei"/>
                        </a:rPr>
                        <a:t>20%</a:t>
                      </a:r>
                      <a:r>
                        <a:rPr kumimoji="0" lang="en-US" altLang="zh-TW" sz="1600" b="0" i="0" u="none" strike="noStrike" kern="0" cap="none" spc="0" normalizeH="0" baseline="0" noProof="0" dirty="0">
                          <a:ln>
                            <a:noFill/>
                          </a:ln>
                          <a:solidFill>
                            <a:sysClr val="windowText" lastClr="000000"/>
                          </a:solidFill>
                          <a:effectLst/>
                          <a:uLnTx/>
                          <a:uFillTx/>
                          <a:latin typeface="Microsoft JhengHei"/>
                          <a:ea typeface="Microsoft JhengHei"/>
                          <a:sym typeface="Microsoft JhengHei"/>
                        </a:rPr>
                        <a:t> </a:t>
                      </a:r>
                      <a:r>
                        <a:rPr kumimoji="0" lang="en-US" altLang="zh-TW" sz="1400" b="0" i="0" u="none" strike="noStrike" kern="0" cap="none" spc="0" normalizeH="0" baseline="0" noProof="0" dirty="0">
                          <a:ln>
                            <a:noFill/>
                          </a:ln>
                          <a:solidFill>
                            <a:srgbClr val="000000">
                              <a:lumMod val="50000"/>
                              <a:lumOff val="50000"/>
                            </a:srgbClr>
                          </a:solidFill>
                          <a:effectLst/>
                          <a:uLnTx/>
                          <a:uFillTx/>
                          <a:latin typeface="Microsoft JhengHei" panose="020B0604030504040204" pitchFamily="34" charset="-120"/>
                          <a:ea typeface="Microsoft JhengHei" panose="020B0604030504040204" pitchFamily="34" charset="-120"/>
                          <a:cs typeface="Arial" panose="020B0604020202020204" pitchFamily="34" charset="0"/>
                          <a:sym typeface="Microsoft JhengHei"/>
                        </a:rPr>
                        <a:t>3.2hr/16hr </a:t>
                      </a:r>
                      <a:r>
                        <a:rPr kumimoji="0" lang="zh-TW" altLang="en-US" sz="1600" b="0" i="0" u="none" strike="noStrike" kern="0" cap="none" spc="0" normalizeH="0" baseline="0" noProof="0" dirty="0">
                          <a:ln>
                            <a:noFill/>
                          </a:ln>
                          <a:solidFill>
                            <a:sysClr val="windowText" lastClr="000000"/>
                          </a:solidFill>
                          <a:effectLst/>
                          <a:uLnTx/>
                          <a:uFillTx/>
                          <a:latin typeface="Microsoft JhengHei"/>
                          <a:ea typeface="Microsoft JhengHei"/>
                          <a:sym typeface="Microsoft JhengHei"/>
                        </a:rPr>
                        <a:t>以上​，最終期望可以省去事前準備時間並可以提供更多元的研究報告</a:t>
                      </a:r>
                      <a:endParaRPr kumimoji="0" lang="en-US" altLang="zh-TW" sz="1600" b="0" i="0" u="none" strike="noStrike" kern="0" cap="none" spc="0" normalizeH="0" baseline="0" noProof="0" dirty="0">
                        <a:ln>
                          <a:noFill/>
                        </a:ln>
                        <a:solidFill>
                          <a:sysClr val="windowText" lastClr="000000"/>
                        </a:solidFill>
                        <a:effectLst/>
                        <a:uLnTx/>
                        <a:uFillTx/>
                        <a:latin typeface="Microsoft JhengHei"/>
                        <a:ea typeface="Microsoft JhengHei"/>
                        <a:sym typeface="Microsoft JhengHei"/>
                      </a:endParaRPr>
                    </a:p>
                  </a:txBody>
                  <a:tcPr marL="93300" marR="93300" marT="46650" marB="46650">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zh-TW" altLang="en-US"/>
                    </a:p>
                  </a:txBody>
                  <a:tcPr/>
                </a:tc>
                <a:tc rowSpan="2">
                  <a:txBody>
                    <a:bodyPr/>
                    <a:lstStyle/>
                    <a:p>
                      <a:pPr marL="0" marR="0" lvl="0" indent="0" algn="just" rtl="0">
                        <a:lnSpc>
                          <a:spcPct val="100000"/>
                        </a:lnSpc>
                        <a:spcBef>
                          <a:spcPts val="0"/>
                        </a:spcBef>
                        <a:spcAft>
                          <a:spcPts val="0"/>
                        </a:spcAft>
                        <a:buClr>
                          <a:srgbClr val="000000"/>
                        </a:buClr>
                        <a:buSzPts val="1200"/>
                        <a:buFont typeface="Arial"/>
                        <a:buNone/>
                      </a:pPr>
                      <a:r>
                        <a:rPr lang="zh-TW" altLang="en-US" sz="1600" b="1" i="0" u="none" strike="noStrike" cap="none" dirty="0">
                          <a:solidFill>
                            <a:srgbClr val="FF0000"/>
                          </a:solidFill>
                          <a:latin typeface="+mj-ea"/>
                          <a:ea typeface="+mj-ea"/>
                          <a:cs typeface="Times New Roman"/>
                          <a:sym typeface="Times New Roman"/>
                        </a:rPr>
                        <a:t>專案範圍</a:t>
                      </a:r>
                      <a:endParaRPr lang="en-US" altLang="zh-TW" sz="1600" b="1" i="0" u="none" strike="noStrike" cap="none" dirty="0">
                        <a:solidFill>
                          <a:srgbClr val="FF0000"/>
                        </a:solidFill>
                        <a:latin typeface="+mj-ea"/>
                        <a:ea typeface="+mj-ea"/>
                        <a:cs typeface="Times New Roman"/>
                        <a:sym typeface="Times New Roman"/>
                      </a:endParaRPr>
                    </a:p>
                    <a:p>
                      <a:pPr marL="0" marR="0" lvl="0" indent="0" algn="just" defTabSz="932962" rtl="0" eaLnBrk="1" fontAlgn="auto" latinLnBrk="0" hangingPunct="1">
                        <a:lnSpc>
                          <a:spcPct val="100000"/>
                        </a:lnSpc>
                        <a:spcBef>
                          <a:spcPts val="0"/>
                        </a:spcBef>
                        <a:spcAft>
                          <a:spcPts val="0"/>
                        </a:spcAft>
                        <a:buClr>
                          <a:srgbClr val="000000"/>
                        </a:buClr>
                        <a:buSzPts val="1200"/>
                        <a:buFont typeface="Arial"/>
                        <a:buNone/>
                        <a:tabLst/>
                        <a:defRPr/>
                      </a:pPr>
                      <a:r>
                        <a:rPr lang="en-US" altLang="zh-TW" sz="1400" b="0" i="0" u="none" strike="noStrike" kern="1200" cap="none" dirty="0">
                          <a:solidFill>
                            <a:schemeClr val="tx1"/>
                          </a:solidFill>
                          <a:effectLst/>
                          <a:latin typeface="+mn-lt"/>
                          <a:ea typeface="+mn-ea"/>
                          <a:cs typeface="+mn-cs"/>
                          <a:sym typeface="Times New Roman"/>
                        </a:rPr>
                        <a:t>1</a:t>
                      </a:r>
                      <a:r>
                        <a:rPr lang="en-US" altLang="zh-TW" sz="1600" b="0" i="0" u="none" strike="noStrike" kern="1200" cap="none" dirty="0">
                          <a:solidFill>
                            <a:schemeClr val="tx1"/>
                          </a:solidFill>
                          <a:effectLst/>
                          <a:latin typeface="+mn-lt"/>
                          <a:ea typeface="+mn-ea"/>
                          <a:cs typeface="+mn-cs"/>
                          <a:sym typeface="Times New Roman"/>
                        </a:rPr>
                        <a:t>.</a:t>
                      </a:r>
                      <a:r>
                        <a:rPr lang="zh-TW" altLang="en-US" sz="1600" kern="1200" dirty="0">
                          <a:solidFill>
                            <a:schemeClr val="tx1"/>
                          </a:solidFill>
                          <a:effectLst/>
                          <a:latin typeface="+mn-lt"/>
                          <a:ea typeface="+mn-ea"/>
                          <a:cs typeface="+mn-cs"/>
                        </a:rPr>
                        <a:t>投顧永豐大腦系統</a:t>
                      </a:r>
                      <a:endParaRPr lang="en-US" altLang="zh-TW" sz="1600" b="0" i="0" u="none" strike="noStrike" kern="1200" cap="none" dirty="0">
                        <a:solidFill>
                          <a:schemeClr val="tx1"/>
                        </a:solidFill>
                        <a:effectLst/>
                        <a:latin typeface="+mn-lt"/>
                        <a:ea typeface="+mn-ea"/>
                        <a:cs typeface="+mn-cs"/>
                        <a:sym typeface="Times New Roman"/>
                      </a:endParaRPr>
                    </a:p>
                    <a:p>
                      <a:pPr marL="342900" marR="0" lvl="0" indent="-342900" algn="just" defTabSz="932962" rtl="0" eaLnBrk="1" fontAlgn="auto" latinLnBrk="0" hangingPunct="1">
                        <a:lnSpc>
                          <a:spcPct val="100000"/>
                        </a:lnSpc>
                        <a:spcBef>
                          <a:spcPts val="0"/>
                        </a:spcBef>
                        <a:spcAft>
                          <a:spcPts val="0"/>
                        </a:spcAft>
                        <a:buClr>
                          <a:srgbClr val="000000"/>
                        </a:buClr>
                        <a:buSzPts val="1200"/>
                        <a:buFont typeface="Wingdings" panose="05000000000000000000" pitchFamily="2" charset="2"/>
                        <a:buChar char="l"/>
                        <a:tabLst/>
                        <a:defRPr/>
                      </a:pPr>
                      <a:r>
                        <a:rPr lang="zh-TW" altLang="en-US" sz="1600" b="0" i="0" u="none" strike="noStrike" kern="1200" cap="none" dirty="0">
                          <a:solidFill>
                            <a:schemeClr val="tx1"/>
                          </a:solidFill>
                          <a:effectLst/>
                          <a:latin typeface="+mn-lt"/>
                          <a:ea typeface="+mn-ea"/>
                          <a:cs typeface="+mn-cs"/>
                          <a:sym typeface="Times New Roman"/>
                        </a:rPr>
                        <a:t>系統建置、管理維運</a:t>
                      </a:r>
                      <a:endParaRPr lang="en-US" altLang="zh-TW" sz="1600" b="0" i="0" u="none" strike="noStrike" kern="1200" cap="none" dirty="0">
                        <a:solidFill>
                          <a:schemeClr val="tx1"/>
                        </a:solidFill>
                        <a:effectLst/>
                        <a:latin typeface="+mn-lt"/>
                        <a:ea typeface="+mn-ea"/>
                        <a:cs typeface="+mn-cs"/>
                        <a:sym typeface="Times New Roman"/>
                      </a:endParaRPr>
                    </a:p>
                    <a:p>
                      <a:pPr marL="342900" marR="0" lvl="0" indent="-342900" algn="just" defTabSz="932962" rtl="0" eaLnBrk="1" fontAlgn="auto" latinLnBrk="0" hangingPunct="1">
                        <a:lnSpc>
                          <a:spcPct val="100000"/>
                        </a:lnSpc>
                        <a:spcBef>
                          <a:spcPts val="0"/>
                        </a:spcBef>
                        <a:spcAft>
                          <a:spcPts val="0"/>
                        </a:spcAft>
                        <a:buClr>
                          <a:srgbClr val="000000"/>
                        </a:buClr>
                        <a:buSzPts val="1200"/>
                        <a:buFont typeface="Wingdings" panose="05000000000000000000" pitchFamily="2" charset="2"/>
                        <a:buChar char="l"/>
                        <a:tabLst/>
                        <a:defRPr/>
                      </a:pPr>
                      <a:r>
                        <a:rPr lang="zh-TW" altLang="en-US" sz="1600" b="0" i="0" u="none" strike="noStrike" kern="1200" cap="none" dirty="0">
                          <a:solidFill>
                            <a:schemeClr val="tx1"/>
                          </a:solidFill>
                          <a:effectLst/>
                          <a:latin typeface="+mn-lt"/>
                          <a:ea typeface="+mn-ea"/>
                          <a:cs typeface="+mn-cs"/>
                          <a:sym typeface="Times New Roman"/>
                        </a:rPr>
                        <a:t>轉入投顧公槽、</a:t>
                      </a:r>
                      <a:r>
                        <a:rPr lang="en-US" altLang="zh-TW" sz="1600" b="0" i="0" u="none" strike="noStrike" kern="1200" cap="none" dirty="0" err="1">
                          <a:solidFill>
                            <a:schemeClr val="tx1"/>
                          </a:solidFill>
                          <a:effectLst/>
                          <a:latin typeface="+mn-lt"/>
                          <a:ea typeface="+mn-ea"/>
                          <a:cs typeface="+mn-cs"/>
                          <a:sym typeface="Times New Roman"/>
                        </a:rPr>
                        <a:t>Cmoney</a:t>
                      </a:r>
                      <a:r>
                        <a:rPr lang="zh-TW" altLang="en-US" sz="1600" b="0" i="0" u="none" strike="noStrike" kern="1200" cap="none" dirty="0">
                          <a:solidFill>
                            <a:schemeClr val="tx1"/>
                          </a:solidFill>
                          <a:effectLst/>
                          <a:latin typeface="+mn-lt"/>
                          <a:ea typeface="+mn-ea"/>
                          <a:cs typeface="+mn-cs"/>
                          <a:sym typeface="Times New Roman"/>
                        </a:rPr>
                        <a:t>、公開觀測資訊站等資料，提供</a:t>
                      </a:r>
                      <a:r>
                        <a:rPr lang="en-US" altLang="zh-TW" sz="1600" b="0" i="0" u="none" strike="noStrike" kern="1200" cap="none" dirty="0">
                          <a:solidFill>
                            <a:schemeClr val="tx1"/>
                          </a:solidFill>
                          <a:effectLst/>
                          <a:latin typeface="+mn-lt"/>
                          <a:ea typeface="+mn-ea"/>
                          <a:cs typeface="+mn-cs"/>
                          <a:sym typeface="Times New Roman"/>
                        </a:rPr>
                        <a:t>AI</a:t>
                      </a:r>
                      <a:r>
                        <a:rPr lang="zh-TW" altLang="en-US" sz="1600" b="0" i="0" u="none" strike="noStrike" kern="1200" cap="none" dirty="0">
                          <a:solidFill>
                            <a:schemeClr val="tx1"/>
                          </a:solidFill>
                          <a:effectLst/>
                          <a:latin typeface="+mn-lt"/>
                          <a:ea typeface="+mn-ea"/>
                          <a:cs typeface="+mn-cs"/>
                          <a:sym typeface="Times New Roman"/>
                        </a:rPr>
                        <a:t>對話等相關功能</a:t>
                      </a:r>
                      <a:endParaRPr lang="en-US" altLang="zh-TW" sz="1600" b="0" i="0" u="none" strike="noStrike" kern="1200" cap="none" dirty="0">
                        <a:solidFill>
                          <a:schemeClr val="tx1"/>
                        </a:solidFill>
                        <a:effectLst/>
                        <a:latin typeface="+mn-lt"/>
                        <a:ea typeface="+mn-ea"/>
                        <a:cs typeface="+mn-cs"/>
                        <a:sym typeface="Times New Roman"/>
                      </a:endParaRPr>
                    </a:p>
                  </a:txBody>
                  <a:tcPr marL="93300" marR="93300" marT="46650" marB="46650">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53486">
                <a:tc rowSpan="2" gridSpan="2">
                  <a:txBody>
                    <a:bodyPr/>
                    <a:lstStyle/>
                    <a:p>
                      <a:pPr marL="0" marR="0" lvl="0" indent="0" algn="just" rtl="0">
                        <a:lnSpc>
                          <a:spcPct val="100000"/>
                        </a:lnSpc>
                        <a:spcBef>
                          <a:spcPts val="0"/>
                        </a:spcBef>
                        <a:spcAft>
                          <a:spcPts val="0"/>
                        </a:spcAft>
                        <a:buClr>
                          <a:srgbClr val="000000"/>
                        </a:buClr>
                        <a:buSzPts val="1200"/>
                        <a:buFont typeface="Arial"/>
                        <a:buNone/>
                      </a:pPr>
                      <a:r>
                        <a:rPr lang="zh-TW" altLang="en-US" sz="1600" b="1" i="0" u="none" strike="noStrike" cap="none" dirty="0">
                          <a:solidFill>
                            <a:srgbClr val="FF0000"/>
                          </a:solidFill>
                          <a:latin typeface="+mj-ea"/>
                          <a:ea typeface="+mj-ea"/>
                          <a:cs typeface="Times New Roman"/>
                          <a:sym typeface="Times New Roman"/>
                        </a:rPr>
                        <a:t>預估成本</a:t>
                      </a:r>
                      <a:endParaRPr lang="en-US" altLang="zh-TW" sz="1600" b="1" i="0" u="none" strike="noStrike" cap="none" dirty="0">
                        <a:solidFill>
                          <a:srgbClr val="FF0000"/>
                        </a:solidFill>
                        <a:latin typeface="+mj-ea"/>
                        <a:ea typeface="+mj-ea"/>
                        <a:cs typeface="Times New Roman"/>
                        <a:sym typeface="Times New Roman"/>
                      </a:endParaRPr>
                    </a:p>
                    <a:p>
                      <a:pPr marL="0" marR="0" lvl="0" indent="0" algn="just" defTabSz="932962" rtl="0" eaLnBrk="1" fontAlgn="auto" latinLnBrk="0" hangingPunct="1">
                        <a:lnSpc>
                          <a:spcPct val="100000"/>
                        </a:lnSpc>
                        <a:spcBef>
                          <a:spcPts val="0"/>
                        </a:spcBef>
                        <a:spcAft>
                          <a:spcPts val="0"/>
                        </a:spcAft>
                        <a:buClr>
                          <a:srgbClr val="000000"/>
                        </a:buClr>
                        <a:buSzPts val="1200"/>
                        <a:buFont typeface="Arial"/>
                        <a:buNone/>
                        <a:tabLst/>
                        <a:defRPr/>
                      </a:pPr>
                      <a:r>
                        <a:rPr kumimoji="0" lang="zh-TW" altLang="en-US" sz="1600" b="0" i="0" u="none" strike="noStrike" kern="0" cap="none" spc="0" normalizeH="0" baseline="0" dirty="0">
                          <a:ln>
                            <a:noFill/>
                          </a:ln>
                          <a:solidFill>
                            <a:sysClr val="windowText" lastClr="000000"/>
                          </a:solidFill>
                          <a:effectLst/>
                          <a:uLnTx/>
                          <a:uFillTx/>
                          <a:latin typeface="Microsoft JhengHei"/>
                          <a:ea typeface="Microsoft JhengHei"/>
                          <a:cs typeface="+mn-cs"/>
                          <a:sym typeface="Times New Roman"/>
                        </a:rPr>
                        <a:t>測試環境：</a:t>
                      </a:r>
                      <a:r>
                        <a:rPr kumimoji="0" lang="en-US" altLang="zh-TW" sz="1600" b="0" i="0" u="none" strike="noStrike" kern="0" cap="none" spc="0" normalizeH="0" baseline="0" dirty="0">
                          <a:ln>
                            <a:noFill/>
                          </a:ln>
                          <a:solidFill>
                            <a:sysClr val="windowText" lastClr="000000"/>
                          </a:solidFill>
                          <a:effectLst/>
                          <a:uLnTx/>
                          <a:uFillTx/>
                          <a:latin typeface="Microsoft JhengHei"/>
                          <a:ea typeface="Microsoft JhengHei"/>
                          <a:cs typeface="+mn-cs"/>
                          <a:sym typeface="Times New Roman"/>
                        </a:rPr>
                        <a:t>VM</a:t>
                      </a:r>
                      <a:r>
                        <a:rPr kumimoji="0" lang="zh-TW" altLang="en-US" sz="1600" b="0" i="0" u="none" strike="noStrike" kern="0" cap="none" spc="0" normalizeH="0" baseline="0" dirty="0">
                          <a:ln>
                            <a:noFill/>
                          </a:ln>
                          <a:solidFill>
                            <a:sysClr val="windowText" lastClr="000000"/>
                          </a:solidFill>
                          <a:effectLst/>
                          <a:uLnTx/>
                          <a:uFillTx/>
                          <a:latin typeface="Microsoft JhengHei"/>
                          <a:ea typeface="Microsoft JhengHei"/>
                          <a:cs typeface="+mn-cs"/>
                          <a:sym typeface="Times New Roman"/>
                        </a:rPr>
                        <a:t>二台</a:t>
                      </a:r>
                      <a:endParaRPr kumimoji="0" lang="en-US" altLang="zh-TW" sz="1600" b="0" i="0" u="none" strike="noStrike" kern="0" cap="none" spc="0" normalizeH="0" baseline="0" dirty="0">
                        <a:ln>
                          <a:noFill/>
                        </a:ln>
                        <a:solidFill>
                          <a:sysClr val="windowText" lastClr="000000"/>
                        </a:solidFill>
                        <a:effectLst/>
                        <a:uLnTx/>
                        <a:uFillTx/>
                        <a:latin typeface="Microsoft JhengHei"/>
                        <a:ea typeface="Microsoft JhengHei"/>
                        <a:cs typeface="+mn-cs"/>
                        <a:sym typeface="Times New Roman"/>
                      </a:endParaRPr>
                    </a:p>
                    <a:p>
                      <a:pPr marL="0" marR="0" lvl="0" indent="0" algn="just" rtl="0">
                        <a:lnSpc>
                          <a:spcPct val="100000"/>
                        </a:lnSpc>
                        <a:spcBef>
                          <a:spcPts val="0"/>
                        </a:spcBef>
                        <a:spcAft>
                          <a:spcPts val="0"/>
                        </a:spcAft>
                        <a:buClr>
                          <a:srgbClr val="000000"/>
                        </a:buClr>
                        <a:buSzPts val="1200"/>
                        <a:buFont typeface="Arial"/>
                        <a:buNone/>
                      </a:pPr>
                      <a:r>
                        <a:rPr kumimoji="0" lang="zh-TW" altLang="en-US" sz="1600" b="0" i="0" u="none" strike="noStrike" kern="0" cap="none" spc="0" normalizeH="0" baseline="0" dirty="0">
                          <a:ln>
                            <a:noFill/>
                          </a:ln>
                          <a:solidFill>
                            <a:sysClr val="windowText" lastClr="000000"/>
                          </a:solidFill>
                          <a:effectLst/>
                          <a:uLnTx/>
                          <a:uFillTx/>
                          <a:latin typeface="Microsoft JhengHei"/>
                          <a:ea typeface="Microsoft JhengHei"/>
                          <a:cs typeface="+mn-cs"/>
                          <a:sym typeface="Times New Roman"/>
                        </a:rPr>
                        <a:t>正式環境：實體機一台、</a:t>
                      </a:r>
                      <a:r>
                        <a:rPr kumimoji="0" lang="en-US" altLang="zh-TW" sz="1600" b="0" i="0" u="none" strike="noStrike" kern="0" cap="none" spc="0" normalizeH="0" baseline="0" dirty="0">
                          <a:ln>
                            <a:noFill/>
                          </a:ln>
                          <a:solidFill>
                            <a:sysClr val="windowText" lastClr="000000"/>
                          </a:solidFill>
                          <a:effectLst/>
                          <a:uLnTx/>
                          <a:uFillTx/>
                          <a:latin typeface="Microsoft JhengHei"/>
                          <a:ea typeface="Microsoft JhengHei"/>
                          <a:cs typeface="+mn-cs"/>
                          <a:sym typeface="Times New Roman"/>
                        </a:rPr>
                        <a:t>VM</a:t>
                      </a:r>
                      <a:r>
                        <a:rPr kumimoji="0" lang="zh-TW" altLang="en-US" sz="1600" b="0" i="0" u="none" strike="noStrike" kern="0" cap="none" spc="0" normalizeH="0" baseline="0" dirty="0">
                          <a:ln>
                            <a:noFill/>
                          </a:ln>
                          <a:solidFill>
                            <a:sysClr val="windowText" lastClr="000000"/>
                          </a:solidFill>
                          <a:effectLst/>
                          <a:uLnTx/>
                          <a:uFillTx/>
                          <a:latin typeface="Microsoft JhengHei"/>
                          <a:ea typeface="Microsoft JhengHei"/>
                          <a:cs typeface="+mn-cs"/>
                          <a:sym typeface="Times New Roman"/>
                        </a:rPr>
                        <a:t>一台</a:t>
                      </a:r>
                      <a:endParaRPr lang="en-US" altLang="zh-TW" sz="1600" b="1" i="0" u="none" strike="noStrike" cap="none" dirty="0">
                        <a:solidFill>
                          <a:srgbClr val="FF0000"/>
                        </a:solidFill>
                        <a:latin typeface="+mj-ea"/>
                        <a:ea typeface="+mj-ea"/>
                        <a:cs typeface="Times New Roman"/>
                        <a:sym typeface="Times New Roman"/>
                      </a:endParaRPr>
                    </a:p>
                    <a:p>
                      <a:pPr marL="0" marR="0" lvl="0" indent="0" algn="just" rtl="0">
                        <a:lnSpc>
                          <a:spcPct val="100000"/>
                        </a:lnSpc>
                        <a:spcBef>
                          <a:spcPts val="0"/>
                        </a:spcBef>
                        <a:spcAft>
                          <a:spcPts val="0"/>
                        </a:spcAft>
                        <a:buClr>
                          <a:srgbClr val="000000"/>
                        </a:buClr>
                        <a:buSzPts val="1200"/>
                        <a:buFont typeface="Arial"/>
                        <a:buNone/>
                      </a:pPr>
                      <a:endParaRPr lang="en-US" altLang="zh-TW" sz="1600" b="1" i="0" u="none" strike="noStrike" cap="none" dirty="0">
                        <a:solidFill>
                          <a:srgbClr val="FF0000"/>
                        </a:solidFill>
                        <a:latin typeface="+mj-ea"/>
                        <a:ea typeface="+mj-ea"/>
                        <a:cs typeface="Times New Roman"/>
                        <a:sym typeface="Times New Roman"/>
                      </a:endParaRPr>
                    </a:p>
                    <a:p>
                      <a:pPr marL="0" marR="0" lvl="0" indent="0" algn="just" rtl="0">
                        <a:lnSpc>
                          <a:spcPct val="100000"/>
                        </a:lnSpc>
                        <a:spcBef>
                          <a:spcPts val="0"/>
                        </a:spcBef>
                        <a:spcAft>
                          <a:spcPts val="0"/>
                        </a:spcAft>
                        <a:buClr>
                          <a:srgbClr val="000000"/>
                        </a:buClr>
                        <a:buSzPts val="1200"/>
                        <a:buFont typeface="Arial"/>
                        <a:buNone/>
                      </a:pPr>
                      <a:endParaRPr lang="en-US" altLang="zh-TW" sz="1600" b="1" i="0" u="none" strike="noStrike" cap="none" dirty="0">
                        <a:solidFill>
                          <a:srgbClr val="FF0000"/>
                        </a:solidFill>
                        <a:latin typeface="+mj-ea"/>
                        <a:ea typeface="+mj-ea"/>
                        <a:cs typeface="Times New Roman"/>
                        <a:sym typeface="Times New Roman"/>
                      </a:endParaRPr>
                    </a:p>
                  </a:txBody>
                  <a:tcPr marL="93300" marR="93300" marT="46650" marB="46650">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tx1"/>
                      </a:solidFill>
                      <a:prstDash val="solid"/>
                      <a:round/>
                      <a:headEnd type="none" w="med" len="med"/>
                      <a:tailEnd type="none" w="med" len="med"/>
                    </a:lnB>
                  </a:tcPr>
                </a:tc>
                <a:tc rowSpan="2" hMerge="1">
                  <a:txBody>
                    <a:bodyPr/>
                    <a:lstStyle/>
                    <a:p>
                      <a:endParaRPr lang="zh-TW" altLang="en-US"/>
                    </a:p>
                  </a:txBody>
                  <a:tcPr/>
                </a:tc>
                <a:tc vMerge="1">
                  <a:txBody>
                    <a:bodyPr/>
                    <a:lstStyle/>
                    <a:p>
                      <a:endParaRPr lang="zh-TW"/>
                    </a:p>
                  </a:txBody>
                  <a:tcPr/>
                </a:tc>
                <a:extLst>
                  <a:ext uri="{0D108BD9-81ED-4DB2-BD59-A6C34878D82A}">
                    <a16:rowId xmlns:a16="http://schemas.microsoft.com/office/drawing/2014/main" val="10001"/>
                  </a:ext>
                </a:extLst>
              </a:tr>
              <a:tr h="1107895">
                <a:tc gridSpan="2" vMerge="1">
                  <a:txBody>
                    <a:bodyPr/>
                    <a:lstStyle/>
                    <a:p>
                      <a:endParaRPr lang="zh-TW" altLang="en-US"/>
                    </a:p>
                  </a:txBody>
                  <a:tcPr/>
                </a:tc>
                <a:tc hMerge="1" vMerge="1">
                  <a:txBody>
                    <a:bodyPr/>
                    <a:lstStyle/>
                    <a:p>
                      <a:endParaRPr lang="zh-TW" altLang="en-US"/>
                    </a:p>
                  </a:txBody>
                  <a:tcPr/>
                </a:tc>
                <a:tc rowSpan="2">
                  <a:txBody>
                    <a:bodyPr/>
                    <a:lstStyle/>
                    <a:p>
                      <a:pPr marL="0" marR="0" lvl="0" indent="-178481" algn="l" rtl="0">
                        <a:lnSpc>
                          <a:spcPct val="100000"/>
                        </a:lnSpc>
                        <a:spcBef>
                          <a:spcPts val="0"/>
                        </a:spcBef>
                        <a:spcAft>
                          <a:spcPts val="0"/>
                        </a:spcAft>
                        <a:buClr>
                          <a:srgbClr val="000000"/>
                        </a:buClr>
                        <a:buSzPts val="1200"/>
                        <a:buFont typeface="Arial"/>
                        <a:buNone/>
                      </a:pPr>
                      <a:r>
                        <a:rPr lang="zh-TW" altLang="en-US" sz="1600" b="1" i="0" u="none" strike="noStrike" cap="none" dirty="0">
                          <a:solidFill>
                            <a:srgbClr val="FF0000"/>
                          </a:solidFill>
                          <a:latin typeface="+mj-ea"/>
                          <a:ea typeface="+mj-ea"/>
                          <a:cs typeface="Times New Roman"/>
                          <a:sym typeface="Times New Roman"/>
                        </a:rPr>
                        <a:t>專案成員</a:t>
                      </a:r>
                      <a:endParaRPr lang="en-US" altLang="zh-TW" sz="1600" b="1" i="0" u="none" strike="noStrike" cap="none" dirty="0">
                        <a:solidFill>
                          <a:srgbClr val="FF0000"/>
                        </a:solidFill>
                        <a:latin typeface="+mj-ea"/>
                        <a:ea typeface="+mj-ea"/>
                        <a:cs typeface="Times New Roman"/>
                        <a:sym typeface="Times New Roman"/>
                      </a:endParaRPr>
                    </a:p>
                    <a:p>
                      <a:pPr marL="252000" marR="0" lvl="0" indent="-216000" algn="l" defTabSz="914400" rtl="0" eaLnBrk="1" fontAlgn="auto" latinLnBrk="0" hangingPunct="1">
                        <a:lnSpc>
                          <a:spcPct val="130000"/>
                        </a:lnSpc>
                        <a:spcBef>
                          <a:spcPts val="0"/>
                        </a:spcBef>
                        <a:spcAft>
                          <a:spcPts val="0"/>
                        </a:spcAft>
                        <a:buClrTx/>
                        <a:buSzPct val="100000"/>
                        <a:buFont typeface="Courier New"/>
                        <a:buChar char="o"/>
                        <a:tabLst>
                          <a:tab pos="172948" algn="l"/>
                        </a:tabLst>
                        <a:defRPr/>
                      </a:pPr>
                      <a:r>
                        <a:rPr kumimoji="0" lang="zh-TW" altLang="en-US" sz="1600" b="0" i="0" u="none" strike="noStrike" kern="0" cap="none" spc="0" normalizeH="0" baseline="0" noProof="0" dirty="0">
                          <a:ln>
                            <a:noFill/>
                          </a:ln>
                          <a:solidFill>
                            <a:sysClr val="windowText" lastClr="000000"/>
                          </a:solidFill>
                          <a:effectLst/>
                          <a:uLnTx/>
                          <a:uFillTx/>
                          <a:latin typeface="Microsoft JhengHei"/>
                          <a:ea typeface="Microsoft JhengHei"/>
                          <a:sym typeface="Microsoft JhengHei"/>
                        </a:rPr>
                        <a:t>投顧：廖貫捷</a:t>
                      </a:r>
                      <a:endParaRPr kumimoji="0" lang="en-US" altLang="zh-TW" sz="1600" b="0" i="0" u="none" strike="noStrike" kern="0" cap="none" spc="0" normalizeH="0" baseline="0" noProof="0" dirty="0">
                        <a:ln>
                          <a:noFill/>
                        </a:ln>
                        <a:solidFill>
                          <a:sysClr val="windowText" lastClr="000000"/>
                        </a:solidFill>
                        <a:effectLst/>
                        <a:uLnTx/>
                        <a:uFillTx/>
                        <a:latin typeface="Microsoft JhengHei"/>
                        <a:ea typeface="Microsoft JhengHei"/>
                        <a:sym typeface="Microsoft JhengHei"/>
                      </a:endParaRPr>
                    </a:p>
                    <a:p>
                      <a:pPr marL="252000" marR="0" lvl="0" indent="-216000" algn="l" defTabSz="914400" rtl="0" eaLnBrk="1" fontAlgn="auto" latinLnBrk="0" hangingPunct="1">
                        <a:lnSpc>
                          <a:spcPct val="130000"/>
                        </a:lnSpc>
                        <a:spcBef>
                          <a:spcPts val="0"/>
                        </a:spcBef>
                        <a:spcAft>
                          <a:spcPts val="0"/>
                        </a:spcAft>
                        <a:buClrTx/>
                        <a:buSzPct val="100000"/>
                        <a:buFont typeface="Courier New"/>
                        <a:buChar char="o"/>
                        <a:tabLst>
                          <a:tab pos="172948" algn="l"/>
                        </a:tabLst>
                        <a:defRPr/>
                      </a:pPr>
                      <a:r>
                        <a:rPr kumimoji="0" lang="zh-TW" altLang="en-US" sz="1600" b="0" i="0" u="none" strike="noStrike" kern="0" cap="none" spc="0" normalizeH="0" baseline="0" noProof="0" dirty="0">
                          <a:ln>
                            <a:noFill/>
                          </a:ln>
                          <a:solidFill>
                            <a:sysClr val="windowText" lastClr="000000"/>
                          </a:solidFill>
                          <a:effectLst/>
                          <a:uLnTx/>
                          <a:uFillTx/>
                          <a:latin typeface="Microsoft JhengHei"/>
                          <a:ea typeface="Microsoft JhengHei"/>
                          <a:sym typeface="Microsoft JhengHei"/>
                        </a:rPr>
                        <a:t>資訊處：王詩儀、何立峯</a:t>
                      </a:r>
                      <a:endParaRPr kumimoji="0" lang="en-US" altLang="zh-TW" sz="1600" b="0" i="0" u="none" strike="noStrike" kern="0" cap="none" spc="0" normalizeH="0" baseline="0" noProof="0" dirty="0">
                        <a:ln>
                          <a:noFill/>
                        </a:ln>
                        <a:solidFill>
                          <a:sysClr val="windowText" lastClr="000000"/>
                        </a:solidFill>
                        <a:effectLst/>
                        <a:uLnTx/>
                        <a:uFillTx/>
                        <a:latin typeface="Microsoft JhengHei"/>
                        <a:ea typeface="Microsoft JhengHei"/>
                        <a:sym typeface="Microsoft JhengHei"/>
                      </a:endParaRPr>
                    </a:p>
                    <a:p>
                      <a:pPr marL="252000" marR="0" lvl="0" indent="-216000" algn="l" defTabSz="914400" rtl="0" eaLnBrk="1" fontAlgn="auto" latinLnBrk="0" hangingPunct="1">
                        <a:lnSpc>
                          <a:spcPct val="130000"/>
                        </a:lnSpc>
                        <a:spcBef>
                          <a:spcPts val="0"/>
                        </a:spcBef>
                        <a:spcAft>
                          <a:spcPts val="0"/>
                        </a:spcAft>
                        <a:buClrTx/>
                        <a:buSzPct val="100000"/>
                        <a:buFont typeface="Courier New"/>
                        <a:buChar char="o"/>
                        <a:tabLst>
                          <a:tab pos="172948" algn="l"/>
                        </a:tabLst>
                        <a:defRPr/>
                      </a:pPr>
                      <a:r>
                        <a:rPr kumimoji="0" lang="zh-TW" altLang="en-US" sz="1600" b="0" i="0" u="none" strike="noStrike" kern="0" cap="none" spc="0" normalizeH="0" baseline="0" noProof="0" dirty="0">
                          <a:ln>
                            <a:noFill/>
                          </a:ln>
                          <a:solidFill>
                            <a:sysClr val="windowText" lastClr="000000"/>
                          </a:solidFill>
                          <a:effectLst/>
                          <a:uLnTx/>
                          <a:uFillTx/>
                          <a:latin typeface="Microsoft JhengHei"/>
                          <a:ea typeface="Microsoft JhengHei"/>
                          <a:sym typeface="Microsoft JhengHei"/>
                        </a:rPr>
                        <a:t>金控數科處：曾立豪、李昕瑩、周立筠</a:t>
                      </a:r>
                      <a:endParaRPr kumimoji="0" lang="en-US" altLang="zh-TW" sz="1600" b="0" i="0" u="none" strike="noStrike" kern="0" cap="none" spc="0" normalizeH="0" baseline="0" noProof="0" dirty="0">
                        <a:ln>
                          <a:noFill/>
                        </a:ln>
                        <a:solidFill>
                          <a:sysClr val="windowText" lastClr="000000"/>
                        </a:solidFill>
                        <a:effectLst/>
                        <a:uLnTx/>
                        <a:uFillTx/>
                        <a:latin typeface="Microsoft JhengHei"/>
                        <a:ea typeface="Microsoft JhengHei"/>
                        <a:sym typeface="Microsoft JhengHei"/>
                      </a:endParaRPr>
                    </a:p>
                  </a:txBody>
                  <a:tcPr marL="93300" marR="93300" marT="46650" marB="46650">
                    <a:lnL w="12700" cap="flat" cmpd="sng" algn="ctr">
                      <a:solidFill>
                        <a:schemeClr val="dk1"/>
                      </a:solidFill>
                      <a:prstDash val="solid"/>
                      <a:round/>
                      <a:headEnd type="none" w="sm" len="sm"/>
                      <a:tailEnd type="none" w="sm" len="sm"/>
                    </a:lnL>
                    <a:lnR w="28575" cap="flat" cmpd="sng" algn="ctr">
                      <a:solidFill>
                        <a:schemeClr val="dk1"/>
                      </a:solidFill>
                      <a:prstDash val="solid"/>
                      <a:round/>
                      <a:headEnd type="none" w="sm" len="sm"/>
                      <a:tailEnd type="none" w="sm" len="sm"/>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717034">
                <a:tc>
                  <a:txBody>
                    <a:bodyPr/>
                    <a:lstStyle/>
                    <a:p>
                      <a:pPr marL="0" marR="0" lvl="0" indent="0" algn="just" defTabSz="914400" rtl="0" eaLnBrk="1" fontAlgn="auto" latinLnBrk="0" hangingPunct="1">
                        <a:lnSpc>
                          <a:spcPct val="100000"/>
                        </a:lnSpc>
                        <a:spcBef>
                          <a:spcPts val="0"/>
                        </a:spcBef>
                        <a:spcAft>
                          <a:spcPts val="0"/>
                        </a:spcAft>
                        <a:buClr>
                          <a:srgbClr val="000000"/>
                        </a:buClr>
                        <a:buSzPts val="1200"/>
                        <a:buFont typeface="Arial"/>
                        <a:buNone/>
                        <a:tabLst/>
                        <a:defRPr/>
                      </a:pPr>
                      <a:r>
                        <a:rPr lang="zh-TW" altLang="en-US" sz="1600" b="1" i="0" u="none" strike="noStrike" cap="none" dirty="0">
                          <a:solidFill>
                            <a:srgbClr val="FF0000"/>
                          </a:solidFill>
                          <a:latin typeface="+mj-ea"/>
                          <a:ea typeface="+mj-ea"/>
                          <a:cs typeface="Times New Roman"/>
                          <a:sym typeface="Times New Roman"/>
                        </a:rPr>
                        <a:t>專案時程</a:t>
                      </a:r>
                      <a:endParaRPr lang="en-US" altLang="zh-TW" sz="1600" b="1" i="0" u="none" strike="noStrike" cap="none" dirty="0">
                        <a:solidFill>
                          <a:srgbClr val="FF0000"/>
                        </a:solidFill>
                        <a:latin typeface="+mj-ea"/>
                        <a:ea typeface="+mj-ea"/>
                        <a:cs typeface="Times New Roman"/>
                        <a:sym typeface="Times New Roman"/>
                      </a:endParaRPr>
                    </a:p>
                    <a:p>
                      <a:pPr marL="252000" marR="0" lvl="0" indent="-216000" algn="l" defTabSz="914400" rtl="0" eaLnBrk="1" fontAlgn="auto" latinLnBrk="0" hangingPunct="1">
                        <a:lnSpc>
                          <a:spcPct val="130000"/>
                        </a:lnSpc>
                        <a:spcBef>
                          <a:spcPts val="0"/>
                        </a:spcBef>
                        <a:spcAft>
                          <a:spcPts val="0"/>
                        </a:spcAft>
                        <a:buClrTx/>
                        <a:buSzPct val="100000"/>
                        <a:buFont typeface="Courier New"/>
                        <a:buChar char="o"/>
                        <a:tabLst>
                          <a:tab pos="172948" algn="l"/>
                        </a:tabLst>
                        <a:defRPr/>
                      </a:pPr>
                      <a:r>
                        <a:rPr kumimoji="0" lang="en-US" altLang="zh-TW" sz="1400" b="0" i="0" u="none" strike="noStrike" kern="0" cap="none" spc="0" normalizeH="0" baseline="0" dirty="0">
                          <a:ln>
                            <a:noFill/>
                          </a:ln>
                          <a:solidFill>
                            <a:sysClr val="windowText" lastClr="000000"/>
                          </a:solidFill>
                          <a:effectLst/>
                          <a:uLnTx/>
                          <a:uFillTx/>
                          <a:latin typeface="Microsoft JhengHei"/>
                          <a:ea typeface="Microsoft JhengHei"/>
                          <a:cs typeface="+mn-cs"/>
                          <a:sym typeface="Times New Roman"/>
                        </a:rPr>
                        <a:t>2024.12</a:t>
                      </a:r>
                      <a:r>
                        <a:rPr kumimoji="0" lang="zh-TW" altLang="en-US" sz="1400" b="0" i="0" u="none" strike="noStrike" kern="0" cap="none" spc="0" normalizeH="0" baseline="0" dirty="0">
                          <a:ln>
                            <a:noFill/>
                          </a:ln>
                          <a:solidFill>
                            <a:sysClr val="windowText" lastClr="000000"/>
                          </a:solidFill>
                          <a:effectLst/>
                          <a:uLnTx/>
                          <a:uFillTx/>
                          <a:latin typeface="Microsoft JhengHei"/>
                          <a:ea typeface="Microsoft JhengHei"/>
                          <a:cs typeface="+mn-cs"/>
                          <a:sym typeface="Times New Roman"/>
                        </a:rPr>
                        <a:t> 需求討論</a:t>
                      </a:r>
                      <a:endParaRPr kumimoji="0" lang="en-US" altLang="zh-TW" sz="1400" b="0" i="0" u="none" strike="noStrike" kern="0" cap="none" spc="0" normalizeH="0" baseline="0" dirty="0">
                        <a:ln>
                          <a:noFill/>
                        </a:ln>
                        <a:solidFill>
                          <a:sysClr val="windowText" lastClr="000000"/>
                        </a:solidFill>
                        <a:effectLst/>
                        <a:uLnTx/>
                        <a:uFillTx/>
                        <a:latin typeface="Microsoft JhengHei"/>
                        <a:ea typeface="Microsoft JhengHei"/>
                        <a:cs typeface="+mn-cs"/>
                        <a:sym typeface="Times New Roman"/>
                      </a:endParaRPr>
                    </a:p>
                    <a:p>
                      <a:pPr marL="252000" marR="0" lvl="0" indent="-216000" algn="l" defTabSz="914400" rtl="0" eaLnBrk="1" fontAlgn="auto" latinLnBrk="0" hangingPunct="1">
                        <a:lnSpc>
                          <a:spcPct val="130000"/>
                        </a:lnSpc>
                        <a:spcBef>
                          <a:spcPts val="0"/>
                        </a:spcBef>
                        <a:spcAft>
                          <a:spcPts val="0"/>
                        </a:spcAft>
                        <a:buClrTx/>
                        <a:buSzPct val="100000"/>
                        <a:buFont typeface="Courier New"/>
                        <a:buChar char="o"/>
                        <a:tabLst>
                          <a:tab pos="172948" algn="l"/>
                        </a:tabLst>
                        <a:defRPr/>
                      </a:pPr>
                      <a:r>
                        <a:rPr kumimoji="0" lang="en-US" altLang="zh-TW" sz="1400" b="0" i="0" u="none" strike="noStrike" kern="0" cap="none" spc="0" normalizeH="0" baseline="0" dirty="0">
                          <a:ln>
                            <a:noFill/>
                          </a:ln>
                          <a:solidFill>
                            <a:sysClr val="windowText" lastClr="000000"/>
                          </a:solidFill>
                          <a:effectLst/>
                          <a:uLnTx/>
                          <a:uFillTx/>
                          <a:latin typeface="Microsoft JhengHei"/>
                          <a:ea typeface="Microsoft JhengHei"/>
                          <a:cs typeface="+mn-cs"/>
                          <a:sym typeface="Times New Roman"/>
                        </a:rPr>
                        <a:t>2025.01</a:t>
                      </a:r>
                      <a:r>
                        <a:rPr kumimoji="0" lang="zh-TW" altLang="en-US" sz="1400" b="0" i="0" u="none" strike="noStrike" kern="0" cap="none" spc="0" normalizeH="0" baseline="0" dirty="0">
                          <a:ln>
                            <a:noFill/>
                          </a:ln>
                          <a:solidFill>
                            <a:sysClr val="windowText" lastClr="000000"/>
                          </a:solidFill>
                          <a:effectLst/>
                          <a:uLnTx/>
                          <a:uFillTx/>
                          <a:latin typeface="Microsoft JhengHei"/>
                          <a:ea typeface="Microsoft JhengHei"/>
                          <a:cs typeface="+mn-cs"/>
                          <a:sym typeface="Times New Roman"/>
                        </a:rPr>
                        <a:t> </a:t>
                      </a:r>
                      <a:r>
                        <a:rPr kumimoji="0" lang="en-US" altLang="zh-TW" sz="1400" b="0" i="0" u="none" strike="noStrike" kern="0" cap="none" spc="0" normalizeH="0" baseline="0" dirty="0">
                          <a:ln>
                            <a:noFill/>
                          </a:ln>
                          <a:solidFill>
                            <a:sysClr val="windowText" lastClr="000000"/>
                          </a:solidFill>
                          <a:effectLst/>
                          <a:uLnTx/>
                          <a:uFillTx/>
                          <a:latin typeface="Microsoft JhengHei"/>
                          <a:ea typeface="Microsoft JhengHei"/>
                          <a:cs typeface="+mn-cs"/>
                          <a:sym typeface="Times New Roman"/>
                        </a:rPr>
                        <a:t>IC</a:t>
                      </a:r>
                      <a:r>
                        <a:rPr kumimoji="0" lang="zh-TW" altLang="en-US" sz="1400" b="0" i="0" u="none" strike="noStrike" kern="0" cap="none" spc="0" normalizeH="0" baseline="0" dirty="0">
                          <a:ln>
                            <a:noFill/>
                          </a:ln>
                          <a:solidFill>
                            <a:sysClr val="windowText" lastClr="000000"/>
                          </a:solidFill>
                          <a:effectLst/>
                          <a:uLnTx/>
                          <a:uFillTx/>
                          <a:latin typeface="Microsoft JhengHei"/>
                          <a:ea typeface="Microsoft JhengHei"/>
                          <a:cs typeface="+mn-cs"/>
                          <a:sym typeface="Times New Roman"/>
                        </a:rPr>
                        <a:t> 設計公司之 </a:t>
                      </a:r>
                      <a:r>
                        <a:rPr kumimoji="0" lang="en-US" altLang="zh-TW" sz="1400" b="0" i="0" u="none" strike="noStrike" kern="0" cap="none" spc="0" normalizeH="0" baseline="0" dirty="0">
                          <a:ln>
                            <a:noFill/>
                          </a:ln>
                          <a:solidFill>
                            <a:sysClr val="windowText" lastClr="000000"/>
                          </a:solidFill>
                          <a:effectLst/>
                          <a:uLnTx/>
                          <a:uFillTx/>
                          <a:latin typeface="Microsoft JhengHei"/>
                          <a:ea typeface="Microsoft JhengHei"/>
                          <a:cs typeface="+mn-cs"/>
                          <a:sym typeface="Times New Roman"/>
                        </a:rPr>
                        <a:t>POC</a:t>
                      </a:r>
                    </a:p>
                    <a:p>
                      <a:pPr marL="252000" marR="0" lvl="0" indent="-216000" algn="l" defTabSz="914400" rtl="0" eaLnBrk="1" fontAlgn="auto" latinLnBrk="0" hangingPunct="1">
                        <a:lnSpc>
                          <a:spcPct val="130000"/>
                        </a:lnSpc>
                        <a:spcBef>
                          <a:spcPts val="0"/>
                        </a:spcBef>
                        <a:spcAft>
                          <a:spcPts val="0"/>
                        </a:spcAft>
                        <a:buClrTx/>
                        <a:buSzPct val="100000"/>
                        <a:buFont typeface="Courier New"/>
                        <a:buChar char="o"/>
                        <a:tabLst>
                          <a:tab pos="172948" algn="l"/>
                        </a:tabLst>
                        <a:defRPr/>
                      </a:pPr>
                      <a:r>
                        <a:rPr kumimoji="0" lang="en-US" altLang="zh-TW" sz="1400" b="0" i="0" u="none" strike="noStrike" kern="0" cap="none" spc="0" normalizeH="0" baseline="0" dirty="0">
                          <a:ln>
                            <a:noFill/>
                          </a:ln>
                          <a:solidFill>
                            <a:sysClr val="windowText" lastClr="000000"/>
                          </a:solidFill>
                          <a:effectLst/>
                          <a:uLnTx/>
                          <a:uFillTx/>
                          <a:latin typeface="Microsoft JhengHei"/>
                          <a:ea typeface="Microsoft JhengHei"/>
                          <a:cs typeface="+mn-cs"/>
                          <a:sym typeface="Times New Roman"/>
                        </a:rPr>
                        <a:t>2025.03</a:t>
                      </a:r>
                      <a:r>
                        <a:rPr kumimoji="0" lang="zh-TW" altLang="en-US" sz="1400" b="0" i="0" u="none" strike="noStrike" kern="0" cap="none" spc="0" normalizeH="0" baseline="0" dirty="0">
                          <a:ln>
                            <a:noFill/>
                          </a:ln>
                          <a:solidFill>
                            <a:sysClr val="windowText" lastClr="000000"/>
                          </a:solidFill>
                          <a:effectLst/>
                          <a:uLnTx/>
                          <a:uFillTx/>
                          <a:latin typeface="Microsoft JhengHei"/>
                          <a:ea typeface="Microsoft JhengHei"/>
                          <a:cs typeface="+mn-cs"/>
                          <a:sym typeface="Times New Roman"/>
                        </a:rPr>
                        <a:t> 擴大至半導體之 </a:t>
                      </a:r>
                      <a:r>
                        <a:rPr kumimoji="0" lang="en-US" altLang="zh-TW" sz="1400" b="0" i="0" u="none" strike="noStrike" kern="0" cap="none" spc="0" normalizeH="0" baseline="0" dirty="0">
                          <a:ln>
                            <a:noFill/>
                          </a:ln>
                          <a:solidFill>
                            <a:sysClr val="windowText" lastClr="000000"/>
                          </a:solidFill>
                          <a:effectLst/>
                          <a:uLnTx/>
                          <a:uFillTx/>
                          <a:latin typeface="Microsoft JhengHei"/>
                          <a:ea typeface="Microsoft JhengHei"/>
                          <a:cs typeface="+mn-cs"/>
                          <a:sym typeface="Times New Roman"/>
                        </a:rPr>
                        <a:t>POC</a:t>
                      </a:r>
                    </a:p>
                  </a:txBody>
                  <a:tcPr marL="93300" marR="93300" marT="46650" marB="46650">
                    <a:lnL w="28575" cap="flat" cmpd="sng" algn="ctr">
                      <a:solidFill>
                        <a:schemeClr val="dk1"/>
                      </a:solidFill>
                      <a:prstDash val="solid"/>
                      <a:round/>
                      <a:headEnd type="none" w="sm" len="sm"/>
                      <a:tailEnd type="none" w="sm" len="sm"/>
                    </a:lnL>
                    <a:lnR w="12700" cap="flat" cmpd="sng" algn="ctr">
                      <a:noFill/>
                      <a:prstDash val="solid"/>
                      <a:round/>
                      <a:headEnd type="none" w="sm" len="sm"/>
                      <a:tailEnd type="none" w="sm" len="sm"/>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252000" marR="0" lvl="0" indent="-216000" algn="l" defTabSz="914400" rtl="0" eaLnBrk="1" fontAlgn="auto" latinLnBrk="0" hangingPunct="1">
                        <a:lnSpc>
                          <a:spcPct val="130000"/>
                        </a:lnSpc>
                        <a:spcBef>
                          <a:spcPts val="0"/>
                        </a:spcBef>
                        <a:spcAft>
                          <a:spcPts val="0"/>
                        </a:spcAft>
                        <a:buClrTx/>
                        <a:buSzPct val="100000"/>
                        <a:buFont typeface="Courier New"/>
                        <a:buChar char="o"/>
                        <a:tabLst>
                          <a:tab pos="172948" algn="l"/>
                        </a:tabLst>
                        <a:defRPr/>
                      </a:pPr>
                      <a:r>
                        <a:rPr kumimoji="0" lang="en-US" altLang="zh-TW" sz="1400" b="0" i="0" u="none" strike="noStrike" kern="0" cap="none" spc="0" normalizeH="0" baseline="0" noProof="0" dirty="0">
                          <a:ln>
                            <a:noFill/>
                          </a:ln>
                          <a:solidFill>
                            <a:sysClr val="windowText" lastClr="000000"/>
                          </a:solidFill>
                          <a:effectLst/>
                          <a:uLnTx/>
                          <a:uFillTx/>
                          <a:latin typeface="Microsoft JhengHei"/>
                          <a:ea typeface="Microsoft JhengHei"/>
                          <a:cs typeface="+mn-cs"/>
                          <a:sym typeface="Times New Roman"/>
                        </a:rPr>
                        <a:t>2025.05</a:t>
                      </a:r>
                      <a:r>
                        <a:rPr kumimoji="0" lang="zh-TW" altLang="en-US" sz="1400" b="0" i="0" u="none" strike="noStrike" kern="0" cap="none" spc="0" normalizeH="0" baseline="0" noProof="0" dirty="0">
                          <a:ln>
                            <a:noFill/>
                          </a:ln>
                          <a:solidFill>
                            <a:sysClr val="windowText" lastClr="000000"/>
                          </a:solidFill>
                          <a:effectLst/>
                          <a:uLnTx/>
                          <a:uFillTx/>
                          <a:latin typeface="Microsoft JhengHei"/>
                          <a:ea typeface="Microsoft JhengHei"/>
                          <a:cs typeface="+mn-cs"/>
                          <a:sym typeface="Times New Roman"/>
                        </a:rPr>
                        <a:t> 資料串接、持續測試</a:t>
                      </a:r>
                      <a:endParaRPr kumimoji="0" lang="en-US" altLang="zh-TW" sz="1400" b="0" i="0" u="none" strike="noStrike" kern="0" cap="none" spc="0" normalizeH="0" baseline="0" noProof="0" dirty="0">
                        <a:ln>
                          <a:noFill/>
                        </a:ln>
                        <a:solidFill>
                          <a:sysClr val="windowText" lastClr="000000"/>
                        </a:solidFill>
                        <a:effectLst/>
                        <a:uLnTx/>
                        <a:uFillTx/>
                        <a:latin typeface="Microsoft JhengHei"/>
                        <a:ea typeface="Microsoft JhengHei"/>
                        <a:cs typeface="+mn-cs"/>
                        <a:sym typeface="Times New Roman"/>
                      </a:endParaRPr>
                    </a:p>
                    <a:p>
                      <a:pPr marL="252000" marR="0" lvl="0" indent="-216000" algn="l" defTabSz="914400" rtl="0" eaLnBrk="1" fontAlgn="auto" latinLnBrk="0" hangingPunct="1">
                        <a:lnSpc>
                          <a:spcPct val="130000"/>
                        </a:lnSpc>
                        <a:spcBef>
                          <a:spcPts val="0"/>
                        </a:spcBef>
                        <a:spcAft>
                          <a:spcPts val="0"/>
                        </a:spcAft>
                        <a:buClrTx/>
                        <a:buSzPct val="100000"/>
                        <a:buFont typeface="Courier New"/>
                        <a:buChar char="o"/>
                        <a:tabLst>
                          <a:tab pos="172948" algn="l"/>
                        </a:tabLst>
                        <a:defRPr/>
                      </a:pPr>
                      <a:r>
                        <a:rPr kumimoji="0" lang="en-US" altLang="zh-TW" sz="1400" b="0" i="0" u="none" strike="noStrike" kern="0" cap="none" spc="0" normalizeH="0" baseline="0" noProof="0" dirty="0">
                          <a:ln>
                            <a:noFill/>
                          </a:ln>
                          <a:solidFill>
                            <a:sysClr val="windowText" lastClr="000000"/>
                          </a:solidFill>
                          <a:effectLst/>
                          <a:uLnTx/>
                          <a:uFillTx/>
                          <a:latin typeface="Microsoft JhengHei"/>
                          <a:ea typeface="Microsoft JhengHei"/>
                          <a:cs typeface="+mn-cs"/>
                          <a:sym typeface="Times New Roman"/>
                        </a:rPr>
                        <a:t>2025.06</a:t>
                      </a:r>
                      <a:r>
                        <a:rPr kumimoji="0" lang="zh-TW" altLang="en-US" sz="1400" b="0" i="0" u="none" strike="noStrike" kern="0" cap="none" spc="0" normalizeH="0" baseline="0" noProof="0" dirty="0">
                          <a:ln>
                            <a:noFill/>
                          </a:ln>
                          <a:solidFill>
                            <a:sysClr val="windowText" lastClr="000000"/>
                          </a:solidFill>
                          <a:effectLst/>
                          <a:uLnTx/>
                          <a:uFillTx/>
                          <a:latin typeface="Microsoft JhengHei"/>
                          <a:ea typeface="Microsoft JhengHei"/>
                          <a:cs typeface="+mn-cs"/>
                          <a:sym typeface="Times New Roman"/>
                        </a:rPr>
                        <a:t> </a:t>
                      </a:r>
                      <a:r>
                        <a:rPr kumimoji="0" lang="en-US" altLang="zh-TW" sz="1400" b="0" i="0" u="none" strike="noStrike" kern="0" cap="none" spc="0" normalizeH="0" baseline="0" noProof="0" dirty="0">
                          <a:ln>
                            <a:noFill/>
                          </a:ln>
                          <a:solidFill>
                            <a:sysClr val="windowText" lastClr="000000"/>
                          </a:solidFill>
                          <a:effectLst/>
                          <a:uLnTx/>
                          <a:uFillTx/>
                          <a:latin typeface="Microsoft JhengHei"/>
                          <a:ea typeface="Microsoft JhengHei"/>
                          <a:cs typeface="+mn-cs"/>
                          <a:sym typeface="Times New Roman"/>
                        </a:rPr>
                        <a:t>SIT</a:t>
                      </a:r>
                    </a:p>
                    <a:p>
                      <a:pPr marL="252000" marR="0" lvl="0" indent="-216000" algn="l" defTabSz="914400" rtl="0" eaLnBrk="1" fontAlgn="auto" latinLnBrk="0" hangingPunct="1">
                        <a:lnSpc>
                          <a:spcPct val="130000"/>
                        </a:lnSpc>
                        <a:spcBef>
                          <a:spcPts val="0"/>
                        </a:spcBef>
                        <a:spcAft>
                          <a:spcPts val="0"/>
                        </a:spcAft>
                        <a:buClrTx/>
                        <a:buSzPct val="100000"/>
                        <a:buFont typeface="Courier New"/>
                        <a:buChar char="o"/>
                        <a:tabLst>
                          <a:tab pos="172948" algn="l"/>
                        </a:tabLst>
                        <a:defRPr/>
                      </a:pPr>
                      <a:r>
                        <a:rPr kumimoji="0" lang="en-US" altLang="zh-TW" sz="1400" b="0" i="0" u="none" strike="noStrike" kern="0" cap="none" spc="0" normalizeH="0" baseline="0" noProof="0" dirty="0">
                          <a:ln>
                            <a:noFill/>
                          </a:ln>
                          <a:solidFill>
                            <a:sysClr val="windowText" lastClr="000000"/>
                          </a:solidFill>
                          <a:effectLst/>
                          <a:uLnTx/>
                          <a:uFillTx/>
                          <a:latin typeface="Microsoft JhengHei"/>
                          <a:ea typeface="Microsoft JhengHei"/>
                          <a:cs typeface="+mn-cs"/>
                          <a:sym typeface="Times New Roman"/>
                        </a:rPr>
                        <a:t>2025.07</a:t>
                      </a:r>
                      <a:r>
                        <a:rPr kumimoji="0" lang="zh-TW" altLang="en-US" sz="1400" b="0" i="0" u="none" strike="noStrike" kern="0" cap="none" spc="0" normalizeH="0" baseline="0" noProof="0" dirty="0">
                          <a:ln>
                            <a:noFill/>
                          </a:ln>
                          <a:solidFill>
                            <a:sysClr val="windowText" lastClr="000000"/>
                          </a:solidFill>
                          <a:effectLst/>
                          <a:uLnTx/>
                          <a:uFillTx/>
                          <a:latin typeface="Microsoft JhengHei"/>
                          <a:ea typeface="Microsoft JhengHei"/>
                          <a:cs typeface="+mn-cs"/>
                          <a:sym typeface="Times New Roman"/>
                        </a:rPr>
                        <a:t> </a:t>
                      </a:r>
                      <a:r>
                        <a:rPr kumimoji="0" lang="en-US" altLang="zh-TW" sz="1400" b="0" i="0" u="none" strike="noStrike" kern="0" cap="none" spc="0" normalizeH="0" baseline="0" noProof="0" dirty="0">
                          <a:ln>
                            <a:noFill/>
                          </a:ln>
                          <a:solidFill>
                            <a:sysClr val="windowText" lastClr="000000"/>
                          </a:solidFill>
                          <a:effectLst/>
                          <a:uLnTx/>
                          <a:uFillTx/>
                          <a:latin typeface="Microsoft JhengHei"/>
                          <a:ea typeface="Microsoft JhengHei"/>
                          <a:cs typeface="+mn-cs"/>
                          <a:sym typeface="Times New Roman"/>
                        </a:rPr>
                        <a:t>UAT</a:t>
                      </a:r>
                    </a:p>
                    <a:p>
                      <a:pPr marL="252000" marR="0" lvl="0" indent="-216000" algn="l" defTabSz="914400" rtl="0" eaLnBrk="1" fontAlgn="auto" latinLnBrk="0" hangingPunct="1">
                        <a:lnSpc>
                          <a:spcPct val="130000"/>
                        </a:lnSpc>
                        <a:spcBef>
                          <a:spcPts val="0"/>
                        </a:spcBef>
                        <a:spcAft>
                          <a:spcPts val="0"/>
                        </a:spcAft>
                        <a:buClrTx/>
                        <a:buSzPct val="100000"/>
                        <a:buFont typeface="Courier New"/>
                        <a:buChar char="o"/>
                        <a:tabLst>
                          <a:tab pos="172948" algn="l"/>
                        </a:tabLst>
                        <a:defRPr/>
                      </a:pPr>
                      <a:r>
                        <a:rPr kumimoji="0" lang="en-US" altLang="zh-TW" sz="1400" b="0" i="0" u="none" strike="noStrike" kern="0" cap="none" spc="0" normalizeH="0" baseline="0" noProof="0" dirty="0">
                          <a:ln>
                            <a:noFill/>
                          </a:ln>
                          <a:solidFill>
                            <a:sysClr val="windowText" lastClr="000000"/>
                          </a:solidFill>
                          <a:effectLst/>
                          <a:uLnTx/>
                          <a:uFillTx/>
                          <a:latin typeface="Microsoft JhengHei"/>
                          <a:ea typeface="Microsoft JhengHei"/>
                          <a:cs typeface="+mn-cs"/>
                          <a:sym typeface="Times New Roman"/>
                        </a:rPr>
                        <a:t>2025.08</a:t>
                      </a:r>
                      <a:r>
                        <a:rPr kumimoji="0" lang="zh-TW" altLang="en-US" sz="1400" b="0" i="0" u="none" strike="noStrike" kern="0" cap="none" spc="0" normalizeH="0" baseline="0" noProof="0" dirty="0">
                          <a:ln>
                            <a:noFill/>
                          </a:ln>
                          <a:solidFill>
                            <a:sysClr val="windowText" lastClr="000000"/>
                          </a:solidFill>
                          <a:effectLst/>
                          <a:uLnTx/>
                          <a:uFillTx/>
                          <a:latin typeface="Microsoft JhengHei"/>
                          <a:ea typeface="Microsoft JhengHei"/>
                          <a:cs typeface="+mn-cs"/>
                          <a:sym typeface="Times New Roman"/>
                        </a:rPr>
                        <a:t> 正式環境上線</a:t>
                      </a:r>
                      <a:endParaRPr kumimoji="0" lang="en-US" altLang="zh-TW" sz="1400" b="0" i="0" u="none" strike="noStrike" kern="0" cap="none" spc="0" normalizeH="0" baseline="0" noProof="0" dirty="0">
                        <a:ln>
                          <a:noFill/>
                        </a:ln>
                        <a:solidFill>
                          <a:sysClr val="windowText" lastClr="000000"/>
                        </a:solidFill>
                        <a:effectLst/>
                        <a:uLnTx/>
                        <a:uFillTx/>
                        <a:latin typeface="Microsoft JhengHei"/>
                        <a:ea typeface="Microsoft JhengHei"/>
                        <a:cs typeface="+mn-cs"/>
                        <a:sym typeface="Times New Roman"/>
                      </a:endParaRPr>
                    </a:p>
                  </a:txBody>
                  <a:tcPr marL="93300" marR="93300" marT="46650" marB="46650">
                    <a:lnL w="12700" cap="flat" cmpd="sng" algn="ctr">
                      <a:no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vMerge="1">
                  <a:txBody>
                    <a:bodyPr/>
                    <a:lstStyle/>
                    <a:p>
                      <a:endParaRPr lang="zh-TW" altLang="en-US"/>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021261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07DF56E-9E54-4444-93C4-9ED55592C876}"/>
              </a:ext>
            </a:extLst>
          </p:cNvPr>
          <p:cNvSpPr>
            <a:spLocks noGrp="1"/>
          </p:cNvSpPr>
          <p:nvPr>
            <p:ph type="title"/>
          </p:nvPr>
        </p:nvSpPr>
        <p:spPr>
          <a:xfrm>
            <a:off x="527051" y="154532"/>
            <a:ext cx="11233150" cy="630238"/>
          </a:xfrm>
          <a:prstGeom prst="rect">
            <a:avLst/>
          </a:prstGeom>
        </p:spPr>
        <p:txBody>
          <a:bodyPr/>
          <a:lstStyle/>
          <a:p>
            <a:r>
              <a:rPr lang="zh-TW" altLang="en-US" sz="3200" b="0">
                <a:solidFill>
                  <a:schemeClr val="tx1"/>
                </a:solidFill>
              </a:rPr>
              <a:t>專案目標</a:t>
            </a:r>
          </a:p>
        </p:txBody>
      </p:sp>
      <p:sp>
        <p:nvSpPr>
          <p:cNvPr id="22" name="文字版面配置區 2">
            <a:extLst>
              <a:ext uri="{FF2B5EF4-FFF2-40B4-BE49-F238E27FC236}">
                <a16:creationId xmlns:a16="http://schemas.microsoft.com/office/drawing/2014/main" id="{CAACF625-43EA-4F2A-BD81-FE1F1439917B}"/>
              </a:ext>
            </a:extLst>
          </p:cNvPr>
          <p:cNvSpPr txBox="1">
            <a:spLocks/>
          </p:cNvSpPr>
          <p:nvPr/>
        </p:nvSpPr>
        <p:spPr>
          <a:xfrm>
            <a:off x="438181" y="874413"/>
            <a:ext cx="11161712" cy="5401026"/>
          </a:xfrm>
          <a:prstGeom prst="rect">
            <a:avLst/>
          </a:prstGeom>
          <a:noFill/>
          <a:ln>
            <a:noFill/>
          </a:ln>
        </p:spPr>
        <p:txBody>
          <a:bodyPr spcFirstLastPara="1" wrap="square" lIns="88150" tIns="44050" rIns="88150" bIns="44050" anchor="t" anchorCtr="0">
            <a:noAutofit/>
          </a:bodyPr>
          <a:lstStyle>
            <a:defPPr marR="0" lvl="0" algn="l" rtl="0">
              <a:lnSpc>
                <a:spcPct val="100000"/>
              </a:lnSpc>
              <a:spcBef>
                <a:spcPts val="0"/>
              </a:spcBef>
              <a:spcAft>
                <a:spcPts val="0"/>
              </a:spcAft>
            </a:defPPr>
            <a:lvl1pPr marL="252000" marR="0" lvl="0" indent="-216000" algn="l" rtl="0">
              <a:lnSpc>
                <a:spcPct val="100000"/>
              </a:lnSpc>
              <a:spcBef>
                <a:spcPts val="600"/>
              </a:spcBef>
              <a:spcAft>
                <a:spcPts val="0"/>
              </a:spcAft>
              <a:buClrTx/>
              <a:buSzPct val="100000"/>
              <a:buFont typeface="標準系統字體"/>
              <a:buChar char="○"/>
              <a:defRPr sz="1600" b="0" i="0" u="none" strike="noStrike" cap="none">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sym typeface="Microsoft JhengHei"/>
              </a:defRPr>
            </a:lvl1pPr>
            <a:lvl2pPr marL="504000" marR="0" lvl="1" indent="-216000" algn="l" rtl="0">
              <a:lnSpc>
                <a:spcPct val="100000"/>
              </a:lnSpc>
              <a:spcBef>
                <a:spcPts val="600"/>
              </a:spcBef>
              <a:spcAft>
                <a:spcPts val="0"/>
              </a:spcAft>
              <a:buClrTx/>
              <a:buSzPct val="100000"/>
              <a:buFont typeface="標準系統字體"/>
              <a:buChar char="○"/>
              <a:defRPr sz="14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2pPr>
            <a:lvl3pPr marL="756000" marR="0" lvl="2" indent="-216000" algn="l" rtl="0">
              <a:lnSpc>
                <a:spcPct val="100000"/>
              </a:lnSpc>
              <a:spcBef>
                <a:spcPts val="600"/>
              </a:spcBef>
              <a:spcAft>
                <a:spcPts val="0"/>
              </a:spcAft>
              <a:buClrTx/>
              <a:buSzPct val="100000"/>
              <a:buFont typeface="標準系統字體"/>
              <a:buChar char="○"/>
              <a:defRPr sz="12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3pPr>
            <a:lvl4pPr marL="1008000" marR="0" lvl="3" indent="-216000" algn="l" rtl="0">
              <a:lnSpc>
                <a:spcPct val="100000"/>
              </a:lnSpc>
              <a:spcBef>
                <a:spcPts val="600"/>
              </a:spcBef>
              <a:spcAft>
                <a:spcPts val="0"/>
              </a:spcAft>
              <a:buClrTx/>
              <a:buSzPct val="100000"/>
              <a:buFont typeface="標準系統字體"/>
              <a:buChar char="○"/>
              <a:defRPr sz="10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4pPr>
            <a:lvl5pPr marL="1260000" marR="0" lvl="4" indent="-216000" algn="l" rtl="0">
              <a:lnSpc>
                <a:spcPct val="100000"/>
              </a:lnSpc>
              <a:spcBef>
                <a:spcPts val="600"/>
              </a:spcBef>
              <a:spcAft>
                <a:spcPts val="0"/>
              </a:spcAft>
              <a:buClrTx/>
              <a:buSzPct val="100000"/>
              <a:buFont typeface="標準系統字體"/>
              <a:buChar char="○"/>
              <a:defRPr sz="8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5pPr>
            <a:lvl6pPr marL="1512000" marR="0" lvl="5" indent="-216000" algn="l" rtl="0">
              <a:lnSpc>
                <a:spcPct val="100000"/>
              </a:lnSpc>
              <a:spcBef>
                <a:spcPts val="600"/>
              </a:spcBef>
              <a:spcAft>
                <a:spcPts val="0"/>
              </a:spcAft>
              <a:buClrTx/>
              <a:buSzPct val="100000"/>
              <a:buFont typeface="Microsoft JhengHei Light" panose="020B0304030504040204" pitchFamily="34" charset="-120"/>
              <a:buChar char="o"/>
              <a:defRPr sz="16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6pPr>
            <a:lvl7pPr marL="3200400" marR="0" lvl="6" indent="-355600" algn="l" rtl="0">
              <a:lnSpc>
                <a:spcPct val="100000"/>
              </a:lnSpc>
              <a:spcBef>
                <a:spcPts val="1000"/>
              </a:spcBef>
              <a:spcAft>
                <a:spcPts val="0"/>
              </a:spcAft>
              <a:buClr>
                <a:srgbClr val="5489A3"/>
              </a:buClr>
              <a:buSzPts val="2000"/>
              <a:buFont typeface="Roboto"/>
              <a:buChar char="–"/>
              <a:defRPr sz="2000" b="0" i="0" u="none" strike="noStrike" cap="none">
                <a:solidFill>
                  <a:srgbClr val="5489A3"/>
                </a:solidFill>
                <a:latin typeface="Roboto"/>
                <a:ea typeface="Roboto"/>
                <a:cs typeface="Roboto"/>
                <a:sym typeface="Roboto"/>
              </a:defRPr>
            </a:lvl7pPr>
            <a:lvl8pPr marL="3657600" marR="0" lvl="7" indent="-355600" algn="l" rtl="0">
              <a:lnSpc>
                <a:spcPct val="100000"/>
              </a:lnSpc>
              <a:spcBef>
                <a:spcPts val="1000"/>
              </a:spcBef>
              <a:spcAft>
                <a:spcPts val="0"/>
              </a:spcAft>
              <a:buClr>
                <a:srgbClr val="5489A3"/>
              </a:buClr>
              <a:buSzPts val="2000"/>
              <a:buFont typeface="Roboto"/>
              <a:buChar char="–"/>
              <a:defRPr sz="2000" b="0" i="0" u="none" strike="noStrike" cap="none">
                <a:solidFill>
                  <a:srgbClr val="5489A3"/>
                </a:solidFill>
                <a:latin typeface="Roboto"/>
                <a:ea typeface="Roboto"/>
                <a:cs typeface="Roboto"/>
                <a:sym typeface="Roboto"/>
              </a:defRPr>
            </a:lvl8pPr>
            <a:lvl9pPr marL="4114800" marR="0" lvl="8" indent="-355600" algn="l" rtl="0">
              <a:lnSpc>
                <a:spcPct val="100000"/>
              </a:lnSpc>
              <a:spcBef>
                <a:spcPts val="1000"/>
              </a:spcBef>
              <a:spcAft>
                <a:spcPts val="1000"/>
              </a:spcAft>
              <a:buClr>
                <a:srgbClr val="5489A3"/>
              </a:buClr>
              <a:buSzPts val="2000"/>
              <a:buFont typeface="Roboto"/>
              <a:buChar char="–"/>
              <a:defRPr sz="2000" b="0" i="0" u="none" strike="noStrike" cap="none">
                <a:solidFill>
                  <a:srgbClr val="5489A3"/>
                </a:solidFill>
                <a:latin typeface="Roboto"/>
                <a:ea typeface="Roboto"/>
                <a:cs typeface="Roboto"/>
                <a:sym typeface="Roboto"/>
              </a:defRPr>
            </a:lvl9pPr>
          </a:lstStyle>
          <a:p>
            <a:pPr marL="252000" marR="0" lvl="0" indent="-216000" algn="l" defTabSz="914400" rtl="0" eaLnBrk="1" fontAlgn="auto" latinLnBrk="0" hangingPunct="1">
              <a:lnSpc>
                <a:spcPct val="130000"/>
              </a:lnSpc>
              <a:spcBef>
                <a:spcPts val="0"/>
              </a:spcBef>
              <a:spcAft>
                <a:spcPts val="0"/>
              </a:spcAft>
              <a:buClrTx/>
              <a:buSzPct val="100000"/>
              <a:buFont typeface="Courier New"/>
              <a:buChar char="o"/>
              <a:tabLst>
                <a:tab pos="172948" algn="l"/>
              </a:tabLst>
              <a:defRPr/>
            </a:pPr>
            <a:r>
              <a:rPr kumimoji="0" lang="zh-TW" altLang="en-US" sz="1600" b="0" i="0" u="none" strike="noStrike" kern="0" cap="none" spc="0" normalizeH="0" baseline="0" noProof="0" dirty="0">
                <a:ln>
                  <a:noFill/>
                </a:ln>
                <a:solidFill>
                  <a:sysClr val="windowText" lastClr="000000"/>
                </a:solidFill>
                <a:effectLst/>
                <a:uLnTx/>
                <a:uFillTx/>
                <a:latin typeface="Microsoft JhengHei"/>
                <a:ea typeface="Microsoft JhengHei"/>
                <a:sym typeface="Microsoft JhengHei"/>
              </a:rPr>
              <a:t>目前永豐投顧的研究員負責研究 </a:t>
            </a:r>
            <a:r>
              <a:rPr kumimoji="0" lang="en-US" altLang="zh-TW" sz="1600" b="0" i="0" u="none" strike="noStrike" kern="0" cap="none" spc="0" normalizeH="0" baseline="0" noProof="0" dirty="0">
                <a:ln>
                  <a:noFill/>
                </a:ln>
                <a:solidFill>
                  <a:sysClr val="windowText" lastClr="000000"/>
                </a:solidFill>
                <a:effectLst/>
                <a:uLnTx/>
                <a:uFillTx/>
                <a:latin typeface="Microsoft JhengHei"/>
                <a:ea typeface="Microsoft JhengHei"/>
                <a:sym typeface="Microsoft JhengHei"/>
              </a:rPr>
              <a:t>300</a:t>
            </a:r>
            <a:r>
              <a:rPr kumimoji="0" lang="zh-TW" altLang="en-US" sz="1600" b="0" i="0" u="none" strike="noStrike" kern="0" cap="none" spc="0" normalizeH="0" baseline="0" noProof="0" dirty="0">
                <a:ln>
                  <a:noFill/>
                </a:ln>
                <a:solidFill>
                  <a:sysClr val="windowText" lastClr="000000"/>
                </a:solidFill>
                <a:effectLst/>
                <a:uLnTx/>
                <a:uFillTx/>
                <a:latin typeface="Microsoft JhengHei"/>
                <a:ea typeface="Microsoft JhengHei"/>
                <a:sym typeface="Microsoft JhengHei"/>
              </a:rPr>
              <a:t> 家上市櫃公司 </a:t>
            </a:r>
            <a:r>
              <a:rPr kumimoji="0" lang="en-US" altLang="zh-TW" sz="1600" b="0" i="0" u="none" strike="noStrike" kern="0" cap="none" spc="0" normalizeH="0" baseline="0" noProof="0" dirty="0">
                <a:ln>
                  <a:noFill/>
                </a:ln>
                <a:solidFill>
                  <a:sysClr val="windowText" lastClr="000000"/>
                </a:solidFill>
                <a:effectLst/>
                <a:uLnTx/>
                <a:uFillTx/>
                <a:latin typeface="Microsoft JhengHei"/>
                <a:ea typeface="Microsoft JhengHei"/>
                <a:sym typeface="Microsoft JhengHei"/>
              </a:rPr>
              <a:t>(</a:t>
            </a:r>
            <a:r>
              <a:rPr kumimoji="0" lang="zh-TW" altLang="en-US" sz="1600" b="0" i="0" u="none" strike="noStrike" kern="0" cap="none" spc="0" normalizeH="0" baseline="0" noProof="0" dirty="0">
                <a:ln>
                  <a:noFill/>
                </a:ln>
                <a:solidFill>
                  <a:sysClr val="windowText" lastClr="000000"/>
                </a:solidFill>
                <a:effectLst/>
                <a:uLnTx/>
                <a:uFillTx/>
                <a:latin typeface="Microsoft JhengHei"/>
                <a:ea typeface="Microsoft JhengHei"/>
                <a:sym typeface="Microsoft JhengHei"/>
              </a:rPr>
              <a:t>共 </a:t>
            </a:r>
            <a:r>
              <a:rPr kumimoji="0" lang="en-US" altLang="zh-TW" sz="1600" b="0" i="0" u="none" strike="noStrike" kern="0" cap="none" spc="0" normalizeH="0" baseline="0" noProof="0" dirty="0">
                <a:ln>
                  <a:noFill/>
                </a:ln>
                <a:solidFill>
                  <a:sysClr val="windowText" lastClr="000000"/>
                </a:solidFill>
                <a:effectLst/>
                <a:uLnTx/>
                <a:uFillTx/>
                <a:latin typeface="Microsoft JhengHei"/>
                <a:ea typeface="Microsoft JhengHei"/>
                <a:sym typeface="Microsoft JhengHei"/>
              </a:rPr>
              <a:t>1,896</a:t>
            </a:r>
            <a:r>
              <a:rPr kumimoji="0" lang="zh-TW" altLang="en-US" sz="1600" b="0" i="0" u="none" strike="noStrike" kern="0" cap="none" spc="0" normalizeH="0" baseline="0" noProof="0" dirty="0">
                <a:ln>
                  <a:noFill/>
                </a:ln>
                <a:solidFill>
                  <a:sysClr val="windowText" lastClr="000000"/>
                </a:solidFill>
                <a:effectLst/>
                <a:uLnTx/>
                <a:uFillTx/>
                <a:latin typeface="Microsoft JhengHei"/>
                <a:ea typeface="Microsoft JhengHei"/>
                <a:sym typeface="Microsoft JhengHei"/>
              </a:rPr>
              <a:t> 家上市櫃公司</a:t>
            </a:r>
            <a:r>
              <a:rPr kumimoji="0" lang="en-US" altLang="zh-TW" sz="1600" b="0" i="0" u="none" strike="noStrike" kern="0" cap="none" spc="0" normalizeH="0" baseline="0" noProof="0" dirty="0">
                <a:ln>
                  <a:noFill/>
                </a:ln>
                <a:solidFill>
                  <a:sysClr val="windowText" lastClr="000000"/>
                </a:solidFill>
                <a:effectLst/>
                <a:uLnTx/>
                <a:uFillTx/>
                <a:latin typeface="Microsoft JhengHei"/>
                <a:ea typeface="Microsoft JhengHei"/>
                <a:sym typeface="Microsoft JhengHei"/>
              </a:rPr>
              <a:t>)</a:t>
            </a:r>
          </a:p>
          <a:p>
            <a:pPr marL="252000" marR="0" lvl="0" indent="-216000" algn="l" defTabSz="914400" rtl="0" eaLnBrk="1" fontAlgn="auto" latinLnBrk="0" hangingPunct="1">
              <a:lnSpc>
                <a:spcPct val="130000"/>
              </a:lnSpc>
              <a:spcBef>
                <a:spcPts val="0"/>
              </a:spcBef>
              <a:spcAft>
                <a:spcPts val="0"/>
              </a:spcAft>
              <a:buClrTx/>
              <a:buSzPct val="100000"/>
              <a:buFont typeface="Courier New"/>
              <a:buChar char="o"/>
              <a:tabLst>
                <a:tab pos="172948" algn="l"/>
              </a:tabLst>
              <a:defRPr/>
            </a:pPr>
            <a:r>
              <a:rPr kumimoji="0" lang="zh-TW" altLang="en-US" sz="1600" b="0" i="0" u="none" strike="noStrike" kern="0" cap="none" spc="0" normalizeH="0" baseline="0" noProof="0" dirty="0">
                <a:ln>
                  <a:noFill/>
                </a:ln>
                <a:solidFill>
                  <a:sysClr val="windowText" lastClr="000000"/>
                </a:solidFill>
                <a:effectLst/>
                <a:uLnTx/>
                <a:uFillTx/>
                <a:latin typeface="Microsoft JhengHei"/>
                <a:ea typeface="Microsoft JhengHei"/>
                <a:sym typeface="Microsoft JhengHei"/>
              </a:rPr>
              <a:t>本專案為永豐第一個有多 </a:t>
            </a:r>
            <a:r>
              <a:rPr kumimoji="0" lang="en-US" altLang="zh-TW" sz="1600" b="0" i="0" u="none" strike="noStrike" kern="0" cap="none" spc="0" normalizeH="0" baseline="0" noProof="0" dirty="0">
                <a:ln>
                  <a:noFill/>
                </a:ln>
                <a:solidFill>
                  <a:sysClr val="windowText" lastClr="000000"/>
                </a:solidFill>
                <a:effectLst/>
                <a:uLnTx/>
                <a:uFillTx/>
                <a:latin typeface="Microsoft JhengHei"/>
                <a:ea typeface="Microsoft JhengHei"/>
                <a:sym typeface="Microsoft JhengHei"/>
              </a:rPr>
              <a:t>Agent </a:t>
            </a:r>
            <a:r>
              <a:rPr kumimoji="0" lang="zh-TW" altLang="en-US" sz="1600" b="0" i="0" u="none" strike="noStrike" kern="0" cap="none" spc="0" normalizeH="0" baseline="0" noProof="0" dirty="0">
                <a:ln>
                  <a:noFill/>
                </a:ln>
                <a:solidFill>
                  <a:sysClr val="windowText" lastClr="000000"/>
                </a:solidFill>
                <a:effectLst/>
                <a:uLnTx/>
                <a:uFillTx/>
                <a:latin typeface="Microsoft JhengHei"/>
                <a:ea typeface="Microsoft JhengHei"/>
                <a:sym typeface="Microsoft JhengHei"/>
              </a:rPr>
              <a:t>組合的應用，預期透過永豐大腦打造擁有​永豐投顧研究員能力的</a:t>
            </a:r>
            <a:r>
              <a:rPr kumimoji="0" lang="en-US" altLang="zh-TW" sz="1600" b="0" i="0" u="none" strike="noStrike" kern="0" cap="none" spc="0" normalizeH="0" baseline="0" noProof="0" dirty="0">
                <a:ln>
                  <a:noFill/>
                </a:ln>
                <a:solidFill>
                  <a:sysClr val="windowText" lastClr="000000"/>
                </a:solidFill>
                <a:effectLst/>
                <a:uLnTx/>
                <a:uFillTx/>
                <a:latin typeface="Microsoft JhengHei"/>
                <a:ea typeface="Microsoft JhengHei"/>
                <a:sym typeface="Microsoft JhengHei"/>
              </a:rPr>
              <a:t>AI</a:t>
            </a:r>
            <a:r>
              <a:rPr kumimoji="0" lang="zh-TW" altLang="en-US" sz="1600" b="0" i="0" u="none" strike="noStrike" kern="0" cap="none" spc="0" normalizeH="0" baseline="0" noProof="0" dirty="0">
                <a:ln>
                  <a:noFill/>
                </a:ln>
                <a:solidFill>
                  <a:sysClr val="windowText" lastClr="000000"/>
                </a:solidFill>
                <a:effectLst/>
                <a:uLnTx/>
                <a:uFillTx/>
                <a:latin typeface="Microsoft JhengHei"/>
                <a:ea typeface="Microsoft JhengHei"/>
                <a:sym typeface="Microsoft JhengHei"/>
              </a:rPr>
              <a:t>研究員。擴大研究涵蓋範圍，並提升研究員報告產出的效率與品質​</a:t>
            </a:r>
            <a:endParaRPr kumimoji="0" lang="en-US" altLang="zh-TW" sz="1600" b="0" i="0" u="none" strike="noStrike" kern="0" cap="none" spc="0" normalizeH="0" baseline="0" noProof="0" dirty="0">
              <a:ln>
                <a:noFill/>
              </a:ln>
              <a:solidFill>
                <a:sysClr val="windowText" lastClr="000000"/>
              </a:solidFill>
              <a:effectLst/>
              <a:uLnTx/>
              <a:uFillTx/>
              <a:latin typeface="Microsoft JhengHei"/>
              <a:ea typeface="Microsoft JhengHei"/>
              <a:sym typeface="Microsoft JhengHei"/>
            </a:endParaRPr>
          </a:p>
          <a:p>
            <a:pPr marL="252000" marR="0" lvl="0" indent="-216000" algn="l" defTabSz="914400" rtl="0" eaLnBrk="1" fontAlgn="auto" latinLnBrk="0" hangingPunct="1">
              <a:lnSpc>
                <a:spcPct val="130000"/>
              </a:lnSpc>
              <a:spcBef>
                <a:spcPts val="0"/>
              </a:spcBef>
              <a:spcAft>
                <a:spcPts val="0"/>
              </a:spcAft>
              <a:buClrTx/>
              <a:buSzPct val="100000"/>
              <a:buFont typeface="Courier New"/>
              <a:buChar char="o"/>
              <a:tabLst>
                <a:tab pos="172948" algn="l"/>
              </a:tabLst>
              <a:defRPr/>
            </a:pPr>
            <a:r>
              <a:rPr kumimoji="0" lang="zh-TW" altLang="en-US" sz="1600" b="0" i="0" u="none" strike="noStrike" kern="0" cap="none" spc="0" normalizeH="0" baseline="0" noProof="0" dirty="0">
                <a:ln>
                  <a:noFill/>
                </a:ln>
                <a:solidFill>
                  <a:sysClr val="windowText" lastClr="000000"/>
                </a:solidFill>
                <a:effectLst/>
                <a:uLnTx/>
                <a:uFillTx/>
                <a:latin typeface="Microsoft JhengHei"/>
                <a:ea typeface="Microsoft JhengHei"/>
                <a:sym typeface="Microsoft JhengHei"/>
              </a:rPr>
              <a:t>預計節省研究報告產出時間 </a:t>
            </a:r>
            <a:r>
              <a:rPr kumimoji="0" lang="en-US" altLang="zh-TW" sz="1600" b="1" i="0" u="none" strike="noStrike" kern="0" cap="none" spc="0" normalizeH="0" baseline="0" noProof="0" dirty="0">
                <a:ln>
                  <a:noFill/>
                </a:ln>
                <a:solidFill>
                  <a:srgbClr val="F43F5E"/>
                </a:solidFill>
                <a:effectLst/>
                <a:uLnTx/>
                <a:uFillTx/>
                <a:latin typeface="Microsoft JhengHei"/>
                <a:ea typeface="Microsoft JhengHei"/>
                <a:sym typeface="Microsoft JhengHei"/>
              </a:rPr>
              <a:t>20%</a:t>
            </a:r>
            <a:r>
              <a:rPr kumimoji="0" lang="en-US" altLang="zh-TW" sz="1600" b="0" i="0" u="none" strike="noStrike" kern="0" cap="none" spc="0" normalizeH="0" baseline="0" noProof="0" dirty="0">
                <a:ln>
                  <a:noFill/>
                </a:ln>
                <a:solidFill>
                  <a:sysClr val="windowText" lastClr="000000"/>
                </a:solidFill>
                <a:effectLst/>
                <a:uLnTx/>
                <a:uFillTx/>
                <a:latin typeface="Microsoft JhengHei"/>
                <a:ea typeface="Microsoft JhengHei"/>
                <a:sym typeface="Microsoft JhengHei"/>
              </a:rPr>
              <a:t> </a:t>
            </a:r>
            <a:r>
              <a:rPr kumimoji="0" lang="en-US" altLang="zh-TW" sz="1400" b="0" i="0" u="none" strike="noStrike" kern="0" cap="none" spc="0" normalizeH="0" baseline="0" noProof="0" dirty="0">
                <a:ln>
                  <a:noFill/>
                </a:ln>
                <a:solidFill>
                  <a:srgbClr val="000000">
                    <a:lumMod val="50000"/>
                    <a:lumOff val="50000"/>
                  </a:srgbClr>
                </a:solidFill>
                <a:effectLst/>
                <a:uLnTx/>
                <a:uFillTx/>
                <a:latin typeface="Microsoft JhengHei" panose="020B0604030504040204" pitchFamily="34" charset="-120"/>
                <a:ea typeface="Microsoft JhengHei" panose="020B0604030504040204" pitchFamily="34" charset="-120"/>
                <a:cs typeface="Arial" panose="020B0604020202020204" pitchFamily="34" charset="0"/>
                <a:sym typeface="Microsoft JhengHei"/>
              </a:rPr>
              <a:t>3.2hr/16hr </a:t>
            </a:r>
            <a:r>
              <a:rPr kumimoji="0" lang="zh-TW" altLang="en-US" sz="1600" b="0" i="0" u="none" strike="noStrike" kern="0" cap="none" spc="0" normalizeH="0" baseline="0" noProof="0" dirty="0">
                <a:ln>
                  <a:noFill/>
                </a:ln>
                <a:solidFill>
                  <a:sysClr val="windowText" lastClr="000000"/>
                </a:solidFill>
                <a:effectLst/>
                <a:uLnTx/>
                <a:uFillTx/>
                <a:latin typeface="Microsoft JhengHei"/>
                <a:ea typeface="Microsoft JhengHei"/>
                <a:sym typeface="Microsoft JhengHei"/>
              </a:rPr>
              <a:t>以上​，最終期望可以省去事前準備時間並可以提供更多元的研究報告</a:t>
            </a:r>
          </a:p>
          <a:p>
            <a:pPr marL="252000" marR="0" lvl="0" indent="-216000" algn="l" defTabSz="914400" rtl="0" eaLnBrk="1" fontAlgn="auto" latinLnBrk="0" hangingPunct="1">
              <a:lnSpc>
                <a:spcPct val="130000"/>
              </a:lnSpc>
              <a:spcBef>
                <a:spcPts val="0"/>
              </a:spcBef>
              <a:spcAft>
                <a:spcPts val="0"/>
              </a:spcAft>
              <a:buClrTx/>
              <a:buSzPct val="100000"/>
              <a:buFont typeface="Courier New"/>
              <a:buChar char="o"/>
              <a:tabLst>
                <a:tab pos="172948" algn="l"/>
              </a:tabLst>
              <a:defRPr/>
            </a:pPr>
            <a:endParaRPr kumimoji="0" lang="en-US" altLang="zh-TW" sz="1600" b="0" i="0" u="none" strike="noStrike" kern="0" cap="none" spc="0" normalizeH="0" baseline="0" noProof="0" dirty="0">
              <a:ln>
                <a:noFill/>
              </a:ln>
              <a:solidFill>
                <a:sysClr val="windowText" lastClr="000000"/>
              </a:solidFill>
              <a:effectLst/>
              <a:uLnTx/>
              <a:uFillTx/>
              <a:latin typeface="Microsoft JhengHei"/>
              <a:ea typeface="Microsoft JhengHei"/>
              <a:sym typeface="Microsoft JhengHei"/>
            </a:endParaRPr>
          </a:p>
          <a:p>
            <a:pPr marL="252000" marR="0" lvl="0" indent="-216000" algn="l" defTabSz="914400" rtl="0" eaLnBrk="1" fontAlgn="auto" latinLnBrk="0" hangingPunct="1">
              <a:lnSpc>
                <a:spcPct val="130000"/>
              </a:lnSpc>
              <a:spcBef>
                <a:spcPts val="0"/>
              </a:spcBef>
              <a:spcAft>
                <a:spcPts val="0"/>
              </a:spcAft>
              <a:buClrTx/>
              <a:buSzPct val="100000"/>
              <a:buFont typeface="Courier New"/>
              <a:buChar char="o"/>
              <a:tabLst>
                <a:tab pos="172948" algn="l"/>
              </a:tabLst>
              <a:defRPr/>
            </a:pPr>
            <a:r>
              <a:rPr kumimoji="0" lang="zh-TW" altLang="en-US" sz="1600" b="0" i="0" u="none" strike="noStrike" kern="0" cap="none" spc="0" normalizeH="0" baseline="0" noProof="0" dirty="0">
                <a:ln>
                  <a:noFill/>
                </a:ln>
                <a:solidFill>
                  <a:sysClr val="windowText" lastClr="000000"/>
                </a:solidFill>
                <a:effectLst/>
                <a:uLnTx/>
                <a:uFillTx/>
                <a:latin typeface="Microsoft JhengHei"/>
                <a:ea typeface="Microsoft JhengHei"/>
                <a:sym typeface="Microsoft JhengHei"/>
              </a:rPr>
              <a:t>以下為目前研究員報告產製流程及花費時間</a:t>
            </a:r>
            <a:r>
              <a:rPr kumimoji="0" lang="zh-TW" altLang="en-US" sz="1600" b="0" i="0" u="none" strike="noStrike" kern="0" cap="none" spc="0" normalizeH="0" baseline="0" noProof="0" dirty="0">
                <a:ln>
                  <a:noFill/>
                </a:ln>
                <a:solidFill>
                  <a:sysClr val="windowText" lastClr="000000"/>
                </a:solidFill>
                <a:effectLst/>
                <a:uLnTx/>
                <a:uFillTx/>
                <a:latin typeface="Microsoft JhengHei" panose="020B0604030504040204" pitchFamily="34" charset="-120"/>
                <a:ea typeface="Microsoft JhengHei" panose="020B0604030504040204" pitchFamily="34" charset="-120"/>
                <a:sym typeface="Microsoft JhengHei"/>
              </a:rPr>
              <a:t>：</a:t>
            </a:r>
            <a:endParaRPr kumimoji="0" lang="en-US" altLang="zh-TW" sz="1600" b="0" i="0" u="none" strike="noStrike" kern="0" cap="none" spc="0" normalizeH="0" baseline="0" noProof="0" dirty="0">
              <a:ln>
                <a:noFill/>
              </a:ln>
              <a:solidFill>
                <a:sysClr val="windowText" lastClr="000000"/>
              </a:solidFill>
              <a:effectLst/>
              <a:uLnTx/>
              <a:uFillTx/>
              <a:latin typeface="Microsoft JhengHei" panose="020B0604030504040204" pitchFamily="34" charset="-120"/>
              <a:ea typeface="Microsoft JhengHei" panose="020B0604030504040204" pitchFamily="34" charset="-120"/>
              <a:sym typeface="Microsoft JhengHei"/>
            </a:endParaRPr>
          </a:p>
          <a:p>
            <a:pPr marL="172948" marR="0" lvl="0" indent="-172948" algn="l" defTabSz="914400" rtl="0" eaLnBrk="1" fontAlgn="auto" latinLnBrk="0" hangingPunct="1">
              <a:lnSpc>
                <a:spcPct val="130000"/>
              </a:lnSpc>
              <a:spcBef>
                <a:spcPts val="600"/>
              </a:spcBef>
              <a:spcAft>
                <a:spcPts val="0"/>
              </a:spcAft>
              <a:buClrTx/>
              <a:buSzPct val="100000"/>
              <a:buFont typeface="Courier New"/>
              <a:buChar char="o"/>
              <a:tabLst>
                <a:tab pos="172948" algn="l"/>
              </a:tabLst>
              <a:defRPr/>
            </a:pPr>
            <a:endParaRPr kumimoji="0" lang="en-US" altLang="zh-TW" sz="1543" b="0" i="0" u="none" strike="noStrike" kern="0" cap="none" spc="0" normalizeH="0" baseline="0" noProof="0" dirty="0">
              <a:ln>
                <a:noFill/>
              </a:ln>
              <a:solidFill>
                <a:sysClr val="windowText" lastClr="000000"/>
              </a:solidFill>
              <a:effectLst/>
              <a:uLnTx/>
              <a:uFillTx/>
              <a:latin typeface="Microsoft JhengHei" panose="020B0604030504040204" pitchFamily="34" charset="-120"/>
              <a:ea typeface="Microsoft JhengHei" panose="020B0604030504040204" pitchFamily="34" charset="-120"/>
              <a:sym typeface="Microsoft JhengHei"/>
            </a:endParaRPr>
          </a:p>
          <a:p>
            <a:pPr marL="172948" marR="0" lvl="0" indent="-172948" algn="l" defTabSz="914400" rtl="0" eaLnBrk="1" fontAlgn="auto" latinLnBrk="0" hangingPunct="1">
              <a:lnSpc>
                <a:spcPct val="130000"/>
              </a:lnSpc>
              <a:spcBef>
                <a:spcPts val="600"/>
              </a:spcBef>
              <a:spcAft>
                <a:spcPts val="0"/>
              </a:spcAft>
              <a:buClrTx/>
              <a:buSzPct val="100000"/>
              <a:buFont typeface="Courier New"/>
              <a:buChar char="o"/>
              <a:tabLst>
                <a:tab pos="172948" algn="l"/>
              </a:tabLst>
              <a:defRPr/>
            </a:pPr>
            <a:endParaRPr kumimoji="0" lang="en-US" altLang="zh-TW" sz="1543" b="0" i="0" u="none" strike="noStrike" kern="0" cap="none" spc="0" normalizeH="0" baseline="0" noProof="0" dirty="0">
              <a:ln>
                <a:noFill/>
              </a:ln>
              <a:solidFill>
                <a:sysClr val="windowText" lastClr="000000"/>
              </a:solidFill>
              <a:effectLst/>
              <a:uLnTx/>
              <a:uFillTx/>
              <a:latin typeface="Microsoft JhengHei" panose="020B0604030504040204" pitchFamily="34" charset="-120"/>
              <a:ea typeface="Microsoft JhengHei" panose="020B0604030504040204" pitchFamily="34" charset="-120"/>
              <a:sym typeface="Microsoft JhengHei"/>
            </a:endParaRPr>
          </a:p>
          <a:p>
            <a:pPr marL="172948" marR="0" lvl="0" indent="-172948" algn="l" defTabSz="914400" rtl="0" eaLnBrk="1" fontAlgn="auto" latinLnBrk="0" hangingPunct="1">
              <a:lnSpc>
                <a:spcPct val="130000"/>
              </a:lnSpc>
              <a:spcBef>
                <a:spcPts val="600"/>
              </a:spcBef>
              <a:spcAft>
                <a:spcPts val="0"/>
              </a:spcAft>
              <a:buClrTx/>
              <a:buSzPct val="100000"/>
              <a:buFont typeface="Courier New"/>
              <a:buChar char="o"/>
              <a:tabLst>
                <a:tab pos="172948" algn="l"/>
              </a:tabLst>
              <a:defRPr/>
            </a:pPr>
            <a:endParaRPr kumimoji="0" lang="en-US" altLang="zh-TW" sz="1543" b="0" i="0" u="none" strike="noStrike" kern="0" cap="none" spc="0" normalizeH="0" baseline="0" noProof="0" dirty="0">
              <a:ln>
                <a:noFill/>
              </a:ln>
              <a:solidFill>
                <a:sysClr val="windowText" lastClr="000000"/>
              </a:solidFill>
              <a:effectLst/>
              <a:uLnTx/>
              <a:uFillTx/>
              <a:latin typeface="Microsoft JhengHei" panose="020B0604030504040204" pitchFamily="34" charset="-120"/>
              <a:ea typeface="Microsoft JhengHei" panose="020B0604030504040204" pitchFamily="34" charset="-120"/>
              <a:sym typeface="Microsoft JhengHei"/>
            </a:endParaRPr>
          </a:p>
          <a:p>
            <a:pPr marL="0" marR="0" lvl="0" indent="0" algn="l" defTabSz="914400" rtl="0" eaLnBrk="1" fontAlgn="auto" latinLnBrk="0" hangingPunct="1">
              <a:lnSpc>
                <a:spcPct val="130000"/>
              </a:lnSpc>
              <a:spcBef>
                <a:spcPts val="600"/>
              </a:spcBef>
              <a:spcAft>
                <a:spcPts val="0"/>
              </a:spcAft>
              <a:buClrTx/>
              <a:buSzPct val="100000"/>
              <a:buFont typeface="標準系統字體"/>
              <a:buNone/>
              <a:tabLst>
                <a:tab pos="172948" algn="l"/>
              </a:tabLst>
              <a:defRPr/>
            </a:pPr>
            <a:endParaRPr kumimoji="0" lang="en-US" altLang="zh-TW" sz="1543" b="0" i="0" u="none" strike="noStrike" kern="0" cap="none" spc="0" normalizeH="0" baseline="0" noProof="0" dirty="0">
              <a:ln>
                <a:noFill/>
              </a:ln>
              <a:solidFill>
                <a:sysClr val="windowText" lastClr="000000"/>
              </a:solidFill>
              <a:effectLst/>
              <a:uLnTx/>
              <a:uFillTx/>
              <a:latin typeface="Microsoft JhengHei" panose="020B0604030504040204" pitchFamily="34" charset="-120"/>
              <a:ea typeface="Microsoft JhengHei" panose="020B0604030504040204" pitchFamily="34" charset="-120"/>
              <a:sym typeface="Microsoft JhengHei"/>
            </a:endParaRPr>
          </a:p>
          <a:p>
            <a:pPr marL="0" marR="0" lvl="0" indent="0" algn="l" defTabSz="914400" rtl="0" eaLnBrk="1" fontAlgn="auto" latinLnBrk="0" hangingPunct="1">
              <a:lnSpc>
                <a:spcPct val="130000"/>
              </a:lnSpc>
              <a:spcBef>
                <a:spcPts val="600"/>
              </a:spcBef>
              <a:spcAft>
                <a:spcPts val="0"/>
              </a:spcAft>
              <a:buClrTx/>
              <a:buSzPct val="100000"/>
              <a:buFont typeface="標準系統字體"/>
              <a:buNone/>
              <a:tabLst>
                <a:tab pos="172948" algn="l"/>
              </a:tabLst>
              <a:defRPr/>
            </a:pPr>
            <a:endParaRPr kumimoji="0" lang="en-US" altLang="zh-TW" sz="1543" b="0" i="0" u="none" strike="noStrike" kern="0" cap="none" spc="0" normalizeH="0" baseline="0" noProof="0" dirty="0">
              <a:ln>
                <a:noFill/>
              </a:ln>
              <a:solidFill>
                <a:sysClr val="windowText" lastClr="000000"/>
              </a:solidFill>
              <a:effectLst/>
              <a:uLnTx/>
              <a:uFillTx/>
              <a:latin typeface="Microsoft JhengHei" panose="020B0604030504040204" pitchFamily="34" charset="-120"/>
              <a:ea typeface="Microsoft JhengHei" panose="020B0604030504040204" pitchFamily="34" charset="-120"/>
              <a:sym typeface="Microsoft JhengHei"/>
            </a:endParaRPr>
          </a:p>
          <a:p>
            <a:pPr marL="172948" marR="0" lvl="0" indent="-172948" algn="l" defTabSz="914400" rtl="0" eaLnBrk="1" fontAlgn="auto" latinLnBrk="0" hangingPunct="1">
              <a:lnSpc>
                <a:spcPct val="130000"/>
              </a:lnSpc>
              <a:spcBef>
                <a:spcPts val="600"/>
              </a:spcBef>
              <a:spcAft>
                <a:spcPts val="0"/>
              </a:spcAft>
              <a:buClrTx/>
              <a:buSzPct val="100000"/>
              <a:buFont typeface="Courier New"/>
              <a:buChar char="o"/>
              <a:tabLst>
                <a:tab pos="172948" algn="l"/>
              </a:tabLst>
              <a:defRPr/>
            </a:pPr>
            <a:r>
              <a:rPr kumimoji="0" lang="zh-TW" altLang="en-US" sz="1543" b="0" i="0" u="none" strike="noStrike" kern="0" cap="none" spc="0" normalizeH="0" baseline="0" noProof="0" dirty="0">
                <a:ln>
                  <a:noFill/>
                </a:ln>
                <a:solidFill>
                  <a:sysClr val="windowText" lastClr="000000"/>
                </a:solidFill>
                <a:effectLst/>
                <a:uLnTx/>
                <a:uFillTx/>
                <a:latin typeface="Microsoft JhengHei" panose="020B0604030504040204" pitchFamily="34" charset="-120"/>
                <a:ea typeface="Microsoft JhengHei" panose="020B0604030504040204" pitchFamily="34" charset="-120"/>
                <a:sym typeface="Microsoft JhengHei"/>
              </a:rPr>
              <a:t>永豐大腦架構：</a:t>
            </a:r>
            <a:endParaRPr kumimoji="0" lang="en-US" altLang="zh-TW" sz="1543" b="0" i="0" u="none" strike="noStrike" kern="0" cap="none" spc="0" normalizeH="0" baseline="0" noProof="0" dirty="0">
              <a:ln>
                <a:noFill/>
              </a:ln>
              <a:solidFill>
                <a:sysClr val="windowText" lastClr="000000"/>
              </a:solidFill>
              <a:effectLst/>
              <a:uLnTx/>
              <a:uFillTx/>
              <a:latin typeface="Microsoft JhengHei" panose="020B0604030504040204" pitchFamily="34" charset="-120"/>
              <a:ea typeface="Microsoft JhengHei" panose="020B0604030504040204" pitchFamily="34" charset="-120"/>
              <a:sym typeface="Microsoft JhengHei"/>
            </a:endParaRPr>
          </a:p>
          <a:p>
            <a:pPr marL="252000" marR="0" lvl="0" indent="-216000" algn="l" defTabSz="914400" rtl="0" eaLnBrk="1" fontAlgn="auto" latinLnBrk="0" hangingPunct="1">
              <a:lnSpc>
                <a:spcPct val="100000"/>
              </a:lnSpc>
              <a:spcBef>
                <a:spcPts val="600"/>
              </a:spcBef>
              <a:spcAft>
                <a:spcPts val="0"/>
              </a:spcAft>
              <a:buClrTx/>
              <a:buSzPct val="100000"/>
              <a:buFont typeface="標準系統字體"/>
              <a:buChar char="○"/>
              <a:tabLst/>
              <a:defRPr/>
            </a:pPr>
            <a:endParaRPr kumimoji="0" lang="zh-TW" altLang="en-US" sz="1600" b="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sym typeface="Microsoft JhengHei"/>
            </a:endParaRPr>
          </a:p>
        </p:txBody>
      </p:sp>
      <p:graphicFrame>
        <p:nvGraphicFramePr>
          <p:cNvPr id="23" name="表格 22">
            <a:extLst>
              <a:ext uri="{FF2B5EF4-FFF2-40B4-BE49-F238E27FC236}">
                <a16:creationId xmlns:a16="http://schemas.microsoft.com/office/drawing/2014/main" id="{5764D491-46A6-432A-AFCE-E294D1098905}"/>
              </a:ext>
            </a:extLst>
          </p:cNvPr>
          <p:cNvGraphicFramePr>
            <a:graphicFrameLocks noGrp="1"/>
          </p:cNvGraphicFramePr>
          <p:nvPr>
            <p:extLst>
              <p:ext uri="{D42A27DB-BD31-4B8C-83A1-F6EECF244321}">
                <p14:modId xmlns:p14="http://schemas.microsoft.com/office/powerpoint/2010/main" val="4213093384"/>
              </p:ext>
            </p:extLst>
          </p:nvPr>
        </p:nvGraphicFramePr>
        <p:xfrm>
          <a:off x="438180" y="2797523"/>
          <a:ext cx="11161712" cy="1734226"/>
        </p:xfrm>
        <a:graphic>
          <a:graphicData uri="http://schemas.openxmlformats.org/drawingml/2006/table">
            <a:tbl>
              <a:tblPr firstRow="1" bandRow="1"/>
              <a:tblGrid>
                <a:gridCol w="1045857">
                  <a:extLst>
                    <a:ext uri="{9D8B030D-6E8A-4147-A177-3AD203B41FA5}">
                      <a16:colId xmlns:a16="http://schemas.microsoft.com/office/drawing/2014/main" val="712390559"/>
                    </a:ext>
                  </a:extLst>
                </a:gridCol>
                <a:gridCol w="2023171">
                  <a:extLst>
                    <a:ext uri="{9D8B030D-6E8A-4147-A177-3AD203B41FA5}">
                      <a16:colId xmlns:a16="http://schemas.microsoft.com/office/drawing/2014/main" val="1636797335"/>
                    </a:ext>
                  </a:extLst>
                </a:gridCol>
                <a:gridCol w="2023171">
                  <a:extLst>
                    <a:ext uri="{9D8B030D-6E8A-4147-A177-3AD203B41FA5}">
                      <a16:colId xmlns:a16="http://schemas.microsoft.com/office/drawing/2014/main" val="3352332079"/>
                    </a:ext>
                  </a:extLst>
                </a:gridCol>
                <a:gridCol w="2023171">
                  <a:extLst>
                    <a:ext uri="{9D8B030D-6E8A-4147-A177-3AD203B41FA5}">
                      <a16:colId xmlns:a16="http://schemas.microsoft.com/office/drawing/2014/main" val="1902231067"/>
                    </a:ext>
                  </a:extLst>
                </a:gridCol>
                <a:gridCol w="2023171">
                  <a:extLst>
                    <a:ext uri="{9D8B030D-6E8A-4147-A177-3AD203B41FA5}">
                      <a16:colId xmlns:a16="http://schemas.microsoft.com/office/drawing/2014/main" val="2174855861"/>
                    </a:ext>
                  </a:extLst>
                </a:gridCol>
                <a:gridCol w="2023171">
                  <a:extLst>
                    <a:ext uri="{9D8B030D-6E8A-4147-A177-3AD203B41FA5}">
                      <a16:colId xmlns:a16="http://schemas.microsoft.com/office/drawing/2014/main" val="3725522939"/>
                    </a:ext>
                  </a:extLst>
                </a:gridCol>
              </a:tblGrid>
              <a:tr h="541628">
                <a:tc rowSpan="2">
                  <a:txBody>
                    <a:bodyPr/>
                    <a:lstStyle>
                      <a:lvl1pPr marL="0" algn="l" defTabSz="932962" rtl="0" eaLnBrk="1" latinLnBrk="0" hangingPunct="1">
                        <a:defRPr sz="1800" kern="1200">
                          <a:solidFill>
                            <a:schemeClr val="tx1"/>
                          </a:solidFill>
                          <a:latin typeface="Arial"/>
                        </a:defRPr>
                      </a:lvl1pPr>
                      <a:lvl2pPr marL="466481" algn="l" defTabSz="932962" rtl="0" eaLnBrk="1" latinLnBrk="0" hangingPunct="1">
                        <a:defRPr sz="1800" kern="1200">
                          <a:solidFill>
                            <a:schemeClr val="tx1"/>
                          </a:solidFill>
                          <a:latin typeface="Arial"/>
                        </a:defRPr>
                      </a:lvl2pPr>
                      <a:lvl3pPr marL="932962" algn="l" defTabSz="932962" rtl="0" eaLnBrk="1" latinLnBrk="0" hangingPunct="1">
                        <a:defRPr sz="1800" kern="1200">
                          <a:solidFill>
                            <a:schemeClr val="tx1"/>
                          </a:solidFill>
                          <a:latin typeface="Arial"/>
                        </a:defRPr>
                      </a:lvl3pPr>
                      <a:lvl4pPr marL="1399443" algn="l" defTabSz="932962" rtl="0" eaLnBrk="1" latinLnBrk="0" hangingPunct="1">
                        <a:defRPr sz="1800" kern="1200">
                          <a:solidFill>
                            <a:schemeClr val="tx1"/>
                          </a:solidFill>
                          <a:latin typeface="Arial"/>
                        </a:defRPr>
                      </a:lvl4pPr>
                      <a:lvl5pPr marL="1865925" algn="l" defTabSz="932962" rtl="0" eaLnBrk="1" latinLnBrk="0" hangingPunct="1">
                        <a:defRPr sz="1800" kern="1200">
                          <a:solidFill>
                            <a:schemeClr val="tx1"/>
                          </a:solidFill>
                          <a:latin typeface="Arial"/>
                        </a:defRPr>
                      </a:lvl5pPr>
                      <a:lvl6pPr marL="2332406" algn="l" defTabSz="932962" rtl="0" eaLnBrk="1" latinLnBrk="0" hangingPunct="1">
                        <a:defRPr sz="1800" kern="1200">
                          <a:solidFill>
                            <a:schemeClr val="tx1"/>
                          </a:solidFill>
                          <a:latin typeface="Arial"/>
                        </a:defRPr>
                      </a:lvl6pPr>
                      <a:lvl7pPr marL="2798887" algn="l" defTabSz="932962" rtl="0" eaLnBrk="1" latinLnBrk="0" hangingPunct="1">
                        <a:defRPr sz="1800" kern="1200">
                          <a:solidFill>
                            <a:schemeClr val="tx1"/>
                          </a:solidFill>
                          <a:latin typeface="Arial"/>
                        </a:defRPr>
                      </a:lvl7pPr>
                      <a:lvl8pPr marL="3265368" algn="l" defTabSz="932962" rtl="0" eaLnBrk="1" latinLnBrk="0" hangingPunct="1">
                        <a:defRPr sz="1800" kern="1200">
                          <a:solidFill>
                            <a:schemeClr val="tx1"/>
                          </a:solidFill>
                          <a:latin typeface="Arial"/>
                        </a:defRPr>
                      </a:lvl8pPr>
                      <a:lvl9pPr marL="3731849" algn="l" defTabSz="932962" rtl="0" eaLnBrk="1" latinLnBrk="0" hangingPunct="1">
                        <a:defRPr sz="1800" kern="1200">
                          <a:solidFill>
                            <a:schemeClr val="tx1"/>
                          </a:solidFill>
                          <a:latin typeface="Arial"/>
                        </a:defRPr>
                      </a:lvl9pPr>
                    </a:lstStyle>
                    <a:p>
                      <a:pPr marL="0" marR="0" lvl="0" indent="0" algn="ctr" defTabSz="914400" rtl="0" eaLnBrk="1" fontAlgn="auto" latinLnBrk="0" hangingPunct="1">
                        <a:lnSpc>
                          <a:spcPct val="130000"/>
                        </a:lnSpc>
                        <a:spcBef>
                          <a:spcPts val="0"/>
                        </a:spcBef>
                        <a:spcAft>
                          <a:spcPts val="0"/>
                        </a:spcAft>
                        <a:buClrTx/>
                        <a:buSzTx/>
                        <a:buFontTx/>
                        <a:buNone/>
                        <a:tabLst/>
                        <a:defRPr/>
                      </a:pPr>
                      <a:r>
                        <a:rPr lang="zh-TW" altLang="en-US" sz="1400">
                          <a:latin typeface="微軟正黑體" panose="020B0604030504040204" pitchFamily="34" charset="-120"/>
                          <a:ea typeface="微軟正黑體" panose="020B0604030504040204" pitchFamily="34" charset="-120"/>
                        </a:rPr>
                        <a:t>平均耗費</a:t>
                      </a:r>
                      <a:r>
                        <a:rPr lang="en-US" altLang="zh-TW" sz="1400">
                          <a:latin typeface="微軟正黑體" panose="020B0604030504040204" pitchFamily="34" charset="-120"/>
                          <a:ea typeface="微軟正黑體" panose="020B0604030504040204" pitchFamily="34" charset="-120"/>
                        </a:rPr>
                        <a:t>16 hr</a:t>
                      </a:r>
                    </a:p>
                  </a:txBody>
                  <a:tcPr marL="88157" marR="88157" marT="44079" marB="44079" anchor="ctr">
                    <a:lnL w="19050" cap="flat" cmpd="sng" algn="ctr">
                      <a:noFill/>
                      <a:prstDash val="solid"/>
                      <a:round/>
                      <a:headEnd type="none" w="med" len="med"/>
                      <a:tailEnd type="none" w="med" len="med"/>
                    </a:lnL>
                    <a:lnR w="6350" cap="flat" cmpd="sng" algn="ctr">
                      <a:solidFill>
                        <a:sysClr val="window" lastClr="FFFFFF">
                          <a:lumMod val="85000"/>
                        </a:sysClr>
                      </a:solidFill>
                      <a:prstDash val="solid"/>
                      <a:round/>
                      <a:headEnd type="none" w="med" len="med"/>
                      <a:tailEnd type="none" w="med" len="med"/>
                    </a:lnR>
                    <a:lnT w="1905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ysClr val="window" lastClr="FFFFFF">
                        <a:lumMod val="95000"/>
                      </a:sysClr>
                    </a:solidFill>
                  </a:tcPr>
                </a:tc>
                <a:tc>
                  <a:txBody>
                    <a:bodyPr/>
                    <a:lstStyle>
                      <a:lvl1pPr marL="0" algn="l" defTabSz="932962" rtl="0" eaLnBrk="1" latinLnBrk="0" hangingPunct="1">
                        <a:defRPr sz="1800" kern="1200">
                          <a:solidFill>
                            <a:schemeClr val="tx1"/>
                          </a:solidFill>
                          <a:latin typeface="Arial"/>
                        </a:defRPr>
                      </a:lvl1pPr>
                      <a:lvl2pPr marL="466481" algn="l" defTabSz="932962" rtl="0" eaLnBrk="1" latinLnBrk="0" hangingPunct="1">
                        <a:defRPr sz="1800" kern="1200">
                          <a:solidFill>
                            <a:schemeClr val="tx1"/>
                          </a:solidFill>
                          <a:latin typeface="Arial"/>
                        </a:defRPr>
                      </a:lvl2pPr>
                      <a:lvl3pPr marL="932962" algn="l" defTabSz="932962" rtl="0" eaLnBrk="1" latinLnBrk="0" hangingPunct="1">
                        <a:defRPr sz="1800" kern="1200">
                          <a:solidFill>
                            <a:schemeClr val="tx1"/>
                          </a:solidFill>
                          <a:latin typeface="Arial"/>
                        </a:defRPr>
                      </a:lvl3pPr>
                      <a:lvl4pPr marL="1399443" algn="l" defTabSz="932962" rtl="0" eaLnBrk="1" latinLnBrk="0" hangingPunct="1">
                        <a:defRPr sz="1800" kern="1200">
                          <a:solidFill>
                            <a:schemeClr val="tx1"/>
                          </a:solidFill>
                          <a:latin typeface="Arial"/>
                        </a:defRPr>
                      </a:lvl4pPr>
                      <a:lvl5pPr marL="1865925" algn="l" defTabSz="932962" rtl="0" eaLnBrk="1" latinLnBrk="0" hangingPunct="1">
                        <a:defRPr sz="1800" kern="1200">
                          <a:solidFill>
                            <a:schemeClr val="tx1"/>
                          </a:solidFill>
                          <a:latin typeface="Arial"/>
                        </a:defRPr>
                      </a:lvl5pPr>
                      <a:lvl6pPr marL="2332406" algn="l" defTabSz="932962" rtl="0" eaLnBrk="1" latinLnBrk="0" hangingPunct="1">
                        <a:defRPr sz="1800" kern="1200">
                          <a:solidFill>
                            <a:schemeClr val="tx1"/>
                          </a:solidFill>
                          <a:latin typeface="Arial"/>
                        </a:defRPr>
                      </a:lvl6pPr>
                      <a:lvl7pPr marL="2798887" algn="l" defTabSz="932962" rtl="0" eaLnBrk="1" latinLnBrk="0" hangingPunct="1">
                        <a:defRPr sz="1800" kern="1200">
                          <a:solidFill>
                            <a:schemeClr val="tx1"/>
                          </a:solidFill>
                          <a:latin typeface="Arial"/>
                        </a:defRPr>
                      </a:lvl7pPr>
                      <a:lvl8pPr marL="3265368" algn="l" defTabSz="932962" rtl="0" eaLnBrk="1" latinLnBrk="0" hangingPunct="1">
                        <a:defRPr sz="1800" kern="1200">
                          <a:solidFill>
                            <a:schemeClr val="tx1"/>
                          </a:solidFill>
                          <a:latin typeface="Arial"/>
                        </a:defRPr>
                      </a:lvl8pPr>
                      <a:lvl9pPr marL="3731849" algn="l" defTabSz="932962" rtl="0" eaLnBrk="1" latinLnBrk="0" hangingPunct="1">
                        <a:defRPr sz="1800" kern="1200">
                          <a:solidFill>
                            <a:schemeClr val="tx1"/>
                          </a:solidFill>
                          <a:latin typeface="Arial"/>
                        </a:defRPr>
                      </a:lvl9pPr>
                    </a:lstStyle>
                    <a:p>
                      <a:pPr algn="ctr">
                        <a:lnSpc>
                          <a:spcPct val="130000"/>
                        </a:lnSpc>
                        <a:spcBef>
                          <a:spcPts val="0"/>
                        </a:spcBef>
                      </a:pPr>
                      <a:r>
                        <a:rPr lang="zh-TW" altLang="en-US" sz="1400" dirty="0">
                          <a:latin typeface="微軟正黑體" panose="020B0604030504040204" pitchFamily="34" charset="-120"/>
                          <a:ea typeface="微軟正黑體" panose="020B0604030504040204" pitchFamily="34" charset="-120"/>
                        </a:rPr>
                        <a:t>事前準備</a:t>
                      </a:r>
                      <a:endParaRPr lang="en-US" altLang="zh-TW" sz="1400" dirty="0">
                        <a:latin typeface="微軟正黑體" panose="020B0604030504040204" pitchFamily="34" charset="-120"/>
                        <a:ea typeface="微軟正黑體" panose="020B0604030504040204" pitchFamily="34" charset="-120"/>
                      </a:endParaRPr>
                    </a:p>
                    <a:p>
                      <a:pPr algn="ctr">
                        <a:lnSpc>
                          <a:spcPct val="130000"/>
                        </a:lnSpc>
                        <a:spcBef>
                          <a:spcPts val="0"/>
                        </a:spcBef>
                      </a:pPr>
                      <a:r>
                        <a:rPr lang="zh-TW" altLang="en-US" sz="1200" dirty="0">
                          <a:latin typeface="微軟正黑體" panose="020B0604030504040204" pitchFamily="34" charset="-120"/>
                          <a:ea typeface="微軟正黑體" panose="020B0604030504040204" pitchFamily="34" charset="-120"/>
                        </a:rPr>
                        <a:t>人工 </a:t>
                      </a:r>
                      <a:r>
                        <a:rPr lang="en-US" altLang="zh-TW" sz="1200" dirty="0">
                          <a:latin typeface="微軟正黑體" panose="020B0604030504040204" pitchFamily="34" charset="-120"/>
                          <a:ea typeface="微軟正黑體" panose="020B0604030504040204" pitchFamily="34" charset="-120"/>
                        </a:rPr>
                        <a:t>4-8 </a:t>
                      </a:r>
                      <a:r>
                        <a:rPr lang="en-US" altLang="zh-TW" sz="1200" dirty="0" err="1">
                          <a:latin typeface="微軟正黑體" panose="020B0604030504040204" pitchFamily="34" charset="-120"/>
                          <a:ea typeface="微軟正黑體" panose="020B0604030504040204" pitchFamily="34" charset="-120"/>
                        </a:rPr>
                        <a:t>hr</a:t>
                      </a:r>
                      <a:endParaRPr lang="zh-TW" altLang="en-US" sz="1200" dirty="0">
                        <a:latin typeface="微軟正黑體" panose="020B0604030504040204" pitchFamily="34" charset="-120"/>
                        <a:ea typeface="微軟正黑體" panose="020B0604030504040204" pitchFamily="34" charset="-120"/>
                      </a:endParaRPr>
                    </a:p>
                  </a:txBody>
                  <a:tcPr marL="88157" marR="88157" marT="44079" marB="44079">
                    <a:lnL w="6350" cap="flat" cmpd="sng" algn="ctr">
                      <a:solidFill>
                        <a:sysClr val="window" lastClr="FFFFFF">
                          <a:lumMod val="85000"/>
                        </a:sysClr>
                      </a:solidFill>
                      <a:prstDash val="solid"/>
                      <a:round/>
                      <a:headEnd type="none" w="med" len="med"/>
                      <a:tailEnd type="none" w="med" len="med"/>
                    </a:lnL>
                    <a:lnR w="6350" cap="flat" cmpd="sng" algn="ctr">
                      <a:solidFill>
                        <a:sysClr val="window" lastClr="FFFFFF">
                          <a:lumMod val="85000"/>
                        </a:sysClr>
                      </a:solidFill>
                      <a:prstDash val="solid"/>
                      <a:round/>
                      <a:headEnd type="none" w="med" len="med"/>
                      <a:tailEnd type="none" w="med" len="med"/>
                    </a:lnR>
                    <a:lnT w="19050" cap="flat" cmpd="sng" algn="ctr">
                      <a:noFill/>
                      <a:prstDash val="solid"/>
                      <a:round/>
                      <a:headEnd type="none" w="med" len="med"/>
                      <a:tailEnd type="none" w="med" len="med"/>
                    </a:lnT>
                    <a:lnB w="635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FFCCCC"/>
                    </a:solidFill>
                  </a:tcPr>
                </a:tc>
                <a:tc>
                  <a:txBody>
                    <a:bodyPr/>
                    <a:lstStyle>
                      <a:lvl1pPr marL="0" algn="l" defTabSz="932962" rtl="0" eaLnBrk="1" latinLnBrk="0" hangingPunct="1">
                        <a:defRPr sz="1800" kern="1200">
                          <a:solidFill>
                            <a:schemeClr val="tx1"/>
                          </a:solidFill>
                          <a:latin typeface="Arial"/>
                        </a:defRPr>
                      </a:lvl1pPr>
                      <a:lvl2pPr marL="466481" algn="l" defTabSz="932962" rtl="0" eaLnBrk="1" latinLnBrk="0" hangingPunct="1">
                        <a:defRPr sz="1800" kern="1200">
                          <a:solidFill>
                            <a:schemeClr val="tx1"/>
                          </a:solidFill>
                          <a:latin typeface="Arial"/>
                        </a:defRPr>
                      </a:lvl2pPr>
                      <a:lvl3pPr marL="932962" algn="l" defTabSz="932962" rtl="0" eaLnBrk="1" latinLnBrk="0" hangingPunct="1">
                        <a:defRPr sz="1800" kern="1200">
                          <a:solidFill>
                            <a:schemeClr val="tx1"/>
                          </a:solidFill>
                          <a:latin typeface="Arial"/>
                        </a:defRPr>
                      </a:lvl3pPr>
                      <a:lvl4pPr marL="1399443" algn="l" defTabSz="932962" rtl="0" eaLnBrk="1" latinLnBrk="0" hangingPunct="1">
                        <a:defRPr sz="1800" kern="1200">
                          <a:solidFill>
                            <a:schemeClr val="tx1"/>
                          </a:solidFill>
                          <a:latin typeface="Arial"/>
                        </a:defRPr>
                      </a:lvl4pPr>
                      <a:lvl5pPr marL="1865925" algn="l" defTabSz="932962" rtl="0" eaLnBrk="1" latinLnBrk="0" hangingPunct="1">
                        <a:defRPr sz="1800" kern="1200">
                          <a:solidFill>
                            <a:schemeClr val="tx1"/>
                          </a:solidFill>
                          <a:latin typeface="Arial"/>
                        </a:defRPr>
                      </a:lvl5pPr>
                      <a:lvl6pPr marL="2332406" algn="l" defTabSz="932962" rtl="0" eaLnBrk="1" latinLnBrk="0" hangingPunct="1">
                        <a:defRPr sz="1800" kern="1200">
                          <a:solidFill>
                            <a:schemeClr val="tx1"/>
                          </a:solidFill>
                          <a:latin typeface="Arial"/>
                        </a:defRPr>
                      </a:lvl6pPr>
                      <a:lvl7pPr marL="2798887" algn="l" defTabSz="932962" rtl="0" eaLnBrk="1" latinLnBrk="0" hangingPunct="1">
                        <a:defRPr sz="1800" kern="1200">
                          <a:solidFill>
                            <a:schemeClr val="tx1"/>
                          </a:solidFill>
                          <a:latin typeface="Arial"/>
                        </a:defRPr>
                      </a:lvl7pPr>
                      <a:lvl8pPr marL="3265368" algn="l" defTabSz="932962" rtl="0" eaLnBrk="1" latinLnBrk="0" hangingPunct="1">
                        <a:defRPr sz="1800" kern="1200">
                          <a:solidFill>
                            <a:schemeClr val="tx1"/>
                          </a:solidFill>
                          <a:latin typeface="Arial"/>
                        </a:defRPr>
                      </a:lvl8pPr>
                      <a:lvl9pPr marL="3731849" algn="l" defTabSz="932962" rtl="0" eaLnBrk="1" latinLnBrk="0" hangingPunct="1">
                        <a:defRPr sz="1800" kern="1200">
                          <a:solidFill>
                            <a:schemeClr val="tx1"/>
                          </a:solidFill>
                          <a:latin typeface="Arial"/>
                        </a:defRPr>
                      </a:lvl9pPr>
                    </a:lstStyle>
                    <a:p>
                      <a:pPr algn="ctr">
                        <a:lnSpc>
                          <a:spcPct val="130000"/>
                        </a:lnSpc>
                        <a:spcBef>
                          <a:spcPts val="0"/>
                        </a:spcBef>
                      </a:pPr>
                      <a:r>
                        <a:rPr lang="zh-TW" altLang="en-US" sz="1400" dirty="0">
                          <a:latin typeface="微軟正黑體" panose="020B0604030504040204" pitchFamily="34" charset="-120"/>
                          <a:ea typeface="微軟正黑體" panose="020B0604030504040204" pitchFamily="34" charset="-120"/>
                        </a:rPr>
                        <a:t>拜訪公司</a:t>
                      </a:r>
                      <a:endParaRPr lang="en-US" altLang="zh-TW" sz="1400" dirty="0">
                        <a:latin typeface="微軟正黑體" panose="020B0604030504040204" pitchFamily="34" charset="-120"/>
                        <a:ea typeface="微軟正黑體" panose="020B0604030504040204" pitchFamily="34" charset="-120"/>
                      </a:endParaRPr>
                    </a:p>
                    <a:p>
                      <a:pPr marR="0" algn="ctr" rtl="0">
                        <a:lnSpc>
                          <a:spcPct val="130000"/>
                        </a:lnSpc>
                        <a:spcBef>
                          <a:spcPts val="0"/>
                        </a:spcBef>
                        <a:spcAft>
                          <a:spcPts val="0"/>
                        </a:spcAft>
                        <a:buClr>
                          <a:srgbClr val="000000"/>
                        </a:buClr>
                        <a:buFont typeface="Arial"/>
                      </a:pPr>
                      <a:r>
                        <a:rPr lang="zh-TW" altLang="en-US" sz="12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人工 </a:t>
                      </a:r>
                      <a:r>
                        <a:rPr lang="en-US" altLang="zh-TW" sz="12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1-3 </a:t>
                      </a:r>
                      <a:r>
                        <a:rPr lang="en-US" altLang="zh-TW" sz="1200" b="0" i="0" u="none" strike="noStrike" cap="none" dirty="0" err="1">
                          <a:solidFill>
                            <a:schemeClr val="tx1"/>
                          </a:solidFill>
                          <a:latin typeface="微軟正黑體" panose="020B0604030504040204" pitchFamily="34" charset="-120"/>
                          <a:ea typeface="微軟正黑體" panose="020B0604030504040204" pitchFamily="34" charset="-120"/>
                          <a:cs typeface="+mn-cs"/>
                          <a:sym typeface="Arial"/>
                        </a:rPr>
                        <a:t>hr</a:t>
                      </a:r>
                      <a:endParaRPr lang="zh-TW" altLang="en-US" sz="12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endParaRPr>
                    </a:p>
                  </a:txBody>
                  <a:tcPr marL="88157" marR="88157" marT="44079" marB="44079">
                    <a:lnL w="6350" cap="flat" cmpd="sng" algn="ctr">
                      <a:solidFill>
                        <a:sysClr val="window" lastClr="FFFFFF">
                          <a:lumMod val="85000"/>
                        </a:sysClr>
                      </a:solidFill>
                      <a:prstDash val="solid"/>
                      <a:round/>
                      <a:headEnd type="none" w="med" len="med"/>
                      <a:tailEnd type="none" w="med" len="med"/>
                    </a:lnL>
                    <a:lnR w="6350" cap="flat" cmpd="sng" algn="ctr">
                      <a:solidFill>
                        <a:sysClr val="window" lastClr="FFFFFF">
                          <a:lumMod val="85000"/>
                        </a:sysClr>
                      </a:solidFill>
                      <a:prstDash val="solid"/>
                      <a:round/>
                      <a:headEnd type="none" w="med" len="med"/>
                      <a:tailEnd type="none" w="med" len="med"/>
                    </a:lnR>
                    <a:lnT>
                      <a:noFill/>
                    </a:lnT>
                    <a:lnB w="635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962" rtl="0" eaLnBrk="1" latinLnBrk="0" hangingPunct="1">
                        <a:defRPr sz="1800" kern="1200">
                          <a:solidFill>
                            <a:schemeClr val="tx1"/>
                          </a:solidFill>
                          <a:latin typeface="Arial"/>
                        </a:defRPr>
                      </a:lvl1pPr>
                      <a:lvl2pPr marL="466481" algn="l" defTabSz="932962" rtl="0" eaLnBrk="1" latinLnBrk="0" hangingPunct="1">
                        <a:defRPr sz="1800" kern="1200">
                          <a:solidFill>
                            <a:schemeClr val="tx1"/>
                          </a:solidFill>
                          <a:latin typeface="Arial"/>
                        </a:defRPr>
                      </a:lvl2pPr>
                      <a:lvl3pPr marL="932962" algn="l" defTabSz="932962" rtl="0" eaLnBrk="1" latinLnBrk="0" hangingPunct="1">
                        <a:defRPr sz="1800" kern="1200">
                          <a:solidFill>
                            <a:schemeClr val="tx1"/>
                          </a:solidFill>
                          <a:latin typeface="Arial"/>
                        </a:defRPr>
                      </a:lvl3pPr>
                      <a:lvl4pPr marL="1399443" algn="l" defTabSz="932962" rtl="0" eaLnBrk="1" latinLnBrk="0" hangingPunct="1">
                        <a:defRPr sz="1800" kern="1200">
                          <a:solidFill>
                            <a:schemeClr val="tx1"/>
                          </a:solidFill>
                          <a:latin typeface="Arial"/>
                        </a:defRPr>
                      </a:lvl4pPr>
                      <a:lvl5pPr marL="1865925" algn="l" defTabSz="932962" rtl="0" eaLnBrk="1" latinLnBrk="0" hangingPunct="1">
                        <a:defRPr sz="1800" kern="1200">
                          <a:solidFill>
                            <a:schemeClr val="tx1"/>
                          </a:solidFill>
                          <a:latin typeface="Arial"/>
                        </a:defRPr>
                      </a:lvl5pPr>
                      <a:lvl6pPr marL="2332406" algn="l" defTabSz="932962" rtl="0" eaLnBrk="1" latinLnBrk="0" hangingPunct="1">
                        <a:defRPr sz="1800" kern="1200">
                          <a:solidFill>
                            <a:schemeClr val="tx1"/>
                          </a:solidFill>
                          <a:latin typeface="Arial"/>
                        </a:defRPr>
                      </a:lvl6pPr>
                      <a:lvl7pPr marL="2798887" algn="l" defTabSz="932962" rtl="0" eaLnBrk="1" latinLnBrk="0" hangingPunct="1">
                        <a:defRPr sz="1800" kern="1200">
                          <a:solidFill>
                            <a:schemeClr val="tx1"/>
                          </a:solidFill>
                          <a:latin typeface="Arial"/>
                        </a:defRPr>
                      </a:lvl7pPr>
                      <a:lvl8pPr marL="3265368" algn="l" defTabSz="932962" rtl="0" eaLnBrk="1" latinLnBrk="0" hangingPunct="1">
                        <a:defRPr sz="1800" kern="1200">
                          <a:solidFill>
                            <a:schemeClr val="tx1"/>
                          </a:solidFill>
                          <a:latin typeface="Arial"/>
                        </a:defRPr>
                      </a:lvl8pPr>
                      <a:lvl9pPr marL="3731849" algn="l" defTabSz="932962" rtl="0" eaLnBrk="1" latinLnBrk="0" hangingPunct="1">
                        <a:defRPr sz="1800" kern="1200">
                          <a:solidFill>
                            <a:schemeClr val="tx1"/>
                          </a:solidFill>
                          <a:latin typeface="Arial"/>
                        </a:defRPr>
                      </a:lvl9pPr>
                    </a:lstStyle>
                    <a:p>
                      <a:pPr algn="ctr">
                        <a:lnSpc>
                          <a:spcPct val="130000"/>
                        </a:lnSpc>
                        <a:spcBef>
                          <a:spcPts val="0"/>
                        </a:spcBef>
                      </a:pPr>
                      <a:r>
                        <a:rPr lang="zh-TW" altLang="en-US" sz="1400" dirty="0">
                          <a:latin typeface="微軟正黑體" panose="020B0604030504040204" pitchFamily="34" charset="-120"/>
                          <a:ea typeface="微軟正黑體" panose="020B0604030504040204" pitchFamily="34" charset="-120"/>
                        </a:rPr>
                        <a:t>投顧模型評估</a:t>
                      </a:r>
                      <a:endParaRPr lang="en-US" altLang="zh-TW" sz="1400" dirty="0">
                        <a:latin typeface="微軟正黑體" panose="020B0604030504040204" pitchFamily="34" charset="-120"/>
                        <a:ea typeface="微軟正黑體" panose="020B0604030504040204" pitchFamily="34" charset="-120"/>
                      </a:endParaRPr>
                    </a:p>
                    <a:p>
                      <a:pPr marR="0" algn="ctr" rtl="0">
                        <a:lnSpc>
                          <a:spcPct val="130000"/>
                        </a:lnSpc>
                        <a:spcBef>
                          <a:spcPts val="0"/>
                        </a:spcBef>
                        <a:spcAft>
                          <a:spcPts val="0"/>
                        </a:spcAft>
                        <a:buClr>
                          <a:srgbClr val="000000"/>
                        </a:buClr>
                        <a:buFont typeface="Arial"/>
                      </a:pPr>
                      <a:r>
                        <a:rPr lang="zh-TW" altLang="en-US" sz="12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人工 </a:t>
                      </a:r>
                      <a:r>
                        <a:rPr lang="en-US" altLang="zh-TW" sz="12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1.5-8 </a:t>
                      </a:r>
                      <a:r>
                        <a:rPr lang="en-US" altLang="zh-TW" sz="1200" b="0" i="0" u="none" strike="noStrike" cap="none" dirty="0" err="1">
                          <a:solidFill>
                            <a:schemeClr val="tx1"/>
                          </a:solidFill>
                          <a:latin typeface="微軟正黑體" panose="020B0604030504040204" pitchFamily="34" charset="-120"/>
                          <a:ea typeface="微軟正黑體" panose="020B0604030504040204" pitchFamily="34" charset="-120"/>
                          <a:cs typeface="+mn-cs"/>
                          <a:sym typeface="Arial"/>
                        </a:rPr>
                        <a:t>hr</a:t>
                      </a:r>
                      <a:endParaRPr lang="zh-TW" altLang="en-US" sz="12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endParaRPr>
                    </a:p>
                  </a:txBody>
                  <a:tcPr marL="88157" marR="88157" marT="44079" marB="44079">
                    <a:lnL w="6350" cap="flat" cmpd="sng" algn="ctr">
                      <a:solidFill>
                        <a:sysClr val="window" lastClr="FFFFFF">
                          <a:lumMod val="85000"/>
                        </a:sysClr>
                      </a:solidFill>
                      <a:prstDash val="solid"/>
                      <a:round/>
                      <a:headEnd type="none" w="med" len="med"/>
                      <a:tailEnd type="none" w="med" len="med"/>
                    </a:lnL>
                    <a:lnR w="6350" cap="flat" cmpd="sng" algn="ctr">
                      <a:solidFill>
                        <a:sysClr val="window" lastClr="FFFFFF">
                          <a:lumMod val="85000"/>
                        </a:sysClr>
                      </a:solidFill>
                      <a:prstDash val="solid"/>
                      <a:round/>
                      <a:headEnd type="none" w="med" len="med"/>
                      <a:tailEnd type="none" w="med" len="med"/>
                    </a:lnR>
                    <a:lnT>
                      <a:noFill/>
                    </a:lnT>
                    <a:lnB w="635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962" rtl="0" eaLnBrk="1" latinLnBrk="0" hangingPunct="1">
                        <a:defRPr sz="1800" kern="1200">
                          <a:solidFill>
                            <a:schemeClr val="tx1"/>
                          </a:solidFill>
                          <a:latin typeface="Arial"/>
                        </a:defRPr>
                      </a:lvl1pPr>
                      <a:lvl2pPr marL="466481" algn="l" defTabSz="932962" rtl="0" eaLnBrk="1" latinLnBrk="0" hangingPunct="1">
                        <a:defRPr sz="1800" kern="1200">
                          <a:solidFill>
                            <a:schemeClr val="tx1"/>
                          </a:solidFill>
                          <a:latin typeface="Arial"/>
                        </a:defRPr>
                      </a:lvl2pPr>
                      <a:lvl3pPr marL="932962" algn="l" defTabSz="932962" rtl="0" eaLnBrk="1" latinLnBrk="0" hangingPunct="1">
                        <a:defRPr sz="1800" kern="1200">
                          <a:solidFill>
                            <a:schemeClr val="tx1"/>
                          </a:solidFill>
                          <a:latin typeface="Arial"/>
                        </a:defRPr>
                      </a:lvl3pPr>
                      <a:lvl4pPr marL="1399443" algn="l" defTabSz="932962" rtl="0" eaLnBrk="1" latinLnBrk="0" hangingPunct="1">
                        <a:defRPr sz="1800" kern="1200">
                          <a:solidFill>
                            <a:schemeClr val="tx1"/>
                          </a:solidFill>
                          <a:latin typeface="Arial"/>
                        </a:defRPr>
                      </a:lvl4pPr>
                      <a:lvl5pPr marL="1865925" algn="l" defTabSz="932962" rtl="0" eaLnBrk="1" latinLnBrk="0" hangingPunct="1">
                        <a:defRPr sz="1800" kern="1200">
                          <a:solidFill>
                            <a:schemeClr val="tx1"/>
                          </a:solidFill>
                          <a:latin typeface="Arial"/>
                        </a:defRPr>
                      </a:lvl5pPr>
                      <a:lvl6pPr marL="2332406" algn="l" defTabSz="932962" rtl="0" eaLnBrk="1" latinLnBrk="0" hangingPunct="1">
                        <a:defRPr sz="1800" kern="1200">
                          <a:solidFill>
                            <a:schemeClr val="tx1"/>
                          </a:solidFill>
                          <a:latin typeface="Arial"/>
                        </a:defRPr>
                      </a:lvl6pPr>
                      <a:lvl7pPr marL="2798887" algn="l" defTabSz="932962" rtl="0" eaLnBrk="1" latinLnBrk="0" hangingPunct="1">
                        <a:defRPr sz="1800" kern="1200">
                          <a:solidFill>
                            <a:schemeClr val="tx1"/>
                          </a:solidFill>
                          <a:latin typeface="Arial"/>
                        </a:defRPr>
                      </a:lvl7pPr>
                      <a:lvl8pPr marL="3265368" algn="l" defTabSz="932962" rtl="0" eaLnBrk="1" latinLnBrk="0" hangingPunct="1">
                        <a:defRPr sz="1800" kern="1200">
                          <a:solidFill>
                            <a:schemeClr val="tx1"/>
                          </a:solidFill>
                          <a:latin typeface="Arial"/>
                        </a:defRPr>
                      </a:lvl8pPr>
                      <a:lvl9pPr marL="3731849" algn="l" defTabSz="932962" rtl="0" eaLnBrk="1" latinLnBrk="0" hangingPunct="1">
                        <a:defRPr sz="1800" kern="1200">
                          <a:solidFill>
                            <a:schemeClr val="tx1"/>
                          </a:solidFill>
                          <a:latin typeface="Arial"/>
                        </a:defRPr>
                      </a:lvl9pPr>
                    </a:lstStyle>
                    <a:p>
                      <a:pPr algn="ctr">
                        <a:lnSpc>
                          <a:spcPct val="130000"/>
                        </a:lnSpc>
                        <a:spcBef>
                          <a:spcPts val="0"/>
                        </a:spcBef>
                      </a:pPr>
                      <a:r>
                        <a:rPr lang="zh-TW" altLang="en-US" sz="1400">
                          <a:latin typeface="微軟正黑體" panose="020B0604030504040204" pitchFamily="34" charset="-120"/>
                          <a:ea typeface="微軟正黑體" panose="020B0604030504040204" pitchFamily="34" charset="-120"/>
                        </a:rPr>
                        <a:t>評價分析</a:t>
                      </a:r>
                      <a:endParaRPr lang="en-US" altLang="zh-TW" sz="1400">
                        <a:latin typeface="微軟正黑體" panose="020B0604030504040204" pitchFamily="34" charset="-120"/>
                        <a:ea typeface="微軟正黑體" panose="020B0604030504040204" pitchFamily="34" charset="-120"/>
                      </a:endParaRPr>
                    </a:p>
                    <a:p>
                      <a:pPr marR="0" algn="ctr" rtl="0">
                        <a:lnSpc>
                          <a:spcPct val="130000"/>
                        </a:lnSpc>
                        <a:spcBef>
                          <a:spcPts val="0"/>
                        </a:spcBef>
                        <a:spcAft>
                          <a:spcPts val="0"/>
                        </a:spcAft>
                        <a:buClr>
                          <a:srgbClr val="000000"/>
                        </a:buClr>
                        <a:buFont typeface="Arial"/>
                      </a:pPr>
                      <a:r>
                        <a:rPr lang="zh-TW" altLang="en-US" sz="1200" b="0" i="0" u="none" strike="noStrike" cap="none">
                          <a:solidFill>
                            <a:schemeClr val="tx1"/>
                          </a:solidFill>
                          <a:latin typeface="微軟正黑體" panose="020B0604030504040204" pitchFamily="34" charset="-120"/>
                          <a:ea typeface="微軟正黑體" panose="020B0604030504040204" pitchFamily="34" charset="-120"/>
                          <a:cs typeface="+mn-cs"/>
                          <a:sym typeface="Arial"/>
                        </a:rPr>
                        <a:t>人工 </a:t>
                      </a:r>
                      <a:r>
                        <a:rPr lang="en-US" altLang="zh-TW" sz="1200" b="0" i="0" u="none" strike="noStrike" cap="none">
                          <a:solidFill>
                            <a:schemeClr val="tx1"/>
                          </a:solidFill>
                          <a:latin typeface="微軟正黑體" panose="020B0604030504040204" pitchFamily="34" charset="-120"/>
                          <a:ea typeface="微軟正黑體" panose="020B0604030504040204" pitchFamily="34" charset="-120"/>
                          <a:cs typeface="+mn-cs"/>
                          <a:sym typeface="Arial"/>
                        </a:rPr>
                        <a:t>1 hr</a:t>
                      </a:r>
                      <a:endParaRPr lang="zh-TW" altLang="en-US" sz="1200" b="0" i="0" u="none" strike="noStrike" cap="none">
                        <a:solidFill>
                          <a:schemeClr val="tx1"/>
                        </a:solidFill>
                        <a:latin typeface="微軟正黑體" panose="020B0604030504040204" pitchFamily="34" charset="-120"/>
                        <a:ea typeface="微軟正黑體" panose="020B0604030504040204" pitchFamily="34" charset="-120"/>
                        <a:cs typeface="+mn-cs"/>
                        <a:sym typeface="Arial"/>
                      </a:endParaRPr>
                    </a:p>
                  </a:txBody>
                  <a:tcPr marL="88157" marR="88157" marT="44079" marB="44079">
                    <a:lnL w="6350" cap="flat" cmpd="sng" algn="ctr">
                      <a:solidFill>
                        <a:sysClr val="window" lastClr="FFFFFF">
                          <a:lumMod val="85000"/>
                        </a:sysClr>
                      </a:solidFill>
                      <a:prstDash val="solid"/>
                      <a:round/>
                      <a:headEnd type="none" w="med" len="med"/>
                      <a:tailEnd type="none" w="med" len="med"/>
                    </a:lnL>
                    <a:lnR w="6350" cap="flat" cmpd="sng" algn="ctr">
                      <a:solidFill>
                        <a:sysClr val="window" lastClr="FFFFFF">
                          <a:lumMod val="95000"/>
                        </a:sysClr>
                      </a:solidFill>
                      <a:prstDash val="solid"/>
                      <a:round/>
                      <a:headEnd type="none" w="med" len="med"/>
                      <a:tailEnd type="none" w="med" len="med"/>
                    </a:lnR>
                    <a:lnT>
                      <a:noFill/>
                    </a:lnT>
                    <a:lnB w="635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962" rtl="0" eaLnBrk="1" latinLnBrk="0" hangingPunct="1">
                        <a:defRPr sz="1800" kern="1200">
                          <a:solidFill>
                            <a:schemeClr val="tx1"/>
                          </a:solidFill>
                          <a:latin typeface="Arial"/>
                        </a:defRPr>
                      </a:lvl1pPr>
                      <a:lvl2pPr marL="466481" algn="l" defTabSz="932962" rtl="0" eaLnBrk="1" latinLnBrk="0" hangingPunct="1">
                        <a:defRPr sz="1800" kern="1200">
                          <a:solidFill>
                            <a:schemeClr val="tx1"/>
                          </a:solidFill>
                          <a:latin typeface="Arial"/>
                        </a:defRPr>
                      </a:lvl2pPr>
                      <a:lvl3pPr marL="932962" algn="l" defTabSz="932962" rtl="0" eaLnBrk="1" latinLnBrk="0" hangingPunct="1">
                        <a:defRPr sz="1800" kern="1200">
                          <a:solidFill>
                            <a:schemeClr val="tx1"/>
                          </a:solidFill>
                          <a:latin typeface="Arial"/>
                        </a:defRPr>
                      </a:lvl3pPr>
                      <a:lvl4pPr marL="1399443" algn="l" defTabSz="932962" rtl="0" eaLnBrk="1" latinLnBrk="0" hangingPunct="1">
                        <a:defRPr sz="1800" kern="1200">
                          <a:solidFill>
                            <a:schemeClr val="tx1"/>
                          </a:solidFill>
                          <a:latin typeface="Arial"/>
                        </a:defRPr>
                      </a:lvl4pPr>
                      <a:lvl5pPr marL="1865925" algn="l" defTabSz="932962" rtl="0" eaLnBrk="1" latinLnBrk="0" hangingPunct="1">
                        <a:defRPr sz="1800" kern="1200">
                          <a:solidFill>
                            <a:schemeClr val="tx1"/>
                          </a:solidFill>
                          <a:latin typeface="Arial"/>
                        </a:defRPr>
                      </a:lvl5pPr>
                      <a:lvl6pPr marL="2332406" algn="l" defTabSz="932962" rtl="0" eaLnBrk="1" latinLnBrk="0" hangingPunct="1">
                        <a:defRPr sz="1800" kern="1200">
                          <a:solidFill>
                            <a:schemeClr val="tx1"/>
                          </a:solidFill>
                          <a:latin typeface="Arial"/>
                        </a:defRPr>
                      </a:lvl6pPr>
                      <a:lvl7pPr marL="2798887" algn="l" defTabSz="932962" rtl="0" eaLnBrk="1" latinLnBrk="0" hangingPunct="1">
                        <a:defRPr sz="1800" kern="1200">
                          <a:solidFill>
                            <a:schemeClr val="tx1"/>
                          </a:solidFill>
                          <a:latin typeface="Arial"/>
                        </a:defRPr>
                      </a:lvl7pPr>
                      <a:lvl8pPr marL="3265368" algn="l" defTabSz="932962" rtl="0" eaLnBrk="1" latinLnBrk="0" hangingPunct="1">
                        <a:defRPr sz="1800" kern="1200">
                          <a:solidFill>
                            <a:schemeClr val="tx1"/>
                          </a:solidFill>
                          <a:latin typeface="Arial"/>
                        </a:defRPr>
                      </a:lvl8pPr>
                      <a:lvl9pPr marL="3731849" algn="l" defTabSz="932962" rtl="0" eaLnBrk="1" latinLnBrk="0" hangingPunct="1">
                        <a:defRPr sz="1800" kern="1200">
                          <a:solidFill>
                            <a:schemeClr val="tx1"/>
                          </a:solidFill>
                          <a:latin typeface="Arial"/>
                        </a:defRPr>
                      </a:lvl9pPr>
                    </a:lstStyle>
                    <a:p>
                      <a:pPr algn="ctr">
                        <a:lnSpc>
                          <a:spcPct val="130000"/>
                        </a:lnSpc>
                        <a:spcBef>
                          <a:spcPts val="0"/>
                        </a:spcBef>
                      </a:pPr>
                      <a:r>
                        <a:rPr lang="zh-TW" altLang="en-US" sz="1400">
                          <a:latin typeface="微軟正黑體" panose="020B0604030504040204" pitchFamily="34" charset="-120"/>
                          <a:ea typeface="微軟正黑體" panose="020B0604030504040204" pitchFamily="34" charset="-120"/>
                        </a:rPr>
                        <a:t>轉寫報告</a:t>
                      </a:r>
                      <a:endParaRPr lang="en-US" altLang="zh-TW" sz="1400">
                        <a:latin typeface="微軟正黑體" panose="020B0604030504040204" pitchFamily="34" charset="-120"/>
                        <a:ea typeface="微軟正黑體" panose="020B0604030504040204" pitchFamily="34" charset="-120"/>
                      </a:endParaRPr>
                    </a:p>
                    <a:p>
                      <a:pPr marR="0" algn="ctr" rtl="0">
                        <a:lnSpc>
                          <a:spcPct val="130000"/>
                        </a:lnSpc>
                        <a:spcBef>
                          <a:spcPts val="0"/>
                        </a:spcBef>
                        <a:spcAft>
                          <a:spcPts val="0"/>
                        </a:spcAft>
                        <a:buClr>
                          <a:srgbClr val="000000"/>
                        </a:buClr>
                        <a:buFont typeface="Arial"/>
                      </a:pPr>
                      <a:r>
                        <a:rPr lang="zh-TW" altLang="en-US" sz="1200" b="0" i="0" u="none" strike="noStrike" cap="none">
                          <a:solidFill>
                            <a:schemeClr val="tx1"/>
                          </a:solidFill>
                          <a:latin typeface="微軟正黑體" panose="020B0604030504040204" pitchFamily="34" charset="-120"/>
                          <a:ea typeface="微軟正黑體" panose="020B0604030504040204" pitchFamily="34" charset="-120"/>
                          <a:cs typeface="+mn-cs"/>
                          <a:sym typeface="Arial"/>
                        </a:rPr>
                        <a:t>人工 </a:t>
                      </a:r>
                      <a:r>
                        <a:rPr lang="en-US" altLang="zh-TW" sz="1200" b="0" i="0" u="none" strike="noStrike" cap="none">
                          <a:solidFill>
                            <a:schemeClr val="tx1"/>
                          </a:solidFill>
                          <a:latin typeface="微軟正黑體" panose="020B0604030504040204" pitchFamily="34" charset="-120"/>
                          <a:ea typeface="微軟正黑體" panose="020B0604030504040204" pitchFamily="34" charset="-120"/>
                          <a:cs typeface="+mn-cs"/>
                          <a:sym typeface="Arial"/>
                        </a:rPr>
                        <a:t>1.5-3 hr</a:t>
                      </a:r>
                      <a:endParaRPr lang="zh-TW" altLang="en-US" sz="1200" b="0" i="0" u="none" strike="noStrike" cap="none">
                        <a:solidFill>
                          <a:schemeClr val="tx1"/>
                        </a:solidFill>
                        <a:latin typeface="微軟正黑體" panose="020B0604030504040204" pitchFamily="34" charset="-120"/>
                        <a:ea typeface="微軟正黑體" panose="020B0604030504040204" pitchFamily="34" charset="-120"/>
                        <a:cs typeface="+mn-cs"/>
                        <a:sym typeface="Arial"/>
                      </a:endParaRPr>
                    </a:p>
                  </a:txBody>
                  <a:tcPr marL="88157" marR="88157" marT="44079" marB="44079">
                    <a:lnL w="6350" cap="flat" cmpd="sng" algn="ctr">
                      <a:solidFill>
                        <a:sysClr val="window" lastClr="FFFFFF">
                          <a:lumMod val="95000"/>
                        </a:sysClr>
                      </a:solidFill>
                      <a:prstDash val="solid"/>
                      <a:round/>
                      <a:headEnd type="none" w="med" len="med"/>
                      <a:tailEnd type="none" w="med" len="med"/>
                    </a:lnL>
                    <a:lnR w="6350" cap="flat" cmpd="sng" algn="ctr">
                      <a:solidFill>
                        <a:sysClr val="window" lastClr="FFFFFF">
                          <a:lumMod val="85000"/>
                        </a:sysClr>
                      </a:solidFill>
                      <a:prstDash val="solid"/>
                      <a:round/>
                      <a:headEnd type="none" w="med" len="med"/>
                      <a:tailEnd type="none" w="med" len="med"/>
                    </a:lnR>
                    <a:lnT>
                      <a:noFill/>
                    </a:lnT>
                    <a:lnB w="635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52532409"/>
                  </a:ext>
                </a:extLst>
              </a:tr>
              <a:tr h="1081156">
                <a:tc vMerge="1">
                  <a:txBody>
                    <a:bodyPr/>
                    <a:lstStyle/>
                    <a:p>
                      <a:pPr marL="179388" indent="-179388" algn="l" defTabSz="895350" rtl="0" eaLnBrk="0" fontAlgn="auto" hangingPunct="0">
                        <a:lnSpc>
                          <a:spcPct val="130000"/>
                        </a:lnSpc>
                        <a:spcBef>
                          <a:spcPts val="0"/>
                        </a:spcBef>
                        <a:spcAft>
                          <a:spcPts val="0"/>
                        </a:spcAft>
                        <a:buSzPct val="100000"/>
                        <a:buFont typeface="Courier New"/>
                        <a:buChar char="o"/>
                        <a:tabLst>
                          <a:tab pos="179388" algn="l"/>
                        </a:tabLst>
                      </a:pPr>
                      <a:endParaRPr lang="zh-TW" altLang="en-US" sz="1200">
                        <a:solidFill>
                          <a:schemeClr val="tx1"/>
                        </a:solidFill>
                        <a:latin typeface="Microsoft JhengHei" panose="020B0604030504040204" pitchFamily="34" charset="-120"/>
                        <a:ea typeface="Microsoft JhengHei" panose="020B0604030504040204" pitchFamily="34" charset="-120"/>
                        <a:cs typeface="Arial" panose="020B0604020202020204" pitchFamily="34" charset="0"/>
                      </a:endParaRPr>
                    </a:p>
                  </a:txBody>
                  <a:tcPr>
                    <a:lnL w="19050" cap="flat" cmpd="sng" algn="ctr">
                      <a:no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a:noFill/>
                    </a:lnB>
                    <a:lnTlToBr w="12700" cmpd="sng">
                      <a:noFill/>
                      <a:prstDash val="solid"/>
                    </a:lnTlToBr>
                    <a:lnBlToTr w="12700" cmpd="sng">
                      <a:noFill/>
                      <a:prstDash val="solid"/>
                    </a:lnBlToTr>
                    <a:solidFill>
                      <a:srgbClr val="FFCCCC"/>
                    </a:solidFill>
                  </a:tcPr>
                </a:tc>
                <a:tc>
                  <a:txBody>
                    <a:bodyPr/>
                    <a:lstStyle>
                      <a:lvl1pPr marL="0" algn="l" defTabSz="932962" rtl="0" eaLnBrk="1" latinLnBrk="0" hangingPunct="1">
                        <a:defRPr sz="1800" kern="1200">
                          <a:solidFill>
                            <a:schemeClr val="tx1"/>
                          </a:solidFill>
                          <a:latin typeface="Arial"/>
                        </a:defRPr>
                      </a:lvl1pPr>
                      <a:lvl2pPr marL="466481" algn="l" defTabSz="932962" rtl="0" eaLnBrk="1" latinLnBrk="0" hangingPunct="1">
                        <a:defRPr sz="1800" kern="1200">
                          <a:solidFill>
                            <a:schemeClr val="tx1"/>
                          </a:solidFill>
                          <a:latin typeface="Arial"/>
                        </a:defRPr>
                      </a:lvl2pPr>
                      <a:lvl3pPr marL="932962" algn="l" defTabSz="932962" rtl="0" eaLnBrk="1" latinLnBrk="0" hangingPunct="1">
                        <a:defRPr sz="1800" kern="1200">
                          <a:solidFill>
                            <a:schemeClr val="tx1"/>
                          </a:solidFill>
                          <a:latin typeface="Arial"/>
                        </a:defRPr>
                      </a:lvl3pPr>
                      <a:lvl4pPr marL="1399443" algn="l" defTabSz="932962" rtl="0" eaLnBrk="1" latinLnBrk="0" hangingPunct="1">
                        <a:defRPr sz="1800" kern="1200">
                          <a:solidFill>
                            <a:schemeClr val="tx1"/>
                          </a:solidFill>
                          <a:latin typeface="Arial"/>
                        </a:defRPr>
                      </a:lvl4pPr>
                      <a:lvl5pPr marL="1865925" algn="l" defTabSz="932962" rtl="0" eaLnBrk="1" latinLnBrk="0" hangingPunct="1">
                        <a:defRPr sz="1800" kern="1200">
                          <a:solidFill>
                            <a:schemeClr val="tx1"/>
                          </a:solidFill>
                          <a:latin typeface="Arial"/>
                        </a:defRPr>
                      </a:lvl5pPr>
                      <a:lvl6pPr marL="2332406" algn="l" defTabSz="932962" rtl="0" eaLnBrk="1" latinLnBrk="0" hangingPunct="1">
                        <a:defRPr sz="1800" kern="1200">
                          <a:solidFill>
                            <a:schemeClr val="tx1"/>
                          </a:solidFill>
                          <a:latin typeface="Arial"/>
                        </a:defRPr>
                      </a:lvl6pPr>
                      <a:lvl7pPr marL="2798887" algn="l" defTabSz="932962" rtl="0" eaLnBrk="1" latinLnBrk="0" hangingPunct="1">
                        <a:defRPr sz="1800" kern="1200">
                          <a:solidFill>
                            <a:schemeClr val="tx1"/>
                          </a:solidFill>
                          <a:latin typeface="Arial"/>
                        </a:defRPr>
                      </a:lvl7pPr>
                      <a:lvl8pPr marL="3265368" algn="l" defTabSz="932962" rtl="0" eaLnBrk="1" latinLnBrk="0" hangingPunct="1">
                        <a:defRPr sz="1800" kern="1200">
                          <a:solidFill>
                            <a:schemeClr val="tx1"/>
                          </a:solidFill>
                          <a:latin typeface="Arial"/>
                        </a:defRPr>
                      </a:lvl8pPr>
                      <a:lvl9pPr marL="3731849" algn="l" defTabSz="932962" rtl="0" eaLnBrk="1" latinLnBrk="0" hangingPunct="1">
                        <a:defRPr sz="1800" kern="1200">
                          <a:solidFill>
                            <a:schemeClr val="tx1"/>
                          </a:solidFill>
                          <a:latin typeface="Arial"/>
                        </a:defRPr>
                      </a:lvl9pPr>
                    </a:lstStyle>
                    <a:p>
                      <a:pPr marL="179388" indent="-179388" algn="l" defTabSz="895350" rtl="0" eaLnBrk="0" fontAlgn="auto" hangingPunct="0">
                        <a:lnSpc>
                          <a:spcPct val="130000"/>
                        </a:lnSpc>
                        <a:spcBef>
                          <a:spcPts val="0"/>
                        </a:spcBef>
                        <a:spcAft>
                          <a:spcPts val="0"/>
                        </a:spcAft>
                        <a:buSzPct val="100000"/>
                        <a:buFont typeface="Courier New"/>
                        <a:buChar char="o"/>
                        <a:tabLst>
                          <a:tab pos="179388" algn="l"/>
                        </a:tabLst>
                      </a:pPr>
                      <a:r>
                        <a:rPr lang="zh-TW" altLang="en-US" sz="1100" dirty="0">
                          <a:solidFill>
                            <a:schemeClr val="tx1"/>
                          </a:solidFill>
                          <a:latin typeface="Microsoft JhengHei" panose="020B0604030504040204" pitchFamily="34" charset="-120"/>
                          <a:ea typeface="Microsoft JhengHei" panose="020B0604030504040204" pitchFamily="34" charset="-120"/>
                          <a:cs typeface="Arial" panose="020B0604020202020204" pitchFamily="34" charset="0"/>
                        </a:rPr>
                        <a:t>蒐集公司歷史新聞​</a:t>
                      </a:r>
                    </a:p>
                    <a:p>
                      <a:pPr marL="179388" indent="-179388" algn="l" defTabSz="895350" rtl="0" eaLnBrk="0" fontAlgn="auto" hangingPunct="0">
                        <a:lnSpc>
                          <a:spcPct val="130000"/>
                        </a:lnSpc>
                        <a:spcBef>
                          <a:spcPts val="0"/>
                        </a:spcBef>
                        <a:spcAft>
                          <a:spcPts val="0"/>
                        </a:spcAft>
                        <a:buSzPct val="100000"/>
                        <a:buFont typeface="Courier New"/>
                        <a:buChar char="o"/>
                        <a:tabLst>
                          <a:tab pos="179388" algn="l"/>
                        </a:tabLst>
                      </a:pPr>
                      <a:r>
                        <a:rPr lang="zh-TW" altLang="en-US" sz="1100" spc="-100" baseline="0" dirty="0">
                          <a:solidFill>
                            <a:schemeClr val="tx1"/>
                          </a:solidFill>
                          <a:latin typeface="Microsoft JhengHei" panose="020B0604030504040204" pitchFamily="34" charset="-120"/>
                          <a:ea typeface="Microsoft JhengHei" panose="020B0604030504040204" pitchFamily="34" charset="-120"/>
                          <a:cs typeface="Arial" panose="020B0604020202020204" pitchFamily="34" charset="0"/>
                        </a:rPr>
                        <a:t>研讀近年財報​、產業趨勢、產品技術​、同業競合</a:t>
                      </a:r>
                      <a:r>
                        <a:rPr lang="zh-TW" altLang="en-US" sz="1100" dirty="0">
                          <a:solidFill>
                            <a:schemeClr val="tx1"/>
                          </a:solidFill>
                          <a:latin typeface="Microsoft JhengHei" panose="020B0604030504040204" pitchFamily="34" charset="-120"/>
                          <a:ea typeface="Microsoft JhengHei" panose="020B0604030504040204" pitchFamily="34" charset="-120"/>
                          <a:cs typeface="Arial" panose="020B0604020202020204" pitchFamily="34" charset="0"/>
                        </a:rPr>
                        <a:t>​</a:t>
                      </a:r>
                    </a:p>
                    <a:p>
                      <a:pPr marL="179388" indent="-179388" algn="l" defTabSz="895350" rtl="0" eaLnBrk="0" fontAlgn="auto" hangingPunct="0">
                        <a:lnSpc>
                          <a:spcPct val="130000"/>
                        </a:lnSpc>
                        <a:spcBef>
                          <a:spcPts val="0"/>
                        </a:spcBef>
                        <a:spcAft>
                          <a:spcPts val="0"/>
                        </a:spcAft>
                        <a:buSzPct val="100000"/>
                        <a:buFont typeface="Courier New"/>
                        <a:buChar char="o"/>
                        <a:tabLst>
                          <a:tab pos="179388" algn="l"/>
                        </a:tabLst>
                      </a:pPr>
                      <a:r>
                        <a:rPr lang="zh-TW" altLang="en-US" sz="1100" dirty="0">
                          <a:solidFill>
                            <a:schemeClr val="tx1"/>
                          </a:solidFill>
                          <a:latin typeface="Microsoft JhengHei" panose="020B0604030504040204" pitchFamily="34" charset="-120"/>
                          <a:ea typeface="Microsoft JhengHei" panose="020B0604030504040204" pitchFamily="34" charset="-120"/>
                          <a:cs typeface="Arial" panose="020B0604020202020204" pitchFamily="34" charset="0"/>
                        </a:rPr>
                        <a:t>整理股價大事件​及準備提問重點</a:t>
                      </a:r>
                    </a:p>
                  </a:txBody>
                  <a:tcPr marL="88157" marR="88157" marT="44079" marB="44079">
                    <a:lnL w="6350" cap="flat" cmpd="sng" algn="ctr">
                      <a:solidFill>
                        <a:sysClr val="window" lastClr="FFFFFF">
                          <a:lumMod val="85000"/>
                        </a:sysClr>
                      </a:solidFill>
                      <a:prstDash val="solid"/>
                      <a:round/>
                      <a:headEnd type="none" w="med" len="med"/>
                      <a:tailEnd type="none" w="med" len="med"/>
                    </a:lnL>
                    <a:lnR w="6350" cap="flat" cmpd="sng" algn="ctr">
                      <a:solidFill>
                        <a:sysClr val="window" lastClr="FFFFFF">
                          <a:lumMod val="85000"/>
                        </a:sysClr>
                      </a:solidFill>
                      <a:prstDash val="solid"/>
                      <a:round/>
                      <a:headEnd type="none" w="med" len="med"/>
                      <a:tailEnd type="none" w="med" len="med"/>
                    </a:lnR>
                    <a:lnT w="6350" cap="flat" cmpd="sng" algn="ctr">
                      <a:solidFill>
                        <a:sysClr val="window" lastClr="FFFFFF">
                          <a:lumMod val="85000"/>
                        </a:sysClr>
                      </a:solidFill>
                      <a:prstDash val="solid"/>
                      <a:round/>
                      <a:headEnd type="none" w="med" len="med"/>
                      <a:tailEnd type="none" w="med" len="med"/>
                    </a:lnT>
                    <a:lnB>
                      <a:noFill/>
                    </a:lnB>
                    <a:lnTlToBr w="12700" cmpd="sng">
                      <a:noFill/>
                      <a:prstDash val="solid"/>
                    </a:lnTlToBr>
                    <a:lnBlToTr w="12700" cmpd="sng">
                      <a:noFill/>
                      <a:prstDash val="solid"/>
                    </a:lnBlToTr>
                    <a:solidFill>
                      <a:srgbClr val="FFCCCC"/>
                    </a:solidFill>
                  </a:tcPr>
                </a:tc>
                <a:tc>
                  <a:txBody>
                    <a:bodyPr/>
                    <a:lstStyle>
                      <a:lvl1pPr marL="0" algn="l" defTabSz="932962" rtl="0" eaLnBrk="1" latinLnBrk="0" hangingPunct="1">
                        <a:defRPr sz="1800" kern="1200">
                          <a:solidFill>
                            <a:schemeClr val="tx1"/>
                          </a:solidFill>
                          <a:latin typeface="Arial"/>
                        </a:defRPr>
                      </a:lvl1pPr>
                      <a:lvl2pPr marL="466481" algn="l" defTabSz="932962" rtl="0" eaLnBrk="1" latinLnBrk="0" hangingPunct="1">
                        <a:defRPr sz="1800" kern="1200">
                          <a:solidFill>
                            <a:schemeClr val="tx1"/>
                          </a:solidFill>
                          <a:latin typeface="Arial"/>
                        </a:defRPr>
                      </a:lvl2pPr>
                      <a:lvl3pPr marL="932962" algn="l" defTabSz="932962" rtl="0" eaLnBrk="1" latinLnBrk="0" hangingPunct="1">
                        <a:defRPr sz="1800" kern="1200">
                          <a:solidFill>
                            <a:schemeClr val="tx1"/>
                          </a:solidFill>
                          <a:latin typeface="Arial"/>
                        </a:defRPr>
                      </a:lvl3pPr>
                      <a:lvl4pPr marL="1399443" algn="l" defTabSz="932962" rtl="0" eaLnBrk="1" latinLnBrk="0" hangingPunct="1">
                        <a:defRPr sz="1800" kern="1200">
                          <a:solidFill>
                            <a:schemeClr val="tx1"/>
                          </a:solidFill>
                          <a:latin typeface="Arial"/>
                        </a:defRPr>
                      </a:lvl4pPr>
                      <a:lvl5pPr marL="1865925" algn="l" defTabSz="932962" rtl="0" eaLnBrk="1" latinLnBrk="0" hangingPunct="1">
                        <a:defRPr sz="1800" kern="1200">
                          <a:solidFill>
                            <a:schemeClr val="tx1"/>
                          </a:solidFill>
                          <a:latin typeface="Arial"/>
                        </a:defRPr>
                      </a:lvl5pPr>
                      <a:lvl6pPr marL="2332406" algn="l" defTabSz="932962" rtl="0" eaLnBrk="1" latinLnBrk="0" hangingPunct="1">
                        <a:defRPr sz="1800" kern="1200">
                          <a:solidFill>
                            <a:schemeClr val="tx1"/>
                          </a:solidFill>
                          <a:latin typeface="Arial"/>
                        </a:defRPr>
                      </a:lvl6pPr>
                      <a:lvl7pPr marL="2798887" algn="l" defTabSz="932962" rtl="0" eaLnBrk="1" latinLnBrk="0" hangingPunct="1">
                        <a:defRPr sz="1800" kern="1200">
                          <a:solidFill>
                            <a:schemeClr val="tx1"/>
                          </a:solidFill>
                          <a:latin typeface="Arial"/>
                        </a:defRPr>
                      </a:lvl7pPr>
                      <a:lvl8pPr marL="3265368" algn="l" defTabSz="932962" rtl="0" eaLnBrk="1" latinLnBrk="0" hangingPunct="1">
                        <a:defRPr sz="1800" kern="1200">
                          <a:solidFill>
                            <a:schemeClr val="tx1"/>
                          </a:solidFill>
                          <a:latin typeface="Arial"/>
                        </a:defRPr>
                      </a:lvl8pPr>
                      <a:lvl9pPr marL="3731849" algn="l" defTabSz="932962" rtl="0" eaLnBrk="1" latinLnBrk="0" hangingPunct="1">
                        <a:defRPr sz="1800" kern="1200">
                          <a:solidFill>
                            <a:schemeClr val="tx1"/>
                          </a:solidFill>
                          <a:latin typeface="Arial"/>
                        </a:defRPr>
                      </a:lvl9pPr>
                    </a:lstStyle>
                    <a:p>
                      <a:pPr marL="179388" indent="-179388" algn="l" defTabSz="895350" rtl="0" eaLnBrk="0" fontAlgn="auto" hangingPunct="0">
                        <a:lnSpc>
                          <a:spcPct val="130000"/>
                        </a:lnSpc>
                        <a:spcBef>
                          <a:spcPts val="0"/>
                        </a:spcBef>
                        <a:spcAft>
                          <a:spcPts val="0"/>
                        </a:spcAft>
                        <a:buSzPct val="100000"/>
                        <a:buFont typeface="Courier New"/>
                        <a:buChar char="o"/>
                        <a:tabLst>
                          <a:tab pos="179388" algn="l"/>
                        </a:tabLst>
                      </a:pPr>
                      <a:r>
                        <a:rPr lang="zh-TW" altLang="en-US" sz="1100" dirty="0">
                          <a:solidFill>
                            <a:schemeClr val="tx1"/>
                          </a:solidFill>
                          <a:latin typeface="Microsoft JhengHei" panose="020B0604030504040204" pitchFamily="34" charset="-120"/>
                          <a:ea typeface="Microsoft JhengHei" panose="020B0604030504040204" pitchFamily="34" charset="-120"/>
                          <a:cs typeface="Arial" panose="020B0604020202020204" pitchFamily="34" charset="0"/>
                        </a:rPr>
                        <a:t>了解管理階層風格​</a:t>
                      </a:r>
                    </a:p>
                    <a:p>
                      <a:pPr marL="179388" indent="-179388" algn="l" defTabSz="895350" rtl="0" eaLnBrk="0" fontAlgn="auto" hangingPunct="0">
                        <a:lnSpc>
                          <a:spcPct val="130000"/>
                        </a:lnSpc>
                        <a:spcBef>
                          <a:spcPts val="0"/>
                        </a:spcBef>
                        <a:spcAft>
                          <a:spcPts val="0"/>
                        </a:spcAft>
                        <a:buSzPct val="100000"/>
                        <a:buFont typeface="Courier New"/>
                        <a:buChar char="o"/>
                        <a:tabLst>
                          <a:tab pos="179388" algn="l"/>
                        </a:tabLst>
                      </a:pPr>
                      <a:r>
                        <a:rPr lang="zh-TW" altLang="en-US" sz="1100" dirty="0">
                          <a:solidFill>
                            <a:schemeClr val="tx1"/>
                          </a:solidFill>
                          <a:latin typeface="Microsoft JhengHei" panose="020B0604030504040204" pitchFamily="34" charset="-120"/>
                          <a:ea typeface="Microsoft JhengHei" panose="020B0604030504040204" pitchFamily="34" charset="-120"/>
                          <a:cs typeface="Arial" panose="020B0604020202020204" pitchFamily="34" charset="0"/>
                        </a:rPr>
                        <a:t>詢問產品技術​、同業競合​、接單狀況​、生產狀況​、財務展望​</a:t>
                      </a:r>
                    </a:p>
                  </a:txBody>
                  <a:tcPr marL="88157" marR="88157" marT="44079" marB="44079">
                    <a:lnL w="6350" cap="flat" cmpd="sng" algn="ctr">
                      <a:solidFill>
                        <a:sysClr val="window" lastClr="FFFFFF">
                          <a:lumMod val="85000"/>
                        </a:sysClr>
                      </a:solidFill>
                      <a:prstDash val="solid"/>
                      <a:round/>
                      <a:headEnd type="none" w="med" len="med"/>
                      <a:tailEnd type="none" w="med" len="med"/>
                    </a:lnL>
                    <a:lnR w="6350" cap="flat" cmpd="sng" algn="ctr">
                      <a:solidFill>
                        <a:sysClr val="window" lastClr="FFFFFF">
                          <a:lumMod val="85000"/>
                        </a:sysClr>
                      </a:solidFill>
                      <a:prstDash val="solid"/>
                      <a:round/>
                      <a:headEnd type="none" w="med" len="med"/>
                      <a:tailEnd type="none" w="med" len="med"/>
                    </a:lnR>
                    <a:lnT w="6350" cap="flat" cmpd="sng" algn="ctr">
                      <a:solidFill>
                        <a:sysClr val="window" lastClr="FFFFFF">
                          <a:lumMod val="85000"/>
                        </a:sysClr>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962" rtl="0" eaLnBrk="1" latinLnBrk="0" hangingPunct="1">
                        <a:defRPr sz="1800" kern="1200">
                          <a:solidFill>
                            <a:schemeClr val="tx1"/>
                          </a:solidFill>
                          <a:latin typeface="Arial"/>
                        </a:defRPr>
                      </a:lvl1pPr>
                      <a:lvl2pPr marL="466481" algn="l" defTabSz="932962" rtl="0" eaLnBrk="1" latinLnBrk="0" hangingPunct="1">
                        <a:defRPr sz="1800" kern="1200">
                          <a:solidFill>
                            <a:schemeClr val="tx1"/>
                          </a:solidFill>
                          <a:latin typeface="Arial"/>
                        </a:defRPr>
                      </a:lvl2pPr>
                      <a:lvl3pPr marL="932962" algn="l" defTabSz="932962" rtl="0" eaLnBrk="1" latinLnBrk="0" hangingPunct="1">
                        <a:defRPr sz="1800" kern="1200">
                          <a:solidFill>
                            <a:schemeClr val="tx1"/>
                          </a:solidFill>
                          <a:latin typeface="Arial"/>
                        </a:defRPr>
                      </a:lvl3pPr>
                      <a:lvl4pPr marL="1399443" algn="l" defTabSz="932962" rtl="0" eaLnBrk="1" latinLnBrk="0" hangingPunct="1">
                        <a:defRPr sz="1800" kern="1200">
                          <a:solidFill>
                            <a:schemeClr val="tx1"/>
                          </a:solidFill>
                          <a:latin typeface="Arial"/>
                        </a:defRPr>
                      </a:lvl4pPr>
                      <a:lvl5pPr marL="1865925" algn="l" defTabSz="932962" rtl="0" eaLnBrk="1" latinLnBrk="0" hangingPunct="1">
                        <a:defRPr sz="1800" kern="1200">
                          <a:solidFill>
                            <a:schemeClr val="tx1"/>
                          </a:solidFill>
                          <a:latin typeface="Arial"/>
                        </a:defRPr>
                      </a:lvl5pPr>
                      <a:lvl6pPr marL="2332406" algn="l" defTabSz="932962" rtl="0" eaLnBrk="1" latinLnBrk="0" hangingPunct="1">
                        <a:defRPr sz="1800" kern="1200">
                          <a:solidFill>
                            <a:schemeClr val="tx1"/>
                          </a:solidFill>
                          <a:latin typeface="Arial"/>
                        </a:defRPr>
                      </a:lvl6pPr>
                      <a:lvl7pPr marL="2798887" algn="l" defTabSz="932962" rtl="0" eaLnBrk="1" latinLnBrk="0" hangingPunct="1">
                        <a:defRPr sz="1800" kern="1200">
                          <a:solidFill>
                            <a:schemeClr val="tx1"/>
                          </a:solidFill>
                          <a:latin typeface="Arial"/>
                        </a:defRPr>
                      </a:lvl7pPr>
                      <a:lvl8pPr marL="3265368" algn="l" defTabSz="932962" rtl="0" eaLnBrk="1" latinLnBrk="0" hangingPunct="1">
                        <a:defRPr sz="1800" kern="1200">
                          <a:solidFill>
                            <a:schemeClr val="tx1"/>
                          </a:solidFill>
                          <a:latin typeface="Arial"/>
                        </a:defRPr>
                      </a:lvl8pPr>
                      <a:lvl9pPr marL="3731849" algn="l" defTabSz="932962" rtl="0" eaLnBrk="1" latinLnBrk="0" hangingPunct="1">
                        <a:defRPr sz="1800" kern="1200">
                          <a:solidFill>
                            <a:schemeClr val="tx1"/>
                          </a:solidFill>
                          <a:latin typeface="Arial"/>
                        </a:defRPr>
                      </a:lvl9pPr>
                    </a:lstStyle>
                    <a:p>
                      <a:pPr marL="179388" indent="-179388" algn="l" defTabSz="895350" rtl="0" eaLnBrk="0" fontAlgn="auto" latinLnBrk="0" hangingPunct="0">
                        <a:lnSpc>
                          <a:spcPct val="130000"/>
                        </a:lnSpc>
                        <a:spcBef>
                          <a:spcPts val="0"/>
                        </a:spcBef>
                        <a:spcAft>
                          <a:spcPts val="0"/>
                        </a:spcAft>
                        <a:buSzPct val="100000"/>
                        <a:buFont typeface="Courier New"/>
                        <a:buChar char="o"/>
                        <a:tabLst>
                          <a:tab pos="179388" algn="l"/>
                        </a:tabLst>
                      </a:pPr>
                      <a:r>
                        <a:rPr lang="zh-TW" altLang="en-US" sz="1100" kern="1200" dirty="0">
                          <a:solidFill>
                            <a:schemeClr val="tx1"/>
                          </a:solidFill>
                          <a:latin typeface="Microsoft JhengHei" panose="020B0604030504040204" pitchFamily="34" charset="-120"/>
                          <a:ea typeface="Microsoft JhengHei" panose="020B0604030504040204" pitchFamily="34" charset="-120"/>
                          <a:cs typeface="Arial" panose="020B0604020202020204" pitchFamily="34" charset="0"/>
                        </a:rPr>
                        <a:t>建立公司財務預估模型​</a:t>
                      </a:r>
                    </a:p>
                    <a:p>
                      <a:pPr marL="179388" indent="-179388" algn="l" defTabSz="895350" rtl="0" eaLnBrk="0" fontAlgn="auto" latinLnBrk="0" hangingPunct="0">
                        <a:lnSpc>
                          <a:spcPct val="130000"/>
                        </a:lnSpc>
                        <a:spcBef>
                          <a:spcPts val="0"/>
                        </a:spcBef>
                        <a:spcAft>
                          <a:spcPts val="0"/>
                        </a:spcAft>
                        <a:buSzPct val="100000"/>
                        <a:buFont typeface="Courier New"/>
                        <a:buChar char="o"/>
                        <a:tabLst>
                          <a:tab pos="179388" algn="l"/>
                        </a:tabLst>
                      </a:pPr>
                      <a:r>
                        <a:rPr lang="zh-TW" altLang="en-US" sz="1100" kern="1200" dirty="0">
                          <a:solidFill>
                            <a:schemeClr val="tx1"/>
                          </a:solidFill>
                          <a:latin typeface="Microsoft JhengHei" panose="020B0604030504040204" pitchFamily="34" charset="-120"/>
                          <a:ea typeface="Microsoft JhengHei" panose="020B0604030504040204" pitchFamily="34" charset="-120"/>
                          <a:cs typeface="Arial" panose="020B0604020202020204" pitchFamily="34" charset="0"/>
                        </a:rPr>
                        <a:t>建立產業</a:t>
                      </a:r>
                      <a:r>
                        <a:rPr lang="en-US" altLang="zh-TW" sz="1100" kern="1200" dirty="0">
                          <a:solidFill>
                            <a:schemeClr val="tx1"/>
                          </a:solidFill>
                          <a:latin typeface="Microsoft JhengHei" panose="020B0604030504040204" pitchFamily="34" charset="-120"/>
                          <a:ea typeface="Microsoft JhengHei" panose="020B0604030504040204" pitchFamily="34" charset="-120"/>
                          <a:cs typeface="Arial" panose="020B0604020202020204" pitchFamily="34" charset="0"/>
                        </a:rPr>
                        <a:t>/</a:t>
                      </a:r>
                      <a:r>
                        <a:rPr lang="zh-TW" altLang="en-US" sz="1100" kern="1200" dirty="0">
                          <a:solidFill>
                            <a:schemeClr val="tx1"/>
                          </a:solidFill>
                          <a:latin typeface="Microsoft JhengHei" panose="020B0604030504040204" pitchFamily="34" charset="-120"/>
                          <a:ea typeface="Microsoft JhengHei" panose="020B0604030504040204" pitchFamily="34" charset="-120"/>
                          <a:cs typeface="Arial" panose="020B0604020202020204" pitchFamily="34" charset="0"/>
                        </a:rPr>
                        <a:t>產銷</a:t>
                      </a:r>
                      <a:r>
                        <a:rPr lang="en-US" altLang="zh-TW" sz="1100" kern="1200" dirty="0">
                          <a:solidFill>
                            <a:schemeClr val="tx1"/>
                          </a:solidFill>
                          <a:latin typeface="Microsoft JhengHei" panose="020B0604030504040204" pitchFamily="34" charset="-120"/>
                          <a:ea typeface="Microsoft JhengHei" panose="020B0604030504040204" pitchFamily="34" charset="-120"/>
                          <a:cs typeface="Arial" panose="020B0604020202020204" pitchFamily="34" charset="0"/>
                        </a:rPr>
                        <a:t>/</a:t>
                      </a:r>
                      <a:r>
                        <a:rPr lang="zh-TW" altLang="en-US" sz="1100" kern="1200" dirty="0">
                          <a:solidFill>
                            <a:schemeClr val="tx1"/>
                          </a:solidFill>
                          <a:latin typeface="Microsoft JhengHei" panose="020B0604030504040204" pitchFamily="34" charset="-120"/>
                          <a:ea typeface="Microsoft JhengHei" panose="020B0604030504040204" pitchFamily="34" charset="-120"/>
                          <a:cs typeface="Arial" panose="020B0604020202020204" pitchFamily="34" charset="0"/>
                        </a:rPr>
                        <a:t>成本數據​</a:t>
                      </a:r>
                    </a:p>
                    <a:p>
                      <a:pPr marL="179388" indent="-179388" algn="l" defTabSz="895350" rtl="0" eaLnBrk="0" fontAlgn="auto" latinLnBrk="0" hangingPunct="0">
                        <a:lnSpc>
                          <a:spcPct val="130000"/>
                        </a:lnSpc>
                        <a:spcBef>
                          <a:spcPts val="0"/>
                        </a:spcBef>
                        <a:spcAft>
                          <a:spcPts val="0"/>
                        </a:spcAft>
                        <a:buSzPct val="100000"/>
                        <a:buFont typeface="Courier New"/>
                        <a:buChar char="o"/>
                        <a:tabLst>
                          <a:tab pos="179388" algn="l"/>
                        </a:tabLst>
                      </a:pPr>
                      <a:r>
                        <a:rPr lang="zh-TW" altLang="en-US" sz="1100" kern="1200" dirty="0">
                          <a:solidFill>
                            <a:schemeClr val="tx1"/>
                          </a:solidFill>
                          <a:latin typeface="Microsoft JhengHei" panose="020B0604030504040204" pitchFamily="34" charset="-120"/>
                          <a:ea typeface="Microsoft JhengHei" panose="020B0604030504040204" pitchFamily="34" charset="-120"/>
                          <a:cs typeface="Arial" panose="020B0604020202020204" pitchFamily="34" charset="0"/>
                        </a:rPr>
                        <a:t>預估未來損益​及年度</a:t>
                      </a:r>
                      <a:r>
                        <a:rPr lang="en-US" altLang="zh-TW" sz="1100" kern="1200" dirty="0">
                          <a:solidFill>
                            <a:schemeClr val="tx1"/>
                          </a:solidFill>
                          <a:latin typeface="Microsoft JhengHei" panose="020B0604030504040204" pitchFamily="34" charset="-120"/>
                          <a:ea typeface="Microsoft JhengHei" panose="020B0604030504040204" pitchFamily="34" charset="-120"/>
                          <a:cs typeface="Arial" panose="020B0604020202020204" pitchFamily="34" charset="0"/>
                        </a:rPr>
                        <a:t>3</a:t>
                      </a:r>
                      <a:r>
                        <a:rPr lang="zh-TW" altLang="en-US" sz="1100" kern="1200" dirty="0">
                          <a:solidFill>
                            <a:schemeClr val="tx1"/>
                          </a:solidFill>
                          <a:latin typeface="Microsoft JhengHei" panose="020B0604030504040204" pitchFamily="34" charset="-120"/>
                          <a:ea typeface="Microsoft JhengHei" panose="020B0604030504040204" pitchFamily="34" charset="-120"/>
                          <a:cs typeface="Arial" panose="020B0604020202020204" pitchFamily="34" charset="0"/>
                        </a:rPr>
                        <a:t>表​</a:t>
                      </a:r>
                    </a:p>
                  </a:txBody>
                  <a:tcPr marL="88157" marR="88157" marT="44079" marB="44079">
                    <a:lnL w="6350" cap="flat" cmpd="sng" algn="ctr">
                      <a:solidFill>
                        <a:sysClr val="window" lastClr="FFFFFF">
                          <a:lumMod val="85000"/>
                        </a:sysClr>
                      </a:solidFill>
                      <a:prstDash val="solid"/>
                      <a:round/>
                      <a:headEnd type="none" w="med" len="med"/>
                      <a:tailEnd type="none" w="med" len="med"/>
                    </a:lnL>
                    <a:lnR w="6350" cap="flat" cmpd="sng" algn="ctr">
                      <a:solidFill>
                        <a:sysClr val="window" lastClr="FFFFFF">
                          <a:lumMod val="85000"/>
                        </a:sysClr>
                      </a:solidFill>
                      <a:prstDash val="solid"/>
                      <a:round/>
                      <a:headEnd type="none" w="med" len="med"/>
                      <a:tailEnd type="none" w="med" len="med"/>
                    </a:lnR>
                    <a:lnT w="6350" cap="flat" cmpd="sng" algn="ctr">
                      <a:solidFill>
                        <a:sysClr val="window" lastClr="FFFFFF">
                          <a:lumMod val="85000"/>
                        </a:sysClr>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962" rtl="0" eaLnBrk="1" latinLnBrk="0" hangingPunct="1">
                        <a:defRPr sz="1800" kern="1200">
                          <a:solidFill>
                            <a:schemeClr val="tx1"/>
                          </a:solidFill>
                          <a:latin typeface="Arial"/>
                        </a:defRPr>
                      </a:lvl1pPr>
                      <a:lvl2pPr marL="466481" algn="l" defTabSz="932962" rtl="0" eaLnBrk="1" latinLnBrk="0" hangingPunct="1">
                        <a:defRPr sz="1800" kern="1200">
                          <a:solidFill>
                            <a:schemeClr val="tx1"/>
                          </a:solidFill>
                          <a:latin typeface="Arial"/>
                        </a:defRPr>
                      </a:lvl2pPr>
                      <a:lvl3pPr marL="932962" algn="l" defTabSz="932962" rtl="0" eaLnBrk="1" latinLnBrk="0" hangingPunct="1">
                        <a:defRPr sz="1800" kern="1200">
                          <a:solidFill>
                            <a:schemeClr val="tx1"/>
                          </a:solidFill>
                          <a:latin typeface="Arial"/>
                        </a:defRPr>
                      </a:lvl3pPr>
                      <a:lvl4pPr marL="1399443" algn="l" defTabSz="932962" rtl="0" eaLnBrk="1" latinLnBrk="0" hangingPunct="1">
                        <a:defRPr sz="1800" kern="1200">
                          <a:solidFill>
                            <a:schemeClr val="tx1"/>
                          </a:solidFill>
                          <a:latin typeface="Arial"/>
                        </a:defRPr>
                      </a:lvl4pPr>
                      <a:lvl5pPr marL="1865925" algn="l" defTabSz="932962" rtl="0" eaLnBrk="1" latinLnBrk="0" hangingPunct="1">
                        <a:defRPr sz="1800" kern="1200">
                          <a:solidFill>
                            <a:schemeClr val="tx1"/>
                          </a:solidFill>
                          <a:latin typeface="Arial"/>
                        </a:defRPr>
                      </a:lvl5pPr>
                      <a:lvl6pPr marL="2332406" algn="l" defTabSz="932962" rtl="0" eaLnBrk="1" latinLnBrk="0" hangingPunct="1">
                        <a:defRPr sz="1800" kern="1200">
                          <a:solidFill>
                            <a:schemeClr val="tx1"/>
                          </a:solidFill>
                          <a:latin typeface="Arial"/>
                        </a:defRPr>
                      </a:lvl6pPr>
                      <a:lvl7pPr marL="2798887" algn="l" defTabSz="932962" rtl="0" eaLnBrk="1" latinLnBrk="0" hangingPunct="1">
                        <a:defRPr sz="1800" kern="1200">
                          <a:solidFill>
                            <a:schemeClr val="tx1"/>
                          </a:solidFill>
                          <a:latin typeface="Arial"/>
                        </a:defRPr>
                      </a:lvl7pPr>
                      <a:lvl8pPr marL="3265368" algn="l" defTabSz="932962" rtl="0" eaLnBrk="1" latinLnBrk="0" hangingPunct="1">
                        <a:defRPr sz="1800" kern="1200">
                          <a:solidFill>
                            <a:schemeClr val="tx1"/>
                          </a:solidFill>
                          <a:latin typeface="Arial"/>
                        </a:defRPr>
                      </a:lvl8pPr>
                      <a:lvl9pPr marL="3731849" algn="l" defTabSz="932962" rtl="0" eaLnBrk="1" latinLnBrk="0" hangingPunct="1">
                        <a:defRPr sz="1800" kern="1200">
                          <a:solidFill>
                            <a:schemeClr val="tx1"/>
                          </a:solidFill>
                          <a:latin typeface="Arial"/>
                        </a:defRPr>
                      </a:lvl9pPr>
                    </a:lstStyle>
                    <a:p>
                      <a:pPr marL="179388" indent="-179388" algn="l" defTabSz="895350" rtl="0" eaLnBrk="0" fontAlgn="auto" hangingPunct="0">
                        <a:lnSpc>
                          <a:spcPct val="130000"/>
                        </a:lnSpc>
                        <a:spcBef>
                          <a:spcPts val="0"/>
                        </a:spcBef>
                        <a:spcAft>
                          <a:spcPts val="0"/>
                        </a:spcAft>
                        <a:buSzPct val="100000"/>
                        <a:buFont typeface="Courier New"/>
                        <a:buChar char="o"/>
                        <a:tabLst>
                          <a:tab pos="179388" algn="l"/>
                        </a:tabLst>
                      </a:pPr>
                      <a:r>
                        <a:rPr lang="zh-TW" altLang="en-US" sz="1100">
                          <a:solidFill>
                            <a:schemeClr val="tx1"/>
                          </a:solidFill>
                          <a:latin typeface="Microsoft JhengHei" panose="020B0604030504040204" pitchFamily="34" charset="-120"/>
                          <a:ea typeface="Microsoft JhengHei" panose="020B0604030504040204" pitchFamily="34" charset="-120"/>
                          <a:cs typeface="Arial" panose="020B0604020202020204" pitchFamily="34" charset="0"/>
                        </a:rPr>
                        <a:t>歷史評價分析​</a:t>
                      </a:r>
                      <a:r>
                        <a:rPr lang="en-US" altLang="zh-TW" sz="1100">
                          <a:solidFill>
                            <a:schemeClr val="tx1"/>
                          </a:solidFill>
                          <a:latin typeface="Microsoft JhengHei" panose="020B0604030504040204" pitchFamily="34" charset="-120"/>
                          <a:ea typeface="Microsoft JhengHei" panose="020B0604030504040204" pitchFamily="34" charset="-120"/>
                          <a:cs typeface="Arial" panose="020B0604020202020204" pitchFamily="34" charset="0"/>
                        </a:rPr>
                        <a:t>/</a:t>
                      </a:r>
                      <a:r>
                        <a:rPr lang="zh-TW" altLang="en-US" sz="1100">
                          <a:solidFill>
                            <a:schemeClr val="tx1"/>
                          </a:solidFill>
                          <a:latin typeface="Microsoft JhengHei" panose="020B0604030504040204" pitchFamily="34" charset="-120"/>
                          <a:ea typeface="Microsoft JhengHei" panose="020B0604030504040204" pitchFamily="34" charset="-120"/>
                          <a:cs typeface="Arial" panose="020B0604020202020204" pitchFamily="34" charset="0"/>
                        </a:rPr>
                        <a:t>同業比較​</a:t>
                      </a:r>
                    </a:p>
                    <a:p>
                      <a:pPr marL="179388" indent="-179388" algn="l" defTabSz="895350" rtl="0" eaLnBrk="0" fontAlgn="auto" hangingPunct="0">
                        <a:lnSpc>
                          <a:spcPct val="130000"/>
                        </a:lnSpc>
                        <a:spcBef>
                          <a:spcPts val="0"/>
                        </a:spcBef>
                        <a:spcAft>
                          <a:spcPts val="0"/>
                        </a:spcAft>
                        <a:buSzPct val="100000"/>
                        <a:buFont typeface="Courier New"/>
                        <a:buChar char="o"/>
                        <a:tabLst>
                          <a:tab pos="179388" algn="l"/>
                        </a:tabLst>
                      </a:pPr>
                      <a:r>
                        <a:rPr lang="zh-TW" altLang="en-US" sz="1100">
                          <a:solidFill>
                            <a:schemeClr val="tx1"/>
                          </a:solidFill>
                          <a:latin typeface="Microsoft JhengHei" panose="020B0604030504040204" pitchFamily="34" charset="-120"/>
                          <a:ea typeface="Microsoft JhengHei" panose="020B0604030504040204" pitchFamily="34" charset="-120"/>
                          <a:cs typeface="Arial" panose="020B0604020202020204" pitchFamily="34" charset="0"/>
                        </a:rPr>
                        <a:t>評估產業</a:t>
                      </a:r>
                      <a:r>
                        <a:rPr lang="en-US" altLang="zh-TW" sz="1100">
                          <a:solidFill>
                            <a:schemeClr val="tx1"/>
                          </a:solidFill>
                          <a:latin typeface="Microsoft JhengHei" panose="020B0604030504040204" pitchFamily="34" charset="-120"/>
                          <a:ea typeface="Microsoft JhengHei" panose="020B0604030504040204" pitchFamily="34" charset="-120"/>
                          <a:cs typeface="Arial" panose="020B0604020202020204" pitchFamily="34" charset="0"/>
                        </a:rPr>
                        <a:t>/</a:t>
                      </a:r>
                      <a:r>
                        <a:rPr lang="zh-TW" altLang="en-US" sz="1100">
                          <a:solidFill>
                            <a:schemeClr val="tx1"/>
                          </a:solidFill>
                          <a:latin typeface="Microsoft JhengHei" panose="020B0604030504040204" pitchFamily="34" charset="-120"/>
                          <a:ea typeface="Microsoft JhengHei" panose="020B0604030504040204" pitchFamily="34" charset="-120"/>
                          <a:cs typeface="Arial" panose="020B0604020202020204" pitchFamily="34" charset="0"/>
                        </a:rPr>
                        <a:t>公司成長性​</a:t>
                      </a:r>
                    </a:p>
                    <a:p>
                      <a:pPr marL="179388" indent="-179388" algn="l" defTabSz="895350" rtl="0" eaLnBrk="0" fontAlgn="auto" hangingPunct="0">
                        <a:lnSpc>
                          <a:spcPct val="130000"/>
                        </a:lnSpc>
                        <a:spcBef>
                          <a:spcPts val="0"/>
                        </a:spcBef>
                        <a:spcAft>
                          <a:spcPts val="0"/>
                        </a:spcAft>
                        <a:buSzPct val="100000"/>
                        <a:buFont typeface="Courier New"/>
                        <a:buChar char="o"/>
                        <a:tabLst>
                          <a:tab pos="179388" algn="l"/>
                        </a:tabLst>
                      </a:pPr>
                      <a:r>
                        <a:rPr lang="zh-TW" altLang="en-US" sz="1100">
                          <a:solidFill>
                            <a:schemeClr val="tx1"/>
                          </a:solidFill>
                          <a:latin typeface="Microsoft JhengHei" panose="020B0604030504040204" pitchFamily="34" charset="-120"/>
                          <a:ea typeface="Microsoft JhengHei" panose="020B0604030504040204" pitchFamily="34" charset="-120"/>
                          <a:cs typeface="Arial" panose="020B0604020202020204" pitchFamily="34" charset="0"/>
                        </a:rPr>
                        <a:t>給予投資建議​</a:t>
                      </a:r>
                    </a:p>
                  </a:txBody>
                  <a:tcPr marL="88157" marR="88157" marT="44079" marB="44079">
                    <a:lnL w="6350" cap="flat" cmpd="sng" algn="ctr">
                      <a:solidFill>
                        <a:sysClr val="window" lastClr="FFFFFF">
                          <a:lumMod val="85000"/>
                        </a:sysClr>
                      </a:solidFill>
                      <a:prstDash val="solid"/>
                      <a:round/>
                      <a:headEnd type="none" w="med" len="med"/>
                      <a:tailEnd type="none" w="med" len="med"/>
                    </a:lnL>
                    <a:lnR w="6350" cap="flat" cmpd="sng" algn="ctr">
                      <a:solidFill>
                        <a:sysClr val="window" lastClr="FFFFFF">
                          <a:lumMod val="95000"/>
                        </a:sysClr>
                      </a:solidFill>
                      <a:prstDash val="solid"/>
                      <a:round/>
                      <a:headEnd type="none" w="med" len="med"/>
                      <a:tailEnd type="none" w="med" len="med"/>
                    </a:lnR>
                    <a:lnT w="6350" cap="flat" cmpd="sng" algn="ctr">
                      <a:solidFill>
                        <a:sysClr val="window" lastClr="FFFFFF">
                          <a:lumMod val="85000"/>
                        </a:sysClr>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962" rtl="0" eaLnBrk="1" latinLnBrk="0" hangingPunct="1">
                        <a:defRPr sz="1800" kern="1200">
                          <a:solidFill>
                            <a:schemeClr val="tx1"/>
                          </a:solidFill>
                          <a:latin typeface="Arial"/>
                        </a:defRPr>
                      </a:lvl1pPr>
                      <a:lvl2pPr marL="466481" algn="l" defTabSz="932962" rtl="0" eaLnBrk="1" latinLnBrk="0" hangingPunct="1">
                        <a:defRPr sz="1800" kern="1200">
                          <a:solidFill>
                            <a:schemeClr val="tx1"/>
                          </a:solidFill>
                          <a:latin typeface="Arial"/>
                        </a:defRPr>
                      </a:lvl2pPr>
                      <a:lvl3pPr marL="932962" algn="l" defTabSz="932962" rtl="0" eaLnBrk="1" latinLnBrk="0" hangingPunct="1">
                        <a:defRPr sz="1800" kern="1200">
                          <a:solidFill>
                            <a:schemeClr val="tx1"/>
                          </a:solidFill>
                          <a:latin typeface="Arial"/>
                        </a:defRPr>
                      </a:lvl3pPr>
                      <a:lvl4pPr marL="1399443" algn="l" defTabSz="932962" rtl="0" eaLnBrk="1" latinLnBrk="0" hangingPunct="1">
                        <a:defRPr sz="1800" kern="1200">
                          <a:solidFill>
                            <a:schemeClr val="tx1"/>
                          </a:solidFill>
                          <a:latin typeface="Arial"/>
                        </a:defRPr>
                      </a:lvl4pPr>
                      <a:lvl5pPr marL="1865925" algn="l" defTabSz="932962" rtl="0" eaLnBrk="1" latinLnBrk="0" hangingPunct="1">
                        <a:defRPr sz="1800" kern="1200">
                          <a:solidFill>
                            <a:schemeClr val="tx1"/>
                          </a:solidFill>
                          <a:latin typeface="Arial"/>
                        </a:defRPr>
                      </a:lvl5pPr>
                      <a:lvl6pPr marL="2332406" algn="l" defTabSz="932962" rtl="0" eaLnBrk="1" latinLnBrk="0" hangingPunct="1">
                        <a:defRPr sz="1800" kern="1200">
                          <a:solidFill>
                            <a:schemeClr val="tx1"/>
                          </a:solidFill>
                          <a:latin typeface="Arial"/>
                        </a:defRPr>
                      </a:lvl6pPr>
                      <a:lvl7pPr marL="2798887" algn="l" defTabSz="932962" rtl="0" eaLnBrk="1" latinLnBrk="0" hangingPunct="1">
                        <a:defRPr sz="1800" kern="1200">
                          <a:solidFill>
                            <a:schemeClr val="tx1"/>
                          </a:solidFill>
                          <a:latin typeface="Arial"/>
                        </a:defRPr>
                      </a:lvl7pPr>
                      <a:lvl8pPr marL="3265368" algn="l" defTabSz="932962" rtl="0" eaLnBrk="1" latinLnBrk="0" hangingPunct="1">
                        <a:defRPr sz="1800" kern="1200">
                          <a:solidFill>
                            <a:schemeClr val="tx1"/>
                          </a:solidFill>
                          <a:latin typeface="Arial"/>
                        </a:defRPr>
                      </a:lvl8pPr>
                      <a:lvl9pPr marL="3731849" algn="l" defTabSz="932962" rtl="0" eaLnBrk="1" latinLnBrk="0" hangingPunct="1">
                        <a:defRPr sz="1800" kern="1200">
                          <a:solidFill>
                            <a:schemeClr val="tx1"/>
                          </a:solidFill>
                          <a:latin typeface="Arial"/>
                        </a:defRPr>
                      </a:lvl9pPr>
                    </a:lstStyle>
                    <a:p>
                      <a:pPr marL="179388" indent="-179388" algn="l" defTabSz="895350" rtl="0" eaLnBrk="0" fontAlgn="auto" hangingPunct="0">
                        <a:lnSpc>
                          <a:spcPct val="130000"/>
                        </a:lnSpc>
                        <a:spcBef>
                          <a:spcPts val="0"/>
                        </a:spcBef>
                        <a:spcAft>
                          <a:spcPts val="0"/>
                        </a:spcAft>
                        <a:buSzPct val="100000"/>
                        <a:buFont typeface="Courier New"/>
                        <a:buChar char="o"/>
                        <a:tabLst>
                          <a:tab pos="179388" algn="l"/>
                        </a:tabLst>
                      </a:pPr>
                      <a:r>
                        <a:rPr lang="zh-TW" altLang="en-US" sz="1100" dirty="0">
                          <a:solidFill>
                            <a:schemeClr val="tx1"/>
                          </a:solidFill>
                          <a:latin typeface="Microsoft JhengHei" panose="020B0604030504040204" pitchFamily="34" charset="-120"/>
                          <a:ea typeface="Microsoft JhengHei" panose="020B0604030504040204" pitchFamily="34" charset="-120"/>
                          <a:cs typeface="Arial" panose="020B0604020202020204" pitchFamily="34" charset="0"/>
                        </a:rPr>
                        <a:t>報告撰寫​</a:t>
                      </a:r>
                    </a:p>
                  </a:txBody>
                  <a:tcPr marL="88157" marR="88157" marT="44079" marB="44079">
                    <a:lnL w="6350" cap="flat" cmpd="sng" algn="ctr">
                      <a:solidFill>
                        <a:sysClr val="window" lastClr="FFFFFF">
                          <a:lumMod val="95000"/>
                        </a:sysClr>
                      </a:solidFill>
                      <a:prstDash val="solid"/>
                      <a:round/>
                      <a:headEnd type="none" w="med" len="med"/>
                      <a:tailEnd type="none" w="med" len="med"/>
                    </a:lnL>
                    <a:lnR w="6350" cap="flat" cmpd="sng" algn="ctr">
                      <a:solidFill>
                        <a:sysClr val="window" lastClr="FFFFFF">
                          <a:lumMod val="85000"/>
                        </a:sysClr>
                      </a:solidFill>
                      <a:prstDash val="solid"/>
                      <a:round/>
                      <a:headEnd type="none" w="med" len="med"/>
                      <a:tailEnd type="none" w="med" len="med"/>
                    </a:lnR>
                    <a:lnT w="6350" cap="flat" cmpd="sng" algn="ctr">
                      <a:solidFill>
                        <a:sysClr val="window" lastClr="FFFFFF">
                          <a:lumMod val="85000"/>
                        </a:sysClr>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8305469"/>
                  </a:ext>
                </a:extLst>
              </a:tr>
            </a:tbl>
          </a:graphicData>
        </a:graphic>
      </p:graphicFrame>
      <p:sp>
        <p:nvSpPr>
          <p:cNvPr id="24" name="文字方塊 23">
            <a:extLst>
              <a:ext uri="{FF2B5EF4-FFF2-40B4-BE49-F238E27FC236}">
                <a16:creationId xmlns:a16="http://schemas.microsoft.com/office/drawing/2014/main" id="{86492DA2-0B65-4934-9D58-3DD63E6FFE4E}"/>
              </a:ext>
            </a:extLst>
          </p:cNvPr>
          <p:cNvSpPr txBox="1"/>
          <p:nvPr/>
        </p:nvSpPr>
        <p:spPr>
          <a:xfrm>
            <a:off x="5324122" y="5830462"/>
            <a:ext cx="1388304" cy="508795"/>
          </a:xfrm>
          <a:prstGeom prst="roundRect">
            <a:avLst>
              <a:gd name="adj" fmla="val 16667"/>
            </a:avLst>
          </a:prstGeom>
          <a:noFill/>
        </p:spPr>
        <p:txBody>
          <a:bodyPr wrap="none" rtlCol="0">
            <a:noAutofit/>
          </a:bodyPr>
          <a:lstStyle/>
          <a:p>
            <a:pPr algn="ctr" fontAlgn="base">
              <a:spcBef>
                <a:spcPct val="0"/>
              </a:spcBef>
              <a:spcAft>
                <a:spcPct val="0"/>
              </a:spcAft>
              <a:buFont typeface="Arial"/>
              <a:buNone/>
            </a:pPr>
            <a:r>
              <a:rPr lang="zh-TW" altLang="en-US" sz="1157" kern="0">
                <a:solidFill>
                  <a:srgbClr val="000000"/>
                </a:solidFill>
                <a:latin typeface="微軟正黑體" panose="020B0604030504040204" pitchFamily="34" charset="-120"/>
                <a:cs typeface="Arial"/>
                <a:sym typeface="Arial"/>
              </a:rPr>
              <a:t>法說簡報檔</a:t>
            </a:r>
            <a:endParaRPr lang="en-US" altLang="zh-TW" sz="1157" kern="0">
              <a:solidFill>
                <a:srgbClr val="000000"/>
              </a:solidFill>
              <a:latin typeface="微軟正黑體" panose="020B0604030504040204" pitchFamily="34" charset="-120"/>
              <a:cs typeface="Arial"/>
              <a:sym typeface="Arial"/>
            </a:endParaRPr>
          </a:p>
          <a:p>
            <a:pPr algn="ctr" fontAlgn="base">
              <a:spcBef>
                <a:spcPct val="0"/>
              </a:spcBef>
              <a:spcAft>
                <a:spcPct val="0"/>
              </a:spcAft>
              <a:buFont typeface="Arial"/>
              <a:buNone/>
            </a:pPr>
            <a:r>
              <a:rPr lang="zh-TW" altLang="en-US" sz="1157" kern="0">
                <a:solidFill>
                  <a:srgbClr val="000000"/>
                </a:solidFill>
                <a:latin typeface="微軟正黑體" panose="020B0604030504040204" pitchFamily="34" charset="-120"/>
                <a:cs typeface="Arial"/>
                <a:sym typeface="Arial"/>
              </a:rPr>
              <a:t>法說影音檔</a:t>
            </a:r>
            <a:endParaRPr lang="en-US" altLang="zh-TW" sz="1157" kern="0">
              <a:solidFill>
                <a:srgbClr val="000000"/>
              </a:solidFill>
              <a:latin typeface="微軟正黑體" panose="020B0604030504040204" pitchFamily="34" charset="-120"/>
              <a:cs typeface="Arial"/>
              <a:sym typeface="Arial"/>
            </a:endParaRPr>
          </a:p>
        </p:txBody>
      </p:sp>
      <p:sp>
        <p:nvSpPr>
          <p:cNvPr id="25" name="文字方塊 24">
            <a:extLst>
              <a:ext uri="{FF2B5EF4-FFF2-40B4-BE49-F238E27FC236}">
                <a16:creationId xmlns:a16="http://schemas.microsoft.com/office/drawing/2014/main" id="{AE43D096-6C0B-47C5-B153-FD07B83F2A31}"/>
              </a:ext>
            </a:extLst>
          </p:cNvPr>
          <p:cNvSpPr txBox="1"/>
          <p:nvPr/>
        </p:nvSpPr>
        <p:spPr>
          <a:xfrm>
            <a:off x="7488057" y="5830462"/>
            <a:ext cx="1388304" cy="508795"/>
          </a:xfrm>
          <a:prstGeom prst="roundRect">
            <a:avLst>
              <a:gd name="adj" fmla="val 16667"/>
            </a:avLst>
          </a:prstGeom>
          <a:noFill/>
        </p:spPr>
        <p:txBody>
          <a:bodyPr wrap="none" rtlCol="0">
            <a:noAutofit/>
          </a:bodyPr>
          <a:lstStyle/>
          <a:p>
            <a:pPr algn="ctr" fontAlgn="base">
              <a:spcBef>
                <a:spcPct val="0"/>
              </a:spcBef>
              <a:spcAft>
                <a:spcPct val="0"/>
              </a:spcAft>
              <a:buFont typeface="Arial"/>
              <a:buNone/>
            </a:pPr>
            <a:r>
              <a:rPr lang="zh-TW" altLang="en-US" sz="1157" kern="0">
                <a:solidFill>
                  <a:srgbClr val="000000"/>
                </a:solidFill>
                <a:latin typeface="微軟正黑體" panose="020B0604030504040204" pitchFamily="34" charset="-120"/>
                <a:cs typeface="Arial"/>
                <a:sym typeface="Arial"/>
              </a:rPr>
              <a:t>公司季報</a:t>
            </a:r>
            <a:endParaRPr lang="en-US" altLang="zh-TW" sz="1157" kern="0">
              <a:solidFill>
                <a:srgbClr val="000000"/>
              </a:solidFill>
              <a:latin typeface="微軟正黑體" panose="020B0604030504040204" pitchFamily="34" charset="-120"/>
              <a:cs typeface="Arial"/>
              <a:sym typeface="Arial"/>
            </a:endParaRPr>
          </a:p>
          <a:p>
            <a:pPr algn="ctr" fontAlgn="base">
              <a:spcBef>
                <a:spcPct val="0"/>
              </a:spcBef>
              <a:spcAft>
                <a:spcPct val="0"/>
              </a:spcAft>
              <a:buFont typeface="Arial"/>
              <a:buNone/>
            </a:pPr>
            <a:r>
              <a:rPr lang="zh-TW" altLang="en-US" sz="1157" kern="0">
                <a:solidFill>
                  <a:srgbClr val="000000"/>
                </a:solidFill>
                <a:latin typeface="微軟正黑體" panose="020B0604030504040204" pitchFamily="34" charset="-120"/>
                <a:cs typeface="Arial"/>
                <a:sym typeface="Arial"/>
              </a:rPr>
              <a:t>公司年報</a:t>
            </a:r>
            <a:endParaRPr lang="en-US" altLang="zh-TW" sz="1157" kern="0">
              <a:solidFill>
                <a:srgbClr val="000000"/>
              </a:solidFill>
              <a:latin typeface="微軟正黑體" panose="020B0604030504040204" pitchFamily="34" charset="-120"/>
              <a:cs typeface="Arial"/>
              <a:sym typeface="Arial"/>
            </a:endParaRPr>
          </a:p>
        </p:txBody>
      </p:sp>
      <p:sp>
        <p:nvSpPr>
          <p:cNvPr id="26" name="文字方塊 25">
            <a:extLst>
              <a:ext uri="{FF2B5EF4-FFF2-40B4-BE49-F238E27FC236}">
                <a16:creationId xmlns:a16="http://schemas.microsoft.com/office/drawing/2014/main" id="{DC48A2ED-F481-48B2-A7A1-61C4A498B8AB}"/>
              </a:ext>
            </a:extLst>
          </p:cNvPr>
          <p:cNvSpPr txBox="1"/>
          <p:nvPr/>
        </p:nvSpPr>
        <p:spPr>
          <a:xfrm>
            <a:off x="9651989" y="5830462"/>
            <a:ext cx="1388304" cy="508795"/>
          </a:xfrm>
          <a:prstGeom prst="roundRect">
            <a:avLst>
              <a:gd name="adj" fmla="val 16667"/>
            </a:avLst>
          </a:prstGeom>
          <a:noFill/>
        </p:spPr>
        <p:txBody>
          <a:bodyPr wrap="none" rtlCol="0">
            <a:noAutofit/>
          </a:bodyPr>
          <a:lstStyle/>
          <a:p>
            <a:pPr algn="ctr" fontAlgn="base">
              <a:spcBef>
                <a:spcPct val="0"/>
              </a:spcBef>
              <a:spcAft>
                <a:spcPct val="0"/>
              </a:spcAft>
              <a:buFont typeface="Arial"/>
              <a:buNone/>
            </a:pPr>
            <a:r>
              <a:rPr lang="zh-TW" altLang="en-US" sz="1157" kern="0">
                <a:solidFill>
                  <a:srgbClr val="000000"/>
                </a:solidFill>
                <a:latin typeface="微軟正黑體" panose="020B0604030504040204" pitchFamily="34" charset="-120"/>
                <a:cs typeface="Arial"/>
                <a:sym typeface="Arial"/>
              </a:rPr>
              <a:t>萬得、</a:t>
            </a:r>
            <a:r>
              <a:rPr lang="en-US" altLang="zh-TW" sz="1157" kern="0">
                <a:solidFill>
                  <a:srgbClr val="000000"/>
                </a:solidFill>
                <a:latin typeface="微軟正黑體" panose="020B0604030504040204" pitchFamily="34" charset="-120"/>
                <a:cs typeface="Arial"/>
                <a:sym typeface="Arial"/>
              </a:rPr>
              <a:t>MIC</a:t>
            </a:r>
            <a:r>
              <a:rPr lang="zh-TW" altLang="en-US" sz="1157" kern="0">
                <a:solidFill>
                  <a:srgbClr val="000000"/>
                </a:solidFill>
                <a:latin typeface="微軟正黑體" panose="020B0604030504040204" pitchFamily="34" charset="-120"/>
                <a:cs typeface="Arial"/>
                <a:sym typeface="Arial"/>
              </a:rPr>
              <a:t>等</a:t>
            </a:r>
            <a:endParaRPr lang="en-US" altLang="zh-TW" sz="1157" kern="0">
              <a:solidFill>
                <a:srgbClr val="000000"/>
              </a:solidFill>
              <a:latin typeface="微軟正黑體" panose="020B0604030504040204" pitchFamily="34" charset="-120"/>
              <a:cs typeface="Arial"/>
              <a:sym typeface="Arial"/>
            </a:endParaRPr>
          </a:p>
          <a:p>
            <a:pPr algn="ctr" fontAlgn="base">
              <a:spcBef>
                <a:spcPct val="0"/>
              </a:spcBef>
              <a:spcAft>
                <a:spcPct val="0"/>
              </a:spcAft>
              <a:buFont typeface="Arial"/>
              <a:buNone/>
            </a:pPr>
            <a:endParaRPr lang="en-US" altLang="zh-TW" sz="1157" kern="0">
              <a:solidFill>
                <a:srgbClr val="000000"/>
              </a:solidFill>
              <a:latin typeface="微軟正黑體" panose="020B0604030504040204" pitchFamily="34" charset="-120"/>
              <a:cs typeface="Arial"/>
              <a:sym typeface="Arial"/>
            </a:endParaRPr>
          </a:p>
          <a:p>
            <a:pPr algn="ctr" fontAlgn="base">
              <a:spcBef>
                <a:spcPct val="0"/>
              </a:spcBef>
              <a:spcAft>
                <a:spcPct val="0"/>
              </a:spcAft>
              <a:buFont typeface="Arial"/>
              <a:buNone/>
            </a:pPr>
            <a:endParaRPr lang="en-US" altLang="zh-TW" sz="1157" kern="0">
              <a:solidFill>
                <a:srgbClr val="000000"/>
              </a:solidFill>
              <a:latin typeface="微軟正黑體" panose="020B0604030504040204" pitchFamily="34" charset="-120"/>
              <a:cs typeface="Arial"/>
              <a:sym typeface="Arial"/>
            </a:endParaRPr>
          </a:p>
        </p:txBody>
      </p:sp>
      <p:sp>
        <p:nvSpPr>
          <p:cNvPr id="27" name="文字方塊 26">
            <a:extLst>
              <a:ext uri="{FF2B5EF4-FFF2-40B4-BE49-F238E27FC236}">
                <a16:creationId xmlns:a16="http://schemas.microsoft.com/office/drawing/2014/main" id="{5AB9DAA1-7A79-4F83-9774-1D93B97840ED}"/>
              </a:ext>
            </a:extLst>
          </p:cNvPr>
          <p:cNvSpPr txBox="1"/>
          <p:nvPr/>
        </p:nvSpPr>
        <p:spPr>
          <a:xfrm>
            <a:off x="3160188" y="5830462"/>
            <a:ext cx="1388304" cy="508795"/>
          </a:xfrm>
          <a:prstGeom prst="roundRect">
            <a:avLst>
              <a:gd name="adj" fmla="val 16667"/>
            </a:avLst>
          </a:prstGeom>
          <a:noFill/>
        </p:spPr>
        <p:txBody>
          <a:bodyPr wrap="none" rtlCol="0">
            <a:noAutofit/>
          </a:bodyPr>
          <a:lstStyle/>
          <a:p>
            <a:pPr algn="ctr" fontAlgn="base">
              <a:spcBef>
                <a:spcPct val="0"/>
              </a:spcBef>
              <a:spcAft>
                <a:spcPct val="0"/>
              </a:spcAft>
              <a:buFont typeface="Arial"/>
              <a:buNone/>
            </a:pPr>
            <a:r>
              <a:rPr lang="zh-TW" altLang="en-US" sz="1157" kern="0">
                <a:solidFill>
                  <a:srgbClr val="000000"/>
                </a:solidFill>
                <a:latin typeface="微軟正黑體" panose="020B0604030504040204" pitchFamily="34" charset="-120"/>
                <a:cs typeface="Arial"/>
                <a:sym typeface="Arial"/>
              </a:rPr>
              <a:t>同業報告</a:t>
            </a:r>
            <a:endParaRPr lang="en-US" altLang="zh-TW" sz="1157" kern="0">
              <a:solidFill>
                <a:srgbClr val="000000"/>
              </a:solidFill>
              <a:latin typeface="微軟正黑體" panose="020B0604030504040204" pitchFamily="34" charset="-120"/>
              <a:cs typeface="Arial"/>
              <a:sym typeface="Arial"/>
            </a:endParaRPr>
          </a:p>
          <a:p>
            <a:pPr algn="ctr" fontAlgn="base">
              <a:spcBef>
                <a:spcPct val="0"/>
              </a:spcBef>
              <a:spcAft>
                <a:spcPct val="0"/>
              </a:spcAft>
              <a:buFont typeface="Arial"/>
              <a:buNone/>
            </a:pPr>
            <a:r>
              <a:rPr lang="zh-TW" altLang="en-US" sz="1157" kern="0">
                <a:solidFill>
                  <a:srgbClr val="000000"/>
                </a:solidFill>
                <a:latin typeface="微軟正黑體" panose="020B0604030504040204" pitchFamily="34" charset="-120"/>
                <a:cs typeface="Arial"/>
                <a:sym typeface="Arial"/>
              </a:rPr>
              <a:t>永豐投顧報告</a:t>
            </a:r>
            <a:endParaRPr lang="en-US" altLang="zh-TW" sz="1157" kern="0">
              <a:solidFill>
                <a:srgbClr val="000000"/>
              </a:solidFill>
              <a:latin typeface="微軟正黑體" panose="020B0604030504040204" pitchFamily="34" charset="-120"/>
              <a:cs typeface="Arial"/>
              <a:sym typeface="Arial"/>
            </a:endParaRPr>
          </a:p>
        </p:txBody>
      </p:sp>
      <p:sp>
        <p:nvSpPr>
          <p:cNvPr id="28" name="文字方塊 27">
            <a:extLst>
              <a:ext uri="{FF2B5EF4-FFF2-40B4-BE49-F238E27FC236}">
                <a16:creationId xmlns:a16="http://schemas.microsoft.com/office/drawing/2014/main" id="{235FC20D-4230-44CA-B503-926196821134}"/>
              </a:ext>
            </a:extLst>
          </p:cNvPr>
          <p:cNvSpPr txBox="1"/>
          <p:nvPr/>
        </p:nvSpPr>
        <p:spPr>
          <a:xfrm>
            <a:off x="996254" y="5830462"/>
            <a:ext cx="1388304" cy="508795"/>
          </a:xfrm>
          <a:prstGeom prst="roundRect">
            <a:avLst>
              <a:gd name="adj" fmla="val 16667"/>
            </a:avLst>
          </a:prstGeom>
          <a:noFill/>
        </p:spPr>
        <p:txBody>
          <a:bodyPr wrap="none" rtlCol="0">
            <a:noAutofit/>
          </a:bodyPr>
          <a:lstStyle/>
          <a:p>
            <a:pPr algn="ctr" fontAlgn="base">
              <a:spcBef>
                <a:spcPct val="0"/>
              </a:spcBef>
              <a:spcAft>
                <a:spcPct val="0"/>
              </a:spcAft>
              <a:buFont typeface="Arial"/>
              <a:buNone/>
            </a:pPr>
            <a:r>
              <a:rPr lang="zh-TW" altLang="en-US" sz="1157" kern="0">
                <a:solidFill>
                  <a:srgbClr val="000000"/>
                </a:solidFill>
                <a:latin typeface="微軟正黑體" panose="020B0604030504040204" pitchFamily="34" charset="-120"/>
                <a:cs typeface="Arial"/>
                <a:sym typeface="Arial"/>
              </a:rPr>
              <a:t>歷史財報數據</a:t>
            </a:r>
            <a:endParaRPr lang="en-US" altLang="zh-TW" sz="1157" kern="0">
              <a:solidFill>
                <a:srgbClr val="000000"/>
              </a:solidFill>
              <a:latin typeface="微軟正黑體" panose="020B0604030504040204" pitchFamily="34" charset="-120"/>
              <a:cs typeface="Arial"/>
              <a:sym typeface="Arial"/>
            </a:endParaRPr>
          </a:p>
          <a:p>
            <a:pPr algn="ctr" fontAlgn="base">
              <a:spcBef>
                <a:spcPct val="0"/>
              </a:spcBef>
              <a:spcAft>
                <a:spcPct val="0"/>
              </a:spcAft>
              <a:buFont typeface="Arial"/>
              <a:buNone/>
            </a:pPr>
            <a:r>
              <a:rPr lang="zh-TW" altLang="en-US" sz="1157" kern="0">
                <a:solidFill>
                  <a:srgbClr val="000000"/>
                </a:solidFill>
                <a:latin typeface="微軟正黑體" panose="020B0604030504040204" pitchFamily="34" charset="-120"/>
                <a:cs typeface="Arial"/>
                <a:sym typeface="Arial"/>
              </a:rPr>
              <a:t>投顧預估數據</a:t>
            </a:r>
            <a:endParaRPr lang="en-US" altLang="zh-TW" sz="1157" kern="0">
              <a:solidFill>
                <a:srgbClr val="000000"/>
              </a:solidFill>
              <a:latin typeface="微軟正黑體" panose="020B0604030504040204" pitchFamily="34" charset="-120"/>
              <a:cs typeface="Arial"/>
              <a:sym typeface="Arial"/>
            </a:endParaRPr>
          </a:p>
        </p:txBody>
      </p:sp>
      <p:sp>
        <p:nvSpPr>
          <p:cNvPr id="29" name="文字方塊 28">
            <a:extLst>
              <a:ext uri="{FF2B5EF4-FFF2-40B4-BE49-F238E27FC236}">
                <a16:creationId xmlns:a16="http://schemas.microsoft.com/office/drawing/2014/main" id="{C6EB4E88-B331-4DB2-9006-E03AFEFFAD9D}"/>
              </a:ext>
            </a:extLst>
          </p:cNvPr>
          <p:cNvSpPr txBox="1"/>
          <p:nvPr/>
        </p:nvSpPr>
        <p:spPr>
          <a:xfrm>
            <a:off x="822716" y="5491512"/>
            <a:ext cx="1735380" cy="347076"/>
          </a:xfrm>
          <a:prstGeom prst="rect">
            <a:avLst/>
          </a:prstGeom>
          <a:solidFill>
            <a:srgbClr val="D6E8FE"/>
          </a:solidFill>
        </p:spPr>
        <p:txBody>
          <a:bodyPr wrap="none" rtlCol="0" anchor="ctr">
            <a:noAutofit/>
          </a:bodyPr>
          <a:lstStyle/>
          <a:p>
            <a:pPr algn="ctr" fontAlgn="base">
              <a:spcBef>
                <a:spcPct val="0"/>
              </a:spcBef>
              <a:spcAft>
                <a:spcPct val="0"/>
              </a:spcAft>
            </a:pPr>
            <a:r>
              <a:rPr lang="zh-TW" altLang="en-US" sz="1543" kern="0">
                <a:solidFill>
                  <a:srgbClr val="000000"/>
                </a:solidFill>
                <a:latin typeface="微軟正黑體" panose="020B0604030504040204" pitchFamily="34" charset="-120"/>
                <a:cs typeface="Arial"/>
                <a:sym typeface="Arial"/>
              </a:rPr>
              <a:t>財報專家</a:t>
            </a:r>
          </a:p>
        </p:txBody>
      </p:sp>
      <p:sp>
        <p:nvSpPr>
          <p:cNvPr id="30" name="文字方塊 29">
            <a:extLst>
              <a:ext uri="{FF2B5EF4-FFF2-40B4-BE49-F238E27FC236}">
                <a16:creationId xmlns:a16="http://schemas.microsoft.com/office/drawing/2014/main" id="{42DCF99E-04E6-47E8-B7CF-9AC1F26397B5}"/>
              </a:ext>
            </a:extLst>
          </p:cNvPr>
          <p:cNvSpPr txBox="1"/>
          <p:nvPr/>
        </p:nvSpPr>
        <p:spPr>
          <a:xfrm>
            <a:off x="2986649" y="5491512"/>
            <a:ext cx="1735380" cy="347076"/>
          </a:xfrm>
          <a:prstGeom prst="rect">
            <a:avLst/>
          </a:prstGeom>
          <a:solidFill>
            <a:srgbClr val="D6E8FE"/>
          </a:solidFill>
        </p:spPr>
        <p:txBody>
          <a:bodyPr wrap="none" rtlCol="0" anchor="ctr">
            <a:noAutofit/>
          </a:bodyPr>
          <a:lstStyle/>
          <a:p>
            <a:pPr algn="ctr" fontAlgn="base">
              <a:spcBef>
                <a:spcPct val="0"/>
              </a:spcBef>
              <a:spcAft>
                <a:spcPct val="0"/>
              </a:spcAft>
            </a:pPr>
            <a:r>
              <a:rPr lang="zh-TW" altLang="en-US" sz="1543" kern="0">
                <a:solidFill>
                  <a:srgbClr val="000000"/>
                </a:solidFill>
                <a:latin typeface="微軟正黑體" panose="020B0604030504040204" pitchFamily="34" charset="-120"/>
                <a:cs typeface="Arial"/>
                <a:sym typeface="Arial"/>
              </a:rPr>
              <a:t>投顧報告專家</a:t>
            </a:r>
          </a:p>
        </p:txBody>
      </p:sp>
      <p:sp>
        <p:nvSpPr>
          <p:cNvPr id="31" name="文字方塊 30">
            <a:extLst>
              <a:ext uri="{FF2B5EF4-FFF2-40B4-BE49-F238E27FC236}">
                <a16:creationId xmlns:a16="http://schemas.microsoft.com/office/drawing/2014/main" id="{E804729E-2C33-41FC-BB67-E0F92B7BB7E5}"/>
              </a:ext>
            </a:extLst>
          </p:cNvPr>
          <p:cNvSpPr txBox="1"/>
          <p:nvPr/>
        </p:nvSpPr>
        <p:spPr>
          <a:xfrm>
            <a:off x="5150583" y="5491512"/>
            <a:ext cx="1735380" cy="347076"/>
          </a:xfrm>
          <a:prstGeom prst="rect">
            <a:avLst/>
          </a:prstGeom>
          <a:solidFill>
            <a:srgbClr val="D6E8FE"/>
          </a:solidFill>
        </p:spPr>
        <p:txBody>
          <a:bodyPr wrap="none" rtlCol="0" anchor="ctr">
            <a:noAutofit/>
          </a:bodyPr>
          <a:lstStyle/>
          <a:p>
            <a:pPr algn="ctr" fontAlgn="base">
              <a:spcBef>
                <a:spcPct val="0"/>
              </a:spcBef>
              <a:spcAft>
                <a:spcPct val="0"/>
              </a:spcAft>
            </a:pPr>
            <a:r>
              <a:rPr lang="zh-TW" altLang="en-US" sz="1543" kern="0">
                <a:solidFill>
                  <a:srgbClr val="000000"/>
                </a:solidFill>
                <a:latin typeface="微軟正黑體" panose="020B0604030504040204" pitchFamily="34" charset="-120"/>
                <a:cs typeface="Arial"/>
                <a:sym typeface="Arial"/>
              </a:rPr>
              <a:t>法說會專家</a:t>
            </a:r>
          </a:p>
        </p:txBody>
      </p:sp>
      <p:sp>
        <p:nvSpPr>
          <p:cNvPr id="32" name="文字方塊 31">
            <a:extLst>
              <a:ext uri="{FF2B5EF4-FFF2-40B4-BE49-F238E27FC236}">
                <a16:creationId xmlns:a16="http://schemas.microsoft.com/office/drawing/2014/main" id="{C763B540-7E2D-4655-A3B1-44D193C14FA0}"/>
              </a:ext>
            </a:extLst>
          </p:cNvPr>
          <p:cNvSpPr txBox="1"/>
          <p:nvPr/>
        </p:nvSpPr>
        <p:spPr>
          <a:xfrm>
            <a:off x="7314516" y="5491512"/>
            <a:ext cx="1735380" cy="347076"/>
          </a:xfrm>
          <a:prstGeom prst="rect">
            <a:avLst/>
          </a:prstGeom>
          <a:solidFill>
            <a:srgbClr val="D6E8FE"/>
          </a:solidFill>
        </p:spPr>
        <p:txBody>
          <a:bodyPr wrap="none" rtlCol="0" anchor="ctr">
            <a:noAutofit/>
          </a:bodyPr>
          <a:lstStyle/>
          <a:p>
            <a:pPr algn="ctr" fontAlgn="base">
              <a:spcBef>
                <a:spcPct val="0"/>
              </a:spcBef>
              <a:spcAft>
                <a:spcPct val="0"/>
              </a:spcAft>
            </a:pPr>
            <a:r>
              <a:rPr lang="zh-TW" altLang="en-US" sz="1543" kern="0">
                <a:solidFill>
                  <a:srgbClr val="000000"/>
                </a:solidFill>
                <a:latin typeface="微軟正黑體" panose="020B0604030504040204" pitchFamily="34" charset="-120"/>
                <a:cs typeface="Arial"/>
                <a:sym typeface="Arial"/>
              </a:rPr>
              <a:t>季報</a:t>
            </a:r>
            <a:r>
              <a:rPr lang="en-US" altLang="zh-TW" sz="1543" kern="0">
                <a:solidFill>
                  <a:srgbClr val="000000"/>
                </a:solidFill>
                <a:latin typeface="微軟正黑體" panose="020B0604030504040204" pitchFamily="34" charset="-120"/>
                <a:cs typeface="Arial"/>
                <a:sym typeface="Arial"/>
              </a:rPr>
              <a:t>/</a:t>
            </a:r>
            <a:r>
              <a:rPr lang="zh-TW" altLang="en-US" sz="1543" kern="0">
                <a:solidFill>
                  <a:srgbClr val="000000"/>
                </a:solidFill>
                <a:latin typeface="微軟正黑體" panose="020B0604030504040204" pitchFamily="34" charset="-120"/>
                <a:cs typeface="Arial"/>
                <a:sym typeface="Arial"/>
              </a:rPr>
              <a:t>年報專家</a:t>
            </a:r>
          </a:p>
        </p:txBody>
      </p:sp>
      <p:sp>
        <p:nvSpPr>
          <p:cNvPr id="33" name="文字方塊 32">
            <a:extLst>
              <a:ext uri="{FF2B5EF4-FFF2-40B4-BE49-F238E27FC236}">
                <a16:creationId xmlns:a16="http://schemas.microsoft.com/office/drawing/2014/main" id="{74F3EC35-4EF2-4C12-B63D-04B005B1ED86}"/>
              </a:ext>
            </a:extLst>
          </p:cNvPr>
          <p:cNvSpPr txBox="1"/>
          <p:nvPr/>
        </p:nvSpPr>
        <p:spPr>
          <a:xfrm>
            <a:off x="9478451" y="5491512"/>
            <a:ext cx="1735380" cy="347076"/>
          </a:xfrm>
          <a:prstGeom prst="rect">
            <a:avLst/>
          </a:prstGeom>
          <a:solidFill>
            <a:srgbClr val="D6E8FE"/>
          </a:solidFill>
        </p:spPr>
        <p:txBody>
          <a:bodyPr wrap="none" rtlCol="0" anchor="ctr">
            <a:noAutofit/>
          </a:bodyPr>
          <a:lstStyle/>
          <a:p>
            <a:pPr algn="ctr" fontAlgn="base">
              <a:spcBef>
                <a:spcPct val="0"/>
              </a:spcBef>
              <a:spcAft>
                <a:spcPct val="0"/>
              </a:spcAft>
            </a:pPr>
            <a:r>
              <a:rPr lang="zh-TW" altLang="en-US" sz="1543" kern="0">
                <a:solidFill>
                  <a:srgbClr val="000000"/>
                </a:solidFill>
                <a:latin typeface="微軟正黑體" panose="020B0604030504040204" pitchFamily="34" charset="-120"/>
                <a:cs typeface="Arial"/>
                <a:sym typeface="Arial"/>
              </a:rPr>
              <a:t>付費資料庫</a:t>
            </a:r>
          </a:p>
        </p:txBody>
      </p:sp>
      <p:sp>
        <p:nvSpPr>
          <p:cNvPr id="34" name="文字方塊 33">
            <a:extLst>
              <a:ext uri="{FF2B5EF4-FFF2-40B4-BE49-F238E27FC236}">
                <a16:creationId xmlns:a16="http://schemas.microsoft.com/office/drawing/2014/main" id="{C868A22A-06C6-4B0E-89BC-A6B636F24EA3}"/>
              </a:ext>
            </a:extLst>
          </p:cNvPr>
          <p:cNvSpPr txBox="1"/>
          <p:nvPr/>
        </p:nvSpPr>
        <p:spPr>
          <a:xfrm>
            <a:off x="6368078" y="4811473"/>
            <a:ext cx="973343" cy="329770"/>
          </a:xfrm>
          <a:prstGeom prst="rect">
            <a:avLst/>
          </a:prstGeom>
          <a:solidFill>
            <a:srgbClr val="FFCCCC"/>
          </a:solidFill>
        </p:spPr>
        <p:txBody>
          <a:bodyPr wrap="none" rtlCol="0">
            <a:spAutoFit/>
          </a:bodyPr>
          <a:lstStyle/>
          <a:p>
            <a:pPr>
              <a:buClr>
                <a:srgbClr val="000000"/>
              </a:buClr>
              <a:buFont typeface="Arial"/>
              <a:buNone/>
            </a:pPr>
            <a:r>
              <a:rPr lang="zh-TW" altLang="en-US" sz="1543" kern="0" dirty="0">
                <a:solidFill>
                  <a:srgbClr val="000000"/>
                </a:solidFill>
                <a:latin typeface="微軟正黑體" panose="020B0604030504040204" pitchFamily="34" charset="-120"/>
                <a:cs typeface="Arial"/>
                <a:sym typeface="Arial"/>
              </a:rPr>
              <a:t>永豐大腦</a:t>
            </a:r>
          </a:p>
        </p:txBody>
      </p:sp>
      <p:pic>
        <p:nvPicPr>
          <p:cNvPr id="35" name="圖片 34">
            <a:extLst>
              <a:ext uri="{FF2B5EF4-FFF2-40B4-BE49-F238E27FC236}">
                <a16:creationId xmlns:a16="http://schemas.microsoft.com/office/drawing/2014/main" id="{22960C3C-DAC7-4CBF-8A30-2E87FF2A2319}"/>
              </a:ext>
            </a:extLst>
          </p:cNvPr>
          <p:cNvPicPr>
            <a:picLocks noChangeAspect="1"/>
          </p:cNvPicPr>
          <p:nvPr/>
        </p:nvPicPr>
        <p:blipFill>
          <a:blip r:embed="rId2"/>
          <a:stretch>
            <a:fillRect/>
          </a:stretch>
        </p:blipFill>
        <p:spPr>
          <a:xfrm>
            <a:off x="5668467" y="4467934"/>
            <a:ext cx="699612" cy="699612"/>
          </a:xfrm>
          <a:prstGeom prst="rect">
            <a:avLst/>
          </a:prstGeom>
        </p:spPr>
      </p:pic>
      <p:cxnSp>
        <p:nvCxnSpPr>
          <p:cNvPr id="36" name="接點: 肘形 35">
            <a:extLst>
              <a:ext uri="{FF2B5EF4-FFF2-40B4-BE49-F238E27FC236}">
                <a16:creationId xmlns:a16="http://schemas.microsoft.com/office/drawing/2014/main" id="{5BAD645E-9E0E-48AD-99AA-AF0EA869B95D}"/>
              </a:ext>
            </a:extLst>
          </p:cNvPr>
          <p:cNvCxnSpPr>
            <a:stCxn id="35" idx="2"/>
            <a:endCxn id="29" idx="0"/>
          </p:cNvCxnSpPr>
          <p:nvPr/>
        </p:nvCxnSpPr>
        <p:spPr bwMode="auto">
          <a:xfrm rot="5400000">
            <a:off x="3692357" y="3165595"/>
            <a:ext cx="323966" cy="4327867"/>
          </a:xfrm>
          <a:prstGeom prst="bentConnector3">
            <a:avLst/>
          </a:prstGeom>
          <a:solidFill>
            <a:srgbClr val="4F81BD"/>
          </a:solidFill>
          <a:ln w="12700" cap="flat" cmpd="sng" algn="ctr">
            <a:solidFill>
              <a:srgbClr val="7CB5FB"/>
            </a:solidFill>
            <a:prstDash val="solid"/>
            <a:round/>
            <a:headEnd type="none" w="med" len="med"/>
            <a:tailEnd type="triangle"/>
          </a:ln>
          <a:effectLst/>
        </p:spPr>
      </p:cxnSp>
      <p:cxnSp>
        <p:nvCxnSpPr>
          <p:cNvPr id="37" name="接點: 肘形 36">
            <a:extLst>
              <a:ext uri="{FF2B5EF4-FFF2-40B4-BE49-F238E27FC236}">
                <a16:creationId xmlns:a16="http://schemas.microsoft.com/office/drawing/2014/main" id="{8DB0A2C7-59D6-45AC-B17A-C7D6F49BAB3A}"/>
              </a:ext>
            </a:extLst>
          </p:cNvPr>
          <p:cNvCxnSpPr>
            <a:cxnSpLocks/>
            <a:stCxn id="35" idx="2"/>
            <a:endCxn id="30" idx="0"/>
          </p:cNvCxnSpPr>
          <p:nvPr/>
        </p:nvCxnSpPr>
        <p:spPr bwMode="auto">
          <a:xfrm rot="5400000">
            <a:off x="4774324" y="4247563"/>
            <a:ext cx="323966" cy="2163933"/>
          </a:xfrm>
          <a:prstGeom prst="bentConnector3">
            <a:avLst>
              <a:gd name="adj1" fmla="val 50000"/>
            </a:avLst>
          </a:prstGeom>
          <a:solidFill>
            <a:srgbClr val="4F81BD"/>
          </a:solidFill>
          <a:ln w="12700" cap="flat" cmpd="sng" algn="ctr">
            <a:solidFill>
              <a:srgbClr val="7CB5FB"/>
            </a:solidFill>
            <a:prstDash val="solid"/>
            <a:round/>
            <a:headEnd type="none" w="med" len="med"/>
            <a:tailEnd type="triangle"/>
          </a:ln>
          <a:effectLst/>
        </p:spPr>
      </p:cxnSp>
      <p:cxnSp>
        <p:nvCxnSpPr>
          <p:cNvPr id="38" name="接點: 肘形 37">
            <a:extLst>
              <a:ext uri="{FF2B5EF4-FFF2-40B4-BE49-F238E27FC236}">
                <a16:creationId xmlns:a16="http://schemas.microsoft.com/office/drawing/2014/main" id="{9147B3DC-E281-466C-B0C5-78B7C2858489}"/>
              </a:ext>
            </a:extLst>
          </p:cNvPr>
          <p:cNvCxnSpPr>
            <a:cxnSpLocks/>
            <a:stCxn id="35" idx="2"/>
            <a:endCxn id="32" idx="0"/>
          </p:cNvCxnSpPr>
          <p:nvPr/>
        </p:nvCxnSpPr>
        <p:spPr bwMode="auto">
          <a:xfrm rot="16200000" flipH="1">
            <a:off x="6938257" y="4247562"/>
            <a:ext cx="323966" cy="2163933"/>
          </a:xfrm>
          <a:prstGeom prst="bentConnector3">
            <a:avLst>
              <a:gd name="adj1" fmla="val 50000"/>
            </a:avLst>
          </a:prstGeom>
          <a:solidFill>
            <a:srgbClr val="4F81BD"/>
          </a:solidFill>
          <a:ln w="12700" cap="flat" cmpd="sng" algn="ctr">
            <a:solidFill>
              <a:srgbClr val="7CB5FB"/>
            </a:solidFill>
            <a:prstDash val="solid"/>
            <a:round/>
            <a:headEnd type="none" w="med" len="med"/>
            <a:tailEnd type="triangle"/>
          </a:ln>
          <a:effectLst/>
        </p:spPr>
      </p:cxnSp>
      <p:cxnSp>
        <p:nvCxnSpPr>
          <p:cNvPr id="39" name="接點: 肘形 38">
            <a:extLst>
              <a:ext uri="{FF2B5EF4-FFF2-40B4-BE49-F238E27FC236}">
                <a16:creationId xmlns:a16="http://schemas.microsoft.com/office/drawing/2014/main" id="{B1B4A27E-3C7F-462A-AFCA-D302740B7906}"/>
              </a:ext>
            </a:extLst>
          </p:cNvPr>
          <p:cNvCxnSpPr>
            <a:cxnSpLocks/>
            <a:stCxn id="35" idx="2"/>
            <a:endCxn id="33" idx="0"/>
          </p:cNvCxnSpPr>
          <p:nvPr/>
        </p:nvCxnSpPr>
        <p:spPr bwMode="auto">
          <a:xfrm rot="16200000" flipH="1">
            <a:off x="8020225" y="3165594"/>
            <a:ext cx="323966" cy="4327869"/>
          </a:xfrm>
          <a:prstGeom prst="bentConnector3">
            <a:avLst>
              <a:gd name="adj1" fmla="val 50000"/>
            </a:avLst>
          </a:prstGeom>
          <a:solidFill>
            <a:srgbClr val="4F81BD"/>
          </a:solidFill>
          <a:ln w="12700" cap="flat" cmpd="sng" algn="ctr">
            <a:solidFill>
              <a:srgbClr val="7CB5FB"/>
            </a:solidFill>
            <a:prstDash val="solid"/>
            <a:round/>
            <a:headEnd type="none" w="med" len="med"/>
            <a:tailEnd type="triangle"/>
          </a:ln>
          <a:effectLst/>
        </p:spPr>
      </p:cxnSp>
      <p:cxnSp>
        <p:nvCxnSpPr>
          <p:cNvPr id="40" name="直線單箭頭接點 39">
            <a:extLst>
              <a:ext uri="{FF2B5EF4-FFF2-40B4-BE49-F238E27FC236}">
                <a16:creationId xmlns:a16="http://schemas.microsoft.com/office/drawing/2014/main" id="{95B6F39E-34D8-4796-943D-8FF894CCD279}"/>
              </a:ext>
            </a:extLst>
          </p:cNvPr>
          <p:cNvCxnSpPr>
            <a:cxnSpLocks/>
            <a:stCxn id="35" idx="2"/>
            <a:endCxn id="31" idx="0"/>
          </p:cNvCxnSpPr>
          <p:nvPr/>
        </p:nvCxnSpPr>
        <p:spPr bwMode="auto">
          <a:xfrm>
            <a:off x="6018273" y="5167546"/>
            <a:ext cx="0" cy="323966"/>
          </a:xfrm>
          <a:prstGeom prst="straightConnector1">
            <a:avLst/>
          </a:prstGeom>
          <a:solidFill>
            <a:srgbClr val="4F81BD"/>
          </a:solidFill>
          <a:ln w="12700" cap="flat" cmpd="sng" algn="ctr">
            <a:solidFill>
              <a:srgbClr val="7CB5FB"/>
            </a:solidFill>
            <a:prstDash val="solid"/>
            <a:round/>
            <a:headEnd type="none" w="med" len="med"/>
            <a:tailEnd type="triangle"/>
          </a:ln>
          <a:effectLst/>
        </p:spPr>
      </p:cxnSp>
    </p:spTree>
    <p:extLst>
      <p:ext uri="{BB962C8B-B14F-4D97-AF65-F5344CB8AC3E}">
        <p14:creationId xmlns:p14="http://schemas.microsoft.com/office/powerpoint/2010/main" val="1260324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07DF56E-9E54-4444-93C4-9ED55592C876}"/>
              </a:ext>
            </a:extLst>
          </p:cNvPr>
          <p:cNvSpPr>
            <a:spLocks noGrp="1"/>
          </p:cNvSpPr>
          <p:nvPr>
            <p:ph type="title"/>
          </p:nvPr>
        </p:nvSpPr>
        <p:spPr>
          <a:xfrm>
            <a:off x="527051" y="162921"/>
            <a:ext cx="11233150" cy="630238"/>
          </a:xfrm>
          <a:prstGeom prst="rect">
            <a:avLst/>
          </a:prstGeom>
        </p:spPr>
        <p:txBody>
          <a:bodyPr/>
          <a:lstStyle/>
          <a:p>
            <a:r>
              <a:rPr lang="zh-TW" altLang="en-US" sz="3200" b="0">
                <a:solidFill>
                  <a:schemeClr val="tx1"/>
                </a:solidFill>
              </a:rPr>
              <a:t>專案範圍</a:t>
            </a:r>
          </a:p>
        </p:txBody>
      </p:sp>
      <p:graphicFrame>
        <p:nvGraphicFramePr>
          <p:cNvPr id="12" name="表格 2">
            <a:extLst>
              <a:ext uri="{FF2B5EF4-FFF2-40B4-BE49-F238E27FC236}">
                <a16:creationId xmlns:a16="http://schemas.microsoft.com/office/drawing/2014/main" id="{AC7A54FB-984A-4BD3-A658-4358928C9A4E}"/>
              </a:ext>
            </a:extLst>
          </p:cNvPr>
          <p:cNvGraphicFramePr>
            <a:graphicFrameLocks noGrp="1"/>
          </p:cNvGraphicFramePr>
          <p:nvPr>
            <p:extLst>
              <p:ext uri="{D42A27DB-BD31-4B8C-83A1-F6EECF244321}">
                <p14:modId xmlns:p14="http://schemas.microsoft.com/office/powerpoint/2010/main" val="1293060536"/>
              </p:ext>
            </p:extLst>
          </p:nvPr>
        </p:nvGraphicFramePr>
        <p:xfrm>
          <a:off x="1034716" y="910605"/>
          <a:ext cx="10106526" cy="5466132"/>
        </p:xfrm>
        <a:graphic>
          <a:graphicData uri="http://schemas.openxmlformats.org/drawingml/2006/table">
            <a:tbl>
              <a:tblPr firstRow="1" bandRow="1">
                <a:tableStyleId>{5C22544A-7EE6-4342-B048-85BDC9FD1C3A}</a:tableStyleId>
              </a:tblPr>
              <a:tblGrid>
                <a:gridCol w="1773645">
                  <a:extLst>
                    <a:ext uri="{9D8B030D-6E8A-4147-A177-3AD203B41FA5}">
                      <a16:colId xmlns:a16="http://schemas.microsoft.com/office/drawing/2014/main" val="20000"/>
                    </a:ext>
                  </a:extLst>
                </a:gridCol>
                <a:gridCol w="8332881">
                  <a:extLst>
                    <a:ext uri="{9D8B030D-6E8A-4147-A177-3AD203B41FA5}">
                      <a16:colId xmlns:a16="http://schemas.microsoft.com/office/drawing/2014/main" val="20001"/>
                    </a:ext>
                  </a:extLst>
                </a:gridCol>
              </a:tblGrid>
              <a:tr h="1463560">
                <a:tc>
                  <a:txBody>
                    <a:bodyPr/>
                    <a:lstStyle/>
                    <a:p>
                      <a:pPr algn="ctr"/>
                      <a:r>
                        <a:rPr kumimoji="0" lang="zh-TW" altLang="en-US" sz="1600" b="1">
                          <a:solidFill>
                            <a:srgbClr val="333F50"/>
                          </a:solidFill>
                          <a:latin typeface="微軟正黑體" pitchFamily="34" charset="-120"/>
                          <a:ea typeface="微軟正黑體" pitchFamily="34" charset="-120"/>
                        </a:rPr>
                        <a:t> 交易前端</a:t>
                      </a:r>
                      <a:endParaRPr lang="zh-TW" altLang="en-US" sz="1600">
                        <a:ln>
                          <a:solidFill>
                            <a:schemeClr val="accent5">
                              <a:lumMod val="50000"/>
                            </a:schemeClr>
                          </a:solidFill>
                        </a:ln>
                      </a:endParaRPr>
                    </a:p>
                  </a:txBody>
                  <a:tcPr marL="93297" marR="93297" marT="46649" marB="46649" anchor="ctr">
                    <a:lnL w="38100" cap="flat" cmpd="sng" algn="ctr">
                      <a:solidFill>
                        <a:srgbClr val="537ABA"/>
                      </a:solidFill>
                      <a:prstDash val="solid"/>
                      <a:round/>
                      <a:headEnd type="none" w="med" len="med"/>
                      <a:tailEnd type="none" w="med" len="med"/>
                    </a:lnL>
                    <a:lnR w="38100" cap="flat" cmpd="sng" algn="ctr">
                      <a:solidFill>
                        <a:srgbClr val="537ABA"/>
                      </a:solidFill>
                      <a:prstDash val="solid"/>
                      <a:round/>
                      <a:headEnd type="none" w="med" len="med"/>
                      <a:tailEnd type="none" w="med" len="med"/>
                    </a:lnR>
                    <a:lnT w="38100" cap="flat" cmpd="sng" algn="ctr">
                      <a:solidFill>
                        <a:srgbClr val="537ABA"/>
                      </a:solidFill>
                      <a:prstDash val="solid"/>
                      <a:round/>
                      <a:headEnd type="none" w="med" len="med"/>
                      <a:tailEnd type="none" w="med" len="med"/>
                    </a:lnT>
                    <a:lnB w="38100" cap="flat" cmpd="sng" algn="ctr">
                      <a:solidFill>
                        <a:srgbClr val="537ABA"/>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endParaRPr lang="zh-TW" altLang="en-US" sz="1800" dirty="0">
                        <a:ln>
                          <a:solidFill>
                            <a:schemeClr val="accent5">
                              <a:lumMod val="50000"/>
                            </a:schemeClr>
                          </a:solidFill>
                        </a:ln>
                      </a:endParaRPr>
                    </a:p>
                  </a:txBody>
                  <a:tcPr marL="93297" marR="93297" marT="46649" marB="46649">
                    <a:lnL w="38100" cap="flat" cmpd="sng" algn="ctr">
                      <a:solidFill>
                        <a:srgbClr val="537ABA"/>
                      </a:solidFill>
                      <a:prstDash val="solid"/>
                      <a:round/>
                      <a:headEnd type="none" w="med" len="med"/>
                      <a:tailEnd type="none" w="med" len="med"/>
                    </a:lnL>
                    <a:lnR w="38100" cap="flat" cmpd="sng" algn="ctr">
                      <a:solidFill>
                        <a:srgbClr val="537ABA"/>
                      </a:solidFill>
                      <a:prstDash val="solid"/>
                      <a:round/>
                      <a:headEnd type="none" w="med" len="med"/>
                      <a:tailEnd type="none" w="med" len="med"/>
                    </a:lnR>
                    <a:lnT w="38100" cap="flat" cmpd="sng" algn="ctr">
                      <a:solidFill>
                        <a:srgbClr val="537ABA"/>
                      </a:solidFill>
                      <a:prstDash val="solid"/>
                      <a:round/>
                      <a:headEnd type="none" w="med" len="med"/>
                      <a:tailEnd type="none" w="med" len="med"/>
                    </a:lnT>
                    <a:lnB w="38100" cap="flat" cmpd="sng" algn="ctr">
                      <a:solidFill>
                        <a:srgbClr val="537AB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105643">
                <a:tc>
                  <a:txBody>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zh-TW" altLang="en-US" sz="1600" b="1">
                          <a:solidFill>
                            <a:srgbClr val="FF0000"/>
                          </a:solidFill>
                          <a:latin typeface="微軟正黑體" pitchFamily="34" charset="-120"/>
                          <a:ea typeface="微軟正黑體" pitchFamily="34" charset="-120"/>
                        </a:rPr>
                        <a:t>主系統</a:t>
                      </a:r>
                    </a:p>
                  </a:txBody>
                  <a:tcPr marL="93297" marR="93297" marT="46649" marB="46649" anchor="ctr">
                    <a:lnL w="38100" cap="flat" cmpd="sng" algn="ctr">
                      <a:solidFill>
                        <a:srgbClr val="537ABA"/>
                      </a:solidFill>
                      <a:prstDash val="solid"/>
                      <a:round/>
                      <a:headEnd type="none" w="med" len="med"/>
                      <a:tailEnd type="none" w="med" len="med"/>
                    </a:lnL>
                    <a:lnR w="38100" cap="flat" cmpd="sng" algn="ctr">
                      <a:solidFill>
                        <a:srgbClr val="537ABA"/>
                      </a:solidFill>
                      <a:prstDash val="solid"/>
                      <a:round/>
                      <a:headEnd type="none" w="med" len="med"/>
                      <a:tailEnd type="none" w="med" len="med"/>
                    </a:lnR>
                    <a:lnT w="38100" cap="flat" cmpd="sng" algn="ctr">
                      <a:solidFill>
                        <a:srgbClr val="537ABA"/>
                      </a:solidFill>
                      <a:prstDash val="solid"/>
                      <a:round/>
                      <a:headEnd type="none" w="med" len="med"/>
                      <a:tailEnd type="none" w="med" len="med"/>
                    </a:lnT>
                    <a:lnB w="38100" cap="flat" cmpd="sng" algn="ctr">
                      <a:solidFill>
                        <a:srgbClr val="537ABA"/>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just" defTabSz="932962" rtl="0" eaLnBrk="1" fontAlgn="auto" latinLnBrk="0" hangingPunct="1">
                        <a:lnSpc>
                          <a:spcPct val="100000"/>
                        </a:lnSpc>
                        <a:spcBef>
                          <a:spcPts val="0"/>
                        </a:spcBef>
                        <a:spcAft>
                          <a:spcPts val="0"/>
                        </a:spcAft>
                        <a:buClr>
                          <a:srgbClr val="000000"/>
                        </a:buClr>
                        <a:buSzPts val="1200"/>
                        <a:buFont typeface="Arial"/>
                        <a:buNone/>
                        <a:tabLst/>
                        <a:defRPr/>
                      </a:pPr>
                      <a:endParaRPr lang="en-US" altLang="zh-TW" sz="1800" kern="1200" dirty="0">
                        <a:solidFill>
                          <a:schemeClr val="tx1"/>
                        </a:solidFill>
                        <a:effectLst/>
                        <a:latin typeface="+mn-lt"/>
                        <a:ea typeface="+mn-ea"/>
                        <a:cs typeface="+mn-cs"/>
                      </a:endParaRPr>
                    </a:p>
                    <a:p>
                      <a:pPr marL="0" marR="0" lvl="0" indent="0" algn="just" defTabSz="932962" rtl="0" eaLnBrk="1" fontAlgn="auto" latinLnBrk="0" hangingPunct="1">
                        <a:lnSpc>
                          <a:spcPct val="100000"/>
                        </a:lnSpc>
                        <a:spcBef>
                          <a:spcPts val="0"/>
                        </a:spcBef>
                        <a:spcAft>
                          <a:spcPts val="0"/>
                        </a:spcAft>
                        <a:buClr>
                          <a:srgbClr val="000000"/>
                        </a:buClr>
                        <a:buSzPts val="1200"/>
                        <a:buFont typeface="Arial"/>
                        <a:buNone/>
                        <a:tabLst/>
                        <a:defRPr/>
                      </a:pPr>
                      <a:endParaRPr lang="en-US" altLang="zh-TW" sz="1800" kern="1200" dirty="0">
                        <a:solidFill>
                          <a:schemeClr val="tx1"/>
                        </a:solidFill>
                        <a:effectLst/>
                        <a:latin typeface="+mn-lt"/>
                        <a:ea typeface="+mn-ea"/>
                        <a:cs typeface="+mn-cs"/>
                      </a:endParaRPr>
                    </a:p>
                    <a:p>
                      <a:pPr marL="0" marR="0" lvl="0" indent="0" algn="just" defTabSz="932962" rtl="0" eaLnBrk="1" fontAlgn="auto" latinLnBrk="0" hangingPunct="1">
                        <a:lnSpc>
                          <a:spcPct val="100000"/>
                        </a:lnSpc>
                        <a:spcBef>
                          <a:spcPts val="0"/>
                        </a:spcBef>
                        <a:spcAft>
                          <a:spcPts val="0"/>
                        </a:spcAft>
                        <a:buClr>
                          <a:srgbClr val="000000"/>
                        </a:buClr>
                        <a:buSzPts val="1200"/>
                        <a:buFont typeface="Arial"/>
                        <a:buNone/>
                        <a:tabLst/>
                        <a:defRPr/>
                      </a:pPr>
                      <a:r>
                        <a:rPr lang="zh-TW" altLang="en-US" sz="1800" kern="1200" dirty="0">
                          <a:solidFill>
                            <a:schemeClr val="tx1"/>
                          </a:solidFill>
                          <a:effectLst/>
                          <a:latin typeface="+mn-lt"/>
                          <a:ea typeface="+mn-ea"/>
                          <a:cs typeface="+mn-cs"/>
                        </a:rPr>
                        <a:t>投顧永豐大腦系統</a:t>
                      </a:r>
                      <a:endParaRPr lang="en-US" altLang="zh-TW" sz="1800" b="0" i="0" u="none" strike="noStrike" kern="1200" cap="none" dirty="0">
                        <a:solidFill>
                          <a:schemeClr val="tx1"/>
                        </a:solidFill>
                        <a:effectLst/>
                        <a:latin typeface="+mn-lt"/>
                        <a:ea typeface="+mn-ea"/>
                        <a:cs typeface="+mn-cs"/>
                        <a:sym typeface="Times New Roman"/>
                      </a:endParaRPr>
                    </a:p>
                    <a:p>
                      <a:pPr marL="342900" marR="0" lvl="0" indent="-342900" algn="just" defTabSz="932962" rtl="0" eaLnBrk="1" fontAlgn="auto" latinLnBrk="0" hangingPunct="1">
                        <a:lnSpc>
                          <a:spcPct val="100000"/>
                        </a:lnSpc>
                        <a:spcBef>
                          <a:spcPts val="0"/>
                        </a:spcBef>
                        <a:spcAft>
                          <a:spcPts val="0"/>
                        </a:spcAft>
                        <a:buClr>
                          <a:srgbClr val="000000"/>
                        </a:buClr>
                        <a:buSzPts val="1200"/>
                        <a:buFont typeface="+mj-lt"/>
                        <a:buAutoNum type="arabicPeriod"/>
                        <a:tabLst/>
                        <a:defRPr/>
                      </a:pPr>
                      <a:r>
                        <a:rPr lang="zh-TW" altLang="en-US" sz="1800" b="0" i="0" u="none" strike="noStrike" kern="1200" cap="none" dirty="0">
                          <a:solidFill>
                            <a:schemeClr val="tx1"/>
                          </a:solidFill>
                          <a:effectLst/>
                          <a:latin typeface="+mn-lt"/>
                          <a:ea typeface="+mn-ea"/>
                          <a:cs typeface="+mn-cs"/>
                          <a:sym typeface="Times New Roman"/>
                        </a:rPr>
                        <a:t>轉入投顧公槽、</a:t>
                      </a:r>
                      <a:r>
                        <a:rPr lang="en-US" altLang="zh-TW" sz="1800" b="0" i="0" u="none" strike="noStrike" kern="1200" cap="none" dirty="0" err="1">
                          <a:solidFill>
                            <a:schemeClr val="tx1"/>
                          </a:solidFill>
                          <a:effectLst/>
                          <a:latin typeface="+mn-lt"/>
                          <a:ea typeface="+mn-ea"/>
                          <a:cs typeface="+mn-cs"/>
                          <a:sym typeface="Times New Roman"/>
                        </a:rPr>
                        <a:t>Cmoney</a:t>
                      </a:r>
                      <a:r>
                        <a:rPr lang="zh-TW" altLang="en-US" sz="1800" b="0" i="0" u="none" strike="noStrike" kern="1200" cap="none" dirty="0">
                          <a:solidFill>
                            <a:schemeClr val="tx1"/>
                          </a:solidFill>
                          <a:effectLst/>
                          <a:latin typeface="+mn-lt"/>
                          <a:ea typeface="+mn-ea"/>
                          <a:cs typeface="+mn-cs"/>
                          <a:sym typeface="Times New Roman"/>
                        </a:rPr>
                        <a:t>、公開觀測資訊站等資料，提供</a:t>
                      </a:r>
                      <a:r>
                        <a:rPr lang="en-US" altLang="zh-TW" sz="1800" b="0" i="0" u="none" strike="noStrike" kern="1200" cap="none" dirty="0">
                          <a:solidFill>
                            <a:schemeClr val="tx1"/>
                          </a:solidFill>
                          <a:effectLst/>
                          <a:latin typeface="+mn-lt"/>
                          <a:ea typeface="+mn-ea"/>
                          <a:cs typeface="+mn-cs"/>
                          <a:sym typeface="Times New Roman"/>
                        </a:rPr>
                        <a:t>AI</a:t>
                      </a:r>
                      <a:r>
                        <a:rPr lang="zh-TW" altLang="en-US" sz="1800" b="0" i="0" u="none" strike="noStrike" kern="1200" cap="none" dirty="0">
                          <a:solidFill>
                            <a:schemeClr val="tx1"/>
                          </a:solidFill>
                          <a:effectLst/>
                          <a:latin typeface="+mn-lt"/>
                          <a:ea typeface="+mn-ea"/>
                          <a:cs typeface="+mn-cs"/>
                          <a:sym typeface="Times New Roman"/>
                        </a:rPr>
                        <a:t>對話等相關功能</a:t>
                      </a:r>
                      <a:endParaRPr lang="en-US" altLang="zh-TW" sz="1800" b="0" i="0" u="none" strike="noStrike" kern="1200" cap="none" dirty="0">
                        <a:solidFill>
                          <a:schemeClr val="tx1"/>
                        </a:solidFill>
                        <a:effectLst/>
                        <a:latin typeface="+mn-lt"/>
                        <a:ea typeface="+mn-ea"/>
                        <a:cs typeface="+mn-cs"/>
                        <a:sym typeface="Times New Roman"/>
                      </a:endParaRPr>
                    </a:p>
                    <a:p>
                      <a:endParaRPr lang="zh-TW" altLang="en-US" sz="1800" dirty="0">
                        <a:ln>
                          <a:solidFill>
                            <a:schemeClr val="accent5">
                              <a:lumMod val="50000"/>
                            </a:schemeClr>
                          </a:solidFill>
                        </a:ln>
                      </a:endParaRPr>
                    </a:p>
                  </a:txBody>
                  <a:tcPr marL="93297" marR="93297" marT="46649" marB="46649">
                    <a:lnL w="38100" cap="flat" cmpd="sng" algn="ctr">
                      <a:solidFill>
                        <a:srgbClr val="537ABA"/>
                      </a:solidFill>
                      <a:prstDash val="solid"/>
                      <a:round/>
                      <a:headEnd type="none" w="med" len="med"/>
                      <a:tailEnd type="none" w="med" len="med"/>
                    </a:lnL>
                    <a:lnR w="38100" cap="flat" cmpd="sng" algn="ctr">
                      <a:solidFill>
                        <a:srgbClr val="537ABA"/>
                      </a:solidFill>
                      <a:prstDash val="solid"/>
                      <a:round/>
                      <a:headEnd type="none" w="med" len="med"/>
                      <a:tailEnd type="none" w="med" len="med"/>
                    </a:lnR>
                    <a:lnT w="38100" cap="flat" cmpd="sng" algn="ctr">
                      <a:solidFill>
                        <a:srgbClr val="537ABA"/>
                      </a:solidFill>
                      <a:prstDash val="solid"/>
                      <a:round/>
                      <a:headEnd type="none" w="med" len="med"/>
                      <a:tailEnd type="none" w="med" len="med"/>
                    </a:lnT>
                    <a:lnB w="38100" cap="flat" cmpd="sng" algn="ctr">
                      <a:solidFill>
                        <a:srgbClr val="537AB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896929">
                <a:tc>
                  <a:txBody>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zh-TW" altLang="en-US" sz="1600" b="1">
                          <a:solidFill>
                            <a:srgbClr val="333F50"/>
                          </a:solidFill>
                          <a:latin typeface="微軟正黑體" pitchFamily="34" charset="-120"/>
                          <a:ea typeface="微軟正黑體" pitchFamily="34" charset="-120"/>
                        </a:rPr>
                        <a:t>後台支援</a:t>
                      </a:r>
                    </a:p>
                  </a:txBody>
                  <a:tcPr marL="93297" marR="93297" marT="46649" marB="46649" anchor="ctr">
                    <a:lnL w="38100" cap="flat" cmpd="sng" algn="ctr">
                      <a:solidFill>
                        <a:srgbClr val="537ABA"/>
                      </a:solidFill>
                      <a:prstDash val="solid"/>
                      <a:round/>
                      <a:headEnd type="none" w="med" len="med"/>
                      <a:tailEnd type="none" w="med" len="med"/>
                    </a:lnL>
                    <a:lnR w="38100" cap="flat" cmpd="sng" algn="ctr">
                      <a:solidFill>
                        <a:srgbClr val="537ABA"/>
                      </a:solidFill>
                      <a:prstDash val="solid"/>
                      <a:round/>
                      <a:headEnd type="none" w="med" len="med"/>
                      <a:tailEnd type="none" w="med" len="med"/>
                    </a:lnR>
                    <a:lnT w="38100" cap="flat" cmpd="sng" algn="ctr">
                      <a:solidFill>
                        <a:srgbClr val="537ABA"/>
                      </a:solidFill>
                      <a:prstDash val="solid"/>
                      <a:round/>
                      <a:headEnd type="none" w="med" len="med"/>
                      <a:tailEnd type="none" w="med" len="med"/>
                    </a:lnT>
                    <a:lnB w="38100" cap="flat" cmpd="sng" algn="ctr">
                      <a:solidFill>
                        <a:srgbClr val="537ABA"/>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endParaRPr lang="zh-TW" altLang="en-US" sz="1800" dirty="0">
                        <a:ln>
                          <a:solidFill>
                            <a:schemeClr val="accent5">
                              <a:lumMod val="50000"/>
                            </a:schemeClr>
                          </a:solidFill>
                        </a:ln>
                      </a:endParaRPr>
                    </a:p>
                  </a:txBody>
                  <a:tcPr marL="93297" marR="93297" marT="46649" marB="46649">
                    <a:lnL w="38100" cap="flat" cmpd="sng" algn="ctr">
                      <a:solidFill>
                        <a:srgbClr val="537ABA"/>
                      </a:solidFill>
                      <a:prstDash val="solid"/>
                      <a:round/>
                      <a:headEnd type="none" w="med" len="med"/>
                      <a:tailEnd type="none" w="med" len="med"/>
                    </a:lnL>
                    <a:lnR w="38100" cap="flat" cmpd="sng" algn="ctr">
                      <a:solidFill>
                        <a:srgbClr val="537ABA"/>
                      </a:solidFill>
                      <a:prstDash val="solid"/>
                      <a:round/>
                      <a:headEnd type="none" w="med" len="med"/>
                      <a:tailEnd type="none" w="med" len="med"/>
                    </a:lnR>
                    <a:lnT w="38100" cap="flat" cmpd="sng" algn="ctr">
                      <a:solidFill>
                        <a:srgbClr val="537ABA"/>
                      </a:solidFill>
                      <a:prstDash val="solid"/>
                      <a:round/>
                      <a:headEnd type="none" w="med" len="med"/>
                      <a:tailEnd type="none" w="med" len="med"/>
                    </a:lnT>
                    <a:lnB w="38100" cap="flat" cmpd="sng" algn="ctr">
                      <a:solidFill>
                        <a:srgbClr val="537AB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171959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07DF56E-9E54-4444-93C4-9ED55592C876}"/>
              </a:ext>
            </a:extLst>
          </p:cNvPr>
          <p:cNvSpPr>
            <a:spLocks noGrp="1"/>
          </p:cNvSpPr>
          <p:nvPr>
            <p:ph type="title"/>
          </p:nvPr>
        </p:nvSpPr>
        <p:spPr>
          <a:xfrm>
            <a:off x="527051" y="149736"/>
            <a:ext cx="11233150" cy="630238"/>
          </a:xfrm>
          <a:prstGeom prst="rect">
            <a:avLst/>
          </a:prstGeom>
        </p:spPr>
        <p:txBody>
          <a:bodyPr/>
          <a:lstStyle/>
          <a:p>
            <a:r>
              <a:rPr lang="zh-TW" altLang="en-US" sz="3200" b="0">
                <a:solidFill>
                  <a:schemeClr val="tx1"/>
                </a:solidFill>
                <a:latin typeface="+mn-ea"/>
                <a:ea typeface="+mn-ea"/>
              </a:rPr>
              <a:t>軟體架構</a:t>
            </a:r>
          </a:p>
        </p:txBody>
      </p:sp>
      <p:sp>
        <p:nvSpPr>
          <p:cNvPr id="3" name="文字方塊 2">
            <a:extLst>
              <a:ext uri="{FF2B5EF4-FFF2-40B4-BE49-F238E27FC236}">
                <a16:creationId xmlns:a16="http://schemas.microsoft.com/office/drawing/2014/main" id="{585AB21B-7283-E672-812A-58C3CFD07705}"/>
              </a:ext>
            </a:extLst>
          </p:cNvPr>
          <p:cNvSpPr txBox="1"/>
          <p:nvPr/>
        </p:nvSpPr>
        <p:spPr>
          <a:xfrm>
            <a:off x="150863" y="3022759"/>
            <a:ext cx="1467068" cy="369332"/>
          </a:xfrm>
          <a:prstGeom prst="rect">
            <a:avLst/>
          </a:prstGeom>
          <a:noFill/>
        </p:spPr>
        <p:txBody>
          <a:bodyPr wrap="none" rtlCol="0">
            <a:spAutoFit/>
          </a:bodyPr>
          <a:lstStyle/>
          <a:p>
            <a:r>
              <a:rPr lang="en-US" altLang="zh-TW" dirty="0">
                <a:latin typeface="+mn-ea"/>
              </a:rPr>
              <a:t>Server Farm</a:t>
            </a:r>
            <a:endParaRPr lang="zh-TW" altLang="en-US" dirty="0">
              <a:latin typeface="+mn-ea"/>
            </a:endParaRPr>
          </a:p>
        </p:txBody>
      </p:sp>
      <p:cxnSp>
        <p:nvCxnSpPr>
          <p:cNvPr id="4" name="直線接點 3">
            <a:extLst>
              <a:ext uri="{FF2B5EF4-FFF2-40B4-BE49-F238E27FC236}">
                <a16:creationId xmlns:a16="http://schemas.microsoft.com/office/drawing/2014/main" id="{21C19DC6-E992-DB30-26E2-5E2EF581DF76}"/>
              </a:ext>
            </a:extLst>
          </p:cNvPr>
          <p:cNvCxnSpPr>
            <a:cxnSpLocks/>
          </p:cNvCxnSpPr>
          <p:nvPr/>
        </p:nvCxnSpPr>
        <p:spPr bwMode="auto">
          <a:xfrm>
            <a:off x="150863" y="3022759"/>
            <a:ext cx="11982416" cy="0"/>
          </a:xfrm>
          <a:prstGeom prst="line">
            <a:avLst/>
          </a:prstGeom>
          <a:solidFill>
            <a:schemeClr val="accent1"/>
          </a:solidFill>
          <a:ln w="19050" cap="flat" cmpd="sng" algn="ctr">
            <a:solidFill>
              <a:schemeClr val="tx1"/>
            </a:solidFill>
            <a:prstDash val="lgDash"/>
            <a:round/>
            <a:headEnd type="none" w="med" len="med"/>
            <a:tailEnd type="none" w="med" len="med"/>
          </a:ln>
          <a:effectLst/>
        </p:spPr>
      </p:cxnSp>
      <p:cxnSp>
        <p:nvCxnSpPr>
          <p:cNvPr id="7" name="直線單箭頭接點 6">
            <a:extLst>
              <a:ext uri="{FF2B5EF4-FFF2-40B4-BE49-F238E27FC236}">
                <a16:creationId xmlns:a16="http://schemas.microsoft.com/office/drawing/2014/main" id="{AF29E5EE-D39A-5EAE-33F5-B7FFFB944C93}"/>
              </a:ext>
            </a:extLst>
          </p:cNvPr>
          <p:cNvCxnSpPr>
            <a:cxnSpLocks/>
            <a:endCxn id="11" idx="1"/>
          </p:cNvCxnSpPr>
          <p:nvPr/>
        </p:nvCxnSpPr>
        <p:spPr bwMode="auto">
          <a:xfrm flipV="1">
            <a:off x="1251317" y="3742371"/>
            <a:ext cx="1577507" cy="262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9" name="矩形 8">
            <a:extLst>
              <a:ext uri="{FF2B5EF4-FFF2-40B4-BE49-F238E27FC236}">
                <a16:creationId xmlns:a16="http://schemas.microsoft.com/office/drawing/2014/main" id="{D055784E-E265-E4A7-569F-682E64BABD3B}"/>
              </a:ext>
            </a:extLst>
          </p:cNvPr>
          <p:cNvSpPr/>
          <p:nvPr/>
        </p:nvSpPr>
        <p:spPr bwMode="auto">
          <a:xfrm>
            <a:off x="476303" y="3562123"/>
            <a:ext cx="1319957" cy="365749"/>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fontAlgn="base">
              <a:spcBef>
                <a:spcPct val="0"/>
              </a:spcBef>
              <a:spcAft>
                <a:spcPct val="0"/>
              </a:spcAft>
            </a:pPr>
            <a:r>
              <a:rPr kumimoji="0" lang="zh-TW" altLang="en-US" sz="1400" normalizeH="0" baseline="0" dirty="0">
                <a:ln>
                  <a:noFill/>
                </a:ln>
                <a:latin typeface="+mn-ea"/>
                <a:sym typeface="Times New Roman"/>
              </a:rPr>
              <a:t>投顧公槽</a:t>
            </a:r>
          </a:p>
        </p:txBody>
      </p:sp>
      <p:sp>
        <p:nvSpPr>
          <p:cNvPr id="11" name="矩形 10">
            <a:extLst>
              <a:ext uri="{FF2B5EF4-FFF2-40B4-BE49-F238E27FC236}">
                <a16:creationId xmlns:a16="http://schemas.microsoft.com/office/drawing/2014/main" id="{BF09B2EC-7E27-D50A-2DB6-79D8E1E7F80E}"/>
              </a:ext>
            </a:extLst>
          </p:cNvPr>
          <p:cNvSpPr/>
          <p:nvPr/>
        </p:nvSpPr>
        <p:spPr bwMode="auto">
          <a:xfrm>
            <a:off x="2828824" y="3494103"/>
            <a:ext cx="1319957" cy="496535"/>
          </a:xfrm>
          <a:prstGeom prst="rect">
            <a:avLst/>
          </a:prstGeom>
          <a:solidFill>
            <a:schemeClr val="accent2">
              <a:lumMod val="20000"/>
              <a:lumOff val="80000"/>
            </a:schemeClr>
          </a:solidFill>
          <a:ln w="12700" cap="flat" cmpd="sng" algn="ctr">
            <a:solidFill>
              <a:schemeClr val="accent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TW" altLang="en-US" sz="1400" b="1" dirty="0">
                <a:latin typeface="+mn-ea"/>
              </a:rPr>
              <a:t>爬蟲程式</a:t>
            </a:r>
          </a:p>
        </p:txBody>
      </p:sp>
      <p:sp>
        <p:nvSpPr>
          <p:cNvPr id="14" name="文字方塊 13">
            <a:extLst>
              <a:ext uri="{FF2B5EF4-FFF2-40B4-BE49-F238E27FC236}">
                <a16:creationId xmlns:a16="http://schemas.microsoft.com/office/drawing/2014/main" id="{85C06B25-6944-0CAD-3204-0505DC62B755}"/>
              </a:ext>
            </a:extLst>
          </p:cNvPr>
          <p:cNvSpPr txBox="1"/>
          <p:nvPr/>
        </p:nvSpPr>
        <p:spPr>
          <a:xfrm>
            <a:off x="1795007" y="3464048"/>
            <a:ext cx="445507" cy="276999"/>
          </a:xfrm>
          <a:prstGeom prst="rect">
            <a:avLst/>
          </a:prstGeom>
          <a:noFill/>
        </p:spPr>
        <p:txBody>
          <a:bodyPr wrap="none" rtlCol="0">
            <a:spAutoFit/>
          </a:bodyPr>
          <a:lstStyle/>
          <a:p>
            <a:r>
              <a:rPr lang="en-US" altLang="zh-TW" sz="1200" dirty="0">
                <a:latin typeface="+mj-ea"/>
                <a:ea typeface="+mj-ea"/>
              </a:rPr>
              <a:t>FTP</a:t>
            </a:r>
          </a:p>
        </p:txBody>
      </p:sp>
      <p:sp>
        <p:nvSpPr>
          <p:cNvPr id="22" name="矩形 21">
            <a:extLst>
              <a:ext uri="{FF2B5EF4-FFF2-40B4-BE49-F238E27FC236}">
                <a16:creationId xmlns:a16="http://schemas.microsoft.com/office/drawing/2014/main" id="{87F38406-CA4A-5A0B-62CE-CB71EF36E663}"/>
              </a:ext>
            </a:extLst>
          </p:cNvPr>
          <p:cNvSpPr/>
          <p:nvPr/>
        </p:nvSpPr>
        <p:spPr bwMode="auto">
          <a:xfrm>
            <a:off x="9919540" y="3558173"/>
            <a:ext cx="1319957" cy="365749"/>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fontAlgn="base">
              <a:spcBef>
                <a:spcPct val="0"/>
              </a:spcBef>
              <a:spcAft>
                <a:spcPct val="0"/>
              </a:spcAft>
            </a:pPr>
            <a:r>
              <a:rPr kumimoji="0" lang="en-US" altLang="zh-TW" sz="1400" normalizeH="0" baseline="0" dirty="0" err="1">
                <a:ln>
                  <a:noFill/>
                </a:ln>
                <a:latin typeface="+mn-ea"/>
                <a:sym typeface="Times New Roman"/>
              </a:rPr>
              <a:t>Cmoney</a:t>
            </a:r>
            <a:r>
              <a:rPr kumimoji="0" lang="en-US" altLang="zh-TW" sz="1400" normalizeH="0" baseline="0" dirty="0">
                <a:ln>
                  <a:noFill/>
                </a:ln>
                <a:latin typeface="+mn-ea"/>
                <a:sym typeface="Times New Roman"/>
              </a:rPr>
              <a:t> DB</a:t>
            </a:r>
          </a:p>
        </p:txBody>
      </p:sp>
      <p:cxnSp>
        <p:nvCxnSpPr>
          <p:cNvPr id="23" name="直線單箭頭接點 22">
            <a:extLst>
              <a:ext uri="{FF2B5EF4-FFF2-40B4-BE49-F238E27FC236}">
                <a16:creationId xmlns:a16="http://schemas.microsoft.com/office/drawing/2014/main" id="{82A7F1B6-103B-E69A-70AC-1FA49F7018D0}"/>
              </a:ext>
            </a:extLst>
          </p:cNvPr>
          <p:cNvCxnSpPr>
            <a:cxnSpLocks/>
            <a:stCxn id="22" idx="1"/>
            <a:endCxn id="5" idx="3"/>
          </p:cNvCxnSpPr>
          <p:nvPr/>
        </p:nvCxnSpPr>
        <p:spPr bwMode="auto">
          <a:xfrm flipH="1">
            <a:off x="9034326" y="3741048"/>
            <a:ext cx="885214" cy="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7" name="矩形 26">
            <a:extLst>
              <a:ext uri="{FF2B5EF4-FFF2-40B4-BE49-F238E27FC236}">
                <a16:creationId xmlns:a16="http://schemas.microsoft.com/office/drawing/2014/main" id="{578C9D21-2211-9BD1-0D6E-1A47093BAD29}"/>
              </a:ext>
            </a:extLst>
          </p:cNvPr>
          <p:cNvSpPr/>
          <p:nvPr/>
        </p:nvSpPr>
        <p:spPr bwMode="auto">
          <a:xfrm>
            <a:off x="2755787" y="1778610"/>
            <a:ext cx="1466031" cy="365749"/>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fontAlgn="base">
              <a:spcBef>
                <a:spcPct val="0"/>
              </a:spcBef>
              <a:spcAft>
                <a:spcPct val="0"/>
              </a:spcAft>
            </a:pPr>
            <a:r>
              <a:rPr kumimoji="0" lang="zh-TW" altLang="en-US" sz="1400" normalizeH="0" baseline="0" dirty="0">
                <a:ln>
                  <a:noFill/>
                </a:ln>
                <a:latin typeface="+mn-ea"/>
                <a:sym typeface="Times New Roman"/>
              </a:rPr>
              <a:t>公開資訊觀測站</a:t>
            </a:r>
          </a:p>
        </p:txBody>
      </p:sp>
      <p:sp>
        <p:nvSpPr>
          <p:cNvPr id="28" name="矩形 27">
            <a:extLst>
              <a:ext uri="{FF2B5EF4-FFF2-40B4-BE49-F238E27FC236}">
                <a16:creationId xmlns:a16="http://schemas.microsoft.com/office/drawing/2014/main" id="{8A5B85D7-CC1C-7D26-6E8B-3F8B3F97F433}"/>
              </a:ext>
            </a:extLst>
          </p:cNvPr>
          <p:cNvSpPr/>
          <p:nvPr/>
        </p:nvSpPr>
        <p:spPr bwMode="auto">
          <a:xfrm>
            <a:off x="4817986" y="1779610"/>
            <a:ext cx="1499688" cy="365749"/>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fontAlgn="base">
              <a:spcBef>
                <a:spcPct val="0"/>
              </a:spcBef>
              <a:spcAft>
                <a:spcPct val="0"/>
              </a:spcAft>
            </a:pPr>
            <a:r>
              <a:rPr kumimoji="0" lang="en-US" altLang="zh-TW" sz="1400" normalizeH="0" baseline="0" dirty="0">
                <a:ln>
                  <a:noFill/>
                </a:ln>
                <a:latin typeface="+mn-ea"/>
                <a:sym typeface="Times New Roman"/>
              </a:rPr>
              <a:t>Azure Open AI</a:t>
            </a:r>
          </a:p>
        </p:txBody>
      </p:sp>
      <p:cxnSp>
        <p:nvCxnSpPr>
          <p:cNvPr id="29" name="直線單箭頭接點 28">
            <a:extLst>
              <a:ext uri="{FF2B5EF4-FFF2-40B4-BE49-F238E27FC236}">
                <a16:creationId xmlns:a16="http://schemas.microsoft.com/office/drawing/2014/main" id="{30E81992-64A9-3D10-77AD-4760154575CC}"/>
              </a:ext>
            </a:extLst>
          </p:cNvPr>
          <p:cNvCxnSpPr>
            <a:cxnSpLocks/>
            <a:stCxn id="27" idx="2"/>
            <a:endCxn id="11" idx="0"/>
          </p:cNvCxnSpPr>
          <p:nvPr/>
        </p:nvCxnSpPr>
        <p:spPr bwMode="auto">
          <a:xfrm>
            <a:off x="3488803" y="2144359"/>
            <a:ext cx="0" cy="134974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2" name="直線單箭頭接點 31">
            <a:extLst>
              <a:ext uri="{FF2B5EF4-FFF2-40B4-BE49-F238E27FC236}">
                <a16:creationId xmlns:a16="http://schemas.microsoft.com/office/drawing/2014/main" id="{283D1F5D-F974-35DA-A465-EA724A61BAD4}"/>
              </a:ext>
            </a:extLst>
          </p:cNvPr>
          <p:cNvCxnSpPr>
            <a:cxnSpLocks/>
            <a:stCxn id="8" idx="0"/>
            <a:endCxn id="28" idx="2"/>
          </p:cNvCxnSpPr>
          <p:nvPr/>
        </p:nvCxnSpPr>
        <p:spPr bwMode="auto">
          <a:xfrm flipH="1" flipV="1">
            <a:off x="5567830" y="2145359"/>
            <a:ext cx="2496" cy="134082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3" name="文字方塊 15">
            <a:extLst>
              <a:ext uri="{FF2B5EF4-FFF2-40B4-BE49-F238E27FC236}">
                <a16:creationId xmlns:a16="http://schemas.microsoft.com/office/drawing/2014/main" id="{8B224209-3FD8-0208-5A49-6AE386A7D01E}"/>
              </a:ext>
            </a:extLst>
          </p:cNvPr>
          <p:cNvSpPr txBox="1">
            <a:spLocks noChangeArrowheads="1"/>
          </p:cNvSpPr>
          <p:nvPr/>
        </p:nvSpPr>
        <p:spPr bwMode="auto">
          <a:xfrm>
            <a:off x="5506527" y="2278310"/>
            <a:ext cx="787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TW" sz="1200" i="0" u="none" strike="noStrike" cap="none" normalizeH="0" baseline="0" dirty="0">
                <a:ln>
                  <a:noFill/>
                </a:ln>
                <a:solidFill>
                  <a:srgbClr val="000000"/>
                </a:solidFill>
                <a:effectLst/>
                <a:latin typeface="Arial" panose="020B0604020202020204" pitchFamily="34" charset="0"/>
                <a:ea typeface="STKaiti" panose="02010600040101010101" pitchFamily="2" charset="-122"/>
                <a:cs typeface="Arial" panose="020B0604020202020204" pitchFamily="34" charset="0"/>
              </a:rPr>
              <a:t>API</a:t>
            </a:r>
            <a:endParaRPr kumimoji="0" lang="en-US" altLang="zh-TW" sz="1800" i="0" u="none" strike="noStrike" cap="none" normalizeH="0" baseline="0" dirty="0">
              <a:ln>
                <a:noFill/>
              </a:ln>
              <a:solidFill>
                <a:schemeClr val="tx1"/>
              </a:solidFill>
              <a:effectLst/>
              <a:latin typeface="Arial" panose="020B0604020202020204" pitchFamily="34" charset="0"/>
            </a:endParaRPr>
          </a:p>
        </p:txBody>
      </p:sp>
      <p:sp>
        <p:nvSpPr>
          <p:cNvPr id="44" name="文字方塊 15">
            <a:extLst>
              <a:ext uri="{FF2B5EF4-FFF2-40B4-BE49-F238E27FC236}">
                <a16:creationId xmlns:a16="http://schemas.microsoft.com/office/drawing/2014/main" id="{FD94908C-2D30-A3DA-0171-8905E288F58E}"/>
              </a:ext>
            </a:extLst>
          </p:cNvPr>
          <p:cNvSpPr txBox="1">
            <a:spLocks noChangeArrowheads="1"/>
          </p:cNvSpPr>
          <p:nvPr/>
        </p:nvSpPr>
        <p:spPr bwMode="auto">
          <a:xfrm>
            <a:off x="3505246" y="2202963"/>
            <a:ext cx="787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defPPr>
              <a:defRPr lang="zh-TW"/>
            </a:defPPr>
            <a:lvl1pPr marR="0" lvl="0" indent="0" eaLnBrk="0" fontAlgn="base" hangingPunct="0">
              <a:lnSpc>
                <a:spcPct val="100000"/>
              </a:lnSpc>
              <a:spcBef>
                <a:spcPct val="0"/>
              </a:spcBef>
              <a:spcAft>
                <a:spcPct val="0"/>
              </a:spcAft>
              <a:buClrTx/>
              <a:buSzTx/>
              <a:buFontTx/>
              <a:buNone/>
              <a:tabLst/>
              <a:defRPr kumimoji="0" sz="1200" i="0" u="none" strike="noStrike" cap="none" normalizeH="0" baseline="0">
                <a:ln>
                  <a:noFill/>
                </a:ln>
                <a:solidFill>
                  <a:srgbClr val="000000"/>
                </a:solidFill>
                <a:effectLst/>
                <a:latin typeface="Arial" panose="020B0604020202020204" pitchFamily="34" charset="0"/>
                <a:ea typeface="STKaiti" panose="02010600040101010101" pitchFamily="2" charset="-122"/>
                <a:cs typeface="Arial" panose="020B0604020202020204" pitchFamily="34" charset="0"/>
              </a:defRPr>
            </a:lvl1pPr>
          </a:lstStyle>
          <a:p>
            <a:r>
              <a:rPr lang="en-US" altLang="zh-TW" dirty="0"/>
              <a:t>WEB</a:t>
            </a:r>
          </a:p>
        </p:txBody>
      </p:sp>
      <p:sp>
        <p:nvSpPr>
          <p:cNvPr id="45" name="矩形 44">
            <a:extLst>
              <a:ext uri="{FF2B5EF4-FFF2-40B4-BE49-F238E27FC236}">
                <a16:creationId xmlns:a16="http://schemas.microsoft.com/office/drawing/2014/main" id="{579CE605-80A2-D4F0-8F9D-96D01C3C74E2}"/>
              </a:ext>
            </a:extLst>
          </p:cNvPr>
          <p:cNvSpPr/>
          <p:nvPr/>
        </p:nvSpPr>
        <p:spPr bwMode="auto">
          <a:xfrm>
            <a:off x="2277908" y="3297386"/>
            <a:ext cx="7085268" cy="2461266"/>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5" name="矩形 4">
            <a:extLst>
              <a:ext uri="{FF2B5EF4-FFF2-40B4-BE49-F238E27FC236}">
                <a16:creationId xmlns:a16="http://schemas.microsoft.com/office/drawing/2014/main" id="{5CB93F27-F0A8-EDC1-F5C9-5059900BAADD}"/>
              </a:ext>
            </a:extLst>
          </p:cNvPr>
          <p:cNvSpPr/>
          <p:nvPr/>
        </p:nvSpPr>
        <p:spPr bwMode="auto">
          <a:xfrm>
            <a:off x="7714369" y="3492781"/>
            <a:ext cx="1319957" cy="496535"/>
          </a:xfrm>
          <a:prstGeom prst="rect">
            <a:avLst/>
          </a:prstGeom>
          <a:solidFill>
            <a:schemeClr val="accent2">
              <a:lumMod val="20000"/>
              <a:lumOff val="80000"/>
            </a:schemeClr>
          </a:solidFill>
          <a:ln w="12700" cap="flat" cmpd="sng" algn="ctr">
            <a:solidFill>
              <a:schemeClr val="accent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en-US" altLang="zh-TW" sz="1400" b="1" dirty="0">
                <a:latin typeface="+mn-ea"/>
              </a:rPr>
              <a:t>AI Agent</a:t>
            </a:r>
            <a:endParaRPr lang="zh-TW" altLang="en-US" sz="1400" b="1" dirty="0">
              <a:latin typeface="+mn-ea"/>
            </a:endParaRPr>
          </a:p>
        </p:txBody>
      </p:sp>
      <p:sp>
        <p:nvSpPr>
          <p:cNvPr id="6" name="矩形 5">
            <a:extLst>
              <a:ext uri="{FF2B5EF4-FFF2-40B4-BE49-F238E27FC236}">
                <a16:creationId xmlns:a16="http://schemas.microsoft.com/office/drawing/2014/main" id="{7E8DF5A0-7BE8-38F7-3C25-06B0D9E56F78}"/>
              </a:ext>
            </a:extLst>
          </p:cNvPr>
          <p:cNvSpPr/>
          <p:nvPr/>
        </p:nvSpPr>
        <p:spPr bwMode="auto">
          <a:xfrm>
            <a:off x="7714369" y="5062171"/>
            <a:ext cx="1319957" cy="496535"/>
          </a:xfrm>
          <a:prstGeom prst="rect">
            <a:avLst/>
          </a:prstGeom>
          <a:solidFill>
            <a:schemeClr val="accent2">
              <a:lumMod val="20000"/>
              <a:lumOff val="80000"/>
            </a:schemeClr>
          </a:solidFill>
          <a:ln w="12700" cap="flat" cmpd="sng" algn="ctr">
            <a:solidFill>
              <a:schemeClr val="accent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TW" altLang="en-US" sz="1400" b="1" dirty="0">
                <a:latin typeface="+mn-ea"/>
              </a:rPr>
              <a:t>向量資料庫</a:t>
            </a:r>
          </a:p>
        </p:txBody>
      </p:sp>
      <p:sp>
        <p:nvSpPr>
          <p:cNvPr id="8" name="矩形 7">
            <a:extLst>
              <a:ext uri="{FF2B5EF4-FFF2-40B4-BE49-F238E27FC236}">
                <a16:creationId xmlns:a16="http://schemas.microsoft.com/office/drawing/2014/main" id="{D55D51FD-1499-1A11-00D2-33817E65CC19}"/>
              </a:ext>
            </a:extLst>
          </p:cNvPr>
          <p:cNvSpPr/>
          <p:nvPr/>
        </p:nvSpPr>
        <p:spPr bwMode="auto">
          <a:xfrm>
            <a:off x="4910347" y="3486179"/>
            <a:ext cx="1319957" cy="496535"/>
          </a:xfrm>
          <a:prstGeom prst="rect">
            <a:avLst/>
          </a:prstGeom>
          <a:solidFill>
            <a:schemeClr val="accent2">
              <a:lumMod val="20000"/>
              <a:lumOff val="80000"/>
            </a:schemeClr>
          </a:solidFill>
          <a:ln w="12700" cap="flat" cmpd="sng" algn="ctr">
            <a:solidFill>
              <a:schemeClr val="accent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TW" altLang="en-US" sz="1400" b="1" dirty="0">
                <a:latin typeface="+mn-ea"/>
              </a:rPr>
              <a:t>轉向量程式</a:t>
            </a:r>
          </a:p>
        </p:txBody>
      </p:sp>
      <p:sp>
        <p:nvSpPr>
          <p:cNvPr id="12" name="文字方塊 11">
            <a:extLst>
              <a:ext uri="{FF2B5EF4-FFF2-40B4-BE49-F238E27FC236}">
                <a16:creationId xmlns:a16="http://schemas.microsoft.com/office/drawing/2014/main" id="{439D7981-9BDA-D4FA-5368-79D2CB5195F6}"/>
              </a:ext>
            </a:extLst>
          </p:cNvPr>
          <p:cNvSpPr txBox="1"/>
          <p:nvPr/>
        </p:nvSpPr>
        <p:spPr>
          <a:xfrm>
            <a:off x="2445093" y="5090557"/>
            <a:ext cx="2087418" cy="646331"/>
          </a:xfrm>
          <a:prstGeom prst="rect">
            <a:avLst/>
          </a:prstGeom>
          <a:noFill/>
        </p:spPr>
        <p:txBody>
          <a:bodyPr wrap="square" rtlCol="0" anchor="ctr">
            <a:spAutoFit/>
          </a:bodyPr>
          <a:lstStyle/>
          <a:p>
            <a:r>
              <a:rPr lang="zh-TW" altLang="en-US" sz="1800" b="1" dirty="0">
                <a:latin typeface="+mn-ea"/>
              </a:rPr>
              <a:t>投顧永豐大腦系統</a:t>
            </a:r>
          </a:p>
          <a:p>
            <a:endParaRPr lang="zh-TW" altLang="en-US" dirty="0"/>
          </a:p>
        </p:txBody>
      </p:sp>
      <p:cxnSp>
        <p:nvCxnSpPr>
          <p:cNvPr id="17" name="直線單箭頭接點 16">
            <a:extLst>
              <a:ext uri="{FF2B5EF4-FFF2-40B4-BE49-F238E27FC236}">
                <a16:creationId xmlns:a16="http://schemas.microsoft.com/office/drawing/2014/main" id="{FDD9F6FE-AFB8-A054-3164-906E3917F2AF}"/>
              </a:ext>
            </a:extLst>
          </p:cNvPr>
          <p:cNvCxnSpPr>
            <a:cxnSpLocks/>
            <a:stCxn id="5" idx="0"/>
            <a:endCxn id="28" idx="2"/>
          </p:cNvCxnSpPr>
          <p:nvPr/>
        </p:nvCxnSpPr>
        <p:spPr bwMode="auto">
          <a:xfrm flipH="1" flipV="1">
            <a:off x="5567830" y="2145359"/>
            <a:ext cx="2806518" cy="134742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3" name="直線單箭頭接點 32">
            <a:extLst>
              <a:ext uri="{FF2B5EF4-FFF2-40B4-BE49-F238E27FC236}">
                <a16:creationId xmlns:a16="http://schemas.microsoft.com/office/drawing/2014/main" id="{AB8E850B-7387-0689-DA8B-A871A3C31A04}"/>
              </a:ext>
            </a:extLst>
          </p:cNvPr>
          <p:cNvCxnSpPr>
            <a:cxnSpLocks/>
            <a:stCxn id="8" idx="2"/>
            <a:endCxn id="6" idx="0"/>
          </p:cNvCxnSpPr>
          <p:nvPr/>
        </p:nvCxnSpPr>
        <p:spPr bwMode="auto">
          <a:xfrm>
            <a:off x="5570326" y="3982714"/>
            <a:ext cx="2804022" cy="107945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6" name="直線單箭頭接點 35">
            <a:extLst>
              <a:ext uri="{FF2B5EF4-FFF2-40B4-BE49-F238E27FC236}">
                <a16:creationId xmlns:a16="http://schemas.microsoft.com/office/drawing/2014/main" id="{3E4F7315-B77C-AF42-D568-2CDDE2E8EA15}"/>
              </a:ext>
            </a:extLst>
          </p:cNvPr>
          <p:cNvCxnSpPr>
            <a:cxnSpLocks/>
            <a:stCxn id="6" idx="0"/>
            <a:endCxn id="5" idx="2"/>
          </p:cNvCxnSpPr>
          <p:nvPr/>
        </p:nvCxnSpPr>
        <p:spPr bwMode="auto">
          <a:xfrm flipV="1">
            <a:off x="8374348" y="3989316"/>
            <a:ext cx="0" cy="107285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nvGrpSpPr>
          <p:cNvPr id="42" name="群組 41">
            <a:extLst>
              <a:ext uri="{FF2B5EF4-FFF2-40B4-BE49-F238E27FC236}">
                <a16:creationId xmlns:a16="http://schemas.microsoft.com/office/drawing/2014/main" id="{622878D9-B0BC-737F-2843-9EDFE507F8DC}"/>
              </a:ext>
            </a:extLst>
          </p:cNvPr>
          <p:cNvGrpSpPr/>
          <p:nvPr/>
        </p:nvGrpSpPr>
        <p:grpSpPr>
          <a:xfrm>
            <a:off x="9625834" y="5557676"/>
            <a:ext cx="691515" cy="737235"/>
            <a:chOff x="0" y="2165614"/>
            <a:chExt cx="940803" cy="1003339"/>
          </a:xfrm>
        </p:grpSpPr>
        <p:pic>
          <p:nvPicPr>
            <p:cNvPr id="46" name="圖形 18" descr="男性形象">
              <a:extLst>
                <a:ext uri="{FF2B5EF4-FFF2-40B4-BE49-F238E27FC236}">
                  <a16:creationId xmlns:a16="http://schemas.microsoft.com/office/drawing/2014/main" id="{A6750C51-03A6-81E5-3265-30E9511F0CC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7251" y="2165614"/>
              <a:ext cx="614618" cy="614618"/>
            </a:xfrm>
            <a:prstGeom prst="rect">
              <a:avLst/>
            </a:prstGeom>
          </p:spPr>
        </p:pic>
        <p:sp>
          <p:nvSpPr>
            <p:cNvPr id="47" name="文字方塊 19">
              <a:extLst>
                <a:ext uri="{FF2B5EF4-FFF2-40B4-BE49-F238E27FC236}">
                  <a16:creationId xmlns:a16="http://schemas.microsoft.com/office/drawing/2014/main" id="{8297E510-E1C5-6024-0088-AAD15BC1EA21}"/>
                </a:ext>
              </a:extLst>
            </p:cNvPr>
            <p:cNvSpPr txBox="1"/>
            <p:nvPr/>
          </p:nvSpPr>
          <p:spPr>
            <a:xfrm>
              <a:off x="0" y="2733539"/>
              <a:ext cx="940803" cy="435414"/>
            </a:xfrm>
            <a:prstGeom prst="rect">
              <a:avLst/>
            </a:prstGeom>
            <a:noFill/>
          </p:spPr>
          <p:txBody>
            <a:bodyPr wrap="none" rtlCol="0">
              <a:spAutoFit/>
            </a:bodyPr>
            <a:lstStyle/>
            <a:p>
              <a:pPr fontAlgn="base"/>
              <a:r>
                <a:rPr lang="zh-TW" sz="1000" b="1" kern="1200" dirty="0">
                  <a:solidFill>
                    <a:srgbClr val="000000"/>
                  </a:solidFill>
                  <a:effectLst/>
                  <a:latin typeface="Calibri" panose="020F0502020204030204" pitchFamily="34" charset="0"/>
                  <a:ea typeface="新細明體" panose="02020500000000000000" pitchFamily="18" charset="-120"/>
                  <a:cs typeface="Times New Roman" panose="02020603050405020304" pitchFamily="18" charset="0"/>
                </a:rPr>
                <a:t>投顧同仁</a:t>
              </a:r>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grpSp>
      <p:cxnSp>
        <p:nvCxnSpPr>
          <p:cNvPr id="48" name="直線單箭頭接點 47">
            <a:extLst>
              <a:ext uri="{FF2B5EF4-FFF2-40B4-BE49-F238E27FC236}">
                <a16:creationId xmlns:a16="http://schemas.microsoft.com/office/drawing/2014/main" id="{AA25C8E3-27FC-612B-4741-1E772C767E55}"/>
              </a:ext>
            </a:extLst>
          </p:cNvPr>
          <p:cNvCxnSpPr>
            <a:cxnSpLocks/>
            <a:stCxn id="5" idx="3"/>
            <a:endCxn id="46" idx="0"/>
          </p:cNvCxnSpPr>
          <p:nvPr/>
        </p:nvCxnSpPr>
        <p:spPr bwMode="auto">
          <a:xfrm>
            <a:off x="9034326" y="3741049"/>
            <a:ext cx="940322" cy="181662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51" name="矩形 50">
            <a:extLst>
              <a:ext uri="{FF2B5EF4-FFF2-40B4-BE49-F238E27FC236}">
                <a16:creationId xmlns:a16="http://schemas.microsoft.com/office/drawing/2014/main" id="{A6977AE9-C22F-9F23-2FB8-AF47A7F870F8}"/>
              </a:ext>
            </a:extLst>
          </p:cNvPr>
          <p:cNvSpPr/>
          <p:nvPr/>
        </p:nvSpPr>
        <p:spPr bwMode="auto">
          <a:xfrm>
            <a:off x="4907851" y="5062171"/>
            <a:ext cx="1319957" cy="496535"/>
          </a:xfrm>
          <a:prstGeom prst="rect">
            <a:avLst/>
          </a:prstGeom>
          <a:solidFill>
            <a:schemeClr val="accent2">
              <a:lumMod val="20000"/>
              <a:lumOff val="80000"/>
            </a:schemeClr>
          </a:solidFill>
          <a:ln w="12700" cap="flat" cmpd="sng" algn="ctr">
            <a:solidFill>
              <a:schemeClr val="accent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en-US" altLang="zh-TW" sz="1400" b="1" dirty="0">
                <a:latin typeface="+mn-ea"/>
              </a:rPr>
              <a:t>MSSQL</a:t>
            </a:r>
            <a:endParaRPr lang="zh-TW" altLang="en-US" sz="1400" b="1" dirty="0">
              <a:latin typeface="+mn-ea"/>
            </a:endParaRPr>
          </a:p>
        </p:txBody>
      </p:sp>
      <p:cxnSp>
        <p:nvCxnSpPr>
          <p:cNvPr id="53" name="直線單箭頭接點 52">
            <a:extLst>
              <a:ext uri="{FF2B5EF4-FFF2-40B4-BE49-F238E27FC236}">
                <a16:creationId xmlns:a16="http://schemas.microsoft.com/office/drawing/2014/main" id="{C2016FD2-29B3-D509-E6B8-3D1A21DB69D9}"/>
              </a:ext>
            </a:extLst>
          </p:cNvPr>
          <p:cNvCxnSpPr>
            <a:cxnSpLocks/>
            <a:stCxn id="8" idx="2"/>
            <a:endCxn id="51" idx="0"/>
          </p:cNvCxnSpPr>
          <p:nvPr/>
        </p:nvCxnSpPr>
        <p:spPr bwMode="auto">
          <a:xfrm flipH="1">
            <a:off x="5567830" y="3982714"/>
            <a:ext cx="2496" cy="107945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6" name="直線單箭頭接點 55">
            <a:extLst>
              <a:ext uri="{FF2B5EF4-FFF2-40B4-BE49-F238E27FC236}">
                <a16:creationId xmlns:a16="http://schemas.microsoft.com/office/drawing/2014/main" id="{2E971357-F994-91D1-2A02-93002DF7A9CE}"/>
              </a:ext>
            </a:extLst>
          </p:cNvPr>
          <p:cNvCxnSpPr>
            <a:cxnSpLocks/>
            <a:stCxn id="5" idx="2"/>
            <a:endCxn id="51" idx="0"/>
          </p:cNvCxnSpPr>
          <p:nvPr/>
        </p:nvCxnSpPr>
        <p:spPr bwMode="auto">
          <a:xfrm flipH="1">
            <a:off x="5567830" y="3989316"/>
            <a:ext cx="2806518" cy="107285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59" name="文字方塊 15">
            <a:extLst>
              <a:ext uri="{FF2B5EF4-FFF2-40B4-BE49-F238E27FC236}">
                <a16:creationId xmlns:a16="http://schemas.microsoft.com/office/drawing/2014/main" id="{BAAB6417-A4AF-2630-132F-EF171A85C675}"/>
              </a:ext>
            </a:extLst>
          </p:cNvPr>
          <p:cNvSpPr txBox="1">
            <a:spLocks noChangeArrowheads="1"/>
          </p:cNvSpPr>
          <p:nvPr/>
        </p:nvSpPr>
        <p:spPr bwMode="auto">
          <a:xfrm>
            <a:off x="1085575" y="1499585"/>
            <a:ext cx="1476712" cy="978550"/>
          </a:xfrm>
          <a:prstGeom prst="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defPPr>
              <a:defRPr lang="zh-TW"/>
            </a:defPPr>
            <a:lvl1pPr algn="ctr" fontAlgn="base">
              <a:spcBef>
                <a:spcPct val="0"/>
              </a:spcBef>
              <a:spcAft>
                <a:spcPct val="0"/>
              </a:spcAft>
              <a:defRPr kumimoji="0" sz="1400" normalizeH="0" baseline="0">
                <a:ln>
                  <a:noFill/>
                </a:ln>
                <a:latin typeface="+mn-ea"/>
              </a:defRPr>
            </a:lvl1pPr>
          </a:lstStyle>
          <a:p>
            <a:pPr algn="l"/>
            <a:r>
              <a:rPr lang="en-US" altLang="zh-TW" dirty="0"/>
              <a:t>1.</a:t>
            </a:r>
            <a:r>
              <a:rPr lang="zh-TW" altLang="en-US" dirty="0"/>
              <a:t> 法說會投影片</a:t>
            </a:r>
            <a:br>
              <a:rPr lang="en-US" altLang="zh-TW" dirty="0"/>
            </a:br>
            <a:r>
              <a:rPr lang="en-US" altLang="zh-TW" dirty="0"/>
              <a:t>2.</a:t>
            </a:r>
            <a:r>
              <a:rPr lang="zh-TW" altLang="en-US" dirty="0"/>
              <a:t> 法說會影音</a:t>
            </a:r>
            <a:endParaRPr lang="en-US" altLang="zh-TW" dirty="0"/>
          </a:p>
          <a:p>
            <a:pPr algn="l"/>
            <a:r>
              <a:rPr lang="en-US" altLang="zh-TW" dirty="0"/>
              <a:t>3.</a:t>
            </a:r>
            <a:r>
              <a:rPr lang="zh-TW" altLang="en-US" dirty="0"/>
              <a:t> 季報</a:t>
            </a:r>
            <a:endParaRPr lang="en-US" altLang="zh-TW" dirty="0"/>
          </a:p>
          <a:p>
            <a:pPr algn="l"/>
            <a:r>
              <a:rPr lang="en-US" altLang="zh-TW" dirty="0"/>
              <a:t>4.</a:t>
            </a:r>
            <a:r>
              <a:rPr lang="zh-TW" altLang="en-US" dirty="0"/>
              <a:t> 年報</a:t>
            </a:r>
            <a:endParaRPr lang="en-US" altLang="zh-TW" dirty="0"/>
          </a:p>
        </p:txBody>
      </p:sp>
      <p:sp>
        <p:nvSpPr>
          <p:cNvPr id="60" name="文字方塊 15">
            <a:extLst>
              <a:ext uri="{FF2B5EF4-FFF2-40B4-BE49-F238E27FC236}">
                <a16:creationId xmlns:a16="http://schemas.microsoft.com/office/drawing/2014/main" id="{E7FB6557-9CAD-338E-B4EF-05A4C40534CA}"/>
              </a:ext>
            </a:extLst>
          </p:cNvPr>
          <p:cNvSpPr txBox="1">
            <a:spLocks noChangeArrowheads="1"/>
          </p:cNvSpPr>
          <p:nvPr/>
        </p:nvSpPr>
        <p:spPr bwMode="auto">
          <a:xfrm>
            <a:off x="6522340" y="1498261"/>
            <a:ext cx="2602838" cy="977783"/>
          </a:xfrm>
          <a:prstGeom prst="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defPPr>
              <a:defRPr lang="zh-TW"/>
            </a:defPPr>
            <a:lvl1pPr algn="ctr" fontAlgn="base">
              <a:spcBef>
                <a:spcPct val="0"/>
              </a:spcBef>
              <a:spcAft>
                <a:spcPct val="0"/>
              </a:spcAft>
              <a:defRPr kumimoji="0" sz="1400" normalizeH="0" baseline="0">
                <a:ln>
                  <a:noFill/>
                </a:ln>
                <a:latin typeface="+mn-ea"/>
              </a:defRPr>
            </a:lvl1pPr>
          </a:lstStyle>
          <a:p>
            <a:pPr algn="l"/>
            <a:r>
              <a:rPr lang="en-US" altLang="zh-TW" dirty="0"/>
              <a:t>1.</a:t>
            </a:r>
            <a:r>
              <a:rPr lang="zh-TW" altLang="en-US" dirty="0"/>
              <a:t> </a:t>
            </a:r>
            <a:r>
              <a:rPr lang="en-US" altLang="zh-TW" dirty="0"/>
              <a:t>gpt-4o</a:t>
            </a:r>
            <a:br>
              <a:rPr lang="en-US" altLang="zh-TW" dirty="0"/>
            </a:br>
            <a:r>
              <a:rPr lang="en-US" altLang="zh-TW" dirty="0"/>
              <a:t>2. gpt-4o-mini</a:t>
            </a:r>
          </a:p>
          <a:p>
            <a:pPr algn="l"/>
            <a:r>
              <a:rPr lang="en-US" altLang="zh-TW" dirty="0"/>
              <a:t>3. text-embedding-3-small</a:t>
            </a:r>
          </a:p>
          <a:p>
            <a:pPr algn="l"/>
            <a:r>
              <a:rPr lang="en-US" altLang="zh-TW" dirty="0"/>
              <a:t>4. whisper</a:t>
            </a:r>
          </a:p>
        </p:txBody>
      </p:sp>
      <p:sp>
        <p:nvSpPr>
          <p:cNvPr id="61" name="文字方塊 15">
            <a:extLst>
              <a:ext uri="{FF2B5EF4-FFF2-40B4-BE49-F238E27FC236}">
                <a16:creationId xmlns:a16="http://schemas.microsoft.com/office/drawing/2014/main" id="{2CAA9D77-1E90-BE71-B974-7431B5F6563A}"/>
              </a:ext>
            </a:extLst>
          </p:cNvPr>
          <p:cNvSpPr txBox="1">
            <a:spLocks noChangeArrowheads="1"/>
          </p:cNvSpPr>
          <p:nvPr/>
        </p:nvSpPr>
        <p:spPr bwMode="auto">
          <a:xfrm>
            <a:off x="9914092" y="4117337"/>
            <a:ext cx="1976912" cy="1252876"/>
          </a:xfrm>
          <a:prstGeom prst="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defPPr>
              <a:defRPr lang="zh-TW"/>
            </a:defPPr>
            <a:lvl1pPr algn="ctr" fontAlgn="base">
              <a:spcBef>
                <a:spcPct val="0"/>
              </a:spcBef>
              <a:spcAft>
                <a:spcPct val="0"/>
              </a:spcAft>
              <a:defRPr kumimoji="0" sz="1400" normalizeH="0" baseline="0">
                <a:ln>
                  <a:noFill/>
                </a:ln>
                <a:latin typeface="+mn-ea"/>
              </a:defRPr>
            </a:lvl1pPr>
          </a:lstStyle>
          <a:p>
            <a:pPr algn="l"/>
            <a:r>
              <a:rPr lang="en-US" altLang="zh-TW" dirty="0"/>
              <a:t>1.</a:t>
            </a:r>
            <a:r>
              <a:rPr lang="zh-TW" altLang="en-US" dirty="0"/>
              <a:t> 主要通貨匯率表</a:t>
            </a:r>
            <a:endParaRPr lang="en-US" altLang="zh-TW" dirty="0"/>
          </a:p>
          <a:p>
            <a:pPr algn="l"/>
            <a:r>
              <a:rPr lang="en-US" altLang="zh-TW" dirty="0"/>
              <a:t>2.</a:t>
            </a:r>
            <a:r>
              <a:rPr lang="zh-TW" altLang="en-US" dirty="0"/>
              <a:t> 年</a:t>
            </a:r>
            <a:r>
              <a:rPr lang="en-US" altLang="zh-TW" dirty="0"/>
              <a:t>IFRS</a:t>
            </a:r>
            <a:r>
              <a:rPr lang="zh-TW" altLang="en-US" dirty="0"/>
              <a:t>財報</a:t>
            </a:r>
            <a:endParaRPr lang="en-US" altLang="zh-TW" dirty="0"/>
          </a:p>
          <a:p>
            <a:pPr algn="l"/>
            <a:r>
              <a:rPr lang="en-US" altLang="zh-TW" dirty="0"/>
              <a:t>3.</a:t>
            </a:r>
            <a:r>
              <a:rPr lang="zh-TW" altLang="en-US" dirty="0"/>
              <a:t> 日收盤還原表排行</a:t>
            </a:r>
            <a:endParaRPr lang="en-US" altLang="zh-TW" dirty="0"/>
          </a:p>
          <a:p>
            <a:pPr algn="l"/>
            <a:r>
              <a:rPr lang="en-US" altLang="zh-TW" dirty="0"/>
              <a:t>4.</a:t>
            </a:r>
            <a:r>
              <a:rPr lang="zh-TW" altLang="en-US" dirty="0"/>
              <a:t> 日法人持股估計</a:t>
            </a:r>
            <a:endParaRPr lang="en-US" altLang="zh-TW" dirty="0"/>
          </a:p>
          <a:p>
            <a:pPr algn="l"/>
            <a:r>
              <a:rPr lang="en-US" altLang="zh-TW" dirty="0"/>
              <a:t>Etc.</a:t>
            </a:r>
          </a:p>
        </p:txBody>
      </p:sp>
      <p:sp>
        <p:nvSpPr>
          <p:cNvPr id="65" name="文字方塊 15">
            <a:extLst>
              <a:ext uri="{FF2B5EF4-FFF2-40B4-BE49-F238E27FC236}">
                <a16:creationId xmlns:a16="http://schemas.microsoft.com/office/drawing/2014/main" id="{2CBDF908-BF5B-DF3D-751C-0E66DB4A8F16}"/>
              </a:ext>
            </a:extLst>
          </p:cNvPr>
          <p:cNvSpPr txBox="1">
            <a:spLocks noChangeArrowheads="1"/>
          </p:cNvSpPr>
          <p:nvPr/>
        </p:nvSpPr>
        <p:spPr bwMode="auto">
          <a:xfrm>
            <a:off x="4920041" y="4053955"/>
            <a:ext cx="71490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defPPr>
              <a:defRPr lang="zh-TW"/>
            </a:defPPr>
            <a:lvl1pPr marR="0" lvl="0" indent="0" eaLnBrk="0" fontAlgn="base" hangingPunct="0">
              <a:lnSpc>
                <a:spcPct val="100000"/>
              </a:lnSpc>
              <a:spcBef>
                <a:spcPct val="0"/>
              </a:spcBef>
              <a:spcAft>
                <a:spcPct val="0"/>
              </a:spcAft>
              <a:buClrTx/>
              <a:buSzTx/>
              <a:buFontTx/>
              <a:buNone/>
              <a:tabLst/>
              <a:defRPr kumimoji="0" sz="1200" i="0" u="none" strike="noStrike" cap="none" normalizeH="0" baseline="0">
                <a:ln>
                  <a:noFill/>
                </a:ln>
                <a:solidFill>
                  <a:srgbClr val="000000"/>
                </a:solidFill>
                <a:effectLst/>
                <a:latin typeface="Arial" panose="020B0604020202020204" pitchFamily="34" charset="0"/>
                <a:ea typeface="STKaiti" panose="02010600040101010101" pitchFamily="2" charset="-122"/>
                <a:cs typeface="Arial" panose="020B0604020202020204" pitchFamily="34" charset="0"/>
              </a:defRPr>
            </a:lvl1pPr>
          </a:lstStyle>
          <a:p>
            <a:r>
              <a:rPr lang="zh-TW" altLang="en-US" dirty="0">
                <a:latin typeface="+mj-ea"/>
                <a:ea typeface="+mj-ea"/>
              </a:rPr>
              <a:t>純文字</a:t>
            </a:r>
            <a:endParaRPr lang="en-US" altLang="zh-TW" dirty="0">
              <a:latin typeface="+mj-ea"/>
              <a:ea typeface="+mj-ea"/>
            </a:endParaRPr>
          </a:p>
        </p:txBody>
      </p:sp>
      <p:sp>
        <p:nvSpPr>
          <p:cNvPr id="66" name="文字方塊 15">
            <a:extLst>
              <a:ext uri="{FF2B5EF4-FFF2-40B4-BE49-F238E27FC236}">
                <a16:creationId xmlns:a16="http://schemas.microsoft.com/office/drawing/2014/main" id="{2C85228C-A1F8-F2E9-A68A-6597324D42B3}"/>
              </a:ext>
            </a:extLst>
          </p:cNvPr>
          <p:cNvSpPr txBox="1">
            <a:spLocks noChangeArrowheads="1"/>
          </p:cNvSpPr>
          <p:nvPr/>
        </p:nvSpPr>
        <p:spPr bwMode="auto">
          <a:xfrm>
            <a:off x="6105025" y="4032925"/>
            <a:ext cx="83463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en-US" sz="1200" i="0" u="none" strike="noStrike" cap="none" normalizeH="0" baseline="0" dirty="0">
                <a:ln>
                  <a:noFill/>
                </a:ln>
                <a:solidFill>
                  <a:srgbClr val="000000"/>
                </a:solidFill>
                <a:effectLst/>
                <a:latin typeface="+mj-ea"/>
                <a:ea typeface="+mj-ea"/>
                <a:cs typeface="Arial" panose="020B0604020202020204" pitchFamily="34" charset="0"/>
              </a:rPr>
              <a:t>向量資料</a:t>
            </a:r>
            <a:endParaRPr kumimoji="0" lang="en-US" altLang="zh-TW" sz="1800" i="0" u="none" strike="noStrike" cap="none" normalizeH="0" baseline="0" dirty="0">
              <a:ln>
                <a:noFill/>
              </a:ln>
              <a:solidFill>
                <a:schemeClr val="tx1"/>
              </a:solidFill>
              <a:effectLst/>
              <a:latin typeface="+mj-ea"/>
              <a:ea typeface="+mj-ea"/>
            </a:endParaRPr>
          </a:p>
        </p:txBody>
      </p:sp>
      <p:sp>
        <p:nvSpPr>
          <p:cNvPr id="67" name="文字方塊 15">
            <a:extLst>
              <a:ext uri="{FF2B5EF4-FFF2-40B4-BE49-F238E27FC236}">
                <a16:creationId xmlns:a16="http://schemas.microsoft.com/office/drawing/2014/main" id="{372ECBAC-93D7-8E86-0811-F6FA569A48ED}"/>
              </a:ext>
            </a:extLst>
          </p:cNvPr>
          <p:cNvSpPr txBox="1">
            <a:spLocks noChangeArrowheads="1"/>
          </p:cNvSpPr>
          <p:nvPr/>
        </p:nvSpPr>
        <p:spPr bwMode="auto">
          <a:xfrm>
            <a:off x="8401361" y="4015675"/>
            <a:ext cx="83463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en-US" sz="1200" i="0" u="none" strike="noStrike" cap="none" normalizeH="0" baseline="0" dirty="0">
                <a:ln>
                  <a:noFill/>
                </a:ln>
                <a:solidFill>
                  <a:srgbClr val="000000"/>
                </a:solidFill>
                <a:effectLst/>
                <a:latin typeface="+mj-ea"/>
                <a:ea typeface="+mj-ea"/>
                <a:cs typeface="Arial" panose="020B0604020202020204" pitchFamily="34" charset="0"/>
              </a:rPr>
              <a:t>向量資料</a:t>
            </a:r>
            <a:endParaRPr kumimoji="0" lang="en-US" altLang="zh-TW" sz="1800" i="0" u="none" strike="noStrike" cap="none" normalizeH="0" baseline="0" dirty="0">
              <a:ln>
                <a:noFill/>
              </a:ln>
              <a:solidFill>
                <a:schemeClr val="tx1"/>
              </a:solidFill>
              <a:effectLst/>
              <a:latin typeface="+mj-ea"/>
              <a:ea typeface="+mj-ea"/>
            </a:endParaRPr>
          </a:p>
        </p:txBody>
      </p:sp>
      <p:sp>
        <p:nvSpPr>
          <p:cNvPr id="68" name="文字方塊 15">
            <a:extLst>
              <a:ext uri="{FF2B5EF4-FFF2-40B4-BE49-F238E27FC236}">
                <a16:creationId xmlns:a16="http://schemas.microsoft.com/office/drawing/2014/main" id="{1EC8D133-0802-B25F-04BE-102CFF16D56F}"/>
              </a:ext>
            </a:extLst>
          </p:cNvPr>
          <p:cNvSpPr txBox="1">
            <a:spLocks noChangeArrowheads="1"/>
          </p:cNvSpPr>
          <p:nvPr/>
        </p:nvSpPr>
        <p:spPr bwMode="auto">
          <a:xfrm>
            <a:off x="7036953" y="4032925"/>
            <a:ext cx="83463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zh-TW" altLang="en-US" sz="1200" dirty="0">
                <a:solidFill>
                  <a:srgbClr val="000000"/>
                </a:solidFill>
                <a:latin typeface="+mj-ea"/>
                <a:ea typeface="+mj-ea"/>
                <a:cs typeface="Arial" panose="020B0604020202020204" pitchFamily="34" charset="0"/>
              </a:rPr>
              <a:t>問答紀錄</a:t>
            </a:r>
            <a:endParaRPr kumimoji="0" lang="en-US" altLang="zh-TW" sz="1800" i="0" u="none" strike="noStrike" cap="none" normalizeH="0" baseline="0" dirty="0">
              <a:ln>
                <a:noFill/>
              </a:ln>
              <a:solidFill>
                <a:schemeClr val="tx1"/>
              </a:solidFill>
              <a:effectLst/>
              <a:latin typeface="+mj-ea"/>
              <a:ea typeface="+mj-ea"/>
            </a:endParaRPr>
          </a:p>
        </p:txBody>
      </p:sp>
    </p:spTree>
    <p:extLst>
      <p:ext uri="{BB962C8B-B14F-4D97-AF65-F5344CB8AC3E}">
        <p14:creationId xmlns:p14="http://schemas.microsoft.com/office/powerpoint/2010/main" val="2261107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8E852-1914-A281-736A-9486FB2485CA}"/>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165CF760-5D7F-5F67-8764-A1B2173C5C76}"/>
              </a:ext>
            </a:extLst>
          </p:cNvPr>
          <p:cNvSpPr>
            <a:spLocks noGrp="1"/>
          </p:cNvSpPr>
          <p:nvPr>
            <p:ph type="title"/>
          </p:nvPr>
        </p:nvSpPr>
        <p:spPr>
          <a:xfrm>
            <a:off x="527051" y="149736"/>
            <a:ext cx="11233150" cy="630238"/>
          </a:xfrm>
          <a:prstGeom prst="rect">
            <a:avLst/>
          </a:prstGeom>
        </p:spPr>
        <p:txBody>
          <a:bodyPr/>
          <a:lstStyle/>
          <a:p>
            <a:r>
              <a:rPr lang="zh-TW" altLang="en-US" sz="3200" b="0" dirty="0">
                <a:solidFill>
                  <a:schemeClr val="tx1"/>
                </a:solidFill>
                <a:latin typeface="+mn-ea"/>
                <a:ea typeface="+mn-ea"/>
              </a:rPr>
              <a:t>軟體架構</a:t>
            </a:r>
          </a:p>
        </p:txBody>
      </p:sp>
      <p:cxnSp>
        <p:nvCxnSpPr>
          <p:cNvPr id="7" name="直線單箭頭接點 6">
            <a:extLst>
              <a:ext uri="{FF2B5EF4-FFF2-40B4-BE49-F238E27FC236}">
                <a16:creationId xmlns:a16="http://schemas.microsoft.com/office/drawing/2014/main" id="{A7B77B6C-7DC8-082F-C117-43602009837F}"/>
              </a:ext>
            </a:extLst>
          </p:cNvPr>
          <p:cNvCxnSpPr>
            <a:cxnSpLocks/>
            <a:stCxn id="9" idx="3"/>
            <a:endCxn id="15" idx="1"/>
          </p:cNvCxnSpPr>
          <p:nvPr/>
        </p:nvCxnSpPr>
        <p:spPr bwMode="auto">
          <a:xfrm flipV="1">
            <a:off x="2940802" y="2864478"/>
            <a:ext cx="2218652" cy="96656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9" name="矩形 8">
            <a:extLst>
              <a:ext uri="{FF2B5EF4-FFF2-40B4-BE49-F238E27FC236}">
                <a16:creationId xmlns:a16="http://schemas.microsoft.com/office/drawing/2014/main" id="{D95C1901-ABCC-1C12-ED8D-D094298ACF8C}"/>
              </a:ext>
            </a:extLst>
          </p:cNvPr>
          <p:cNvSpPr/>
          <p:nvPr/>
        </p:nvSpPr>
        <p:spPr bwMode="auto">
          <a:xfrm>
            <a:off x="1474771" y="3648166"/>
            <a:ext cx="1466031" cy="365749"/>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fontAlgn="base">
              <a:spcBef>
                <a:spcPct val="0"/>
              </a:spcBef>
              <a:spcAft>
                <a:spcPct val="0"/>
              </a:spcAft>
            </a:pPr>
            <a:r>
              <a:rPr kumimoji="0" lang="zh-TW" altLang="en-US" sz="1400" normalizeH="0" baseline="0" dirty="0">
                <a:ln>
                  <a:noFill/>
                </a:ln>
                <a:latin typeface="+mn-ea"/>
                <a:sym typeface="Times New Roman"/>
              </a:rPr>
              <a:t>投顧公槽</a:t>
            </a:r>
          </a:p>
        </p:txBody>
      </p:sp>
      <p:sp>
        <p:nvSpPr>
          <p:cNvPr id="14" name="文字方塊 13">
            <a:extLst>
              <a:ext uri="{FF2B5EF4-FFF2-40B4-BE49-F238E27FC236}">
                <a16:creationId xmlns:a16="http://schemas.microsoft.com/office/drawing/2014/main" id="{373F5345-AD8C-CE25-A006-C0745E5EE1C8}"/>
              </a:ext>
            </a:extLst>
          </p:cNvPr>
          <p:cNvSpPr txBox="1"/>
          <p:nvPr/>
        </p:nvSpPr>
        <p:spPr>
          <a:xfrm>
            <a:off x="3394109" y="3626442"/>
            <a:ext cx="445507" cy="276999"/>
          </a:xfrm>
          <a:prstGeom prst="rect">
            <a:avLst/>
          </a:prstGeom>
          <a:noFill/>
        </p:spPr>
        <p:txBody>
          <a:bodyPr wrap="none" rtlCol="0">
            <a:spAutoFit/>
          </a:bodyPr>
          <a:lstStyle/>
          <a:p>
            <a:r>
              <a:rPr lang="en-US" altLang="zh-TW" sz="1200" dirty="0">
                <a:latin typeface="+mj-ea"/>
                <a:ea typeface="+mj-ea"/>
              </a:rPr>
              <a:t>FTP</a:t>
            </a:r>
          </a:p>
        </p:txBody>
      </p:sp>
      <p:sp>
        <p:nvSpPr>
          <p:cNvPr id="22" name="矩形 21">
            <a:extLst>
              <a:ext uri="{FF2B5EF4-FFF2-40B4-BE49-F238E27FC236}">
                <a16:creationId xmlns:a16="http://schemas.microsoft.com/office/drawing/2014/main" id="{EEF710BC-0DF6-FF39-321B-BE712E8A194A}"/>
              </a:ext>
            </a:extLst>
          </p:cNvPr>
          <p:cNvSpPr/>
          <p:nvPr/>
        </p:nvSpPr>
        <p:spPr bwMode="auto">
          <a:xfrm>
            <a:off x="1474771" y="1684194"/>
            <a:ext cx="1466031" cy="365749"/>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fontAlgn="base">
              <a:spcBef>
                <a:spcPct val="0"/>
              </a:spcBef>
              <a:spcAft>
                <a:spcPct val="0"/>
              </a:spcAft>
            </a:pPr>
            <a:r>
              <a:rPr kumimoji="0" lang="en-US" altLang="zh-TW" sz="1400" normalizeH="0" baseline="0" dirty="0" err="1">
                <a:ln>
                  <a:noFill/>
                </a:ln>
                <a:latin typeface="+mn-ea"/>
                <a:sym typeface="Times New Roman"/>
              </a:rPr>
              <a:t>Cmoney</a:t>
            </a:r>
            <a:r>
              <a:rPr kumimoji="0" lang="en-US" altLang="zh-TW" sz="1400" normalizeH="0" baseline="0" dirty="0">
                <a:ln>
                  <a:noFill/>
                </a:ln>
                <a:latin typeface="+mn-ea"/>
                <a:sym typeface="Times New Roman"/>
              </a:rPr>
              <a:t> DB</a:t>
            </a:r>
          </a:p>
        </p:txBody>
      </p:sp>
      <p:cxnSp>
        <p:nvCxnSpPr>
          <p:cNvPr id="23" name="直線單箭頭接點 22">
            <a:extLst>
              <a:ext uri="{FF2B5EF4-FFF2-40B4-BE49-F238E27FC236}">
                <a16:creationId xmlns:a16="http://schemas.microsoft.com/office/drawing/2014/main" id="{66B9F7AB-AEAF-7614-933F-13FC2298441C}"/>
              </a:ext>
            </a:extLst>
          </p:cNvPr>
          <p:cNvCxnSpPr>
            <a:cxnSpLocks/>
            <a:stCxn id="22" idx="3"/>
            <a:endCxn id="13" idx="1"/>
          </p:cNvCxnSpPr>
          <p:nvPr/>
        </p:nvCxnSpPr>
        <p:spPr bwMode="auto">
          <a:xfrm>
            <a:off x="2940802" y="1867069"/>
            <a:ext cx="2217099" cy="186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7" name="矩形 26">
            <a:extLst>
              <a:ext uri="{FF2B5EF4-FFF2-40B4-BE49-F238E27FC236}">
                <a16:creationId xmlns:a16="http://schemas.microsoft.com/office/drawing/2014/main" id="{CC7CAC62-EB22-125B-56F7-FDAA8D2510DC}"/>
              </a:ext>
            </a:extLst>
          </p:cNvPr>
          <p:cNvSpPr/>
          <p:nvPr/>
        </p:nvSpPr>
        <p:spPr bwMode="auto">
          <a:xfrm>
            <a:off x="1474771" y="4798882"/>
            <a:ext cx="1466031" cy="365749"/>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fontAlgn="base">
              <a:spcBef>
                <a:spcPct val="0"/>
              </a:spcBef>
              <a:spcAft>
                <a:spcPct val="0"/>
              </a:spcAft>
            </a:pPr>
            <a:r>
              <a:rPr kumimoji="0" lang="zh-TW" altLang="en-US" sz="1400" normalizeH="0" baseline="0" dirty="0">
                <a:ln>
                  <a:noFill/>
                </a:ln>
                <a:latin typeface="+mn-ea"/>
                <a:sym typeface="Times New Roman"/>
              </a:rPr>
              <a:t>公開資訊觀測站</a:t>
            </a:r>
          </a:p>
        </p:txBody>
      </p:sp>
      <p:sp>
        <p:nvSpPr>
          <p:cNvPr id="28" name="矩形 27">
            <a:extLst>
              <a:ext uri="{FF2B5EF4-FFF2-40B4-BE49-F238E27FC236}">
                <a16:creationId xmlns:a16="http://schemas.microsoft.com/office/drawing/2014/main" id="{CA6E411D-7232-6EDA-E1E3-1E777C23F747}"/>
              </a:ext>
            </a:extLst>
          </p:cNvPr>
          <p:cNvSpPr/>
          <p:nvPr/>
        </p:nvSpPr>
        <p:spPr bwMode="auto">
          <a:xfrm>
            <a:off x="8738347" y="4216450"/>
            <a:ext cx="1499688" cy="365749"/>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fontAlgn="base">
              <a:spcBef>
                <a:spcPct val="0"/>
              </a:spcBef>
              <a:spcAft>
                <a:spcPct val="0"/>
              </a:spcAft>
            </a:pPr>
            <a:r>
              <a:rPr kumimoji="0" lang="en-US" altLang="zh-TW" sz="1400" normalizeH="0" baseline="0" dirty="0">
                <a:ln>
                  <a:noFill/>
                </a:ln>
                <a:latin typeface="+mn-ea"/>
                <a:sym typeface="Times New Roman"/>
              </a:rPr>
              <a:t>Azure Open AI</a:t>
            </a:r>
          </a:p>
        </p:txBody>
      </p:sp>
      <p:cxnSp>
        <p:nvCxnSpPr>
          <p:cNvPr id="29" name="直線單箭頭接點 28">
            <a:extLst>
              <a:ext uri="{FF2B5EF4-FFF2-40B4-BE49-F238E27FC236}">
                <a16:creationId xmlns:a16="http://schemas.microsoft.com/office/drawing/2014/main" id="{4B06D179-5509-7436-3D00-3C77682F7FD6}"/>
              </a:ext>
            </a:extLst>
          </p:cNvPr>
          <p:cNvCxnSpPr>
            <a:cxnSpLocks/>
            <a:stCxn id="27" idx="3"/>
            <a:endCxn id="18" idx="1"/>
          </p:cNvCxnSpPr>
          <p:nvPr/>
        </p:nvCxnSpPr>
        <p:spPr bwMode="auto">
          <a:xfrm>
            <a:off x="2940802" y="4981757"/>
            <a:ext cx="2217099"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3" name="文字方塊 15">
            <a:extLst>
              <a:ext uri="{FF2B5EF4-FFF2-40B4-BE49-F238E27FC236}">
                <a16:creationId xmlns:a16="http://schemas.microsoft.com/office/drawing/2014/main" id="{85D2CDCD-A5F1-DE20-3C43-0826D0999A02}"/>
              </a:ext>
            </a:extLst>
          </p:cNvPr>
          <p:cNvSpPr txBox="1">
            <a:spLocks noChangeArrowheads="1"/>
          </p:cNvSpPr>
          <p:nvPr/>
        </p:nvSpPr>
        <p:spPr bwMode="auto">
          <a:xfrm>
            <a:off x="8709417" y="3873336"/>
            <a:ext cx="787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TW" sz="1200" i="0" u="none" strike="noStrike" cap="none" normalizeH="0" baseline="0" dirty="0">
                <a:ln>
                  <a:noFill/>
                </a:ln>
                <a:solidFill>
                  <a:srgbClr val="000000"/>
                </a:solidFill>
                <a:effectLst/>
                <a:latin typeface="Arial" panose="020B0604020202020204" pitchFamily="34" charset="0"/>
                <a:ea typeface="STKaiti" panose="02010600040101010101" pitchFamily="2" charset="-122"/>
                <a:cs typeface="Arial" panose="020B0604020202020204" pitchFamily="34" charset="0"/>
              </a:rPr>
              <a:t>API</a:t>
            </a:r>
            <a:endParaRPr kumimoji="0" lang="en-US" altLang="zh-TW" sz="1800" i="0" u="none" strike="noStrike" cap="none" normalizeH="0" baseline="0" dirty="0">
              <a:ln>
                <a:noFill/>
              </a:ln>
              <a:solidFill>
                <a:schemeClr val="tx1"/>
              </a:solidFill>
              <a:effectLst/>
              <a:latin typeface="Arial" panose="020B0604020202020204" pitchFamily="34" charset="0"/>
            </a:endParaRPr>
          </a:p>
        </p:txBody>
      </p:sp>
      <p:sp>
        <p:nvSpPr>
          <p:cNvPr id="44" name="文字方塊 15">
            <a:extLst>
              <a:ext uri="{FF2B5EF4-FFF2-40B4-BE49-F238E27FC236}">
                <a16:creationId xmlns:a16="http://schemas.microsoft.com/office/drawing/2014/main" id="{52AF340F-EACC-C428-6507-7AF151DD267B}"/>
              </a:ext>
            </a:extLst>
          </p:cNvPr>
          <p:cNvSpPr txBox="1">
            <a:spLocks noChangeArrowheads="1"/>
          </p:cNvSpPr>
          <p:nvPr/>
        </p:nvSpPr>
        <p:spPr bwMode="auto">
          <a:xfrm>
            <a:off x="1474771" y="4216450"/>
            <a:ext cx="787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defPPr>
              <a:defRPr lang="zh-TW"/>
            </a:defPPr>
            <a:lvl1pPr marR="0" lvl="0" indent="0" eaLnBrk="0" fontAlgn="base" hangingPunct="0">
              <a:lnSpc>
                <a:spcPct val="100000"/>
              </a:lnSpc>
              <a:spcBef>
                <a:spcPct val="0"/>
              </a:spcBef>
              <a:spcAft>
                <a:spcPct val="0"/>
              </a:spcAft>
              <a:buClrTx/>
              <a:buSzTx/>
              <a:buFontTx/>
              <a:buNone/>
              <a:tabLst/>
              <a:defRPr kumimoji="0" sz="1200" i="0" u="none" strike="noStrike" cap="none" normalizeH="0" baseline="0">
                <a:ln>
                  <a:noFill/>
                </a:ln>
                <a:solidFill>
                  <a:srgbClr val="000000"/>
                </a:solidFill>
                <a:effectLst/>
                <a:latin typeface="Arial" panose="020B0604020202020204" pitchFamily="34" charset="0"/>
                <a:ea typeface="STKaiti" panose="02010600040101010101" pitchFamily="2" charset="-122"/>
                <a:cs typeface="Arial" panose="020B0604020202020204" pitchFamily="34" charset="0"/>
              </a:defRPr>
            </a:lvl1pPr>
          </a:lstStyle>
          <a:p>
            <a:r>
              <a:rPr lang="en-US" altLang="zh-TW" dirty="0"/>
              <a:t>WEB</a:t>
            </a:r>
          </a:p>
        </p:txBody>
      </p:sp>
      <p:sp>
        <p:nvSpPr>
          <p:cNvPr id="45" name="矩形 44">
            <a:extLst>
              <a:ext uri="{FF2B5EF4-FFF2-40B4-BE49-F238E27FC236}">
                <a16:creationId xmlns:a16="http://schemas.microsoft.com/office/drawing/2014/main" id="{3EF32744-B24B-30AA-9DB9-4493E869DAAF}"/>
              </a:ext>
            </a:extLst>
          </p:cNvPr>
          <p:cNvSpPr/>
          <p:nvPr/>
        </p:nvSpPr>
        <p:spPr bwMode="auto">
          <a:xfrm>
            <a:off x="4528126" y="1000535"/>
            <a:ext cx="3695276" cy="4892265"/>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12" name="文字方塊 11">
            <a:extLst>
              <a:ext uri="{FF2B5EF4-FFF2-40B4-BE49-F238E27FC236}">
                <a16:creationId xmlns:a16="http://schemas.microsoft.com/office/drawing/2014/main" id="{E7119588-D8EF-820B-9B2A-A7AECBDC24F5}"/>
              </a:ext>
            </a:extLst>
          </p:cNvPr>
          <p:cNvSpPr txBox="1"/>
          <p:nvPr/>
        </p:nvSpPr>
        <p:spPr>
          <a:xfrm>
            <a:off x="4994783" y="1148550"/>
            <a:ext cx="2087418" cy="646331"/>
          </a:xfrm>
          <a:prstGeom prst="rect">
            <a:avLst/>
          </a:prstGeom>
          <a:noFill/>
        </p:spPr>
        <p:txBody>
          <a:bodyPr wrap="square" rtlCol="0" anchor="ctr">
            <a:spAutoFit/>
          </a:bodyPr>
          <a:lstStyle/>
          <a:p>
            <a:r>
              <a:rPr lang="zh-TW" altLang="en-US" sz="1800" b="1" dirty="0">
                <a:latin typeface="+mn-ea"/>
              </a:rPr>
              <a:t>投顧永豐大腦系統</a:t>
            </a:r>
          </a:p>
          <a:p>
            <a:endParaRPr lang="zh-TW" altLang="en-US" dirty="0"/>
          </a:p>
        </p:txBody>
      </p:sp>
      <p:grpSp>
        <p:nvGrpSpPr>
          <p:cNvPr id="42" name="群組 41">
            <a:extLst>
              <a:ext uri="{FF2B5EF4-FFF2-40B4-BE49-F238E27FC236}">
                <a16:creationId xmlns:a16="http://schemas.microsoft.com/office/drawing/2014/main" id="{A7C9F217-EB1D-1AD3-B26F-65DDAE1AB0BE}"/>
              </a:ext>
            </a:extLst>
          </p:cNvPr>
          <p:cNvGrpSpPr/>
          <p:nvPr/>
        </p:nvGrpSpPr>
        <p:grpSpPr>
          <a:xfrm>
            <a:off x="8913497" y="2871982"/>
            <a:ext cx="691515" cy="737235"/>
            <a:chOff x="0" y="2165614"/>
            <a:chExt cx="940803" cy="1003339"/>
          </a:xfrm>
        </p:grpSpPr>
        <p:pic>
          <p:nvPicPr>
            <p:cNvPr id="46" name="圖形 18" descr="男性形象">
              <a:extLst>
                <a:ext uri="{FF2B5EF4-FFF2-40B4-BE49-F238E27FC236}">
                  <a16:creationId xmlns:a16="http://schemas.microsoft.com/office/drawing/2014/main" id="{69B9BACE-3FF0-9DF6-A3DF-77A1B90A7CB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7251" y="2165614"/>
              <a:ext cx="614618" cy="614618"/>
            </a:xfrm>
            <a:prstGeom prst="rect">
              <a:avLst/>
            </a:prstGeom>
          </p:spPr>
        </p:pic>
        <p:sp>
          <p:nvSpPr>
            <p:cNvPr id="47" name="文字方塊 19">
              <a:extLst>
                <a:ext uri="{FF2B5EF4-FFF2-40B4-BE49-F238E27FC236}">
                  <a16:creationId xmlns:a16="http://schemas.microsoft.com/office/drawing/2014/main" id="{5E539219-5F96-6839-453C-B20A22807548}"/>
                </a:ext>
              </a:extLst>
            </p:cNvPr>
            <p:cNvSpPr txBox="1"/>
            <p:nvPr/>
          </p:nvSpPr>
          <p:spPr>
            <a:xfrm>
              <a:off x="0" y="2733539"/>
              <a:ext cx="940803" cy="435414"/>
            </a:xfrm>
            <a:prstGeom prst="rect">
              <a:avLst/>
            </a:prstGeom>
            <a:noFill/>
          </p:spPr>
          <p:txBody>
            <a:bodyPr wrap="none" rtlCol="0">
              <a:spAutoFit/>
            </a:bodyPr>
            <a:lstStyle/>
            <a:p>
              <a:pPr fontAlgn="base"/>
              <a:r>
                <a:rPr lang="zh-TW" sz="1000" b="1" kern="1200" dirty="0">
                  <a:solidFill>
                    <a:srgbClr val="000000"/>
                  </a:solidFill>
                  <a:effectLst/>
                  <a:latin typeface="Calibri" panose="020F0502020204030204" pitchFamily="34" charset="0"/>
                  <a:ea typeface="新細明體" panose="02020500000000000000" pitchFamily="18" charset="-120"/>
                  <a:cs typeface="Times New Roman" panose="02020603050405020304" pitchFamily="18" charset="0"/>
                </a:rPr>
                <a:t>投顧同仁</a:t>
              </a:r>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grpSp>
      <p:cxnSp>
        <p:nvCxnSpPr>
          <p:cNvPr id="48" name="直線單箭頭接點 47">
            <a:extLst>
              <a:ext uri="{FF2B5EF4-FFF2-40B4-BE49-F238E27FC236}">
                <a16:creationId xmlns:a16="http://schemas.microsoft.com/office/drawing/2014/main" id="{926E6564-964C-6534-C9EC-C51A6F8C110B}"/>
              </a:ext>
            </a:extLst>
          </p:cNvPr>
          <p:cNvCxnSpPr>
            <a:cxnSpLocks/>
          </p:cNvCxnSpPr>
          <p:nvPr/>
        </p:nvCxnSpPr>
        <p:spPr bwMode="auto">
          <a:xfrm>
            <a:off x="8223402" y="3219529"/>
            <a:ext cx="711194"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59" name="文字方塊 15">
            <a:extLst>
              <a:ext uri="{FF2B5EF4-FFF2-40B4-BE49-F238E27FC236}">
                <a16:creationId xmlns:a16="http://schemas.microsoft.com/office/drawing/2014/main" id="{ADD0F150-D7BE-7430-F084-5EAA7ABCC5E0}"/>
              </a:ext>
            </a:extLst>
          </p:cNvPr>
          <p:cNvSpPr txBox="1">
            <a:spLocks noChangeArrowheads="1"/>
          </p:cNvSpPr>
          <p:nvPr/>
        </p:nvSpPr>
        <p:spPr bwMode="auto">
          <a:xfrm>
            <a:off x="1474771" y="5244770"/>
            <a:ext cx="1476712" cy="978550"/>
          </a:xfrm>
          <a:prstGeom prst="rect">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bodyPr>
          <a:lstStyle>
            <a:defPPr>
              <a:defRPr lang="zh-TW"/>
            </a:defPPr>
            <a:lvl1pPr algn="ctr" fontAlgn="base">
              <a:spcBef>
                <a:spcPct val="0"/>
              </a:spcBef>
              <a:spcAft>
                <a:spcPct val="0"/>
              </a:spcAft>
              <a:defRPr kumimoji="0" sz="1400" normalizeH="0" baseline="0">
                <a:ln>
                  <a:noFill/>
                </a:ln>
                <a:latin typeface="+mn-ea"/>
              </a:defRPr>
            </a:lvl1pPr>
          </a:lstStyle>
          <a:p>
            <a:pPr algn="l"/>
            <a:r>
              <a:rPr lang="en-US" altLang="zh-TW" dirty="0"/>
              <a:t>1.</a:t>
            </a:r>
            <a:r>
              <a:rPr lang="zh-TW" altLang="en-US" dirty="0"/>
              <a:t> 法說會投影片</a:t>
            </a:r>
            <a:br>
              <a:rPr lang="en-US" altLang="zh-TW" dirty="0"/>
            </a:br>
            <a:r>
              <a:rPr lang="en-US" altLang="zh-TW" dirty="0"/>
              <a:t>2.</a:t>
            </a:r>
            <a:r>
              <a:rPr lang="zh-TW" altLang="en-US" dirty="0"/>
              <a:t> 法說會影音</a:t>
            </a:r>
            <a:endParaRPr lang="en-US" altLang="zh-TW" dirty="0"/>
          </a:p>
          <a:p>
            <a:pPr algn="l"/>
            <a:r>
              <a:rPr lang="en-US" altLang="zh-TW" dirty="0"/>
              <a:t>3.</a:t>
            </a:r>
            <a:r>
              <a:rPr lang="zh-TW" altLang="en-US" dirty="0"/>
              <a:t> 季報</a:t>
            </a:r>
            <a:endParaRPr lang="en-US" altLang="zh-TW" dirty="0"/>
          </a:p>
          <a:p>
            <a:pPr algn="l"/>
            <a:r>
              <a:rPr lang="en-US" altLang="zh-TW" dirty="0"/>
              <a:t>4.</a:t>
            </a:r>
            <a:r>
              <a:rPr lang="zh-TW" altLang="en-US" dirty="0"/>
              <a:t> 年報</a:t>
            </a:r>
            <a:endParaRPr lang="en-US" altLang="zh-TW" dirty="0"/>
          </a:p>
        </p:txBody>
      </p:sp>
      <p:sp>
        <p:nvSpPr>
          <p:cNvPr id="60" name="文字方塊 15">
            <a:extLst>
              <a:ext uri="{FF2B5EF4-FFF2-40B4-BE49-F238E27FC236}">
                <a16:creationId xmlns:a16="http://schemas.microsoft.com/office/drawing/2014/main" id="{624DA645-8723-38D6-665B-5922D2651F20}"/>
              </a:ext>
            </a:extLst>
          </p:cNvPr>
          <p:cNvSpPr txBox="1">
            <a:spLocks noChangeArrowheads="1"/>
          </p:cNvSpPr>
          <p:nvPr/>
        </p:nvSpPr>
        <p:spPr bwMode="auto">
          <a:xfrm>
            <a:off x="8738347" y="4688968"/>
            <a:ext cx="2602838" cy="977783"/>
          </a:xfrm>
          <a:prstGeom prst="rect">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bodyPr>
          <a:lstStyle>
            <a:defPPr>
              <a:defRPr lang="zh-TW"/>
            </a:defPPr>
            <a:lvl1pPr algn="ctr" fontAlgn="base">
              <a:spcBef>
                <a:spcPct val="0"/>
              </a:spcBef>
              <a:spcAft>
                <a:spcPct val="0"/>
              </a:spcAft>
              <a:defRPr kumimoji="0" sz="1400" normalizeH="0" baseline="0">
                <a:ln>
                  <a:noFill/>
                </a:ln>
                <a:latin typeface="+mn-ea"/>
              </a:defRPr>
            </a:lvl1pPr>
          </a:lstStyle>
          <a:p>
            <a:pPr algn="l"/>
            <a:r>
              <a:rPr lang="en-US" altLang="zh-TW" dirty="0"/>
              <a:t>1.</a:t>
            </a:r>
            <a:r>
              <a:rPr lang="zh-TW" altLang="en-US" dirty="0"/>
              <a:t> </a:t>
            </a:r>
            <a:r>
              <a:rPr lang="en-US" altLang="zh-TW" dirty="0"/>
              <a:t>gpt-4o</a:t>
            </a:r>
            <a:br>
              <a:rPr lang="en-US" altLang="zh-TW" dirty="0"/>
            </a:br>
            <a:r>
              <a:rPr lang="en-US" altLang="zh-TW" dirty="0"/>
              <a:t>2. gpt-4o-mini</a:t>
            </a:r>
          </a:p>
          <a:p>
            <a:pPr algn="l"/>
            <a:r>
              <a:rPr lang="en-US" altLang="zh-TW" dirty="0"/>
              <a:t>3. text-embedding-3-small</a:t>
            </a:r>
          </a:p>
          <a:p>
            <a:pPr algn="l"/>
            <a:r>
              <a:rPr lang="en-US" altLang="zh-TW" dirty="0"/>
              <a:t>4. whisper</a:t>
            </a:r>
          </a:p>
        </p:txBody>
      </p:sp>
      <p:sp>
        <p:nvSpPr>
          <p:cNvPr id="61" name="文字方塊 15">
            <a:extLst>
              <a:ext uri="{FF2B5EF4-FFF2-40B4-BE49-F238E27FC236}">
                <a16:creationId xmlns:a16="http://schemas.microsoft.com/office/drawing/2014/main" id="{52DA7694-DDBB-5C46-A373-10BCA8F29296}"/>
              </a:ext>
            </a:extLst>
          </p:cNvPr>
          <p:cNvSpPr txBox="1">
            <a:spLocks noChangeArrowheads="1"/>
          </p:cNvSpPr>
          <p:nvPr/>
        </p:nvSpPr>
        <p:spPr bwMode="auto">
          <a:xfrm>
            <a:off x="1474771" y="2111500"/>
            <a:ext cx="1976912" cy="1252876"/>
          </a:xfrm>
          <a:prstGeom prst="rect">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bodyPr>
          <a:lstStyle>
            <a:defPPr>
              <a:defRPr lang="zh-TW"/>
            </a:defPPr>
            <a:lvl1pPr algn="ctr" fontAlgn="base">
              <a:spcBef>
                <a:spcPct val="0"/>
              </a:spcBef>
              <a:spcAft>
                <a:spcPct val="0"/>
              </a:spcAft>
              <a:defRPr kumimoji="0" sz="1400" normalizeH="0" baseline="0">
                <a:ln>
                  <a:noFill/>
                </a:ln>
                <a:latin typeface="+mn-ea"/>
              </a:defRPr>
            </a:lvl1pPr>
          </a:lstStyle>
          <a:p>
            <a:pPr algn="l"/>
            <a:r>
              <a:rPr lang="en-US" altLang="zh-TW" dirty="0"/>
              <a:t>1.</a:t>
            </a:r>
            <a:r>
              <a:rPr lang="zh-TW" altLang="en-US" dirty="0"/>
              <a:t> 主要通貨匯率表</a:t>
            </a:r>
            <a:endParaRPr lang="en-US" altLang="zh-TW" dirty="0"/>
          </a:p>
          <a:p>
            <a:pPr algn="l"/>
            <a:r>
              <a:rPr lang="en-US" altLang="zh-TW" dirty="0"/>
              <a:t>2.</a:t>
            </a:r>
            <a:r>
              <a:rPr lang="zh-TW" altLang="en-US" dirty="0"/>
              <a:t> 年</a:t>
            </a:r>
            <a:r>
              <a:rPr lang="en-US" altLang="zh-TW" dirty="0"/>
              <a:t>IFRS</a:t>
            </a:r>
            <a:r>
              <a:rPr lang="zh-TW" altLang="en-US" dirty="0"/>
              <a:t>財報</a:t>
            </a:r>
            <a:endParaRPr lang="en-US" altLang="zh-TW" dirty="0"/>
          </a:p>
          <a:p>
            <a:pPr algn="l"/>
            <a:r>
              <a:rPr lang="en-US" altLang="zh-TW" dirty="0"/>
              <a:t>3.</a:t>
            </a:r>
            <a:r>
              <a:rPr lang="zh-TW" altLang="en-US" dirty="0"/>
              <a:t> 日收盤還原表排行</a:t>
            </a:r>
            <a:endParaRPr lang="en-US" altLang="zh-TW" dirty="0"/>
          </a:p>
          <a:p>
            <a:pPr algn="l"/>
            <a:r>
              <a:rPr lang="en-US" altLang="zh-TW" dirty="0"/>
              <a:t>4.</a:t>
            </a:r>
            <a:r>
              <a:rPr lang="zh-TW" altLang="en-US" dirty="0"/>
              <a:t> 日法人持股估計</a:t>
            </a:r>
            <a:endParaRPr lang="en-US" altLang="zh-TW" dirty="0"/>
          </a:p>
          <a:p>
            <a:pPr algn="l"/>
            <a:r>
              <a:rPr lang="en-US" altLang="zh-TW" dirty="0"/>
              <a:t>Etc.</a:t>
            </a:r>
          </a:p>
        </p:txBody>
      </p:sp>
      <p:sp>
        <p:nvSpPr>
          <p:cNvPr id="50" name="文字方塊 15">
            <a:extLst>
              <a:ext uri="{FF2B5EF4-FFF2-40B4-BE49-F238E27FC236}">
                <a16:creationId xmlns:a16="http://schemas.microsoft.com/office/drawing/2014/main" id="{5B6F43DB-AE25-3A70-463A-A7F86C3F65C4}"/>
              </a:ext>
            </a:extLst>
          </p:cNvPr>
          <p:cNvSpPr txBox="1">
            <a:spLocks noChangeArrowheads="1"/>
          </p:cNvSpPr>
          <p:nvPr/>
        </p:nvSpPr>
        <p:spPr bwMode="auto">
          <a:xfrm>
            <a:off x="1474771" y="4115432"/>
            <a:ext cx="1476712" cy="365749"/>
          </a:xfrm>
          <a:prstGeom prst="rect">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bodyPr>
          <a:lstStyle>
            <a:defPPr>
              <a:defRPr lang="zh-TW"/>
            </a:defPPr>
            <a:lvl1pPr algn="ctr" fontAlgn="base">
              <a:spcBef>
                <a:spcPct val="0"/>
              </a:spcBef>
              <a:spcAft>
                <a:spcPct val="0"/>
              </a:spcAft>
              <a:defRPr kumimoji="0" sz="1400" normalizeH="0" baseline="0">
                <a:ln>
                  <a:noFill/>
                </a:ln>
                <a:latin typeface="+mn-ea"/>
              </a:defRPr>
            </a:lvl1pPr>
          </a:lstStyle>
          <a:p>
            <a:pPr algn="l"/>
            <a:r>
              <a:rPr lang="en-US" altLang="zh-TW" dirty="0"/>
              <a:t>1.</a:t>
            </a:r>
            <a:r>
              <a:rPr lang="zh-TW" altLang="en-US" dirty="0"/>
              <a:t> 投顧內部資料</a:t>
            </a:r>
            <a:endParaRPr lang="en-US" altLang="zh-TW" dirty="0"/>
          </a:p>
        </p:txBody>
      </p:sp>
      <p:sp>
        <p:nvSpPr>
          <p:cNvPr id="99" name="文字方塊 15">
            <a:extLst>
              <a:ext uri="{FF2B5EF4-FFF2-40B4-BE49-F238E27FC236}">
                <a16:creationId xmlns:a16="http://schemas.microsoft.com/office/drawing/2014/main" id="{C7C57D64-D650-A6F1-242A-30AA4655BC4B}"/>
              </a:ext>
            </a:extLst>
          </p:cNvPr>
          <p:cNvSpPr txBox="1">
            <a:spLocks noChangeArrowheads="1"/>
          </p:cNvSpPr>
          <p:nvPr/>
        </p:nvSpPr>
        <p:spPr bwMode="auto">
          <a:xfrm>
            <a:off x="3394109" y="1596500"/>
            <a:ext cx="787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TW" sz="1200" i="0" u="none" strike="noStrike" cap="none" normalizeH="0" baseline="0" dirty="0">
                <a:ln>
                  <a:noFill/>
                </a:ln>
                <a:solidFill>
                  <a:srgbClr val="000000"/>
                </a:solidFill>
                <a:effectLst/>
                <a:latin typeface="Arial" panose="020B0604020202020204" pitchFamily="34" charset="0"/>
                <a:ea typeface="STKaiti" panose="02010600040101010101" pitchFamily="2" charset="-122"/>
                <a:cs typeface="Arial" panose="020B0604020202020204" pitchFamily="34" charset="0"/>
              </a:rPr>
              <a:t>API</a:t>
            </a:r>
            <a:endParaRPr kumimoji="0" lang="en-US" altLang="zh-TW" sz="1800" i="0" u="none" strike="noStrike" cap="none" normalizeH="0" baseline="0" dirty="0">
              <a:ln>
                <a:noFill/>
              </a:ln>
              <a:solidFill>
                <a:schemeClr val="tx1"/>
              </a:solidFill>
              <a:effectLst/>
              <a:latin typeface="Arial" panose="020B0604020202020204" pitchFamily="34" charset="0"/>
            </a:endParaRPr>
          </a:p>
        </p:txBody>
      </p:sp>
      <p:sp>
        <p:nvSpPr>
          <p:cNvPr id="3" name="文字方塊 2">
            <a:extLst>
              <a:ext uri="{FF2B5EF4-FFF2-40B4-BE49-F238E27FC236}">
                <a16:creationId xmlns:a16="http://schemas.microsoft.com/office/drawing/2014/main" id="{DB4781E2-BC11-61AF-3F6D-44C7DEA6B507}"/>
              </a:ext>
            </a:extLst>
          </p:cNvPr>
          <p:cNvSpPr txBox="1"/>
          <p:nvPr/>
        </p:nvSpPr>
        <p:spPr>
          <a:xfrm>
            <a:off x="5331440" y="4071284"/>
            <a:ext cx="1388304" cy="508795"/>
          </a:xfrm>
          <a:prstGeom prst="roundRect">
            <a:avLst>
              <a:gd name="adj" fmla="val 16667"/>
            </a:avLst>
          </a:prstGeom>
          <a:noFill/>
        </p:spPr>
        <p:txBody>
          <a:bodyPr wrap="none" rtlCol="0">
            <a:noAutofit/>
          </a:bodyPr>
          <a:lstStyle/>
          <a:p>
            <a:pPr algn="ctr" fontAlgn="base">
              <a:spcBef>
                <a:spcPct val="0"/>
              </a:spcBef>
              <a:spcAft>
                <a:spcPct val="0"/>
              </a:spcAft>
              <a:buFont typeface="Arial"/>
              <a:buNone/>
            </a:pPr>
            <a:r>
              <a:rPr lang="zh-TW" altLang="en-US" sz="1157" kern="0">
                <a:solidFill>
                  <a:srgbClr val="000000"/>
                </a:solidFill>
                <a:latin typeface="微軟正黑體" panose="020B0604030504040204" pitchFamily="34" charset="-120"/>
                <a:cs typeface="Arial"/>
                <a:sym typeface="Arial"/>
              </a:rPr>
              <a:t>法說簡報檔</a:t>
            </a:r>
            <a:endParaRPr lang="en-US" altLang="zh-TW" sz="1157" kern="0">
              <a:solidFill>
                <a:srgbClr val="000000"/>
              </a:solidFill>
              <a:latin typeface="微軟正黑體" panose="020B0604030504040204" pitchFamily="34" charset="-120"/>
              <a:cs typeface="Arial"/>
              <a:sym typeface="Arial"/>
            </a:endParaRPr>
          </a:p>
          <a:p>
            <a:pPr algn="ctr" fontAlgn="base">
              <a:spcBef>
                <a:spcPct val="0"/>
              </a:spcBef>
              <a:spcAft>
                <a:spcPct val="0"/>
              </a:spcAft>
              <a:buFont typeface="Arial"/>
              <a:buNone/>
            </a:pPr>
            <a:r>
              <a:rPr lang="zh-TW" altLang="en-US" sz="1157" kern="0">
                <a:solidFill>
                  <a:srgbClr val="000000"/>
                </a:solidFill>
                <a:latin typeface="微軟正黑體" panose="020B0604030504040204" pitchFamily="34" charset="-120"/>
                <a:cs typeface="Arial"/>
                <a:sym typeface="Arial"/>
              </a:rPr>
              <a:t>法說影音檔</a:t>
            </a:r>
            <a:endParaRPr lang="en-US" altLang="zh-TW" sz="1157" kern="0">
              <a:solidFill>
                <a:srgbClr val="000000"/>
              </a:solidFill>
              <a:latin typeface="微軟正黑體" panose="020B0604030504040204" pitchFamily="34" charset="-120"/>
              <a:cs typeface="Arial"/>
              <a:sym typeface="Arial"/>
            </a:endParaRPr>
          </a:p>
        </p:txBody>
      </p:sp>
      <p:sp>
        <p:nvSpPr>
          <p:cNvPr id="4" name="文字方塊 3">
            <a:extLst>
              <a:ext uri="{FF2B5EF4-FFF2-40B4-BE49-F238E27FC236}">
                <a16:creationId xmlns:a16="http://schemas.microsoft.com/office/drawing/2014/main" id="{DE13ADCC-ECD0-5A48-0039-2764B88DCFEA}"/>
              </a:ext>
            </a:extLst>
          </p:cNvPr>
          <p:cNvSpPr txBox="1"/>
          <p:nvPr/>
        </p:nvSpPr>
        <p:spPr>
          <a:xfrm>
            <a:off x="5331442" y="5147169"/>
            <a:ext cx="1388304" cy="508795"/>
          </a:xfrm>
          <a:prstGeom prst="roundRect">
            <a:avLst>
              <a:gd name="adj" fmla="val 16667"/>
            </a:avLst>
          </a:prstGeom>
          <a:noFill/>
        </p:spPr>
        <p:txBody>
          <a:bodyPr wrap="none" rtlCol="0">
            <a:noAutofit/>
          </a:bodyPr>
          <a:lstStyle/>
          <a:p>
            <a:pPr algn="ctr" fontAlgn="base">
              <a:spcBef>
                <a:spcPct val="0"/>
              </a:spcBef>
              <a:spcAft>
                <a:spcPct val="0"/>
              </a:spcAft>
              <a:buFont typeface="Arial"/>
              <a:buNone/>
            </a:pPr>
            <a:r>
              <a:rPr lang="zh-TW" altLang="en-US" sz="1157" kern="0">
                <a:solidFill>
                  <a:srgbClr val="000000"/>
                </a:solidFill>
                <a:latin typeface="微軟正黑體" panose="020B0604030504040204" pitchFamily="34" charset="-120"/>
                <a:cs typeface="Arial"/>
                <a:sym typeface="Arial"/>
              </a:rPr>
              <a:t>公司季報</a:t>
            </a:r>
            <a:endParaRPr lang="en-US" altLang="zh-TW" sz="1157" kern="0">
              <a:solidFill>
                <a:srgbClr val="000000"/>
              </a:solidFill>
              <a:latin typeface="微軟正黑體" panose="020B0604030504040204" pitchFamily="34" charset="-120"/>
              <a:cs typeface="Arial"/>
              <a:sym typeface="Arial"/>
            </a:endParaRPr>
          </a:p>
          <a:p>
            <a:pPr algn="ctr" fontAlgn="base">
              <a:spcBef>
                <a:spcPct val="0"/>
              </a:spcBef>
              <a:spcAft>
                <a:spcPct val="0"/>
              </a:spcAft>
              <a:buFont typeface="Arial"/>
              <a:buNone/>
            </a:pPr>
            <a:r>
              <a:rPr lang="zh-TW" altLang="en-US" sz="1157" kern="0">
                <a:solidFill>
                  <a:srgbClr val="000000"/>
                </a:solidFill>
                <a:latin typeface="微軟正黑體" panose="020B0604030504040204" pitchFamily="34" charset="-120"/>
                <a:cs typeface="Arial"/>
                <a:sym typeface="Arial"/>
              </a:rPr>
              <a:t>公司年報</a:t>
            </a:r>
            <a:endParaRPr lang="en-US" altLang="zh-TW" sz="1157" kern="0">
              <a:solidFill>
                <a:srgbClr val="000000"/>
              </a:solidFill>
              <a:latin typeface="微軟正黑體" panose="020B0604030504040204" pitchFamily="34" charset="-120"/>
              <a:cs typeface="Arial"/>
              <a:sym typeface="Arial"/>
            </a:endParaRPr>
          </a:p>
        </p:txBody>
      </p:sp>
      <p:sp>
        <p:nvSpPr>
          <p:cNvPr id="6" name="文字方塊 5">
            <a:extLst>
              <a:ext uri="{FF2B5EF4-FFF2-40B4-BE49-F238E27FC236}">
                <a16:creationId xmlns:a16="http://schemas.microsoft.com/office/drawing/2014/main" id="{C1EE790A-0933-6F02-14C2-A323FE4BBE2D}"/>
              </a:ext>
            </a:extLst>
          </p:cNvPr>
          <p:cNvSpPr txBox="1"/>
          <p:nvPr/>
        </p:nvSpPr>
        <p:spPr>
          <a:xfrm>
            <a:off x="5332993" y="3029890"/>
            <a:ext cx="1388304" cy="508795"/>
          </a:xfrm>
          <a:prstGeom prst="roundRect">
            <a:avLst>
              <a:gd name="adj" fmla="val 16667"/>
            </a:avLst>
          </a:prstGeom>
          <a:noFill/>
        </p:spPr>
        <p:txBody>
          <a:bodyPr wrap="none" rtlCol="0">
            <a:noAutofit/>
          </a:bodyPr>
          <a:lstStyle/>
          <a:p>
            <a:pPr algn="ctr" fontAlgn="base">
              <a:spcBef>
                <a:spcPct val="0"/>
              </a:spcBef>
              <a:spcAft>
                <a:spcPct val="0"/>
              </a:spcAft>
              <a:buFont typeface="Arial"/>
              <a:buNone/>
            </a:pPr>
            <a:r>
              <a:rPr lang="zh-TW" altLang="en-US" sz="1157" kern="0">
                <a:solidFill>
                  <a:srgbClr val="000000"/>
                </a:solidFill>
                <a:latin typeface="微軟正黑體" panose="020B0604030504040204" pitchFamily="34" charset="-120"/>
                <a:cs typeface="Arial"/>
                <a:sym typeface="Arial"/>
              </a:rPr>
              <a:t>同業報告</a:t>
            </a:r>
            <a:endParaRPr lang="en-US" altLang="zh-TW" sz="1157" kern="0">
              <a:solidFill>
                <a:srgbClr val="000000"/>
              </a:solidFill>
              <a:latin typeface="微軟正黑體" panose="020B0604030504040204" pitchFamily="34" charset="-120"/>
              <a:cs typeface="Arial"/>
              <a:sym typeface="Arial"/>
            </a:endParaRPr>
          </a:p>
          <a:p>
            <a:pPr algn="ctr" fontAlgn="base">
              <a:spcBef>
                <a:spcPct val="0"/>
              </a:spcBef>
              <a:spcAft>
                <a:spcPct val="0"/>
              </a:spcAft>
              <a:buFont typeface="Arial"/>
              <a:buNone/>
            </a:pPr>
            <a:r>
              <a:rPr lang="zh-TW" altLang="en-US" sz="1157" kern="0">
                <a:solidFill>
                  <a:srgbClr val="000000"/>
                </a:solidFill>
                <a:latin typeface="微軟正黑體" panose="020B0604030504040204" pitchFamily="34" charset="-120"/>
                <a:cs typeface="Arial"/>
                <a:sym typeface="Arial"/>
              </a:rPr>
              <a:t>永豐投顧報告</a:t>
            </a:r>
            <a:endParaRPr lang="en-US" altLang="zh-TW" sz="1157" kern="0">
              <a:solidFill>
                <a:srgbClr val="000000"/>
              </a:solidFill>
              <a:latin typeface="微軟正黑體" panose="020B0604030504040204" pitchFamily="34" charset="-120"/>
              <a:cs typeface="Arial"/>
              <a:sym typeface="Arial"/>
            </a:endParaRPr>
          </a:p>
        </p:txBody>
      </p:sp>
      <p:sp>
        <p:nvSpPr>
          <p:cNvPr id="10" name="文字方塊 9">
            <a:extLst>
              <a:ext uri="{FF2B5EF4-FFF2-40B4-BE49-F238E27FC236}">
                <a16:creationId xmlns:a16="http://schemas.microsoft.com/office/drawing/2014/main" id="{1AB2E3A5-2169-149E-7D61-80379B97A6CF}"/>
              </a:ext>
            </a:extLst>
          </p:cNvPr>
          <p:cNvSpPr txBox="1"/>
          <p:nvPr/>
        </p:nvSpPr>
        <p:spPr>
          <a:xfrm>
            <a:off x="5331439" y="2034341"/>
            <a:ext cx="1388304" cy="508795"/>
          </a:xfrm>
          <a:prstGeom prst="roundRect">
            <a:avLst>
              <a:gd name="adj" fmla="val 16667"/>
            </a:avLst>
          </a:prstGeom>
          <a:noFill/>
        </p:spPr>
        <p:txBody>
          <a:bodyPr wrap="none" rtlCol="0">
            <a:noAutofit/>
          </a:bodyPr>
          <a:lstStyle/>
          <a:p>
            <a:pPr algn="ctr" fontAlgn="base">
              <a:spcBef>
                <a:spcPct val="0"/>
              </a:spcBef>
              <a:spcAft>
                <a:spcPct val="0"/>
              </a:spcAft>
              <a:buFont typeface="Arial"/>
              <a:buNone/>
            </a:pPr>
            <a:r>
              <a:rPr lang="zh-TW" altLang="en-US" sz="1157" kern="0">
                <a:solidFill>
                  <a:srgbClr val="000000"/>
                </a:solidFill>
                <a:latin typeface="微軟正黑體" panose="020B0604030504040204" pitchFamily="34" charset="-120"/>
                <a:cs typeface="Arial"/>
                <a:sym typeface="Arial"/>
              </a:rPr>
              <a:t>歷史財報數據</a:t>
            </a:r>
            <a:endParaRPr lang="en-US" altLang="zh-TW" sz="1157" kern="0">
              <a:solidFill>
                <a:srgbClr val="000000"/>
              </a:solidFill>
              <a:latin typeface="微軟正黑體" panose="020B0604030504040204" pitchFamily="34" charset="-120"/>
              <a:cs typeface="Arial"/>
              <a:sym typeface="Arial"/>
            </a:endParaRPr>
          </a:p>
          <a:p>
            <a:pPr algn="ctr" fontAlgn="base">
              <a:spcBef>
                <a:spcPct val="0"/>
              </a:spcBef>
              <a:spcAft>
                <a:spcPct val="0"/>
              </a:spcAft>
              <a:buFont typeface="Arial"/>
              <a:buNone/>
            </a:pPr>
            <a:r>
              <a:rPr lang="zh-TW" altLang="en-US" sz="1157" kern="0">
                <a:solidFill>
                  <a:srgbClr val="000000"/>
                </a:solidFill>
                <a:latin typeface="微軟正黑體" panose="020B0604030504040204" pitchFamily="34" charset="-120"/>
                <a:cs typeface="Arial"/>
                <a:sym typeface="Arial"/>
              </a:rPr>
              <a:t>投顧預估數據</a:t>
            </a:r>
            <a:endParaRPr lang="en-US" altLang="zh-TW" sz="1157" kern="0">
              <a:solidFill>
                <a:srgbClr val="000000"/>
              </a:solidFill>
              <a:latin typeface="微軟正黑體" panose="020B0604030504040204" pitchFamily="34" charset="-120"/>
              <a:cs typeface="Arial"/>
              <a:sym typeface="Arial"/>
            </a:endParaRPr>
          </a:p>
        </p:txBody>
      </p:sp>
      <p:sp>
        <p:nvSpPr>
          <p:cNvPr id="13" name="文字方塊 12">
            <a:extLst>
              <a:ext uri="{FF2B5EF4-FFF2-40B4-BE49-F238E27FC236}">
                <a16:creationId xmlns:a16="http://schemas.microsoft.com/office/drawing/2014/main" id="{A41D7C70-7316-9ABB-F366-21033DF7AF1D}"/>
              </a:ext>
            </a:extLst>
          </p:cNvPr>
          <p:cNvSpPr txBox="1"/>
          <p:nvPr/>
        </p:nvSpPr>
        <p:spPr>
          <a:xfrm>
            <a:off x="5157901" y="1695391"/>
            <a:ext cx="1735380" cy="347076"/>
          </a:xfrm>
          <a:prstGeom prst="rect">
            <a:avLst/>
          </a:prstGeom>
          <a:solidFill>
            <a:srgbClr val="D6E8FE"/>
          </a:solidFill>
        </p:spPr>
        <p:txBody>
          <a:bodyPr wrap="none" rtlCol="0" anchor="ctr">
            <a:noAutofit/>
          </a:bodyPr>
          <a:lstStyle/>
          <a:p>
            <a:pPr algn="ctr" fontAlgn="base">
              <a:spcBef>
                <a:spcPct val="0"/>
              </a:spcBef>
              <a:spcAft>
                <a:spcPct val="0"/>
              </a:spcAft>
            </a:pPr>
            <a:r>
              <a:rPr lang="zh-TW" altLang="en-US" sz="1543" kern="0">
                <a:solidFill>
                  <a:srgbClr val="000000"/>
                </a:solidFill>
                <a:latin typeface="微軟正黑體" panose="020B0604030504040204" pitchFamily="34" charset="-120"/>
                <a:cs typeface="Arial"/>
                <a:sym typeface="Arial"/>
              </a:rPr>
              <a:t>財報專家</a:t>
            </a:r>
          </a:p>
        </p:txBody>
      </p:sp>
      <p:sp>
        <p:nvSpPr>
          <p:cNvPr id="15" name="文字方塊 14">
            <a:extLst>
              <a:ext uri="{FF2B5EF4-FFF2-40B4-BE49-F238E27FC236}">
                <a16:creationId xmlns:a16="http://schemas.microsoft.com/office/drawing/2014/main" id="{BB03FD1D-EAB3-F1E2-17E9-4700D11E97A7}"/>
              </a:ext>
            </a:extLst>
          </p:cNvPr>
          <p:cNvSpPr txBox="1"/>
          <p:nvPr/>
        </p:nvSpPr>
        <p:spPr>
          <a:xfrm>
            <a:off x="5159454" y="2690940"/>
            <a:ext cx="1735380" cy="347076"/>
          </a:xfrm>
          <a:prstGeom prst="rect">
            <a:avLst/>
          </a:prstGeom>
          <a:solidFill>
            <a:srgbClr val="D6E8FE"/>
          </a:solidFill>
        </p:spPr>
        <p:txBody>
          <a:bodyPr wrap="none" rtlCol="0" anchor="ctr">
            <a:noAutofit/>
          </a:bodyPr>
          <a:lstStyle/>
          <a:p>
            <a:pPr algn="ctr" fontAlgn="base">
              <a:spcBef>
                <a:spcPct val="0"/>
              </a:spcBef>
              <a:spcAft>
                <a:spcPct val="0"/>
              </a:spcAft>
            </a:pPr>
            <a:r>
              <a:rPr lang="zh-TW" altLang="en-US" sz="1543" kern="0">
                <a:solidFill>
                  <a:srgbClr val="000000"/>
                </a:solidFill>
                <a:latin typeface="微軟正黑體" panose="020B0604030504040204" pitchFamily="34" charset="-120"/>
                <a:cs typeface="Arial"/>
                <a:sym typeface="Arial"/>
              </a:rPr>
              <a:t>投顧報告專家</a:t>
            </a:r>
          </a:p>
        </p:txBody>
      </p:sp>
      <p:sp>
        <p:nvSpPr>
          <p:cNvPr id="16" name="文字方塊 15">
            <a:extLst>
              <a:ext uri="{FF2B5EF4-FFF2-40B4-BE49-F238E27FC236}">
                <a16:creationId xmlns:a16="http://schemas.microsoft.com/office/drawing/2014/main" id="{0686AB0B-F6EF-0A16-EF05-EC2E2047BAB5}"/>
              </a:ext>
            </a:extLst>
          </p:cNvPr>
          <p:cNvSpPr txBox="1"/>
          <p:nvPr/>
        </p:nvSpPr>
        <p:spPr>
          <a:xfrm>
            <a:off x="5157901" y="3732334"/>
            <a:ext cx="1735380" cy="347076"/>
          </a:xfrm>
          <a:prstGeom prst="rect">
            <a:avLst/>
          </a:prstGeom>
          <a:solidFill>
            <a:srgbClr val="D6E8FE"/>
          </a:solidFill>
        </p:spPr>
        <p:txBody>
          <a:bodyPr wrap="none" rtlCol="0" anchor="ctr">
            <a:noAutofit/>
          </a:bodyPr>
          <a:lstStyle/>
          <a:p>
            <a:pPr algn="ctr" fontAlgn="base">
              <a:spcBef>
                <a:spcPct val="0"/>
              </a:spcBef>
              <a:spcAft>
                <a:spcPct val="0"/>
              </a:spcAft>
            </a:pPr>
            <a:r>
              <a:rPr lang="zh-TW" altLang="en-US" sz="1543" kern="0">
                <a:solidFill>
                  <a:srgbClr val="000000"/>
                </a:solidFill>
                <a:latin typeface="微軟正黑體" panose="020B0604030504040204" pitchFamily="34" charset="-120"/>
                <a:cs typeface="Arial"/>
                <a:sym typeface="Arial"/>
              </a:rPr>
              <a:t>法說會專家</a:t>
            </a:r>
          </a:p>
        </p:txBody>
      </p:sp>
      <p:sp>
        <p:nvSpPr>
          <p:cNvPr id="18" name="文字方塊 17">
            <a:extLst>
              <a:ext uri="{FF2B5EF4-FFF2-40B4-BE49-F238E27FC236}">
                <a16:creationId xmlns:a16="http://schemas.microsoft.com/office/drawing/2014/main" id="{E5F7D81C-CCE2-B37A-7410-C7327C2257D0}"/>
              </a:ext>
            </a:extLst>
          </p:cNvPr>
          <p:cNvSpPr txBox="1"/>
          <p:nvPr/>
        </p:nvSpPr>
        <p:spPr>
          <a:xfrm>
            <a:off x="5157901" y="4808219"/>
            <a:ext cx="1735380" cy="347076"/>
          </a:xfrm>
          <a:prstGeom prst="rect">
            <a:avLst/>
          </a:prstGeom>
          <a:solidFill>
            <a:srgbClr val="D6E8FE"/>
          </a:solidFill>
        </p:spPr>
        <p:txBody>
          <a:bodyPr wrap="none" rtlCol="0" anchor="ctr">
            <a:noAutofit/>
          </a:bodyPr>
          <a:lstStyle/>
          <a:p>
            <a:pPr algn="ctr" fontAlgn="base">
              <a:spcBef>
                <a:spcPct val="0"/>
              </a:spcBef>
              <a:spcAft>
                <a:spcPct val="0"/>
              </a:spcAft>
            </a:pPr>
            <a:r>
              <a:rPr lang="zh-TW" altLang="en-US" sz="1543" kern="0">
                <a:solidFill>
                  <a:srgbClr val="000000"/>
                </a:solidFill>
                <a:latin typeface="微軟正黑體" panose="020B0604030504040204" pitchFamily="34" charset="-120"/>
                <a:cs typeface="Arial"/>
                <a:sym typeface="Arial"/>
              </a:rPr>
              <a:t>季報</a:t>
            </a:r>
            <a:r>
              <a:rPr lang="en-US" altLang="zh-TW" sz="1543" kern="0">
                <a:solidFill>
                  <a:srgbClr val="000000"/>
                </a:solidFill>
                <a:latin typeface="微軟正黑體" panose="020B0604030504040204" pitchFamily="34" charset="-120"/>
                <a:cs typeface="Arial"/>
                <a:sym typeface="Arial"/>
              </a:rPr>
              <a:t>/</a:t>
            </a:r>
            <a:r>
              <a:rPr lang="zh-TW" altLang="en-US" sz="1543" kern="0">
                <a:solidFill>
                  <a:srgbClr val="000000"/>
                </a:solidFill>
                <a:latin typeface="微軟正黑體" panose="020B0604030504040204" pitchFamily="34" charset="-120"/>
                <a:cs typeface="Arial"/>
                <a:sym typeface="Arial"/>
              </a:rPr>
              <a:t>年報專家</a:t>
            </a:r>
          </a:p>
        </p:txBody>
      </p:sp>
      <p:sp>
        <p:nvSpPr>
          <p:cNvPr id="19" name="文字方塊 18">
            <a:extLst>
              <a:ext uri="{FF2B5EF4-FFF2-40B4-BE49-F238E27FC236}">
                <a16:creationId xmlns:a16="http://schemas.microsoft.com/office/drawing/2014/main" id="{97860C30-32D8-5A6A-14DC-16546FC0124D}"/>
              </a:ext>
            </a:extLst>
          </p:cNvPr>
          <p:cNvSpPr txBox="1"/>
          <p:nvPr/>
        </p:nvSpPr>
        <p:spPr>
          <a:xfrm>
            <a:off x="7193208" y="3659344"/>
            <a:ext cx="776175" cy="329770"/>
          </a:xfrm>
          <a:prstGeom prst="rect">
            <a:avLst/>
          </a:prstGeom>
          <a:solidFill>
            <a:srgbClr val="FFCCCC"/>
          </a:solidFill>
        </p:spPr>
        <p:txBody>
          <a:bodyPr wrap="none" rtlCol="0">
            <a:spAutoFit/>
          </a:bodyPr>
          <a:lstStyle/>
          <a:p>
            <a:pPr>
              <a:buClr>
                <a:srgbClr val="000000"/>
              </a:buClr>
              <a:buFont typeface="Arial"/>
              <a:buNone/>
            </a:pPr>
            <a:r>
              <a:rPr lang="zh-TW" altLang="en-US" sz="1543" kern="0" dirty="0">
                <a:solidFill>
                  <a:srgbClr val="000000"/>
                </a:solidFill>
                <a:latin typeface="微軟正黑體" panose="020B0604030504040204" pitchFamily="34" charset="-120"/>
                <a:cs typeface="Arial"/>
                <a:sym typeface="Arial"/>
              </a:rPr>
              <a:t>主持人</a:t>
            </a:r>
          </a:p>
        </p:txBody>
      </p:sp>
      <p:pic>
        <p:nvPicPr>
          <p:cNvPr id="20" name="圖片 19">
            <a:extLst>
              <a:ext uri="{FF2B5EF4-FFF2-40B4-BE49-F238E27FC236}">
                <a16:creationId xmlns:a16="http://schemas.microsoft.com/office/drawing/2014/main" id="{7C858849-1062-7AF8-38B5-F5620A2EDF8F}"/>
              </a:ext>
            </a:extLst>
          </p:cNvPr>
          <p:cNvPicPr>
            <a:picLocks noChangeAspect="1"/>
          </p:cNvPicPr>
          <p:nvPr/>
        </p:nvPicPr>
        <p:blipFill>
          <a:blip r:embed="rId4"/>
          <a:stretch>
            <a:fillRect/>
          </a:stretch>
        </p:blipFill>
        <p:spPr>
          <a:xfrm>
            <a:off x="7209312" y="2864478"/>
            <a:ext cx="699612" cy="699612"/>
          </a:xfrm>
          <a:prstGeom prst="rect">
            <a:avLst/>
          </a:prstGeom>
        </p:spPr>
      </p:pic>
      <p:sp>
        <p:nvSpPr>
          <p:cNvPr id="58" name="文字方塊 57">
            <a:extLst>
              <a:ext uri="{FF2B5EF4-FFF2-40B4-BE49-F238E27FC236}">
                <a16:creationId xmlns:a16="http://schemas.microsoft.com/office/drawing/2014/main" id="{E06A731E-B5BB-7481-6B27-0F7058E93CCF}"/>
              </a:ext>
            </a:extLst>
          </p:cNvPr>
          <p:cNvSpPr txBox="1"/>
          <p:nvPr/>
        </p:nvSpPr>
        <p:spPr>
          <a:xfrm>
            <a:off x="3417073" y="4704757"/>
            <a:ext cx="516488" cy="276999"/>
          </a:xfrm>
          <a:prstGeom prst="rect">
            <a:avLst/>
          </a:prstGeom>
          <a:noFill/>
        </p:spPr>
        <p:txBody>
          <a:bodyPr wrap="none" rtlCol="0">
            <a:spAutoFit/>
          </a:bodyPr>
          <a:lstStyle/>
          <a:p>
            <a:r>
              <a:rPr lang="en-US" altLang="zh-TW" sz="1200" dirty="0">
                <a:latin typeface="+mj-ea"/>
                <a:ea typeface="+mj-ea"/>
              </a:rPr>
              <a:t>WEB</a:t>
            </a:r>
          </a:p>
        </p:txBody>
      </p:sp>
      <p:cxnSp>
        <p:nvCxnSpPr>
          <p:cNvPr id="70" name="直線單箭頭接點 69">
            <a:extLst>
              <a:ext uri="{FF2B5EF4-FFF2-40B4-BE49-F238E27FC236}">
                <a16:creationId xmlns:a16="http://schemas.microsoft.com/office/drawing/2014/main" id="{5BB8F337-420E-08DE-FA31-2CF8BD044BFC}"/>
              </a:ext>
            </a:extLst>
          </p:cNvPr>
          <p:cNvCxnSpPr>
            <a:cxnSpLocks/>
            <a:stCxn id="27" idx="3"/>
            <a:endCxn id="16" idx="1"/>
          </p:cNvCxnSpPr>
          <p:nvPr/>
        </p:nvCxnSpPr>
        <p:spPr bwMode="auto">
          <a:xfrm flipV="1">
            <a:off x="2940802" y="3905872"/>
            <a:ext cx="2217099" cy="107588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5" name="直線單箭頭接點 74">
            <a:extLst>
              <a:ext uri="{FF2B5EF4-FFF2-40B4-BE49-F238E27FC236}">
                <a16:creationId xmlns:a16="http://schemas.microsoft.com/office/drawing/2014/main" id="{BF3AA78F-5882-48C6-11C1-7081B6CF5E78}"/>
              </a:ext>
            </a:extLst>
          </p:cNvPr>
          <p:cNvCxnSpPr>
            <a:cxnSpLocks/>
            <a:stCxn id="28" idx="1"/>
          </p:cNvCxnSpPr>
          <p:nvPr/>
        </p:nvCxnSpPr>
        <p:spPr bwMode="auto">
          <a:xfrm flipH="1" flipV="1">
            <a:off x="8223402" y="4399324"/>
            <a:ext cx="514945" cy="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3360634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07DF56E-9E54-4444-93C4-9ED55592C876}"/>
              </a:ext>
            </a:extLst>
          </p:cNvPr>
          <p:cNvSpPr>
            <a:spLocks noGrp="1"/>
          </p:cNvSpPr>
          <p:nvPr>
            <p:ph type="title"/>
          </p:nvPr>
        </p:nvSpPr>
        <p:spPr>
          <a:xfrm>
            <a:off x="527051" y="149735"/>
            <a:ext cx="11233150" cy="630238"/>
          </a:xfrm>
          <a:prstGeom prst="rect">
            <a:avLst/>
          </a:prstGeom>
        </p:spPr>
        <p:txBody>
          <a:bodyPr/>
          <a:lstStyle/>
          <a:p>
            <a:r>
              <a:rPr lang="zh-TW" altLang="en-US" sz="3200" b="0">
                <a:solidFill>
                  <a:schemeClr val="tx1"/>
                </a:solidFill>
              </a:rPr>
              <a:t>硬體架構</a:t>
            </a:r>
          </a:p>
        </p:txBody>
      </p:sp>
      <p:grpSp>
        <p:nvGrpSpPr>
          <p:cNvPr id="3" name="群組 2">
            <a:extLst>
              <a:ext uri="{FF2B5EF4-FFF2-40B4-BE49-F238E27FC236}">
                <a16:creationId xmlns:a16="http://schemas.microsoft.com/office/drawing/2014/main" id="{81CC8A35-0603-70BD-A83E-F6F72A99BE9C}"/>
              </a:ext>
            </a:extLst>
          </p:cNvPr>
          <p:cNvGrpSpPr/>
          <p:nvPr/>
        </p:nvGrpSpPr>
        <p:grpSpPr>
          <a:xfrm>
            <a:off x="4539707" y="3106238"/>
            <a:ext cx="2152015" cy="683651"/>
            <a:chOff x="2223082" y="2117992"/>
            <a:chExt cx="2152751" cy="683651"/>
          </a:xfrm>
        </p:grpSpPr>
        <p:sp>
          <p:nvSpPr>
            <p:cNvPr id="4" name="文字方塊 6">
              <a:extLst>
                <a:ext uri="{FF2B5EF4-FFF2-40B4-BE49-F238E27FC236}">
                  <a16:creationId xmlns:a16="http://schemas.microsoft.com/office/drawing/2014/main" id="{D7630D7B-1DAF-16B4-5DE0-3A259BAF4F2A}"/>
                </a:ext>
              </a:extLst>
            </p:cNvPr>
            <p:cNvSpPr txBox="1"/>
            <p:nvPr/>
          </p:nvSpPr>
          <p:spPr>
            <a:xfrm>
              <a:off x="2808826" y="2117992"/>
              <a:ext cx="1567007" cy="600164"/>
            </a:xfrm>
            <a:prstGeom prst="rect">
              <a:avLst/>
            </a:prstGeom>
            <a:noFill/>
          </p:spPr>
          <p:txBody>
            <a:bodyPr wrap="square" rtlCol="0">
              <a:spAutoFit/>
            </a:bodyPr>
            <a:lstStyle/>
            <a:p>
              <a:pPr fontAlgn="base"/>
              <a:r>
                <a:rPr lang="zh-TW" sz="1100" b="1" kern="1200" dirty="0">
                  <a:solidFill>
                    <a:srgbClr val="000000"/>
                  </a:solidFill>
                  <a:effectLst/>
                  <a:latin typeface="Arial" panose="020B0604020202020204" pitchFamily="34" charset="0"/>
                  <a:ea typeface="STKaiti" panose="02010600040101010101" pitchFamily="2" charset="-122"/>
                  <a:cs typeface="Times New Roman" panose="02020603050405020304" pitchFamily="18" charset="0"/>
                </a:rPr>
                <a:t>永豐</a:t>
              </a:r>
              <a:r>
                <a:rPr lang="en-US" sz="1100" b="1" kern="1200" dirty="0">
                  <a:solidFill>
                    <a:srgbClr val="000000"/>
                  </a:solidFill>
                  <a:effectLst/>
                  <a:latin typeface="Arial" panose="020B0604020202020204" pitchFamily="34" charset="0"/>
                  <a:ea typeface="STKaiti" panose="02010600040101010101" pitchFamily="2" charset="-122"/>
                  <a:cs typeface="Times New Roman" panose="02020603050405020304" pitchFamily="18" charset="0"/>
                </a:rPr>
                <a:t>AI</a:t>
              </a:r>
              <a:r>
                <a:rPr lang="zh-TW" sz="1100" b="1" kern="1200" dirty="0">
                  <a:solidFill>
                    <a:srgbClr val="000000"/>
                  </a:solidFill>
                  <a:effectLst/>
                  <a:latin typeface="Arial" panose="020B0604020202020204" pitchFamily="34" charset="0"/>
                  <a:ea typeface="STKaiti" panose="02010600040101010101" pitchFamily="2" charset="-122"/>
                  <a:cs typeface="Times New Roman" panose="02020603050405020304" pitchFamily="18" charset="0"/>
                </a:rPr>
                <a:t>大腦</a:t>
              </a:r>
              <a:r>
                <a:rPr lang="en-US" sz="1100" b="1" kern="1200" dirty="0">
                  <a:solidFill>
                    <a:srgbClr val="000000"/>
                  </a:solidFill>
                  <a:effectLst/>
                  <a:latin typeface="Arial" panose="020B0604020202020204" pitchFamily="34" charset="0"/>
                  <a:ea typeface="STKaiti" panose="02010600040101010101" pitchFamily="2" charset="-122"/>
                  <a:cs typeface="Times New Roman" panose="02020603050405020304" pitchFamily="18" charset="0"/>
                </a:rPr>
                <a:t>-AP</a:t>
              </a:r>
              <a:r>
                <a:rPr lang="zh-TW" sz="1100" b="1" kern="1200" dirty="0">
                  <a:solidFill>
                    <a:srgbClr val="000000"/>
                  </a:solidFill>
                  <a:effectLst/>
                  <a:latin typeface="Arial" panose="020B0604020202020204" pitchFamily="34" charset="0"/>
                  <a:ea typeface="STKaiti" panose="02010600040101010101" pitchFamily="2" charset="-122"/>
                  <a:cs typeface="Times New Roman" panose="02020603050405020304" pitchFamily="18" charset="0"/>
                </a:rPr>
                <a:t>主機</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p>
              <a:pPr fontAlgn="base"/>
              <a:r>
                <a:rPr lang="en-US" sz="1100" b="1" kern="1200" dirty="0">
                  <a:solidFill>
                    <a:srgbClr val="000000"/>
                  </a:solidFill>
                  <a:effectLst/>
                  <a:latin typeface="Arial" panose="020B0604020202020204" pitchFamily="34" charset="0"/>
                  <a:ea typeface="STKaiti" panose="02010600040101010101" pitchFamily="2" charset="-122"/>
                  <a:cs typeface="Times New Roman" panose="02020603050405020304" pitchFamily="18" charset="0"/>
                </a:rPr>
                <a:t>128.110.</a:t>
              </a:r>
              <a:r>
                <a:rPr lang="en-US" altLang="zh-TW" sz="1100" b="1" kern="1200" dirty="0">
                  <a:solidFill>
                    <a:srgbClr val="000000"/>
                  </a:solidFill>
                  <a:effectLst/>
                  <a:latin typeface="Arial" panose="020B0604020202020204" pitchFamily="34" charset="0"/>
                  <a:ea typeface="STKaiti" panose="02010600040101010101" pitchFamily="2" charset="-122"/>
                  <a:cs typeface="Times New Roman" panose="02020603050405020304" pitchFamily="18" charset="0"/>
                </a:rPr>
                <a:t>24.73</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p>
              <a:pPr fontAlgn="base"/>
              <a:r>
                <a:rPr lang="en-US" sz="1100" b="1" kern="1200" dirty="0">
                  <a:solidFill>
                    <a:srgbClr val="000000"/>
                  </a:solidFill>
                  <a:effectLst/>
                  <a:latin typeface="Arial" panose="020B0604020202020204" pitchFamily="34" charset="0"/>
                  <a:ea typeface="新細明體" panose="02020500000000000000" pitchFamily="18" charset="-120"/>
                  <a:cs typeface="Times New Roman" panose="02020603050405020304" pitchFamily="18" charset="0"/>
                </a:rPr>
                <a:t>20</a:t>
              </a:r>
              <a:r>
                <a:rPr lang="en-US" sz="1100" b="1" kern="1200" dirty="0">
                  <a:solidFill>
                    <a:srgbClr val="000000"/>
                  </a:solidFill>
                  <a:effectLst/>
                  <a:latin typeface="Arial" panose="020B0604020202020204" pitchFamily="34" charset="0"/>
                  <a:ea typeface="STKaiti" panose="02010600040101010101" pitchFamily="2" charset="-122"/>
                  <a:cs typeface="Times New Roman" panose="02020603050405020304" pitchFamily="18" charset="0"/>
                </a:rPr>
                <a:t>x-</a:t>
              </a:r>
              <a:r>
                <a:rPr lang="en-US" sz="1100" b="1" kern="1200" dirty="0">
                  <a:solidFill>
                    <a:srgbClr val="000000"/>
                  </a:solidFill>
                  <a:effectLst/>
                  <a:latin typeface="Arial" panose="020B0604020202020204" pitchFamily="34" charset="0"/>
                  <a:ea typeface="新細明體" panose="02020500000000000000" pitchFamily="18" charset="-120"/>
                  <a:cs typeface="Times New Roman" panose="02020603050405020304" pitchFamily="18" charset="0"/>
                </a:rPr>
                <a:t>32</a:t>
              </a:r>
              <a:r>
                <a:rPr lang="en-US" sz="1100" b="1" kern="1200" dirty="0">
                  <a:solidFill>
                    <a:srgbClr val="000000"/>
                  </a:solidFill>
                  <a:effectLst/>
                  <a:latin typeface="Arial" panose="020B0604020202020204" pitchFamily="34" charset="0"/>
                  <a:ea typeface="STKaiti" panose="02010600040101010101" pitchFamily="2" charset="-122"/>
                  <a:cs typeface="Times New Roman" panose="02020603050405020304" pitchFamily="18" charset="0"/>
                </a:rPr>
                <a:t>G-</a:t>
              </a:r>
              <a:r>
                <a:rPr lang="en-US" sz="1100" b="1" kern="1200" dirty="0">
                  <a:solidFill>
                    <a:srgbClr val="000000"/>
                  </a:solidFill>
                  <a:effectLst/>
                  <a:latin typeface="Arial" panose="020B0604020202020204" pitchFamily="34" charset="0"/>
                  <a:ea typeface="新細明體" panose="02020500000000000000" pitchFamily="18" charset="-120"/>
                  <a:cs typeface="Times New Roman" panose="02020603050405020304" pitchFamily="18" charset="0"/>
                </a:rPr>
                <a:t>5</a:t>
              </a:r>
              <a:r>
                <a:rPr lang="en-US" sz="1100" b="1" kern="1200" dirty="0">
                  <a:solidFill>
                    <a:srgbClr val="000000"/>
                  </a:solidFill>
                  <a:effectLst/>
                  <a:latin typeface="Arial" panose="020B0604020202020204" pitchFamily="34" charset="0"/>
                  <a:ea typeface="STKaiti" panose="02010600040101010101" pitchFamily="2" charset="-122"/>
                  <a:cs typeface="Times New Roman" panose="02020603050405020304" pitchFamily="18" charset="0"/>
                </a:rPr>
                <a:t>T-OL9</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pic>
          <p:nvPicPr>
            <p:cNvPr id="5" name="Picture 150" descr="ICON_VM_basic_label_Q308">
              <a:extLst>
                <a:ext uri="{FF2B5EF4-FFF2-40B4-BE49-F238E27FC236}">
                  <a16:creationId xmlns:a16="http://schemas.microsoft.com/office/drawing/2014/main" id="{6426C5A3-0332-886E-C917-76A04A7583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3082" y="2128543"/>
              <a:ext cx="581025"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6" name="群組 5">
            <a:extLst>
              <a:ext uri="{FF2B5EF4-FFF2-40B4-BE49-F238E27FC236}">
                <a16:creationId xmlns:a16="http://schemas.microsoft.com/office/drawing/2014/main" id="{FE51F1DE-99E7-7A04-9CD2-2D59C2B9BE1F}"/>
              </a:ext>
            </a:extLst>
          </p:cNvPr>
          <p:cNvGrpSpPr/>
          <p:nvPr/>
        </p:nvGrpSpPr>
        <p:grpSpPr>
          <a:xfrm>
            <a:off x="7906689" y="2995025"/>
            <a:ext cx="2189388" cy="683689"/>
            <a:chOff x="5587748" y="2004590"/>
            <a:chExt cx="2189927" cy="683986"/>
          </a:xfrm>
        </p:grpSpPr>
        <p:sp>
          <p:nvSpPr>
            <p:cNvPr id="7" name="文字方塊 9">
              <a:extLst>
                <a:ext uri="{FF2B5EF4-FFF2-40B4-BE49-F238E27FC236}">
                  <a16:creationId xmlns:a16="http://schemas.microsoft.com/office/drawing/2014/main" id="{E2A5878B-A559-AFA3-1457-85FA7F72A905}"/>
                </a:ext>
              </a:extLst>
            </p:cNvPr>
            <p:cNvSpPr txBox="1"/>
            <p:nvPr/>
          </p:nvSpPr>
          <p:spPr>
            <a:xfrm>
              <a:off x="6248925" y="2004590"/>
              <a:ext cx="1528750" cy="600425"/>
            </a:xfrm>
            <a:prstGeom prst="rect">
              <a:avLst/>
            </a:prstGeom>
            <a:noFill/>
          </p:spPr>
          <p:txBody>
            <a:bodyPr wrap="square" rtlCol="0">
              <a:spAutoFit/>
            </a:bodyPr>
            <a:lstStyle/>
            <a:p>
              <a:pPr fontAlgn="base"/>
              <a:r>
                <a:rPr lang="zh-TW" sz="1100" b="1" kern="1200" dirty="0">
                  <a:solidFill>
                    <a:srgbClr val="000000"/>
                  </a:solidFill>
                  <a:effectLst/>
                  <a:latin typeface="Arial" panose="020B0604020202020204" pitchFamily="34" charset="0"/>
                  <a:ea typeface="STKaiti" panose="02010600040101010101" pitchFamily="2" charset="-122"/>
                  <a:cs typeface="Times New Roman" panose="02020603050405020304" pitchFamily="18" charset="0"/>
                </a:rPr>
                <a:t>永豐</a:t>
              </a:r>
              <a:r>
                <a:rPr lang="en-US" sz="1100" b="1" kern="1200" dirty="0">
                  <a:solidFill>
                    <a:srgbClr val="000000"/>
                  </a:solidFill>
                  <a:effectLst/>
                  <a:latin typeface="Arial" panose="020B0604020202020204" pitchFamily="34" charset="0"/>
                  <a:ea typeface="STKaiti" panose="02010600040101010101" pitchFamily="2" charset="-122"/>
                  <a:cs typeface="Times New Roman" panose="02020603050405020304" pitchFamily="18" charset="0"/>
                </a:rPr>
                <a:t>AI</a:t>
              </a:r>
              <a:r>
                <a:rPr lang="zh-TW" sz="1100" b="1" kern="1200" dirty="0">
                  <a:solidFill>
                    <a:srgbClr val="000000"/>
                  </a:solidFill>
                  <a:effectLst/>
                  <a:latin typeface="Arial" panose="020B0604020202020204" pitchFamily="34" charset="0"/>
                  <a:ea typeface="STKaiti" panose="02010600040101010101" pitchFamily="2" charset="-122"/>
                  <a:cs typeface="Times New Roman" panose="02020603050405020304" pitchFamily="18" charset="0"/>
                </a:rPr>
                <a:t>大腦</a:t>
              </a:r>
              <a:r>
                <a:rPr lang="en-US" sz="1100" b="1" kern="1200" dirty="0">
                  <a:solidFill>
                    <a:srgbClr val="000000"/>
                  </a:solidFill>
                  <a:effectLst/>
                  <a:latin typeface="Arial" panose="020B0604020202020204" pitchFamily="34" charset="0"/>
                  <a:ea typeface="STKaiti" panose="02010600040101010101" pitchFamily="2" charset="-122"/>
                  <a:cs typeface="Times New Roman" panose="02020603050405020304" pitchFamily="18" charset="0"/>
                </a:rPr>
                <a:t>-DB</a:t>
              </a:r>
              <a:r>
                <a:rPr lang="zh-TW" sz="1100" b="1" kern="1200" dirty="0">
                  <a:solidFill>
                    <a:srgbClr val="000000"/>
                  </a:solidFill>
                  <a:effectLst/>
                  <a:latin typeface="Arial" panose="020B0604020202020204" pitchFamily="34" charset="0"/>
                  <a:ea typeface="STKaiti" panose="02010600040101010101" pitchFamily="2" charset="-122"/>
                  <a:cs typeface="Times New Roman" panose="02020603050405020304" pitchFamily="18" charset="0"/>
                </a:rPr>
                <a:t>主機</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p>
              <a:pPr fontAlgn="base"/>
              <a:r>
                <a:rPr lang="en-US" sz="1100" b="1" kern="1200" dirty="0">
                  <a:solidFill>
                    <a:srgbClr val="000000"/>
                  </a:solidFill>
                  <a:effectLst/>
                  <a:latin typeface="Arial" panose="020B0604020202020204" pitchFamily="34" charset="0"/>
                  <a:ea typeface="STKaiti" panose="02010600040101010101" pitchFamily="2" charset="-122"/>
                  <a:cs typeface="Times New Roman" panose="02020603050405020304" pitchFamily="18" charset="0"/>
                </a:rPr>
                <a:t>128.110.</a:t>
              </a:r>
              <a:r>
                <a:rPr lang="en-US" altLang="zh-TW" sz="1100" b="1" kern="1200" dirty="0">
                  <a:solidFill>
                    <a:srgbClr val="000000"/>
                  </a:solidFill>
                  <a:effectLst/>
                  <a:latin typeface="Arial" panose="020B0604020202020204" pitchFamily="34" charset="0"/>
                  <a:ea typeface="STKaiti" panose="02010600040101010101" pitchFamily="2" charset="-122"/>
                  <a:cs typeface="Times New Roman" panose="02020603050405020304" pitchFamily="18" charset="0"/>
                </a:rPr>
                <a:t>24.74</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p>
              <a:pPr fontAlgn="base"/>
              <a:r>
                <a:rPr lang="en-US" sz="1100" b="1" kern="1200" dirty="0">
                  <a:solidFill>
                    <a:srgbClr val="000000"/>
                  </a:solidFill>
                  <a:effectLst/>
                  <a:latin typeface="Arial" panose="020B0604020202020204" pitchFamily="34" charset="0"/>
                  <a:ea typeface="新細明體" panose="02020500000000000000" pitchFamily="18" charset="-120"/>
                  <a:cs typeface="Times New Roman" panose="02020603050405020304" pitchFamily="18" charset="0"/>
                </a:rPr>
                <a:t>20</a:t>
              </a:r>
              <a:r>
                <a:rPr lang="en-US" sz="1100" b="1" kern="1200" dirty="0">
                  <a:solidFill>
                    <a:srgbClr val="000000"/>
                  </a:solidFill>
                  <a:effectLst/>
                  <a:latin typeface="Arial" panose="020B0604020202020204" pitchFamily="34" charset="0"/>
                  <a:ea typeface="STKaiti" panose="02010600040101010101" pitchFamily="2" charset="-122"/>
                  <a:cs typeface="Times New Roman" panose="02020603050405020304" pitchFamily="18" charset="0"/>
                </a:rPr>
                <a:t>x-</a:t>
              </a:r>
              <a:r>
                <a:rPr lang="en-US" sz="1100" b="1" kern="1200" dirty="0">
                  <a:solidFill>
                    <a:srgbClr val="000000"/>
                  </a:solidFill>
                  <a:effectLst/>
                  <a:latin typeface="Arial" panose="020B0604020202020204" pitchFamily="34" charset="0"/>
                  <a:ea typeface="新細明體" panose="02020500000000000000" pitchFamily="18" charset="-120"/>
                  <a:cs typeface="Times New Roman" panose="02020603050405020304" pitchFamily="18" charset="0"/>
                </a:rPr>
                <a:t>32</a:t>
              </a:r>
              <a:r>
                <a:rPr lang="en-US" sz="1100" b="1" kern="1200" dirty="0">
                  <a:solidFill>
                    <a:srgbClr val="000000"/>
                  </a:solidFill>
                  <a:effectLst/>
                  <a:latin typeface="Arial" panose="020B0604020202020204" pitchFamily="34" charset="0"/>
                  <a:ea typeface="STKaiti" panose="02010600040101010101" pitchFamily="2" charset="-122"/>
                  <a:cs typeface="Times New Roman" panose="02020603050405020304" pitchFamily="18" charset="0"/>
                </a:rPr>
                <a:t>G-</a:t>
              </a:r>
              <a:r>
                <a:rPr lang="en-US" sz="1100" b="1" kern="1200" dirty="0">
                  <a:solidFill>
                    <a:srgbClr val="000000"/>
                  </a:solidFill>
                  <a:effectLst/>
                  <a:latin typeface="Arial" panose="020B0604020202020204" pitchFamily="34" charset="0"/>
                  <a:ea typeface="新細明體" panose="02020500000000000000" pitchFamily="18" charset="-120"/>
                  <a:cs typeface="Times New Roman" panose="02020603050405020304" pitchFamily="18" charset="0"/>
                </a:rPr>
                <a:t>1T</a:t>
              </a:r>
              <a:r>
                <a:rPr lang="en-US" sz="1100" b="1" kern="1200" dirty="0">
                  <a:solidFill>
                    <a:srgbClr val="000000"/>
                  </a:solidFill>
                  <a:effectLst/>
                  <a:latin typeface="Arial" panose="020B0604020202020204" pitchFamily="34" charset="0"/>
                  <a:ea typeface="STKaiti" panose="02010600040101010101" pitchFamily="2" charset="-122"/>
                  <a:cs typeface="Times New Roman" panose="02020603050405020304" pitchFamily="18" charset="0"/>
                </a:rPr>
                <a:t>-W22</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pic>
          <p:nvPicPr>
            <p:cNvPr id="8" name="Picture 150" descr="ICON_VM_basic_label_Q308">
              <a:extLst>
                <a:ext uri="{FF2B5EF4-FFF2-40B4-BE49-F238E27FC236}">
                  <a16:creationId xmlns:a16="http://schemas.microsoft.com/office/drawing/2014/main" id="{8464CBC1-DCD3-7292-1C17-AB8BF971F5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7748" y="2015476"/>
              <a:ext cx="581025"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9" name="直線單箭頭接點 8">
            <a:extLst>
              <a:ext uri="{FF2B5EF4-FFF2-40B4-BE49-F238E27FC236}">
                <a16:creationId xmlns:a16="http://schemas.microsoft.com/office/drawing/2014/main" id="{1D8B5C7A-EB57-6B6A-A847-4F64E6381CBA}"/>
              </a:ext>
            </a:extLst>
          </p:cNvPr>
          <p:cNvCxnSpPr/>
          <p:nvPr/>
        </p:nvCxnSpPr>
        <p:spPr bwMode="auto">
          <a:xfrm>
            <a:off x="6553556" y="3402830"/>
            <a:ext cx="1254125" cy="508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0" name="直線單箭頭接點 9">
            <a:extLst>
              <a:ext uri="{FF2B5EF4-FFF2-40B4-BE49-F238E27FC236}">
                <a16:creationId xmlns:a16="http://schemas.microsoft.com/office/drawing/2014/main" id="{D97D587C-7FC5-EBAE-B664-1D11886EBD53}"/>
              </a:ext>
            </a:extLst>
          </p:cNvPr>
          <p:cNvCxnSpPr>
            <a:cxnSpLocks/>
          </p:cNvCxnSpPr>
          <p:nvPr/>
        </p:nvCxnSpPr>
        <p:spPr bwMode="auto">
          <a:xfrm flipH="1">
            <a:off x="3071587" y="3522798"/>
            <a:ext cx="1198245" cy="16510"/>
          </a:xfrm>
          <a:prstGeom prst="straightConnector1">
            <a:avLst/>
          </a:prstGeom>
          <a:ln>
            <a:headEnd type="none" w="med" len="med"/>
            <a:tailEnd type="triangle"/>
          </a:ln>
        </p:spPr>
        <p:style>
          <a:lnRef idx="2">
            <a:schemeClr val="accent1"/>
          </a:lnRef>
          <a:fillRef idx="0">
            <a:schemeClr val="accent1"/>
          </a:fillRef>
          <a:effectRef idx="1">
            <a:schemeClr val="accent1"/>
          </a:effectRef>
          <a:fontRef idx="minor">
            <a:schemeClr val="tx1"/>
          </a:fontRef>
        </p:style>
      </p:cxnSp>
      <p:grpSp>
        <p:nvGrpSpPr>
          <p:cNvPr id="11" name="群組 10">
            <a:extLst>
              <a:ext uri="{FF2B5EF4-FFF2-40B4-BE49-F238E27FC236}">
                <a16:creationId xmlns:a16="http://schemas.microsoft.com/office/drawing/2014/main" id="{0A040511-E121-7AAB-368B-9B2EF66552D7}"/>
              </a:ext>
            </a:extLst>
          </p:cNvPr>
          <p:cNvGrpSpPr/>
          <p:nvPr/>
        </p:nvGrpSpPr>
        <p:grpSpPr>
          <a:xfrm>
            <a:off x="2319112" y="3157673"/>
            <a:ext cx="691515" cy="737235"/>
            <a:chOff x="0" y="2165614"/>
            <a:chExt cx="940803" cy="1003339"/>
          </a:xfrm>
        </p:grpSpPr>
        <p:pic>
          <p:nvPicPr>
            <p:cNvPr id="12" name="圖形 18" descr="男性形象">
              <a:extLst>
                <a:ext uri="{FF2B5EF4-FFF2-40B4-BE49-F238E27FC236}">
                  <a16:creationId xmlns:a16="http://schemas.microsoft.com/office/drawing/2014/main" id="{BC09CF4D-E789-0F47-4288-07B86E5803C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7251" y="2165614"/>
              <a:ext cx="614618" cy="614618"/>
            </a:xfrm>
            <a:prstGeom prst="rect">
              <a:avLst/>
            </a:prstGeom>
          </p:spPr>
        </p:pic>
        <p:sp>
          <p:nvSpPr>
            <p:cNvPr id="13" name="文字方塊 19">
              <a:extLst>
                <a:ext uri="{FF2B5EF4-FFF2-40B4-BE49-F238E27FC236}">
                  <a16:creationId xmlns:a16="http://schemas.microsoft.com/office/drawing/2014/main" id="{5F438870-2519-EAAF-A863-744813EA88E7}"/>
                </a:ext>
              </a:extLst>
            </p:cNvPr>
            <p:cNvSpPr txBox="1"/>
            <p:nvPr/>
          </p:nvSpPr>
          <p:spPr>
            <a:xfrm>
              <a:off x="0" y="2733539"/>
              <a:ext cx="940803" cy="435414"/>
            </a:xfrm>
            <a:prstGeom prst="rect">
              <a:avLst/>
            </a:prstGeom>
            <a:noFill/>
          </p:spPr>
          <p:txBody>
            <a:bodyPr wrap="none" rtlCol="0">
              <a:spAutoFit/>
            </a:bodyPr>
            <a:lstStyle/>
            <a:p>
              <a:pPr fontAlgn="base"/>
              <a:r>
                <a:rPr lang="zh-TW" sz="1000" b="1" kern="1200" dirty="0">
                  <a:solidFill>
                    <a:srgbClr val="000000"/>
                  </a:solidFill>
                  <a:effectLst/>
                  <a:latin typeface="Calibri" panose="020F0502020204030204" pitchFamily="34" charset="0"/>
                  <a:ea typeface="新細明體" panose="02020500000000000000" pitchFamily="18" charset="-120"/>
                  <a:cs typeface="Times New Roman" panose="02020603050405020304" pitchFamily="18" charset="0"/>
                </a:rPr>
                <a:t>投顧同仁</a:t>
              </a:r>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grpSp>
      <p:sp>
        <p:nvSpPr>
          <p:cNvPr id="14" name="流程圖: 磁碟 26">
            <a:extLst>
              <a:ext uri="{FF2B5EF4-FFF2-40B4-BE49-F238E27FC236}">
                <a16:creationId xmlns:a16="http://schemas.microsoft.com/office/drawing/2014/main" id="{3AF8D438-B160-CC76-C2C4-C57C60EEF662}"/>
              </a:ext>
            </a:extLst>
          </p:cNvPr>
          <p:cNvSpPr>
            <a:spLocks noChangeArrowheads="1"/>
          </p:cNvSpPr>
          <p:nvPr/>
        </p:nvSpPr>
        <p:spPr bwMode="auto">
          <a:xfrm>
            <a:off x="2496276" y="4882047"/>
            <a:ext cx="1164099" cy="1000125"/>
          </a:xfrm>
          <a:prstGeom prst="flowChartMagneticDisk">
            <a:avLst/>
          </a:prstGeom>
          <a:solidFill>
            <a:srgbClr val="FFC000"/>
          </a:solidFill>
          <a:ln w="19050">
            <a:solidFill>
              <a:srgbClr val="FFFFFF"/>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1050" b="1" i="0" u="none" strike="noStrike" cap="none" normalizeH="0" baseline="0" dirty="0" err="1">
                <a:ln>
                  <a:noFill/>
                </a:ln>
                <a:solidFill>
                  <a:srgbClr val="000000"/>
                </a:solidFill>
                <a:effectLst/>
                <a:latin typeface="Arial" panose="020B0604020202020204" pitchFamily="34" charset="0"/>
                <a:ea typeface="STKaiti" panose="02010600040101010101" pitchFamily="2" charset="-122"/>
                <a:cs typeface="Arial" panose="020B0604020202020204" pitchFamily="34" charset="0"/>
              </a:rPr>
              <a:t>Cmoney</a:t>
            </a:r>
            <a:r>
              <a:rPr kumimoji="0" lang="en-US" altLang="zh-TW" sz="1050" b="1" i="0" u="none" strike="noStrike" cap="none" normalizeH="0" baseline="0" dirty="0">
                <a:ln>
                  <a:noFill/>
                </a:ln>
                <a:solidFill>
                  <a:srgbClr val="000000"/>
                </a:solidFill>
                <a:effectLst/>
                <a:latin typeface="Arial" panose="020B0604020202020204" pitchFamily="34" charset="0"/>
                <a:ea typeface="STKaiti" panose="02010600040101010101" pitchFamily="2" charset="-122"/>
                <a:cs typeface="Arial" panose="020B0604020202020204" pitchFamily="34" charset="0"/>
              </a:rPr>
              <a:t> DB</a:t>
            </a:r>
            <a:endParaRPr kumimoji="0" lang="en-US" altLang="zh-TW" sz="9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1050" b="1" i="0" u="none" strike="noStrike" cap="none" normalizeH="0" baseline="0" dirty="0">
                <a:ln>
                  <a:noFill/>
                </a:ln>
                <a:solidFill>
                  <a:srgbClr val="000000"/>
                </a:solidFill>
                <a:effectLst/>
                <a:latin typeface="Arial" panose="020B0604020202020204" pitchFamily="34" charset="0"/>
                <a:ea typeface="STKaiti" panose="02010600040101010101" pitchFamily="2" charset="-122"/>
                <a:cs typeface="Arial" panose="020B0604020202020204" pitchFamily="34" charset="0"/>
              </a:rPr>
              <a:t>128.110.50.40</a:t>
            </a:r>
            <a:endParaRPr kumimoji="0" lang="en-US" altLang="zh-TW" sz="900" b="0" i="0" u="none" strike="noStrike" cap="none" normalizeH="0" baseline="0" dirty="0">
              <a:ln>
                <a:noFill/>
              </a:ln>
              <a:solidFill>
                <a:schemeClr val="tx1"/>
              </a:solidFill>
              <a:effectLst/>
            </a:endParaRPr>
          </a:p>
        </p:txBody>
      </p:sp>
      <p:grpSp>
        <p:nvGrpSpPr>
          <p:cNvPr id="15" name="群組 14">
            <a:extLst>
              <a:ext uri="{FF2B5EF4-FFF2-40B4-BE49-F238E27FC236}">
                <a16:creationId xmlns:a16="http://schemas.microsoft.com/office/drawing/2014/main" id="{B12DC048-07EC-3937-B94F-90E402AEEF4F}"/>
              </a:ext>
            </a:extLst>
          </p:cNvPr>
          <p:cNvGrpSpPr/>
          <p:nvPr/>
        </p:nvGrpSpPr>
        <p:grpSpPr>
          <a:xfrm>
            <a:off x="4262621" y="5044631"/>
            <a:ext cx="1164101" cy="786766"/>
            <a:chOff x="2217638" y="4127013"/>
            <a:chExt cx="940335" cy="625333"/>
          </a:xfrm>
        </p:grpSpPr>
        <p:pic>
          <p:nvPicPr>
            <p:cNvPr id="16" name="Picture 4">
              <a:extLst>
                <a:ext uri="{FF2B5EF4-FFF2-40B4-BE49-F238E27FC236}">
                  <a16:creationId xmlns:a16="http://schemas.microsoft.com/office/drawing/2014/main" id="{2FD9128E-7865-1053-1CEB-10C1A53B212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54888" y="4127013"/>
              <a:ext cx="447373" cy="4468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文字方塊 153">
              <a:extLst>
                <a:ext uri="{FF2B5EF4-FFF2-40B4-BE49-F238E27FC236}">
                  <a16:creationId xmlns:a16="http://schemas.microsoft.com/office/drawing/2014/main" id="{D7597F95-C1B9-F8E7-3CEB-0BD2BCF94F70}"/>
                </a:ext>
              </a:extLst>
            </p:cNvPr>
            <p:cNvSpPr txBox="1">
              <a:spLocks noChangeArrowheads="1"/>
            </p:cNvSpPr>
            <p:nvPr/>
          </p:nvSpPr>
          <p:spPr bwMode="auto">
            <a:xfrm>
              <a:off x="2217638" y="4409871"/>
              <a:ext cx="940335" cy="34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fontAlgn="base"/>
              <a:r>
                <a:rPr lang="zh-TW" sz="1100" b="1" kern="1200" dirty="0">
                  <a:solidFill>
                    <a:srgbClr val="000000"/>
                  </a:solidFill>
                  <a:effectLst/>
                  <a:latin typeface="Arial" panose="020B0604020202020204" pitchFamily="34" charset="0"/>
                  <a:ea typeface="STKaiti" panose="02010600040101010101" pitchFamily="2" charset="-122"/>
                  <a:cs typeface="Times New Roman" panose="02020603050405020304" pitchFamily="18" charset="0"/>
                </a:rPr>
                <a:t>投顧公槽</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p>
              <a:pPr algn="ctr" fontAlgn="base"/>
              <a:r>
                <a:rPr lang="en-US" sz="1100" b="1" kern="1200" dirty="0">
                  <a:solidFill>
                    <a:srgbClr val="000000"/>
                  </a:solidFill>
                  <a:effectLst/>
                  <a:latin typeface="Arial" panose="020B0604020202020204" pitchFamily="34" charset="0"/>
                  <a:ea typeface="STKaiti" panose="02010600040101010101" pitchFamily="2" charset="-122"/>
                  <a:cs typeface="Times New Roman" panose="02020603050405020304" pitchFamily="18" charset="0"/>
                </a:rPr>
                <a:t>128.110.10.135</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grpSp>
      <p:cxnSp>
        <p:nvCxnSpPr>
          <p:cNvPr id="18" name="直線單箭頭接點 17">
            <a:extLst>
              <a:ext uri="{FF2B5EF4-FFF2-40B4-BE49-F238E27FC236}">
                <a16:creationId xmlns:a16="http://schemas.microsoft.com/office/drawing/2014/main" id="{7AB76A94-B096-41CF-1865-CC27F5192973}"/>
              </a:ext>
            </a:extLst>
          </p:cNvPr>
          <p:cNvCxnSpPr>
            <a:cxnSpLocks/>
          </p:cNvCxnSpPr>
          <p:nvPr/>
        </p:nvCxnSpPr>
        <p:spPr bwMode="auto">
          <a:xfrm flipV="1">
            <a:off x="3270573" y="3734941"/>
            <a:ext cx="1343734" cy="1029017"/>
          </a:xfrm>
          <a:prstGeom prst="straightConnector1">
            <a:avLst/>
          </a:prstGeom>
          <a:ln>
            <a:headEnd type="none" w="med" len="med"/>
            <a:tailEnd type="triangle"/>
          </a:ln>
        </p:spPr>
        <p:style>
          <a:lnRef idx="2">
            <a:schemeClr val="accent1"/>
          </a:lnRef>
          <a:fillRef idx="0">
            <a:schemeClr val="accent1"/>
          </a:fillRef>
          <a:effectRef idx="1">
            <a:schemeClr val="accent1"/>
          </a:effectRef>
          <a:fontRef idx="minor">
            <a:schemeClr val="tx1"/>
          </a:fontRef>
        </p:style>
      </p:cxnSp>
      <p:cxnSp>
        <p:nvCxnSpPr>
          <p:cNvPr id="19" name="直線單箭頭接點 18">
            <a:extLst>
              <a:ext uri="{FF2B5EF4-FFF2-40B4-BE49-F238E27FC236}">
                <a16:creationId xmlns:a16="http://schemas.microsoft.com/office/drawing/2014/main" id="{703FF6A8-236C-26AA-F770-6EF83C5BBD70}"/>
              </a:ext>
            </a:extLst>
          </p:cNvPr>
          <p:cNvCxnSpPr>
            <a:cxnSpLocks/>
          </p:cNvCxnSpPr>
          <p:nvPr/>
        </p:nvCxnSpPr>
        <p:spPr bwMode="auto">
          <a:xfrm flipV="1">
            <a:off x="4830120" y="3883478"/>
            <a:ext cx="0" cy="1161153"/>
          </a:xfrm>
          <a:prstGeom prst="straightConnector1">
            <a:avLst/>
          </a:prstGeom>
          <a:ln>
            <a:headEnd type="none" w="med" len="med"/>
            <a:tailEnd type="triangle"/>
          </a:ln>
        </p:spPr>
        <p:style>
          <a:lnRef idx="2">
            <a:schemeClr val="accent1"/>
          </a:lnRef>
          <a:fillRef idx="0">
            <a:schemeClr val="accent1"/>
          </a:fillRef>
          <a:effectRef idx="1">
            <a:schemeClr val="accent1"/>
          </a:effectRef>
          <a:fontRef idx="minor">
            <a:schemeClr val="tx1"/>
          </a:fontRef>
        </p:style>
      </p:cxnSp>
      <p:sp>
        <p:nvSpPr>
          <p:cNvPr id="32" name="文字方塊 3">
            <a:extLst>
              <a:ext uri="{FF2B5EF4-FFF2-40B4-BE49-F238E27FC236}">
                <a16:creationId xmlns:a16="http://schemas.microsoft.com/office/drawing/2014/main" id="{2A9F575A-6CE4-4540-7371-719165FA8A70}"/>
              </a:ext>
            </a:extLst>
          </p:cNvPr>
          <p:cNvSpPr txBox="1">
            <a:spLocks noChangeArrowheads="1"/>
          </p:cNvSpPr>
          <p:nvPr/>
        </p:nvSpPr>
        <p:spPr bwMode="auto">
          <a:xfrm>
            <a:off x="5005961" y="4373360"/>
            <a:ext cx="787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TW" sz="1200" b="1" i="0" u="none" strike="noStrike" cap="none" normalizeH="0" baseline="0">
                <a:ln>
                  <a:noFill/>
                </a:ln>
                <a:solidFill>
                  <a:srgbClr val="000000"/>
                </a:solidFill>
                <a:effectLst/>
                <a:latin typeface="Arial" panose="020B0604020202020204" pitchFamily="34" charset="0"/>
                <a:ea typeface="STKaiti" panose="02010600040101010101" pitchFamily="2" charset="-122"/>
                <a:cs typeface="Arial" panose="020B0604020202020204" pitchFamily="34" charset="0"/>
              </a:rPr>
              <a:t>FTP</a:t>
            </a:r>
            <a:endParaRPr kumimoji="0" lang="en-US" altLang="zh-TW" sz="1800" b="0" i="0" u="none" strike="noStrike" cap="none" normalizeH="0" baseline="0">
              <a:ln>
                <a:noFill/>
              </a:ln>
              <a:solidFill>
                <a:schemeClr val="tx1"/>
              </a:solidFill>
              <a:effectLst/>
              <a:latin typeface="Arial" panose="020B0604020202020204" pitchFamily="34" charset="0"/>
            </a:endParaRPr>
          </a:p>
        </p:txBody>
      </p:sp>
      <p:sp>
        <p:nvSpPr>
          <p:cNvPr id="36" name="流程圖: 磁碟 59">
            <a:extLst>
              <a:ext uri="{FF2B5EF4-FFF2-40B4-BE49-F238E27FC236}">
                <a16:creationId xmlns:a16="http://schemas.microsoft.com/office/drawing/2014/main" id="{ED4303A5-8175-50AA-3A33-3E2BF01AB714}"/>
              </a:ext>
            </a:extLst>
          </p:cNvPr>
          <p:cNvSpPr>
            <a:spLocks noChangeArrowheads="1"/>
          </p:cNvSpPr>
          <p:nvPr/>
        </p:nvSpPr>
        <p:spPr bwMode="auto">
          <a:xfrm>
            <a:off x="7579402" y="3500038"/>
            <a:ext cx="657225" cy="676275"/>
          </a:xfrm>
          <a:prstGeom prst="flowChartMagneticDisk">
            <a:avLst/>
          </a:prstGeom>
          <a:solidFill>
            <a:srgbClr val="FFC000"/>
          </a:solidFill>
          <a:ln w="19050">
            <a:solidFill>
              <a:srgbClr val="FFFFFF"/>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1050" b="1" i="0" u="none" strike="noStrike" cap="none" normalizeH="0" baseline="0">
                <a:ln>
                  <a:noFill/>
                </a:ln>
                <a:solidFill>
                  <a:srgbClr val="000000"/>
                </a:solidFill>
                <a:effectLst/>
                <a:latin typeface="Arial" panose="020B0604020202020204" pitchFamily="34" charset="0"/>
                <a:ea typeface="STKaiti" panose="02010600040101010101" pitchFamily="2" charset="-122"/>
                <a:cs typeface="Arial" panose="020B0604020202020204" pitchFamily="34" charset="0"/>
              </a:rPr>
              <a:t>MSSQL</a:t>
            </a:r>
            <a:endParaRPr kumimoji="0" lang="en-US" altLang="zh-TW" sz="900" b="0" i="0" u="none" strike="noStrike" cap="none" normalizeH="0" baseline="0">
              <a:ln>
                <a:noFill/>
              </a:ln>
              <a:solidFill>
                <a:schemeClr val="tx1"/>
              </a:solidFill>
              <a:effectLst/>
            </a:endParaRPr>
          </a:p>
        </p:txBody>
      </p:sp>
      <p:sp>
        <p:nvSpPr>
          <p:cNvPr id="37" name="Rectangle 35">
            <a:extLst>
              <a:ext uri="{FF2B5EF4-FFF2-40B4-BE49-F238E27FC236}">
                <a16:creationId xmlns:a16="http://schemas.microsoft.com/office/drawing/2014/main" id="{CCD100E8-5B0C-6175-0C14-6615372817F4}"/>
              </a:ext>
            </a:extLst>
          </p:cNvPr>
          <p:cNvSpPr>
            <a:spLocks noChangeArrowheads="1"/>
          </p:cNvSpPr>
          <p:nvPr/>
        </p:nvSpPr>
        <p:spPr bwMode="auto">
          <a:xfrm>
            <a:off x="1216057" y="14973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sp>
        <p:nvSpPr>
          <p:cNvPr id="38" name="Rectangle 49">
            <a:extLst>
              <a:ext uri="{FF2B5EF4-FFF2-40B4-BE49-F238E27FC236}">
                <a16:creationId xmlns:a16="http://schemas.microsoft.com/office/drawing/2014/main" id="{B6108E14-A21A-7DB9-8517-16BE0854A6DF}"/>
              </a:ext>
            </a:extLst>
          </p:cNvPr>
          <p:cNvSpPr>
            <a:spLocks noChangeArrowheads="1"/>
          </p:cNvSpPr>
          <p:nvPr/>
        </p:nvSpPr>
        <p:spPr bwMode="auto">
          <a:xfrm>
            <a:off x="1216057" y="60693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sp>
        <p:nvSpPr>
          <p:cNvPr id="22" name="矩形 21">
            <a:extLst>
              <a:ext uri="{FF2B5EF4-FFF2-40B4-BE49-F238E27FC236}">
                <a16:creationId xmlns:a16="http://schemas.microsoft.com/office/drawing/2014/main" id="{ACD2FDA4-AC6A-EA30-4974-8403DE79BADC}"/>
              </a:ext>
            </a:extLst>
          </p:cNvPr>
          <p:cNvSpPr/>
          <p:nvPr/>
        </p:nvSpPr>
        <p:spPr bwMode="auto">
          <a:xfrm>
            <a:off x="4144544" y="2856000"/>
            <a:ext cx="5938982" cy="140179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21" name="文字方塊 20">
            <a:extLst>
              <a:ext uri="{FF2B5EF4-FFF2-40B4-BE49-F238E27FC236}">
                <a16:creationId xmlns:a16="http://schemas.microsoft.com/office/drawing/2014/main" id="{A2B200BB-421E-B215-71A9-80BB9A6B6417}"/>
              </a:ext>
            </a:extLst>
          </p:cNvPr>
          <p:cNvSpPr txBox="1"/>
          <p:nvPr/>
        </p:nvSpPr>
        <p:spPr>
          <a:xfrm>
            <a:off x="196395" y="2457960"/>
            <a:ext cx="1467068" cy="369332"/>
          </a:xfrm>
          <a:prstGeom prst="rect">
            <a:avLst/>
          </a:prstGeom>
          <a:noFill/>
        </p:spPr>
        <p:txBody>
          <a:bodyPr wrap="none" rtlCol="0">
            <a:spAutoFit/>
          </a:bodyPr>
          <a:lstStyle/>
          <a:p>
            <a:r>
              <a:rPr lang="en-US" altLang="zh-TW" dirty="0"/>
              <a:t>Server Farm</a:t>
            </a:r>
            <a:endParaRPr lang="zh-TW" altLang="en-US" dirty="0"/>
          </a:p>
        </p:txBody>
      </p:sp>
      <p:cxnSp>
        <p:nvCxnSpPr>
          <p:cNvPr id="23" name="直線接點 22">
            <a:extLst>
              <a:ext uri="{FF2B5EF4-FFF2-40B4-BE49-F238E27FC236}">
                <a16:creationId xmlns:a16="http://schemas.microsoft.com/office/drawing/2014/main" id="{A1CEF0A7-794B-6250-FB4B-8C21F977C6DD}"/>
              </a:ext>
            </a:extLst>
          </p:cNvPr>
          <p:cNvCxnSpPr>
            <a:cxnSpLocks/>
          </p:cNvCxnSpPr>
          <p:nvPr/>
        </p:nvCxnSpPr>
        <p:spPr bwMode="auto">
          <a:xfrm>
            <a:off x="196395" y="2457960"/>
            <a:ext cx="11982416" cy="0"/>
          </a:xfrm>
          <a:prstGeom prst="line">
            <a:avLst/>
          </a:prstGeom>
          <a:solidFill>
            <a:schemeClr val="accent1"/>
          </a:solidFill>
          <a:ln w="19050" cap="flat" cmpd="sng" algn="ctr">
            <a:solidFill>
              <a:schemeClr val="tx1"/>
            </a:solidFill>
            <a:prstDash val="lgDash"/>
            <a:round/>
            <a:headEnd type="none" w="med" len="med"/>
            <a:tailEnd type="none" w="med" len="med"/>
          </a:ln>
          <a:effectLst/>
        </p:spPr>
      </p:cxnSp>
    </p:spTree>
    <p:extLst>
      <p:ext uri="{BB962C8B-B14F-4D97-AF65-F5344CB8AC3E}">
        <p14:creationId xmlns:p14="http://schemas.microsoft.com/office/powerpoint/2010/main" val="12176256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07DF56E-9E54-4444-93C4-9ED55592C876}"/>
              </a:ext>
            </a:extLst>
          </p:cNvPr>
          <p:cNvSpPr>
            <a:spLocks noGrp="1"/>
          </p:cNvSpPr>
          <p:nvPr>
            <p:ph type="title"/>
          </p:nvPr>
        </p:nvSpPr>
        <p:spPr>
          <a:xfrm>
            <a:off x="527051" y="141028"/>
            <a:ext cx="11233150" cy="630238"/>
          </a:xfrm>
          <a:prstGeom prst="rect">
            <a:avLst/>
          </a:prstGeom>
        </p:spPr>
        <p:txBody>
          <a:bodyPr/>
          <a:lstStyle/>
          <a:p>
            <a:r>
              <a:rPr lang="zh-TW" altLang="en-US" sz="3200" b="0">
                <a:solidFill>
                  <a:schemeClr val="tx1"/>
                </a:solidFill>
              </a:rPr>
              <a:t>系統關聯圖</a:t>
            </a:r>
          </a:p>
        </p:txBody>
      </p:sp>
      <p:sp>
        <p:nvSpPr>
          <p:cNvPr id="7" name="流程圖: 磁碟 6">
            <a:extLst>
              <a:ext uri="{FF2B5EF4-FFF2-40B4-BE49-F238E27FC236}">
                <a16:creationId xmlns:a16="http://schemas.microsoft.com/office/drawing/2014/main" id="{AA06E11B-1F2D-5B03-7BA4-244BBA1C202B}"/>
              </a:ext>
            </a:extLst>
          </p:cNvPr>
          <p:cNvSpPr/>
          <p:nvPr/>
        </p:nvSpPr>
        <p:spPr bwMode="auto">
          <a:xfrm>
            <a:off x="5323976" y="4394314"/>
            <a:ext cx="1331084" cy="1153600"/>
          </a:xfrm>
          <a:prstGeom prst="flowChartMagneticDisk">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fontAlgn="base"/>
            <a:r>
              <a:rPr lang="zh-TW" altLang="en-US" sz="1200" b="1" dirty="0">
                <a:solidFill>
                  <a:srgbClr val="000000"/>
                </a:solidFill>
                <a:latin typeface="Arial" panose="020B0604020202020204" pitchFamily="34" charset="0"/>
                <a:ea typeface="STKaiti" panose="02010600040101010101" pitchFamily="2" charset="-122"/>
                <a:cs typeface="Times New Roman" panose="02020603050405020304" pitchFamily="18" charset="0"/>
              </a:rPr>
              <a:t>投顧永豐大腦</a:t>
            </a:r>
            <a:endParaRPr lang="en-US" altLang="zh-TW" sz="1200" b="1" dirty="0">
              <a:solidFill>
                <a:srgbClr val="000000"/>
              </a:solidFill>
              <a:latin typeface="Arial" panose="020B0604020202020204" pitchFamily="34" charset="0"/>
              <a:ea typeface="STKaiti" panose="02010600040101010101" pitchFamily="2" charset="-122"/>
              <a:cs typeface="Times New Roman" panose="02020603050405020304" pitchFamily="18" charset="0"/>
            </a:endParaRPr>
          </a:p>
          <a:p>
            <a:pPr algn="ctr" fontAlgn="base"/>
            <a:r>
              <a:rPr lang="zh-TW" altLang="en-US" sz="1200" b="1" dirty="0">
                <a:solidFill>
                  <a:srgbClr val="000000"/>
                </a:solidFill>
                <a:latin typeface="Arial" panose="020B0604020202020204" pitchFamily="34" charset="0"/>
                <a:ea typeface="STKaiti" panose="02010600040101010101" pitchFamily="2" charset="-122"/>
                <a:cs typeface="Times New Roman" panose="02020603050405020304" pitchFamily="18" charset="0"/>
              </a:rPr>
              <a:t>資料庫</a:t>
            </a:r>
            <a:r>
              <a:rPr lang="en-US" altLang="zh-TW" sz="1200" b="1" dirty="0">
                <a:solidFill>
                  <a:srgbClr val="000000"/>
                </a:solidFill>
                <a:latin typeface="Arial" panose="020B0604020202020204" pitchFamily="34" charset="0"/>
                <a:ea typeface="STKaiti" panose="02010600040101010101" pitchFamily="2" charset="-122"/>
                <a:cs typeface="Times New Roman" panose="02020603050405020304" pitchFamily="18" charset="0"/>
              </a:rPr>
              <a:t> </a:t>
            </a:r>
          </a:p>
          <a:p>
            <a:pPr algn="ctr" fontAlgn="base"/>
            <a:r>
              <a:rPr lang="en-US" altLang="zh-TW" sz="1200" b="1" dirty="0">
                <a:solidFill>
                  <a:srgbClr val="000000"/>
                </a:solidFill>
                <a:latin typeface="Arial" panose="020B0604020202020204" pitchFamily="34" charset="0"/>
                <a:ea typeface="STKaiti" panose="02010600040101010101" pitchFamily="2" charset="-122"/>
                <a:cs typeface="Times New Roman" panose="02020603050405020304" pitchFamily="18" charset="0"/>
              </a:rPr>
              <a:t>(128.110.24.74)</a:t>
            </a:r>
            <a:endParaRPr lang="zh-TW" altLang="en-US" sz="1200" b="1" dirty="0">
              <a:solidFill>
                <a:srgbClr val="000000"/>
              </a:solidFill>
              <a:latin typeface="Arial" panose="020B0604020202020204" pitchFamily="34" charset="0"/>
              <a:ea typeface="STKaiti" panose="02010600040101010101" pitchFamily="2" charset="-122"/>
              <a:cs typeface="Times New Roman" panose="02020603050405020304" pitchFamily="18" charset="0"/>
            </a:endParaRPr>
          </a:p>
        </p:txBody>
      </p:sp>
      <p:sp>
        <p:nvSpPr>
          <p:cNvPr id="9" name="矩形 8">
            <a:extLst>
              <a:ext uri="{FF2B5EF4-FFF2-40B4-BE49-F238E27FC236}">
                <a16:creationId xmlns:a16="http://schemas.microsoft.com/office/drawing/2014/main" id="{D43A550D-2786-9BDD-9E2C-C26E2B360723}"/>
              </a:ext>
            </a:extLst>
          </p:cNvPr>
          <p:cNvSpPr/>
          <p:nvPr/>
        </p:nvSpPr>
        <p:spPr>
          <a:xfrm>
            <a:off x="3013118" y="2875496"/>
            <a:ext cx="1410641" cy="516801"/>
          </a:xfrm>
          <a:prstGeom prst="rect">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fontAlgn="base"/>
            <a:r>
              <a:rPr lang="zh-TW" altLang="en-US" sz="1200" b="1" dirty="0">
                <a:solidFill>
                  <a:srgbClr val="000000"/>
                </a:solidFill>
                <a:latin typeface="Arial" panose="020B0604020202020204" pitchFamily="34" charset="0"/>
                <a:ea typeface="STKaiti" panose="02010600040101010101" pitchFamily="2" charset="-122"/>
                <a:cs typeface="Times New Roman" panose="02020603050405020304" pitchFamily="18" charset="0"/>
              </a:rPr>
              <a:t>投顧公槽</a:t>
            </a:r>
          </a:p>
          <a:p>
            <a:pPr algn="ctr" fontAlgn="base"/>
            <a:r>
              <a:rPr lang="en-US" altLang="zh-TW" sz="1200" b="1" dirty="0">
                <a:solidFill>
                  <a:srgbClr val="000000"/>
                </a:solidFill>
                <a:latin typeface="Arial" panose="020B0604020202020204" pitchFamily="34" charset="0"/>
                <a:ea typeface="STKaiti" panose="02010600040101010101" pitchFamily="2" charset="-122"/>
                <a:cs typeface="Times New Roman" panose="02020603050405020304" pitchFamily="18" charset="0"/>
              </a:rPr>
              <a:t>(128.110.10.135)</a:t>
            </a:r>
          </a:p>
        </p:txBody>
      </p:sp>
      <p:cxnSp>
        <p:nvCxnSpPr>
          <p:cNvPr id="11" name="直線單箭頭接點 10">
            <a:extLst>
              <a:ext uri="{FF2B5EF4-FFF2-40B4-BE49-F238E27FC236}">
                <a16:creationId xmlns:a16="http://schemas.microsoft.com/office/drawing/2014/main" id="{42DF6053-4C9F-E0CE-87BE-FC6A5B75B48B}"/>
              </a:ext>
            </a:extLst>
          </p:cNvPr>
          <p:cNvCxnSpPr>
            <a:cxnSpLocks/>
          </p:cNvCxnSpPr>
          <p:nvPr/>
        </p:nvCxnSpPr>
        <p:spPr>
          <a:xfrm>
            <a:off x="5825514" y="3663473"/>
            <a:ext cx="0" cy="660949"/>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a:extLst>
              <a:ext uri="{FF2B5EF4-FFF2-40B4-BE49-F238E27FC236}">
                <a16:creationId xmlns:a16="http://schemas.microsoft.com/office/drawing/2014/main" id="{DFEFFBD3-97C9-5258-E67C-4C7CA1CAF7EF}"/>
              </a:ext>
            </a:extLst>
          </p:cNvPr>
          <p:cNvCxnSpPr>
            <a:cxnSpLocks/>
          </p:cNvCxnSpPr>
          <p:nvPr/>
        </p:nvCxnSpPr>
        <p:spPr>
          <a:xfrm>
            <a:off x="6152760" y="3644423"/>
            <a:ext cx="0" cy="660949"/>
          </a:xfrm>
          <a:prstGeom prst="straightConnector1">
            <a:avLst/>
          </a:prstGeom>
          <a:ln>
            <a:solidFill>
              <a:schemeClr val="bg2">
                <a:lumMod val="75000"/>
              </a:schemeClr>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7" name="文字方塊 16">
            <a:extLst>
              <a:ext uri="{FF2B5EF4-FFF2-40B4-BE49-F238E27FC236}">
                <a16:creationId xmlns:a16="http://schemas.microsoft.com/office/drawing/2014/main" id="{8453E75B-4ECF-871A-03F1-D0E011519BB7}"/>
              </a:ext>
            </a:extLst>
          </p:cNvPr>
          <p:cNvSpPr txBox="1"/>
          <p:nvPr/>
        </p:nvSpPr>
        <p:spPr>
          <a:xfrm>
            <a:off x="161552" y="2087545"/>
            <a:ext cx="1467068" cy="369332"/>
          </a:xfrm>
          <a:prstGeom prst="rect">
            <a:avLst/>
          </a:prstGeom>
          <a:noFill/>
        </p:spPr>
        <p:txBody>
          <a:bodyPr wrap="none" rtlCol="0">
            <a:spAutoFit/>
          </a:bodyPr>
          <a:lstStyle/>
          <a:p>
            <a:r>
              <a:rPr lang="en-US" altLang="zh-TW" dirty="0"/>
              <a:t>Server Farm</a:t>
            </a:r>
            <a:endParaRPr lang="zh-TW" altLang="en-US" dirty="0"/>
          </a:p>
        </p:txBody>
      </p:sp>
      <p:cxnSp>
        <p:nvCxnSpPr>
          <p:cNvPr id="18" name="直線接點 17">
            <a:extLst>
              <a:ext uri="{FF2B5EF4-FFF2-40B4-BE49-F238E27FC236}">
                <a16:creationId xmlns:a16="http://schemas.microsoft.com/office/drawing/2014/main" id="{154845A9-70F1-E323-9F21-65EC0F7F67DF}"/>
              </a:ext>
            </a:extLst>
          </p:cNvPr>
          <p:cNvCxnSpPr>
            <a:cxnSpLocks/>
          </p:cNvCxnSpPr>
          <p:nvPr/>
        </p:nvCxnSpPr>
        <p:spPr bwMode="auto">
          <a:xfrm>
            <a:off x="161552" y="2087545"/>
            <a:ext cx="11982416" cy="0"/>
          </a:xfrm>
          <a:prstGeom prst="line">
            <a:avLst/>
          </a:prstGeom>
          <a:solidFill>
            <a:schemeClr val="accent1"/>
          </a:solidFill>
          <a:ln w="19050" cap="flat" cmpd="sng" algn="ctr">
            <a:solidFill>
              <a:schemeClr val="tx1"/>
            </a:solidFill>
            <a:prstDash val="lgDash"/>
            <a:round/>
            <a:headEnd type="none" w="med" len="med"/>
            <a:tailEnd type="none" w="med" len="med"/>
          </a:ln>
          <a:effectLst/>
        </p:spPr>
      </p:cxnSp>
      <p:cxnSp>
        <p:nvCxnSpPr>
          <p:cNvPr id="20" name="直線單箭頭接點 19">
            <a:extLst>
              <a:ext uri="{FF2B5EF4-FFF2-40B4-BE49-F238E27FC236}">
                <a16:creationId xmlns:a16="http://schemas.microsoft.com/office/drawing/2014/main" id="{B8B83A52-8D17-19D1-CB35-FD8276683559}"/>
              </a:ext>
            </a:extLst>
          </p:cNvPr>
          <p:cNvCxnSpPr>
            <a:cxnSpLocks/>
          </p:cNvCxnSpPr>
          <p:nvPr/>
        </p:nvCxnSpPr>
        <p:spPr>
          <a:xfrm>
            <a:off x="4590369" y="3181422"/>
            <a:ext cx="419885" cy="0"/>
          </a:xfrm>
          <a:prstGeom prst="straightConnector1">
            <a:avLst/>
          </a:prstGeom>
          <a:ln>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 name="文字方塊 20">
            <a:extLst>
              <a:ext uri="{FF2B5EF4-FFF2-40B4-BE49-F238E27FC236}">
                <a16:creationId xmlns:a16="http://schemas.microsoft.com/office/drawing/2014/main" id="{EA7EDDA6-3C5E-A44A-E9E5-B0975845BD65}"/>
              </a:ext>
            </a:extLst>
          </p:cNvPr>
          <p:cNvSpPr txBox="1"/>
          <p:nvPr/>
        </p:nvSpPr>
        <p:spPr>
          <a:xfrm>
            <a:off x="4579003" y="2921375"/>
            <a:ext cx="445507" cy="276999"/>
          </a:xfrm>
          <a:prstGeom prst="rect">
            <a:avLst/>
          </a:prstGeom>
          <a:noFill/>
        </p:spPr>
        <p:txBody>
          <a:bodyPr wrap="none" rtlCol="0">
            <a:spAutoFit/>
          </a:bodyPr>
          <a:lstStyle/>
          <a:p>
            <a:r>
              <a:rPr lang="en-US" altLang="zh-TW" sz="1200" dirty="0">
                <a:latin typeface="+mj-ea"/>
                <a:ea typeface="+mj-ea"/>
              </a:rPr>
              <a:t>FTP</a:t>
            </a:r>
          </a:p>
        </p:txBody>
      </p:sp>
      <p:sp>
        <p:nvSpPr>
          <p:cNvPr id="36" name="流程圖: 磁碟 35">
            <a:extLst>
              <a:ext uri="{FF2B5EF4-FFF2-40B4-BE49-F238E27FC236}">
                <a16:creationId xmlns:a16="http://schemas.microsoft.com/office/drawing/2014/main" id="{3A0C46BC-3333-6873-AF78-B9FD08821CAE}"/>
              </a:ext>
            </a:extLst>
          </p:cNvPr>
          <p:cNvSpPr/>
          <p:nvPr/>
        </p:nvSpPr>
        <p:spPr bwMode="auto">
          <a:xfrm>
            <a:off x="7637685" y="2596171"/>
            <a:ext cx="1331084" cy="1153600"/>
          </a:xfrm>
          <a:prstGeom prst="flowChartMagneticDisk">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fontAlgn="base"/>
            <a:r>
              <a:rPr lang="en-US" altLang="zh-TW" sz="1200" b="1" dirty="0" err="1">
                <a:solidFill>
                  <a:srgbClr val="000000"/>
                </a:solidFill>
                <a:latin typeface="Arial" panose="020B0604020202020204" pitchFamily="34" charset="0"/>
                <a:ea typeface="STKaiti" panose="02010600040101010101" pitchFamily="2" charset="-122"/>
                <a:cs typeface="Times New Roman" panose="02020603050405020304" pitchFamily="18" charset="0"/>
              </a:rPr>
              <a:t>Cmoney</a:t>
            </a:r>
            <a:r>
              <a:rPr lang="en-US" altLang="zh-TW" sz="1200" b="1" dirty="0">
                <a:solidFill>
                  <a:srgbClr val="000000"/>
                </a:solidFill>
                <a:latin typeface="Arial" panose="020B0604020202020204" pitchFamily="34" charset="0"/>
                <a:ea typeface="STKaiti" panose="02010600040101010101" pitchFamily="2" charset="-122"/>
                <a:cs typeface="Times New Roman" panose="02020603050405020304" pitchFamily="18" charset="0"/>
              </a:rPr>
              <a:t> DB</a:t>
            </a:r>
          </a:p>
          <a:p>
            <a:pPr algn="ctr" fontAlgn="base"/>
            <a:endParaRPr lang="en-US" altLang="zh-TW" sz="1200" b="1" dirty="0">
              <a:solidFill>
                <a:srgbClr val="000000"/>
              </a:solidFill>
              <a:latin typeface="Arial" panose="020B0604020202020204" pitchFamily="34" charset="0"/>
              <a:ea typeface="STKaiti" panose="02010600040101010101" pitchFamily="2" charset="-122"/>
              <a:cs typeface="Times New Roman" panose="02020603050405020304" pitchFamily="18" charset="0"/>
            </a:endParaRPr>
          </a:p>
          <a:p>
            <a:pPr algn="ctr" fontAlgn="base"/>
            <a:r>
              <a:rPr lang="en-US" altLang="zh-TW" sz="1200" b="1" dirty="0">
                <a:solidFill>
                  <a:srgbClr val="000000"/>
                </a:solidFill>
                <a:latin typeface="Arial" panose="020B0604020202020204" pitchFamily="34" charset="0"/>
                <a:ea typeface="STKaiti" panose="02010600040101010101" pitchFamily="2" charset="-122"/>
                <a:cs typeface="Times New Roman" panose="02020603050405020304" pitchFamily="18" charset="0"/>
              </a:rPr>
              <a:t>(128.110.50.40)</a:t>
            </a:r>
          </a:p>
        </p:txBody>
      </p:sp>
      <p:cxnSp>
        <p:nvCxnSpPr>
          <p:cNvPr id="37" name="直線單箭頭接點 36">
            <a:extLst>
              <a:ext uri="{FF2B5EF4-FFF2-40B4-BE49-F238E27FC236}">
                <a16:creationId xmlns:a16="http://schemas.microsoft.com/office/drawing/2014/main" id="{238AC6CE-852E-B0AB-FEE2-15AF53CA1CCA}"/>
              </a:ext>
            </a:extLst>
          </p:cNvPr>
          <p:cNvCxnSpPr>
            <a:cxnSpLocks/>
          </p:cNvCxnSpPr>
          <p:nvPr/>
        </p:nvCxnSpPr>
        <p:spPr>
          <a:xfrm>
            <a:off x="6854826" y="3198374"/>
            <a:ext cx="618049" cy="0"/>
          </a:xfrm>
          <a:prstGeom prst="straightConnector1">
            <a:avLst/>
          </a:prstGeom>
          <a:ln>
            <a:solidFill>
              <a:schemeClr val="bg2">
                <a:lumMod val="75000"/>
              </a:schemeClr>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id="{499AD5C6-F44D-5905-7B02-5C6769288383}"/>
              </a:ext>
            </a:extLst>
          </p:cNvPr>
          <p:cNvSpPr/>
          <p:nvPr/>
        </p:nvSpPr>
        <p:spPr bwMode="auto">
          <a:xfrm>
            <a:off x="4941455" y="2456877"/>
            <a:ext cx="2124363" cy="3408203"/>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23" name="矩形 22">
            <a:extLst>
              <a:ext uri="{FF2B5EF4-FFF2-40B4-BE49-F238E27FC236}">
                <a16:creationId xmlns:a16="http://schemas.microsoft.com/office/drawing/2014/main" id="{14C3B50B-9B19-2FE2-6439-83DA471D8A3F}"/>
              </a:ext>
            </a:extLst>
          </p:cNvPr>
          <p:cNvSpPr/>
          <p:nvPr/>
        </p:nvSpPr>
        <p:spPr>
          <a:xfrm>
            <a:off x="5237785" y="2790462"/>
            <a:ext cx="1503466" cy="765019"/>
          </a:xfrm>
          <a:prstGeom prst="rect">
            <a:avLst/>
          </a:prstGeom>
          <a:solidFill>
            <a:schemeClr val="accent2">
              <a:lumMod val="20000"/>
              <a:lumOff val="80000"/>
            </a:schemeClr>
          </a:solidFill>
          <a:ln>
            <a:solidFill>
              <a:schemeClr val="accent2"/>
            </a:solidFill>
          </a:ln>
        </p:spPr>
        <p:style>
          <a:lnRef idx="2">
            <a:schemeClr val="dk1"/>
          </a:lnRef>
          <a:fillRef idx="1">
            <a:schemeClr val="lt1"/>
          </a:fillRef>
          <a:effectRef idx="0">
            <a:schemeClr val="dk1"/>
          </a:effectRef>
          <a:fontRef idx="minor">
            <a:schemeClr val="dk1"/>
          </a:fontRef>
        </p:style>
        <p:txBody>
          <a:bodyPr rtlCol="0" anchor="ctr"/>
          <a:lstStyle/>
          <a:p>
            <a:pPr algn="ctr" fontAlgn="base"/>
            <a:r>
              <a:rPr lang="zh-TW" altLang="en-US" sz="1200" b="1" dirty="0">
                <a:solidFill>
                  <a:srgbClr val="000000"/>
                </a:solidFill>
                <a:latin typeface="Arial" panose="020B0604020202020204" pitchFamily="34" charset="0"/>
                <a:ea typeface="STKaiti" panose="02010600040101010101" pitchFamily="2" charset="-122"/>
                <a:cs typeface="Times New Roman" panose="02020603050405020304" pitchFamily="18" charset="0"/>
              </a:rPr>
              <a:t>投顧永豐大腦系統</a:t>
            </a:r>
            <a:br>
              <a:rPr lang="en-US" altLang="zh-TW" sz="1200" b="1" dirty="0">
                <a:solidFill>
                  <a:srgbClr val="000000"/>
                </a:solidFill>
                <a:latin typeface="Arial" panose="020B0604020202020204" pitchFamily="34" charset="0"/>
                <a:ea typeface="STKaiti" panose="02010600040101010101" pitchFamily="2" charset="-122"/>
                <a:cs typeface="Times New Roman" panose="02020603050405020304" pitchFamily="18" charset="0"/>
              </a:rPr>
            </a:br>
            <a:r>
              <a:rPr lang="en-US" altLang="zh-TW" sz="1200" b="1" dirty="0">
                <a:solidFill>
                  <a:srgbClr val="000000"/>
                </a:solidFill>
                <a:latin typeface="Arial" panose="020B0604020202020204" pitchFamily="34" charset="0"/>
                <a:ea typeface="STKaiti" panose="02010600040101010101" pitchFamily="2" charset="-122"/>
                <a:cs typeface="Times New Roman" panose="02020603050405020304" pitchFamily="18" charset="0"/>
              </a:rPr>
              <a:t>(128.110.24.73)</a:t>
            </a:r>
          </a:p>
        </p:txBody>
      </p:sp>
    </p:spTree>
    <p:extLst>
      <p:ext uri="{BB962C8B-B14F-4D97-AF65-F5344CB8AC3E}">
        <p14:creationId xmlns:p14="http://schemas.microsoft.com/office/powerpoint/2010/main" val="17972420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07DF56E-9E54-4444-93C4-9ED55592C876}"/>
              </a:ext>
            </a:extLst>
          </p:cNvPr>
          <p:cNvSpPr>
            <a:spLocks noGrp="1"/>
          </p:cNvSpPr>
          <p:nvPr>
            <p:ph type="title"/>
          </p:nvPr>
        </p:nvSpPr>
        <p:spPr>
          <a:xfrm>
            <a:off x="527051" y="149738"/>
            <a:ext cx="11233150" cy="630238"/>
          </a:xfrm>
          <a:prstGeom prst="rect">
            <a:avLst/>
          </a:prstGeom>
        </p:spPr>
        <p:txBody>
          <a:bodyPr/>
          <a:lstStyle/>
          <a:p>
            <a:r>
              <a:rPr lang="zh-TW" altLang="en-US" sz="3200" b="0">
                <a:solidFill>
                  <a:schemeClr val="tx1"/>
                </a:solidFill>
                <a:latin typeface="+mn-ea"/>
                <a:ea typeface="+mn-ea"/>
              </a:rPr>
              <a:t>專案成本</a:t>
            </a:r>
            <a:r>
              <a:rPr lang="en-US" altLang="zh-TW" sz="3200" b="0">
                <a:solidFill>
                  <a:schemeClr val="tx1"/>
                </a:solidFill>
                <a:latin typeface="+mn-ea"/>
                <a:ea typeface="+mn-ea"/>
              </a:rPr>
              <a:t>(</a:t>
            </a:r>
            <a:r>
              <a:rPr lang="zh-TW" altLang="en-US" sz="3200" b="0">
                <a:solidFill>
                  <a:schemeClr val="tx1"/>
                </a:solidFill>
                <a:latin typeface="+mn-ea"/>
                <a:ea typeface="+mn-ea"/>
              </a:rPr>
              <a:t>硬體及其他</a:t>
            </a:r>
            <a:r>
              <a:rPr lang="en-US" altLang="zh-TW" sz="3200" b="0">
                <a:solidFill>
                  <a:schemeClr val="tx1"/>
                </a:solidFill>
                <a:latin typeface="+mn-ea"/>
                <a:ea typeface="+mn-ea"/>
              </a:rPr>
              <a:t>)</a:t>
            </a:r>
            <a:endParaRPr lang="zh-TW" altLang="en-US" sz="3200" b="0">
              <a:solidFill>
                <a:schemeClr val="tx1"/>
              </a:solidFill>
              <a:latin typeface="+mn-ea"/>
              <a:ea typeface="+mn-ea"/>
            </a:endParaRPr>
          </a:p>
        </p:txBody>
      </p:sp>
      <p:graphicFrame>
        <p:nvGraphicFramePr>
          <p:cNvPr id="3" name="表格 3">
            <a:extLst>
              <a:ext uri="{FF2B5EF4-FFF2-40B4-BE49-F238E27FC236}">
                <a16:creationId xmlns:a16="http://schemas.microsoft.com/office/drawing/2014/main" id="{DEC00CFE-F4B7-44CB-8505-00E6A7CEF3C6}"/>
              </a:ext>
            </a:extLst>
          </p:cNvPr>
          <p:cNvGraphicFramePr>
            <a:graphicFrameLocks noGrp="1"/>
          </p:cNvGraphicFramePr>
          <p:nvPr/>
        </p:nvGraphicFramePr>
        <p:xfrm>
          <a:off x="808382" y="1400132"/>
          <a:ext cx="10575236" cy="3409212"/>
        </p:xfrm>
        <a:graphic>
          <a:graphicData uri="http://schemas.openxmlformats.org/drawingml/2006/table">
            <a:tbl>
              <a:tblPr firstRow="1" bandRow="1">
                <a:tableStyleId>{5940675A-B579-460E-94D1-54222C63F5DA}</a:tableStyleId>
              </a:tblPr>
              <a:tblGrid>
                <a:gridCol w="709933">
                  <a:extLst>
                    <a:ext uri="{9D8B030D-6E8A-4147-A177-3AD203B41FA5}">
                      <a16:colId xmlns:a16="http://schemas.microsoft.com/office/drawing/2014/main" val="2413879476"/>
                    </a:ext>
                  </a:extLst>
                </a:gridCol>
                <a:gridCol w="1058630">
                  <a:extLst>
                    <a:ext uri="{9D8B030D-6E8A-4147-A177-3AD203B41FA5}">
                      <a16:colId xmlns:a16="http://schemas.microsoft.com/office/drawing/2014/main" val="3188741881"/>
                    </a:ext>
                  </a:extLst>
                </a:gridCol>
                <a:gridCol w="4583399">
                  <a:extLst>
                    <a:ext uri="{9D8B030D-6E8A-4147-A177-3AD203B41FA5}">
                      <a16:colId xmlns:a16="http://schemas.microsoft.com/office/drawing/2014/main" val="408084497"/>
                    </a:ext>
                  </a:extLst>
                </a:gridCol>
                <a:gridCol w="993711">
                  <a:extLst>
                    <a:ext uri="{9D8B030D-6E8A-4147-A177-3AD203B41FA5}">
                      <a16:colId xmlns:a16="http://schemas.microsoft.com/office/drawing/2014/main" val="2999637006"/>
                    </a:ext>
                  </a:extLst>
                </a:gridCol>
                <a:gridCol w="1651315">
                  <a:extLst>
                    <a:ext uri="{9D8B030D-6E8A-4147-A177-3AD203B41FA5}">
                      <a16:colId xmlns:a16="http://schemas.microsoft.com/office/drawing/2014/main" val="2480614735"/>
                    </a:ext>
                  </a:extLst>
                </a:gridCol>
                <a:gridCol w="1578248">
                  <a:extLst>
                    <a:ext uri="{9D8B030D-6E8A-4147-A177-3AD203B41FA5}">
                      <a16:colId xmlns:a16="http://schemas.microsoft.com/office/drawing/2014/main" val="1331400796"/>
                    </a:ext>
                  </a:extLst>
                </a:gridCol>
              </a:tblGrid>
              <a:tr h="284101">
                <a:tc rowSpan="6">
                  <a:txBody>
                    <a:bodyPr/>
                    <a:lstStyle/>
                    <a:p>
                      <a:pPr algn="ctr"/>
                      <a:r>
                        <a:rPr lang="zh-TW" altLang="en-US" sz="1200" dirty="0"/>
                        <a:t>正式機</a:t>
                      </a:r>
                    </a:p>
                  </a:txBody>
                  <a:tcPr anchor="ctr"/>
                </a:tc>
                <a:tc>
                  <a:txBody>
                    <a:bodyPr/>
                    <a:lstStyle/>
                    <a:p>
                      <a:pPr algn="ctr"/>
                      <a:r>
                        <a:rPr lang="zh-TW" altLang="en-US" sz="1200"/>
                        <a:t>項目</a:t>
                      </a:r>
                    </a:p>
                  </a:txBody>
                  <a:tcPr>
                    <a:solidFill>
                      <a:srgbClr val="FFFF66"/>
                    </a:solidFill>
                  </a:tcPr>
                </a:tc>
                <a:tc>
                  <a:txBody>
                    <a:bodyPr/>
                    <a:lstStyle/>
                    <a:p>
                      <a:pPr algn="ctr"/>
                      <a:r>
                        <a:rPr lang="zh-TW" altLang="en-US" sz="1200"/>
                        <a:t>規格說明</a:t>
                      </a:r>
                    </a:p>
                  </a:txBody>
                  <a:tcPr>
                    <a:solidFill>
                      <a:srgbClr val="FFFF66"/>
                    </a:solidFill>
                  </a:tcPr>
                </a:tc>
                <a:tc>
                  <a:txBody>
                    <a:bodyPr/>
                    <a:lstStyle/>
                    <a:p>
                      <a:pPr algn="ctr"/>
                      <a:r>
                        <a:rPr lang="zh-TW" altLang="en-US" sz="1200"/>
                        <a:t>數量</a:t>
                      </a:r>
                    </a:p>
                  </a:txBody>
                  <a:tcPr>
                    <a:solidFill>
                      <a:srgbClr val="FFFF66"/>
                    </a:solidFill>
                  </a:tcPr>
                </a:tc>
                <a:tc>
                  <a:txBody>
                    <a:bodyPr/>
                    <a:lstStyle/>
                    <a:p>
                      <a:pPr algn="ctr"/>
                      <a:r>
                        <a:rPr lang="zh-TW" altLang="en-US" sz="1200"/>
                        <a:t>價格</a:t>
                      </a:r>
                    </a:p>
                  </a:txBody>
                  <a:tcPr>
                    <a:solidFill>
                      <a:srgbClr val="FFFF66"/>
                    </a:solidFill>
                  </a:tcPr>
                </a:tc>
                <a:tc>
                  <a:txBody>
                    <a:bodyPr/>
                    <a:lstStyle/>
                    <a:p>
                      <a:pPr algn="ctr"/>
                      <a:r>
                        <a:rPr lang="zh-TW" altLang="en-US" sz="1200"/>
                        <a:t>合計</a:t>
                      </a:r>
                    </a:p>
                  </a:txBody>
                  <a:tcPr>
                    <a:solidFill>
                      <a:srgbClr val="FFFF66"/>
                    </a:solidFill>
                  </a:tcPr>
                </a:tc>
                <a:extLst>
                  <a:ext uri="{0D108BD9-81ED-4DB2-BD59-A6C34878D82A}">
                    <a16:rowId xmlns:a16="http://schemas.microsoft.com/office/drawing/2014/main" val="3162393901"/>
                  </a:ext>
                </a:extLst>
              </a:tr>
              <a:tr h="284101">
                <a:tc vMerge="1">
                  <a:txBody>
                    <a:bodyPr/>
                    <a:lstStyle/>
                    <a:p>
                      <a:pPr algn="ctr"/>
                      <a:r>
                        <a:rPr lang="zh-TW" altLang="en-US" sz="1600"/>
                        <a:t>資本支出</a:t>
                      </a:r>
                    </a:p>
                  </a:txBody>
                  <a:tcPr anchor="ctr"/>
                </a:tc>
                <a:tc>
                  <a:txBody>
                    <a:bodyPr/>
                    <a:lstStyle/>
                    <a:p>
                      <a:r>
                        <a:rPr lang="zh-TW" altLang="en-US" sz="1200" dirty="0"/>
                        <a:t>主機</a:t>
                      </a:r>
                      <a:r>
                        <a:rPr lang="en-US" altLang="zh-TW" sz="1200" dirty="0"/>
                        <a:t>AP</a:t>
                      </a:r>
                      <a:endParaRPr lang="zh-TW" altLang="en-US" sz="1200" dirty="0"/>
                    </a:p>
                  </a:txBody>
                  <a:tcPr/>
                </a:tc>
                <a:tc>
                  <a:txBody>
                    <a:bodyPr/>
                    <a:lstStyle/>
                    <a:p>
                      <a:r>
                        <a:rPr lang="zh-TW" altLang="en-US" sz="1200" dirty="0"/>
                        <a:t>實體機 </a:t>
                      </a:r>
                      <a:r>
                        <a:rPr lang="en-US" altLang="zh-TW" sz="1200" dirty="0"/>
                        <a:t>(CPU 16 / RAM 16 / DISK 1.8T)</a:t>
                      </a:r>
                      <a:endParaRPr lang="zh-TW" altLang="en-US" sz="1200" dirty="0"/>
                    </a:p>
                  </a:txBody>
                  <a:tcPr/>
                </a:tc>
                <a:tc>
                  <a:txBody>
                    <a:bodyPr/>
                    <a:lstStyle/>
                    <a:p>
                      <a:pPr algn="ctr"/>
                      <a:r>
                        <a:rPr lang="en-US" altLang="zh-TW" sz="1200" dirty="0"/>
                        <a:t>1</a:t>
                      </a:r>
                      <a:endParaRPr lang="zh-TW" altLang="en-US" sz="1200" dirty="0"/>
                    </a:p>
                  </a:txBody>
                  <a:tcPr/>
                </a:tc>
                <a:tc>
                  <a:txBody>
                    <a:bodyPr/>
                    <a:lstStyle/>
                    <a:p>
                      <a:pPr algn="ctr"/>
                      <a:r>
                        <a:rPr lang="en-US" altLang="zh-TW" sz="1200" dirty="0"/>
                        <a:t>0</a:t>
                      </a:r>
                      <a:endParaRPr lang="zh-TW" altLang="en-US" sz="1200" dirty="0"/>
                    </a:p>
                  </a:txBody>
                  <a:tcPr/>
                </a:tc>
                <a:tc rowSpan="5">
                  <a:txBody>
                    <a:bodyPr/>
                    <a:lstStyle/>
                    <a:p>
                      <a:pPr algn="ctr"/>
                      <a:r>
                        <a:rPr lang="en-US" altLang="zh-TW" sz="1200" dirty="0"/>
                        <a:t>0</a:t>
                      </a:r>
                      <a:endParaRPr lang="zh-TW" altLang="en-US" sz="1200" dirty="0"/>
                    </a:p>
                  </a:txBody>
                  <a:tcPr anchor="ctr"/>
                </a:tc>
                <a:extLst>
                  <a:ext uri="{0D108BD9-81ED-4DB2-BD59-A6C34878D82A}">
                    <a16:rowId xmlns:a16="http://schemas.microsoft.com/office/drawing/2014/main" val="102366488"/>
                  </a:ext>
                </a:extLst>
              </a:tr>
              <a:tr h="284101">
                <a:tc vMerge="1">
                  <a:txBody>
                    <a:bodyPr/>
                    <a:lstStyle/>
                    <a:p>
                      <a:endParaRPr lang="zh-TW" altLang="en-US"/>
                    </a:p>
                  </a:txBody>
                  <a:tcPr/>
                </a:tc>
                <a:tc>
                  <a:txBody>
                    <a:bodyPr/>
                    <a:lstStyle/>
                    <a:p>
                      <a:r>
                        <a:rPr lang="zh-TW" altLang="en-US" sz="1200" dirty="0"/>
                        <a:t>主機</a:t>
                      </a:r>
                      <a:r>
                        <a:rPr lang="en-US" altLang="zh-TW" sz="1200" dirty="0"/>
                        <a:t>DB</a:t>
                      </a:r>
                      <a:endParaRPr lang="zh-TW" altLang="en-US" sz="1200" dirty="0"/>
                    </a:p>
                  </a:txBody>
                  <a:tcPr/>
                </a:tc>
                <a:tc>
                  <a:txBody>
                    <a:bodyPr/>
                    <a:lstStyle/>
                    <a:p>
                      <a:r>
                        <a:rPr lang="en-US" altLang="zh-TW" sz="1200" dirty="0"/>
                        <a:t>VM (CPU 8 / RAM 16 / DISK 500GB)</a:t>
                      </a:r>
                      <a:endParaRPr lang="zh-TW" altLang="en-US" sz="1200" dirty="0"/>
                    </a:p>
                  </a:txBody>
                  <a:tcPr/>
                </a:tc>
                <a:tc>
                  <a:txBody>
                    <a:bodyPr/>
                    <a:lstStyle/>
                    <a:p>
                      <a:pPr algn="ctr"/>
                      <a:r>
                        <a:rPr lang="en-US" altLang="zh-TW" sz="1200" dirty="0"/>
                        <a:t>1</a:t>
                      </a:r>
                      <a:endParaRPr lang="zh-TW" altLang="en-US" sz="1200" dirty="0"/>
                    </a:p>
                  </a:txBody>
                  <a:tcPr/>
                </a:tc>
                <a:tc>
                  <a:txBody>
                    <a:bodyPr/>
                    <a:lstStyle/>
                    <a:p>
                      <a:pPr algn="ctr"/>
                      <a:r>
                        <a:rPr lang="en-US" altLang="zh-TW" sz="1200" dirty="0"/>
                        <a:t>0</a:t>
                      </a:r>
                      <a:endParaRPr lang="zh-TW" altLang="en-US" sz="1200" dirty="0"/>
                    </a:p>
                  </a:txBody>
                  <a:tcPr/>
                </a:tc>
                <a:tc vMerge="1">
                  <a:txBody>
                    <a:bodyPr/>
                    <a:lstStyle/>
                    <a:p>
                      <a:endParaRPr lang="zh-TW" altLang="en-US" sz="1200"/>
                    </a:p>
                  </a:txBody>
                  <a:tcPr/>
                </a:tc>
                <a:extLst>
                  <a:ext uri="{0D108BD9-81ED-4DB2-BD59-A6C34878D82A}">
                    <a16:rowId xmlns:a16="http://schemas.microsoft.com/office/drawing/2014/main" val="3750578765"/>
                  </a:ext>
                </a:extLst>
              </a:tr>
              <a:tr h="284101">
                <a:tc vMerge="1">
                  <a:txBody>
                    <a:bodyPr/>
                    <a:lstStyle/>
                    <a:p>
                      <a:endParaRPr lang="zh-TW" altLang="en-US"/>
                    </a:p>
                  </a:txBody>
                  <a:tcPr/>
                </a:tc>
                <a:tc>
                  <a:txBody>
                    <a:bodyPr/>
                    <a:lstStyle/>
                    <a:p>
                      <a:r>
                        <a:rPr kumimoji="0" lang="zh-TW" altLang="en-US" sz="1200" b="0" i="0" u="none" strike="noStrike" kern="1200" cap="none" spc="0" normalizeH="0" baseline="0" noProof="0" dirty="0">
                          <a:ln>
                            <a:noFill/>
                          </a:ln>
                          <a:solidFill>
                            <a:prstClr val="black"/>
                          </a:solidFill>
                          <a:effectLst/>
                          <a:uLnTx/>
                          <a:uFillTx/>
                          <a:latin typeface="Arial"/>
                          <a:ea typeface="微軟正黑體"/>
                          <a:cs typeface="+mn-cs"/>
                        </a:rPr>
                        <a:t>作業系統</a:t>
                      </a:r>
                      <a:r>
                        <a:rPr kumimoji="0" lang="en-US" altLang="zh-TW" sz="1200" b="0" i="0" u="none" strike="noStrike" kern="1200" cap="none" spc="0" normalizeH="0" baseline="0" noProof="0" dirty="0">
                          <a:ln>
                            <a:noFill/>
                          </a:ln>
                          <a:solidFill>
                            <a:prstClr val="black"/>
                          </a:solidFill>
                          <a:effectLst/>
                          <a:uLnTx/>
                          <a:uFillTx/>
                          <a:latin typeface="Arial"/>
                          <a:ea typeface="微軟正黑體"/>
                          <a:cs typeface="+mn-cs"/>
                        </a:rPr>
                        <a:t>AP</a:t>
                      </a:r>
                      <a:endParaRPr lang="zh-TW" altLang="en-US" sz="1200" dirty="0"/>
                    </a:p>
                  </a:txBody>
                  <a:tcPr/>
                </a:tc>
                <a:tc>
                  <a:txBody>
                    <a:bodyPr/>
                    <a:lstStyle/>
                    <a:p>
                      <a:r>
                        <a:rPr lang="en-US" altLang="zh-TW" sz="1200" dirty="0"/>
                        <a:t>Oracle Linux 9</a:t>
                      </a:r>
                      <a:endParaRPr lang="zh-TW" altLang="en-US" sz="1200" dirty="0"/>
                    </a:p>
                  </a:txBody>
                  <a:tcPr/>
                </a:tc>
                <a:tc>
                  <a:txBody>
                    <a:bodyPr/>
                    <a:lstStyle/>
                    <a:p>
                      <a:pPr algn="ctr"/>
                      <a:r>
                        <a:rPr lang="en-US" altLang="zh-TW" sz="1200" dirty="0"/>
                        <a:t>1</a:t>
                      </a:r>
                      <a:endParaRPr lang="zh-TW" altLang="en-US" sz="1200" dirty="0"/>
                    </a:p>
                  </a:txBody>
                  <a:tcPr/>
                </a:tc>
                <a:tc>
                  <a:txBody>
                    <a:bodyPr/>
                    <a:lstStyle/>
                    <a:p>
                      <a:pPr algn="ctr"/>
                      <a:r>
                        <a:rPr lang="en-US" altLang="zh-TW" sz="1200" dirty="0"/>
                        <a:t>0</a:t>
                      </a:r>
                      <a:endParaRPr lang="zh-TW" altLang="en-US" sz="1200" dirty="0"/>
                    </a:p>
                  </a:txBody>
                  <a:tcPr/>
                </a:tc>
                <a:tc vMerge="1">
                  <a:txBody>
                    <a:bodyPr/>
                    <a:lstStyle/>
                    <a:p>
                      <a:endParaRPr lang="zh-TW" altLang="en-US" sz="1200"/>
                    </a:p>
                  </a:txBody>
                  <a:tcPr/>
                </a:tc>
                <a:extLst>
                  <a:ext uri="{0D108BD9-81ED-4DB2-BD59-A6C34878D82A}">
                    <a16:rowId xmlns:a16="http://schemas.microsoft.com/office/drawing/2014/main" val="2602945181"/>
                  </a:ext>
                </a:extLst>
              </a:tr>
              <a:tr h="284101">
                <a:tc vMerge="1">
                  <a:txBody>
                    <a:bodyPr/>
                    <a:lstStyle/>
                    <a:p>
                      <a:endParaRPr lang="zh-TW" altLang="en-US"/>
                    </a:p>
                  </a:txBody>
                  <a:tcPr/>
                </a:tc>
                <a:tc>
                  <a:txBody>
                    <a:bodyPr/>
                    <a:lstStyle/>
                    <a:p>
                      <a:r>
                        <a:rPr kumimoji="0" lang="zh-TW" altLang="en-US" sz="1200" b="0" i="0" u="none" strike="noStrike" kern="1200" cap="none" spc="0" normalizeH="0" baseline="0" noProof="0" dirty="0">
                          <a:ln>
                            <a:noFill/>
                          </a:ln>
                          <a:solidFill>
                            <a:prstClr val="black"/>
                          </a:solidFill>
                          <a:effectLst/>
                          <a:uLnTx/>
                          <a:uFillTx/>
                          <a:latin typeface="+mn-lt"/>
                          <a:ea typeface="+mn-ea"/>
                          <a:cs typeface="+mn-cs"/>
                        </a:rPr>
                        <a:t>作業系統</a:t>
                      </a:r>
                      <a:r>
                        <a:rPr kumimoji="0" lang="en-US" altLang="zh-TW" sz="1200" b="0" i="0" u="none" strike="noStrike" kern="1200" cap="none" spc="0" normalizeH="0" baseline="0" noProof="0" dirty="0">
                          <a:ln>
                            <a:noFill/>
                          </a:ln>
                          <a:solidFill>
                            <a:prstClr val="black"/>
                          </a:solidFill>
                          <a:effectLst/>
                          <a:uLnTx/>
                          <a:uFillTx/>
                          <a:latin typeface="+mn-lt"/>
                          <a:ea typeface="+mn-ea"/>
                          <a:cs typeface="+mn-cs"/>
                        </a:rPr>
                        <a:t>DB</a:t>
                      </a:r>
                      <a:endParaRPr lang="zh-TW" altLang="en-US" sz="1200" dirty="0"/>
                    </a:p>
                  </a:txBody>
                  <a:tcPr/>
                </a:tc>
                <a:tc>
                  <a:txBody>
                    <a:bodyPr/>
                    <a:lstStyle/>
                    <a:p>
                      <a:r>
                        <a:rPr lang="en-US" altLang="zh-TW" sz="1200" dirty="0"/>
                        <a:t>Windows 2022</a:t>
                      </a:r>
                      <a:endParaRPr lang="zh-TW" altLang="en-US" sz="1200" dirty="0"/>
                    </a:p>
                  </a:txBody>
                  <a:tcPr/>
                </a:tc>
                <a:tc>
                  <a:txBody>
                    <a:bodyPr/>
                    <a:lstStyle/>
                    <a:p>
                      <a:pPr algn="ctr"/>
                      <a:r>
                        <a:rPr lang="en-US" altLang="zh-TW" sz="1200" dirty="0"/>
                        <a:t>1</a:t>
                      </a:r>
                      <a:endParaRPr lang="zh-TW" altLang="en-US" sz="1200" dirty="0"/>
                    </a:p>
                  </a:txBody>
                  <a:tcPr/>
                </a:tc>
                <a:tc>
                  <a:txBody>
                    <a:bodyPr/>
                    <a:lstStyle/>
                    <a:p>
                      <a:pPr algn="ctr"/>
                      <a:r>
                        <a:rPr lang="en-US" altLang="zh-TW" sz="1200" dirty="0"/>
                        <a:t>0</a:t>
                      </a:r>
                      <a:endParaRPr lang="zh-TW" altLang="en-US" sz="1200" dirty="0"/>
                    </a:p>
                  </a:txBody>
                  <a:tcPr/>
                </a:tc>
                <a:tc vMerge="1">
                  <a:txBody>
                    <a:bodyPr/>
                    <a:lstStyle/>
                    <a:p>
                      <a:endParaRPr lang="zh-TW" altLang="en-US" sz="1200"/>
                    </a:p>
                  </a:txBody>
                  <a:tcPr/>
                </a:tc>
                <a:extLst>
                  <a:ext uri="{0D108BD9-81ED-4DB2-BD59-A6C34878D82A}">
                    <a16:rowId xmlns:a16="http://schemas.microsoft.com/office/drawing/2014/main" val="997373784"/>
                  </a:ext>
                </a:extLst>
              </a:tr>
              <a:tr h="284101">
                <a:tc vMerge="1">
                  <a:txBody>
                    <a:bodyPr/>
                    <a:lstStyle/>
                    <a:p>
                      <a:endParaRPr lang="zh-TW" altLang="en-US"/>
                    </a:p>
                  </a:txBody>
                  <a:tcPr/>
                </a:tc>
                <a:tc>
                  <a:txBody>
                    <a:bodyPr/>
                    <a:lstStyle/>
                    <a:p>
                      <a:r>
                        <a:rPr kumimoji="0" lang="zh-TW" altLang="en-US" sz="1200" b="0" i="0" u="none" strike="noStrike" kern="1200" cap="none" spc="0" normalizeH="0" baseline="0" noProof="0" dirty="0">
                          <a:ln>
                            <a:noFill/>
                          </a:ln>
                          <a:solidFill>
                            <a:prstClr val="black"/>
                          </a:solidFill>
                          <a:effectLst/>
                          <a:uLnTx/>
                          <a:uFillTx/>
                          <a:latin typeface="+mn-lt"/>
                          <a:ea typeface="+mn-ea"/>
                          <a:cs typeface="+mn-cs"/>
                        </a:rPr>
                        <a:t>資料庫</a:t>
                      </a:r>
                      <a:endParaRPr lang="zh-TW" altLang="en-US" sz="1200" dirty="0"/>
                    </a:p>
                  </a:txBody>
                  <a:tcPr/>
                </a:tc>
                <a:tc>
                  <a:txBody>
                    <a:bodyPr/>
                    <a:lstStyle/>
                    <a:p>
                      <a:pPr marL="0" marR="0" lvl="0" indent="0" algn="l" defTabSz="932962" rtl="0" eaLnBrk="1" fontAlgn="auto" latinLnBrk="0" hangingPunct="1">
                        <a:lnSpc>
                          <a:spcPct val="100000"/>
                        </a:lnSpc>
                        <a:spcBef>
                          <a:spcPts val="0"/>
                        </a:spcBef>
                        <a:spcAft>
                          <a:spcPts val="0"/>
                        </a:spcAft>
                        <a:buClrTx/>
                        <a:buSzTx/>
                        <a:buFontTx/>
                        <a:buNone/>
                        <a:tabLst/>
                        <a:defRPr/>
                      </a:pPr>
                      <a:r>
                        <a:rPr lang="en-US" altLang="zh-TW" sz="1200" dirty="0"/>
                        <a:t>Microsoft SQL Server 2022</a:t>
                      </a:r>
                      <a:endParaRPr lang="zh-TW" altLang="en-US" sz="1200" dirty="0"/>
                    </a:p>
                  </a:txBody>
                  <a:tcPr/>
                </a:tc>
                <a:tc>
                  <a:txBody>
                    <a:bodyPr/>
                    <a:lstStyle/>
                    <a:p>
                      <a:pPr algn="ctr"/>
                      <a:r>
                        <a:rPr lang="en-US" altLang="zh-TW" sz="1200" dirty="0"/>
                        <a:t>1</a:t>
                      </a:r>
                      <a:endParaRPr lang="zh-TW" altLang="en-US" sz="1200" dirty="0"/>
                    </a:p>
                  </a:txBody>
                  <a:tcPr/>
                </a:tc>
                <a:tc>
                  <a:txBody>
                    <a:bodyPr/>
                    <a:lstStyle/>
                    <a:p>
                      <a:pPr algn="ctr"/>
                      <a:r>
                        <a:rPr lang="en-US" altLang="zh-TW" sz="1200" dirty="0"/>
                        <a:t>0</a:t>
                      </a:r>
                      <a:endParaRPr lang="zh-TW" altLang="en-US" sz="1200" dirty="0"/>
                    </a:p>
                  </a:txBody>
                  <a:tcPr/>
                </a:tc>
                <a:tc vMerge="1">
                  <a:txBody>
                    <a:bodyPr/>
                    <a:lstStyle/>
                    <a:p>
                      <a:endParaRPr lang="zh-TW" altLang="en-US" sz="1200"/>
                    </a:p>
                  </a:txBody>
                  <a:tcPr/>
                </a:tc>
                <a:extLst>
                  <a:ext uri="{0D108BD9-81ED-4DB2-BD59-A6C34878D82A}">
                    <a16:rowId xmlns:a16="http://schemas.microsoft.com/office/drawing/2014/main" val="4187056258"/>
                  </a:ext>
                </a:extLst>
              </a:tr>
              <a:tr h="284101">
                <a:tc rowSpan="6">
                  <a:txBody>
                    <a:bodyPr/>
                    <a:lstStyle/>
                    <a:p>
                      <a:pPr algn="ctr"/>
                      <a:r>
                        <a:rPr lang="zh-TW" altLang="en-US" sz="1200"/>
                        <a:t>測試機</a:t>
                      </a:r>
                    </a:p>
                  </a:txBody>
                  <a:tcPr anchor="ctr"/>
                </a:tc>
                <a:tc>
                  <a:txBody>
                    <a:bodyPr/>
                    <a:lstStyle/>
                    <a:p>
                      <a:pPr algn="ctr"/>
                      <a:r>
                        <a:rPr lang="zh-TW" altLang="en-US" sz="1200"/>
                        <a:t>項目</a:t>
                      </a:r>
                    </a:p>
                  </a:txBody>
                  <a:tcPr>
                    <a:solidFill>
                      <a:srgbClr val="FFFF66"/>
                    </a:solidFill>
                  </a:tcPr>
                </a:tc>
                <a:tc>
                  <a:txBody>
                    <a:bodyPr/>
                    <a:lstStyle/>
                    <a:p>
                      <a:pPr algn="ctr"/>
                      <a:r>
                        <a:rPr lang="zh-TW" altLang="en-US" sz="1200"/>
                        <a:t>規格說明</a:t>
                      </a:r>
                    </a:p>
                  </a:txBody>
                  <a:tcPr>
                    <a:solidFill>
                      <a:srgbClr val="FFFF66"/>
                    </a:solidFill>
                  </a:tcPr>
                </a:tc>
                <a:tc>
                  <a:txBody>
                    <a:bodyPr/>
                    <a:lstStyle/>
                    <a:p>
                      <a:pPr algn="ctr"/>
                      <a:r>
                        <a:rPr lang="zh-TW" altLang="en-US" sz="1200"/>
                        <a:t>數量</a:t>
                      </a:r>
                    </a:p>
                  </a:txBody>
                  <a:tcPr>
                    <a:solidFill>
                      <a:srgbClr val="FFFF66"/>
                    </a:solidFill>
                  </a:tcPr>
                </a:tc>
                <a:tc>
                  <a:txBody>
                    <a:bodyPr/>
                    <a:lstStyle/>
                    <a:p>
                      <a:pPr algn="ctr"/>
                      <a:r>
                        <a:rPr lang="zh-TW" altLang="en-US" sz="1200" dirty="0"/>
                        <a:t>價格</a:t>
                      </a:r>
                    </a:p>
                  </a:txBody>
                  <a:tcPr>
                    <a:solidFill>
                      <a:srgbClr val="FFFF66"/>
                    </a:solidFill>
                  </a:tcPr>
                </a:tc>
                <a:tc>
                  <a:txBody>
                    <a:bodyPr/>
                    <a:lstStyle/>
                    <a:p>
                      <a:pPr algn="ctr"/>
                      <a:r>
                        <a:rPr lang="zh-TW" altLang="en-US" sz="1200"/>
                        <a:t>合計</a:t>
                      </a:r>
                    </a:p>
                  </a:txBody>
                  <a:tcPr>
                    <a:solidFill>
                      <a:srgbClr val="FFFF66"/>
                    </a:solidFill>
                  </a:tcPr>
                </a:tc>
                <a:extLst>
                  <a:ext uri="{0D108BD9-81ED-4DB2-BD59-A6C34878D82A}">
                    <a16:rowId xmlns:a16="http://schemas.microsoft.com/office/drawing/2014/main" val="181717980"/>
                  </a:ext>
                </a:extLst>
              </a:tr>
              <a:tr h="284101">
                <a:tc vMerge="1">
                  <a:txBody>
                    <a:bodyPr/>
                    <a:lstStyle/>
                    <a:p>
                      <a:endParaRPr lang="zh-TW" altLang="en-US"/>
                    </a:p>
                  </a:txBody>
                  <a:tcPr/>
                </a:tc>
                <a:tc>
                  <a:txBody>
                    <a:bodyPr/>
                    <a:lstStyle/>
                    <a:p>
                      <a:r>
                        <a:rPr lang="zh-TW" altLang="en-US" sz="1200" dirty="0"/>
                        <a:t>主機</a:t>
                      </a:r>
                      <a:r>
                        <a:rPr lang="en-US" altLang="zh-TW" sz="1200" dirty="0"/>
                        <a:t>AP</a:t>
                      </a:r>
                      <a:endParaRPr lang="zh-TW" altLang="en-US" sz="1200" dirty="0"/>
                    </a:p>
                  </a:txBody>
                  <a:tcPr/>
                </a:tc>
                <a:tc>
                  <a:txBody>
                    <a:bodyPr/>
                    <a:lstStyle/>
                    <a:p>
                      <a:r>
                        <a:rPr lang="en-US" altLang="zh-TW" sz="1200" dirty="0"/>
                        <a:t>VM (CPU 16 / RAM 16 / DISK 1.8T)</a:t>
                      </a:r>
                      <a:endParaRPr lang="zh-TW" altLang="en-US" sz="1200" dirty="0"/>
                    </a:p>
                  </a:txBody>
                  <a:tcPr/>
                </a:tc>
                <a:tc>
                  <a:txBody>
                    <a:bodyPr/>
                    <a:lstStyle/>
                    <a:p>
                      <a:pPr algn="ctr"/>
                      <a:r>
                        <a:rPr lang="en-US" altLang="zh-TW" sz="1200" dirty="0"/>
                        <a:t>1</a:t>
                      </a:r>
                      <a:endParaRPr lang="zh-TW" altLang="en-US" sz="1200" dirty="0"/>
                    </a:p>
                  </a:txBody>
                  <a:tcPr/>
                </a:tc>
                <a:tc>
                  <a:txBody>
                    <a:bodyPr/>
                    <a:lstStyle/>
                    <a:p>
                      <a:pPr algn="ctr"/>
                      <a:r>
                        <a:rPr lang="en-US" altLang="zh-TW" sz="1200" dirty="0"/>
                        <a:t>0</a:t>
                      </a:r>
                      <a:endParaRPr lang="zh-TW" altLang="en-US" sz="1200" dirty="0"/>
                    </a:p>
                  </a:txBody>
                  <a:tcPr/>
                </a:tc>
                <a:tc rowSpan="5">
                  <a:txBody>
                    <a:bodyPr/>
                    <a:lstStyle/>
                    <a:p>
                      <a:pPr algn="ctr"/>
                      <a:r>
                        <a:rPr lang="en-US" altLang="zh-TW" sz="1200" dirty="0"/>
                        <a:t>0</a:t>
                      </a:r>
                      <a:endParaRPr lang="zh-TW" altLang="en-US" sz="1200" dirty="0"/>
                    </a:p>
                  </a:txBody>
                  <a:tcPr anchor="ctr"/>
                </a:tc>
                <a:extLst>
                  <a:ext uri="{0D108BD9-81ED-4DB2-BD59-A6C34878D82A}">
                    <a16:rowId xmlns:a16="http://schemas.microsoft.com/office/drawing/2014/main" val="3000985791"/>
                  </a:ext>
                </a:extLst>
              </a:tr>
              <a:tr h="284101">
                <a:tc vMerge="1">
                  <a:txBody>
                    <a:bodyPr/>
                    <a:lstStyle/>
                    <a:p>
                      <a:endParaRPr lang="zh-TW" altLang="en-US"/>
                    </a:p>
                  </a:txBody>
                  <a:tcPr/>
                </a:tc>
                <a:tc>
                  <a:txBody>
                    <a:bodyPr/>
                    <a:lstStyle/>
                    <a:p>
                      <a:r>
                        <a:rPr lang="zh-TW" altLang="en-US" sz="1200" dirty="0"/>
                        <a:t>主機</a:t>
                      </a:r>
                      <a:r>
                        <a:rPr lang="en-US" altLang="zh-TW" sz="1200" dirty="0"/>
                        <a:t>DB</a:t>
                      </a:r>
                      <a:endParaRPr lang="zh-TW" altLang="en-US" sz="1200" dirty="0"/>
                    </a:p>
                  </a:txBody>
                  <a:tcPr/>
                </a:tc>
                <a:tc>
                  <a:txBody>
                    <a:bodyPr/>
                    <a:lstStyle/>
                    <a:p>
                      <a:pPr marL="0" marR="0" lvl="0" indent="0" algn="l" defTabSz="932962" rtl="0" eaLnBrk="1" fontAlgn="auto" latinLnBrk="0" hangingPunct="1">
                        <a:lnSpc>
                          <a:spcPct val="100000"/>
                        </a:lnSpc>
                        <a:spcBef>
                          <a:spcPts val="0"/>
                        </a:spcBef>
                        <a:spcAft>
                          <a:spcPts val="0"/>
                        </a:spcAft>
                        <a:buClrTx/>
                        <a:buSzTx/>
                        <a:buFontTx/>
                        <a:buNone/>
                        <a:tabLst/>
                        <a:defRPr/>
                      </a:pPr>
                      <a:r>
                        <a:rPr lang="en-US" altLang="zh-TW" sz="1200" dirty="0"/>
                        <a:t>VM (CPU 8 / RAM 16 / DISK 500GB)</a:t>
                      </a:r>
                      <a:endParaRPr lang="zh-TW" altLang="en-US" sz="1200" dirty="0"/>
                    </a:p>
                  </a:txBody>
                  <a:tcPr/>
                </a:tc>
                <a:tc>
                  <a:txBody>
                    <a:bodyPr/>
                    <a:lstStyle/>
                    <a:p>
                      <a:pPr algn="ctr"/>
                      <a:r>
                        <a:rPr lang="en-US" altLang="zh-TW" sz="1200" dirty="0"/>
                        <a:t>1</a:t>
                      </a:r>
                      <a:endParaRPr lang="zh-TW" altLang="en-US" sz="1200" dirty="0"/>
                    </a:p>
                  </a:txBody>
                  <a:tcPr/>
                </a:tc>
                <a:tc>
                  <a:txBody>
                    <a:bodyPr/>
                    <a:lstStyle/>
                    <a:p>
                      <a:pPr algn="ctr"/>
                      <a:r>
                        <a:rPr lang="en-US" altLang="zh-TW" sz="1200" dirty="0"/>
                        <a:t>0</a:t>
                      </a:r>
                      <a:endParaRPr lang="zh-TW" altLang="en-US" sz="1200" dirty="0"/>
                    </a:p>
                  </a:txBody>
                  <a:tcPr/>
                </a:tc>
                <a:tc vMerge="1">
                  <a:txBody>
                    <a:bodyPr/>
                    <a:lstStyle/>
                    <a:p>
                      <a:endParaRPr lang="zh-TW" altLang="en-US" sz="1200"/>
                    </a:p>
                  </a:txBody>
                  <a:tcPr/>
                </a:tc>
                <a:extLst>
                  <a:ext uri="{0D108BD9-81ED-4DB2-BD59-A6C34878D82A}">
                    <a16:rowId xmlns:a16="http://schemas.microsoft.com/office/drawing/2014/main" val="141366199"/>
                  </a:ext>
                </a:extLst>
              </a:tr>
              <a:tr h="284101">
                <a:tc vMerge="1">
                  <a:txBody>
                    <a:bodyPr/>
                    <a:lstStyle/>
                    <a:p>
                      <a:endParaRPr lang="zh-TW" altLang="en-US"/>
                    </a:p>
                  </a:txBody>
                  <a:tcPr/>
                </a:tc>
                <a:tc>
                  <a:txBody>
                    <a:bodyPr/>
                    <a:lstStyle/>
                    <a:p>
                      <a:r>
                        <a:rPr kumimoji="0" lang="zh-TW" altLang="en-US" sz="1200" b="0" i="0" u="none" strike="noStrike" kern="1200" cap="none" spc="0" normalizeH="0" baseline="0" noProof="0" dirty="0">
                          <a:ln>
                            <a:noFill/>
                          </a:ln>
                          <a:solidFill>
                            <a:prstClr val="black"/>
                          </a:solidFill>
                          <a:effectLst/>
                          <a:uLnTx/>
                          <a:uFillTx/>
                          <a:latin typeface="Arial"/>
                          <a:ea typeface="微軟正黑體"/>
                          <a:cs typeface="+mn-cs"/>
                        </a:rPr>
                        <a:t>作業系統</a:t>
                      </a:r>
                      <a:r>
                        <a:rPr kumimoji="0" lang="en-US" altLang="zh-TW" sz="1200" b="0" i="0" u="none" strike="noStrike" kern="1200" cap="none" spc="0" normalizeH="0" baseline="0" noProof="0" dirty="0">
                          <a:ln>
                            <a:noFill/>
                          </a:ln>
                          <a:solidFill>
                            <a:prstClr val="black"/>
                          </a:solidFill>
                          <a:effectLst/>
                          <a:uLnTx/>
                          <a:uFillTx/>
                          <a:latin typeface="Arial"/>
                          <a:ea typeface="微軟正黑體"/>
                          <a:cs typeface="+mn-cs"/>
                        </a:rPr>
                        <a:t>AP</a:t>
                      </a:r>
                      <a:endParaRPr lang="zh-TW" altLang="en-US" sz="1200" dirty="0"/>
                    </a:p>
                  </a:txBody>
                  <a:tcPr/>
                </a:tc>
                <a:tc>
                  <a:txBody>
                    <a:bodyPr/>
                    <a:lstStyle/>
                    <a:p>
                      <a:r>
                        <a:rPr lang="en-US" altLang="zh-TW" sz="1200" dirty="0"/>
                        <a:t>Oracle Linux 9</a:t>
                      </a:r>
                      <a:endParaRPr lang="zh-TW" altLang="en-US" sz="1200" dirty="0"/>
                    </a:p>
                  </a:txBody>
                  <a:tcPr/>
                </a:tc>
                <a:tc>
                  <a:txBody>
                    <a:bodyPr/>
                    <a:lstStyle/>
                    <a:p>
                      <a:pPr algn="ctr"/>
                      <a:r>
                        <a:rPr lang="en-US" altLang="zh-TW" sz="1200" dirty="0"/>
                        <a:t>1</a:t>
                      </a:r>
                      <a:endParaRPr lang="zh-TW" altLang="en-US" sz="1200" dirty="0"/>
                    </a:p>
                  </a:txBody>
                  <a:tcPr/>
                </a:tc>
                <a:tc>
                  <a:txBody>
                    <a:bodyPr/>
                    <a:lstStyle/>
                    <a:p>
                      <a:pPr algn="ctr"/>
                      <a:r>
                        <a:rPr lang="en-US" altLang="zh-TW" sz="1200" dirty="0"/>
                        <a:t>0</a:t>
                      </a:r>
                      <a:endParaRPr lang="zh-TW" altLang="en-US" sz="1200" dirty="0"/>
                    </a:p>
                  </a:txBody>
                  <a:tcPr/>
                </a:tc>
                <a:tc vMerge="1">
                  <a:txBody>
                    <a:bodyPr/>
                    <a:lstStyle/>
                    <a:p>
                      <a:endParaRPr lang="zh-TW" altLang="en-US" sz="1200"/>
                    </a:p>
                  </a:txBody>
                  <a:tcPr/>
                </a:tc>
                <a:extLst>
                  <a:ext uri="{0D108BD9-81ED-4DB2-BD59-A6C34878D82A}">
                    <a16:rowId xmlns:a16="http://schemas.microsoft.com/office/drawing/2014/main" val="2110299065"/>
                  </a:ext>
                </a:extLst>
              </a:tr>
              <a:tr h="284101">
                <a:tc vMerge="1">
                  <a:txBody>
                    <a:bodyPr/>
                    <a:lstStyle/>
                    <a:p>
                      <a:endParaRPr lang="zh-TW" altLang="en-US"/>
                    </a:p>
                  </a:txBody>
                  <a:tcPr/>
                </a:tc>
                <a:tc>
                  <a:txBody>
                    <a:bodyPr/>
                    <a:lstStyle/>
                    <a:p>
                      <a:r>
                        <a:rPr kumimoji="0" lang="zh-TW" altLang="en-US" sz="1200" b="0" i="0" u="none" strike="noStrike" kern="1200" cap="none" spc="0" normalizeH="0" baseline="0" noProof="0" dirty="0">
                          <a:ln>
                            <a:noFill/>
                          </a:ln>
                          <a:solidFill>
                            <a:prstClr val="black"/>
                          </a:solidFill>
                          <a:effectLst/>
                          <a:uLnTx/>
                          <a:uFillTx/>
                          <a:latin typeface="+mn-lt"/>
                          <a:ea typeface="+mn-ea"/>
                          <a:cs typeface="+mn-cs"/>
                        </a:rPr>
                        <a:t>作業系統</a:t>
                      </a:r>
                      <a:r>
                        <a:rPr kumimoji="0" lang="en-US" altLang="zh-TW" sz="1200" b="0" i="0" u="none" strike="noStrike" kern="1200" cap="none" spc="0" normalizeH="0" baseline="0" noProof="0" dirty="0">
                          <a:ln>
                            <a:noFill/>
                          </a:ln>
                          <a:solidFill>
                            <a:prstClr val="black"/>
                          </a:solidFill>
                          <a:effectLst/>
                          <a:uLnTx/>
                          <a:uFillTx/>
                          <a:latin typeface="+mn-lt"/>
                          <a:ea typeface="+mn-ea"/>
                          <a:cs typeface="+mn-cs"/>
                        </a:rPr>
                        <a:t>DB</a:t>
                      </a:r>
                      <a:endParaRPr lang="zh-TW" altLang="en-US" sz="1200" dirty="0"/>
                    </a:p>
                  </a:txBody>
                  <a:tcPr/>
                </a:tc>
                <a:tc>
                  <a:txBody>
                    <a:bodyPr/>
                    <a:lstStyle/>
                    <a:p>
                      <a:r>
                        <a:rPr lang="en-US" altLang="zh-TW" sz="1200" dirty="0"/>
                        <a:t>Windows 2022</a:t>
                      </a:r>
                      <a:endParaRPr lang="zh-TW" altLang="en-US" sz="1200" dirty="0"/>
                    </a:p>
                  </a:txBody>
                  <a:tcPr/>
                </a:tc>
                <a:tc>
                  <a:txBody>
                    <a:bodyPr/>
                    <a:lstStyle/>
                    <a:p>
                      <a:pPr algn="ctr"/>
                      <a:r>
                        <a:rPr lang="en-US" altLang="zh-TW" sz="1200" dirty="0"/>
                        <a:t>1</a:t>
                      </a:r>
                      <a:endParaRPr lang="zh-TW" altLang="en-US" sz="1200" dirty="0"/>
                    </a:p>
                  </a:txBody>
                  <a:tcPr/>
                </a:tc>
                <a:tc>
                  <a:txBody>
                    <a:bodyPr/>
                    <a:lstStyle/>
                    <a:p>
                      <a:pPr algn="ctr"/>
                      <a:r>
                        <a:rPr lang="en-US" altLang="zh-TW" sz="1200" dirty="0"/>
                        <a:t>0</a:t>
                      </a:r>
                      <a:endParaRPr lang="zh-TW" altLang="en-US" sz="1200" dirty="0"/>
                    </a:p>
                  </a:txBody>
                  <a:tcPr/>
                </a:tc>
                <a:tc vMerge="1">
                  <a:txBody>
                    <a:bodyPr/>
                    <a:lstStyle/>
                    <a:p>
                      <a:endParaRPr lang="zh-TW" altLang="en-US" sz="1200"/>
                    </a:p>
                  </a:txBody>
                  <a:tcPr/>
                </a:tc>
                <a:extLst>
                  <a:ext uri="{0D108BD9-81ED-4DB2-BD59-A6C34878D82A}">
                    <a16:rowId xmlns:a16="http://schemas.microsoft.com/office/drawing/2014/main" val="3590049841"/>
                  </a:ext>
                </a:extLst>
              </a:tr>
              <a:tr h="284101">
                <a:tc vMerge="1">
                  <a:txBody>
                    <a:bodyPr/>
                    <a:lstStyle/>
                    <a:p>
                      <a:endParaRPr lang="zh-TW" altLang="en-US"/>
                    </a:p>
                  </a:txBody>
                  <a:tcPr/>
                </a:tc>
                <a:tc>
                  <a:txBody>
                    <a:bodyPr/>
                    <a:lstStyle/>
                    <a:p>
                      <a:r>
                        <a:rPr kumimoji="0" lang="zh-TW" altLang="en-US" sz="1200" b="0" i="0" u="none" strike="noStrike" kern="1200" cap="none" spc="0" normalizeH="0" baseline="0" noProof="0" dirty="0">
                          <a:ln>
                            <a:noFill/>
                          </a:ln>
                          <a:solidFill>
                            <a:prstClr val="black"/>
                          </a:solidFill>
                          <a:effectLst/>
                          <a:uLnTx/>
                          <a:uFillTx/>
                          <a:latin typeface="+mn-lt"/>
                          <a:ea typeface="+mn-ea"/>
                          <a:cs typeface="+mn-cs"/>
                        </a:rPr>
                        <a:t>資料庫</a:t>
                      </a:r>
                      <a:endParaRPr lang="zh-TW" altLang="en-US" sz="1200" dirty="0"/>
                    </a:p>
                  </a:txBody>
                  <a:tcPr/>
                </a:tc>
                <a:tc>
                  <a:txBody>
                    <a:bodyPr/>
                    <a:lstStyle/>
                    <a:p>
                      <a:pPr marL="0" marR="0" lvl="0" indent="0" algn="l" defTabSz="932962" rtl="0" eaLnBrk="1" fontAlgn="auto" latinLnBrk="0" hangingPunct="1">
                        <a:lnSpc>
                          <a:spcPct val="100000"/>
                        </a:lnSpc>
                        <a:spcBef>
                          <a:spcPts val="0"/>
                        </a:spcBef>
                        <a:spcAft>
                          <a:spcPts val="0"/>
                        </a:spcAft>
                        <a:buClrTx/>
                        <a:buSzTx/>
                        <a:buFontTx/>
                        <a:buNone/>
                        <a:tabLst/>
                        <a:defRPr/>
                      </a:pPr>
                      <a:r>
                        <a:rPr lang="en-US" altLang="zh-TW" sz="1200" dirty="0"/>
                        <a:t>Microsoft SQL Server 2022</a:t>
                      </a:r>
                      <a:endParaRPr lang="zh-TW" altLang="en-US" sz="1200" dirty="0"/>
                    </a:p>
                  </a:txBody>
                  <a:tcPr/>
                </a:tc>
                <a:tc>
                  <a:txBody>
                    <a:bodyPr/>
                    <a:lstStyle/>
                    <a:p>
                      <a:pPr algn="ctr"/>
                      <a:r>
                        <a:rPr lang="en-US" altLang="zh-TW" sz="1200" dirty="0"/>
                        <a:t>1</a:t>
                      </a:r>
                      <a:endParaRPr lang="zh-TW" altLang="en-US" sz="1200" dirty="0"/>
                    </a:p>
                  </a:txBody>
                  <a:tcPr/>
                </a:tc>
                <a:tc>
                  <a:txBody>
                    <a:bodyPr/>
                    <a:lstStyle/>
                    <a:p>
                      <a:pPr algn="ctr"/>
                      <a:r>
                        <a:rPr lang="en-US" altLang="zh-TW" sz="1200" dirty="0"/>
                        <a:t>0</a:t>
                      </a:r>
                      <a:endParaRPr lang="zh-TW" altLang="en-US" sz="1200" dirty="0"/>
                    </a:p>
                  </a:txBody>
                  <a:tcPr/>
                </a:tc>
                <a:tc vMerge="1">
                  <a:txBody>
                    <a:bodyPr/>
                    <a:lstStyle/>
                    <a:p>
                      <a:endParaRPr lang="zh-TW" altLang="en-US" sz="1200"/>
                    </a:p>
                  </a:txBody>
                  <a:tcPr/>
                </a:tc>
                <a:extLst>
                  <a:ext uri="{0D108BD9-81ED-4DB2-BD59-A6C34878D82A}">
                    <a16:rowId xmlns:a16="http://schemas.microsoft.com/office/drawing/2014/main" val="3091744009"/>
                  </a:ext>
                </a:extLst>
              </a:tr>
            </a:tbl>
          </a:graphicData>
        </a:graphic>
      </p:graphicFrame>
      <p:sp>
        <p:nvSpPr>
          <p:cNvPr id="4" name="文字方塊 3">
            <a:extLst>
              <a:ext uri="{FF2B5EF4-FFF2-40B4-BE49-F238E27FC236}">
                <a16:creationId xmlns:a16="http://schemas.microsoft.com/office/drawing/2014/main" id="{DF483D3C-9C45-0593-7C28-966D76BF3D09}"/>
              </a:ext>
            </a:extLst>
          </p:cNvPr>
          <p:cNvSpPr txBox="1"/>
          <p:nvPr/>
        </p:nvSpPr>
        <p:spPr>
          <a:xfrm>
            <a:off x="7494412" y="4910945"/>
            <a:ext cx="3889206" cy="369332"/>
          </a:xfrm>
          <a:prstGeom prst="rect">
            <a:avLst/>
          </a:prstGeom>
          <a:noFill/>
        </p:spPr>
        <p:txBody>
          <a:bodyPr wrap="none" rtlCol="0">
            <a:spAutoFit/>
          </a:bodyPr>
          <a:lstStyle/>
          <a:p>
            <a:r>
              <a:rPr lang="en-US" altLang="zh-TW" dirty="0">
                <a:latin typeface="+mn-ea"/>
              </a:rPr>
              <a:t>※</a:t>
            </a:r>
            <a:r>
              <a:rPr lang="zh-TW" altLang="en-US" dirty="0">
                <a:latin typeface="+mn-ea"/>
              </a:rPr>
              <a:t>現已</a:t>
            </a:r>
            <a:r>
              <a:rPr lang="en-US" altLang="zh-TW" dirty="0">
                <a:latin typeface="+mn-ea"/>
              </a:rPr>
              <a:t>VM</a:t>
            </a:r>
            <a:r>
              <a:rPr lang="zh-TW" altLang="en-US" dirty="0">
                <a:latin typeface="+mn-ea"/>
              </a:rPr>
              <a:t>及現有實體機支應，費用</a:t>
            </a:r>
            <a:r>
              <a:rPr lang="en-US" altLang="zh-TW" dirty="0">
                <a:latin typeface="+mn-ea"/>
              </a:rPr>
              <a:t>0</a:t>
            </a:r>
            <a:endParaRPr lang="zh-TW" altLang="en-US" dirty="0">
              <a:latin typeface="+mn-ea"/>
            </a:endParaRPr>
          </a:p>
        </p:txBody>
      </p:sp>
    </p:spTree>
    <p:extLst>
      <p:ext uri="{BB962C8B-B14F-4D97-AF65-F5344CB8AC3E}">
        <p14:creationId xmlns:p14="http://schemas.microsoft.com/office/powerpoint/2010/main" val="24697511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07DF56E-9E54-4444-93C4-9ED55592C876}"/>
              </a:ext>
            </a:extLst>
          </p:cNvPr>
          <p:cNvSpPr>
            <a:spLocks noGrp="1"/>
          </p:cNvSpPr>
          <p:nvPr>
            <p:ph type="title"/>
          </p:nvPr>
        </p:nvSpPr>
        <p:spPr>
          <a:xfrm>
            <a:off x="527051" y="149735"/>
            <a:ext cx="11233150" cy="630238"/>
          </a:xfrm>
          <a:prstGeom prst="rect">
            <a:avLst/>
          </a:prstGeom>
        </p:spPr>
        <p:txBody>
          <a:bodyPr/>
          <a:lstStyle/>
          <a:p>
            <a:r>
              <a:rPr lang="en-US" altLang="zh-TW" sz="3200" b="0" dirty="0">
                <a:solidFill>
                  <a:schemeClr val="tx1"/>
                </a:solidFill>
                <a:latin typeface="+mn-ea"/>
                <a:ea typeface="+mn-ea"/>
              </a:rPr>
              <a:t>IT</a:t>
            </a:r>
            <a:r>
              <a:rPr lang="zh-TW" altLang="en-US" sz="3200" b="0" dirty="0">
                <a:solidFill>
                  <a:schemeClr val="tx1"/>
                </a:solidFill>
                <a:latin typeface="+mn-ea"/>
                <a:ea typeface="+mn-ea"/>
              </a:rPr>
              <a:t>內部人力</a:t>
            </a:r>
            <a:r>
              <a:rPr lang="en-US" altLang="zh-TW" sz="3200" b="0" dirty="0">
                <a:solidFill>
                  <a:schemeClr val="tx1"/>
                </a:solidFill>
                <a:latin typeface="+mn-ea"/>
                <a:ea typeface="+mn-ea"/>
              </a:rPr>
              <a:t>(</a:t>
            </a:r>
            <a:r>
              <a:rPr lang="zh-TW" altLang="en-US" sz="3200" b="0" dirty="0">
                <a:solidFill>
                  <a:schemeClr val="tx1"/>
                </a:solidFill>
                <a:latin typeface="+mn-ea"/>
                <a:ea typeface="+mn-ea"/>
              </a:rPr>
              <a:t>資訊</a:t>
            </a:r>
            <a:r>
              <a:rPr lang="en-US" altLang="zh-TW" sz="3200" b="0" dirty="0">
                <a:solidFill>
                  <a:schemeClr val="tx1"/>
                </a:solidFill>
                <a:latin typeface="+mn-ea"/>
                <a:ea typeface="+mn-ea"/>
              </a:rPr>
              <a:t>)</a:t>
            </a:r>
            <a:endParaRPr lang="zh-TW" altLang="en-US" sz="3200" b="0" dirty="0">
              <a:solidFill>
                <a:schemeClr val="tx1"/>
              </a:solidFill>
              <a:latin typeface="+mn-ea"/>
              <a:ea typeface="+mn-ea"/>
            </a:endParaRPr>
          </a:p>
        </p:txBody>
      </p:sp>
      <p:graphicFrame>
        <p:nvGraphicFramePr>
          <p:cNvPr id="3" name="表格 3">
            <a:extLst>
              <a:ext uri="{FF2B5EF4-FFF2-40B4-BE49-F238E27FC236}">
                <a16:creationId xmlns:a16="http://schemas.microsoft.com/office/drawing/2014/main" id="{DEC00CFE-F4B7-44CB-8505-00E6A7CEF3C6}"/>
              </a:ext>
            </a:extLst>
          </p:cNvPr>
          <p:cNvGraphicFramePr>
            <a:graphicFrameLocks noGrp="1"/>
          </p:cNvGraphicFramePr>
          <p:nvPr>
            <p:extLst>
              <p:ext uri="{D42A27DB-BD31-4B8C-83A1-F6EECF244321}">
                <p14:modId xmlns:p14="http://schemas.microsoft.com/office/powerpoint/2010/main" val="1129944040"/>
              </p:ext>
            </p:extLst>
          </p:nvPr>
        </p:nvGraphicFramePr>
        <p:xfrm>
          <a:off x="895765" y="1014141"/>
          <a:ext cx="10495722" cy="3718560"/>
        </p:xfrm>
        <a:graphic>
          <a:graphicData uri="http://schemas.openxmlformats.org/drawingml/2006/table">
            <a:tbl>
              <a:tblPr firstRow="1" bandRow="1">
                <a:tableStyleId>{5940675A-B579-460E-94D1-54222C63F5DA}</a:tableStyleId>
              </a:tblPr>
              <a:tblGrid>
                <a:gridCol w="1481525">
                  <a:extLst>
                    <a:ext uri="{9D8B030D-6E8A-4147-A177-3AD203B41FA5}">
                      <a16:colId xmlns:a16="http://schemas.microsoft.com/office/drawing/2014/main" val="3188741881"/>
                    </a:ext>
                  </a:extLst>
                </a:gridCol>
                <a:gridCol w="7442448">
                  <a:extLst>
                    <a:ext uri="{9D8B030D-6E8A-4147-A177-3AD203B41FA5}">
                      <a16:colId xmlns:a16="http://schemas.microsoft.com/office/drawing/2014/main" val="408084497"/>
                    </a:ext>
                  </a:extLst>
                </a:gridCol>
                <a:gridCol w="1571749">
                  <a:extLst>
                    <a:ext uri="{9D8B030D-6E8A-4147-A177-3AD203B41FA5}">
                      <a16:colId xmlns:a16="http://schemas.microsoft.com/office/drawing/2014/main" val="2999637006"/>
                    </a:ext>
                  </a:extLst>
                </a:gridCol>
              </a:tblGrid>
              <a:tr h="284101">
                <a:tc>
                  <a:txBody>
                    <a:bodyPr/>
                    <a:lstStyle/>
                    <a:p>
                      <a:pPr algn="ctr"/>
                      <a:r>
                        <a:rPr lang="zh-TW" altLang="en-US" sz="1400" dirty="0"/>
                        <a:t>項目</a:t>
                      </a:r>
                    </a:p>
                  </a:txBody>
                  <a:tcPr>
                    <a:solidFill>
                      <a:srgbClr val="FFFF66"/>
                    </a:solidFill>
                  </a:tcPr>
                </a:tc>
                <a:tc>
                  <a:txBody>
                    <a:bodyPr/>
                    <a:lstStyle/>
                    <a:p>
                      <a:pPr algn="ctr"/>
                      <a:r>
                        <a:rPr lang="zh-TW" altLang="en-US" sz="1400"/>
                        <a:t>人力需求細項說明</a:t>
                      </a:r>
                    </a:p>
                  </a:txBody>
                  <a:tcPr>
                    <a:solidFill>
                      <a:srgbClr val="FFFF66"/>
                    </a:solidFill>
                  </a:tcPr>
                </a:tc>
                <a:tc>
                  <a:txBody>
                    <a:bodyPr/>
                    <a:lstStyle/>
                    <a:p>
                      <a:pPr algn="ctr"/>
                      <a:r>
                        <a:rPr lang="zh-TW" altLang="en-US" sz="1400"/>
                        <a:t>預估工時</a:t>
                      </a:r>
                      <a:r>
                        <a:rPr lang="en-US" altLang="zh-TW" sz="1400"/>
                        <a:t>(</a:t>
                      </a:r>
                      <a:r>
                        <a:rPr lang="zh-TW" altLang="en-US" sz="1400"/>
                        <a:t>人日</a:t>
                      </a:r>
                      <a:r>
                        <a:rPr lang="en-US" altLang="zh-TW" sz="1400"/>
                        <a:t>)</a:t>
                      </a:r>
                      <a:endParaRPr lang="zh-TW" altLang="en-US" sz="1400"/>
                    </a:p>
                  </a:txBody>
                  <a:tcPr>
                    <a:solidFill>
                      <a:srgbClr val="FFFF66"/>
                    </a:solidFill>
                  </a:tcPr>
                </a:tc>
                <a:extLst>
                  <a:ext uri="{0D108BD9-81ED-4DB2-BD59-A6C34878D82A}">
                    <a16:rowId xmlns:a16="http://schemas.microsoft.com/office/drawing/2014/main" val="3162393901"/>
                  </a:ext>
                </a:extLst>
              </a:tr>
              <a:tr h="284101">
                <a:tc>
                  <a:txBody>
                    <a:bodyPr/>
                    <a:lstStyle/>
                    <a:p>
                      <a:r>
                        <a:rPr lang="zh-TW" altLang="en-US" sz="1400"/>
                        <a:t>專案管理</a:t>
                      </a:r>
                    </a:p>
                  </a:txBody>
                  <a:tcPr/>
                </a:tc>
                <a:tc>
                  <a:txBody>
                    <a:bodyPr/>
                    <a:lstStyle/>
                    <a:p>
                      <a:pPr marL="0" marR="0" lvl="0" indent="0" algn="l" defTabSz="932962" rtl="0" eaLnBrk="1" fontAlgn="auto" latinLnBrk="0" hangingPunct="1">
                        <a:lnSpc>
                          <a:spcPct val="100000"/>
                        </a:lnSpc>
                        <a:spcBef>
                          <a:spcPts val="0"/>
                        </a:spcBef>
                        <a:spcAft>
                          <a:spcPts val="0"/>
                        </a:spcAft>
                        <a:buClrTx/>
                        <a:buSzTx/>
                        <a:buFontTx/>
                        <a:buNone/>
                        <a:tabLst/>
                        <a:defRPr/>
                      </a:pPr>
                      <a:r>
                        <a:rPr lang="zh-TW" altLang="en-US" sz="1400" dirty="0"/>
                        <a:t>專案溝通協調</a:t>
                      </a:r>
                    </a:p>
                  </a:txBody>
                  <a:tcPr/>
                </a:tc>
                <a:tc>
                  <a:txBody>
                    <a:bodyPr/>
                    <a:lstStyle/>
                    <a:p>
                      <a:pPr algn="ctr"/>
                      <a:r>
                        <a:rPr lang="en-US" altLang="zh-TW" sz="1400" dirty="0"/>
                        <a:t>10</a:t>
                      </a:r>
                      <a:endParaRPr lang="zh-TW" altLang="en-US" sz="1400" dirty="0"/>
                    </a:p>
                  </a:txBody>
                  <a:tcPr anchor="ctr"/>
                </a:tc>
                <a:extLst>
                  <a:ext uri="{0D108BD9-81ED-4DB2-BD59-A6C34878D82A}">
                    <a16:rowId xmlns:a16="http://schemas.microsoft.com/office/drawing/2014/main" val="102366488"/>
                  </a:ext>
                </a:extLst>
              </a:tr>
              <a:tr h="284101">
                <a:tc>
                  <a:txBody>
                    <a:bodyPr/>
                    <a:lstStyle/>
                    <a:p>
                      <a:r>
                        <a:rPr lang="zh-TW" altLang="en-US" sz="1400"/>
                        <a:t>需求訪談</a:t>
                      </a:r>
                    </a:p>
                  </a:txBody>
                  <a:tcPr/>
                </a:tc>
                <a:tc>
                  <a:txBody>
                    <a:bodyPr/>
                    <a:lstStyle/>
                    <a:p>
                      <a:pPr marL="342900" indent="-342900">
                        <a:buAutoNum type="arabicPeriod"/>
                      </a:pPr>
                      <a:r>
                        <a:rPr lang="zh-TW" altLang="en-US" sz="1400" dirty="0"/>
                        <a:t>需求訪談</a:t>
                      </a:r>
                      <a:endParaRPr lang="en-US" altLang="zh-TW" sz="1400" dirty="0"/>
                    </a:p>
                    <a:p>
                      <a:pPr marL="342900" indent="-342900">
                        <a:buAutoNum type="arabicPeriod"/>
                      </a:pPr>
                      <a:r>
                        <a:rPr lang="zh-TW" altLang="en-US" sz="1400" dirty="0"/>
                        <a:t>需求分析</a:t>
                      </a:r>
                    </a:p>
                  </a:txBody>
                  <a:tcPr/>
                </a:tc>
                <a:tc>
                  <a:txBody>
                    <a:bodyPr/>
                    <a:lstStyle/>
                    <a:p>
                      <a:pPr algn="ctr"/>
                      <a:r>
                        <a:rPr lang="en-US" altLang="zh-TW" sz="1400" dirty="0"/>
                        <a:t>10</a:t>
                      </a:r>
                      <a:endParaRPr lang="zh-TW" altLang="en-US" sz="1400" dirty="0"/>
                    </a:p>
                  </a:txBody>
                  <a:tcPr anchor="ctr"/>
                </a:tc>
                <a:extLst>
                  <a:ext uri="{0D108BD9-81ED-4DB2-BD59-A6C34878D82A}">
                    <a16:rowId xmlns:a16="http://schemas.microsoft.com/office/drawing/2014/main" val="3750578765"/>
                  </a:ext>
                </a:extLst>
              </a:tr>
              <a:tr h="284101">
                <a:tc>
                  <a:txBody>
                    <a:bodyPr/>
                    <a:lstStyle/>
                    <a:p>
                      <a:r>
                        <a:rPr kumimoji="0" lang="zh-TW" altLang="en-US" sz="1400" b="0" i="0" u="none" strike="noStrike" kern="1200" cap="none" spc="0" normalizeH="0" baseline="0" noProof="0">
                          <a:ln>
                            <a:noFill/>
                          </a:ln>
                          <a:solidFill>
                            <a:prstClr val="black"/>
                          </a:solidFill>
                          <a:effectLst/>
                          <a:uLnTx/>
                          <a:uFillTx/>
                          <a:latin typeface="Arial"/>
                          <a:ea typeface="微軟正黑體"/>
                          <a:cs typeface="+mn-cs"/>
                        </a:rPr>
                        <a:t>程式開發</a:t>
                      </a:r>
                      <a:endParaRPr lang="zh-TW" altLang="en-US" sz="1400"/>
                    </a:p>
                  </a:txBody>
                  <a:tcPr/>
                </a:tc>
                <a:tc>
                  <a:txBody>
                    <a:bodyPr/>
                    <a:lstStyle/>
                    <a:p>
                      <a:pPr marL="342900" marR="0" lvl="0" indent="-342900" algn="l" defTabSz="932962" rtl="0" eaLnBrk="1" fontAlgn="auto" latinLnBrk="0" hangingPunct="1">
                        <a:lnSpc>
                          <a:spcPct val="100000"/>
                        </a:lnSpc>
                        <a:spcBef>
                          <a:spcPts val="0"/>
                        </a:spcBef>
                        <a:spcAft>
                          <a:spcPts val="0"/>
                        </a:spcAft>
                        <a:buClrTx/>
                        <a:buSzTx/>
                        <a:buFontTx/>
                        <a:buAutoNum type="arabicPeriod"/>
                        <a:tabLst/>
                        <a:defRPr/>
                      </a:pPr>
                      <a:r>
                        <a:rPr lang="zh-TW" altLang="en-US" sz="1400" dirty="0"/>
                        <a:t>自動化換版</a:t>
                      </a:r>
                      <a:endParaRPr lang="en-US" altLang="zh-TW" sz="1400" dirty="0"/>
                    </a:p>
                    <a:p>
                      <a:pPr marL="342900" marR="0" lvl="0" indent="-342900" algn="l" defTabSz="932962" rtl="0" eaLnBrk="1" fontAlgn="auto" latinLnBrk="0" hangingPunct="1">
                        <a:lnSpc>
                          <a:spcPct val="100000"/>
                        </a:lnSpc>
                        <a:spcBef>
                          <a:spcPts val="0"/>
                        </a:spcBef>
                        <a:spcAft>
                          <a:spcPts val="0"/>
                        </a:spcAft>
                        <a:buClrTx/>
                        <a:buSzTx/>
                        <a:buFontTx/>
                        <a:buAutoNum type="arabicPeriod"/>
                        <a:tabLst/>
                        <a:defRPr/>
                      </a:pPr>
                      <a:r>
                        <a:rPr lang="zh-TW" altLang="en-US" sz="1400" dirty="0"/>
                        <a:t>爬蟲開發</a:t>
                      </a:r>
                      <a:endParaRPr lang="en-US" altLang="zh-TW" sz="1400" dirty="0"/>
                    </a:p>
                    <a:p>
                      <a:endParaRPr lang="zh-TW" altLang="en-US" sz="1400" dirty="0"/>
                    </a:p>
                  </a:txBody>
                  <a:tcPr/>
                </a:tc>
                <a:tc>
                  <a:txBody>
                    <a:bodyPr/>
                    <a:lstStyle/>
                    <a:p>
                      <a:pPr algn="ctr"/>
                      <a:r>
                        <a:rPr lang="en-US" altLang="zh-TW" sz="1400" dirty="0"/>
                        <a:t>35</a:t>
                      </a:r>
                      <a:endParaRPr lang="zh-TW" altLang="en-US" sz="1400" dirty="0"/>
                    </a:p>
                  </a:txBody>
                  <a:tcPr anchor="ctr"/>
                </a:tc>
                <a:extLst>
                  <a:ext uri="{0D108BD9-81ED-4DB2-BD59-A6C34878D82A}">
                    <a16:rowId xmlns:a16="http://schemas.microsoft.com/office/drawing/2014/main" val="2602945181"/>
                  </a:ext>
                </a:extLst>
              </a:tr>
              <a:tr h="284101">
                <a:tc>
                  <a:txBody>
                    <a:bodyPr/>
                    <a:lstStyle/>
                    <a:p>
                      <a:r>
                        <a:rPr lang="zh-TW" altLang="en-US" sz="1400"/>
                        <a:t>環境建置</a:t>
                      </a:r>
                    </a:p>
                  </a:txBody>
                  <a:tcPr/>
                </a:tc>
                <a:tc>
                  <a:txBody>
                    <a:bodyPr/>
                    <a:lstStyle/>
                    <a:p>
                      <a:pPr marL="342900" indent="-342900">
                        <a:buAutoNum type="arabicPeriod"/>
                      </a:pPr>
                      <a:r>
                        <a:rPr lang="zh-TW" altLang="en-US" sz="1400" dirty="0"/>
                        <a:t>防火牆開通</a:t>
                      </a:r>
                      <a:endParaRPr lang="en-US" altLang="zh-TW" sz="1400" dirty="0"/>
                    </a:p>
                    <a:p>
                      <a:pPr marL="342900" indent="-342900">
                        <a:buAutoNum type="arabicPeriod"/>
                      </a:pPr>
                      <a:r>
                        <a:rPr lang="zh-TW" altLang="en-US" sz="1400" dirty="0"/>
                        <a:t>測試、正式主機建置</a:t>
                      </a:r>
                      <a:endParaRPr lang="en-US" altLang="zh-TW" sz="1400" dirty="0"/>
                    </a:p>
                    <a:p>
                      <a:pPr marL="342900" indent="-342900">
                        <a:buAutoNum type="arabicPeriod"/>
                      </a:pPr>
                      <a:r>
                        <a:rPr lang="zh-TW" altLang="en-US" sz="1400" dirty="0"/>
                        <a:t>測試、正式系統運行環境建置、部屬</a:t>
                      </a:r>
                    </a:p>
                  </a:txBody>
                  <a:tcPr/>
                </a:tc>
                <a:tc>
                  <a:txBody>
                    <a:bodyPr/>
                    <a:lstStyle/>
                    <a:p>
                      <a:pPr algn="ctr"/>
                      <a:r>
                        <a:rPr lang="en-US" altLang="zh-TW" sz="1400" dirty="0"/>
                        <a:t>10</a:t>
                      </a:r>
                      <a:endParaRPr lang="zh-TW" altLang="en-US" sz="1400" dirty="0"/>
                    </a:p>
                  </a:txBody>
                  <a:tcPr anchor="ctr"/>
                </a:tc>
                <a:extLst>
                  <a:ext uri="{0D108BD9-81ED-4DB2-BD59-A6C34878D82A}">
                    <a16:rowId xmlns:a16="http://schemas.microsoft.com/office/drawing/2014/main" val="997373784"/>
                  </a:ext>
                </a:extLst>
              </a:tr>
              <a:tr h="284101">
                <a:tc>
                  <a:txBody>
                    <a:bodyPr/>
                    <a:lstStyle/>
                    <a:p>
                      <a:r>
                        <a:rPr lang="zh-TW" altLang="en-US" sz="1400"/>
                        <a:t>整合測試</a:t>
                      </a:r>
                    </a:p>
                  </a:txBody>
                  <a:tcPr/>
                </a:tc>
                <a:tc>
                  <a:txBody>
                    <a:bodyPr/>
                    <a:lstStyle/>
                    <a:p>
                      <a:pPr marL="342900" indent="-342900">
                        <a:buAutoNum type="arabicPeriod"/>
                      </a:pPr>
                      <a:r>
                        <a:rPr lang="en-US" altLang="zh-TW" sz="1400" dirty="0"/>
                        <a:t>UAT</a:t>
                      </a:r>
                      <a:r>
                        <a:rPr lang="zh-TW" altLang="en-US" sz="1400" dirty="0"/>
                        <a:t>測試</a:t>
                      </a:r>
                      <a:endParaRPr lang="en-US" altLang="zh-TW" sz="1400" dirty="0"/>
                    </a:p>
                    <a:p>
                      <a:pPr marL="342900" indent="-342900">
                        <a:buAutoNum type="arabicPeriod"/>
                      </a:pPr>
                      <a:r>
                        <a:rPr lang="zh-TW" altLang="en-US" sz="1400" dirty="0"/>
                        <a:t>效能測試</a:t>
                      </a:r>
                      <a:endParaRPr lang="en-US" altLang="zh-TW" sz="1400" dirty="0"/>
                    </a:p>
                  </a:txBody>
                  <a:tcPr/>
                </a:tc>
                <a:tc>
                  <a:txBody>
                    <a:bodyPr/>
                    <a:lstStyle/>
                    <a:p>
                      <a:pPr algn="ctr"/>
                      <a:r>
                        <a:rPr lang="en-US" altLang="zh-TW" sz="1400" dirty="0"/>
                        <a:t>20</a:t>
                      </a:r>
                      <a:endParaRPr lang="zh-TW" altLang="en-US" sz="1400" dirty="0"/>
                    </a:p>
                  </a:txBody>
                  <a:tcPr anchor="ctr"/>
                </a:tc>
                <a:extLst>
                  <a:ext uri="{0D108BD9-81ED-4DB2-BD59-A6C34878D82A}">
                    <a16:rowId xmlns:a16="http://schemas.microsoft.com/office/drawing/2014/main" val="4187056258"/>
                  </a:ext>
                </a:extLst>
              </a:tr>
              <a:tr h="284101">
                <a:tc>
                  <a:txBody>
                    <a:bodyPr/>
                    <a:lstStyle/>
                    <a:p>
                      <a:pPr marL="0" marR="0" lvl="0" indent="0" algn="l" defTabSz="932962" rtl="0" eaLnBrk="1" fontAlgn="auto" latinLnBrk="0" hangingPunct="1">
                        <a:lnSpc>
                          <a:spcPct val="100000"/>
                        </a:lnSpc>
                        <a:spcBef>
                          <a:spcPts val="0"/>
                        </a:spcBef>
                        <a:spcAft>
                          <a:spcPts val="0"/>
                        </a:spcAft>
                        <a:buClrTx/>
                        <a:buSzTx/>
                        <a:buFontTx/>
                        <a:buNone/>
                        <a:tabLst/>
                        <a:defRPr/>
                      </a:pPr>
                      <a:r>
                        <a:rPr lang="zh-TW" altLang="en-US" sz="1400" dirty="0"/>
                        <a:t>上線前置作業</a:t>
                      </a:r>
                    </a:p>
                  </a:txBody>
                  <a:tcPr/>
                </a:tc>
                <a:tc>
                  <a:txBody>
                    <a:bodyPr/>
                    <a:lstStyle/>
                    <a:p>
                      <a:pPr marL="342900" indent="-342900">
                        <a:buAutoNum type="arabicPeriod"/>
                      </a:pPr>
                      <a:r>
                        <a:rPr lang="zh-TW" altLang="en-US" sz="1400" dirty="0"/>
                        <a:t>新系統上線相關文件、流程</a:t>
                      </a:r>
                    </a:p>
                  </a:txBody>
                  <a:tcPr/>
                </a:tc>
                <a:tc>
                  <a:txBody>
                    <a:bodyPr/>
                    <a:lstStyle/>
                    <a:p>
                      <a:pPr algn="ctr"/>
                      <a:r>
                        <a:rPr lang="en-US" altLang="zh-TW" sz="1400" dirty="0"/>
                        <a:t>5</a:t>
                      </a:r>
                      <a:endParaRPr lang="zh-TW" altLang="en-US" sz="1400" dirty="0"/>
                    </a:p>
                  </a:txBody>
                  <a:tcPr anchor="ctr"/>
                </a:tc>
                <a:extLst>
                  <a:ext uri="{0D108BD9-81ED-4DB2-BD59-A6C34878D82A}">
                    <a16:rowId xmlns:a16="http://schemas.microsoft.com/office/drawing/2014/main" val="3073453486"/>
                  </a:ext>
                </a:extLst>
              </a:tr>
              <a:tr h="284101">
                <a:tc>
                  <a:txBody>
                    <a:bodyPr/>
                    <a:lstStyle/>
                    <a:p>
                      <a:r>
                        <a:rPr kumimoji="0" lang="zh-TW" altLang="en-US" sz="1400" b="0" i="0" u="none" strike="noStrike" kern="1200" cap="none" spc="0" normalizeH="0" baseline="0" noProof="0" dirty="0">
                          <a:ln>
                            <a:noFill/>
                          </a:ln>
                          <a:solidFill>
                            <a:prstClr val="black"/>
                          </a:solidFill>
                          <a:effectLst/>
                          <a:uLnTx/>
                          <a:uFillTx/>
                          <a:latin typeface="Arial"/>
                          <a:ea typeface="微軟正黑體"/>
                          <a:cs typeface="+mn-cs"/>
                        </a:rPr>
                        <a:t>合計</a:t>
                      </a:r>
                      <a:endParaRPr lang="zh-TW" altLang="en-US" sz="1400" dirty="0"/>
                    </a:p>
                  </a:txBody>
                  <a:tcPr/>
                </a:tc>
                <a:tc>
                  <a:txBody>
                    <a:bodyPr/>
                    <a:lstStyle/>
                    <a:p>
                      <a:endParaRPr lang="zh-TW" altLang="en-US" sz="1400" dirty="0"/>
                    </a:p>
                  </a:txBody>
                  <a:tcPr/>
                </a:tc>
                <a:tc>
                  <a:txBody>
                    <a:bodyPr/>
                    <a:lstStyle/>
                    <a:p>
                      <a:pPr algn="ctr"/>
                      <a:r>
                        <a:rPr lang="en-US" altLang="zh-TW" sz="1400" dirty="0"/>
                        <a:t>90</a:t>
                      </a:r>
                      <a:endParaRPr lang="zh-TW" altLang="en-US" sz="1400" dirty="0"/>
                    </a:p>
                  </a:txBody>
                  <a:tcPr anchor="ctr"/>
                </a:tc>
                <a:extLst>
                  <a:ext uri="{0D108BD9-81ED-4DB2-BD59-A6C34878D82A}">
                    <a16:rowId xmlns:a16="http://schemas.microsoft.com/office/drawing/2014/main" val="644373905"/>
                  </a:ext>
                </a:extLst>
              </a:tr>
            </a:tbl>
          </a:graphicData>
        </a:graphic>
      </p:graphicFrame>
    </p:spTree>
    <p:extLst>
      <p:ext uri="{BB962C8B-B14F-4D97-AF65-F5344CB8AC3E}">
        <p14:creationId xmlns:p14="http://schemas.microsoft.com/office/powerpoint/2010/main" val="36333868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94E11-293D-766D-7950-1A4D7B7C01D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234F69B-B63F-41AB-C3B9-D77D739F8CFA}"/>
              </a:ext>
            </a:extLst>
          </p:cNvPr>
          <p:cNvSpPr>
            <a:spLocks noGrp="1"/>
          </p:cNvSpPr>
          <p:nvPr>
            <p:ph type="title"/>
          </p:nvPr>
        </p:nvSpPr>
        <p:spPr>
          <a:xfrm>
            <a:off x="527051" y="149735"/>
            <a:ext cx="11233150" cy="630238"/>
          </a:xfrm>
          <a:prstGeom prst="rect">
            <a:avLst/>
          </a:prstGeom>
        </p:spPr>
        <p:txBody>
          <a:bodyPr/>
          <a:lstStyle/>
          <a:p>
            <a:r>
              <a:rPr lang="en-US" altLang="zh-TW" sz="3200" b="0" dirty="0">
                <a:solidFill>
                  <a:schemeClr val="tx1"/>
                </a:solidFill>
                <a:latin typeface="+mn-ea"/>
                <a:ea typeface="+mn-ea"/>
              </a:rPr>
              <a:t>IT</a:t>
            </a:r>
            <a:r>
              <a:rPr lang="zh-TW" altLang="en-US" sz="3200" b="0" dirty="0">
                <a:solidFill>
                  <a:schemeClr val="tx1"/>
                </a:solidFill>
                <a:latin typeface="+mn-ea"/>
                <a:ea typeface="+mn-ea"/>
              </a:rPr>
              <a:t>內部人力</a:t>
            </a:r>
            <a:r>
              <a:rPr lang="en-US" altLang="zh-TW" sz="3200" b="0" dirty="0">
                <a:solidFill>
                  <a:schemeClr val="tx1"/>
                </a:solidFill>
                <a:latin typeface="+mn-ea"/>
                <a:ea typeface="+mn-ea"/>
              </a:rPr>
              <a:t>(</a:t>
            </a:r>
            <a:r>
              <a:rPr lang="zh-TW" altLang="en-US" dirty="0"/>
              <a:t>金控</a:t>
            </a:r>
            <a:r>
              <a:rPr lang="en-US" altLang="zh-TW" sz="3200" b="0" dirty="0">
                <a:solidFill>
                  <a:schemeClr val="tx1"/>
                </a:solidFill>
                <a:latin typeface="+mn-ea"/>
                <a:ea typeface="+mn-ea"/>
              </a:rPr>
              <a:t>)</a:t>
            </a:r>
            <a:endParaRPr lang="zh-TW" altLang="en-US" sz="3200" b="0" dirty="0">
              <a:solidFill>
                <a:schemeClr val="tx1"/>
              </a:solidFill>
              <a:latin typeface="+mn-ea"/>
              <a:ea typeface="+mn-ea"/>
            </a:endParaRPr>
          </a:p>
        </p:txBody>
      </p:sp>
      <p:graphicFrame>
        <p:nvGraphicFramePr>
          <p:cNvPr id="3" name="表格 3">
            <a:extLst>
              <a:ext uri="{FF2B5EF4-FFF2-40B4-BE49-F238E27FC236}">
                <a16:creationId xmlns:a16="http://schemas.microsoft.com/office/drawing/2014/main" id="{7D0C11B9-1503-EF89-4F9F-7A1175255680}"/>
              </a:ext>
            </a:extLst>
          </p:cNvPr>
          <p:cNvGraphicFramePr>
            <a:graphicFrameLocks noGrp="1"/>
          </p:cNvGraphicFramePr>
          <p:nvPr>
            <p:extLst>
              <p:ext uri="{D42A27DB-BD31-4B8C-83A1-F6EECF244321}">
                <p14:modId xmlns:p14="http://schemas.microsoft.com/office/powerpoint/2010/main" val="4264684107"/>
              </p:ext>
            </p:extLst>
          </p:nvPr>
        </p:nvGraphicFramePr>
        <p:xfrm>
          <a:off x="895765" y="1014141"/>
          <a:ext cx="10495722" cy="2804160"/>
        </p:xfrm>
        <a:graphic>
          <a:graphicData uri="http://schemas.openxmlformats.org/drawingml/2006/table">
            <a:tbl>
              <a:tblPr firstRow="1" bandRow="1">
                <a:tableStyleId>{5940675A-B579-460E-94D1-54222C63F5DA}</a:tableStyleId>
              </a:tblPr>
              <a:tblGrid>
                <a:gridCol w="1481525">
                  <a:extLst>
                    <a:ext uri="{9D8B030D-6E8A-4147-A177-3AD203B41FA5}">
                      <a16:colId xmlns:a16="http://schemas.microsoft.com/office/drawing/2014/main" val="3188741881"/>
                    </a:ext>
                  </a:extLst>
                </a:gridCol>
                <a:gridCol w="7442448">
                  <a:extLst>
                    <a:ext uri="{9D8B030D-6E8A-4147-A177-3AD203B41FA5}">
                      <a16:colId xmlns:a16="http://schemas.microsoft.com/office/drawing/2014/main" val="408084497"/>
                    </a:ext>
                  </a:extLst>
                </a:gridCol>
                <a:gridCol w="1571749">
                  <a:extLst>
                    <a:ext uri="{9D8B030D-6E8A-4147-A177-3AD203B41FA5}">
                      <a16:colId xmlns:a16="http://schemas.microsoft.com/office/drawing/2014/main" val="2999637006"/>
                    </a:ext>
                  </a:extLst>
                </a:gridCol>
              </a:tblGrid>
              <a:tr h="284101">
                <a:tc>
                  <a:txBody>
                    <a:bodyPr/>
                    <a:lstStyle/>
                    <a:p>
                      <a:pPr algn="ctr"/>
                      <a:r>
                        <a:rPr lang="zh-TW" altLang="en-US" sz="1400" dirty="0"/>
                        <a:t>項目</a:t>
                      </a:r>
                    </a:p>
                  </a:txBody>
                  <a:tcPr>
                    <a:solidFill>
                      <a:srgbClr val="FFFF66"/>
                    </a:solidFill>
                  </a:tcPr>
                </a:tc>
                <a:tc>
                  <a:txBody>
                    <a:bodyPr/>
                    <a:lstStyle/>
                    <a:p>
                      <a:pPr algn="ctr"/>
                      <a:r>
                        <a:rPr lang="zh-TW" altLang="en-US" sz="1400"/>
                        <a:t>人力需求細項說明</a:t>
                      </a:r>
                    </a:p>
                  </a:txBody>
                  <a:tcPr>
                    <a:solidFill>
                      <a:srgbClr val="FFFF66"/>
                    </a:solidFill>
                  </a:tcPr>
                </a:tc>
                <a:tc>
                  <a:txBody>
                    <a:bodyPr/>
                    <a:lstStyle/>
                    <a:p>
                      <a:pPr algn="ctr"/>
                      <a:r>
                        <a:rPr lang="zh-TW" altLang="en-US" sz="1400"/>
                        <a:t>預估工時</a:t>
                      </a:r>
                      <a:r>
                        <a:rPr lang="en-US" altLang="zh-TW" sz="1400"/>
                        <a:t>(</a:t>
                      </a:r>
                      <a:r>
                        <a:rPr lang="zh-TW" altLang="en-US" sz="1400"/>
                        <a:t>人日</a:t>
                      </a:r>
                      <a:r>
                        <a:rPr lang="en-US" altLang="zh-TW" sz="1400"/>
                        <a:t>)</a:t>
                      </a:r>
                      <a:endParaRPr lang="zh-TW" altLang="en-US" sz="1400"/>
                    </a:p>
                  </a:txBody>
                  <a:tcPr>
                    <a:solidFill>
                      <a:srgbClr val="FFFF66"/>
                    </a:solidFill>
                  </a:tcPr>
                </a:tc>
                <a:extLst>
                  <a:ext uri="{0D108BD9-81ED-4DB2-BD59-A6C34878D82A}">
                    <a16:rowId xmlns:a16="http://schemas.microsoft.com/office/drawing/2014/main" val="3162393901"/>
                  </a:ext>
                </a:extLst>
              </a:tr>
              <a:tr h="284101">
                <a:tc>
                  <a:txBody>
                    <a:bodyPr/>
                    <a:lstStyle/>
                    <a:p>
                      <a:r>
                        <a:rPr lang="zh-TW" altLang="en-US" sz="1400"/>
                        <a:t>專案管理</a:t>
                      </a:r>
                    </a:p>
                  </a:txBody>
                  <a:tcPr/>
                </a:tc>
                <a:tc>
                  <a:txBody>
                    <a:bodyPr/>
                    <a:lstStyle/>
                    <a:p>
                      <a:pPr marL="0" marR="0" lvl="0" indent="0" algn="l" defTabSz="932962" rtl="0" eaLnBrk="1" fontAlgn="auto" latinLnBrk="0" hangingPunct="1">
                        <a:lnSpc>
                          <a:spcPct val="100000"/>
                        </a:lnSpc>
                        <a:spcBef>
                          <a:spcPts val="0"/>
                        </a:spcBef>
                        <a:spcAft>
                          <a:spcPts val="0"/>
                        </a:spcAft>
                        <a:buClrTx/>
                        <a:buSzTx/>
                        <a:buFontTx/>
                        <a:buNone/>
                        <a:tabLst/>
                        <a:defRPr/>
                      </a:pPr>
                      <a:r>
                        <a:rPr lang="zh-TW" altLang="en-US" sz="1400" dirty="0"/>
                        <a:t>專案溝通協調</a:t>
                      </a:r>
                    </a:p>
                  </a:txBody>
                  <a:tcPr/>
                </a:tc>
                <a:tc>
                  <a:txBody>
                    <a:bodyPr/>
                    <a:lstStyle/>
                    <a:p>
                      <a:pPr algn="ctr"/>
                      <a:r>
                        <a:rPr lang="en-US" altLang="zh-TW" sz="1400" dirty="0"/>
                        <a:t>10</a:t>
                      </a:r>
                      <a:endParaRPr lang="zh-TW" altLang="en-US" sz="1400" dirty="0"/>
                    </a:p>
                  </a:txBody>
                  <a:tcPr anchor="ctr"/>
                </a:tc>
                <a:extLst>
                  <a:ext uri="{0D108BD9-81ED-4DB2-BD59-A6C34878D82A}">
                    <a16:rowId xmlns:a16="http://schemas.microsoft.com/office/drawing/2014/main" val="102366488"/>
                  </a:ext>
                </a:extLst>
              </a:tr>
              <a:tr h="284101">
                <a:tc>
                  <a:txBody>
                    <a:bodyPr/>
                    <a:lstStyle/>
                    <a:p>
                      <a:r>
                        <a:rPr lang="zh-TW" altLang="en-US" sz="1400"/>
                        <a:t>需求訪談</a:t>
                      </a:r>
                    </a:p>
                  </a:txBody>
                  <a:tcPr/>
                </a:tc>
                <a:tc>
                  <a:txBody>
                    <a:bodyPr/>
                    <a:lstStyle/>
                    <a:p>
                      <a:pPr marL="342900" indent="-342900">
                        <a:buAutoNum type="arabicPeriod"/>
                      </a:pPr>
                      <a:r>
                        <a:rPr lang="zh-TW" altLang="en-US" sz="1400" dirty="0"/>
                        <a:t>需求訪談</a:t>
                      </a:r>
                      <a:endParaRPr lang="en-US" altLang="zh-TW" sz="1400" dirty="0"/>
                    </a:p>
                    <a:p>
                      <a:pPr marL="342900" indent="-342900">
                        <a:buAutoNum type="arabicPeriod"/>
                      </a:pPr>
                      <a:r>
                        <a:rPr lang="zh-TW" altLang="en-US" sz="1400" dirty="0"/>
                        <a:t>需求分析</a:t>
                      </a:r>
                    </a:p>
                  </a:txBody>
                  <a:tcPr/>
                </a:tc>
                <a:tc>
                  <a:txBody>
                    <a:bodyPr/>
                    <a:lstStyle/>
                    <a:p>
                      <a:pPr algn="ctr"/>
                      <a:r>
                        <a:rPr lang="en-US" altLang="zh-TW" sz="1400" dirty="0"/>
                        <a:t>20</a:t>
                      </a:r>
                      <a:endParaRPr lang="zh-TW" altLang="en-US" sz="1400" dirty="0"/>
                    </a:p>
                  </a:txBody>
                  <a:tcPr anchor="ctr"/>
                </a:tc>
                <a:extLst>
                  <a:ext uri="{0D108BD9-81ED-4DB2-BD59-A6C34878D82A}">
                    <a16:rowId xmlns:a16="http://schemas.microsoft.com/office/drawing/2014/main" val="3750578765"/>
                  </a:ext>
                </a:extLst>
              </a:tr>
              <a:tr h="284101">
                <a:tc>
                  <a:txBody>
                    <a:bodyPr/>
                    <a:lstStyle/>
                    <a:p>
                      <a:r>
                        <a:rPr kumimoji="0" lang="zh-TW" altLang="en-US" sz="1400" b="0" i="0" u="none" strike="noStrike" kern="1200" cap="none" spc="0" normalizeH="0" baseline="0" noProof="0">
                          <a:ln>
                            <a:noFill/>
                          </a:ln>
                          <a:solidFill>
                            <a:prstClr val="black"/>
                          </a:solidFill>
                          <a:effectLst/>
                          <a:uLnTx/>
                          <a:uFillTx/>
                          <a:latin typeface="Arial"/>
                          <a:ea typeface="微軟正黑體"/>
                          <a:cs typeface="+mn-cs"/>
                        </a:rPr>
                        <a:t>程式開發</a:t>
                      </a:r>
                      <a:endParaRPr lang="zh-TW" altLang="en-US" sz="1400"/>
                    </a:p>
                  </a:txBody>
                  <a:tcPr/>
                </a:tc>
                <a:tc>
                  <a:txBody>
                    <a:bodyPr/>
                    <a:lstStyle/>
                    <a:p>
                      <a:pPr marL="342900" indent="-342900">
                        <a:buAutoNum type="arabicPeriod"/>
                      </a:pPr>
                      <a:r>
                        <a:rPr lang="zh-TW" altLang="en-US" sz="1400" dirty="0"/>
                        <a:t>大腦架構設計</a:t>
                      </a:r>
                      <a:endParaRPr lang="en-US" altLang="zh-TW" sz="1400" dirty="0"/>
                    </a:p>
                    <a:p>
                      <a:pPr marL="342900" indent="-342900">
                        <a:buAutoNum type="arabicPeriod"/>
                      </a:pPr>
                      <a:r>
                        <a:rPr lang="zh-TW" altLang="en-US" sz="1400"/>
                        <a:t>資料處理腳本開發</a:t>
                      </a:r>
                      <a:endParaRPr lang="en-US" altLang="zh-TW" sz="1400" dirty="0"/>
                    </a:p>
                    <a:p>
                      <a:pPr marL="342900" indent="-342900">
                        <a:buAutoNum type="arabicPeriod"/>
                      </a:pPr>
                      <a:r>
                        <a:rPr lang="en-US" altLang="zh-TW" sz="1400" dirty="0"/>
                        <a:t>RAG</a:t>
                      </a:r>
                      <a:r>
                        <a:rPr lang="zh-TW" altLang="en-US" sz="1400" dirty="0"/>
                        <a:t> 資料庫建置</a:t>
                      </a:r>
                      <a:endParaRPr lang="en-US" altLang="zh-TW" sz="1400" dirty="0"/>
                    </a:p>
                    <a:p>
                      <a:pPr marL="342900" indent="-342900">
                        <a:buAutoNum type="arabicPeriod"/>
                      </a:pPr>
                      <a:r>
                        <a:rPr lang="zh-TW" altLang="en-US" sz="1400" dirty="0"/>
                        <a:t>大腦資料庫建置</a:t>
                      </a:r>
                      <a:endParaRPr lang="en-US" altLang="zh-TW" sz="1400" dirty="0"/>
                    </a:p>
                    <a:p>
                      <a:pPr marL="342900" indent="-342900">
                        <a:buAutoNum type="arabicPeriod"/>
                      </a:pPr>
                      <a:r>
                        <a:rPr lang="zh-TW" altLang="en-US" sz="1400" dirty="0"/>
                        <a:t>主持人、財報、法說會、投顧報告 </a:t>
                      </a:r>
                      <a:r>
                        <a:rPr lang="en-US" altLang="zh-TW" sz="1400" dirty="0"/>
                        <a:t>agent </a:t>
                      </a:r>
                      <a:r>
                        <a:rPr lang="zh-TW" altLang="en-US" sz="1400" dirty="0"/>
                        <a:t>功能開發</a:t>
                      </a:r>
                      <a:endParaRPr lang="en-US" altLang="zh-TW" sz="1400" dirty="0"/>
                    </a:p>
                    <a:p>
                      <a:pPr marL="342900" indent="-342900">
                        <a:buAutoNum type="arabicPeriod"/>
                      </a:pPr>
                      <a:r>
                        <a:rPr lang="zh-TW" altLang="en-US" sz="1400" dirty="0"/>
                        <a:t>對話功能頁面、</a:t>
                      </a:r>
                      <a:r>
                        <a:rPr lang="en-US" altLang="zh-TW" sz="1400" dirty="0"/>
                        <a:t>Feedback </a:t>
                      </a:r>
                      <a:r>
                        <a:rPr lang="zh-TW" altLang="en-US" sz="1400" dirty="0"/>
                        <a:t>功能頁面開發</a:t>
                      </a:r>
                    </a:p>
                  </a:txBody>
                  <a:tcPr/>
                </a:tc>
                <a:tc>
                  <a:txBody>
                    <a:bodyPr/>
                    <a:lstStyle/>
                    <a:p>
                      <a:pPr algn="ctr"/>
                      <a:r>
                        <a:rPr lang="en-US" altLang="zh-TW" sz="1400" dirty="0"/>
                        <a:t>90</a:t>
                      </a:r>
                      <a:endParaRPr lang="zh-TW" altLang="en-US" sz="1400" dirty="0"/>
                    </a:p>
                  </a:txBody>
                  <a:tcPr anchor="ctr"/>
                </a:tc>
                <a:extLst>
                  <a:ext uri="{0D108BD9-81ED-4DB2-BD59-A6C34878D82A}">
                    <a16:rowId xmlns:a16="http://schemas.microsoft.com/office/drawing/2014/main" val="2602945181"/>
                  </a:ext>
                </a:extLst>
              </a:tr>
              <a:tr h="284101">
                <a:tc>
                  <a:txBody>
                    <a:bodyPr/>
                    <a:lstStyle/>
                    <a:p>
                      <a:r>
                        <a:rPr kumimoji="0" lang="zh-TW" altLang="en-US" sz="1400" b="0" i="0" u="none" strike="noStrike" kern="1200" cap="none" spc="0" normalizeH="0" baseline="0" noProof="0" dirty="0">
                          <a:ln>
                            <a:noFill/>
                          </a:ln>
                          <a:solidFill>
                            <a:prstClr val="black"/>
                          </a:solidFill>
                          <a:effectLst/>
                          <a:uLnTx/>
                          <a:uFillTx/>
                          <a:latin typeface="Arial"/>
                          <a:ea typeface="微軟正黑體"/>
                          <a:cs typeface="+mn-cs"/>
                        </a:rPr>
                        <a:t>合計</a:t>
                      </a:r>
                      <a:endParaRPr lang="zh-TW" altLang="en-US" sz="1400" dirty="0"/>
                    </a:p>
                  </a:txBody>
                  <a:tcPr/>
                </a:tc>
                <a:tc>
                  <a:txBody>
                    <a:bodyPr/>
                    <a:lstStyle/>
                    <a:p>
                      <a:endParaRPr lang="zh-TW" altLang="en-US" sz="1400" dirty="0"/>
                    </a:p>
                  </a:txBody>
                  <a:tcPr/>
                </a:tc>
                <a:tc>
                  <a:txBody>
                    <a:bodyPr/>
                    <a:lstStyle/>
                    <a:p>
                      <a:pPr algn="ctr"/>
                      <a:r>
                        <a:rPr lang="en-US" altLang="zh-TW" sz="1400" dirty="0"/>
                        <a:t>120</a:t>
                      </a:r>
                      <a:endParaRPr lang="zh-TW" altLang="en-US" sz="1400" dirty="0"/>
                    </a:p>
                  </a:txBody>
                  <a:tcPr anchor="ctr"/>
                </a:tc>
                <a:extLst>
                  <a:ext uri="{0D108BD9-81ED-4DB2-BD59-A6C34878D82A}">
                    <a16:rowId xmlns:a16="http://schemas.microsoft.com/office/drawing/2014/main" val="644373905"/>
                  </a:ext>
                </a:extLst>
              </a:tr>
            </a:tbl>
          </a:graphicData>
        </a:graphic>
      </p:graphicFrame>
    </p:spTree>
    <p:extLst>
      <p:ext uri="{BB962C8B-B14F-4D97-AF65-F5344CB8AC3E}">
        <p14:creationId xmlns:p14="http://schemas.microsoft.com/office/powerpoint/2010/main" val="10062196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554E7-ABB6-D14C-0A35-70E51A45C42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EA064FF4-0196-63F5-6859-A7336C3E9CAF}"/>
              </a:ext>
            </a:extLst>
          </p:cNvPr>
          <p:cNvSpPr>
            <a:spLocks noGrp="1"/>
          </p:cNvSpPr>
          <p:nvPr>
            <p:ph type="title"/>
          </p:nvPr>
        </p:nvSpPr>
        <p:spPr>
          <a:xfrm>
            <a:off x="527051" y="149737"/>
            <a:ext cx="11233150" cy="630238"/>
          </a:xfrm>
          <a:prstGeom prst="rect">
            <a:avLst/>
          </a:prstGeom>
        </p:spPr>
        <p:txBody>
          <a:bodyPr/>
          <a:lstStyle/>
          <a:p>
            <a:r>
              <a:rPr lang="zh-TW" altLang="en-US" sz="3200" b="0">
                <a:solidFill>
                  <a:schemeClr val="tx1"/>
                </a:solidFill>
              </a:rPr>
              <a:t>專案時程</a:t>
            </a:r>
          </a:p>
        </p:txBody>
      </p:sp>
      <p:graphicFrame>
        <p:nvGraphicFramePr>
          <p:cNvPr id="3" name="表格 4">
            <a:extLst>
              <a:ext uri="{FF2B5EF4-FFF2-40B4-BE49-F238E27FC236}">
                <a16:creationId xmlns:a16="http://schemas.microsoft.com/office/drawing/2014/main" id="{5B296AF4-99A7-E8B6-51C1-3EDEFA67A36C}"/>
              </a:ext>
            </a:extLst>
          </p:cNvPr>
          <p:cNvGraphicFramePr>
            <a:graphicFrameLocks noGrp="1"/>
          </p:cNvGraphicFramePr>
          <p:nvPr>
            <p:ph idx="1"/>
            <p:extLst>
              <p:ext uri="{D42A27DB-BD31-4B8C-83A1-F6EECF244321}">
                <p14:modId xmlns:p14="http://schemas.microsoft.com/office/powerpoint/2010/main" val="3350281348"/>
              </p:ext>
            </p:extLst>
          </p:nvPr>
        </p:nvGraphicFramePr>
        <p:xfrm>
          <a:off x="212436" y="1014018"/>
          <a:ext cx="11702468" cy="5241768"/>
        </p:xfrm>
        <a:graphic>
          <a:graphicData uri="http://schemas.openxmlformats.org/drawingml/2006/table">
            <a:tbl>
              <a:tblPr firstRow="1" bandRow="1">
                <a:tableStyleId>{5C22544A-7EE6-4342-B048-85BDC9FD1C3A}</a:tableStyleId>
              </a:tblPr>
              <a:tblGrid>
                <a:gridCol w="2236011">
                  <a:extLst>
                    <a:ext uri="{9D8B030D-6E8A-4147-A177-3AD203B41FA5}">
                      <a16:colId xmlns:a16="http://schemas.microsoft.com/office/drawing/2014/main" val="1673834094"/>
                    </a:ext>
                  </a:extLst>
                </a:gridCol>
                <a:gridCol w="728189">
                  <a:extLst>
                    <a:ext uri="{9D8B030D-6E8A-4147-A177-3AD203B41FA5}">
                      <a16:colId xmlns:a16="http://schemas.microsoft.com/office/drawing/2014/main" val="1929493041"/>
                    </a:ext>
                  </a:extLst>
                </a:gridCol>
                <a:gridCol w="728189">
                  <a:extLst>
                    <a:ext uri="{9D8B030D-6E8A-4147-A177-3AD203B41FA5}">
                      <a16:colId xmlns:a16="http://schemas.microsoft.com/office/drawing/2014/main" val="2462530896"/>
                    </a:ext>
                  </a:extLst>
                </a:gridCol>
                <a:gridCol w="728189">
                  <a:extLst>
                    <a:ext uri="{9D8B030D-6E8A-4147-A177-3AD203B41FA5}">
                      <a16:colId xmlns:a16="http://schemas.microsoft.com/office/drawing/2014/main" val="1881300696"/>
                    </a:ext>
                  </a:extLst>
                </a:gridCol>
                <a:gridCol w="728189">
                  <a:extLst>
                    <a:ext uri="{9D8B030D-6E8A-4147-A177-3AD203B41FA5}">
                      <a16:colId xmlns:a16="http://schemas.microsoft.com/office/drawing/2014/main" val="2403296057"/>
                    </a:ext>
                  </a:extLst>
                </a:gridCol>
                <a:gridCol w="728189">
                  <a:extLst>
                    <a:ext uri="{9D8B030D-6E8A-4147-A177-3AD203B41FA5}">
                      <a16:colId xmlns:a16="http://schemas.microsoft.com/office/drawing/2014/main" val="1211080129"/>
                    </a:ext>
                  </a:extLst>
                </a:gridCol>
                <a:gridCol w="728189">
                  <a:extLst>
                    <a:ext uri="{9D8B030D-6E8A-4147-A177-3AD203B41FA5}">
                      <a16:colId xmlns:a16="http://schemas.microsoft.com/office/drawing/2014/main" val="811040585"/>
                    </a:ext>
                  </a:extLst>
                </a:gridCol>
                <a:gridCol w="728189">
                  <a:extLst>
                    <a:ext uri="{9D8B030D-6E8A-4147-A177-3AD203B41FA5}">
                      <a16:colId xmlns:a16="http://schemas.microsoft.com/office/drawing/2014/main" val="321398168"/>
                    </a:ext>
                  </a:extLst>
                </a:gridCol>
                <a:gridCol w="728189">
                  <a:extLst>
                    <a:ext uri="{9D8B030D-6E8A-4147-A177-3AD203B41FA5}">
                      <a16:colId xmlns:a16="http://schemas.microsoft.com/office/drawing/2014/main" val="3430715025"/>
                    </a:ext>
                  </a:extLst>
                </a:gridCol>
                <a:gridCol w="728189">
                  <a:extLst>
                    <a:ext uri="{9D8B030D-6E8A-4147-A177-3AD203B41FA5}">
                      <a16:colId xmlns:a16="http://schemas.microsoft.com/office/drawing/2014/main" val="285295247"/>
                    </a:ext>
                  </a:extLst>
                </a:gridCol>
                <a:gridCol w="728189">
                  <a:extLst>
                    <a:ext uri="{9D8B030D-6E8A-4147-A177-3AD203B41FA5}">
                      <a16:colId xmlns:a16="http://schemas.microsoft.com/office/drawing/2014/main" val="2385406292"/>
                    </a:ext>
                  </a:extLst>
                </a:gridCol>
                <a:gridCol w="728189">
                  <a:extLst>
                    <a:ext uri="{9D8B030D-6E8A-4147-A177-3AD203B41FA5}">
                      <a16:colId xmlns:a16="http://schemas.microsoft.com/office/drawing/2014/main" val="2225924846"/>
                    </a:ext>
                  </a:extLst>
                </a:gridCol>
                <a:gridCol w="728189">
                  <a:extLst>
                    <a:ext uri="{9D8B030D-6E8A-4147-A177-3AD203B41FA5}">
                      <a16:colId xmlns:a16="http://schemas.microsoft.com/office/drawing/2014/main" val="822407990"/>
                    </a:ext>
                  </a:extLst>
                </a:gridCol>
                <a:gridCol w="728189">
                  <a:extLst>
                    <a:ext uri="{9D8B030D-6E8A-4147-A177-3AD203B41FA5}">
                      <a16:colId xmlns:a16="http://schemas.microsoft.com/office/drawing/2014/main" val="3312412218"/>
                    </a:ext>
                  </a:extLst>
                </a:gridCol>
              </a:tblGrid>
              <a:tr h="571401">
                <a:tc>
                  <a:txBody>
                    <a:bodyPr/>
                    <a:lstStyle/>
                    <a:p>
                      <a:pPr algn="ctr"/>
                      <a:r>
                        <a:rPr lang="zh-TW" altLang="en-US" dirty="0"/>
                        <a:t>項目</a:t>
                      </a:r>
                      <a:endParaRPr lang="zh-TW" altLang="en-US" dirty="0">
                        <a:latin typeface="微軟正黑體" panose="020B0604030504040204" pitchFamily="34" charset="-120"/>
                        <a:ea typeface="微軟正黑體" panose="020B0604030504040204" pitchFamily="34" charset="-120"/>
                      </a:endParaRPr>
                    </a:p>
                  </a:txBody>
                  <a:tcPr anchor="ctr"/>
                </a:tc>
                <a:tc>
                  <a:txBody>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lang="en-US" altLang="zh-TW" dirty="0"/>
                        <a:t>12</a:t>
                      </a:r>
                      <a:r>
                        <a:rPr lang="zh-TW" altLang="en-US" dirty="0"/>
                        <a:t>月</a:t>
                      </a:r>
                      <a:endParaRPr lang="zh-TW" altLang="en-US" dirty="0">
                        <a:latin typeface="微軟正黑體" panose="020B0604030504040204" pitchFamily="34" charset="-120"/>
                        <a:ea typeface="微軟正黑體" panose="020B0604030504040204" pitchFamily="34" charset="-120"/>
                      </a:endParaRPr>
                    </a:p>
                  </a:txBody>
                  <a:tcPr anchor="ctr"/>
                </a:tc>
                <a:tc>
                  <a:txBody>
                    <a:bodyPr/>
                    <a:lstStyle/>
                    <a:p>
                      <a:pPr algn="ctr"/>
                      <a:r>
                        <a:rPr lang="en-US" altLang="zh-TW" dirty="0"/>
                        <a:t>1</a:t>
                      </a:r>
                      <a:r>
                        <a:rPr lang="zh-TW" altLang="en-US" dirty="0"/>
                        <a:t>月</a:t>
                      </a:r>
                      <a:endParaRPr lang="zh-TW" altLang="en-US" dirty="0">
                        <a:latin typeface="微軟正黑體" panose="020B0604030504040204" pitchFamily="34" charset="-120"/>
                        <a:ea typeface="微軟正黑體" panose="020B0604030504040204" pitchFamily="34" charset="-120"/>
                      </a:endParaRPr>
                    </a:p>
                  </a:txBody>
                  <a:tcPr anchor="ctr"/>
                </a:tc>
                <a:tc>
                  <a:txBody>
                    <a:bodyPr/>
                    <a:lstStyle/>
                    <a:p>
                      <a:pPr algn="ctr"/>
                      <a:r>
                        <a:rPr lang="en-US" altLang="zh-TW" dirty="0"/>
                        <a:t>2</a:t>
                      </a:r>
                      <a:r>
                        <a:rPr lang="zh-TW" altLang="en-US" dirty="0"/>
                        <a:t>月</a:t>
                      </a:r>
                      <a:endParaRPr lang="zh-TW" altLang="en-US" dirty="0">
                        <a:latin typeface="微軟正黑體" panose="020B0604030504040204" pitchFamily="34" charset="-120"/>
                        <a:ea typeface="微軟正黑體" panose="020B0604030504040204" pitchFamily="34" charset="-120"/>
                      </a:endParaRPr>
                    </a:p>
                  </a:txBody>
                  <a:tcPr anchor="ctr"/>
                </a:tc>
                <a:tc>
                  <a:txBody>
                    <a:bodyPr/>
                    <a:lstStyle/>
                    <a:p>
                      <a:pPr algn="ctr"/>
                      <a:r>
                        <a:rPr lang="en-US" altLang="zh-TW" dirty="0"/>
                        <a:t>3</a:t>
                      </a:r>
                      <a:r>
                        <a:rPr lang="zh-TW" altLang="en-US" dirty="0"/>
                        <a:t>月</a:t>
                      </a:r>
                      <a:endParaRPr lang="zh-TW" altLang="en-US" dirty="0">
                        <a:latin typeface="微軟正黑體" panose="020B0604030504040204" pitchFamily="34" charset="-120"/>
                        <a:ea typeface="微軟正黑體" panose="020B0604030504040204" pitchFamily="34" charset="-120"/>
                      </a:endParaRPr>
                    </a:p>
                  </a:txBody>
                  <a:tcPr anchor="ctr"/>
                </a:tc>
                <a:tc>
                  <a:txBody>
                    <a:bodyPr/>
                    <a:lstStyle/>
                    <a:p>
                      <a:pPr algn="ctr"/>
                      <a:r>
                        <a:rPr lang="en-US" altLang="zh-TW" dirty="0"/>
                        <a:t>4</a:t>
                      </a:r>
                      <a:r>
                        <a:rPr lang="zh-TW" altLang="en-US" dirty="0"/>
                        <a:t>月</a:t>
                      </a:r>
                      <a:endParaRPr lang="zh-TW" altLang="en-US" dirty="0">
                        <a:latin typeface="微軟正黑體" panose="020B0604030504040204" pitchFamily="34" charset="-120"/>
                        <a:ea typeface="微軟正黑體" panose="020B0604030504040204" pitchFamily="34" charset="-120"/>
                      </a:endParaRPr>
                    </a:p>
                  </a:txBody>
                  <a:tcPr anchor="ctr"/>
                </a:tc>
                <a:tc>
                  <a:txBody>
                    <a:bodyPr/>
                    <a:lstStyle/>
                    <a:p>
                      <a:pPr algn="ctr"/>
                      <a:r>
                        <a:rPr lang="en-US" altLang="zh-TW" dirty="0"/>
                        <a:t>5</a:t>
                      </a:r>
                      <a:r>
                        <a:rPr lang="zh-TW" altLang="en-US" dirty="0"/>
                        <a:t>月</a:t>
                      </a:r>
                      <a:endParaRPr lang="zh-TW" altLang="en-US" dirty="0">
                        <a:latin typeface="微軟正黑體" panose="020B0604030504040204" pitchFamily="34" charset="-120"/>
                        <a:ea typeface="微軟正黑體" panose="020B0604030504040204" pitchFamily="34" charset="-120"/>
                      </a:endParaRPr>
                    </a:p>
                  </a:txBody>
                  <a:tcPr anchor="ctr"/>
                </a:tc>
                <a:tc>
                  <a:txBody>
                    <a:bodyPr/>
                    <a:lstStyle/>
                    <a:p>
                      <a:pPr algn="ctr"/>
                      <a:r>
                        <a:rPr lang="en-US" altLang="zh-TW" dirty="0"/>
                        <a:t>6</a:t>
                      </a:r>
                      <a:r>
                        <a:rPr lang="zh-TW" altLang="en-US" dirty="0"/>
                        <a:t>月</a:t>
                      </a:r>
                      <a:endParaRPr lang="zh-TW" altLang="en-US" dirty="0">
                        <a:latin typeface="微軟正黑體" panose="020B0604030504040204" pitchFamily="34" charset="-120"/>
                        <a:ea typeface="微軟正黑體" panose="020B0604030504040204" pitchFamily="34" charset="-120"/>
                      </a:endParaRPr>
                    </a:p>
                  </a:txBody>
                  <a:tcPr anchor="ctr"/>
                </a:tc>
                <a:tc>
                  <a:txBody>
                    <a:bodyPr/>
                    <a:lstStyle/>
                    <a:p>
                      <a:pPr algn="ctr"/>
                      <a:r>
                        <a:rPr lang="en-US" altLang="zh-TW" dirty="0"/>
                        <a:t>7</a:t>
                      </a:r>
                      <a:r>
                        <a:rPr lang="zh-TW" altLang="en-US" dirty="0"/>
                        <a:t>月</a:t>
                      </a:r>
                      <a:endParaRPr lang="zh-TW" altLang="en-US" dirty="0">
                        <a:latin typeface="微軟正黑體" panose="020B0604030504040204" pitchFamily="34" charset="-120"/>
                        <a:ea typeface="微軟正黑體" panose="020B0604030504040204" pitchFamily="34" charset="-120"/>
                      </a:endParaRPr>
                    </a:p>
                  </a:txBody>
                  <a:tcPr anchor="ctr"/>
                </a:tc>
                <a:tc>
                  <a:txBody>
                    <a:bodyPr/>
                    <a:lstStyle/>
                    <a:p>
                      <a:pPr algn="ctr"/>
                      <a:r>
                        <a:rPr lang="en-US" altLang="zh-TW" dirty="0"/>
                        <a:t>8</a:t>
                      </a:r>
                      <a:r>
                        <a:rPr lang="zh-TW" altLang="en-US" dirty="0"/>
                        <a:t>月</a:t>
                      </a:r>
                      <a:endParaRPr lang="zh-TW" altLang="en-US" dirty="0">
                        <a:latin typeface="微軟正黑體" panose="020B0604030504040204" pitchFamily="34" charset="-120"/>
                        <a:ea typeface="微軟正黑體" panose="020B0604030504040204" pitchFamily="34" charset="-120"/>
                      </a:endParaRPr>
                    </a:p>
                  </a:txBody>
                  <a:tcPr anchor="ctr"/>
                </a:tc>
                <a:tc>
                  <a:txBody>
                    <a:bodyPr/>
                    <a:lstStyle/>
                    <a:p>
                      <a:pPr algn="ctr"/>
                      <a:r>
                        <a:rPr lang="en-US" altLang="zh-TW" dirty="0"/>
                        <a:t>9</a:t>
                      </a:r>
                      <a:r>
                        <a:rPr lang="zh-TW" altLang="en-US" dirty="0"/>
                        <a:t>月</a:t>
                      </a:r>
                      <a:endParaRPr lang="zh-TW" altLang="en-US" dirty="0">
                        <a:latin typeface="微軟正黑體" panose="020B0604030504040204" pitchFamily="34" charset="-120"/>
                        <a:ea typeface="微軟正黑體" panose="020B0604030504040204" pitchFamily="34" charset="-120"/>
                      </a:endParaRPr>
                    </a:p>
                  </a:txBody>
                  <a:tcPr anchor="ctr"/>
                </a:tc>
                <a:tc>
                  <a:txBody>
                    <a:bodyPr/>
                    <a:lstStyle/>
                    <a:p>
                      <a:pPr algn="ctr"/>
                      <a:r>
                        <a:rPr lang="en-US" altLang="zh-TW" dirty="0"/>
                        <a:t>10</a:t>
                      </a:r>
                      <a:r>
                        <a:rPr lang="zh-TW" altLang="en-US" dirty="0"/>
                        <a:t>月</a:t>
                      </a:r>
                      <a:endParaRPr lang="zh-TW" altLang="en-US" dirty="0">
                        <a:latin typeface="微軟正黑體" panose="020B0604030504040204" pitchFamily="34" charset="-120"/>
                        <a:ea typeface="微軟正黑體" panose="020B0604030504040204" pitchFamily="34" charset="-120"/>
                      </a:endParaRPr>
                    </a:p>
                  </a:txBody>
                  <a:tcPr anchor="ctr"/>
                </a:tc>
                <a:tc>
                  <a:txBody>
                    <a:bodyPr/>
                    <a:lstStyle/>
                    <a:p>
                      <a:pPr algn="ctr"/>
                      <a:r>
                        <a:rPr lang="en-US" altLang="zh-TW" dirty="0"/>
                        <a:t>11</a:t>
                      </a:r>
                      <a:r>
                        <a:rPr lang="zh-TW" altLang="en-US" dirty="0"/>
                        <a:t>月</a:t>
                      </a:r>
                      <a:endParaRPr lang="zh-TW" altLang="en-US" dirty="0">
                        <a:latin typeface="微軟正黑體" panose="020B0604030504040204" pitchFamily="34" charset="-120"/>
                        <a:ea typeface="微軟正黑體" panose="020B0604030504040204" pitchFamily="34" charset="-120"/>
                      </a:endParaRPr>
                    </a:p>
                  </a:txBody>
                  <a:tcPr anchor="ctr"/>
                </a:tc>
                <a:tc>
                  <a:txBody>
                    <a:bodyPr/>
                    <a:lstStyle/>
                    <a:p>
                      <a:pPr algn="ctr"/>
                      <a:r>
                        <a:rPr lang="en-US" altLang="zh-TW" dirty="0"/>
                        <a:t>12</a:t>
                      </a:r>
                      <a:r>
                        <a:rPr lang="zh-TW" altLang="en-US" dirty="0"/>
                        <a:t>月</a:t>
                      </a:r>
                      <a:endParaRPr lang="zh-TW" altLang="en-US" dirty="0">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2934821333"/>
                  </a:ext>
                </a:extLst>
              </a:tr>
              <a:tr h="571401">
                <a:tc>
                  <a:txBody>
                    <a:bodyPr/>
                    <a:lstStyle/>
                    <a:p>
                      <a:pPr algn="l"/>
                      <a:r>
                        <a:rPr lang="zh-TW" altLang="en-US" dirty="0"/>
                        <a:t>需求討論</a:t>
                      </a:r>
                      <a:r>
                        <a:rPr lang="en-US" altLang="zh-TW" dirty="0"/>
                        <a:t>/POC</a:t>
                      </a:r>
                      <a:endParaRPr lang="zh-TW" altLang="en-US" dirty="0">
                        <a:latin typeface="微軟正黑體" panose="020B0604030504040204" pitchFamily="34" charset="-120"/>
                        <a:ea typeface="微軟正黑體" panose="020B0604030504040204" pitchFamily="34" charset="-120"/>
                      </a:endParaRPr>
                    </a:p>
                  </a:txBody>
                  <a:tcPr anchor="ct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chemeClr val="accent6">
                        <a:lumMod val="60000"/>
                        <a:lumOff val="40000"/>
                      </a:schemeClr>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rgbClr val="CFD5EA"/>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rgbClr val="CFD5E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600" dirty="0">
                        <a:latin typeface="微軟正黑體" panose="020B0604030504040204" pitchFamily="34" charset="-120"/>
                        <a:ea typeface="微軟正黑體" panose="020B0604030504040204" pitchFamily="34" charset="-120"/>
                      </a:endParaRPr>
                    </a:p>
                  </a:txBody>
                  <a:tcPr anchor="ctr">
                    <a:solidFill>
                      <a:srgbClr val="CFD5EA"/>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tc>
                <a:tc>
                  <a:txBody>
                    <a:bodyPr/>
                    <a:lstStyle/>
                    <a:p>
                      <a:pPr algn="ctr"/>
                      <a:endParaRPr lang="zh-TW" altLang="en-US" sz="1600">
                        <a:latin typeface="微軟正黑體" panose="020B0604030504040204" pitchFamily="34" charset="-120"/>
                        <a:ea typeface="微軟正黑體" panose="020B0604030504040204" pitchFamily="34" charset="-120"/>
                      </a:endParaRPr>
                    </a:p>
                  </a:txBody>
                  <a:tcPr anchor="ctr"/>
                </a:tc>
                <a:tc>
                  <a:txBody>
                    <a:bodyPr/>
                    <a:lstStyle/>
                    <a:p>
                      <a:pPr algn="ctr"/>
                      <a:endParaRPr lang="zh-TW" altLang="en-US" sz="1600">
                        <a:latin typeface="微軟正黑體" panose="020B0604030504040204" pitchFamily="34" charset="-120"/>
                        <a:ea typeface="微軟正黑體" panose="020B0604030504040204" pitchFamily="34" charset="-120"/>
                      </a:endParaRPr>
                    </a:p>
                  </a:txBody>
                  <a:tcPr anchor="ctr"/>
                </a:tc>
                <a:tc>
                  <a:txBody>
                    <a:bodyPr/>
                    <a:lstStyle/>
                    <a:p>
                      <a:pPr algn="ctr"/>
                      <a:endParaRPr lang="zh-TW" altLang="en-US" sz="1600">
                        <a:latin typeface="微軟正黑體" panose="020B0604030504040204" pitchFamily="34" charset="-120"/>
                        <a:ea typeface="微軟正黑體" panose="020B0604030504040204" pitchFamily="34" charset="-120"/>
                      </a:endParaRPr>
                    </a:p>
                  </a:txBody>
                  <a:tcPr anchor="ctr"/>
                </a:tc>
                <a:tc>
                  <a:txBody>
                    <a:bodyPr/>
                    <a:lstStyle/>
                    <a:p>
                      <a:pPr algn="ctr"/>
                      <a:endParaRPr lang="zh-TW" altLang="en-US" sz="1600">
                        <a:latin typeface="微軟正黑體" panose="020B0604030504040204" pitchFamily="34" charset="-120"/>
                        <a:ea typeface="微軟正黑體" panose="020B0604030504040204" pitchFamily="34" charset="-120"/>
                      </a:endParaRPr>
                    </a:p>
                  </a:txBody>
                  <a:tcPr anchor="ctr"/>
                </a:tc>
                <a:tc>
                  <a:txBody>
                    <a:bodyPr/>
                    <a:lstStyle/>
                    <a:p>
                      <a:pPr algn="ctr"/>
                      <a:endParaRPr lang="zh-TW" altLang="en-US" sz="1600">
                        <a:latin typeface="微軟正黑體" panose="020B0604030504040204" pitchFamily="34" charset="-120"/>
                        <a:ea typeface="微軟正黑體" panose="020B0604030504040204" pitchFamily="34" charset="-120"/>
                      </a:endParaRPr>
                    </a:p>
                  </a:txBody>
                  <a:tcPr anchor="ctr"/>
                </a:tc>
                <a:tc>
                  <a:txBody>
                    <a:bodyPr/>
                    <a:lstStyle/>
                    <a:p>
                      <a:pPr algn="ctr"/>
                      <a:endParaRPr lang="zh-TW" altLang="en-US" sz="1600">
                        <a:latin typeface="微軟正黑體" panose="020B0604030504040204" pitchFamily="34" charset="-120"/>
                        <a:ea typeface="微軟正黑體" panose="020B0604030504040204" pitchFamily="34" charset="-120"/>
                      </a:endParaRPr>
                    </a:p>
                  </a:txBody>
                  <a:tcPr anchor="ct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1374403081"/>
                  </a:ext>
                </a:extLst>
              </a:tr>
              <a:tr h="571401">
                <a:tc>
                  <a:txBody>
                    <a:bodyPr/>
                    <a:lstStyle/>
                    <a:p>
                      <a:pPr algn="l"/>
                      <a:r>
                        <a:rPr lang="zh-TW" altLang="en-US" dirty="0"/>
                        <a:t>測試主機申請 </a:t>
                      </a:r>
                      <a:r>
                        <a:rPr lang="en-US" altLang="zh-TW" dirty="0"/>
                        <a:t>/ </a:t>
                      </a:r>
                      <a:r>
                        <a:rPr lang="zh-TW" altLang="en-US" dirty="0"/>
                        <a:t>建置</a:t>
                      </a:r>
                      <a:endParaRPr lang="zh-TW" altLang="en-US" dirty="0">
                        <a:latin typeface="微軟正黑體" panose="020B0604030504040204" pitchFamily="34" charset="-120"/>
                        <a:ea typeface="微軟正黑體" panose="020B0604030504040204" pitchFamily="34" charset="-120"/>
                      </a:endParaRPr>
                    </a:p>
                  </a:txBody>
                  <a:tcPr anchor="ct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chemeClr val="accent2"/>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chemeClr val="accent2"/>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tc>
                <a:tc>
                  <a:txBody>
                    <a:bodyPr/>
                    <a:lstStyle/>
                    <a:p>
                      <a:pPr algn="ctr"/>
                      <a:endParaRPr lang="zh-TW" altLang="en-US" sz="1600">
                        <a:latin typeface="微軟正黑體" panose="020B0604030504040204" pitchFamily="34" charset="-120"/>
                        <a:ea typeface="微軟正黑體" panose="020B0604030504040204" pitchFamily="34" charset="-120"/>
                      </a:endParaRPr>
                    </a:p>
                  </a:txBody>
                  <a:tcPr anchor="ct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tc>
                <a:tc>
                  <a:txBody>
                    <a:bodyPr/>
                    <a:lstStyle/>
                    <a:p>
                      <a:pPr algn="ctr"/>
                      <a:endParaRPr lang="zh-TW" altLang="en-US" sz="1600">
                        <a:latin typeface="微軟正黑體" panose="020B0604030504040204" pitchFamily="34" charset="-120"/>
                        <a:ea typeface="微軟正黑體" panose="020B0604030504040204" pitchFamily="34" charset="-120"/>
                      </a:endParaRPr>
                    </a:p>
                  </a:txBody>
                  <a:tcPr anchor="ctr"/>
                </a:tc>
                <a:tc>
                  <a:txBody>
                    <a:bodyPr/>
                    <a:lstStyle/>
                    <a:p>
                      <a:pPr algn="ctr"/>
                      <a:endParaRPr lang="zh-TW" altLang="en-US" sz="1600">
                        <a:latin typeface="微軟正黑體" panose="020B0604030504040204" pitchFamily="34" charset="-120"/>
                        <a:ea typeface="微軟正黑體" panose="020B0604030504040204" pitchFamily="34" charset="-120"/>
                      </a:endParaRPr>
                    </a:p>
                  </a:txBody>
                  <a:tcPr anchor="ct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3940185558"/>
                  </a:ext>
                </a:extLst>
              </a:tr>
              <a:tr h="571401">
                <a:tc>
                  <a:txBody>
                    <a:bodyPr/>
                    <a:lstStyle/>
                    <a:p>
                      <a:pPr algn="l"/>
                      <a:r>
                        <a:rPr lang="zh-TW" altLang="en-US" dirty="0"/>
                        <a:t>系統部屬</a:t>
                      </a:r>
                      <a:endParaRPr lang="zh-TW" altLang="en-US" dirty="0">
                        <a:latin typeface="微軟正黑體" panose="020B0604030504040204" pitchFamily="34" charset="-120"/>
                        <a:ea typeface="微軟正黑體" panose="020B0604030504040204" pitchFamily="34" charset="-120"/>
                      </a:endParaRPr>
                    </a:p>
                  </a:txBody>
                  <a:tcPr anchor="ct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chemeClr val="accent2"/>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chemeClr val="accent2"/>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tc>
                <a:tc>
                  <a:txBody>
                    <a:bodyPr/>
                    <a:lstStyle/>
                    <a:p>
                      <a:pPr algn="ctr"/>
                      <a:endParaRPr lang="zh-TW" altLang="en-US" sz="1600">
                        <a:latin typeface="微軟正黑體" panose="020B0604030504040204" pitchFamily="34" charset="-120"/>
                        <a:ea typeface="微軟正黑體" panose="020B0604030504040204" pitchFamily="34" charset="-120"/>
                      </a:endParaRPr>
                    </a:p>
                  </a:txBody>
                  <a:tcPr anchor="ct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1890988527"/>
                  </a:ext>
                </a:extLst>
              </a:tr>
              <a:tr h="285701">
                <a:tc rowSpan="2">
                  <a:txBody>
                    <a:bodyPr/>
                    <a:lstStyle/>
                    <a:p>
                      <a:pPr marL="0" marR="0" lvl="0" indent="0" algn="l" defTabSz="932962" rtl="0" eaLnBrk="1" fontAlgn="auto" latinLnBrk="0" hangingPunct="1">
                        <a:lnSpc>
                          <a:spcPct val="100000"/>
                        </a:lnSpc>
                        <a:spcBef>
                          <a:spcPts val="0"/>
                        </a:spcBef>
                        <a:spcAft>
                          <a:spcPts val="0"/>
                        </a:spcAft>
                        <a:buClrTx/>
                        <a:buSzTx/>
                        <a:buFontTx/>
                        <a:buNone/>
                        <a:tabLst/>
                        <a:defRPr/>
                      </a:pPr>
                      <a:r>
                        <a:rPr lang="zh-TW" altLang="en-US" dirty="0"/>
                        <a:t>系統開發</a:t>
                      </a:r>
                      <a:endParaRPr lang="zh-TW" altLang="en-US" dirty="0">
                        <a:latin typeface="微軟正黑體" panose="020B0604030504040204" pitchFamily="34" charset="-120"/>
                        <a:ea typeface="微軟正黑體" panose="020B0604030504040204" pitchFamily="34" charset="-120"/>
                      </a:endParaRPr>
                    </a:p>
                  </a:txBody>
                  <a:tcPr anchor="ctr"/>
                </a:tc>
                <a:tc rowSpan="2">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rgbClr val="E9EBF5"/>
                    </a:solidFill>
                  </a:tcPr>
                </a:tc>
                <a:tc rowSpan="2">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chemeClr val="accent6">
                        <a:lumMod val="60000"/>
                        <a:lumOff val="40000"/>
                      </a:schemeClr>
                    </a:solidFill>
                  </a:tcPr>
                </a:tc>
                <a:tc rowSpan="2">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chemeClr val="accent6">
                        <a:lumMod val="60000"/>
                        <a:lumOff val="40000"/>
                      </a:schemeClr>
                    </a:solidFill>
                  </a:tcPr>
                </a:tc>
                <a:tc rowSpan="2">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chemeClr val="accent6">
                        <a:lumMod val="60000"/>
                        <a:lumOff val="40000"/>
                      </a:schemeClr>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600" dirty="0">
                        <a:latin typeface="微軟正黑體" panose="020B0604030504040204" pitchFamily="34" charset="-120"/>
                        <a:ea typeface="微軟正黑體" panose="020B0604030504040204" pitchFamily="34" charset="-120"/>
                      </a:endParaRPr>
                    </a:p>
                  </a:txBody>
                  <a:tcPr anchor="ctr">
                    <a:solidFill>
                      <a:schemeClr val="accent2"/>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chemeClr val="accent2"/>
                    </a:solidFill>
                  </a:tcPr>
                </a:tc>
                <a:tc rowSpan="2">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rgbClr val="E9EBF5"/>
                    </a:solidFill>
                  </a:tcPr>
                </a:tc>
                <a:tc rowSpan="2">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rgbClr val="E9EBF5"/>
                    </a:solidFill>
                  </a:tcPr>
                </a:tc>
                <a:tc rowSpan="2">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tc>
                <a:tc rowSpan="2">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tc>
                <a:tc rowSpan="2">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tc>
                <a:tc rowSpan="2">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3750403624"/>
                  </a:ext>
                </a:extLst>
              </a:tr>
              <a:tr h="285701">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chemeClr val="accent6">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600" dirty="0">
                        <a:latin typeface="微軟正黑體" panose="020B0604030504040204" pitchFamily="34" charset="-120"/>
                        <a:ea typeface="微軟正黑體" panose="020B0604030504040204" pitchFamily="34" charset="-120"/>
                      </a:endParaRPr>
                    </a:p>
                  </a:txBody>
                  <a:tcPr anchor="ctr">
                    <a:solidFill>
                      <a:schemeClr val="accent6">
                        <a:lumMod val="60000"/>
                        <a:lumOff val="40000"/>
                      </a:schemeClr>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chemeClr val="accent6">
                        <a:lumMod val="60000"/>
                        <a:lumOff val="40000"/>
                      </a:schemeClr>
                    </a:solidFill>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2182577492"/>
                  </a:ext>
                </a:extLst>
              </a:tr>
              <a:tr h="571401">
                <a:tc>
                  <a:txBody>
                    <a:bodyPr/>
                    <a:lstStyle/>
                    <a:p>
                      <a:pPr marL="0" marR="0" lvl="0" indent="0" algn="l" defTabSz="932962" rtl="0" eaLnBrk="1" fontAlgn="auto" latinLnBrk="0" hangingPunct="1">
                        <a:lnSpc>
                          <a:spcPct val="100000"/>
                        </a:lnSpc>
                        <a:spcBef>
                          <a:spcPts val="0"/>
                        </a:spcBef>
                        <a:spcAft>
                          <a:spcPts val="0"/>
                        </a:spcAft>
                        <a:buClrTx/>
                        <a:buSzTx/>
                        <a:buFontTx/>
                        <a:buNone/>
                        <a:tabLst/>
                        <a:defRPr/>
                      </a:pPr>
                      <a:r>
                        <a:rPr lang="zh-TW" altLang="en-US" dirty="0"/>
                        <a:t>系統測試</a:t>
                      </a:r>
                      <a:endParaRPr lang="zh-TW" altLang="en-US" dirty="0">
                        <a:latin typeface="微軟正黑體" panose="020B0604030504040204" pitchFamily="34" charset="-120"/>
                        <a:ea typeface="微軟正黑體" panose="020B0604030504040204" pitchFamily="34" charset="-120"/>
                      </a:endParaRPr>
                    </a:p>
                  </a:txBody>
                  <a:tcPr anchor="ctr">
                    <a:solidFill>
                      <a:srgbClr val="CFD5EA"/>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rgbClr val="CFD5EA"/>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rgbClr val="CFD5EA"/>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rgbClr val="CFD5EA"/>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rgbClr val="CFD5E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600" dirty="0">
                        <a:latin typeface="微軟正黑體" panose="020B0604030504040204" pitchFamily="34" charset="-120"/>
                        <a:ea typeface="微軟正黑體" panose="020B0604030504040204" pitchFamily="34" charset="-120"/>
                      </a:endParaRPr>
                    </a:p>
                  </a:txBody>
                  <a:tcPr anchor="ctr">
                    <a:solidFill>
                      <a:schemeClr val="accent2"/>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chemeClr val="accent2"/>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chemeClr val="accent2"/>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rgbClr val="CFD5EA"/>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rgbClr val="CFD5EA"/>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rgbClr val="CFD5EA"/>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rgbClr val="CFD5EA"/>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rgbClr val="CFD5EA"/>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rgbClr val="CFD5EA"/>
                    </a:solidFill>
                  </a:tcPr>
                </a:tc>
                <a:extLst>
                  <a:ext uri="{0D108BD9-81ED-4DB2-BD59-A6C34878D82A}">
                    <a16:rowId xmlns:a16="http://schemas.microsoft.com/office/drawing/2014/main" val="1968303662"/>
                  </a:ext>
                </a:extLst>
              </a:tr>
              <a:tr h="5714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整合測試</a:t>
                      </a:r>
                      <a:endParaRPr lang="zh-TW" altLang="en-US" dirty="0">
                        <a:latin typeface="微軟正黑體" panose="020B0604030504040204" pitchFamily="34" charset="-120"/>
                        <a:ea typeface="微軟正黑體" panose="020B0604030504040204" pitchFamily="34" charset="-120"/>
                      </a:endParaRPr>
                    </a:p>
                  </a:txBody>
                  <a:tcPr anchor="ctr">
                    <a:solidFill>
                      <a:srgbClr val="E9EBF5"/>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rgbClr val="E9EBF5"/>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rgbClr val="E9EBF5"/>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rgbClr val="E9EBF5"/>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rgbClr val="E9EBF5"/>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rgbClr val="E9EBF5"/>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rgbClr val="E9EBF5"/>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chemeClr val="accent2"/>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chemeClr val="accent2"/>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chemeClr val="accent2"/>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rgbClr val="E9EBF5"/>
                    </a:solidFill>
                  </a:tcPr>
                </a:tc>
                <a:tc>
                  <a:txBody>
                    <a:bodyPr/>
                    <a:lstStyle/>
                    <a:p>
                      <a:pPr algn="ctr"/>
                      <a:endParaRPr lang="zh-TW" altLang="en-US" sz="1600" kern="1200" dirty="0">
                        <a:solidFill>
                          <a:schemeClr val="dk1"/>
                        </a:solidFill>
                        <a:latin typeface="微軟正黑體" panose="020B0604030504040204" pitchFamily="34" charset="-120"/>
                        <a:ea typeface="微軟正黑體" panose="020B0604030504040204" pitchFamily="34" charset="-120"/>
                        <a:cs typeface="+mn-cs"/>
                      </a:endParaRPr>
                    </a:p>
                  </a:txBody>
                  <a:tcPr anchor="ctr">
                    <a:solidFill>
                      <a:srgbClr val="E9EBF5"/>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rgbClr val="E9EBF5"/>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rgbClr val="E9EBF5"/>
                    </a:solidFill>
                  </a:tcPr>
                </a:tc>
                <a:extLst>
                  <a:ext uri="{0D108BD9-81ED-4DB2-BD59-A6C34878D82A}">
                    <a16:rowId xmlns:a16="http://schemas.microsoft.com/office/drawing/2014/main" val="1698038609"/>
                  </a:ext>
                </a:extLst>
              </a:tr>
              <a:tr h="5714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正式主機採購 </a:t>
                      </a:r>
                      <a:r>
                        <a:rPr lang="en-US" altLang="zh-TW" dirty="0"/>
                        <a:t>/</a:t>
                      </a:r>
                      <a:r>
                        <a:rPr lang="zh-TW" altLang="en-US" dirty="0"/>
                        <a:t> 建置</a:t>
                      </a:r>
                      <a:endParaRPr lang="zh-TW" altLang="en-US" dirty="0">
                        <a:latin typeface="微軟正黑體" panose="020B0604030504040204" pitchFamily="34" charset="-120"/>
                        <a:ea typeface="微軟正黑體" panose="020B0604030504040204" pitchFamily="34" charset="-120"/>
                      </a:endParaRPr>
                    </a:p>
                  </a:txBody>
                  <a:tcPr anchor="ctr">
                    <a:solidFill>
                      <a:srgbClr val="CFD5EA"/>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rgbClr val="CFD5EA"/>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rgbClr val="CFD5EA"/>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rgbClr val="CFD5EA"/>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rgbClr val="CFD5EA"/>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rgbClr val="CFD5EA"/>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rgbClr val="CFD5EA"/>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chemeClr val="accent2"/>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chemeClr val="accent2"/>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rgbClr val="CFD5EA"/>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rgbClr val="CFD5EA"/>
                    </a:solidFill>
                  </a:tcPr>
                </a:tc>
                <a:tc>
                  <a:txBody>
                    <a:bodyPr/>
                    <a:lstStyle/>
                    <a:p>
                      <a:pPr algn="ctr"/>
                      <a:endParaRPr lang="zh-TW" altLang="en-US" sz="1600" kern="1200" dirty="0">
                        <a:solidFill>
                          <a:schemeClr val="dk1"/>
                        </a:solidFill>
                        <a:latin typeface="微軟正黑體" panose="020B0604030504040204" pitchFamily="34" charset="-120"/>
                        <a:ea typeface="微軟正黑體" panose="020B0604030504040204" pitchFamily="34" charset="-120"/>
                        <a:cs typeface="+mn-cs"/>
                      </a:endParaRPr>
                    </a:p>
                  </a:txBody>
                  <a:tcPr anchor="ctr">
                    <a:solidFill>
                      <a:srgbClr val="CFD5EA"/>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rgbClr val="CFD5EA"/>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rgbClr val="CFD5EA"/>
                    </a:solidFill>
                  </a:tcPr>
                </a:tc>
                <a:extLst>
                  <a:ext uri="{0D108BD9-81ED-4DB2-BD59-A6C34878D82A}">
                    <a16:rowId xmlns:a16="http://schemas.microsoft.com/office/drawing/2014/main" val="3394615258"/>
                  </a:ext>
                </a:extLst>
              </a:tr>
              <a:tr h="5714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系統上線</a:t>
                      </a:r>
                      <a:endParaRPr lang="zh-TW" altLang="en-US" dirty="0">
                        <a:latin typeface="微軟正黑體" panose="020B0604030504040204" pitchFamily="34" charset="-120"/>
                        <a:ea typeface="微軟正黑體" panose="020B0604030504040204" pitchFamily="34" charset="-120"/>
                      </a:endParaRPr>
                    </a:p>
                  </a:txBody>
                  <a:tcPr anchor="ctr">
                    <a:lnB w="12700" cap="flat" cmpd="sng" algn="ctr">
                      <a:solidFill>
                        <a:schemeClr val="tx1"/>
                      </a:solidFill>
                      <a:prstDash val="solid"/>
                      <a:round/>
                      <a:headEnd type="none" w="med" len="med"/>
                      <a:tailEnd type="none" w="med" len="med"/>
                    </a:lnB>
                    <a:solidFill>
                      <a:srgbClr val="E9EBF5"/>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lnB w="12700" cap="flat" cmpd="sng" algn="ctr">
                      <a:solidFill>
                        <a:schemeClr val="tx1"/>
                      </a:solidFill>
                      <a:prstDash val="solid"/>
                      <a:round/>
                      <a:headEnd type="none" w="med" len="med"/>
                      <a:tailEnd type="none" w="med" len="med"/>
                    </a:lnB>
                    <a:solidFill>
                      <a:srgbClr val="E9EBF5"/>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lnB w="12700" cap="flat" cmpd="sng" algn="ctr">
                      <a:solidFill>
                        <a:schemeClr val="tx1"/>
                      </a:solidFill>
                      <a:prstDash val="solid"/>
                      <a:round/>
                      <a:headEnd type="none" w="med" len="med"/>
                      <a:tailEnd type="none" w="med" len="med"/>
                    </a:lnB>
                    <a:solidFill>
                      <a:srgbClr val="E9EBF5"/>
                    </a:solidFill>
                  </a:tcPr>
                </a:tc>
                <a:tc>
                  <a:txBody>
                    <a:bodyPr/>
                    <a:lstStyle/>
                    <a:p>
                      <a:pPr algn="ctr"/>
                      <a:endParaRPr lang="zh-TW" altLang="en-US" sz="1600">
                        <a:latin typeface="微軟正黑體" panose="020B0604030504040204" pitchFamily="34" charset="-120"/>
                        <a:ea typeface="微軟正黑體" panose="020B0604030504040204" pitchFamily="34" charset="-120"/>
                      </a:endParaRPr>
                    </a:p>
                  </a:txBody>
                  <a:tcPr anchor="ctr">
                    <a:lnB w="12700" cap="flat" cmpd="sng" algn="ctr">
                      <a:solidFill>
                        <a:schemeClr val="tx1"/>
                      </a:solidFill>
                      <a:prstDash val="solid"/>
                      <a:round/>
                      <a:headEnd type="none" w="med" len="med"/>
                      <a:tailEnd type="none" w="med" len="med"/>
                    </a:lnB>
                    <a:solidFill>
                      <a:srgbClr val="E9EBF5"/>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lnB w="12700" cap="flat" cmpd="sng" algn="ctr">
                      <a:solidFill>
                        <a:schemeClr val="tx1"/>
                      </a:solidFill>
                      <a:prstDash val="solid"/>
                      <a:round/>
                      <a:headEnd type="none" w="med" len="med"/>
                      <a:tailEnd type="none" w="med" len="med"/>
                    </a:lnB>
                    <a:solidFill>
                      <a:srgbClr val="E9EBF5"/>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lnB w="12700" cap="flat" cmpd="sng" algn="ctr">
                      <a:solidFill>
                        <a:schemeClr val="tx1"/>
                      </a:solidFill>
                      <a:prstDash val="solid"/>
                      <a:round/>
                      <a:headEnd type="none" w="med" len="med"/>
                      <a:tailEnd type="none" w="med" len="med"/>
                    </a:lnB>
                    <a:solidFill>
                      <a:srgbClr val="E9EBF5"/>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lnB w="12700" cap="flat" cmpd="sng" algn="ctr">
                      <a:solidFill>
                        <a:schemeClr val="tx1"/>
                      </a:solidFill>
                      <a:prstDash val="solid"/>
                      <a:round/>
                      <a:headEnd type="none" w="med" len="med"/>
                      <a:tailEnd type="none" w="med" len="med"/>
                    </a:lnB>
                    <a:solidFill>
                      <a:srgbClr val="E9EBF5"/>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rgbClr val="E9EBF5"/>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rgbClr val="E9EBF5"/>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rgbClr val="E9EBF5"/>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chemeClr val="accent2"/>
                    </a:solidFill>
                  </a:tcPr>
                </a:tc>
                <a:tc>
                  <a:txBody>
                    <a:bodyPr/>
                    <a:lstStyle/>
                    <a:p>
                      <a:pPr algn="ctr"/>
                      <a:endParaRPr lang="zh-TW" altLang="en-US" sz="1600" kern="1200" dirty="0">
                        <a:solidFill>
                          <a:schemeClr val="dk1"/>
                        </a:solidFill>
                        <a:latin typeface="微軟正黑體" panose="020B0604030504040204" pitchFamily="34" charset="-120"/>
                        <a:ea typeface="微軟正黑體" panose="020B0604030504040204" pitchFamily="34" charset="-120"/>
                        <a:cs typeface="+mn-cs"/>
                      </a:endParaRPr>
                    </a:p>
                  </a:txBody>
                  <a:tcPr anchor="ctr">
                    <a:solidFill>
                      <a:srgbClr val="E9EBF5"/>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rgbClr val="E9EBF5"/>
                    </a:solidFill>
                  </a:tcPr>
                </a:tc>
                <a:tc>
                  <a:txBody>
                    <a:bodyPr/>
                    <a:lstStyle/>
                    <a:p>
                      <a:pPr algn="ctr"/>
                      <a:endParaRPr lang="zh-TW" altLang="en-US" sz="1600" dirty="0">
                        <a:latin typeface="微軟正黑體" panose="020B0604030504040204" pitchFamily="34" charset="-120"/>
                        <a:ea typeface="微軟正黑體" panose="020B0604030504040204" pitchFamily="34" charset="-120"/>
                      </a:endParaRPr>
                    </a:p>
                  </a:txBody>
                  <a:tcPr anchor="ctr">
                    <a:solidFill>
                      <a:srgbClr val="E9EBF5"/>
                    </a:solidFill>
                  </a:tcPr>
                </a:tc>
                <a:extLst>
                  <a:ext uri="{0D108BD9-81ED-4DB2-BD59-A6C34878D82A}">
                    <a16:rowId xmlns:a16="http://schemas.microsoft.com/office/drawing/2014/main" val="3392660144"/>
                  </a:ext>
                </a:extLst>
              </a:tr>
            </a:tbl>
          </a:graphicData>
        </a:graphic>
      </p:graphicFrame>
      <p:graphicFrame>
        <p:nvGraphicFramePr>
          <p:cNvPr id="5" name="表格 4">
            <a:extLst>
              <a:ext uri="{FF2B5EF4-FFF2-40B4-BE49-F238E27FC236}">
                <a16:creationId xmlns:a16="http://schemas.microsoft.com/office/drawing/2014/main" id="{F64FE507-1850-E4BB-217B-9A6915929C44}"/>
              </a:ext>
            </a:extLst>
          </p:cNvPr>
          <p:cNvGraphicFramePr>
            <a:graphicFrameLocks noGrp="1"/>
          </p:cNvGraphicFramePr>
          <p:nvPr>
            <p:extLst>
              <p:ext uri="{D42A27DB-BD31-4B8C-83A1-F6EECF244321}">
                <p14:modId xmlns:p14="http://schemas.microsoft.com/office/powerpoint/2010/main" val="1852340594"/>
              </p:ext>
            </p:extLst>
          </p:nvPr>
        </p:nvGraphicFramePr>
        <p:xfrm>
          <a:off x="9378296" y="464856"/>
          <a:ext cx="2178498" cy="239281"/>
        </p:xfrm>
        <a:graphic>
          <a:graphicData uri="http://schemas.openxmlformats.org/drawingml/2006/table">
            <a:tbl>
              <a:tblPr/>
              <a:tblGrid>
                <a:gridCol w="1089249">
                  <a:extLst>
                    <a:ext uri="{9D8B030D-6E8A-4147-A177-3AD203B41FA5}">
                      <a16:colId xmlns:a16="http://schemas.microsoft.com/office/drawing/2014/main" val="3939957750"/>
                    </a:ext>
                  </a:extLst>
                </a:gridCol>
                <a:gridCol w="1089249">
                  <a:extLst>
                    <a:ext uri="{9D8B030D-6E8A-4147-A177-3AD203B41FA5}">
                      <a16:colId xmlns:a16="http://schemas.microsoft.com/office/drawing/2014/main" val="4192552167"/>
                    </a:ext>
                  </a:extLst>
                </a:gridCol>
              </a:tblGrid>
              <a:tr h="239281">
                <a:tc>
                  <a:txBody>
                    <a:bodyPr/>
                    <a:lstStyle/>
                    <a:p>
                      <a:pPr algn="ctr" rtl="0" fontAlgn="ctr"/>
                      <a:r>
                        <a:rPr lang="zh-TW" altLang="en-US" sz="1100" b="0" i="0" u="none" strike="noStrike" dirty="0">
                          <a:solidFill>
                            <a:srgbClr val="000000"/>
                          </a:solidFill>
                          <a:effectLst/>
                          <a:latin typeface="微軟正黑體" panose="020B0604030504040204" pitchFamily="34" charset="-120"/>
                          <a:ea typeface="微軟正黑體" panose="020B0604030504040204" pitchFamily="34" charset="-120"/>
                        </a:rPr>
                        <a:t>數科</a:t>
                      </a: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rtl="0" fontAlgn="ctr"/>
                      <a:r>
                        <a:rPr lang="zh-TW" altLang="en-US" sz="1100" b="0" i="0" u="none" strike="noStrike" dirty="0">
                          <a:solidFill>
                            <a:srgbClr val="000000"/>
                          </a:solidFill>
                          <a:effectLst/>
                          <a:latin typeface="微軟正黑體" panose="020B0604030504040204" pitchFamily="34" charset="-120"/>
                          <a:ea typeface="微軟正黑體" panose="020B0604030504040204" pitchFamily="34" charset="-120"/>
                        </a:rPr>
                        <a:t>資訊</a:t>
                      </a: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323976424"/>
                  </a:ext>
                </a:extLst>
              </a:tr>
            </a:tbl>
          </a:graphicData>
        </a:graphic>
      </p:graphicFrame>
    </p:spTree>
    <p:extLst>
      <p:ext uri="{BB962C8B-B14F-4D97-AF65-F5344CB8AC3E}">
        <p14:creationId xmlns:p14="http://schemas.microsoft.com/office/powerpoint/2010/main" val="8351109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97555-170B-3079-4B21-9AE6C0C2990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200A88E1-7090-E6DE-952E-966D58F9E044}"/>
              </a:ext>
            </a:extLst>
          </p:cNvPr>
          <p:cNvSpPr>
            <a:spLocks noGrp="1"/>
          </p:cNvSpPr>
          <p:nvPr>
            <p:ph type="title"/>
          </p:nvPr>
        </p:nvSpPr>
        <p:spPr>
          <a:xfrm>
            <a:off x="527051" y="149737"/>
            <a:ext cx="11233150" cy="630238"/>
          </a:xfrm>
          <a:prstGeom prst="rect">
            <a:avLst/>
          </a:prstGeom>
        </p:spPr>
        <p:txBody>
          <a:bodyPr/>
          <a:lstStyle/>
          <a:p>
            <a:r>
              <a:rPr lang="zh-TW" altLang="en-US" sz="3200" b="0">
                <a:solidFill>
                  <a:schemeClr val="tx1"/>
                </a:solidFill>
              </a:rPr>
              <a:t>專案時程</a:t>
            </a:r>
          </a:p>
        </p:txBody>
      </p:sp>
      <p:graphicFrame>
        <p:nvGraphicFramePr>
          <p:cNvPr id="4" name="表格 3">
            <a:extLst>
              <a:ext uri="{FF2B5EF4-FFF2-40B4-BE49-F238E27FC236}">
                <a16:creationId xmlns:a16="http://schemas.microsoft.com/office/drawing/2014/main" id="{EA5A4255-E014-4D0F-EE33-942D7F1EB949}"/>
              </a:ext>
            </a:extLst>
          </p:cNvPr>
          <p:cNvGraphicFramePr>
            <a:graphicFrameLocks noGrp="1"/>
          </p:cNvGraphicFramePr>
          <p:nvPr>
            <p:extLst>
              <p:ext uri="{D42A27DB-BD31-4B8C-83A1-F6EECF244321}">
                <p14:modId xmlns:p14="http://schemas.microsoft.com/office/powerpoint/2010/main" val="2888999476"/>
              </p:ext>
            </p:extLst>
          </p:nvPr>
        </p:nvGraphicFramePr>
        <p:xfrm>
          <a:off x="527052" y="1015434"/>
          <a:ext cx="11233149" cy="4963602"/>
        </p:xfrm>
        <a:graphic>
          <a:graphicData uri="http://schemas.openxmlformats.org/drawingml/2006/table">
            <a:tbl>
              <a:tblPr firstRow="1" bandRow="1">
                <a:tableStyleId>{16D9F66E-5EB9-4882-86FB-DCBF35E3C3E4}</a:tableStyleId>
              </a:tblPr>
              <a:tblGrid>
                <a:gridCol w="1038366">
                  <a:extLst>
                    <a:ext uri="{9D8B030D-6E8A-4147-A177-3AD203B41FA5}">
                      <a16:colId xmlns:a16="http://schemas.microsoft.com/office/drawing/2014/main" val="552525123"/>
                    </a:ext>
                  </a:extLst>
                </a:gridCol>
                <a:gridCol w="3195269">
                  <a:extLst>
                    <a:ext uri="{9D8B030D-6E8A-4147-A177-3AD203B41FA5}">
                      <a16:colId xmlns:a16="http://schemas.microsoft.com/office/drawing/2014/main" val="3770828447"/>
                    </a:ext>
                  </a:extLst>
                </a:gridCol>
                <a:gridCol w="3835333">
                  <a:extLst>
                    <a:ext uri="{9D8B030D-6E8A-4147-A177-3AD203B41FA5}">
                      <a16:colId xmlns:a16="http://schemas.microsoft.com/office/drawing/2014/main" val="3265394523"/>
                    </a:ext>
                  </a:extLst>
                </a:gridCol>
                <a:gridCol w="3164181">
                  <a:extLst>
                    <a:ext uri="{9D8B030D-6E8A-4147-A177-3AD203B41FA5}">
                      <a16:colId xmlns:a16="http://schemas.microsoft.com/office/drawing/2014/main" val="4276625924"/>
                    </a:ext>
                  </a:extLst>
                </a:gridCol>
              </a:tblGrid>
              <a:tr h="354543">
                <a:tc>
                  <a:txBody>
                    <a:bodyPr/>
                    <a:lstStyle/>
                    <a:p>
                      <a:r>
                        <a:rPr lang="zh-TW" altLang="en-US" sz="1400" dirty="0">
                          <a:solidFill>
                            <a:schemeClr val="accent6">
                              <a:lumMod val="75000"/>
                            </a:schemeClr>
                          </a:solidFill>
                        </a:rPr>
                        <a:t>項次</a:t>
                      </a:r>
                    </a:p>
                  </a:txBody>
                  <a:tcPr anchor="ctr"/>
                </a:tc>
                <a:tc>
                  <a:txBody>
                    <a:bodyPr/>
                    <a:lstStyle/>
                    <a:p>
                      <a:r>
                        <a:rPr lang="zh-TW" altLang="en-US" sz="1400" dirty="0">
                          <a:solidFill>
                            <a:schemeClr val="accent6">
                              <a:lumMod val="75000"/>
                            </a:schemeClr>
                          </a:solidFill>
                        </a:rPr>
                        <a:t>工作項目</a:t>
                      </a:r>
                    </a:p>
                  </a:txBody>
                  <a:tcPr anchor="ctr"/>
                </a:tc>
                <a:tc>
                  <a:txBody>
                    <a:bodyPr/>
                    <a:lstStyle/>
                    <a:p>
                      <a:r>
                        <a:rPr lang="zh-TW" altLang="en-US" sz="1400" dirty="0">
                          <a:solidFill>
                            <a:schemeClr val="accent6">
                              <a:lumMod val="75000"/>
                            </a:schemeClr>
                          </a:solidFill>
                        </a:rPr>
                        <a:t>預估時程</a:t>
                      </a:r>
                    </a:p>
                  </a:txBody>
                  <a:tcPr anchor="ctr"/>
                </a:tc>
                <a:tc>
                  <a:txBody>
                    <a:bodyPr/>
                    <a:lstStyle/>
                    <a:p>
                      <a:r>
                        <a:rPr lang="zh-TW" altLang="en-US" sz="1400" dirty="0">
                          <a:solidFill>
                            <a:schemeClr val="accent6">
                              <a:lumMod val="75000"/>
                            </a:schemeClr>
                          </a:solidFill>
                        </a:rPr>
                        <a:t>負責單位</a:t>
                      </a:r>
                    </a:p>
                  </a:txBody>
                  <a:tcPr anchor="ctr"/>
                </a:tc>
                <a:extLst>
                  <a:ext uri="{0D108BD9-81ED-4DB2-BD59-A6C34878D82A}">
                    <a16:rowId xmlns:a16="http://schemas.microsoft.com/office/drawing/2014/main" val="1383837955"/>
                  </a:ext>
                </a:extLst>
              </a:tr>
              <a:tr h="354543">
                <a:tc>
                  <a:txBody>
                    <a:bodyPr/>
                    <a:lstStyle/>
                    <a:p>
                      <a:r>
                        <a:rPr lang="en-US" altLang="zh-TW" sz="1400" dirty="0"/>
                        <a:t>1</a:t>
                      </a:r>
                      <a:endParaRPr lang="zh-TW" altLang="en-US" sz="1400" dirty="0"/>
                    </a:p>
                  </a:txBody>
                  <a:tcPr anchor="ctr"/>
                </a:tc>
                <a:tc>
                  <a:txBody>
                    <a:bodyPr/>
                    <a:lstStyle/>
                    <a:p>
                      <a:pPr algn="l"/>
                      <a:r>
                        <a:rPr lang="zh-TW" altLang="en-US" sz="1400" dirty="0"/>
                        <a:t>需求討論</a:t>
                      </a:r>
                    </a:p>
                  </a:txBody>
                  <a:tcPr anchor="ctr"/>
                </a:tc>
                <a:tc>
                  <a:txBody>
                    <a:bodyPr/>
                    <a:lstStyle/>
                    <a:p>
                      <a:r>
                        <a:rPr lang="en-US" altLang="zh-TW" sz="1400" dirty="0"/>
                        <a:t>2024/12</a:t>
                      </a:r>
                      <a:endParaRPr lang="zh-TW" altLang="en-US" sz="1400" dirty="0"/>
                    </a:p>
                  </a:txBody>
                  <a:tcPr anchor="ctr"/>
                </a:tc>
                <a:tc>
                  <a:txBody>
                    <a:bodyPr/>
                    <a:lstStyle/>
                    <a:p>
                      <a:pPr algn="l"/>
                      <a:r>
                        <a:rPr lang="zh-TW" altLang="en-US" sz="1400" dirty="0"/>
                        <a:t>金控數科、投顧</a:t>
                      </a:r>
                    </a:p>
                  </a:txBody>
                  <a:tcPr anchor="ctr"/>
                </a:tc>
                <a:extLst>
                  <a:ext uri="{0D108BD9-81ED-4DB2-BD59-A6C34878D82A}">
                    <a16:rowId xmlns:a16="http://schemas.microsoft.com/office/drawing/2014/main" val="3075021702"/>
                  </a:ext>
                </a:extLst>
              </a:tr>
              <a:tr h="354543">
                <a:tc>
                  <a:txBody>
                    <a:bodyPr/>
                    <a:lstStyle/>
                    <a:p>
                      <a:r>
                        <a:rPr lang="en-US" altLang="zh-TW" sz="1400" dirty="0"/>
                        <a:t>2</a:t>
                      </a:r>
                      <a:endParaRPr lang="zh-TW" altLang="en-US" sz="1400" dirty="0"/>
                    </a:p>
                  </a:txBody>
                  <a:tcPr anchor="ctr"/>
                </a:tc>
                <a:tc>
                  <a:txBody>
                    <a:bodyPr/>
                    <a:lstStyle/>
                    <a:p>
                      <a:pPr algn="l"/>
                      <a:r>
                        <a:rPr lang="zh-TW" altLang="en-US" sz="1400" dirty="0"/>
                        <a:t>測試環境</a:t>
                      </a:r>
                    </a:p>
                  </a:txBody>
                  <a:tcPr anchor="ctr"/>
                </a:tc>
                <a:tc>
                  <a:txBody>
                    <a:bodyPr/>
                    <a:lstStyle/>
                    <a:p>
                      <a:endParaRPr lang="zh-TW" altLang="en-US" sz="1400" dirty="0"/>
                    </a:p>
                  </a:txBody>
                  <a:tcPr anchor="ctr"/>
                </a:tc>
                <a:tc>
                  <a:txBody>
                    <a:bodyPr/>
                    <a:lstStyle/>
                    <a:p>
                      <a:pPr marL="0" marR="0" lvl="0" indent="0" algn="l" defTabSz="821531" eaLnBrk="1" fontAlgn="auto" latinLnBrk="0" hangingPunct="1">
                        <a:lnSpc>
                          <a:spcPct val="100000"/>
                        </a:lnSpc>
                        <a:spcBef>
                          <a:spcPts val="0"/>
                        </a:spcBef>
                        <a:spcAft>
                          <a:spcPts val="0"/>
                        </a:spcAft>
                        <a:buClrTx/>
                        <a:buSzTx/>
                        <a:buFontTx/>
                        <a:buNone/>
                        <a:tabLst/>
                        <a:defRPr/>
                      </a:pPr>
                      <a:endParaRPr lang="zh-TW" altLang="en-US" sz="1400" dirty="0"/>
                    </a:p>
                  </a:txBody>
                  <a:tcPr anchor="ctr"/>
                </a:tc>
                <a:extLst>
                  <a:ext uri="{0D108BD9-81ED-4DB2-BD59-A6C34878D82A}">
                    <a16:rowId xmlns:a16="http://schemas.microsoft.com/office/drawing/2014/main" val="480199414"/>
                  </a:ext>
                </a:extLst>
              </a:tr>
              <a:tr h="354543">
                <a:tc>
                  <a:txBody>
                    <a:bodyPr/>
                    <a:lstStyle/>
                    <a:p>
                      <a:r>
                        <a:rPr lang="en-US" altLang="zh-TW" sz="1400" dirty="0"/>
                        <a:t>(1)</a:t>
                      </a:r>
                      <a:endParaRPr lang="zh-TW" altLang="en-US" sz="1400" dirty="0"/>
                    </a:p>
                  </a:txBody>
                  <a:tcPr anchor="ctr"/>
                </a:tc>
                <a:tc>
                  <a:txBody>
                    <a:bodyPr/>
                    <a:lstStyle/>
                    <a:p>
                      <a:pPr algn="l"/>
                      <a:r>
                        <a:rPr lang="zh-TW" altLang="en-US" sz="1400" dirty="0"/>
                        <a:t>主機申請  </a:t>
                      </a:r>
                      <a:r>
                        <a:rPr lang="en-US" altLang="zh-TW" sz="1400" dirty="0"/>
                        <a:t>/</a:t>
                      </a:r>
                      <a:r>
                        <a:rPr lang="zh-TW" altLang="en-US" sz="1400" dirty="0"/>
                        <a:t> 建置</a:t>
                      </a:r>
                    </a:p>
                  </a:txBody>
                  <a:tcPr anchor="ctr"/>
                </a:tc>
                <a:tc>
                  <a:txBody>
                    <a:bodyPr/>
                    <a:lstStyle/>
                    <a:p>
                      <a:r>
                        <a:rPr lang="en-US" altLang="zh-TW" sz="1400" dirty="0"/>
                        <a:t>2025/05</a:t>
                      </a:r>
                      <a:endParaRPr lang="zh-TW" altLang="en-US" sz="1400" dirty="0"/>
                    </a:p>
                  </a:txBody>
                  <a:tcPr anchor="ctr"/>
                </a:tc>
                <a:tc>
                  <a:txBody>
                    <a:bodyPr/>
                    <a:lstStyle/>
                    <a:p>
                      <a:pPr algn="l"/>
                      <a:r>
                        <a:rPr lang="zh-TW" altLang="en-US" sz="1400" dirty="0"/>
                        <a:t>證券資訊</a:t>
                      </a:r>
                    </a:p>
                  </a:txBody>
                  <a:tcPr anchor="ctr"/>
                </a:tc>
                <a:extLst>
                  <a:ext uri="{0D108BD9-81ED-4DB2-BD59-A6C34878D82A}">
                    <a16:rowId xmlns:a16="http://schemas.microsoft.com/office/drawing/2014/main" val="4074292298"/>
                  </a:ext>
                </a:extLst>
              </a:tr>
              <a:tr h="354543">
                <a:tc>
                  <a:txBody>
                    <a:bodyPr/>
                    <a:lstStyle/>
                    <a:p>
                      <a:r>
                        <a:rPr lang="en-US" altLang="zh-TW" sz="1400" dirty="0"/>
                        <a:t>(2)</a:t>
                      </a:r>
                      <a:endParaRPr lang="zh-TW" altLang="en-US" sz="1400" dirty="0"/>
                    </a:p>
                  </a:txBody>
                  <a:tcPr anchor="ctr"/>
                </a:tc>
                <a:tc>
                  <a:txBody>
                    <a:bodyPr/>
                    <a:lstStyle/>
                    <a:p>
                      <a:pPr algn="l"/>
                      <a:r>
                        <a:rPr lang="zh-TW" altLang="en-US" sz="1400" dirty="0"/>
                        <a:t>系統部屬</a:t>
                      </a:r>
                    </a:p>
                  </a:txBody>
                  <a:tcPr anchor="ctr"/>
                </a:tc>
                <a:tc>
                  <a:txBody>
                    <a:bodyPr/>
                    <a:lstStyle/>
                    <a:p>
                      <a:r>
                        <a:rPr lang="en-US" altLang="zh-TW" sz="1400" dirty="0"/>
                        <a:t>2025/05</a:t>
                      </a:r>
                      <a:endParaRPr lang="zh-TW" altLang="en-US" sz="1400" dirty="0"/>
                    </a:p>
                  </a:txBody>
                  <a:tcPr anchor="ctr"/>
                </a:tc>
                <a:tc>
                  <a:txBody>
                    <a:bodyPr/>
                    <a:lstStyle/>
                    <a:p>
                      <a:pPr algn="l"/>
                      <a:r>
                        <a:rPr lang="zh-TW" altLang="en-US" sz="1400" dirty="0"/>
                        <a:t>證券資訊、金控數科</a:t>
                      </a:r>
                    </a:p>
                  </a:txBody>
                  <a:tcPr anchor="ctr"/>
                </a:tc>
                <a:extLst>
                  <a:ext uri="{0D108BD9-81ED-4DB2-BD59-A6C34878D82A}">
                    <a16:rowId xmlns:a16="http://schemas.microsoft.com/office/drawing/2014/main" val="3928593491"/>
                  </a:ext>
                </a:extLst>
              </a:tr>
              <a:tr h="354543">
                <a:tc>
                  <a:txBody>
                    <a:bodyPr/>
                    <a:lstStyle/>
                    <a:p>
                      <a:r>
                        <a:rPr lang="en-US" altLang="zh-TW" sz="1400" dirty="0"/>
                        <a:t>3</a:t>
                      </a:r>
                      <a:endParaRPr lang="zh-TW" altLang="en-US" sz="1400" dirty="0"/>
                    </a:p>
                  </a:txBody>
                  <a:tcPr anchor="ctr"/>
                </a:tc>
                <a:tc>
                  <a:txBody>
                    <a:bodyPr/>
                    <a:lstStyle/>
                    <a:p>
                      <a:pPr algn="l"/>
                      <a:r>
                        <a:rPr lang="zh-TW" altLang="en-US" sz="1400" dirty="0"/>
                        <a:t>系統開發、測試</a:t>
                      </a:r>
                    </a:p>
                  </a:txBody>
                  <a:tcPr anchor="ctr"/>
                </a:tc>
                <a:tc>
                  <a:txBody>
                    <a:bodyPr/>
                    <a:lstStyle/>
                    <a:p>
                      <a:endParaRPr lang="zh-TW" altLang="en-US" sz="1400" dirty="0"/>
                    </a:p>
                  </a:txBody>
                  <a:tcPr anchor="ctr"/>
                </a:tc>
                <a:tc>
                  <a:txBody>
                    <a:bodyPr/>
                    <a:lstStyle/>
                    <a:p>
                      <a:pPr algn="l"/>
                      <a:endParaRPr lang="zh-TW" altLang="en-US" sz="1400" dirty="0"/>
                    </a:p>
                  </a:txBody>
                  <a:tcPr anchor="ctr"/>
                </a:tc>
                <a:extLst>
                  <a:ext uri="{0D108BD9-81ED-4DB2-BD59-A6C34878D82A}">
                    <a16:rowId xmlns:a16="http://schemas.microsoft.com/office/drawing/2014/main" val="2899154391"/>
                  </a:ext>
                </a:extLst>
              </a:tr>
              <a:tr h="354543">
                <a:tc>
                  <a:txBody>
                    <a:bodyPr/>
                    <a:lstStyle/>
                    <a:p>
                      <a:r>
                        <a:rPr lang="en-US" altLang="zh-TW" sz="1400" dirty="0"/>
                        <a:t>(1)</a:t>
                      </a:r>
                      <a:endParaRPr lang="zh-TW" altLang="en-US" sz="1400" dirty="0"/>
                    </a:p>
                  </a:txBody>
                  <a:tcPr anchor="ctr"/>
                </a:tc>
                <a:tc>
                  <a:txBody>
                    <a:bodyPr/>
                    <a:lstStyle/>
                    <a:p>
                      <a:pPr algn="l"/>
                      <a:r>
                        <a:rPr lang="zh-TW" altLang="en-US" sz="1400" dirty="0"/>
                        <a:t>系統開發</a:t>
                      </a:r>
                    </a:p>
                  </a:txBody>
                  <a:tcPr anchor="ctr"/>
                </a:tc>
                <a:tc>
                  <a:txBody>
                    <a:bodyPr/>
                    <a:lstStyle/>
                    <a:p>
                      <a:r>
                        <a:rPr lang="en-US" altLang="zh-TW" sz="1400" dirty="0"/>
                        <a:t>2024/12</a:t>
                      </a:r>
                      <a:r>
                        <a:rPr lang="zh-TW" altLang="en-US" sz="1400" dirty="0"/>
                        <a:t> </a:t>
                      </a:r>
                      <a:r>
                        <a:rPr lang="en-US" altLang="zh-TW" sz="1400" dirty="0"/>
                        <a:t>~</a:t>
                      </a:r>
                      <a:r>
                        <a:rPr lang="zh-TW" altLang="en-US" sz="1400" dirty="0"/>
                        <a:t> </a:t>
                      </a:r>
                      <a:r>
                        <a:rPr lang="en-US" altLang="zh-TW" sz="1400" dirty="0"/>
                        <a:t>2025/05</a:t>
                      </a:r>
                      <a:endParaRPr lang="zh-TW" altLang="en-US" sz="1400" dirty="0"/>
                    </a:p>
                  </a:txBody>
                  <a:tcPr anchor="ctr"/>
                </a:tc>
                <a:tc>
                  <a:txBody>
                    <a:bodyPr/>
                    <a:lstStyle/>
                    <a:p>
                      <a:pPr algn="l"/>
                      <a:r>
                        <a:rPr lang="zh-TW" altLang="en-US" sz="1400" dirty="0"/>
                        <a:t>證券資訊、金控數科</a:t>
                      </a:r>
                    </a:p>
                  </a:txBody>
                  <a:tcPr anchor="ctr"/>
                </a:tc>
                <a:extLst>
                  <a:ext uri="{0D108BD9-81ED-4DB2-BD59-A6C34878D82A}">
                    <a16:rowId xmlns:a16="http://schemas.microsoft.com/office/drawing/2014/main" val="3267620180"/>
                  </a:ext>
                </a:extLst>
              </a:tr>
              <a:tr h="354543">
                <a:tc>
                  <a:txBody>
                    <a:bodyPr/>
                    <a:lstStyle/>
                    <a:p>
                      <a:r>
                        <a:rPr lang="en-US" altLang="zh-TW" sz="1400" dirty="0"/>
                        <a:t>(2)</a:t>
                      </a:r>
                      <a:endParaRPr lang="zh-TW" altLang="en-US" sz="1400" dirty="0"/>
                    </a:p>
                  </a:txBody>
                  <a:tcPr anchor="ctr"/>
                </a:tc>
                <a:tc>
                  <a:txBody>
                    <a:bodyPr/>
                    <a:lstStyle/>
                    <a:p>
                      <a:pPr algn="l"/>
                      <a:r>
                        <a:rPr lang="zh-TW" altLang="en-US" sz="1400" dirty="0"/>
                        <a:t>資料轉入</a:t>
                      </a:r>
                    </a:p>
                  </a:txBody>
                  <a:tcPr anchor="ctr"/>
                </a:tc>
                <a:tc>
                  <a:txBody>
                    <a:bodyPr/>
                    <a:lstStyle/>
                    <a:p>
                      <a:r>
                        <a:rPr lang="en-US" altLang="zh-TW" sz="1400" dirty="0"/>
                        <a:t>2025/05</a:t>
                      </a:r>
                      <a:r>
                        <a:rPr lang="zh-TW" altLang="en-US" sz="1400" dirty="0"/>
                        <a:t> </a:t>
                      </a:r>
                      <a:r>
                        <a:rPr lang="en-US" altLang="zh-TW" sz="1400" dirty="0"/>
                        <a:t>~</a:t>
                      </a:r>
                      <a:r>
                        <a:rPr lang="zh-TW" altLang="en-US" sz="1400" dirty="0"/>
                        <a:t> </a:t>
                      </a:r>
                      <a:r>
                        <a:rPr lang="en-US" altLang="zh-TW" sz="1400" dirty="0"/>
                        <a:t>2025/07</a:t>
                      </a:r>
                      <a:endParaRPr lang="zh-TW" altLang="en-US" sz="1400" dirty="0"/>
                    </a:p>
                  </a:txBody>
                  <a:tcPr anchor="ctr"/>
                </a:tc>
                <a:tc>
                  <a:txBody>
                    <a:bodyPr/>
                    <a:lstStyle/>
                    <a:p>
                      <a:pPr marL="0" marR="0" lvl="0" indent="0" algn="l" defTabSz="821531" eaLnBrk="1" fontAlgn="auto" latinLnBrk="0" hangingPunct="1">
                        <a:lnSpc>
                          <a:spcPct val="100000"/>
                        </a:lnSpc>
                        <a:spcBef>
                          <a:spcPts val="0"/>
                        </a:spcBef>
                        <a:spcAft>
                          <a:spcPts val="0"/>
                        </a:spcAft>
                        <a:buClrTx/>
                        <a:buSzTx/>
                        <a:buFontTx/>
                        <a:buNone/>
                        <a:tabLst/>
                        <a:defRPr/>
                      </a:pPr>
                      <a:r>
                        <a:rPr lang="zh-TW" altLang="en-US" sz="1400" dirty="0"/>
                        <a:t>證券資訊</a:t>
                      </a:r>
                    </a:p>
                  </a:txBody>
                  <a:tcPr anchor="ctr"/>
                </a:tc>
                <a:extLst>
                  <a:ext uri="{0D108BD9-81ED-4DB2-BD59-A6C34878D82A}">
                    <a16:rowId xmlns:a16="http://schemas.microsoft.com/office/drawing/2014/main" val="579775427"/>
                  </a:ext>
                </a:extLst>
              </a:tr>
              <a:tr h="354543">
                <a:tc>
                  <a:txBody>
                    <a:bodyPr/>
                    <a:lstStyle/>
                    <a:p>
                      <a:r>
                        <a:rPr lang="en-US" altLang="zh-TW" sz="1400" dirty="0"/>
                        <a:t>4</a:t>
                      </a:r>
                      <a:endParaRPr lang="zh-TW" altLang="en-US" sz="1400" dirty="0"/>
                    </a:p>
                  </a:txBody>
                  <a:tcPr anchor="ctr"/>
                </a:tc>
                <a:tc>
                  <a:txBody>
                    <a:bodyPr/>
                    <a:lstStyle/>
                    <a:p>
                      <a:pPr algn="l"/>
                      <a:r>
                        <a:rPr lang="zh-TW" altLang="en-US" sz="1400" dirty="0"/>
                        <a:t>系統測試</a:t>
                      </a:r>
                    </a:p>
                  </a:txBody>
                  <a:tcPr anchor="ctr"/>
                </a:tc>
                <a:tc>
                  <a:txBody>
                    <a:bodyPr/>
                    <a:lstStyle/>
                    <a:p>
                      <a:r>
                        <a:rPr lang="en-US" altLang="zh-TW" sz="1400" dirty="0"/>
                        <a:t>2025/05 ~ 2025/06</a:t>
                      </a:r>
                      <a:endParaRPr lang="zh-TW" altLang="en-US" sz="1400" dirty="0"/>
                    </a:p>
                  </a:txBody>
                  <a:tcPr anchor="ctr"/>
                </a:tc>
                <a:tc>
                  <a:txBody>
                    <a:bodyPr/>
                    <a:lstStyle/>
                    <a:p>
                      <a:pPr algn="l"/>
                      <a:r>
                        <a:rPr lang="zh-TW" altLang="en-US" sz="1400" dirty="0"/>
                        <a:t>證券資訊、金控數科</a:t>
                      </a:r>
                    </a:p>
                  </a:txBody>
                  <a:tcPr anchor="ctr"/>
                </a:tc>
                <a:extLst>
                  <a:ext uri="{0D108BD9-81ED-4DB2-BD59-A6C34878D82A}">
                    <a16:rowId xmlns:a16="http://schemas.microsoft.com/office/drawing/2014/main" val="501588259"/>
                  </a:ext>
                </a:extLst>
              </a:tr>
              <a:tr h="354543">
                <a:tc>
                  <a:txBody>
                    <a:bodyPr/>
                    <a:lstStyle/>
                    <a:p>
                      <a:r>
                        <a:rPr lang="en-US" altLang="zh-TW" sz="1400" dirty="0"/>
                        <a:t>5</a:t>
                      </a:r>
                      <a:endParaRPr lang="zh-TW" altLang="en-US" sz="1400" dirty="0"/>
                    </a:p>
                  </a:txBody>
                  <a:tcPr anchor="ctr"/>
                </a:tc>
                <a:tc>
                  <a:txBody>
                    <a:bodyPr/>
                    <a:lstStyle/>
                    <a:p>
                      <a:pPr algn="l"/>
                      <a:r>
                        <a:rPr lang="zh-TW" altLang="en-US" sz="1400" dirty="0"/>
                        <a:t>整合測試</a:t>
                      </a:r>
                    </a:p>
                  </a:txBody>
                  <a:tcPr anchor="ctr"/>
                </a:tc>
                <a:tc>
                  <a:txBody>
                    <a:bodyPr/>
                    <a:lstStyle/>
                    <a:p>
                      <a:r>
                        <a:rPr lang="en-US" altLang="zh-TW" sz="1400" dirty="0"/>
                        <a:t>2025/06 ~ 2025/08</a:t>
                      </a:r>
                      <a:endParaRPr lang="zh-TW" altLang="en-US" sz="1400" dirty="0"/>
                    </a:p>
                  </a:txBody>
                  <a:tcPr anchor="ctr"/>
                </a:tc>
                <a:tc>
                  <a:txBody>
                    <a:bodyPr/>
                    <a:lstStyle/>
                    <a:p>
                      <a:pPr algn="l"/>
                      <a:r>
                        <a:rPr lang="zh-TW" altLang="en-US" sz="1400" dirty="0"/>
                        <a:t>證券資訊、金控數科、投顧</a:t>
                      </a:r>
                    </a:p>
                  </a:txBody>
                  <a:tcPr anchor="ctr"/>
                </a:tc>
                <a:extLst>
                  <a:ext uri="{0D108BD9-81ED-4DB2-BD59-A6C34878D82A}">
                    <a16:rowId xmlns:a16="http://schemas.microsoft.com/office/drawing/2014/main" val="3862509985"/>
                  </a:ext>
                </a:extLst>
              </a:tr>
              <a:tr h="354543">
                <a:tc>
                  <a:txBody>
                    <a:bodyPr/>
                    <a:lstStyle/>
                    <a:p>
                      <a:r>
                        <a:rPr lang="en-US" altLang="zh-TW" sz="1400" dirty="0"/>
                        <a:t>6</a:t>
                      </a:r>
                      <a:endParaRPr lang="zh-TW" altLang="en-US" sz="1400" dirty="0"/>
                    </a:p>
                  </a:txBody>
                  <a:tcPr anchor="ctr"/>
                </a:tc>
                <a:tc>
                  <a:txBody>
                    <a:bodyPr/>
                    <a:lstStyle/>
                    <a:p>
                      <a:pPr algn="l"/>
                      <a:r>
                        <a:rPr lang="zh-TW" altLang="en-US" sz="1400" dirty="0"/>
                        <a:t>正式環境</a:t>
                      </a:r>
                    </a:p>
                  </a:txBody>
                  <a:tcPr anchor="ctr"/>
                </a:tc>
                <a:tc>
                  <a:txBody>
                    <a:bodyPr/>
                    <a:lstStyle/>
                    <a:p>
                      <a:endParaRPr lang="zh-TW" altLang="en-US" sz="1400" dirty="0"/>
                    </a:p>
                  </a:txBody>
                  <a:tcPr anchor="ctr"/>
                </a:tc>
                <a:tc>
                  <a:txBody>
                    <a:bodyPr/>
                    <a:lstStyle/>
                    <a:p>
                      <a:pPr marL="0" marR="0" lvl="0" indent="0" algn="l" defTabSz="821531" eaLnBrk="1" fontAlgn="auto" latinLnBrk="0" hangingPunct="1">
                        <a:lnSpc>
                          <a:spcPct val="100000"/>
                        </a:lnSpc>
                        <a:spcBef>
                          <a:spcPts val="0"/>
                        </a:spcBef>
                        <a:spcAft>
                          <a:spcPts val="0"/>
                        </a:spcAft>
                        <a:buClrTx/>
                        <a:buSzTx/>
                        <a:buFontTx/>
                        <a:buNone/>
                        <a:tabLst/>
                        <a:defRPr/>
                      </a:pPr>
                      <a:endParaRPr kumimoji="0" lang="zh-TW" altLang="en-US" sz="1400" b="0" i="0" u="none" strike="noStrike" kern="0" cap="none" spc="0" normalizeH="0" baseline="0" noProof="0" dirty="0">
                        <a:ln>
                          <a:noFill/>
                        </a:ln>
                        <a:solidFill>
                          <a:srgbClr val="414141"/>
                        </a:solidFill>
                        <a:effectLst/>
                        <a:uLnTx/>
                        <a:uFillTx/>
                        <a:latin typeface="PingFang TC Semibold"/>
                        <a:sym typeface="Palatino"/>
                      </a:endParaRPr>
                    </a:p>
                  </a:txBody>
                  <a:tcPr anchor="ctr"/>
                </a:tc>
                <a:extLst>
                  <a:ext uri="{0D108BD9-81ED-4DB2-BD59-A6C34878D82A}">
                    <a16:rowId xmlns:a16="http://schemas.microsoft.com/office/drawing/2014/main" val="3529092001"/>
                  </a:ext>
                </a:extLst>
              </a:tr>
              <a:tr h="354543">
                <a:tc>
                  <a:txBody>
                    <a:bodyPr/>
                    <a:lstStyle/>
                    <a:p>
                      <a:r>
                        <a:rPr lang="en-US" altLang="zh-TW" sz="1400" dirty="0"/>
                        <a:t>(1)</a:t>
                      </a:r>
                      <a:endParaRPr lang="zh-TW" altLang="en-US" sz="1400" dirty="0"/>
                    </a:p>
                  </a:txBody>
                  <a:tcPr anchor="ctr"/>
                </a:tc>
                <a:tc>
                  <a:txBody>
                    <a:bodyPr/>
                    <a:lstStyle/>
                    <a:p>
                      <a:pPr algn="l"/>
                      <a:r>
                        <a:rPr lang="zh-TW" altLang="en-US" sz="1400" dirty="0"/>
                        <a:t>主機建置 </a:t>
                      </a:r>
                      <a:r>
                        <a:rPr lang="en-US" altLang="zh-TW" sz="1400" dirty="0"/>
                        <a:t>/</a:t>
                      </a:r>
                      <a:r>
                        <a:rPr lang="zh-TW" altLang="en-US" sz="1400" dirty="0"/>
                        <a:t> 系統部屬</a:t>
                      </a:r>
                    </a:p>
                  </a:txBody>
                  <a:tcPr anchor="ctr"/>
                </a:tc>
                <a:tc>
                  <a:txBody>
                    <a:bodyPr/>
                    <a:lstStyle/>
                    <a:p>
                      <a:r>
                        <a:rPr lang="en-US" altLang="zh-TW" sz="1400" dirty="0"/>
                        <a:t>2025/06 ~ 2025/08</a:t>
                      </a:r>
                      <a:endParaRPr lang="zh-TW" altLang="en-US" sz="1400" dirty="0"/>
                    </a:p>
                  </a:txBody>
                  <a:tcPr anchor="ctr"/>
                </a:tc>
                <a:tc>
                  <a:txBody>
                    <a:bodyPr/>
                    <a:lstStyle/>
                    <a:p>
                      <a:pPr marL="0" marR="0" lvl="0" indent="0" algn="l" defTabSz="821531" eaLnBrk="1" fontAlgn="auto" latinLnBrk="0" hangingPunct="1">
                        <a:lnSpc>
                          <a:spcPct val="100000"/>
                        </a:lnSpc>
                        <a:spcBef>
                          <a:spcPts val="0"/>
                        </a:spcBef>
                        <a:spcAft>
                          <a:spcPts val="0"/>
                        </a:spcAft>
                        <a:buClrTx/>
                        <a:buSzTx/>
                        <a:buFontTx/>
                        <a:buNone/>
                        <a:tabLst/>
                        <a:defRPr/>
                      </a:pPr>
                      <a:r>
                        <a:rPr lang="zh-TW" altLang="en-US" sz="1400" dirty="0"/>
                        <a:t>證券資訊</a:t>
                      </a:r>
                      <a:endParaRPr kumimoji="0" lang="zh-TW" altLang="en-US" sz="1400" b="0" i="0" u="none" strike="noStrike" kern="0" cap="none" spc="0" normalizeH="0" baseline="0" noProof="0" dirty="0">
                        <a:ln>
                          <a:noFill/>
                        </a:ln>
                        <a:solidFill>
                          <a:srgbClr val="414141"/>
                        </a:solidFill>
                        <a:effectLst/>
                        <a:uLnTx/>
                        <a:uFillTx/>
                        <a:latin typeface="PingFang TC Semibold"/>
                        <a:sym typeface="Palatino"/>
                      </a:endParaRPr>
                    </a:p>
                  </a:txBody>
                  <a:tcPr anchor="ctr"/>
                </a:tc>
                <a:extLst>
                  <a:ext uri="{0D108BD9-81ED-4DB2-BD59-A6C34878D82A}">
                    <a16:rowId xmlns:a16="http://schemas.microsoft.com/office/drawing/2014/main" val="3054512583"/>
                  </a:ext>
                </a:extLst>
              </a:tr>
              <a:tr h="354543">
                <a:tc>
                  <a:txBody>
                    <a:bodyPr/>
                    <a:lstStyle/>
                    <a:p>
                      <a:r>
                        <a:rPr lang="en-US" altLang="zh-TW" sz="1400" dirty="0"/>
                        <a:t>7</a:t>
                      </a:r>
                      <a:endParaRPr lang="zh-TW" altLang="en-US" sz="1400" dirty="0"/>
                    </a:p>
                  </a:txBody>
                  <a:tcPr anchor="ctr"/>
                </a:tc>
                <a:tc>
                  <a:txBody>
                    <a:bodyPr/>
                    <a:lstStyle/>
                    <a:p>
                      <a:pPr marL="0" marR="0" lvl="0" indent="0" algn="l" defTabSz="821531" eaLnBrk="1" fontAlgn="auto" latinLnBrk="0" hangingPunct="1">
                        <a:lnSpc>
                          <a:spcPct val="100000"/>
                        </a:lnSpc>
                        <a:spcBef>
                          <a:spcPts val="0"/>
                        </a:spcBef>
                        <a:spcAft>
                          <a:spcPts val="0"/>
                        </a:spcAft>
                        <a:buClrTx/>
                        <a:buSzTx/>
                        <a:buFontTx/>
                        <a:buNone/>
                        <a:tabLst/>
                        <a:defRPr/>
                      </a:pPr>
                      <a:r>
                        <a:rPr lang="zh-TW" altLang="en-US" sz="1400" dirty="0"/>
                        <a:t>正式上線</a:t>
                      </a:r>
                    </a:p>
                  </a:txBody>
                  <a:tcPr anchor="ctr"/>
                </a:tc>
                <a:tc>
                  <a:txBody>
                    <a:bodyPr/>
                    <a:lstStyle/>
                    <a:p>
                      <a:r>
                        <a:rPr lang="en-US" altLang="zh-TW" sz="1400" dirty="0"/>
                        <a:t>2025/09</a:t>
                      </a:r>
                      <a:endParaRPr lang="zh-TW" altLang="en-US" sz="1400" dirty="0"/>
                    </a:p>
                  </a:txBody>
                  <a:tcPr anchor="ctr"/>
                </a:tc>
                <a:tc>
                  <a:txBody>
                    <a:bodyPr/>
                    <a:lstStyle/>
                    <a:p>
                      <a:pPr algn="l"/>
                      <a:r>
                        <a:rPr lang="zh-TW" altLang="en-US" sz="1400" dirty="0"/>
                        <a:t>證券資訊</a:t>
                      </a:r>
                    </a:p>
                  </a:txBody>
                  <a:tcPr anchor="ctr"/>
                </a:tc>
                <a:extLst>
                  <a:ext uri="{0D108BD9-81ED-4DB2-BD59-A6C34878D82A}">
                    <a16:rowId xmlns:a16="http://schemas.microsoft.com/office/drawing/2014/main" val="590628886"/>
                  </a:ext>
                </a:extLst>
              </a:tr>
              <a:tr h="354543">
                <a:tc>
                  <a:txBody>
                    <a:bodyPr/>
                    <a:lstStyle/>
                    <a:p>
                      <a:r>
                        <a:rPr lang="en-US" altLang="zh-TW" sz="1400" dirty="0"/>
                        <a:t>8</a:t>
                      </a:r>
                      <a:endParaRPr lang="zh-TW" altLang="en-US" sz="1400" dirty="0"/>
                    </a:p>
                  </a:txBody>
                  <a:tcPr anchor="ctr"/>
                </a:tc>
                <a:tc>
                  <a:txBody>
                    <a:bodyPr/>
                    <a:lstStyle/>
                    <a:p>
                      <a:pPr marL="0" marR="0" lvl="0" indent="0" algn="l" defTabSz="821531" eaLnBrk="1" fontAlgn="auto" latinLnBrk="0" hangingPunct="1">
                        <a:lnSpc>
                          <a:spcPct val="100000"/>
                        </a:lnSpc>
                        <a:spcBef>
                          <a:spcPts val="0"/>
                        </a:spcBef>
                        <a:spcAft>
                          <a:spcPts val="0"/>
                        </a:spcAft>
                        <a:buClrTx/>
                        <a:buSzTx/>
                        <a:buFontTx/>
                        <a:buNone/>
                        <a:tabLst/>
                        <a:defRPr/>
                      </a:pPr>
                      <a:r>
                        <a:rPr lang="zh-TW" altLang="en-US" sz="1400" dirty="0"/>
                        <a:t>科技年會</a:t>
                      </a:r>
                    </a:p>
                  </a:txBody>
                  <a:tcPr anchor="ctr"/>
                </a:tc>
                <a:tc>
                  <a:txBody>
                    <a:bodyPr/>
                    <a:lstStyle/>
                    <a:p>
                      <a:r>
                        <a:rPr lang="en-US" altLang="zh-TW" sz="1400" dirty="0"/>
                        <a:t>2025/11</a:t>
                      </a:r>
                      <a:endParaRPr lang="zh-TW" altLang="en-US" sz="1400" dirty="0"/>
                    </a:p>
                  </a:txBody>
                  <a:tcPr anchor="ctr"/>
                </a:tc>
                <a:tc>
                  <a:txBody>
                    <a:bodyPr/>
                    <a:lstStyle/>
                    <a:p>
                      <a:pPr algn="l"/>
                      <a:endParaRPr lang="zh-TW" altLang="en-US" sz="1400" dirty="0"/>
                    </a:p>
                  </a:txBody>
                  <a:tcPr anchor="ctr"/>
                </a:tc>
                <a:extLst>
                  <a:ext uri="{0D108BD9-81ED-4DB2-BD59-A6C34878D82A}">
                    <a16:rowId xmlns:a16="http://schemas.microsoft.com/office/drawing/2014/main" val="2756787123"/>
                  </a:ext>
                </a:extLst>
              </a:tr>
            </a:tbl>
          </a:graphicData>
        </a:graphic>
      </p:graphicFrame>
    </p:spTree>
    <p:extLst>
      <p:ext uri="{BB962C8B-B14F-4D97-AF65-F5344CB8AC3E}">
        <p14:creationId xmlns:p14="http://schemas.microsoft.com/office/powerpoint/2010/main" val="3122274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99D55-EB33-0A39-3B8D-69AAE19190F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5822736F-675A-A896-6A79-D900E15E57DB}"/>
              </a:ext>
            </a:extLst>
          </p:cNvPr>
          <p:cNvSpPr>
            <a:spLocks noGrp="1"/>
          </p:cNvSpPr>
          <p:nvPr>
            <p:ph type="title"/>
          </p:nvPr>
        </p:nvSpPr>
        <p:spPr>
          <a:xfrm>
            <a:off x="527051" y="149737"/>
            <a:ext cx="11233150" cy="630238"/>
          </a:xfrm>
          <a:prstGeom prst="rect">
            <a:avLst/>
          </a:prstGeom>
        </p:spPr>
        <p:txBody>
          <a:bodyPr/>
          <a:lstStyle/>
          <a:p>
            <a:r>
              <a:rPr lang="zh-TW" altLang="en-US" sz="3200" b="0" dirty="0">
                <a:solidFill>
                  <a:schemeClr val="tx1"/>
                </a:solidFill>
              </a:rPr>
              <a:t>專案時程</a:t>
            </a:r>
            <a:r>
              <a:rPr lang="en-US" altLang="zh-TW" sz="3200" b="0" dirty="0">
                <a:solidFill>
                  <a:schemeClr val="tx1"/>
                </a:solidFill>
              </a:rPr>
              <a:t>(</a:t>
            </a:r>
            <a:r>
              <a:rPr lang="zh-TW" altLang="en-US" sz="3200" b="0" dirty="0">
                <a:solidFill>
                  <a:schemeClr val="tx1"/>
                </a:solidFill>
              </a:rPr>
              <a:t>資訊</a:t>
            </a:r>
            <a:r>
              <a:rPr lang="en-US" altLang="zh-TW" sz="3200" b="0" dirty="0">
                <a:solidFill>
                  <a:schemeClr val="tx1"/>
                </a:solidFill>
              </a:rPr>
              <a:t>)</a:t>
            </a:r>
            <a:endParaRPr lang="zh-TW" altLang="en-US" sz="3200" b="0" dirty="0">
              <a:solidFill>
                <a:schemeClr val="tx1"/>
              </a:solidFill>
            </a:endParaRPr>
          </a:p>
        </p:txBody>
      </p:sp>
      <p:graphicFrame>
        <p:nvGraphicFramePr>
          <p:cNvPr id="4" name="表格 3">
            <a:extLst>
              <a:ext uri="{FF2B5EF4-FFF2-40B4-BE49-F238E27FC236}">
                <a16:creationId xmlns:a16="http://schemas.microsoft.com/office/drawing/2014/main" id="{E90E19DF-D871-F9DF-07AE-FFF2A17756C1}"/>
              </a:ext>
            </a:extLst>
          </p:cNvPr>
          <p:cNvGraphicFramePr>
            <a:graphicFrameLocks noGrp="1"/>
          </p:cNvGraphicFramePr>
          <p:nvPr>
            <p:extLst>
              <p:ext uri="{D42A27DB-BD31-4B8C-83A1-F6EECF244321}">
                <p14:modId xmlns:p14="http://schemas.microsoft.com/office/powerpoint/2010/main" val="2805939176"/>
              </p:ext>
            </p:extLst>
          </p:nvPr>
        </p:nvGraphicFramePr>
        <p:xfrm>
          <a:off x="527052" y="1015434"/>
          <a:ext cx="11233149" cy="4963602"/>
        </p:xfrm>
        <a:graphic>
          <a:graphicData uri="http://schemas.openxmlformats.org/drawingml/2006/table">
            <a:tbl>
              <a:tblPr firstRow="1" bandRow="1">
                <a:tableStyleId>{16D9F66E-5EB9-4882-86FB-DCBF35E3C3E4}</a:tableStyleId>
              </a:tblPr>
              <a:tblGrid>
                <a:gridCol w="1038366">
                  <a:extLst>
                    <a:ext uri="{9D8B030D-6E8A-4147-A177-3AD203B41FA5}">
                      <a16:colId xmlns:a16="http://schemas.microsoft.com/office/drawing/2014/main" val="552525123"/>
                    </a:ext>
                  </a:extLst>
                </a:gridCol>
                <a:gridCol w="3195269">
                  <a:extLst>
                    <a:ext uri="{9D8B030D-6E8A-4147-A177-3AD203B41FA5}">
                      <a16:colId xmlns:a16="http://schemas.microsoft.com/office/drawing/2014/main" val="3770828447"/>
                    </a:ext>
                  </a:extLst>
                </a:gridCol>
                <a:gridCol w="3835333">
                  <a:extLst>
                    <a:ext uri="{9D8B030D-6E8A-4147-A177-3AD203B41FA5}">
                      <a16:colId xmlns:a16="http://schemas.microsoft.com/office/drawing/2014/main" val="3265394523"/>
                    </a:ext>
                  </a:extLst>
                </a:gridCol>
                <a:gridCol w="3164181">
                  <a:extLst>
                    <a:ext uri="{9D8B030D-6E8A-4147-A177-3AD203B41FA5}">
                      <a16:colId xmlns:a16="http://schemas.microsoft.com/office/drawing/2014/main" val="4276625924"/>
                    </a:ext>
                  </a:extLst>
                </a:gridCol>
              </a:tblGrid>
              <a:tr h="354543">
                <a:tc>
                  <a:txBody>
                    <a:bodyPr/>
                    <a:lstStyle/>
                    <a:p>
                      <a:r>
                        <a:rPr lang="zh-TW" altLang="en-US" sz="1400" dirty="0">
                          <a:solidFill>
                            <a:schemeClr val="accent6">
                              <a:lumMod val="75000"/>
                            </a:schemeClr>
                          </a:solidFill>
                        </a:rPr>
                        <a:t>項次</a:t>
                      </a:r>
                    </a:p>
                  </a:txBody>
                  <a:tcPr anchor="ctr"/>
                </a:tc>
                <a:tc>
                  <a:txBody>
                    <a:bodyPr/>
                    <a:lstStyle/>
                    <a:p>
                      <a:r>
                        <a:rPr lang="zh-TW" altLang="en-US" sz="1400" dirty="0">
                          <a:solidFill>
                            <a:schemeClr val="accent6">
                              <a:lumMod val="75000"/>
                            </a:schemeClr>
                          </a:solidFill>
                        </a:rPr>
                        <a:t>工作項目</a:t>
                      </a:r>
                    </a:p>
                  </a:txBody>
                  <a:tcPr anchor="ctr"/>
                </a:tc>
                <a:tc>
                  <a:txBody>
                    <a:bodyPr/>
                    <a:lstStyle/>
                    <a:p>
                      <a:r>
                        <a:rPr lang="zh-TW" altLang="en-US" sz="1400" dirty="0">
                          <a:solidFill>
                            <a:schemeClr val="accent6">
                              <a:lumMod val="75000"/>
                            </a:schemeClr>
                          </a:solidFill>
                        </a:rPr>
                        <a:t>預估時程</a:t>
                      </a:r>
                    </a:p>
                  </a:txBody>
                  <a:tcPr anchor="ctr"/>
                </a:tc>
                <a:tc>
                  <a:txBody>
                    <a:bodyPr/>
                    <a:lstStyle/>
                    <a:p>
                      <a:r>
                        <a:rPr lang="zh-TW" altLang="en-US" sz="1400" dirty="0">
                          <a:solidFill>
                            <a:schemeClr val="accent6">
                              <a:lumMod val="75000"/>
                            </a:schemeClr>
                          </a:solidFill>
                        </a:rPr>
                        <a:t>負責單位</a:t>
                      </a:r>
                    </a:p>
                  </a:txBody>
                  <a:tcPr anchor="ctr"/>
                </a:tc>
                <a:extLst>
                  <a:ext uri="{0D108BD9-81ED-4DB2-BD59-A6C34878D82A}">
                    <a16:rowId xmlns:a16="http://schemas.microsoft.com/office/drawing/2014/main" val="1383837955"/>
                  </a:ext>
                </a:extLst>
              </a:tr>
              <a:tr h="354543">
                <a:tc>
                  <a:txBody>
                    <a:bodyPr/>
                    <a:lstStyle/>
                    <a:p>
                      <a:r>
                        <a:rPr lang="en-US" altLang="zh-TW" sz="1400" dirty="0"/>
                        <a:t>1</a:t>
                      </a:r>
                      <a:endParaRPr lang="zh-TW" altLang="en-US" sz="1400" dirty="0"/>
                    </a:p>
                  </a:txBody>
                  <a:tcPr anchor="ctr"/>
                </a:tc>
                <a:tc>
                  <a:txBody>
                    <a:bodyPr/>
                    <a:lstStyle/>
                    <a:p>
                      <a:pPr algn="l"/>
                      <a:r>
                        <a:rPr lang="zh-TW" altLang="en-US" sz="1400" dirty="0"/>
                        <a:t>需求分析</a:t>
                      </a:r>
                    </a:p>
                  </a:txBody>
                  <a:tcPr anchor="ctr"/>
                </a:tc>
                <a:tc>
                  <a:txBody>
                    <a:bodyPr/>
                    <a:lstStyle/>
                    <a:p>
                      <a:r>
                        <a:rPr lang="en-US" altLang="zh-TW" sz="1400" dirty="0"/>
                        <a:t>2025/04/17</a:t>
                      </a:r>
                      <a:r>
                        <a:rPr lang="zh-TW" altLang="en-US" sz="1400" dirty="0"/>
                        <a:t> </a:t>
                      </a:r>
                      <a:r>
                        <a:rPr lang="en-US" altLang="zh-TW" sz="1400" dirty="0"/>
                        <a:t>~</a:t>
                      </a:r>
                      <a:r>
                        <a:rPr lang="zh-TW" altLang="en-US" sz="1400" dirty="0"/>
                        <a:t> </a:t>
                      </a:r>
                      <a:r>
                        <a:rPr lang="en-US" altLang="zh-TW" sz="1400" dirty="0"/>
                        <a:t>2025/04/23</a:t>
                      </a:r>
                      <a:endParaRPr lang="zh-TW" altLang="en-US" sz="1400" dirty="0"/>
                    </a:p>
                  </a:txBody>
                  <a:tcPr anchor="ctr"/>
                </a:tc>
                <a:tc>
                  <a:txBody>
                    <a:bodyPr/>
                    <a:lstStyle/>
                    <a:p>
                      <a:pPr algn="l"/>
                      <a:r>
                        <a:rPr lang="zh-TW" altLang="en-US" sz="1400" dirty="0"/>
                        <a:t>證券資訊、金控數科</a:t>
                      </a:r>
                    </a:p>
                  </a:txBody>
                  <a:tcPr anchor="ctr"/>
                </a:tc>
                <a:extLst>
                  <a:ext uri="{0D108BD9-81ED-4DB2-BD59-A6C34878D82A}">
                    <a16:rowId xmlns:a16="http://schemas.microsoft.com/office/drawing/2014/main" val="3075021702"/>
                  </a:ext>
                </a:extLst>
              </a:tr>
              <a:tr h="354543">
                <a:tc>
                  <a:txBody>
                    <a:bodyPr/>
                    <a:lstStyle/>
                    <a:p>
                      <a:r>
                        <a:rPr lang="en-US" altLang="zh-TW" sz="1400" dirty="0"/>
                        <a:t>2</a:t>
                      </a:r>
                      <a:endParaRPr lang="zh-TW" altLang="en-US" sz="1400" dirty="0"/>
                    </a:p>
                  </a:txBody>
                  <a:tcPr anchor="ctr"/>
                </a:tc>
                <a:tc>
                  <a:txBody>
                    <a:bodyPr/>
                    <a:lstStyle/>
                    <a:p>
                      <a:pPr algn="l"/>
                      <a:r>
                        <a:rPr lang="zh-TW" altLang="en-US" sz="1400" dirty="0"/>
                        <a:t>測試環境</a:t>
                      </a:r>
                    </a:p>
                  </a:txBody>
                  <a:tcPr anchor="ctr"/>
                </a:tc>
                <a:tc>
                  <a:txBody>
                    <a:bodyPr/>
                    <a:lstStyle/>
                    <a:p>
                      <a:endParaRPr lang="zh-TW" altLang="en-US" sz="1400" dirty="0"/>
                    </a:p>
                  </a:txBody>
                  <a:tcPr anchor="ctr"/>
                </a:tc>
                <a:tc>
                  <a:txBody>
                    <a:bodyPr/>
                    <a:lstStyle/>
                    <a:p>
                      <a:pPr marL="0" marR="0" lvl="0" indent="0" algn="l" defTabSz="821531" eaLnBrk="1" fontAlgn="auto" latinLnBrk="0" hangingPunct="1">
                        <a:lnSpc>
                          <a:spcPct val="100000"/>
                        </a:lnSpc>
                        <a:spcBef>
                          <a:spcPts val="0"/>
                        </a:spcBef>
                        <a:spcAft>
                          <a:spcPts val="0"/>
                        </a:spcAft>
                        <a:buClrTx/>
                        <a:buSzTx/>
                        <a:buFontTx/>
                        <a:buNone/>
                        <a:tabLst/>
                        <a:defRPr/>
                      </a:pPr>
                      <a:endParaRPr lang="zh-TW" altLang="en-US" sz="1400" dirty="0"/>
                    </a:p>
                  </a:txBody>
                  <a:tcPr anchor="ctr"/>
                </a:tc>
                <a:extLst>
                  <a:ext uri="{0D108BD9-81ED-4DB2-BD59-A6C34878D82A}">
                    <a16:rowId xmlns:a16="http://schemas.microsoft.com/office/drawing/2014/main" val="480199414"/>
                  </a:ext>
                </a:extLst>
              </a:tr>
              <a:tr h="354543">
                <a:tc>
                  <a:txBody>
                    <a:bodyPr/>
                    <a:lstStyle/>
                    <a:p>
                      <a:r>
                        <a:rPr lang="en-US" altLang="zh-TW" sz="1400" dirty="0"/>
                        <a:t>(1)</a:t>
                      </a:r>
                      <a:endParaRPr lang="zh-TW" altLang="en-US" sz="1400" dirty="0"/>
                    </a:p>
                  </a:txBody>
                  <a:tcPr anchor="ctr"/>
                </a:tc>
                <a:tc>
                  <a:txBody>
                    <a:bodyPr/>
                    <a:lstStyle/>
                    <a:p>
                      <a:pPr algn="l"/>
                      <a:r>
                        <a:rPr lang="zh-TW" altLang="en-US" sz="1400" dirty="0"/>
                        <a:t>主機申請  </a:t>
                      </a:r>
                      <a:r>
                        <a:rPr lang="en-US" altLang="zh-TW" sz="1400" dirty="0"/>
                        <a:t>/</a:t>
                      </a:r>
                      <a:r>
                        <a:rPr lang="zh-TW" altLang="en-US" sz="1400" dirty="0"/>
                        <a:t> 建置</a:t>
                      </a:r>
                    </a:p>
                  </a:txBody>
                  <a:tcPr anchor="ctr"/>
                </a:tc>
                <a:tc>
                  <a:txBody>
                    <a:bodyPr/>
                    <a:lstStyle/>
                    <a:p>
                      <a:r>
                        <a:rPr lang="en-US" altLang="zh-TW" sz="1400" dirty="0"/>
                        <a:t>2025/05/07</a:t>
                      </a:r>
                      <a:r>
                        <a:rPr lang="zh-TW" altLang="en-US" sz="1400" dirty="0"/>
                        <a:t> </a:t>
                      </a:r>
                      <a:r>
                        <a:rPr lang="en-US" altLang="zh-TW" sz="1400" dirty="0"/>
                        <a:t>~</a:t>
                      </a:r>
                      <a:r>
                        <a:rPr lang="zh-TW" altLang="en-US" sz="1400" dirty="0"/>
                        <a:t> </a:t>
                      </a:r>
                      <a:r>
                        <a:rPr lang="en-US" altLang="zh-TW" sz="1400" dirty="0"/>
                        <a:t>2025/05/16</a:t>
                      </a:r>
                      <a:endParaRPr lang="zh-TW" altLang="en-US" sz="1400" dirty="0"/>
                    </a:p>
                  </a:txBody>
                  <a:tcPr anchor="ctr"/>
                </a:tc>
                <a:tc>
                  <a:txBody>
                    <a:bodyPr/>
                    <a:lstStyle/>
                    <a:p>
                      <a:pPr algn="l"/>
                      <a:r>
                        <a:rPr lang="zh-TW" altLang="en-US" sz="1400" dirty="0"/>
                        <a:t>證券資訊、證券營管</a:t>
                      </a:r>
                    </a:p>
                  </a:txBody>
                  <a:tcPr anchor="ctr"/>
                </a:tc>
                <a:extLst>
                  <a:ext uri="{0D108BD9-81ED-4DB2-BD59-A6C34878D82A}">
                    <a16:rowId xmlns:a16="http://schemas.microsoft.com/office/drawing/2014/main" val="4074292298"/>
                  </a:ext>
                </a:extLst>
              </a:tr>
              <a:tr h="354543">
                <a:tc>
                  <a:txBody>
                    <a:bodyPr/>
                    <a:lstStyle/>
                    <a:p>
                      <a:r>
                        <a:rPr lang="en-US" altLang="zh-TW" sz="1400" dirty="0"/>
                        <a:t>(2)</a:t>
                      </a:r>
                      <a:endParaRPr lang="zh-TW" altLang="en-US" sz="1400" dirty="0"/>
                    </a:p>
                  </a:txBody>
                  <a:tcPr anchor="ctr"/>
                </a:tc>
                <a:tc>
                  <a:txBody>
                    <a:bodyPr/>
                    <a:lstStyle/>
                    <a:p>
                      <a:pPr algn="l"/>
                      <a:r>
                        <a:rPr lang="zh-TW" altLang="en-US" sz="1400" dirty="0"/>
                        <a:t>系統部屬</a:t>
                      </a:r>
                    </a:p>
                  </a:txBody>
                  <a:tcPr anchor="ctr"/>
                </a:tc>
                <a:tc>
                  <a:txBody>
                    <a:bodyPr/>
                    <a:lstStyle/>
                    <a:p>
                      <a:r>
                        <a:rPr lang="en-US" altLang="zh-TW" sz="1400" dirty="0"/>
                        <a:t>2025/05/26</a:t>
                      </a:r>
                      <a:endParaRPr lang="zh-TW" altLang="en-US" sz="1400" dirty="0"/>
                    </a:p>
                  </a:txBody>
                  <a:tcPr anchor="ctr"/>
                </a:tc>
                <a:tc>
                  <a:txBody>
                    <a:bodyPr/>
                    <a:lstStyle/>
                    <a:p>
                      <a:pPr algn="l"/>
                      <a:r>
                        <a:rPr lang="zh-TW" altLang="en-US" sz="1400" dirty="0"/>
                        <a:t>證券資訊、金控數科</a:t>
                      </a:r>
                    </a:p>
                  </a:txBody>
                  <a:tcPr anchor="ctr"/>
                </a:tc>
                <a:extLst>
                  <a:ext uri="{0D108BD9-81ED-4DB2-BD59-A6C34878D82A}">
                    <a16:rowId xmlns:a16="http://schemas.microsoft.com/office/drawing/2014/main" val="3928593491"/>
                  </a:ext>
                </a:extLst>
              </a:tr>
              <a:tr h="354543">
                <a:tc>
                  <a:txBody>
                    <a:bodyPr/>
                    <a:lstStyle/>
                    <a:p>
                      <a:r>
                        <a:rPr lang="en-US" altLang="zh-TW" sz="1400" dirty="0"/>
                        <a:t>3</a:t>
                      </a:r>
                      <a:endParaRPr lang="zh-TW" altLang="en-US" sz="1400" dirty="0"/>
                    </a:p>
                  </a:txBody>
                  <a:tcPr anchor="ctr"/>
                </a:tc>
                <a:tc>
                  <a:txBody>
                    <a:bodyPr/>
                    <a:lstStyle/>
                    <a:p>
                      <a:pPr algn="l"/>
                      <a:r>
                        <a:rPr lang="zh-TW" altLang="en-US" sz="1400" dirty="0"/>
                        <a:t>系統開發、測試</a:t>
                      </a:r>
                    </a:p>
                  </a:txBody>
                  <a:tcPr anchor="ctr"/>
                </a:tc>
                <a:tc>
                  <a:txBody>
                    <a:bodyPr/>
                    <a:lstStyle/>
                    <a:p>
                      <a:endParaRPr lang="zh-TW" altLang="en-US" sz="1400" dirty="0"/>
                    </a:p>
                  </a:txBody>
                  <a:tcPr anchor="ctr"/>
                </a:tc>
                <a:tc>
                  <a:txBody>
                    <a:bodyPr/>
                    <a:lstStyle/>
                    <a:p>
                      <a:pPr algn="l"/>
                      <a:endParaRPr lang="zh-TW" altLang="en-US" sz="1400" dirty="0"/>
                    </a:p>
                  </a:txBody>
                  <a:tcPr anchor="ctr"/>
                </a:tc>
                <a:extLst>
                  <a:ext uri="{0D108BD9-81ED-4DB2-BD59-A6C34878D82A}">
                    <a16:rowId xmlns:a16="http://schemas.microsoft.com/office/drawing/2014/main" val="2899154391"/>
                  </a:ext>
                </a:extLst>
              </a:tr>
              <a:tr h="354543">
                <a:tc>
                  <a:txBody>
                    <a:bodyPr/>
                    <a:lstStyle/>
                    <a:p>
                      <a:r>
                        <a:rPr lang="en-US" altLang="zh-TW" sz="1400" dirty="0"/>
                        <a:t>(1)</a:t>
                      </a:r>
                      <a:endParaRPr lang="zh-TW" altLang="en-US" sz="1400" dirty="0"/>
                    </a:p>
                  </a:txBody>
                  <a:tcPr anchor="ctr"/>
                </a:tc>
                <a:tc>
                  <a:txBody>
                    <a:bodyPr/>
                    <a:lstStyle/>
                    <a:p>
                      <a:pPr algn="l"/>
                      <a:r>
                        <a:rPr lang="zh-TW" altLang="en-US" sz="1400" dirty="0"/>
                        <a:t>爬蟲開發</a:t>
                      </a:r>
                    </a:p>
                  </a:txBody>
                  <a:tcPr anchor="ctr"/>
                </a:tc>
                <a:tc>
                  <a:txBody>
                    <a:bodyPr/>
                    <a:lstStyle/>
                    <a:p>
                      <a:r>
                        <a:rPr lang="en-US" altLang="zh-TW" sz="1400" dirty="0"/>
                        <a:t>2025/04/23</a:t>
                      </a:r>
                      <a:r>
                        <a:rPr lang="zh-TW" altLang="en-US" sz="1400" dirty="0"/>
                        <a:t> </a:t>
                      </a:r>
                      <a:r>
                        <a:rPr lang="en-US" altLang="zh-TW" sz="1400" dirty="0"/>
                        <a:t>~</a:t>
                      </a:r>
                      <a:r>
                        <a:rPr lang="zh-TW" altLang="en-US" sz="1400" dirty="0"/>
                        <a:t> </a:t>
                      </a:r>
                      <a:r>
                        <a:rPr lang="en-US" altLang="zh-TW" sz="1400" dirty="0"/>
                        <a:t>2025/05/28</a:t>
                      </a:r>
                      <a:endParaRPr lang="zh-TW" altLang="en-US" sz="1400" dirty="0"/>
                    </a:p>
                  </a:txBody>
                  <a:tcPr anchor="ctr"/>
                </a:tc>
                <a:tc>
                  <a:txBody>
                    <a:bodyPr/>
                    <a:lstStyle/>
                    <a:p>
                      <a:pPr algn="l"/>
                      <a:r>
                        <a:rPr lang="zh-TW" altLang="en-US" sz="1400" dirty="0"/>
                        <a:t>證券資訊</a:t>
                      </a:r>
                    </a:p>
                  </a:txBody>
                  <a:tcPr anchor="ctr"/>
                </a:tc>
                <a:extLst>
                  <a:ext uri="{0D108BD9-81ED-4DB2-BD59-A6C34878D82A}">
                    <a16:rowId xmlns:a16="http://schemas.microsoft.com/office/drawing/2014/main" val="3267620180"/>
                  </a:ext>
                </a:extLst>
              </a:tr>
              <a:tr h="354543">
                <a:tc>
                  <a:txBody>
                    <a:bodyPr/>
                    <a:lstStyle/>
                    <a:p>
                      <a:r>
                        <a:rPr lang="en-US" altLang="zh-TW" sz="1400" dirty="0"/>
                        <a:t>4</a:t>
                      </a:r>
                      <a:endParaRPr lang="zh-TW" altLang="en-US" sz="1400" dirty="0"/>
                    </a:p>
                  </a:txBody>
                  <a:tcPr anchor="ctr"/>
                </a:tc>
                <a:tc>
                  <a:txBody>
                    <a:bodyPr/>
                    <a:lstStyle/>
                    <a:p>
                      <a:pPr algn="l"/>
                      <a:r>
                        <a:rPr lang="zh-TW" altLang="en-US" sz="1400" dirty="0"/>
                        <a:t>資料爬取</a:t>
                      </a:r>
                    </a:p>
                  </a:txBody>
                  <a:tcPr anchor="ctr"/>
                </a:tc>
                <a:tc>
                  <a:txBody>
                    <a:bodyPr/>
                    <a:lstStyle/>
                    <a:p>
                      <a:endParaRPr lang="zh-TW" altLang="en-US" sz="1400" dirty="0"/>
                    </a:p>
                  </a:txBody>
                  <a:tcPr anchor="ctr"/>
                </a:tc>
                <a:tc>
                  <a:txBody>
                    <a:bodyPr/>
                    <a:lstStyle/>
                    <a:p>
                      <a:pPr marL="0" marR="0" lvl="0" indent="0" algn="l" defTabSz="821531" eaLnBrk="1" fontAlgn="auto" latinLnBrk="0" hangingPunct="1">
                        <a:lnSpc>
                          <a:spcPct val="100000"/>
                        </a:lnSpc>
                        <a:spcBef>
                          <a:spcPts val="0"/>
                        </a:spcBef>
                        <a:spcAft>
                          <a:spcPts val="0"/>
                        </a:spcAft>
                        <a:buClrTx/>
                        <a:buSzTx/>
                        <a:buFontTx/>
                        <a:buNone/>
                        <a:tabLst/>
                        <a:defRPr/>
                      </a:pPr>
                      <a:endParaRPr lang="zh-TW" altLang="en-US" sz="1400" dirty="0"/>
                    </a:p>
                  </a:txBody>
                  <a:tcPr anchor="ctr"/>
                </a:tc>
                <a:extLst>
                  <a:ext uri="{0D108BD9-81ED-4DB2-BD59-A6C34878D82A}">
                    <a16:rowId xmlns:a16="http://schemas.microsoft.com/office/drawing/2014/main" val="579775427"/>
                  </a:ext>
                </a:extLst>
              </a:tr>
              <a:tr h="354543">
                <a:tc>
                  <a:txBody>
                    <a:bodyPr/>
                    <a:lstStyle/>
                    <a:p>
                      <a:pPr marL="0" marR="0" lvl="0" indent="0" algn="l" defTabSz="932962" rtl="0" eaLnBrk="1" fontAlgn="auto" latinLnBrk="0" hangingPunct="1">
                        <a:lnSpc>
                          <a:spcPct val="100000"/>
                        </a:lnSpc>
                        <a:spcBef>
                          <a:spcPts val="0"/>
                        </a:spcBef>
                        <a:spcAft>
                          <a:spcPts val="0"/>
                        </a:spcAft>
                        <a:buClrTx/>
                        <a:buSzTx/>
                        <a:buFontTx/>
                        <a:buNone/>
                        <a:tabLst/>
                        <a:defRPr/>
                      </a:pPr>
                      <a:r>
                        <a:rPr lang="en-US" altLang="zh-TW" sz="1400" dirty="0"/>
                        <a:t>(1)</a:t>
                      </a:r>
                      <a:endParaRPr lang="zh-TW" altLang="en-US" sz="1400" dirty="0"/>
                    </a:p>
                  </a:txBody>
                  <a:tcPr anchor="ctr"/>
                </a:tc>
                <a:tc>
                  <a:txBody>
                    <a:bodyPr/>
                    <a:lstStyle/>
                    <a:p>
                      <a:pPr algn="l"/>
                      <a:r>
                        <a:rPr lang="zh-TW" altLang="en-US" sz="1400" dirty="0"/>
                        <a:t>公開觀測資訊站</a:t>
                      </a:r>
                      <a:r>
                        <a:rPr lang="en-US" altLang="zh-TW" sz="1400" dirty="0"/>
                        <a:t>-</a:t>
                      </a:r>
                      <a:r>
                        <a:rPr lang="zh-TW" altLang="en-US" sz="1400" dirty="0"/>
                        <a:t>法說會投影片</a:t>
                      </a:r>
                    </a:p>
                  </a:txBody>
                  <a:tcPr anchor="ctr"/>
                </a:tc>
                <a:tc>
                  <a:txBody>
                    <a:bodyPr/>
                    <a:lstStyle/>
                    <a:p>
                      <a:r>
                        <a:rPr lang="en-US" altLang="zh-TW" sz="1400" dirty="0"/>
                        <a:t>2025/05/09</a:t>
                      </a:r>
                      <a:r>
                        <a:rPr lang="zh-TW" altLang="en-US" sz="1400" dirty="0"/>
                        <a:t> </a:t>
                      </a:r>
                      <a:r>
                        <a:rPr lang="en-US" altLang="zh-TW" sz="1400" dirty="0"/>
                        <a:t>~</a:t>
                      </a:r>
                      <a:r>
                        <a:rPr lang="zh-TW" altLang="en-US" sz="1400" dirty="0"/>
                        <a:t> </a:t>
                      </a:r>
                      <a:r>
                        <a:rPr lang="en-US" altLang="zh-TW" sz="1400" dirty="0"/>
                        <a:t>2025/05/16</a:t>
                      </a:r>
                      <a:endParaRPr lang="zh-TW" altLang="en-US" sz="1400" dirty="0"/>
                    </a:p>
                  </a:txBody>
                  <a:tcPr anchor="ctr"/>
                </a:tc>
                <a:tc>
                  <a:txBody>
                    <a:bodyPr/>
                    <a:lstStyle/>
                    <a:p>
                      <a:pPr marL="0" marR="0" lvl="0" indent="0" algn="l" defTabSz="932962" rtl="0" eaLnBrk="1" fontAlgn="auto" latinLnBrk="0" hangingPunct="1">
                        <a:lnSpc>
                          <a:spcPct val="100000"/>
                        </a:lnSpc>
                        <a:spcBef>
                          <a:spcPts val="0"/>
                        </a:spcBef>
                        <a:spcAft>
                          <a:spcPts val="0"/>
                        </a:spcAft>
                        <a:buClrTx/>
                        <a:buSzTx/>
                        <a:buFontTx/>
                        <a:buNone/>
                        <a:tabLst/>
                        <a:defRPr/>
                      </a:pPr>
                      <a:r>
                        <a:rPr lang="zh-TW" altLang="en-US" sz="1400" dirty="0"/>
                        <a:t>證券資訊</a:t>
                      </a:r>
                    </a:p>
                  </a:txBody>
                  <a:tcPr anchor="ctr"/>
                </a:tc>
                <a:extLst>
                  <a:ext uri="{0D108BD9-81ED-4DB2-BD59-A6C34878D82A}">
                    <a16:rowId xmlns:a16="http://schemas.microsoft.com/office/drawing/2014/main" val="501588259"/>
                  </a:ext>
                </a:extLst>
              </a:tr>
              <a:tr h="354543">
                <a:tc>
                  <a:txBody>
                    <a:bodyPr/>
                    <a:lstStyle/>
                    <a:p>
                      <a:r>
                        <a:rPr lang="en-US" altLang="zh-TW" sz="1400" dirty="0"/>
                        <a:t>(2)</a:t>
                      </a:r>
                      <a:endParaRPr lang="zh-TW" altLang="en-US" sz="1400" dirty="0"/>
                    </a:p>
                  </a:txBody>
                  <a:tcPr anchor="ctr"/>
                </a:tc>
                <a:tc>
                  <a:txBody>
                    <a:bodyPr/>
                    <a:lstStyle/>
                    <a:p>
                      <a:pPr algn="l"/>
                      <a:r>
                        <a:rPr lang="zh-TW" altLang="en-US" sz="1400" dirty="0"/>
                        <a:t>公開觀測資訊站</a:t>
                      </a:r>
                      <a:r>
                        <a:rPr lang="en-US" altLang="zh-TW" sz="1400" dirty="0"/>
                        <a:t>-</a:t>
                      </a:r>
                      <a:r>
                        <a:rPr lang="zh-TW" altLang="en-US" sz="1400" dirty="0"/>
                        <a:t>年報</a:t>
                      </a:r>
                    </a:p>
                  </a:txBody>
                  <a:tcPr anchor="ctr"/>
                </a:tc>
                <a:tc>
                  <a:txBody>
                    <a:bodyPr/>
                    <a:lstStyle/>
                    <a:p>
                      <a:r>
                        <a:rPr lang="en-US" altLang="zh-TW" sz="1400" dirty="0"/>
                        <a:t>2025/05/23 ~</a:t>
                      </a:r>
                      <a:r>
                        <a:rPr lang="zh-TW" altLang="en-US" sz="1400" dirty="0"/>
                        <a:t> </a:t>
                      </a:r>
                      <a:r>
                        <a:rPr lang="en-US" altLang="zh-TW" sz="1400" dirty="0"/>
                        <a:t>2025/07</a:t>
                      </a:r>
                      <a:endParaRPr lang="zh-TW" altLang="en-US" sz="1400" dirty="0"/>
                    </a:p>
                  </a:txBody>
                  <a:tcPr anchor="ctr"/>
                </a:tc>
                <a:tc>
                  <a:txBody>
                    <a:bodyPr/>
                    <a:lstStyle/>
                    <a:p>
                      <a:pPr marL="0" marR="0" lvl="0" indent="0" algn="l" defTabSz="821531" eaLnBrk="1" fontAlgn="auto" latinLnBrk="0" hangingPunct="1">
                        <a:lnSpc>
                          <a:spcPct val="100000"/>
                        </a:lnSpc>
                        <a:spcBef>
                          <a:spcPts val="0"/>
                        </a:spcBef>
                        <a:spcAft>
                          <a:spcPts val="0"/>
                        </a:spcAft>
                        <a:buClrTx/>
                        <a:buSzTx/>
                        <a:buFontTx/>
                        <a:buNone/>
                        <a:tabLst/>
                        <a:defRPr/>
                      </a:pPr>
                      <a:r>
                        <a:rPr lang="zh-TW" altLang="en-US" sz="1400" dirty="0"/>
                        <a:t>證券資訊</a:t>
                      </a:r>
                      <a:endParaRPr kumimoji="0" lang="zh-TW" altLang="en-US" sz="1400" b="0" i="0" u="none" strike="noStrike" kern="0" cap="none" spc="0" normalizeH="0" baseline="0" noProof="0" dirty="0">
                        <a:ln>
                          <a:noFill/>
                        </a:ln>
                        <a:solidFill>
                          <a:srgbClr val="414141"/>
                        </a:solidFill>
                        <a:effectLst/>
                        <a:uLnTx/>
                        <a:uFillTx/>
                        <a:latin typeface="PingFang TC Semibold"/>
                        <a:sym typeface="Palatino"/>
                      </a:endParaRPr>
                    </a:p>
                  </a:txBody>
                  <a:tcPr anchor="ctr"/>
                </a:tc>
                <a:extLst>
                  <a:ext uri="{0D108BD9-81ED-4DB2-BD59-A6C34878D82A}">
                    <a16:rowId xmlns:a16="http://schemas.microsoft.com/office/drawing/2014/main" val="3529092001"/>
                  </a:ext>
                </a:extLst>
              </a:tr>
              <a:tr h="354543">
                <a:tc>
                  <a:txBody>
                    <a:bodyPr/>
                    <a:lstStyle/>
                    <a:p>
                      <a:r>
                        <a:rPr lang="en-US" altLang="zh-TW" sz="1400" dirty="0"/>
                        <a:t>(3)</a:t>
                      </a:r>
                      <a:endParaRPr lang="zh-TW" altLang="en-US" sz="1400" dirty="0"/>
                    </a:p>
                  </a:txBody>
                  <a:tcPr anchor="ctr"/>
                </a:tc>
                <a:tc>
                  <a:txBody>
                    <a:bodyPr/>
                    <a:lstStyle/>
                    <a:p>
                      <a:pPr algn="l"/>
                      <a:r>
                        <a:rPr lang="zh-TW" altLang="en-US" sz="1400" dirty="0"/>
                        <a:t>公開觀測資訊站</a:t>
                      </a:r>
                      <a:r>
                        <a:rPr lang="en-US" altLang="zh-TW" sz="1400" dirty="0"/>
                        <a:t>-</a:t>
                      </a:r>
                      <a:r>
                        <a:rPr lang="zh-TW" altLang="en-US" sz="1400" dirty="0"/>
                        <a:t>季報</a:t>
                      </a:r>
                    </a:p>
                  </a:txBody>
                  <a:tcPr anchor="ctr"/>
                </a:tc>
                <a:tc>
                  <a:txBody>
                    <a:bodyPr/>
                    <a:lstStyle/>
                    <a:p>
                      <a:r>
                        <a:rPr lang="en-US" altLang="zh-TW" sz="1400" dirty="0"/>
                        <a:t>2025/06/03 ~</a:t>
                      </a:r>
                      <a:r>
                        <a:rPr lang="zh-TW" altLang="en-US" sz="1400" dirty="0"/>
                        <a:t> </a:t>
                      </a:r>
                      <a:r>
                        <a:rPr lang="en-US" altLang="zh-TW" sz="1400" dirty="0"/>
                        <a:t>2025/07</a:t>
                      </a:r>
                      <a:endParaRPr lang="zh-TW" altLang="en-US" sz="1400" dirty="0"/>
                    </a:p>
                  </a:txBody>
                  <a:tcPr anchor="ctr"/>
                </a:tc>
                <a:tc>
                  <a:txBody>
                    <a:bodyPr/>
                    <a:lstStyle/>
                    <a:p>
                      <a:pPr marL="0" marR="0" lvl="0" indent="0" algn="l" defTabSz="821531" eaLnBrk="1" fontAlgn="auto" latinLnBrk="0" hangingPunct="1">
                        <a:lnSpc>
                          <a:spcPct val="100000"/>
                        </a:lnSpc>
                        <a:spcBef>
                          <a:spcPts val="0"/>
                        </a:spcBef>
                        <a:spcAft>
                          <a:spcPts val="0"/>
                        </a:spcAft>
                        <a:buClrTx/>
                        <a:buSzTx/>
                        <a:buFontTx/>
                        <a:buNone/>
                        <a:tabLst/>
                        <a:defRPr/>
                      </a:pPr>
                      <a:r>
                        <a:rPr lang="zh-TW" altLang="en-US" sz="1400" dirty="0"/>
                        <a:t>證券資訊</a:t>
                      </a:r>
                      <a:endParaRPr kumimoji="0" lang="zh-TW" altLang="en-US" sz="1400" b="0" i="0" u="none" strike="noStrike" kern="0" cap="none" spc="0" normalizeH="0" baseline="0" noProof="0" dirty="0">
                        <a:ln>
                          <a:noFill/>
                        </a:ln>
                        <a:solidFill>
                          <a:srgbClr val="414141"/>
                        </a:solidFill>
                        <a:effectLst/>
                        <a:uLnTx/>
                        <a:uFillTx/>
                        <a:latin typeface="PingFang TC Semibold"/>
                        <a:sym typeface="Palatino"/>
                      </a:endParaRPr>
                    </a:p>
                  </a:txBody>
                  <a:tcPr anchor="ctr"/>
                </a:tc>
                <a:extLst>
                  <a:ext uri="{0D108BD9-81ED-4DB2-BD59-A6C34878D82A}">
                    <a16:rowId xmlns:a16="http://schemas.microsoft.com/office/drawing/2014/main" val="3054512583"/>
                  </a:ext>
                </a:extLst>
              </a:tr>
              <a:tr h="354543">
                <a:tc>
                  <a:txBody>
                    <a:bodyPr/>
                    <a:lstStyle/>
                    <a:p>
                      <a:r>
                        <a:rPr lang="en-US" altLang="zh-TW" sz="1400" dirty="0"/>
                        <a:t>(4)</a:t>
                      </a:r>
                      <a:endParaRPr lang="zh-TW" altLang="en-US" sz="1400" dirty="0"/>
                    </a:p>
                  </a:txBody>
                  <a:tcPr anchor="ctr"/>
                </a:tc>
                <a:tc>
                  <a:txBody>
                    <a:bodyPr/>
                    <a:lstStyle/>
                    <a:p>
                      <a:pPr marL="0" marR="0" lvl="0" indent="0" algn="l" defTabSz="821531" eaLnBrk="1" fontAlgn="auto" latinLnBrk="0" hangingPunct="1">
                        <a:lnSpc>
                          <a:spcPct val="100000"/>
                        </a:lnSpc>
                        <a:spcBef>
                          <a:spcPts val="0"/>
                        </a:spcBef>
                        <a:spcAft>
                          <a:spcPts val="0"/>
                        </a:spcAft>
                        <a:buClrTx/>
                        <a:buSzTx/>
                        <a:buFontTx/>
                        <a:buNone/>
                        <a:tabLst/>
                        <a:defRPr/>
                      </a:pPr>
                      <a:r>
                        <a:rPr lang="zh-TW" altLang="en-US" sz="1400" dirty="0"/>
                        <a:t>投顧公槽</a:t>
                      </a:r>
                    </a:p>
                  </a:txBody>
                  <a:tcPr anchor="ctr"/>
                </a:tc>
                <a:tc>
                  <a:txBody>
                    <a:bodyPr/>
                    <a:lstStyle/>
                    <a:p>
                      <a:r>
                        <a:rPr lang="en-US" altLang="zh-TW" sz="1400" dirty="0"/>
                        <a:t>2025/06/04</a:t>
                      </a:r>
                      <a:endParaRPr lang="zh-TW" altLang="en-US" sz="1400" dirty="0"/>
                    </a:p>
                  </a:txBody>
                  <a:tcPr anchor="ctr"/>
                </a:tc>
                <a:tc>
                  <a:txBody>
                    <a:bodyPr/>
                    <a:lstStyle/>
                    <a:p>
                      <a:pPr algn="l"/>
                      <a:r>
                        <a:rPr lang="zh-TW" altLang="en-US" sz="1400" dirty="0"/>
                        <a:t>證券資訊</a:t>
                      </a:r>
                    </a:p>
                  </a:txBody>
                  <a:tcPr anchor="ctr"/>
                </a:tc>
                <a:extLst>
                  <a:ext uri="{0D108BD9-81ED-4DB2-BD59-A6C34878D82A}">
                    <a16:rowId xmlns:a16="http://schemas.microsoft.com/office/drawing/2014/main" val="590628886"/>
                  </a:ext>
                </a:extLst>
              </a:tr>
              <a:tr h="354543">
                <a:tc>
                  <a:txBody>
                    <a:bodyPr/>
                    <a:lstStyle/>
                    <a:p>
                      <a:r>
                        <a:rPr lang="en-US" altLang="zh-TW" sz="1400" dirty="0"/>
                        <a:t>(5)</a:t>
                      </a:r>
                      <a:endParaRPr lang="zh-TW" altLang="en-US" sz="1400" dirty="0"/>
                    </a:p>
                  </a:txBody>
                  <a:tcPr anchor="ctr"/>
                </a:tc>
                <a:tc>
                  <a:txBody>
                    <a:bodyPr/>
                    <a:lstStyle/>
                    <a:p>
                      <a:pPr marL="0" marR="0" lvl="0" indent="0" algn="l" defTabSz="821531" eaLnBrk="1" fontAlgn="auto" latinLnBrk="0" hangingPunct="1">
                        <a:lnSpc>
                          <a:spcPct val="100000"/>
                        </a:lnSpc>
                        <a:spcBef>
                          <a:spcPts val="0"/>
                        </a:spcBef>
                        <a:spcAft>
                          <a:spcPts val="0"/>
                        </a:spcAft>
                        <a:buClrTx/>
                        <a:buSzTx/>
                        <a:buFontTx/>
                        <a:buNone/>
                        <a:tabLst/>
                        <a:defRPr/>
                      </a:pPr>
                      <a:r>
                        <a:rPr lang="zh-TW" altLang="en-US" sz="1400" dirty="0"/>
                        <a:t>公開觀測資訊站</a:t>
                      </a:r>
                      <a:r>
                        <a:rPr lang="en-US" altLang="zh-TW" sz="1400" dirty="0"/>
                        <a:t>-</a:t>
                      </a:r>
                      <a:r>
                        <a:rPr lang="zh-TW" altLang="en-US" sz="1400" dirty="0"/>
                        <a:t>法說會影音</a:t>
                      </a:r>
                    </a:p>
                  </a:txBody>
                  <a:tcPr anchor="ctr"/>
                </a:tc>
                <a:tc>
                  <a:txBody>
                    <a:bodyPr/>
                    <a:lstStyle/>
                    <a:p>
                      <a:pPr marL="0" marR="0" lvl="0" indent="0" algn="l" defTabSz="932962" rtl="0" eaLnBrk="1" fontAlgn="auto" latinLnBrk="0" hangingPunct="1">
                        <a:lnSpc>
                          <a:spcPct val="100000"/>
                        </a:lnSpc>
                        <a:spcBef>
                          <a:spcPts val="0"/>
                        </a:spcBef>
                        <a:spcAft>
                          <a:spcPts val="0"/>
                        </a:spcAft>
                        <a:buClrTx/>
                        <a:buSzTx/>
                        <a:buFontTx/>
                        <a:buNone/>
                        <a:tabLst/>
                        <a:defRPr/>
                      </a:pPr>
                      <a:r>
                        <a:rPr lang="en-US" altLang="zh-TW" sz="1400" dirty="0"/>
                        <a:t>2025/06/13 ~</a:t>
                      </a:r>
                      <a:r>
                        <a:rPr lang="zh-TW" altLang="en-US" sz="1400" dirty="0"/>
                        <a:t> </a:t>
                      </a:r>
                      <a:r>
                        <a:rPr lang="en-US" altLang="zh-TW" sz="1400" dirty="0"/>
                        <a:t>2025/07</a:t>
                      </a:r>
                      <a:endParaRPr lang="zh-TW" altLang="en-US" sz="1400" dirty="0"/>
                    </a:p>
                  </a:txBody>
                  <a:tcPr anchor="ctr"/>
                </a:tc>
                <a:tc>
                  <a:txBody>
                    <a:bodyPr/>
                    <a:lstStyle/>
                    <a:p>
                      <a:pPr algn="l"/>
                      <a:r>
                        <a:rPr lang="zh-TW" altLang="en-US" sz="1400" dirty="0"/>
                        <a:t>證券資訊</a:t>
                      </a:r>
                    </a:p>
                  </a:txBody>
                  <a:tcPr anchor="ctr"/>
                </a:tc>
                <a:extLst>
                  <a:ext uri="{0D108BD9-81ED-4DB2-BD59-A6C34878D82A}">
                    <a16:rowId xmlns:a16="http://schemas.microsoft.com/office/drawing/2014/main" val="2756787123"/>
                  </a:ext>
                </a:extLst>
              </a:tr>
              <a:tr h="354543">
                <a:tc>
                  <a:txBody>
                    <a:bodyPr/>
                    <a:lstStyle/>
                    <a:p>
                      <a:r>
                        <a:rPr lang="en-US" altLang="zh-TW" sz="1400" dirty="0"/>
                        <a:t>5</a:t>
                      </a:r>
                      <a:endParaRPr lang="zh-TW" altLang="en-US" sz="1400" dirty="0"/>
                    </a:p>
                  </a:txBody>
                  <a:tcPr anchor="ctr"/>
                </a:tc>
                <a:tc>
                  <a:txBody>
                    <a:bodyPr/>
                    <a:lstStyle/>
                    <a:p>
                      <a:pPr marL="0" marR="0" lvl="0" indent="0" algn="l" defTabSz="821531" eaLnBrk="1" fontAlgn="auto" latinLnBrk="0" hangingPunct="1">
                        <a:lnSpc>
                          <a:spcPct val="100000"/>
                        </a:lnSpc>
                        <a:spcBef>
                          <a:spcPts val="0"/>
                        </a:spcBef>
                        <a:spcAft>
                          <a:spcPts val="0"/>
                        </a:spcAft>
                        <a:buClrTx/>
                        <a:buSzTx/>
                        <a:buFontTx/>
                        <a:buNone/>
                        <a:tabLst/>
                        <a:defRPr/>
                      </a:pPr>
                      <a:r>
                        <a:rPr lang="zh-TW" altLang="en-US" sz="1400" dirty="0"/>
                        <a:t>資料轉入</a:t>
                      </a:r>
                    </a:p>
                  </a:txBody>
                  <a:tcPr anchor="ctr"/>
                </a:tc>
                <a:tc>
                  <a:txBody>
                    <a:bodyPr/>
                    <a:lstStyle/>
                    <a:p>
                      <a:r>
                        <a:rPr lang="en-US" altLang="zh-TW" sz="1400" dirty="0"/>
                        <a:t>2025/05/26 ~</a:t>
                      </a:r>
                      <a:r>
                        <a:rPr lang="zh-TW" altLang="en-US" sz="1400" dirty="0"/>
                        <a:t> </a:t>
                      </a:r>
                      <a:r>
                        <a:rPr lang="en-US" altLang="zh-TW" sz="1400" dirty="0"/>
                        <a:t>2025/07</a:t>
                      </a:r>
                      <a:endParaRPr lang="zh-TW" altLang="en-US" sz="1400" dirty="0"/>
                    </a:p>
                  </a:txBody>
                  <a:tcPr anchor="ctr"/>
                </a:tc>
                <a:tc>
                  <a:txBody>
                    <a:bodyPr/>
                    <a:lstStyle/>
                    <a:p>
                      <a:pPr algn="l"/>
                      <a:endParaRPr lang="zh-TW" altLang="en-US" sz="1400" dirty="0"/>
                    </a:p>
                  </a:txBody>
                  <a:tcPr anchor="ctr"/>
                </a:tc>
                <a:extLst>
                  <a:ext uri="{0D108BD9-81ED-4DB2-BD59-A6C34878D82A}">
                    <a16:rowId xmlns:a16="http://schemas.microsoft.com/office/drawing/2014/main" val="247126050"/>
                  </a:ext>
                </a:extLst>
              </a:tr>
            </a:tbl>
          </a:graphicData>
        </a:graphic>
      </p:graphicFrame>
    </p:spTree>
    <p:extLst>
      <p:ext uri="{BB962C8B-B14F-4D97-AF65-F5344CB8AC3E}">
        <p14:creationId xmlns:p14="http://schemas.microsoft.com/office/powerpoint/2010/main" val="6238090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C998C4A-11F4-4C64-84C2-30F25D1710D7}"/>
              </a:ext>
            </a:extLst>
          </p:cNvPr>
          <p:cNvSpPr>
            <a:spLocks noGrp="1"/>
          </p:cNvSpPr>
          <p:nvPr>
            <p:ph type="title"/>
          </p:nvPr>
        </p:nvSpPr>
        <p:spPr/>
        <p:txBody>
          <a:bodyPr/>
          <a:lstStyle/>
          <a:p>
            <a:r>
              <a:rPr lang="zh-TW" altLang="en-US"/>
              <a:t>資安規範檢核</a:t>
            </a:r>
          </a:p>
        </p:txBody>
      </p:sp>
      <p:graphicFrame>
        <p:nvGraphicFramePr>
          <p:cNvPr id="3" name="表格 2">
            <a:extLst>
              <a:ext uri="{FF2B5EF4-FFF2-40B4-BE49-F238E27FC236}">
                <a16:creationId xmlns:a16="http://schemas.microsoft.com/office/drawing/2014/main" id="{5912A480-47CB-14CE-D6BA-C19C2D60F33D}"/>
              </a:ext>
            </a:extLst>
          </p:cNvPr>
          <p:cNvGraphicFramePr>
            <a:graphicFrameLocks noGrp="1"/>
          </p:cNvGraphicFramePr>
          <p:nvPr>
            <p:extLst>
              <p:ext uri="{D42A27DB-BD31-4B8C-83A1-F6EECF244321}">
                <p14:modId xmlns:p14="http://schemas.microsoft.com/office/powerpoint/2010/main" val="730217813"/>
              </p:ext>
            </p:extLst>
          </p:nvPr>
        </p:nvGraphicFramePr>
        <p:xfrm>
          <a:off x="365895" y="922528"/>
          <a:ext cx="11438178" cy="5762465"/>
        </p:xfrm>
        <a:graphic>
          <a:graphicData uri="http://schemas.openxmlformats.org/drawingml/2006/table">
            <a:tbl>
              <a:tblPr firstRow="1" firstCol="1" bandRow="1">
                <a:tableStyleId>{5C22544A-7EE6-4342-B048-85BDC9FD1C3A}</a:tableStyleId>
              </a:tblPr>
              <a:tblGrid>
                <a:gridCol w="1195050">
                  <a:extLst>
                    <a:ext uri="{9D8B030D-6E8A-4147-A177-3AD203B41FA5}">
                      <a16:colId xmlns:a16="http://schemas.microsoft.com/office/drawing/2014/main" val="3111356800"/>
                    </a:ext>
                  </a:extLst>
                </a:gridCol>
                <a:gridCol w="544946">
                  <a:extLst>
                    <a:ext uri="{9D8B030D-6E8A-4147-A177-3AD203B41FA5}">
                      <a16:colId xmlns:a16="http://schemas.microsoft.com/office/drawing/2014/main" val="951315313"/>
                    </a:ext>
                  </a:extLst>
                </a:gridCol>
                <a:gridCol w="2179782">
                  <a:extLst>
                    <a:ext uri="{9D8B030D-6E8A-4147-A177-3AD203B41FA5}">
                      <a16:colId xmlns:a16="http://schemas.microsoft.com/office/drawing/2014/main" val="2529371364"/>
                    </a:ext>
                  </a:extLst>
                </a:gridCol>
                <a:gridCol w="4535054">
                  <a:extLst>
                    <a:ext uri="{9D8B030D-6E8A-4147-A177-3AD203B41FA5}">
                      <a16:colId xmlns:a16="http://schemas.microsoft.com/office/drawing/2014/main" val="2635849529"/>
                    </a:ext>
                  </a:extLst>
                </a:gridCol>
                <a:gridCol w="1126837">
                  <a:extLst>
                    <a:ext uri="{9D8B030D-6E8A-4147-A177-3AD203B41FA5}">
                      <a16:colId xmlns:a16="http://schemas.microsoft.com/office/drawing/2014/main" val="3756064963"/>
                    </a:ext>
                  </a:extLst>
                </a:gridCol>
                <a:gridCol w="1856509">
                  <a:extLst>
                    <a:ext uri="{9D8B030D-6E8A-4147-A177-3AD203B41FA5}">
                      <a16:colId xmlns:a16="http://schemas.microsoft.com/office/drawing/2014/main" val="3019463552"/>
                    </a:ext>
                  </a:extLst>
                </a:gridCol>
              </a:tblGrid>
              <a:tr h="386110">
                <a:tc>
                  <a:txBody>
                    <a:bodyPr/>
                    <a:lstStyle/>
                    <a:p>
                      <a:pPr algn="ctr"/>
                      <a:r>
                        <a:rPr lang="zh-TW" sz="1200">
                          <a:effectLst/>
                          <a:latin typeface="微軟正黑體" panose="020B0604030504040204" pitchFamily="34" charset="-120"/>
                          <a:ea typeface="微軟正黑體" panose="020B0604030504040204" pitchFamily="34" charset="-120"/>
                        </a:rPr>
                        <a:t>類別</a:t>
                      </a:r>
                    </a:p>
                  </a:txBody>
                  <a:tcPr marL="72000" marR="72000" marT="36000" marB="36000" anchor="ctr">
                    <a:lnL w="12700" cap="flat" cmpd="sng" algn="ctr">
                      <a:solidFill>
                        <a:schemeClr val="tx1">
                          <a:lumMod val="50000"/>
                          <a:lumOff val="50000"/>
                        </a:schemeClr>
                      </a:solidFill>
                      <a:prstDash val="solid"/>
                      <a:round/>
                      <a:headEnd type="none" w="med" len="med"/>
                      <a:tailEnd type="none" w="med" len="med"/>
                    </a:lnL>
                    <a:lnT w="12700" cap="flat" cmpd="sng" algn="ctr">
                      <a:solidFill>
                        <a:schemeClr val="tx1">
                          <a:lumMod val="50000"/>
                          <a:lumOff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376092"/>
                    </a:solidFill>
                  </a:tcPr>
                </a:tc>
                <a:tc>
                  <a:txBody>
                    <a:bodyPr/>
                    <a:lstStyle/>
                    <a:p>
                      <a:pPr algn="ctr"/>
                      <a:r>
                        <a:rPr lang="zh-TW" altLang="en-US" sz="1200">
                          <a:effectLst/>
                          <a:latin typeface="微軟正黑體" panose="020B0604030504040204" pitchFamily="34" charset="-120"/>
                          <a:ea typeface="微軟正黑體" panose="020B0604030504040204" pitchFamily="34" charset="-120"/>
                        </a:rPr>
                        <a:t>項次</a:t>
                      </a:r>
                      <a:endParaRPr lang="zh-TW" sz="1200">
                        <a:effectLst/>
                        <a:latin typeface="微軟正黑體" panose="020B0604030504040204" pitchFamily="34" charset="-120"/>
                        <a:ea typeface="微軟正黑體" panose="020B0604030504040204" pitchFamily="34" charset="-120"/>
                      </a:endParaRPr>
                    </a:p>
                  </a:txBody>
                  <a:tcPr marL="72000" marR="72000" marT="36000" marB="36000" anchor="ctr">
                    <a:lnT w="12700" cap="flat" cmpd="sng" algn="ctr">
                      <a:solidFill>
                        <a:schemeClr val="tx1">
                          <a:lumMod val="50000"/>
                          <a:lumOff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376092"/>
                    </a:solidFill>
                  </a:tcPr>
                </a:tc>
                <a:tc>
                  <a:txBody>
                    <a:bodyPr/>
                    <a:lstStyle/>
                    <a:p>
                      <a:pPr algn="ctr"/>
                      <a:r>
                        <a:rPr lang="zh-TW" sz="1200">
                          <a:effectLst/>
                          <a:latin typeface="微軟正黑體" panose="020B0604030504040204" pitchFamily="34" charset="-120"/>
                          <a:ea typeface="微軟正黑體" panose="020B0604030504040204" pitchFamily="34" charset="-120"/>
                        </a:rPr>
                        <a:t>檢測項目</a:t>
                      </a:r>
                    </a:p>
                  </a:txBody>
                  <a:tcPr marL="72000" marR="72000" marT="36000" marB="36000" anchor="ctr">
                    <a:lnT w="12700" cap="flat" cmpd="sng" algn="ctr">
                      <a:solidFill>
                        <a:schemeClr val="tx1">
                          <a:lumMod val="50000"/>
                          <a:lumOff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376092"/>
                    </a:solidFill>
                  </a:tcPr>
                </a:tc>
                <a:tc>
                  <a:txBody>
                    <a:bodyPr/>
                    <a:lstStyle/>
                    <a:p>
                      <a:pPr algn="ctr"/>
                      <a:r>
                        <a:rPr lang="zh-TW" sz="1200">
                          <a:effectLst/>
                          <a:latin typeface="微軟正黑體" panose="020B0604030504040204" pitchFamily="34" charset="-120"/>
                          <a:ea typeface="微軟正黑體" panose="020B0604030504040204" pitchFamily="34" charset="-120"/>
                        </a:rPr>
                        <a:t>說明</a:t>
                      </a:r>
                    </a:p>
                  </a:txBody>
                  <a:tcPr marL="72000" marR="72000" marT="36000" marB="36000" anchor="ctr">
                    <a:lnT w="12700" cap="flat" cmpd="sng" algn="ctr">
                      <a:solidFill>
                        <a:schemeClr val="tx1">
                          <a:lumMod val="50000"/>
                          <a:lumOff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376092"/>
                    </a:solidFill>
                  </a:tcPr>
                </a:tc>
                <a:tc>
                  <a:txBody>
                    <a:bodyPr/>
                    <a:lstStyle/>
                    <a:p>
                      <a:pPr algn="ctr"/>
                      <a:r>
                        <a:rPr lang="zh-TW" altLang="en-US" sz="1200">
                          <a:effectLst/>
                          <a:latin typeface="微軟正黑體" panose="020B0604030504040204" pitchFamily="34" charset="-120"/>
                          <a:ea typeface="微軟正黑體" panose="020B0604030504040204" pitchFamily="34" charset="-120"/>
                        </a:rPr>
                        <a:t>是否檢測</a:t>
                      </a:r>
                      <a:endParaRPr lang="en-US" altLang="zh-TW" sz="1200">
                        <a:effectLst/>
                        <a:latin typeface="微軟正黑體" panose="020B0604030504040204" pitchFamily="34" charset="-120"/>
                        <a:ea typeface="微軟正黑體" panose="020B0604030504040204" pitchFamily="34" charset="-120"/>
                      </a:endParaRPr>
                    </a:p>
                  </a:txBody>
                  <a:tcPr marL="72000" marR="72000" marT="36000" marB="36000" anchor="ctr">
                    <a:lnT w="12700" cap="flat" cmpd="sng" algn="ctr">
                      <a:solidFill>
                        <a:schemeClr val="tx1">
                          <a:lumMod val="50000"/>
                          <a:lumOff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376092"/>
                    </a:solidFill>
                  </a:tcPr>
                </a:tc>
                <a:tc>
                  <a:txBody>
                    <a:bodyPr/>
                    <a:lstStyle/>
                    <a:p>
                      <a:pPr algn="ctr"/>
                      <a:r>
                        <a:rPr lang="zh-TW" altLang="en-US" sz="1200">
                          <a:effectLst/>
                          <a:latin typeface="微軟正黑體" panose="020B0604030504040204" pitchFamily="34" charset="-120"/>
                          <a:ea typeface="微軟正黑體" panose="020B0604030504040204" pitchFamily="34" charset="-120"/>
                        </a:rPr>
                        <a:t>備註</a:t>
                      </a:r>
                      <a:endParaRPr lang="zh-TW" sz="1200">
                        <a:effectLst/>
                        <a:latin typeface="微軟正黑體" panose="020B0604030504040204" pitchFamily="34" charset="-120"/>
                        <a:ea typeface="微軟正黑體" panose="020B0604030504040204" pitchFamily="34" charset="-120"/>
                      </a:endParaRPr>
                    </a:p>
                  </a:txBody>
                  <a:tcPr marL="72000" marR="72000" marT="36000" marB="36000" anchor="ctr">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376092"/>
                    </a:solidFill>
                  </a:tcPr>
                </a:tc>
                <a:extLst>
                  <a:ext uri="{0D108BD9-81ED-4DB2-BD59-A6C34878D82A}">
                    <a16:rowId xmlns:a16="http://schemas.microsoft.com/office/drawing/2014/main" val="2506003127"/>
                  </a:ext>
                </a:extLst>
              </a:tr>
              <a:tr h="273470">
                <a:tc>
                  <a:txBody>
                    <a:bodyPr/>
                    <a:lstStyle/>
                    <a:p>
                      <a:pPr algn="ctr"/>
                      <a:r>
                        <a:rPr lang="zh-TW" sz="1200" b="0">
                          <a:solidFill>
                            <a:schemeClr val="tx1"/>
                          </a:solidFill>
                          <a:effectLst/>
                          <a:latin typeface="微軟正黑體" panose="020B0604030504040204" pitchFamily="34" charset="-120"/>
                          <a:ea typeface="微軟正黑體" panose="020B0604030504040204" pitchFamily="34" charset="-120"/>
                        </a:rPr>
                        <a:t>主機上線</a:t>
                      </a:r>
                    </a:p>
                  </a:txBody>
                  <a:tcPr marL="72000" marR="72000" marT="36000" marB="36000" anchor="ctr">
                    <a:lnL w="12700" cap="flat" cmpd="sng" algn="ctr">
                      <a:solidFill>
                        <a:schemeClr val="tx1">
                          <a:lumMod val="50000"/>
                          <a:lumOff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altLang="zh-TW" sz="1200" b="0">
                          <a:solidFill>
                            <a:schemeClr val="tx1"/>
                          </a:solidFill>
                          <a:effectLst/>
                          <a:latin typeface="微軟正黑體" panose="020B0604030504040204" pitchFamily="34" charset="-120"/>
                          <a:ea typeface="微軟正黑體" panose="020B0604030504040204" pitchFamily="34" charset="-120"/>
                        </a:rPr>
                        <a:t>1</a:t>
                      </a:r>
                      <a:endParaRPr lang="zh-TW" sz="1200" b="0">
                        <a:solidFill>
                          <a:schemeClr val="tx1"/>
                        </a:solidFill>
                        <a:effectLst/>
                        <a:latin typeface="微軟正黑體" panose="020B0604030504040204" pitchFamily="34" charset="-120"/>
                        <a:ea typeface="微軟正黑體" panose="020B0604030504040204" pitchFamily="34" charset="-120"/>
                      </a:endParaRPr>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r>
                        <a:rPr lang="zh-TW" sz="1200" b="0">
                          <a:solidFill>
                            <a:schemeClr val="tx1"/>
                          </a:solidFill>
                          <a:effectLst/>
                          <a:latin typeface="微軟正黑體" panose="020B0604030504040204" pitchFamily="34" charset="-120"/>
                          <a:ea typeface="微軟正黑體" panose="020B0604030504040204" pitchFamily="34" charset="-120"/>
                        </a:rPr>
                        <a:t>系統弱點掃描</a:t>
                      </a:r>
                    </a:p>
                  </a:txBody>
                  <a:tcPr marL="36000" marR="36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r>
                        <a:rPr lang="zh-TW" sz="1200" b="0">
                          <a:solidFill>
                            <a:schemeClr val="tx1"/>
                          </a:solidFill>
                          <a:effectLst/>
                          <a:latin typeface="微軟正黑體" panose="020B0604030504040204" pitchFamily="34" charset="-120"/>
                          <a:ea typeface="微軟正黑體" panose="020B0604030504040204" pitchFamily="34" charset="-120"/>
                        </a:rPr>
                        <a:t>修復高中低風險</a:t>
                      </a:r>
                    </a:p>
                  </a:txBody>
                  <a:tcPr marL="36000" marR="36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zh-TW" altLang="en-US" sz="1200" b="1">
                          <a:solidFill>
                            <a:schemeClr val="tx1"/>
                          </a:solidFill>
                          <a:effectLst/>
                          <a:latin typeface="微軟正黑體"/>
                          <a:ea typeface="微軟正黑體"/>
                        </a:rPr>
                        <a:t>是</a:t>
                      </a:r>
                      <a:endParaRPr lang="zh-TW" sz="1200" b="1">
                        <a:solidFill>
                          <a:schemeClr val="tx1"/>
                        </a:solidFill>
                        <a:effectLst/>
                        <a:latin typeface="微軟正黑體" panose="020B0604030504040204" pitchFamily="34" charset="-120"/>
                        <a:ea typeface="微軟正黑體" panose="020B0604030504040204" pitchFamily="34" charset="-120"/>
                      </a:endParaRPr>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zh-TW" sz="1200" b="1">
                        <a:solidFill>
                          <a:schemeClr val="tx1"/>
                        </a:solidFill>
                        <a:effectLst/>
                        <a:latin typeface="微軟正黑體" panose="020B0604030504040204" pitchFamily="34" charset="-120"/>
                        <a:ea typeface="微軟正黑體" panose="020B0604030504040204" pitchFamily="34" charset="-120"/>
                      </a:endParaRPr>
                    </a:p>
                  </a:txBody>
                  <a:tcPr marL="72000" marR="72000" marT="36000" marB="36000" anchor="ctr">
                    <a:lnL w="9525" cap="flat" cmpd="sng" algn="ctr">
                      <a:solidFill>
                        <a:schemeClr val="bg1">
                          <a:lumMod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179754513"/>
                  </a:ext>
                </a:extLst>
              </a:tr>
              <a:tr h="273470">
                <a:tc rowSpan="3">
                  <a:txBody>
                    <a:bodyPr/>
                    <a:lstStyle/>
                    <a:p>
                      <a:pPr algn="ctr"/>
                      <a:r>
                        <a:rPr lang="zh-TW" altLang="en-US" sz="1200" b="0">
                          <a:solidFill>
                            <a:schemeClr val="tx1"/>
                          </a:solidFill>
                          <a:effectLst/>
                          <a:latin typeface="微軟正黑體" panose="020B0604030504040204" pitchFamily="34" charset="-120"/>
                          <a:ea typeface="微軟正黑體" panose="020B0604030504040204" pitchFamily="34" charset="-120"/>
                        </a:rPr>
                        <a:t>網路設備</a:t>
                      </a:r>
                      <a:endParaRPr lang="zh-TW" sz="1200" b="0">
                        <a:solidFill>
                          <a:schemeClr val="tx1"/>
                        </a:solidFill>
                        <a:effectLst/>
                        <a:latin typeface="微軟正黑體" panose="020B0604030504040204" pitchFamily="34" charset="-120"/>
                        <a:ea typeface="微軟正黑體" panose="020B0604030504040204" pitchFamily="34" charset="-120"/>
                      </a:endParaRPr>
                    </a:p>
                  </a:txBody>
                  <a:tcPr marL="72000" marR="72000" marT="36000" marB="36000" anchor="ctr">
                    <a:lnL w="12700" cap="flat" cmpd="sng" algn="ctr">
                      <a:solidFill>
                        <a:schemeClr val="tx1">
                          <a:lumMod val="50000"/>
                          <a:lumOff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altLang="zh-TW" sz="1200" b="0">
                          <a:solidFill>
                            <a:schemeClr val="tx1"/>
                          </a:solidFill>
                          <a:effectLst/>
                          <a:latin typeface="微軟正黑體" panose="020B0604030504040204" pitchFamily="34" charset="-120"/>
                          <a:ea typeface="微軟正黑體" panose="020B0604030504040204" pitchFamily="34" charset="-120"/>
                        </a:rPr>
                        <a:t>2</a:t>
                      </a:r>
                      <a:endParaRPr lang="zh-TW" sz="1200" b="0">
                        <a:solidFill>
                          <a:schemeClr val="tx1"/>
                        </a:solidFill>
                        <a:effectLst/>
                        <a:latin typeface="微軟正黑體" panose="020B0604030504040204" pitchFamily="34" charset="-120"/>
                        <a:ea typeface="微軟正黑體" panose="020B0604030504040204" pitchFamily="34" charset="-120"/>
                      </a:endParaRPr>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32962" rtl="0" eaLnBrk="1" latinLnBrk="0" hangingPunct="1"/>
                      <a:r>
                        <a:rPr lang="zh-TW" altLang="en-US" sz="1200" b="0" kern="1200">
                          <a:solidFill>
                            <a:schemeClr val="tx1"/>
                          </a:solidFill>
                          <a:effectLst/>
                          <a:latin typeface="微軟正黑體" panose="020B0604030504040204" pitchFamily="34" charset="-120"/>
                          <a:ea typeface="微軟正黑體" panose="020B0604030504040204" pitchFamily="34" charset="-120"/>
                          <a:cs typeface="+mn-cs"/>
                        </a:rPr>
                        <a:t>系統弱點掃描</a:t>
                      </a:r>
                    </a:p>
                  </a:txBody>
                  <a:tcPr marL="72000" marR="72000" marT="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32962" rtl="0" eaLnBrk="1" latinLnBrk="0" hangingPunct="1"/>
                      <a:r>
                        <a:rPr lang="zh-TW" altLang="en-US" sz="1200" b="0" kern="1200">
                          <a:solidFill>
                            <a:schemeClr val="tx1"/>
                          </a:solidFill>
                          <a:effectLst/>
                          <a:latin typeface="微軟正黑體" panose="020B0604030504040204" pitchFamily="34" charset="-120"/>
                          <a:ea typeface="微軟正黑體" panose="020B0604030504040204" pitchFamily="34" charset="-120"/>
                          <a:cs typeface="+mn-cs"/>
                        </a:rPr>
                        <a:t>修復高及中低風險以上等級漏洞才能上線</a:t>
                      </a:r>
                    </a:p>
                  </a:txBody>
                  <a:tcPr marL="72000" marR="72000" marT="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lvl="0" algn="ctr">
                        <a:buNone/>
                      </a:pPr>
                      <a:r>
                        <a:rPr lang="zh-TW" altLang="en-US" sz="1200" b="1" dirty="0">
                          <a:solidFill>
                            <a:schemeClr val="tx1"/>
                          </a:solidFill>
                          <a:effectLst/>
                          <a:latin typeface="微軟正黑體"/>
                          <a:ea typeface="+mn-ea"/>
                        </a:rPr>
                        <a:t>不適用</a:t>
                      </a:r>
                      <a:endParaRPr lang="zh-TW" dirty="0"/>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32962" rtl="0" eaLnBrk="1" fontAlgn="auto" latinLnBrk="0" hangingPunct="1">
                        <a:lnSpc>
                          <a:spcPct val="100000"/>
                        </a:lnSpc>
                        <a:spcBef>
                          <a:spcPts val="0"/>
                        </a:spcBef>
                        <a:spcAft>
                          <a:spcPts val="0"/>
                        </a:spcAft>
                        <a:buClrTx/>
                        <a:buSzTx/>
                        <a:buFontTx/>
                        <a:buNone/>
                        <a:tabLst/>
                        <a:defRPr/>
                      </a:pPr>
                      <a:r>
                        <a:rPr lang="zh-TW" altLang="en-US" sz="1200" b="1" dirty="0">
                          <a:solidFill>
                            <a:schemeClr val="tx1"/>
                          </a:solidFill>
                          <a:effectLst/>
                          <a:latin typeface="微軟正黑體"/>
                          <a:ea typeface="+mn-ea"/>
                        </a:rPr>
                        <a:t>無網路設備</a:t>
                      </a:r>
                      <a:endParaRPr lang="zh-TW" altLang="zh-TW" sz="1200" b="1" dirty="0">
                        <a:solidFill>
                          <a:schemeClr val="tx1"/>
                        </a:solidFill>
                        <a:effectLst/>
                        <a:latin typeface="微軟正黑體" panose="020B0604030504040204" pitchFamily="34" charset="-120"/>
                        <a:ea typeface="微軟正黑體" panose="020B0604030504040204" pitchFamily="34" charset="-120"/>
                      </a:endParaRPr>
                    </a:p>
                  </a:txBody>
                  <a:tcPr marL="72000" marR="72000" marT="36000" marB="36000" anchor="ctr">
                    <a:lnL w="9525" cap="flat" cmpd="sng" algn="ctr">
                      <a:solidFill>
                        <a:schemeClr val="bg1">
                          <a:lumMod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73873280"/>
                  </a:ext>
                </a:extLst>
              </a:tr>
              <a:tr h="273470">
                <a:tc vMerge="1">
                  <a:txBody>
                    <a:bodyPr/>
                    <a:lstStyle/>
                    <a:p>
                      <a:pPr algn="ctr"/>
                      <a:endParaRPr lang="zh-TW" sz="1200" b="0">
                        <a:solidFill>
                          <a:schemeClr val="tx1"/>
                        </a:solidFill>
                        <a:effectLst/>
                        <a:latin typeface="微軟正黑體" panose="020B0604030504040204" pitchFamily="34" charset="-120"/>
                        <a:ea typeface="微軟正黑體" panose="020B0604030504040204" pitchFamily="34" charset="-120"/>
                      </a:endParaRPr>
                    </a:p>
                  </a:txBody>
                  <a:tcPr marL="72000" marR="72000" marT="36000" marB="36000" anchor="ctr">
                    <a:lnL w="12700" cap="flat" cmpd="sng" algn="ctr">
                      <a:solidFill>
                        <a:schemeClr val="tx1">
                          <a:lumMod val="50000"/>
                          <a:lumOff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altLang="zh-TW" sz="1200" b="0">
                          <a:solidFill>
                            <a:schemeClr val="tx1"/>
                          </a:solidFill>
                          <a:effectLst/>
                          <a:latin typeface="微軟正黑體" panose="020B0604030504040204" pitchFamily="34" charset="-120"/>
                          <a:ea typeface="微軟正黑體" panose="020B0604030504040204" pitchFamily="34" charset="-120"/>
                        </a:rPr>
                        <a:t>3</a:t>
                      </a:r>
                      <a:endParaRPr lang="zh-TW" sz="1200" b="0">
                        <a:solidFill>
                          <a:schemeClr val="tx1"/>
                        </a:solidFill>
                        <a:effectLst/>
                        <a:latin typeface="微軟正黑體" panose="020B0604030504040204" pitchFamily="34" charset="-120"/>
                        <a:ea typeface="微軟正黑體" panose="020B0604030504040204" pitchFamily="34" charset="-120"/>
                      </a:endParaRPr>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32962" rtl="0" eaLnBrk="1" latinLnBrk="0" hangingPunct="1"/>
                      <a:r>
                        <a:rPr lang="zh-TW" altLang="en-US" sz="1200" b="0" kern="1200">
                          <a:solidFill>
                            <a:schemeClr val="tx1"/>
                          </a:solidFill>
                          <a:effectLst/>
                          <a:latin typeface="微軟正黑體" panose="020B0604030504040204" pitchFamily="34" charset="-120"/>
                          <a:ea typeface="微軟正黑體" panose="020B0604030504040204" pitchFamily="34" charset="-120"/>
                          <a:cs typeface="+mn-cs"/>
                        </a:rPr>
                        <a:t>初始密碼變更</a:t>
                      </a:r>
                    </a:p>
                  </a:txBody>
                  <a:tcPr marL="72000" marR="72000" marT="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32962" rtl="0" eaLnBrk="1" latinLnBrk="0" hangingPunct="1"/>
                      <a:r>
                        <a:rPr lang="zh-TW" altLang="en-US" sz="1200" b="0" kern="1200">
                          <a:solidFill>
                            <a:schemeClr val="tx1"/>
                          </a:solidFill>
                          <a:effectLst/>
                          <a:latin typeface="微軟正黑體" panose="020B0604030504040204" pitchFamily="34" charset="-120"/>
                          <a:ea typeface="微軟正黑體" panose="020B0604030504040204" pitchFamily="34" charset="-120"/>
                          <a:cs typeface="+mn-cs"/>
                        </a:rPr>
                        <a:t>應變更設備之初始密碼。</a:t>
                      </a:r>
                    </a:p>
                  </a:txBody>
                  <a:tcPr marL="72000" marR="72000" marT="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lvl="0" algn="ctr">
                        <a:buNone/>
                      </a:pPr>
                      <a:r>
                        <a:rPr lang="zh-TW" altLang="en-US" sz="1200" b="1" dirty="0">
                          <a:solidFill>
                            <a:schemeClr val="tx1"/>
                          </a:solidFill>
                          <a:effectLst/>
                          <a:latin typeface="微軟正黑體"/>
                          <a:ea typeface="+mn-ea"/>
                        </a:rPr>
                        <a:t>不適用</a:t>
                      </a:r>
                      <a:endParaRPr lang="zh-TW" dirty="0"/>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32962" rtl="0" eaLnBrk="1" fontAlgn="auto" latinLnBrk="0" hangingPunct="1">
                        <a:lnSpc>
                          <a:spcPct val="100000"/>
                        </a:lnSpc>
                        <a:spcBef>
                          <a:spcPts val="0"/>
                        </a:spcBef>
                        <a:spcAft>
                          <a:spcPts val="0"/>
                        </a:spcAft>
                        <a:buClrTx/>
                        <a:buSzTx/>
                        <a:buFontTx/>
                        <a:buNone/>
                        <a:tabLst/>
                        <a:defRPr/>
                      </a:pPr>
                      <a:r>
                        <a:rPr lang="zh-TW" altLang="en-US" sz="1200" b="1" dirty="0">
                          <a:solidFill>
                            <a:schemeClr val="tx1"/>
                          </a:solidFill>
                          <a:effectLst/>
                          <a:latin typeface="微軟正黑體"/>
                          <a:ea typeface="+mn-ea"/>
                        </a:rPr>
                        <a:t>無網路設備</a:t>
                      </a:r>
                      <a:endParaRPr lang="zh-TW" altLang="zh-TW" sz="1200" b="1" dirty="0">
                        <a:solidFill>
                          <a:schemeClr val="tx1"/>
                        </a:solidFill>
                        <a:effectLst/>
                        <a:latin typeface="微軟正黑體" panose="020B0604030504040204" pitchFamily="34" charset="-120"/>
                        <a:ea typeface="微軟正黑體" panose="020B0604030504040204" pitchFamily="34" charset="-120"/>
                      </a:endParaRPr>
                    </a:p>
                  </a:txBody>
                  <a:tcPr marL="72000" marR="72000" marT="36000" marB="36000" anchor="ctr">
                    <a:lnL w="9525" cap="flat" cmpd="sng" algn="ctr">
                      <a:solidFill>
                        <a:schemeClr val="bg1">
                          <a:lumMod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23245168"/>
                  </a:ext>
                </a:extLst>
              </a:tr>
              <a:tr h="273470">
                <a:tc vMerge="1">
                  <a:txBody>
                    <a:bodyPr/>
                    <a:lstStyle/>
                    <a:p>
                      <a:pPr algn="ctr"/>
                      <a:endParaRPr lang="zh-TW" sz="1200" b="0">
                        <a:solidFill>
                          <a:schemeClr val="tx1"/>
                        </a:solidFill>
                        <a:effectLst/>
                        <a:latin typeface="微軟正黑體" panose="020B0604030504040204" pitchFamily="34" charset="-120"/>
                        <a:ea typeface="微軟正黑體" panose="020B0604030504040204" pitchFamily="34" charset="-120"/>
                      </a:endParaRPr>
                    </a:p>
                  </a:txBody>
                  <a:tcPr marL="72000" marR="72000" marT="36000" marB="36000" anchor="ctr">
                    <a:lnL w="12700" cap="flat" cmpd="sng" algn="ctr">
                      <a:solidFill>
                        <a:schemeClr val="tx1">
                          <a:lumMod val="50000"/>
                          <a:lumOff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altLang="zh-TW" sz="1200" b="0">
                          <a:solidFill>
                            <a:schemeClr val="tx1"/>
                          </a:solidFill>
                          <a:effectLst/>
                          <a:latin typeface="微軟正黑體" panose="020B0604030504040204" pitchFamily="34" charset="-120"/>
                          <a:ea typeface="微軟正黑體" panose="020B0604030504040204" pitchFamily="34" charset="-120"/>
                        </a:rPr>
                        <a:t>4</a:t>
                      </a:r>
                      <a:endParaRPr lang="zh-TW" sz="1200" b="0">
                        <a:solidFill>
                          <a:schemeClr val="tx1"/>
                        </a:solidFill>
                        <a:effectLst/>
                        <a:latin typeface="微軟正黑體" panose="020B0604030504040204" pitchFamily="34" charset="-120"/>
                        <a:ea typeface="微軟正黑體" panose="020B0604030504040204" pitchFamily="34" charset="-120"/>
                      </a:endParaRPr>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32962" rtl="0" eaLnBrk="1" latinLnBrk="0" hangingPunct="1"/>
                      <a:r>
                        <a:rPr lang="zh-TW" altLang="en-US" sz="1200" b="0" kern="1200">
                          <a:solidFill>
                            <a:schemeClr val="tx1"/>
                          </a:solidFill>
                          <a:effectLst/>
                          <a:latin typeface="微軟正黑體" panose="020B0604030504040204" pitchFamily="34" charset="-120"/>
                          <a:ea typeface="微軟正黑體" panose="020B0604030504040204" pitchFamily="34" charset="-120"/>
                          <a:cs typeface="+mn-cs"/>
                        </a:rPr>
                        <a:t>限制管理連線</a:t>
                      </a:r>
                      <a:r>
                        <a:rPr lang="en-US" sz="1200" b="0" kern="1200">
                          <a:solidFill>
                            <a:schemeClr val="tx1"/>
                          </a:solidFill>
                          <a:effectLst/>
                          <a:latin typeface="微軟正黑體" panose="020B0604030504040204" pitchFamily="34" charset="-120"/>
                          <a:ea typeface="微軟正黑體" panose="020B0604030504040204" pitchFamily="34" charset="-120"/>
                          <a:cs typeface="+mn-cs"/>
                        </a:rPr>
                        <a:t>IP</a:t>
                      </a:r>
                      <a:r>
                        <a:rPr lang="zh-TW" altLang="en-US" sz="1200" b="0" kern="1200">
                          <a:solidFill>
                            <a:schemeClr val="tx1"/>
                          </a:solidFill>
                          <a:effectLst/>
                          <a:latin typeface="微軟正黑體" panose="020B0604030504040204" pitchFamily="34" charset="-120"/>
                          <a:ea typeface="微軟正黑體" panose="020B0604030504040204" pitchFamily="34" charset="-120"/>
                          <a:cs typeface="+mn-cs"/>
                        </a:rPr>
                        <a:t>位址</a:t>
                      </a:r>
                    </a:p>
                  </a:txBody>
                  <a:tcPr marL="72000" marR="72000" marT="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32962" rtl="0" eaLnBrk="1" latinLnBrk="0" hangingPunct="1"/>
                      <a:r>
                        <a:rPr lang="zh-TW" altLang="en-US" sz="1200" b="0" kern="1200">
                          <a:solidFill>
                            <a:schemeClr val="tx1"/>
                          </a:solidFill>
                          <a:effectLst/>
                          <a:latin typeface="微軟正黑體" panose="020B0604030504040204" pitchFamily="34" charset="-120"/>
                          <a:ea typeface="微軟正黑體" panose="020B0604030504040204" pitchFamily="34" charset="-120"/>
                          <a:cs typeface="+mn-cs"/>
                        </a:rPr>
                        <a:t>限制管理員存取硬體設備之</a:t>
                      </a:r>
                      <a:r>
                        <a:rPr lang="en-US" sz="1200" b="0" kern="1200">
                          <a:solidFill>
                            <a:schemeClr val="tx1"/>
                          </a:solidFill>
                          <a:effectLst/>
                          <a:latin typeface="微軟正黑體" panose="020B0604030504040204" pitchFamily="34" charset="-120"/>
                          <a:ea typeface="微軟正黑體" panose="020B0604030504040204" pitchFamily="34" charset="-120"/>
                          <a:cs typeface="+mn-cs"/>
                        </a:rPr>
                        <a:t>IP</a:t>
                      </a:r>
                      <a:r>
                        <a:rPr lang="zh-TW" altLang="en-US" sz="1200" b="0" kern="1200">
                          <a:solidFill>
                            <a:schemeClr val="tx1"/>
                          </a:solidFill>
                          <a:effectLst/>
                          <a:latin typeface="微軟正黑體" panose="020B0604030504040204" pitchFamily="34" charset="-120"/>
                          <a:ea typeface="微軟正黑體" panose="020B0604030504040204" pitchFamily="34" charset="-120"/>
                          <a:cs typeface="+mn-cs"/>
                        </a:rPr>
                        <a:t>位址</a:t>
                      </a:r>
                    </a:p>
                  </a:txBody>
                  <a:tcPr marL="72000" marR="72000" marT="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lvl="0" algn="ctr">
                        <a:buNone/>
                      </a:pPr>
                      <a:r>
                        <a:rPr lang="zh-TW" altLang="en-US" sz="1200" b="1" dirty="0">
                          <a:solidFill>
                            <a:schemeClr val="tx1"/>
                          </a:solidFill>
                          <a:effectLst/>
                          <a:latin typeface="微軟正黑體"/>
                          <a:ea typeface="+mn-ea"/>
                        </a:rPr>
                        <a:t>不適用</a:t>
                      </a:r>
                      <a:endParaRPr lang="zh-TW" dirty="0"/>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32962" rtl="0" eaLnBrk="1" fontAlgn="auto" latinLnBrk="0" hangingPunct="1">
                        <a:lnSpc>
                          <a:spcPct val="100000"/>
                        </a:lnSpc>
                        <a:spcBef>
                          <a:spcPts val="0"/>
                        </a:spcBef>
                        <a:spcAft>
                          <a:spcPts val="0"/>
                        </a:spcAft>
                        <a:buClrTx/>
                        <a:buSzTx/>
                        <a:buFontTx/>
                        <a:buNone/>
                        <a:tabLst/>
                        <a:defRPr/>
                      </a:pPr>
                      <a:r>
                        <a:rPr lang="zh-TW" altLang="en-US" sz="1200" b="1" dirty="0">
                          <a:solidFill>
                            <a:schemeClr val="tx1"/>
                          </a:solidFill>
                          <a:effectLst/>
                          <a:latin typeface="微軟正黑體"/>
                          <a:ea typeface="+mn-ea"/>
                        </a:rPr>
                        <a:t>無網路設備</a:t>
                      </a:r>
                      <a:endParaRPr lang="zh-TW" altLang="zh-TW" sz="1200" b="1" dirty="0">
                        <a:solidFill>
                          <a:schemeClr val="tx1"/>
                        </a:solidFill>
                        <a:effectLst/>
                        <a:latin typeface="微軟正黑體" panose="020B0604030504040204" pitchFamily="34" charset="-120"/>
                        <a:ea typeface="微軟正黑體" panose="020B0604030504040204" pitchFamily="34" charset="-120"/>
                      </a:endParaRPr>
                    </a:p>
                  </a:txBody>
                  <a:tcPr marL="72000" marR="72000" marT="36000" marB="36000" anchor="ctr">
                    <a:lnL w="9525" cap="flat" cmpd="sng" algn="ctr">
                      <a:solidFill>
                        <a:schemeClr val="bg1">
                          <a:lumMod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44807071"/>
                  </a:ext>
                </a:extLst>
              </a:tr>
              <a:tr h="273470">
                <a:tc rowSpan="9">
                  <a:txBody>
                    <a:bodyPr/>
                    <a:lstStyle/>
                    <a:p>
                      <a:pPr algn="ctr"/>
                      <a:r>
                        <a:rPr lang="zh-TW" sz="1200" b="0">
                          <a:solidFill>
                            <a:schemeClr val="tx1"/>
                          </a:solidFill>
                          <a:effectLst/>
                          <a:latin typeface="微軟正黑體" panose="020B0604030504040204" pitchFamily="34" charset="-120"/>
                          <a:ea typeface="微軟正黑體" panose="020B0604030504040204" pitchFamily="34" charset="-120"/>
                        </a:rPr>
                        <a:t>系統上線</a:t>
                      </a:r>
                    </a:p>
                  </a:txBody>
                  <a:tcPr marL="72000" marR="72000" marT="36000" marB="36000" anchor="ctr">
                    <a:lnL w="12700" cap="flat" cmpd="sng" algn="ctr">
                      <a:solidFill>
                        <a:schemeClr val="tx1">
                          <a:lumMod val="50000"/>
                          <a:lumOff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altLang="zh-TW" sz="1200" b="0">
                          <a:solidFill>
                            <a:schemeClr val="tx1"/>
                          </a:solidFill>
                          <a:effectLst/>
                          <a:latin typeface="微軟正黑體" panose="020B0604030504040204" pitchFamily="34" charset="-120"/>
                          <a:ea typeface="微軟正黑體" panose="020B0604030504040204" pitchFamily="34" charset="-120"/>
                        </a:rPr>
                        <a:t>5</a:t>
                      </a:r>
                      <a:endParaRPr lang="zh-TW" sz="1200" b="0">
                        <a:solidFill>
                          <a:schemeClr val="tx1"/>
                        </a:solidFill>
                        <a:effectLst/>
                        <a:latin typeface="微軟正黑體" panose="020B0604030504040204" pitchFamily="34" charset="-120"/>
                        <a:ea typeface="微軟正黑體" panose="020B0604030504040204" pitchFamily="34" charset="-120"/>
                      </a:endParaRPr>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r>
                        <a:rPr lang="zh-TW" sz="1200" b="0">
                          <a:solidFill>
                            <a:schemeClr val="tx1"/>
                          </a:solidFill>
                          <a:effectLst/>
                          <a:latin typeface="微軟正黑體" panose="020B0604030504040204" pitchFamily="34" charset="-120"/>
                          <a:ea typeface="微軟正黑體" panose="020B0604030504040204" pitchFamily="34" charset="-120"/>
                        </a:rPr>
                        <a:t>源碼檢測</a:t>
                      </a:r>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r>
                        <a:rPr lang="zh-TW" sz="1200" b="0">
                          <a:solidFill>
                            <a:schemeClr val="tx1"/>
                          </a:solidFill>
                          <a:effectLst/>
                          <a:latin typeface="微軟正黑體" panose="020B0604030504040204" pitchFamily="34" charset="-120"/>
                          <a:ea typeface="微軟正黑體" panose="020B0604030504040204" pitchFamily="34" charset="-120"/>
                        </a:rPr>
                        <a:t>修復高中低風險</a:t>
                      </a:r>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932962">
                        <a:lnSpc>
                          <a:spcPct val="100000"/>
                        </a:lnSpc>
                        <a:spcBef>
                          <a:spcPts val="0"/>
                        </a:spcBef>
                        <a:spcAft>
                          <a:spcPts val="0"/>
                        </a:spcAft>
                        <a:buNone/>
                        <a:tabLst/>
                        <a:defRPr/>
                      </a:pPr>
                      <a:r>
                        <a:rPr lang="zh-TW" sz="1200" b="1" i="0" u="none" strike="noStrike" noProof="0">
                          <a:solidFill>
                            <a:schemeClr val="tx1"/>
                          </a:solidFill>
                          <a:effectLst/>
                          <a:latin typeface="Microsoft JhengHei"/>
                          <a:ea typeface="Microsoft JhengHei"/>
                        </a:rPr>
                        <a:t>是</a:t>
                      </a:r>
                      <a:endParaRPr lang="zh-TW"/>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32962" rtl="0" eaLnBrk="1" fontAlgn="auto" latinLnBrk="0" hangingPunct="1">
                        <a:lnSpc>
                          <a:spcPct val="100000"/>
                        </a:lnSpc>
                        <a:spcBef>
                          <a:spcPts val="0"/>
                        </a:spcBef>
                        <a:spcAft>
                          <a:spcPts val="0"/>
                        </a:spcAft>
                        <a:buClrTx/>
                        <a:buSzTx/>
                        <a:buFontTx/>
                        <a:buNone/>
                        <a:tabLst/>
                        <a:defRPr/>
                      </a:pPr>
                      <a:endParaRPr lang="zh-TW" altLang="zh-TW" sz="1200" b="1">
                        <a:solidFill>
                          <a:schemeClr val="tx1"/>
                        </a:solidFill>
                        <a:effectLst/>
                        <a:latin typeface="微軟正黑體" panose="020B0604030504040204" pitchFamily="34" charset="-120"/>
                        <a:ea typeface="微軟正黑體" panose="020B0604030504040204" pitchFamily="34" charset="-120"/>
                      </a:endParaRPr>
                    </a:p>
                  </a:txBody>
                  <a:tcPr marL="72000" marR="72000" marT="36000" marB="36000" anchor="ctr">
                    <a:lnL w="9525" cap="flat" cmpd="sng" algn="ctr">
                      <a:solidFill>
                        <a:schemeClr val="bg1">
                          <a:lumMod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86327674"/>
                  </a:ext>
                </a:extLst>
              </a:tr>
              <a:tr h="273470">
                <a:tc vMerge="1">
                  <a:txBody>
                    <a:bodyPr/>
                    <a:lstStyle/>
                    <a:p>
                      <a:endParaRPr lang="zh-TW" altLang="en-US"/>
                    </a:p>
                  </a:txBody>
                  <a:tcPr/>
                </a:tc>
                <a:tc rowSpan="3">
                  <a:txBody>
                    <a:bodyPr/>
                    <a:lstStyle/>
                    <a:p>
                      <a:pPr algn="ctr"/>
                      <a:r>
                        <a:rPr lang="en-US" altLang="zh-TW" sz="1200" b="0">
                          <a:solidFill>
                            <a:schemeClr val="tx1"/>
                          </a:solidFill>
                          <a:effectLst/>
                          <a:latin typeface="微軟正黑體" panose="020B0604030504040204" pitchFamily="34" charset="-120"/>
                          <a:ea typeface="微軟正黑體" panose="020B0604030504040204" pitchFamily="34" charset="-120"/>
                        </a:rPr>
                        <a:t>6</a:t>
                      </a:r>
                      <a:endParaRPr lang="zh-TW" sz="1200" b="0">
                        <a:solidFill>
                          <a:schemeClr val="tx1"/>
                        </a:solidFill>
                        <a:effectLst/>
                        <a:latin typeface="微軟正黑體" panose="020B0604030504040204" pitchFamily="34" charset="-120"/>
                        <a:ea typeface="微軟正黑體" panose="020B0604030504040204" pitchFamily="34" charset="-120"/>
                      </a:endParaRPr>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rowSpan="3">
                  <a:txBody>
                    <a:bodyPr/>
                    <a:lstStyle/>
                    <a:p>
                      <a:r>
                        <a:rPr lang="en-US" sz="1200" b="0">
                          <a:solidFill>
                            <a:schemeClr val="tx1"/>
                          </a:solidFill>
                          <a:effectLst/>
                          <a:latin typeface="微軟正黑體" panose="020B0604030504040204" pitchFamily="34" charset="-120"/>
                          <a:ea typeface="微軟正黑體" panose="020B0604030504040204" pitchFamily="34" charset="-120"/>
                        </a:rPr>
                        <a:t>Web Server</a:t>
                      </a:r>
                      <a:r>
                        <a:rPr lang="zh-TW" sz="1200" b="0">
                          <a:solidFill>
                            <a:schemeClr val="tx1"/>
                          </a:solidFill>
                          <a:effectLst/>
                          <a:latin typeface="微軟正黑體" panose="020B0604030504040204" pitchFamily="34" charset="-120"/>
                          <a:ea typeface="微軟正黑體" panose="020B0604030504040204" pitchFamily="34" charset="-120"/>
                        </a:rPr>
                        <a:t>上傳檔案功能</a:t>
                      </a:r>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altLang="zh-TW" sz="1200" b="0">
                          <a:solidFill>
                            <a:schemeClr val="tx1"/>
                          </a:solidFill>
                          <a:effectLst/>
                          <a:latin typeface="微軟正黑體" panose="020B0604030504040204" pitchFamily="34" charset="-120"/>
                          <a:ea typeface="微軟正黑體" panose="020B0604030504040204" pitchFamily="34" charset="-120"/>
                        </a:rPr>
                        <a:t>(1)</a:t>
                      </a:r>
                      <a:r>
                        <a:rPr lang="zh-TW" altLang="en-US" sz="1200" b="0">
                          <a:solidFill>
                            <a:schemeClr val="tx1"/>
                          </a:solidFill>
                          <a:effectLst/>
                          <a:latin typeface="微軟正黑體" panose="020B0604030504040204" pitchFamily="34" charset="-120"/>
                          <a:ea typeface="微軟正黑體" panose="020B0604030504040204" pitchFamily="34" charset="-120"/>
                        </a:rPr>
                        <a:t> </a:t>
                      </a:r>
                      <a:r>
                        <a:rPr lang="zh-TW" sz="1200" b="0">
                          <a:solidFill>
                            <a:schemeClr val="tx1"/>
                          </a:solidFill>
                          <a:effectLst/>
                          <a:latin typeface="微軟正黑體" panose="020B0604030504040204" pitchFamily="34" charset="-120"/>
                          <a:ea typeface="微軟正黑體" panose="020B0604030504040204" pitchFamily="34" charset="-120"/>
                        </a:rPr>
                        <a:t>禁止任意檔案上傳，需限定檔案格式。</a:t>
                      </a:r>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zh-TW" altLang="en-US" sz="1200" b="1" dirty="0">
                          <a:solidFill>
                            <a:schemeClr val="tx1"/>
                          </a:solidFill>
                          <a:effectLst/>
                          <a:latin typeface="微軟正黑體"/>
                          <a:ea typeface="微軟正黑體"/>
                        </a:rPr>
                        <a:t>不適用</a:t>
                      </a:r>
                      <a:endParaRPr lang="zh-TW" sz="1200" b="1" dirty="0">
                        <a:solidFill>
                          <a:schemeClr val="tx1"/>
                        </a:solidFill>
                        <a:effectLst/>
                        <a:latin typeface="微軟正黑體" panose="020B0604030504040204" pitchFamily="34" charset="-120"/>
                        <a:ea typeface="微軟正黑體" panose="020B0604030504040204" pitchFamily="34" charset="-120"/>
                      </a:endParaRPr>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r>
                        <a:rPr lang="zh-TW" altLang="en-US" sz="1200" b="1">
                          <a:solidFill>
                            <a:schemeClr val="tx1"/>
                          </a:solidFill>
                          <a:effectLst/>
                          <a:latin typeface="微軟正黑體"/>
                          <a:ea typeface="微軟正黑體"/>
                        </a:rPr>
                        <a:t>無上傳功能</a:t>
                      </a:r>
                      <a:endParaRPr lang="zh-TW" sz="1200" b="1">
                        <a:solidFill>
                          <a:schemeClr val="tx1"/>
                        </a:solidFill>
                        <a:effectLst/>
                        <a:latin typeface="微軟正黑體" panose="020B0604030504040204" pitchFamily="34" charset="-120"/>
                        <a:ea typeface="微軟正黑體" panose="020B0604030504040204" pitchFamily="34" charset="-120"/>
                      </a:endParaRPr>
                    </a:p>
                  </a:txBody>
                  <a:tcPr marL="72000" marR="72000" marT="36000" marB="36000" anchor="ctr">
                    <a:lnL w="9525" cap="flat" cmpd="sng" algn="ctr">
                      <a:solidFill>
                        <a:schemeClr val="bg1">
                          <a:lumMod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08579155"/>
                  </a:ext>
                </a:extLst>
              </a:tr>
              <a:tr h="273470">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a:txBody>
                    <a:bodyPr/>
                    <a:lstStyle/>
                    <a:p>
                      <a:r>
                        <a:rPr lang="en-US" altLang="zh-TW" sz="1200" b="0">
                          <a:solidFill>
                            <a:schemeClr val="tx1"/>
                          </a:solidFill>
                          <a:effectLst/>
                          <a:latin typeface="微軟正黑體" panose="020B0604030504040204" pitchFamily="34" charset="-120"/>
                          <a:ea typeface="微軟正黑體" panose="020B0604030504040204" pitchFamily="34" charset="-120"/>
                        </a:rPr>
                        <a:t>(2)</a:t>
                      </a:r>
                      <a:r>
                        <a:rPr lang="zh-TW" altLang="en-US" sz="1200" b="0">
                          <a:solidFill>
                            <a:schemeClr val="tx1"/>
                          </a:solidFill>
                          <a:effectLst/>
                          <a:latin typeface="微軟正黑體" panose="020B0604030504040204" pitchFamily="34" charset="-120"/>
                          <a:ea typeface="微軟正黑體" panose="020B0604030504040204" pitchFamily="34" charset="-120"/>
                        </a:rPr>
                        <a:t> </a:t>
                      </a:r>
                      <a:r>
                        <a:rPr lang="zh-TW" sz="1200" b="0">
                          <a:solidFill>
                            <a:schemeClr val="tx1"/>
                          </a:solidFill>
                          <a:effectLst/>
                          <a:latin typeface="微軟正黑體" panose="020B0604030504040204" pitchFamily="34" charset="-120"/>
                          <a:ea typeface="微軟正黑體" panose="020B0604030504040204" pitchFamily="34" charset="-120"/>
                        </a:rPr>
                        <a:t>檔案上傳應判斷檔案格式符合才可儲存於硬碟。</a:t>
                      </a:r>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lvl="0" algn="ctr">
                        <a:buNone/>
                      </a:pPr>
                      <a:r>
                        <a:rPr lang="zh-TW" altLang="en-US" sz="1200" b="1" i="0" u="none" strike="noStrike" noProof="0">
                          <a:solidFill>
                            <a:schemeClr val="tx1"/>
                          </a:solidFill>
                          <a:effectLst/>
                          <a:latin typeface="Microsoft JhengHei"/>
                          <a:ea typeface="Microsoft JhengHei"/>
                        </a:rPr>
                        <a:t>不適用</a:t>
                      </a:r>
                      <a:endParaRPr lang="zh-TW"/>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lvl="0">
                        <a:buNone/>
                      </a:pPr>
                      <a:r>
                        <a:rPr lang="zh-TW" altLang="en-US" sz="1200" b="1" i="0" u="none" strike="noStrike" noProof="0">
                          <a:solidFill>
                            <a:schemeClr val="tx1"/>
                          </a:solidFill>
                          <a:effectLst/>
                          <a:latin typeface="Microsoft JhengHei"/>
                          <a:ea typeface="Microsoft JhengHei"/>
                        </a:rPr>
                        <a:t>無上傳功能</a:t>
                      </a:r>
                      <a:endParaRPr lang="zh-TW"/>
                    </a:p>
                  </a:txBody>
                  <a:tcPr marL="72000" marR="72000" marT="36000" marB="36000" anchor="ctr">
                    <a:lnL w="9525" cap="flat" cmpd="sng" algn="ctr">
                      <a:solidFill>
                        <a:schemeClr val="bg1">
                          <a:lumMod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26107142"/>
                  </a:ext>
                </a:extLst>
              </a:tr>
              <a:tr h="415675">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a:txBody>
                    <a:bodyPr/>
                    <a:lstStyle/>
                    <a:p>
                      <a:r>
                        <a:rPr lang="en-US" altLang="zh-TW" sz="1200" b="0">
                          <a:solidFill>
                            <a:schemeClr val="tx1"/>
                          </a:solidFill>
                          <a:effectLst/>
                          <a:latin typeface="微軟正黑體" panose="020B0604030504040204" pitchFamily="34" charset="-120"/>
                          <a:ea typeface="微軟正黑體" panose="020B0604030504040204" pitchFamily="34" charset="-120"/>
                        </a:rPr>
                        <a:t>(3)</a:t>
                      </a:r>
                      <a:r>
                        <a:rPr lang="zh-TW" altLang="en-US" sz="1200" b="0">
                          <a:solidFill>
                            <a:schemeClr val="tx1"/>
                          </a:solidFill>
                          <a:effectLst/>
                          <a:latin typeface="微軟正黑體" panose="020B0604030504040204" pitchFamily="34" charset="-120"/>
                          <a:ea typeface="微軟正黑體" panose="020B0604030504040204" pitchFamily="34" charset="-120"/>
                        </a:rPr>
                        <a:t> </a:t>
                      </a:r>
                      <a:r>
                        <a:rPr lang="zh-TW" sz="1200" b="0">
                          <a:solidFill>
                            <a:schemeClr val="tx1"/>
                          </a:solidFill>
                          <a:effectLst/>
                          <a:latin typeface="微軟正黑體" panose="020B0604030504040204" pitchFamily="34" charset="-120"/>
                          <a:ea typeface="微軟正黑體" panose="020B0604030504040204" pitchFamily="34" charset="-120"/>
                        </a:rPr>
                        <a:t>檔案上傳儲存目錄不可在網站路徑中。如同時有下載的功能，請用程式轉換或將該路徑的權限設定為不可執行。</a:t>
                      </a:r>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lvl="0" algn="ctr">
                        <a:buNone/>
                      </a:pPr>
                      <a:r>
                        <a:rPr lang="zh-TW" altLang="en-US" sz="1200" b="1" i="0" u="none" strike="noStrike" noProof="0">
                          <a:solidFill>
                            <a:schemeClr val="tx1"/>
                          </a:solidFill>
                          <a:effectLst/>
                          <a:latin typeface="Microsoft JhengHei"/>
                          <a:ea typeface="Microsoft JhengHei"/>
                        </a:rPr>
                        <a:t>不適用</a:t>
                      </a:r>
                      <a:endParaRPr lang="zh-TW"/>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lvl="0">
                        <a:buNone/>
                      </a:pPr>
                      <a:r>
                        <a:rPr lang="zh-TW" altLang="en-US" sz="1200" b="1" i="0" u="none" strike="noStrike" noProof="0">
                          <a:solidFill>
                            <a:schemeClr val="tx1"/>
                          </a:solidFill>
                          <a:effectLst/>
                          <a:latin typeface="Microsoft JhengHei"/>
                          <a:ea typeface="Microsoft JhengHei"/>
                        </a:rPr>
                        <a:t>無上傳功能</a:t>
                      </a:r>
                      <a:endParaRPr lang="zh-TW"/>
                    </a:p>
                  </a:txBody>
                  <a:tcPr marL="72000" marR="72000" marT="36000" marB="36000" anchor="ctr">
                    <a:lnL w="9525" cap="flat" cmpd="sng" algn="ctr">
                      <a:solidFill>
                        <a:schemeClr val="bg1">
                          <a:lumMod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47637618"/>
                  </a:ext>
                </a:extLst>
              </a:tr>
              <a:tr h="415675">
                <a:tc vMerge="1">
                  <a:txBody>
                    <a:bodyPr/>
                    <a:lstStyle/>
                    <a:p>
                      <a:endParaRPr lang="zh-TW" altLang="en-US"/>
                    </a:p>
                  </a:txBody>
                  <a:tcPr/>
                </a:tc>
                <a:tc>
                  <a:txBody>
                    <a:bodyPr/>
                    <a:lstStyle/>
                    <a:p>
                      <a:pPr algn="ctr"/>
                      <a:r>
                        <a:rPr lang="en-US" altLang="zh-TW" sz="1200" b="0">
                          <a:solidFill>
                            <a:schemeClr val="tx1"/>
                          </a:solidFill>
                          <a:effectLst/>
                          <a:latin typeface="微軟正黑體" panose="020B0604030504040204" pitchFamily="34" charset="-120"/>
                          <a:ea typeface="微軟正黑體" panose="020B0604030504040204" pitchFamily="34" charset="-120"/>
                        </a:rPr>
                        <a:t>7</a:t>
                      </a:r>
                      <a:endParaRPr lang="zh-TW" sz="1200" b="0">
                        <a:solidFill>
                          <a:schemeClr val="tx1"/>
                        </a:solidFill>
                        <a:effectLst/>
                        <a:latin typeface="微軟正黑體" panose="020B0604030504040204" pitchFamily="34" charset="-120"/>
                        <a:ea typeface="微軟正黑體" panose="020B0604030504040204" pitchFamily="34" charset="-120"/>
                      </a:endParaRPr>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r>
                        <a:rPr lang="zh-TW" sz="1200" b="0">
                          <a:solidFill>
                            <a:schemeClr val="tx1"/>
                          </a:solidFill>
                          <a:effectLst/>
                          <a:latin typeface="微軟正黑體" panose="020B0604030504040204" pitchFamily="34" charset="-120"/>
                          <a:ea typeface="微軟正黑體" panose="020B0604030504040204" pitchFamily="34" charset="-120"/>
                        </a:rPr>
                        <a:t>第三方套件</a:t>
                      </a:r>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r>
                        <a:rPr lang="zh-TW" altLang="zh-TW" sz="1200" kern="1200">
                          <a:solidFill>
                            <a:schemeClr val="dk1"/>
                          </a:solidFill>
                          <a:effectLst/>
                          <a:latin typeface="+mn-ea"/>
                          <a:ea typeface="+mn-ea"/>
                          <a:cs typeface="+mn-cs"/>
                        </a:rPr>
                        <a:t>應執行第三方套件檢測使用無資安風險套件。</a:t>
                      </a:r>
                      <a:endParaRPr lang="zh-TW" sz="1200" b="0">
                        <a:solidFill>
                          <a:schemeClr val="tx1"/>
                        </a:solidFill>
                        <a:effectLst/>
                        <a:latin typeface="+mn-ea"/>
                        <a:ea typeface="+mn-ea"/>
                      </a:endParaRPr>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zh-TW" altLang="en-US" sz="1200" b="1">
                          <a:solidFill>
                            <a:schemeClr val="tx1"/>
                          </a:solidFill>
                          <a:effectLst/>
                          <a:latin typeface="微軟正黑體"/>
                          <a:ea typeface="微軟正黑體"/>
                        </a:rPr>
                        <a:t>是</a:t>
                      </a:r>
                      <a:endParaRPr lang="zh-TW" sz="1200" b="1">
                        <a:solidFill>
                          <a:schemeClr val="tx1"/>
                        </a:solidFill>
                        <a:effectLst/>
                        <a:latin typeface="微軟正黑體" panose="020B0604030504040204" pitchFamily="34" charset="-120"/>
                        <a:ea typeface="微軟正黑體" panose="020B0604030504040204" pitchFamily="34" charset="-120"/>
                      </a:endParaRPr>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zh-TW" sz="1200" b="1">
                        <a:solidFill>
                          <a:schemeClr val="tx1"/>
                        </a:solidFill>
                        <a:effectLst/>
                        <a:latin typeface="微軟正黑體" panose="020B0604030504040204" pitchFamily="34" charset="-120"/>
                        <a:ea typeface="微軟正黑體" panose="020B0604030504040204" pitchFamily="34" charset="-120"/>
                      </a:endParaRPr>
                    </a:p>
                  </a:txBody>
                  <a:tcPr marL="72000" marR="72000" marT="36000" marB="36000" anchor="ctr">
                    <a:lnL w="9525" cap="flat" cmpd="sng" algn="ctr">
                      <a:solidFill>
                        <a:schemeClr val="bg1">
                          <a:lumMod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36641048"/>
                  </a:ext>
                </a:extLst>
              </a:tr>
              <a:tr h="273470">
                <a:tc vMerge="1">
                  <a:txBody>
                    <a:bodyPr/>
                    <a:lstStyle/>
                    <a:p>
                      <a:endParaRPr lang="zh-TW" altLang="en-US"/>
                    </a:p>
                  </a:txBody>
                  <a:tcPr/>
                </a:tc>
                <a:tc>
                  <a:txBody>
                    <a:bodyPr/>
                    <a:lstStyle/>
                    <a:p>
                      <a:pPr algn="ctr"/>
                      <a:r>
                        <a:rPr lang="en-US" altLang="zh-TW" sz="1200" b="0">
                          <a:solidFill>
                            <a:schemeClr val="tx1"/>
                          </a:solidFill>
                          <a:effectLst/>
                          <a:latin typeface="微軟正黑體" panose="020B0604030504040204" pitchFamily="34" charset="-120"/>
                          <a:ea typeface="微軟正黑體" panose="020B0604030504040204" pitchFamily="34" charset="-120"/>
                        </a:rPr>
                        <a:t>8</a:t>
                      </a:r>
                      <a:endParaRPr lang="zh-TW" sz="1200" b="0">
                        <a:solidFill>
                          <a:schemeClr val="tx1"/>
                        </a:solidFill>
                        <a:effectLst/>
                        <a:latin typeface="微軟正黑體" panose="020B0604030504040204" pitchFamily="34" charset="-120"/>
                        <a:ea typeface="微軟正黑體" panose="020B0604030504040204" pitchFamily="34" charset="-120"/>
                      </a:endParaRPr>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200" b="0">
                          <a:solidFill>
                            <a:schemeClr val="tx1"/>
                          </a:solidFill>
                          <a:effectLst/>
                          <a:latin typeface="微軟正黑體" panose="020B0604030504040204" pitchFamily="34" charset="-120"/>
                          <a:ea typeface="微軟正黑體" panose="020B0604030504040204" pitchFamily="34" charset="-120"/>
                        </a:rPr>
                        <a:t>Deep Security (</a:t>
                      </a:r>
                      <a:r>
                        <a:rPr lang="zh-TW" sz="1200" b="0">
                          <a:solidFill>
                            <a:schemeClr val="tx1"/>
                          </a:solidFill>
                          <a:effectLst/>
                          <a:latin typeface="微軟正黑體" panose="020B0604030504040204" pitchFamily="34" charset="-120"/>
                          <a:ea typeface="微軟正黑體" panose="020B0604030504040204" pitchFamily="34" charset="-120"/>
                        </a:rPr>
                        <a:t>公開的</a:t>
                      </a:r>
                      <a:r>
                        <a:rPr lang="en-US" sz="1200" b="0">
                          <a:solidFill>
                            <a:schemeClr val="tx1"/>
                          </a:solidFill>
                          <a:effectLst/>
                          <a:latin typeface="微軟正黑體" panose="020B0604030504040204" pitchFamily="34" charset="-120"/>
                          <a:ea typeface="微軟正黑體" panose="020B0604030504040204" pitchFamily="34" charset="-120"/>
                        </a:rPr>
                        <a:t>Web)</a:t>
                      </a:r>
                      <a:endParaRPr lang="zh-TW" sz="1200" b="0">
                        <a:solidFill>
                          <a:schemeClr val="tx1"/>
                        </a:solidFill>
                        <a:effectLst/>
                        <a:latin typeface="微軟正黑體" panose="020B0604030504040204" pitchFamily="34" charset="-120"/>
                        <a:ea typeface="微軟正黑體" panose="020B0604030504040204" pitchFamily="34" charset="-120"/>
                      </a:endParaRPr>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r>
                        <a:rPr lang="zh-TW" sz="1200" b="0">
                          <a:solidFill>
                            <a:schemeClr val="tx1"/>
                          </a:solidFill>
                          <a:effectLst/>
                          <a:latin typeface="+mn-ea"/>
                          <a:ea typeface="+mn-ea"/>
                        </a:rPr>
                        <a:t>需安裝</a:t>
                      </a:r>
                      <a:r>
                        <a:rPr lang="en-US" sz="1200" b="0">
                          <a:solidFill>
                            <a:schemeClr val="tx1"/>
                          </a:solidFill>
                          <a:effectLst/>
                          <a:latin typeface="+mn-ea"/>
                          <a:ea typeface="+mn-ea"/>
                        </a:rPr>
                        <a:t>Deep Security</a:t>
                      </a:r>
                      <a:r>
                        <a:rPr lang="zh-TW" sz="1200" b="0">
                          <a:solidFill>
                            <a:schemeClr val="tx1"/>
                          </a:solidFill>
                          <a:effectLst/>
                          <a:latin typeface="+mn-ea"/>
                          <a:ea typeface="+mn-ea"/>
                        </a:rPr>
                        <a:t>，監控所有網站路徑</a:t>
                      </a:r>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lvl="0" algn="ctr">
                        <a:buNone/>
                      </a:pPr>
                      <a:r>
                        <a:rPr lang="zh-TW" altLang="en-US" sz="1200" b="1" i="0" u="none" strike="noStrike" noProof="0">
                          <a:solidFill>
                            <a:schemeClr val="tx1"/>
                          </a:solidFill>
                          <a:effectLst/>
                          <a:latin typeface="Microsoft JhengHei"/>
                          <a:ea typeface="Microsoft JhengHei"/>
                        </a:rPr>
                        <a:t>不適用</a:t>
                      </a:r>
                      <a:endParaRPr lang="zh-TW"/>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r>
                        <a:rPr lang="zh-TW" altLang="en-US" sz="1200" b="1">
                          <a:solidFill>
                            <a:schemeClr val="tx1"/>
                          </a:solidFill>
                          <a:effectLst/>
                          <a:latin typeface="微軟正黑體"/>
                          <a:ea typeface="微軟正黑體"/>
                        </a:rPr>
                        <a:t>無對外</a:t>
                      </a:r>
                      <a:endParaRPr lang="zh-TW" sz="1200" b="1">
                        <a:solidFill>
                          <a:schemeClr val="tx1"/>
                        </a:solidFill>
                        <a:effectLst/>
                        <a:latin typeface="微軟正黑體" panose="020B0604030504040204" pitchFamily="34" charset="-120"/>
                        <a:ea typeface="微軟正黑體" panose="020B0604030504040204" pitchFamily="34" charset="-120"/>
                      </a:endParaRPr>
                    </a:p>
                  </a:txBody>
                  <a:tcPr marL="72000" marR="72000" marT="36000" marB="36000" anchor="ctr">
                    <a:lnL w="9525" cap="flat" cmpd="sng" algn="ctr">
                      <a:solidFill>
                        <a:schemeClr val="bg1">
                          <a:lumMod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70233222"/>
                  </a:ext>
                </a:extLst>
              </a:tr>
              <a:tr h="273470">
                <a:tc vMerge="1">
                  <a:txBody>
                    <a:bodyPr/>
                    <a:lstStyle/>
                    <a:p>
                      <a:endParaRPr lang="zh-TW" altLang="en-US"/>
                    </a:p>
                  </a:txBody>
                  <a:tcPr/>
                </a:tc>
                <a:tc>
                  <a:txBody>
                    <a:bodyPr/>
                    <a:lstStyle/>
                    <a:p>
                      <a:pPr algn="ctr"/>
                      <a:r>
                        <a:rPr lang="en-US" altLang="zh-TW" sz="1200" b="0">
                          <a:solidFill>
                            <a:schemeClr val="tx1"/>
                          </a:solidFill>
                          <a:effectLst/>
                          <a:latin typeface="微軟正黑體" panose="020B0604030504040204" pitchFamily="34" charset="-120"/>
                          <a:ea typeface="微軟正黑體" panose="020B0604030504040204" pitchFamily="34" charset="-120"/>
                        </a:rPr>
                        <a:t>9</a:t>
                      </a:r>
                      <a:endParaRPr lang="zh-TW" sz="1200" b="0">
                        <a:solidFill>
                          <a:schemeClr val="tx1"/>
                        </a:solidFill>
                        <a:effectLst/>
                        <a:latin typeface="微軟正黑體" panose="020B0604030504040204" pitchFamily="34" charset="-120"/>
                        <a:ea typeface="微軟正黑體" panose="020B0604030504040204" pitchFamily="34" charset="-120"/>
                      </a:endParaRPr>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200" b="0">
                          <a:solidFill>
                            <a:schemeClr val="tx1"/>
                          </a:solidFill>
                          <a:effectLst/>
                          <a:latin typeface="微軟正黑體" panose="020B0604030504040204" pitchFamily="34" charset="-120"/>
                          <a:ea typeface="微軟正黑體" panose="020B0604030504040204" pitchFamily="34" charset="-120"/>
                        </a:rPr>
                        <a:t>WAF</a:t>
                      </a:r>
                      <a:r>
                        <a:rPr lang="zh-TW" sz="1200" b="0">
                          <a:solidFill>
                            <a:schemeClr val="tx1"/>
                          </a:solidFill>
                          <a:effectLst/>
                          <a:latin typeface="微軟正黑體" panose="020B0604030504040204" pitchFamily="34" charset="-120"/>
                          <a:ea typeface="微軟正黑體" panose="020B0604030504040204" pitchFamily="34" charset="-120"/>
                        </a:rPr>
                        <a:t>防護</a:t>
                      </a:r>
                      <a:r>
                        <a:rPr lang="en-US" sz="1200" b="0">
                          <a:solidFill>
                            <a:schemeClr val="tx1"/>
                          </a:solidFill>
                          <a:effectLst/>
                          <a:latin typeface="微軟正黑體" panose="020B0604030504040204" pitchFamily="34" charset="-120"/>
                          <a:ea typeface="微軟正黑體" panose="020B0604030504040204" pitchFamily="34" charset="-120"/>
                        </a:rPr>
                        <a:t> (</a:t>
                      </a:r>
                      <a:r>
                        <a:rPr lang="zh-TW" sz="1200" b="0">
                          <a:solidFill>
                            <a:schemeClr val="tx1"/>
                          </a:solidFill>
                          <a:effectLst/>
                          <a:latin typeface="微軟正黑體" panose="020B0604030504040204" pitchFamily="34" charset="-120"/>
                          <a:ea typeface="微軟正黑體" panose="020B0604030504040204" pitchFamily="34" charset="-120"/>
                        </a:rPr>
                        <a:t>公開的</a:t>
                      </a:r>
                      <a:r>
                        <a:rPr lang="en-US" sz="1200" b="0">
                          <a:solidFill>
                            <a:schemeClr val="tx1"/>
                          </a:solidFill>
                          <a:effectLst/>
                          <a:latin typeface="微軟正黑體" panose="020B0604030504040204" pitchFamily="34" charset="-120"/>
                          <a:ea typeface="微軟正黑體" panose="020B0604030504040204" pitchFamily="34" charset="-120"/>
                        </a:rPr>
                        <a:t>Web)</a:t>
                      </a:r>
                      <a:endParaRPr lang="zh-TW" sz="1200" b="0">
                        <a:solidFill>
                          <a:schemeClr val="tx1"/>
                        </a:solidFill>
                        <a:effectLst/>
                        <a:latin typeface="微軟正黑體" panose="020B0604030504040204" pitchFamily="34" charset="-120"/>
                        <a:ea typeface="微軟正黑體" panose="020B0604030504040204" pitchFamily="34" charset="-120"/>
                      </a:endParaRPr>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r>
                        <a:rPr lang="zh-TW" sz="1200" b="0">
                          <a:solidFill>
                            <a:schemeClr val="tx1"/>
                          </a:solidFill>
                          <a:effectLst/>
                          <a:latin typeface="微軟正黑體" panose="020B0604030504040204" pitchFamily="34" charset="-120"/>
                          <a:ea typeface="微軟正黑體" panose="020B0604030504040204" pitchFamily="34" charset="-120"/>
                        </a:rPr>
                        <a:t>使用</a:t>
                      </a:r>
                      <a:r>
                        <a:rPr lang="en-US" sz="1200" b="0">
                          <a:solidFill>
                            <a:schemeClr val="tx1"/>
                          </a:solidFill>
                          <a:effectLst/>
                          <a:latin typeface="微軟正黑體" panose="020B0604030504040204" pitchFamily="34" charset="-120"/>
                          <a:ea typeface="微軟正黑體" panose="020B0604030504040204" pitchFamily="34" charset="-120"/>
                        </a:rPr>
                        <a:t>HTTP(S)</a:t>
                      </a:r>
                      <a:r>
                        <a:rPr lang="zh-TW" sz="1200" b="0">
                          <a:solidFill>
                            <a:schemeClr val="tx1"/>
                          </a:solidFill>
                          <a:effectLst/>
                          <a:latin typeface="微軟正黑體" panose="020B0604030504040204" pitchFamily="34" charset="-120"/>
                          <a:ea typeface="微軟正黑體" panose="020B0604030504040204" pitchFamily="34" charset="-120"/>
                        </a:rPr>
                        <a:t>的對外服務系統，需完成</a:t>
                      </a:r>
                      <a:r>
                        <a:rPr lang="en-US" sz="1200" b="0">
                          <a:solidFill>
                            <a:schemeClr val="tx1"/>
                          </a:solidFill>
                          <a:effectLst/>
                          <a:latin typeface="微軟正黑體" panose="020B0604030504040204" pitchFamily="34" charset="-120"/>
                          <a:ea typeface="微軟正黑體" panose="020B0604030504040204" pitchFamily="34" charset="-120"/>
                        </a:rPr>
                        <a:t>WAF</a:t>
                      </a:r>
                      <a:r>
                        <a:rPr lang="zh-TW" sz="1200" b="0">
                          <a:solidFill>
                            <a:schemeClr val="tx1"/>
                          </a:solidFill>
                          <a:effectLst/>
                          <a:latin typeface="微軟正黑體" panose="020B0604030504040204" pitchFamily="34" charset="-120"/>
                          <a:ea typeface="微軟正黑體" panose="020B0604030504040204" pitchFamily="34" charset="-120"/>
                        </a:rPr>
                        <a:t>防護設定</a:t>
                      </a:r>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lvl="0" algn="ctr">
                        <a:buNone/>
                      </a:pPr>
                      <a:r>
                        <a:rPr lang="zh-TW" altLang="en-US" sz="1200" b="1" i="0" u="none" strike="noStrike" noProof="0">
                          <a:solidFill>
                            <a:schemeClr val="tx1"/>
                          </a:solidFill>
                          <a:effectLst/>
                          <a:latin typeface="Microsoft JhengHei"/>
                          <a:ea typeface="Microsoft JhengHei"/>
                        </a:rPr>
                        <a:t>不適用</a:t>
                      </a:r>
                      <a:endParaRPr lang="zh-TW"/>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lvl="0">
                        <a:buNone/>
                      </a:pPr>
                      <a:r>
                        <a:rPr lang="zh-TW" altLang="en-US" sz="1200" b="1" i="0" u="none" strike="noStrike" noProof="0">
                          <a:solidFill>
                            <a:schemeClr val="tx1"/>
                          </a:solidFill>
                          <a:effectLst/>
                          <a:latin typeface="Microsoft JhengHei"/>
                          <a:ea typeface="Microsoft JhengHei"/>
                        </a:rPr>
                        <a:t>無對外</a:t>
                      </a:r>
                      <a:endParaRPr lang="zh-TW"/>
                    </a:p>
                  </a:txBody>
                  <a:tcPr marL="72000" marR="72000" marT="36000" marB="36000" anchor="ctr">
                    <a:lnL w="9525" cap="flat" cmpd="sng" algn="ctr">
                      <a:solidFill>
                        <a:schemeClr val="bg1">
                          <a:lumMod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08871726"/>
                  </a:ext>
                </a:extLst>
              </a:tr>
              <a:tr h="273470">
                <a:tc vMerge="1">
                  <a:txBody>
                    <a:bodyPr/>
                    <a:lstStyle/>
                    <a:p>
                      <a:endParaRPr lang="zh-TW" altLang="en-US"/>
                    </a:p>
                  </a:txBody>
                  <a:tcPr/>
                </a:tc>
                <a:tc rowSpan="2">
                  <a:txBody>
                    <a:bodyPr/>
                    <a:lstStyle/>
                    <a:p>
                      <a:pPr algn="ctr"/>
                      <a:r>
                        <a:rPr lang="en-US" altLang="zh-TW" sz="1200" b="0">
                          <a:solidFill>
                            <a:schemeClr val="tx1"/>
                          </a:solidFill>
                          <a:effectLst/>
                          <a:latin typeface="微軟正黑體" panose="020B0604030504040204" pitchFamily="34" charset="-120"/>
                          <a:ea typeface="微軟正黑體" panose="020B0604030504040204" pitchFamily="34" charset="-120"/>
                        </a:rPr>
                        <a:t>10</a:t>
                      </a:r>
                      <a:endParaRPr lang="zh-TW" sz="1200" b="0">
                        <a:solidFill>
                          <a:schemeClr val="tx1"/>
                        </a:solidFill>
                        <a:effectLst/>
                        <a:latin typeface="微軟正黑體" panose="020B0604030504040204" pitchFamily="34" charset="-120"/>
                        <a:ea typeface="微軟正黑體" panose="020B0604030504040204" pitchFamily="34" charset="-120"/>
                      </a:endParaRPr>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rowSpan="2">
                  <a:txBody>
                    <a:bodyPr/>
                    <a:lstStyle/>
                    <a:p>
                      <a:r>
                        <a:rPr lang="zh-TW" sz="1200" b="0">
                          <a:solidFill>
                            <a:schemeClr val="tx1"/>
                          </a:solidFill>
                          <a:effectLst/>
                          <a:latin typeface="微軟正黑體" panose="020B0604030504040204" pitchFamily="34" charset="-120"/>
                          <a:ea typeface="微軟正黑體" panose="020B0604030504040204" pitchFamily="34" charset="-120"/>
                        </a:rPr>
                        <a:t>個人資料</a:t>
                      </a:r>
                      <a:r>
                        <a:rPr lang="en-US" sz="1200" b="0">
                          <a:solidFill>
                            <a:schemeClr val="tx1"/>
                          </a:solidFill>
                          <a:effectLst/>
                          <a:latin typeface="微軟正黑體" panose="020B0604030504040204" pitchFamily="34" charset="-120"/>
                          <a:ea typeface="微軟正黑體" panose="020B0604030504040204" pitchFamily="34" charset="-120"/>
                        </a:rPr>
                        <a:t>(</a:t>
                      </a:r>
                      <a:r>
                        <a:rPr lang="zh-TW" sz="1200" b="0">
                          <a:solidFill>
                            <a:schemeClr val="tx1"/>
                          </a:solidFill>
                          <a:effectLst/>
                          <a:latin typeface="微軟正黑體" panose="020B0604030504040204" pitchFamily="34" charset="-120"/>
                          <a:ea typeface="微軟正黑體" panose="020B0604030504040204" pitchFamily="34" charset="-120"/>
                        </a:rPr>
                        <a:t>敏感性資料保護</a:t>
                      </a:r>
                      <a:r>
                        <a:rPr lang="en-US" sz="1200" b="0">
                          <a:solidFill>
                            <a:schemeClr val="tx1"/>
                          </a:solidFill>
                          <a:effectLst/>
                          <a:latin typeface="微軟正黑體" panose="020B0604030504040204" pitchFamily="34" charset="-120"/>
                          <a:ea typeface="微軟正黑體" panose="020B0604030504040204" pitchFamily="34" charset="-120"/>
                        </a:rPr>
                        <a:t>)</a:t>
                      </a:r>
                      <a:endParaRPr lang="zh-TW" sz="1200" b="0">
                        <a:solidFill>
                          <a:schemeClr val="tx1"/>
                        </a:solidFill>
                        <a:effectLst/>
                        <a:latin typeface="微軟正黑體" panose="020B0604030504040204" pitchFamily="34" charset="-120"/>
                        <a:ea typeface="微軟正黑體" panose="020B0604030504040204" pitchFamily="34" charset="-120"/>
                      </a:endParaRPr>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altLang="zh-TW" sz="1200" b="0">
                          <a:solidFill>
                            <a:schemeClr val="tx1"/>
                          </a:solidFill>
                          <a:effectLst/>
                          <a:latin typeface="微軟正黑體" panose="020B0604030504040204" pitchFamily="34" charset="-120"/>
                          <a:ea typeface="微軟正黑體" panose="020B0604030504040204" pitchFamily="34" charset="-120"/>
                        </a:rPr>
                        <a:t>(1)</a:t>
                      </a:r>
                      <a:r>
                        <a:rPr lang="zh-TW" altLang="en-US" sz="1200" b="0">
                          <a:solidFill>
                            <a:schemeClr val="tx1"/>
                          </a:solidFill>
                          <a:effectLst/>
                          <a:latin typeface="微軟正黑體" panose="020B0604030504040204" pitchFamily="34" charset="-120"/>
                          <a:ea typeface="微軟正黑體" panose="020B0604030504040204" pitchFamily="34" charset="-120"/>
                        </a:rPr>
                        <a:t> </a:t>
                      </a:r>
                      <a:r>
                        <a:rPr lang="zh-TW" sz="1200" b="0">
                          <a:solidFill>
                            <a:schemeClr val="tx1"/>
                          </a:solidFill>
                          <a:effectLst/>
                          <a:latin typeface="微軟正黑體" panose="020B0604030504040204" pitchFamily="34" charset="-120"/>
                          <a:ea typeface="微軟正黑體" panose="020B0604030504040204" pitchFamily="34" charset="-120"/>
                        </a:rPr>
                        <a:t>傳送需加密傳輸機制</a:t>
                      </a:r>
                      <a:r>
                        <a:rPr lang="en-US" sz="1200" b="0">
                          <a:solidFill>
                            <a:schemeClr val="tx1"/>
                          </a:solidFill>
                          <a:effectLst/>
                          <a:latin typeface="微軟正黑體" panose="020B0604030504040204" pitchFamily="34" charset="-120"/>
                          <a:ea typeface="微軟正黑體" panose="020B0604030504040204" pitchFamily="34" charset="-120"/>
                        </a:rPr>
                        <a:t>(SSL 1.2(</a:t>
                      </a:r>
                      <a:r>
                        <a:rPr lang="zh-TW" sz="1200" b="0">
                          <a:solidFill>
                            <a:schemeClr val="tx1"/>
                          </a:solidFill>
                          <a:effectLst/>
                          <a:latin typeface="微軟正黑體" panose="020B0604030504040204" pitchFamily="34" charset="-120"/>
                          <a:ea typeface="微軟正黑體" panose="020B0604030504040204" pitchFamily="34" charset="-120"/>
                        </a:rPr>
                        <a:t>含</a:t>
                      </a:r>
                      <a:r>
                        <a:rPr lang="en-US" sz="1200" b="0">
                          <a:solidFill>
                            <a:schemeClr val="tx1"/>
                          </a:solidFill>
                          <a:effectLst/>
                          <a:latin typeface="微軟正黑體" panose="020B0604030504040204" pitchFamily="34" charset="-120"/>
                          <a:ea typeface="微軟正黑體" panose="020B0604030504040204" pitchFamily="34" charset="-120"/>
                        </a:rPr>
                        <a:t>)</a:t>
                      </a:r>
                      <a:r>
                        <a:rPr lang="zh-TW" sz="1200" b="0">
                          <a:solidFill>
                            <a:schemeClr val="tx1"/>
                          </a:solidFill>
                          <a:effectLst/>
                          <a:latin typeface="微軟正黑體" panose="020B0604030504040204" pitchFamily="34" charset="-120"/>
                          <a:ea typeface="微軟正黑體" panose="020B0604030504040204" pitchFamily="34" charset="-120"/>
                        </a:rPr>
                        <a:t>以上</a:t>
                      </a:r>
                      <a:r>
                        <a:rPr lang="en-US" sz="1200" b="0">
                          <a:solidFill>
                            <a:schemeClr val="tx1"/>
                          </a:solidFill>
                          <a:effectLst/>
                          <a:latin typeface="微軟正黑體" panose="020B0604030504040204" pitchFamily="34" charset="-120"/>
                          <a:ea typeface="微軟正黑體" panose="020B0604030504040204" pitchFamily="34" charset="-120"/>
                        </a:rPr>
                        <a:t>)</a:t>
                      </a:r>
                      <a:endParaRPr lang="zh-TW" sz="1200" b="0">
                        <a:solidFill>
                          <a:schemeClr val="tx1"/>
                        </a:solidFill>
                        <a:effectLst/>
                        <a:latin typeface="微軟正黑體" panose="020B0604030504040204" pitchFamily="34" charset="-120"/>
                        <a:ea typeface="微軟正黑體" panose="020B0604030504040204" pitchFamily="34" charset="-120"/>
                      </a:endParaRPr>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lvl="0" algn="ctr">
                        <a:buNone/>
                      </a:pPr>
                      <a:r>
                        <a:rPr lang="zh-TW" sz="1200" b="1" i="0" u="none" strike="noStrike" noProof="0">
                          <a:solidFill>
                            <a:schemeClr val="tx1"/>
                          </a:solidFill>
                          <a:effectLst/>
                          <a:latin typeface="Microsoft JhengHei"/>
                          <a:ea typeface="Microsoft JhengHei"/>
                        </a:rPr>
                        <a:t>不適用</a:t>
                      </a:r>
                      <a:endParaRPr lang="zh-TW"/>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r>
                        <a:rPr lang="zh-TW" altLang="en-US" sz="1200" b="1">
                          <a:solidFill>
                            <a:schemeClr val="tx1"/>
                          </a:solidFill>
                          <a:effectLst/>
                          <a:latin typeface="微軟正黑體"/>
                          <a:ea typeface="微軟正黑體"/>
                        </a:rPr>
                        <a:t>無涉及個資</a:t>
                      </a:r>
                      <a:endParaRPr lang="zh-TW" sz="1200" b="1">
                        <a:solidFill>
                          <a:schemeClr val="tx1"/>
                        </a:solidFill>
                        <a:effectLst/>
                        <a:latin typeface="微軟正黑體" panose="020B0604030504040204" pitchFamily="34" charset="-120"/>
                        <a:ea typeface="微軟正黑體" panose="020B0604030504040204" pitchFamily="34" charset="-120"/>
                      </a:endParaRPr>
                    </a:p>
                  </a:txBody>
                  <a:tcPr marL="72000" marR="72000" marT="36000" marB="36000" anchor="ctr">
                    <a:lnL w="9525" cap="flat" cmpd="sng" algn="ctr">
                      <a:solidFill>
                        <a:schemeClr val="bg1">
                          <a:lumMod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88772098"/>
                  </a:ext>
                </a:extLst>
              </a:tr>
              <a:tr h="415675">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a:txBody>
                    <a:bodyPr/>
                    <a:lstStyle/>
                    <a:p>
                      <a:r>
                        <a:rPr lang="en-US" altLang="zh-TW" sz="1200" b="0">
                          <a:solidFill>
                            <a:schemeClr val="tx1"/>
                          </a:solidFill>
                          <a:effectLst/>
                          <a:latin typeface="微軟正黑體" panose="020B0604030504040204" pitchFamily="34" charset="-120"/>
                          <a:ea typeface="微軟正黑體" panose="020B0604030504040204" pitchFamily="34" charset="-120"/>
                        </a:rPr>
                        <a:t>(2)</a:t>
                      </a:r>
                      <a:r>
                        <a:rPr lang="zh-TW" altLang="en-US" sz="1200" b="0">
                          <a:solidFill>
                            <a:schemeClr val="tx1"/>
                          </a:solidFill>
                          <a:effectLst/>
                          <a:latin typeface="微軟正黑體" panose="020B0604030504040204" pitchFamily="34" charset="-120"/>
                          <a:ea typeface="微軟正黑體" panose="020B0604030504040204" pitchFamily="34" charset="-120"/>
                        </a:rPr>
                        <a:t> </a:t>
                      </a:r>
                      <a:r>
                        <a:rPr lang="zh-TW" sz="1200" b="0">
                          <a:solidFill>
                            <a:schemeClr val="tx1"/>
                          </a:solidFill>
                          <a:effectLst/>
                          <a:latin typeface="微軟正黑體" panose="020B0604030504040204" pitchFamily="34" charset="-120"/>
                          <a:ea typeface="微軟正黑體" panose="020B0604030504040204" pitchFamily="34" charset="-120"/>
                        </a:rPr>
                        <a:t>儲存敏感性資料時應透過憑證、雜湊（</a:t>
                      </a:r>
                      <a:r>
                        <a:rPr lang="en-US" sz="1200" b="0">
                          <a:solidFill>
                            <a:schemeClr val="tx1"/>
                          </a:solidFill>
                          <a:effectLst/>
                          <a:latin typeface="微軟正黑體" panose="020B0604030504040204" pitchFamily="34" charset="-120"/>
                          <a:ea typeface="微軟正黑體" panose="020B0604030504040204" pitchFamily="34" charset="-120"/>
                        </a:rPr>
                        <a:t>Hash</a:t>
                      </a:r>
                      <a:r>
                        <a:rPr lang="zh-TW" sz="1200" b="0">
                          <a:solidFill>
                            <a:schemeClr val="tx1"/>
                          </a:solidFill>
                          <a:effectLst/>
                          <a:latin typeface="微軟正黑體" panose="020B0604030504040204" pitchFamily="34" charset="-120"/>
                          <a:ea typeface="微軟正黑體" panose="020B0604030504040204" pitchFamily="34" charset="-120"/>
                        </a:rPr>
                        <a:t>）或加密等機制以確保資料傳送及儲存安全，並於使用時應進行適當去識別化</a:t>
                      </a:r>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lvl="0" algn="ctr">
                        <a:buNone/>
                      </a:pPr>
                      <a:r>
                        <a:rPr lang="zh-TW" altLang="en-US" sz="1200" b="1" i="0" u="none" strike="noStrike" noProof="0">
                          <a:solidFill>
                            <a:schemeClr val="tx1"/>
                          </a:solidFill>
                          <a:effectLst/>
                          <a:latin typeface="Microsoft JhengHei"/>
                          <a:ea typeface="Microsoft JhengHei"/>
                        </a:rPr>
                        <a:t>不適用</a:t>
                      </a:r>
                      <a:endParaRPr lang="zh-TW"/>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lvl="0">
                        <a:buNone/>
                      </a:pPr>
                      <a:r>
                        <a:rPr lang="zh-TW" altLang="en-US" sz="1200" b="1" i="0" u="none" strike="noStrike" noProof="0">
                          <a:solidFill>
                            <a:schemeClr val="tx1"/>
                          </a:solidFill>
                          <a:effectLst/>
                          <a:latin typeface="Microsoft JhengHei"/>
                          <a:ea typeface="Microsoft JhengHei"/>
                        </a:rPr>
                        <a:t>無涉及個資</a:t>
                      </a:r>
                      <a:endParaRPr lang="zh-TW"/>
                    </a:p>
                  </a:txBody>
                  <a:tcPr marL="72000" marR="72000" marT="36000" marB="36000" anchor="ctr">
                    <a:lnL w="9525" cap="flat" cmpd="sng" algn="ctr">
                      <a:solidFill>
                        <a:schemeClr val="bg1">
                          <a:lumMod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124172934"/>
                  </a:ext>
                </a:extLst>
              </a:tr>
              <a:tr h="273470">
                <a:tc rowSpan="3">
                  <a:txBody>
                    <a:bodyPr/>
                    <a:lstStyle/>
                    <a:p>
                      <a:pPr algn="ctr"/>
                      <a:r>
                        <a:rPr lang="zh-TW" sz="1200" b="0">
                          <a:solidFill>
                            <a:schemeClr val="tx1"/>
                          </a:solidFill>
                          <a:effectLst/>
                          <a:latin typeface="微軟正黑體" panose="020B0604030504040204" pitchFamily="34" charset="-120"/>
                          <a:ea typeface="微軟正黑體" panose="020B0604030504040204" pitchFamily="34" charset="-120"/>
                        </a:rPr>
                        <a:t>物聯網設備</a:t>
                      </a:r>
                    </a:p>
                  </a:txBody>
                  <a:tcPr marL="72000" marR="72000" marT="36000" marB="36000" anchor="ctr">
                    <a:lnL w="12700" cap="flat" cmpd="sng" algn="ctr">
                      <a:solidFill>
                        <a:schemeClr val="tx1">
                          <a:lumMod val="50000"/>
                          <a:lumOff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r>
                        <a:rPr lang="en-US" altLang="zh-TW" sz="1200" b="0">
                          <a:solidFill>
                            <a:schemeClr val="tx1"/>
                          </a:solidFill>
                          <a:effectLst/>
                          <a:latin typeface="微軟正黑體" panose="020B0604030504040204" pitchFamily="34" charset="-120"/>
                          <a:ea typeface="微軟正黑體" panose="020B0604030504040204" pitchFamily="34" charset="-120"/>
                        </a:rPr>
                        <a:t>11</a:t>
                      </a:r>
                      <a:endParaRPr lang="zh-TW" sz="1200" b="0">
                        <a:solidFill>
                          <a:schemeClr val="tx1"/>
                        </a:solidFill>
                        <a:effectLst/>
                        <a:latin typeface="微軟正黑體" panose="020B0604030504040204" pitchFamily="34" charset="-120"/>
                        <a:ea typeface="微軟正黑體" panose="020B0604030504040204" pitchFamily="34" charset="-120"/>
                      </a:endParaRPr>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r>
                        <a:rPr lang="zh-TW" sz="1200" b="0">
                          <a:solidFill>
                            <a:schemeClr val="tx1"/>
                          </a:solidFill>
                          <a:effectLst/>
                          <a:latin typeface="微軟正黑體" panose="020B0604030504040204" pitchFamily="34" charset="-120"/>
                          <a:ea typeface="微軟正黑體" panose="020B0604030504040204" pitchFamily="34" charset="-120"/>
                        </a:rPr>
                        <a:t>初始密碼變更</a:t>
                      </a:r>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r>
                        <a:rPr lang="zh-TW" sz="1200" b="0">
                          <a:solidFill>
                            <a:schemeClr val="tx1"/>
                          </a:solidFill>
                          <a:effectLst/>
                          <a:latin typeface="微軟正黑體" panose="020B0604030504040204" pitchFamily="34" charset="-120"/>
                          <a:ea typeface="微軟正黑體" panose="020B0604030504040204" pitchFamily="34" charset="-120"/>
                        </a:rPr>
                        <a:t>應變更設備之初始密碼。</a:t>
                      </a:r>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lvl="0" algn="ctr">
                        <a:buNone/>
                      </a:pPr>
                      <a:r>
                        <a:rPr lang="zh-TW" altLang="en-US" sz="1200" b="1" i="0" u="none" strike="noStrike" noProof="0">
                          <a:solidFill>
                            <a:schemeClr val="tx1"/>
                          </a:solidFill>
                          <a:effectLst/>
                          <a:latin typeface="Microsoft JhengHei"/>
                          <a:ea typeface="Microsoft JhengHei"/>
                        </a:rPr>
                        <a:t>不適用</a:t>
                      </a:r>
                      <a:endParaRPr lang="zh-TW"/>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r>
                        <a:rPr lang="zh-TW" altLang="en-US" sz="1200" b="1" dirty="0">
                          <a:solidFill>
                            <a:schemeClr val="tx1"/>
                          </a:solidFill>
                          <a:effectLst/>
                          <a:latin typeface="微軟正黑體"/>
                          <a:ea typeface="微軟正黑體"/>
                        </a:rPr>
                        <a:t>無物聯網設備</a:t>
                      </a:r>
                      <a:endParaRPr lang="zh-TW" sz="1200" b="1" dirty="0">
                        <a:solidFill>
                          <a:schemeClr val="tx1"/>
                        </a:solidFill>
                        <a:effectLst/>
                        <a:latin typeface="微軟正黑體" panose="020B0604030504040204" pitchFamily="34" charset="-120"/>
                        <a:ea typeface="微軟正黑體" panose="020B0604030504040204" pitchFamily="34" charset="-120"/>
                      </a:endParaRPr>
                    </a:p>
                  </a:txBody>
                  <a:tcPr marL="72000" marR="72000" marT="36000" marB="36000" anchor="ctr">
                    <a:lnL w="9525" cap="flat" cmpd="sng" algn="ctr">
                      <a:solidFill>
                        <a:schemeClr val="bg1">
                          <a:lumMod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17342612"/>
                  </a:ext>
                </a:extLst>
              </a:tr>
              <a:tr h="762982">
                <a:tc vMerge="1">
                  <a:txBody>
                    <a:bodyPr/>
                    <a:lstStyle/>
                    <a:p>
                      <a:endParaRPr lang="zh-TW" altLang="en-US"/>
                    </a:p>
                  </a:txBody>
                  <a:tcPr/>
                </a:tc>
                <a:tc>
                  <a:txBody>
                    <a:bodyPr/>
                    <a:lstStyle/>
                    <a:p>
                      <a:pPr algn="ctr"/>
                      <a:r>
                        <a:rPr lang="en-US" altLang="zh-TW" sz="1200" b="0">
                          <a:solidFill>
                            <a:schemeClr val="tx1"/>
                          </a:solidFill>
                          <a:effectLst/>
                          <a:latin typeface="微軟正黑體" panose="020B0604030504040204" pitchFamily="34" charset="-120"/>
                          <a:ea typeface="微軟正黑體" panose="020B0604030504040204" pitchFamily="34" charset="-120"/>
                        </a:rPr>
                        <a:t>12</a:t>
                      </a:r>
                      <a:endParaRPr lang="zh-TW" sz="1200" b="0">
                        <a:solidFill>
                          <a:schemeClr val="tx1"/>
                        </a:solidFill>
                        <a:effectLst/>
                        <a:latin typeface="微軟正黑體" panose="020B0604030504040204" pitchFamily="34" charset="-120"/>
                        <a:ea typeface="微軟正黑體" panose="020B0604030504040204" pitchFamily="34" charset="-120"/>
                      </a:endParaRPr>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r>
                        <a:rPr lang="zh-TW" sz="1200" b="0">
                          <a:solidFill>
                            <a:schemeClr val="tx1"/>
                          </a:solidFill>
                          <a:effectLst/>
                          <a:latin typeface="微軟正黑體" panose="020B0604030504040204" pitchFamily="34" charset="-120"/>
                          <a:ea typeface="微軟正黑體" panose="020B0604030504040204" pitchFamily="34" charset="-120"/>
                        </a:rPr>
                        <a:t>合約包含資訊安全相關協議</a:t>
                      </a:r>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r>
                        <a:rPr lang="zh-TW" sz="1200" b="0">
                          <a:solidFill>
                            <a:schemeClr val="tx1"/>
                          </a:solidFill>
                          <a:effectLst/>
                          <a:latin typeface="微軟正黑體" panose="020B0604030504040204" pitchFamily="34" charset="-120"/>
                          <a:ea typeface="微軟正黑體" panose="020B0604030504040204" pitchFamily="34" charset="-120"/>
                        </a:rPr>
                        <a:t>與物聯網設備供應商簽定採購合約時，其內容宜包含資訊安全相關協議，明確約定相關責任（如：服務承諾、安全性更新年限、主動通報設備已知資安漏洞並提出相關應變處置方案），確保設備不存在已知安全性漏洞。</a:t>
                      </a:r>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lvl="0" algn="ctr">
                        <a:buNone/>
                      </a:pPr>
                      <a:r>
                        <a:rPr lang="zh-TW" altLang="en-US" sz="1200" b="1" i="0" u="none" strike="noStrike" noProof="0">
                          <a:solidFill>
                            <a:schemeClr val="tx1"/>
                          </a:solidFill>
                          <a:effectLst/>
                          <a:latin typeface="Microsoft JhengHei"/>
                          <a:ea typeface="Microsoft JhengHei"/>
                        </a:rPr>
                        <a:t>不適用</a:t>
                      </a:r>
                      <a:endParaRPr lang="zh-TW"/>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lvl="0">
                        <a:buNone/>
                      </a:pPr>
                      <a:r>
                        <a:rPr lang="zh-TW" altLang="en-US" sz="1200" b="1" i="0" u="none" strike="noStrike" noProof="0">
                          <a:solidFill>
                            <a:schemeClr val="tx1"/>
                          </a:solidFill>
                          <a:effectLst/>
                          <a:latin typeface="Microsoft JhengHei"/>
                          <a:ea typeface="Microsoft JhengHei"/>
                        </a:rPr>
                        <a:t>無物聯網設備</a:t>
                      </a:r>
                      <a:endParaRPr lang="zh-TW"/>
                    </a:p>
                  </a:txBody>
                  <a:tcPr marL="72000" marR="72000" marT="36000" marB="36000" anchor="ctr">
                    <a:lnL w="9525" cap="flat" cmpd="sng" algn="ctr">
                      <a:solidFill>
                        <a:schemeClr val="bg1">
                          <a:lumMod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92566267"/>
                  </a:ext>
                </a:extLst>
              </a:tr>
              <a:tr h="273470">
                <a:tc vMerge="1">
                  <a:txBody>
                    <a:bodyPr/>
                    <a:lstStyle/>
                    <a:p>
                      <a:endParaRPr lang="zh-TW" altLang="en-US"/>
                    </a:p>
                  </a:txBody>
                  <a:tcPr/>
                </a:tc>
                <a:tc>
                  <a:txBody>
                    <a:bodyPr/>
                    <a:lstStyle/>
                    <a:p>
                      <a:pPr algn="ctr"/>
                      <a:r>
                        <a:rPr lang="en-US" altLang="zh-TW" sz="1200" b="0">
                          <a:solidFill>
                            <a:schemeClr val="tx1"/>
                          </a:solidFill>
                          <a:effectLst/>
                          <a:latin typeface="微軟正黑體" panose="020B0604030504040204" pitchFamily="34" charset="-120"/>
                          <a:ea typeface="微軟正黑體" panose="020B0604030504040204" pitchFamily="34" charset="-120"/>
                        </a:rPr>
                        <a:t>13</a:t>
                      </a:r>
                      <a:endParaRPr lang="zh-TW" sz="1200" b="0">
                        <a:solidFill>
                          <a:schemeClr val="tx1"/>
                        </a:solidFill>
                        <a:effectLst/>
                        <a:latin typeface="微軟正黑體" panose="020B0604030504040204" pitchFamily="34" charset="-120"/>
                        <a:ea typeface="微軟正黑體" panose="020B0604030504040204" pitchFamily="34" charset="-120"/>
                      </a:endParaRPr>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r>
                        <a:rPr lang="zh-TW" sz="1200" b="0">
                          <a:solidFill>
                            <a:schemeClr val="tx1"/>
                          </a:solidFill>
                          <a:effectLst/>
                          <a:latin typeface="微軟正黑體" panose="020B0604030504040204" pitchFamily="34" charset="-120"/>
                          <a:ea typeface="微軟正黑體" panose="020B0604030504040204" pitchFamily="34" charset="-120"/>
                        </a:rPr>
                        <a:t>安全性更新機制</a:t>
                      </a:r>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r>
                        <a:rPr lang="zh-TW" sz="1200" b="0">
                          <a:solidFill>
                            <a:schemeClr val="tx1"/>
                          </a:solidFill>
                          <a:effectLst/>
                          <a:latin typeface="微軟正黑體" panose="020B0604030504040204" pitchFamily="34" charset="-120"/>
                          <a:ea typeface="微軟正黑體" panose="020B0604030504040204" pitchFamily="34" charset="-120"/>
                        </a:rPr>
                        <a:t>具備安全性更新機制且定期（每年一次）更新</a:t>
                      </a:r>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lvl="0" algn="ctr">
                        <a:buNone/>
                      </a:pPr>
                      <a:r>
                        <a:rPr lang="zh-TW" altLang="en-US" sz="1200" b="1" i="0" u="none" strike="noStrike" noProof="0">
                          <a:solidFill>
                            <a:schemeClr val="tx1"/>
                          </a:solidFill>
                          <a:effectLst/>
                          <a:latin typeface="Microsoft JhengHei"/>
                          <a:ea typeface="Microsoft JhengHei"/>
                        </a:rPr>
                        <a:t>不適用</a:t>
                      </a:r>
                      <a:endParaRPr lang="zh-TW"/>
                    </a:p>
                  </a:txBody>
                  <a:tcPr marL="72000" marR="72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lvl="0">
                        <a:buNone/>
                      </a:pPr>
                      <a:r>
                        <a:rPr lang="zh-TW" altLang="en-US" sz="1200" b="1" i="0" u="none" strike="noStrike" noProof="0" dirty="0">
                          <a:solidFill>
                            <a:schemeClr val="tx1"/>
                          </a:solidFill>
                          <a:effectLst/>
                          <a:latin typeface="Microsoft JhengHei"/>
                          <a:ea typeface="Microsoft JhengHei"/>
                        </a:rPr>
                        <a:t>無物聯網設備</a:t>
                      </a:r>
                      <a:endParaRPr lang="zh-TW" dirty="0"/>
                    </a:p>
                  </a:txBody>
                  <a:tcPr marL="72000" marR="72000" marT="36000" marB="36000" anchor="ctr">
                    <a:lnL w="9525" cap="flat" cmpd="sng" algn="ctr">
                      <a:solidFill>
                        <a:schemeClr val="bg1">
                          <a:lumMod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74992260"/>
                  </a:ext>
                </a:extLst>
              </a:tr>
            </a:tbl>
          </a:graphicData>
        </a:graphic>
      </p:graphicFrame>
      <p:sp>
        <p:nvSpPr>
          <p:cNvPr id="5" name="圖說文字: 直線 4">
            <a:extLst>
              <a:ext uri="{FF2B5EF4-FFF2-40B4-BE49-F238E27FC236}">
                <a16:creationId xmlns:a16="http://schemas.microsoft.com/office/drawing/2014/main" id="{FC6954C7-4F71-3F5C-49BA-5743A03E185F}"/>
              </a:ext>
            </a:extLst>
          </p:cNvPr>
          <p:cNvSpPr/>
          <p:nvPr/>
        </p:nvSpPr>
        <p:spPr>
          <a:xfrm>
            <a:off x="7998918" y="150922"/>
            <a:ext cx="3406501" cy="531245"/>
          </a:xfrm>
          <a:prstGeom prst="borderCallout1">
            <a:avLst>
              <a:gd name="adj1" fmla="val 99996"/>
              <a:gd name="adj2" fmla="val 51981"/>
              <a:gd name="adj3" fmla="val 128944"/>
              <a:gd name="adj4" fmla="val 49293"/>
            </a:avLst>
          </a:prstGeom>
          <a:solidFill>
            <a:schemeClr val="bg1"/>
          </a:solidFill>
          <a:ln>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100" b="1" i="0" u="none" strike="noStrike" kern="1200" cap="none" spc="0" normalizeH="0" baseline="0" noProof="0">
                <a:ln>
                  <a:noFill/>
                </a:ln>
                <a:solidFill>
                  <a:prstClr val="black"/>
                </a:solidFill>
                <a:effectLst/>
                <a:uLnTx/>
                <a:uFillTx/>
                <a:latin typeface="微軟正黑體"/>
                <a:ea typeface="微軟正黑體"/>
                <a:cs typeface="+mn-cs"/>
              </a:rPr>
              <a:t>【</a:t>
            </a:r>
            <a:r>
              <a:rPr kumimoji="0" lang="zh-TW" altLang="en-US" sz="1100" b="1" i="0" u="none" strike="noStrike" kern="1200" cap="none" spc="0" normalizeH="0" baseline="0" noProof="0">
                <a:ln>
                  <a:noFill/>
                </a:ln>
                <a:solidFill>
                  <a:prstClr val="black"/>
                </a:solidFill>
                <a:effectLst/>
                <a:uLnTx/>
                <a:uFillTx/>
                <a:latin typeface="微軟正黑體"/>
                <a:ea typeface="微軟正黑體"/>
                <a:cs typeface="+mn-cs"/>
              </a:rPr>
              <a:t>填寫說明</a:t>
            </a:r>
            <a:r>
              <a:rPr kumimoji="0" lang="en-US" altLang="zh-TW" sz="1100" b="1" i="0" u="none" strike="noStrike" kern="1200" cap="none" spc="0" normalizeH="0" baseline="0" noProof="0">
                <a:ln>
                  <a:noFill/>
                </a:ln>
                <a:solidFill>
                  <a:prstClr val="black"/>
                </a:solidFill>
                <a:effectLst/>
                <a:uLnTx/>
                <a:uFillTx/>
                <a:latin typeface="微軟正黑體"/>
                <a:ea typeface="微軟正黑體"/>
                <a:cs typeface="+mn-cs"/>
              </a:rPr>
              <a:t>】</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zh-TW" altLang="en-US" sz="1100" b="0" i="0" u="none" strike="noStrike" kern="1200" cap="none" spc="0" normalizeH="0" baseline="0" noProof="0">
                <a:ln>
                  <a:noFill/>
                </a:ln>
                <a:solidFill>
                  <a:prstClr val="black"/>
                </a:solidFill>
                <a:effectLst/>
                <a:uLnTx/>
                <a:uFillTx/>
                <a:latin typeface="微軟正黑體"/>
                <a:ea typeface="微軟正黑體"/>
                <a:cs typeface="+mn-cs"/>
              </a:rPr>
              <a:t>若項目不適用請寫「不適用」。</a:t>
            </a:r>
            <a:endParaRPr kumimoji="0" lang="en-US" altLang="zh-TW" sz="1100" b="0" i="0" u="none" strike="noStrike" kern="1200" cap="none" spc="0" normalizeH="0" baseline="0" noProof="0">
              <a:ln>
                <a:noFill/>
              </a:ln>
              <a:solidFill>
                <a:prstClr val="black"/>
              </a:solidFill>
              <a:effectLst/>
              <a:uLnTx/>
              <a:uFillTx/>
              <a:latin typeface="微軟正黑體"/>
              <a:ea typeface="微軟正黑體"/>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zh-TW" altLang="en-US" sz="1100" b="0" i="0" u="none" strike="noStrike" kern="1200" cap="none" spc="0" normalizeH="0" baseline="0" noProof="0">
                <a:ln>
                  <a:noFill/>
                </a:ln>
                <a:solidFill>
                  <a:prstClr val="black"/>
                </a:solidFill>
                <a:effectLst/>
                <a:uLnTx/>
                <a:uFillTx/>
                <a:latin typeface="微軟正黑體"/>
                <a:ea typeface="微軟正黑體"/>
                <a:cs typeface="+mn-cs"/>
              </a:rPr>
              <a:t>若是否檢測</a:t>
            </a:r>
            <a:r>
              <a:rPr kumimoji="0" lang="en-US" altLang="zh-TW" sz="1100" b="0" i="0" u="none" strike="noStrike" kern="1200" cap="none" spc="0" normalizeH="0" baseline="0" noProof="0">
                <a:ln>
                  <a:noFill/>
                </a:ln>
                <a:solidFill>
                  <a:prstClr val="black"/>
                </a:solidFill>
                <a:effectLst/>
                <a:uLnTx/>
                <a:uFillTx/>
                <a:latin typeface="微軟正黑體"/>
                <a:ea typeface="微軟正黑體"/>
                <a:cs typeface="+mn-cs"/>
              </a:rPr>
              <a:t>&lt;&gt;”</a:t>
            </a:r>
            <a:r>
              <a:rPr kumimoji="0" lang="zh-TW" altLang="en-US" sz="1100" b="0" i="0" u="none" strike="noStrike" kern="1200" cap="none" spc="0" normalizeH="0" baseline="0" noProof="0">
                <a:ln>
                  <a:noFill/>
                </a:ln>
                <a:solidFill>
                  <a:prstClr val="black"/>
                </a:solidFill>
                <a:effectLst/>
                <a:uLnTx/>
                <a:uFillTx/>
                <a:latin typeface="微軟正黑體"/>
                <a:ea typeface="微軟正黑體"/>
                <a:cs typeface="+mn-cs"/>
              </a:rPr>
              <a:t>是</a:t>
            </a:r>
            <a:r>
              <a:rPr kumimoji="0" lang="en-US" altLang="zh-TW" sz="1100" b="0" i="0" u="none" strike="noStrike" kern="1200" cap="none" spc="0" normalizeH="0" baseline="0" noProof="0">
                <a:ln>
                  <a:noFill/>
                </a:ln>
                <a:solidFill>
                  <a:prstClr val="black"/>
                </a:solidFill>
                <a:effectLst/>
                <a:uLnTx/>
                <a:uFillTx/>
                <a:latin typeface="微軟正黑體"/>
                <a:ea typeface="微軟正黑體"/>
                <a:cs typeface="+mn-cs"/>
              </a:rPr>
              <a:t>”</a:t>
            </a:r>
            <a:r>
              <a:rPr kumimoji="0" lang="zh-TW" altLang="en-US" sz="1100" b="0" i="0" u="none" strike="noStrike" kern="1200" cap="none" spc="0" normalizeH="0" baseline="0" noProof="0">
                <a:ln>
                  <a:noFill/>
                </a:ln>
                <a:solidFill>
                  <a:prstClr val="black"/>
                </a:solidFill>
                <a:effectLst/>
                <a:uLnTx/>
                <a:uFillTx/>
                <a:latin typeface="微軟正黑體"/>
                <a:ea typeface="微軟正黑體"/>
                <a:cs typeface="+mn-cs"/>
              </a:rPr>
              <a:t>，請在備註說明原因。</a:t>
            </a:r>
          </a:p>
        </p:txBody>
      </p:sp>
    </p:spTree>
    <p:extLst>
      <p:ext uri="{BB962C8B-B14F-4D97-AF65-F5344CB8AC3E}">
        <p14:creationId xmlns:p14="http://schemas.microsoft.com/office/powerpoint/2010/main" val="3925690313"/>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0ADEAB4-FB67-9A88-A600-26D892C66145}"/>
              </a:ext>
            </a:extLst>
          </p:cNvPr>
          <p:cNvSpPr>
            <a:spLocks noGrp="1"/>
          </p:cNvSpPr>
          <p:nvPr>
            <p:ph type="title"/>
          </p:nvPr>
        </p:nvSpPr>
        <p:spPr/>
        <p:txBody>
          <a:bodyPr/>
          <a:lstStyle/>
          <a:p>
            <a:r>
              <a:rPr lang="zh-TW" altLang="en-US"/>
              <a:t>系統架構 </a:t>
            </a:r>
            <a:r>
              <a:rPr lang="en-US" altLang="zh-TW"/>
              <a:t>– </a:t>
            </a:r>
            <a:r>
              <a:rPr lang="zh-TW" altLang="en-US"/>
              <a:t>相關問題</a:t>
            </a:r>
          </a:p>
        </p:txBody>
      </p:sp>
      <p:sp>
        <p:nvSpPr>
          <p:cNvPr id="3" name="內容版面配置區 2">
            <a:extLst>
              <a:ext uri="{FF2B5EF4-FFF2-40B4-BE49-F238E27FC236}">
                <a16:creationId xmlns:a16="http://schemas.microsoft.com/office/drawing/2014/main" id="{5E9AA6A7-CF90-5F9F-890D-98642FD346EB}"/>
              </a:ext>
            </a:extLst>
          </p:cNvPr>
          <p:cNvSpPr txBox="1">
            <a:spLocks/>
          </p:cNvSpPr>
          <p:nvPr/>
        </p:nvSpPr>
        <p:spPr>
          <a:xfrm>
            <a:off x="436228" y="907057"/>
            <a:ext cx="11306537" cy="5474738"/>
          </a:xfrm>
          <a:prstGeom prst="rect">
            <a:avLst/>
          </a:prstGeom>
        </p:spPr>
        <p:txBody>
          <a:bodyPr/>
          <a:lstStyle>
            <a:lvl1pPr algn="l" defTabSz="913526" rtl="0" eaLnBrk="1" fontAlgn="base" hangingPunct="1">
              <a:spcBef>
                <a:spcPct val="0"/>
              </a:spcBef>
              <a:spcAft>
                <a:spcPct val="0"/>
              </a:spcAft>
              <a:buSzPct val="120000"/>
              <a:defRPr sz="1600">
                <a:solidFill>
                  <a:schemeClr val="tx1"/>
                </a:solidFill>
                <a:latin typeface="+mn-lt"/>
                <a:ea typeface="+mn-ea"/>
                <a:cs typeface="+mn-cs"/>
              </a:defRPr>
            </a:lvl1pPr>
            <a:lvl2pPr marL="147396" indent="-145775" algn="l" defTabSz="913526" rtl="0" eaLnBrk="1" fontAlgn="base" hangingPunct="1">
              <a:spcBef>
                <a:spcPct val="0"/>
              </a:spcBef>
              <a:spcAft>
                <a:spcPct val="0"/>
              </a:spcAft>
              <a:buSzPct val="120000"/>
              <a:buChar char="•"/>
              <a:defRPr sz="1600">
                <a:solidFill>
                  <a:schemeClr val="tx1"/>
                </a:solidFill>
                <a:latin typeface="+mn-lt"/>
                <a:ea typeface="+mn-ea"/>
              </a:defRPr>
            </a:lvl2pPr>
            <a:lvl3pPr marL="301269" indent="-152254" algn="l" defTabSz="913526" rtl="0" eaLnBrk="1" fontAlgn="base" hangingPunct="1">
              <a:spcBef>
                <a:spcPct val="0"/>
              </a:spcBef>
              <a:spcAft>
                <a:spcPct val="0"/>
              </a:spcAft>
              <a:buChar char="–"/>
              <a:defRPr sz="1600">
                <a:solidFill>
                  <a:schemeClr val="tx1"/>
                </a:solidFill>
                <a:latin typeface="+mn-lt"/>
                <a:ea typeface="+mn-ea"/>
              </a:defRPr>
            </a:lvl3pPr>
            <a:lvl4pPr marL="440566" indent="-137677" algn="l" defTabSz="913526" rtl="0" eaLnBrk="1" fontAlgn="base" hangingPunct="1">
              <a:spcBef>
                <a:spcPct val="0"/>
              </a:spcBef>
              <a:spcAft>
                <a:spcPct val="0"/>
              </a:spcAft>
              <a:buSzPct val="89000"/>
              <a:buChar char="•"/>
              <a:defRPr sz="1600">
                <a:solidFill>
                  <a:schemeClr val="tx1"/>
                </a:solidFill>
                <a:latin typeface="+mn-lt"/>
                <a:ea typeface="+mn-ea"/>
              </a:defRPr>
            </a:lvl4pPr>
            <a:lvl5pPr marL="594440" indent="-152254" algn="l" defTabSz="913526" rtl="0" eaLnBrk="1" fontAlgn="base" hangingPunct="1">
              <a:spcBef>
                <a:spcPct val="0"/>
              </a:spcBef>
              <a:spcAft>
                <a:spcPct val="0"/>
              </a:spcAft>
              <a:buSzPct val="75000"/>
              <a:buChar char="–"/>
              <a:defRPr sz="1600">
                <a:solidFill>
                  <a:schemeClr val="tx1"/>
                </a:solidFill>
                <a:latin typeface="+mn-lt"/>
                <a:ea typeface="+mn-ea"/>
              </a:defRPr>
            </a:lvl5pPr>
            <a:lvl6pPr marL="1060921" indent="-152254" algn="l" defTabSz="913526" rtl="0" eaLnBrk="1" fontAlgn="base" hangingPunct="1">
              <a:spcBef>
                <a:spcPct val="0"/>
              </a:spcBef>
              <a:spcAft>
                <a:spcPct val="0"/>
              </a:spcAft>
              <a:buSzPct val="75000"/>
              <a:buChar char="–"/>
              <a:defRPr sz="1600">
                <a:solidFill>
                  <a:schemeClr val="tx1"/>
                </a:solidFill>
                <a:latin typeface="+mn-lt"/>
                <a:ea typeface="+mn-ea"/>
              </a:defRPr>
            </a:lvl6pPr>
            <a:lvl7pPr marL="1527402" indent="-152254" algn="l" defTabSz="913526" rtl="0" eaLnBrk="1" fontAlgn="base" hangingPunct="1">
              <a:spcBef>
                <a:spcPct val="0"/>
              </a:spcBef>
              <a:spcAft>
                <a:spcPct val="0"/>
              </a:spcAft>
              <a:buSzPct val="75000"/>
              <a:buChar char="–"/>
              <a:defRPr sz="1600">
                <a:solidFill>
                  <a:schemeClr val="tx1"/>
                </a:solidFill>
                <a:latin typeface="+mn-lt"/>
                <a:ea typeface="+mn-ea"/>
              </a:defRPr>
            </a:lvl7pPr>
            <a:lvl8pPr marL="1993884" indent="-152254" algn="l" defTabSz="913526" rtl="0" eaLnBrk="1" fontAlgn="base" hangingPunct="1">
              <a:spcBef>
                <a:spcPct val="0"/>
              </a:spcBef>
              <a:spcAft>
                <a:spcPct val="0"/>
              </a:spcAft>
              <a:buSzPct val="75000"/>
              <a:buChar char="–"/>
              <a:defRPr sz="1600">
                <a:solidFill>
                  <a:schemeClr val="tx1"/>
                </a:solidFill>
                <a:latin typeface="+mn-lt"/>
                <a:ea typeface="+mn-ea"/>
              </a:defRPr>
            </a:lvl8pPr>
            <a:lvl9pPr marL="2460365" indent="-152254" algn="l" defTabSz="913526" rtl="0" eaLnBrk="1" fontAlgn="base" hangingPunct="1">
              <a:spcBef>
                <a:spcPct val="0"/>
              </a:spcBef>
              <a:spcAft>
                <a:spcPct val="0"/>
              </a:spcAft>
              <a:buSzPct val="75000"/>
              <a:buChar char="–"/>
              <a:defRPr sz="1600">
                <a:solidFill>
                  <a:schemeClr val="tx1"/>
                </a:solidFill>
                <a:latin typeface="+mn-lt"/>
                <a:ea typeface="+mn-ea"/>
              </a:defRPr>
            </a:lvl9pPr>
          </a:lstStyle>
          <a:p>
            <a:r>
              <a:rPr lang="zh-TW" altLang="en-US" b="1" kern="0" dirty="0"/>
              <a:t>問題：</a:t>
            </a:r>
            <a:r>
              <a:rPr lang="zh-TW" altLang="en-US" kern="0" dirty="0"/>
              <a:t>建置系統時，評估負載平衡或流量分散機制，俾分散異常事件影響範圍</a:t>
            </a:r>
            <a:endParaRPr lang="en-US" altLang="zh-TW" kern="0" dirty="0"/>
          </a:p>
          <a:p>
            <a:r>
              <a:rPr lang="zh-TW" altLang="en-US" b="1" kern="0" dirty="0"/>
              <a:t>回答：本系統僅為永豐投顧內部使用之輔助性質工具，無負載平衡、流量分散之需求。</a:t>
            </a:r>
            <a:endParaRPr lang="en-US" altLang="zh-TW" kern="0" dirty="0"/>
          </a:p>
          <a:p>
            <a:endParaRPr lang="en-US" altLang="zh-TW" kern="0" dirty="0"/>
          </a:p>
          <a:p>
            <a:r>
              <a:rPr lang="zh-TW" altLang="en-US" b="1" kern="0" dirty="0"/>
              <a:t>問題：</a:t>
            </a:r>
            <a:r>
              <a:rPr lang="zh-TW" altLang="en-US" kern="0" dirty="0"/>
              <a:t>建置系統時，有將資源擴充及備援系統轉換之便利性與時效性納入考量。</a:t>
            </a:r>
            <a:endParaRPr lang="en-US" altLang="zh-TW" kern="0" dirty="0"/>
          </a:p>
          <a:p>
            <a:r>
              <a:rPr lang="zh-TW" altLang="en-US" b="1" kern="0" dirty="0"/>
              <a:t>回答：本系統僅為永豐投顧內部使用之輔助性質工具，無擴充之需求。</a:t>
            </a:r>
            <a:endParaRPr lang="en-US" altLang="zh-TW" kern="0" dirty="0"/>
          </a:p>
          <a:p>
            <a:endParaRPr lang="en-US" altLang="zh-TW" kern="0" dirty="0"/>
          </a:p>
          <a:p>
            <a:endParaRPr lang="en-US" altLang="zh-TW" kern="0" dirty="0"/>
          </a:p>
          <a:p>
            <a:endParaRPr lang="en-US" altLang="zh-TW" kern="0" dirty="0"/>
          </a:p>
          <a:p>
            <a:endParaRPr lang="en-US" altLang="zh-TW" kern="0" dirty="0"/>
          </a:p>
          <a:p>
            <a:endParaRPr lang="en-US" altLang="zh-TW" kern="0" dirty="0"/>
          </a:p>
          <a:p>
            <a:endParaRPr lang="en-US" altLang="zh-TW" kern="0" dirty="0"/>
          </a:p>
          <a:p>
            <a:endParaRPr lang="en-US" altLang="zh-TW" kern="0" dirty="0"/>
          </a:p>
          <a:p>
            <a:endParaRPr lang="zh-TW" altLang="en-US" kern="0" dirty="0"/>
          </a:p>
        </p:txBody>
      </p:sp>
    </p:spTree>
    <p:extLst>
      <p:ext uri="{BB962C8B-B14F-4D97-AF65-F5344CB8AC3E}">
        <p14:creationId xmlns:p14="http://schemas.microsoft.com/office/powerpoint/2010/main" val="884052883"/>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49576CE-F475-73BB-FABB-49E0D8637D77}"/>
              </a:ext>
            </a:extLst>
          </p:cNvPr>
          <p:cNvSpPr>
            <a:spLocks noGrp="1"/>
          </p:cNvSpPr>
          <p:nvPr>
            <p:ph type="title"/>
          </p:nvPr>
        </p:nvSpPr>
        <p:spPr/>
        <p:txBody>
          <a:bodyPr/>
          <a:lstStyle/>
          <a:p>
            <a:r>
              <a:rPr lang="zh-TW" altLang="en-US" dirty="0"/>
              <a:t>附件</a:t>
            </a:r>
            <a:r>
              <a:rPr lang="en-US" altLang="zh-TW" dirty="0"/>
              <a:t>1</a:t>
            </a:r>
            <a:endParaRPr lang="zh-TW" altLang="en-US" dirty="0"/>
          </a:p>
        </p:txBody>
      </p:sp>
      <p:pic>
        <p:nvPicPr>
          <p:cNvPr id="4" name="圖片 3" descr="一張含有 文字, 螢幕擷取畫面, 字型 的圖片&#10;&#10;自動產生的描述">
            <a:extLst>
              <a:ext uri="{FF2B5EF4-FFF2-40B4-BE49-F238E27FC236}">
                <a16:creationId xmlns:a16="http://schemas.microsoft.com/office/drawing/2014/main" id="{F36BE080-28EE-1B40-6198-8AD844EA85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40780"/>
            <a:ext cx="12192000" cy="5275198"/>
          </a:xfrm>
          <a:prstGeom prst="rect">
            <a:avLst/>
          </a:prstGeom>
        </p:spPr>
      </p:pic>
      <p:graphicFrame>
        <p:nvGraphicFramePr>
          <p:cNvPr id="5" name="物件 4">
            <a:extLst>
              <a:ext uri="{FF2B5EF4-FFF2-40B4-BE49-F238E27FC236}">
                <a16:creationId xmlns:a16="http://schemas.microsoft.com/office/drawing/2014/main" id="{DBBBDDFD-1A9E-2126-6335-149D3B79A7E5}"/>
              </a:ext>
            </a:extLst>
          </p:cNvPr>
          <p:cNvGraphicFramePr>
            <a:graphicFrameLocks noChangeAspect="1"/>
          </p:cNvGraphicFramePr>
          <p:nvPr>
            <p:extLst>
              <p:ext uri="{D42A27DB-BD31-4B8C-83A1-F6EECF244321}">
                <p14:modId xmlns:p14="http://schemas.microsoft.com/office/powerpoint/2010/main" val="1411853125"/>
              </p:ext>
            </p:extLst>
          </p:nvPr>
        </p:nvGraphicFramePr>
        <p:xfrm>
          <a:off x="7924800" y="5064710"/>
          <a:ext cx="4267200" cy="514350"/>
        </p:xfrm>
        <a:graphic>
          <a:graphicData uri="http://schemas.openxmlformats.org/presentationml/2006/ole">
            <mc:AlternateContent xmlns:mc="http://schemas.openxmlformats.org/markup-compatibility/2006">
              <mc:Choice xmlns:v="urn:schemas-microsoft-com:vml" Requires="v">
                <p:oleObj name="封裝程式殼層物件" showAsIcon="1" r:id="rId3" imgW="4267328" imgH="514350" progId="Package">
                  <p:embed/>
                </p:oleObj>
              </mc:Choice>
              <mc:Fallback>
                <p:oleObj name="封裝程式殼層物件" showAsIcon="1" r:id="rId3" imgW="4267328" imgH="514350" progId="Package">
                  <p:embed/>
                  <p:pic>
                    <p:nvPicPr>
                      <p:cNvPr id="5" name="物件 4">
                        <a:extLst>
                          <a:ext uri="{FF2B5EF4-FFF2-40B4-BE49-F238E27FC236}">
                            <a16:creationId xmlns:a16="http://schemas.microsoft.com/office/drawing/2014/main" id="{DBBBDDFD-1A9E-2126-6335-149D3B79A7E5}"/>
                          </a:ext>
                        </a:extLst>
                      </p:cNvPr>
                      <p:cNvPicPr/>
                      <p:nvPr/>
                    </p:nvPicPr>
                    <p:blipFill>
                      <a:blip r:embed="rId4"/>
                      <a:stretch>
                        <a:fillRect/>
                      </a:stretch>
                    </p:blipFill>
                    <p:spPr>
                      <a:xfrm>
                        <a:off x="7924800" y="5064710"/>
                        <a:ext cx="4267200" cy="514350"/>
                      </a:xfrm>
                      <a:prstGeom prst="rect">
                        <a:avLst/>
                      </a:prstGeom>
                    </p:spPr>
                  </p:pic>
                </p:oleObj>
              </mc:Fallback>
            </mc:AlternateContent>
          </a:graphicData>
        </a:graphic>
      </p:graphicFrame>
    </p:spTree>
    <p:extLst>
      <p:ext uri="{BB962C8B-B14F-4D97-AF65-F5344CB8AC3E}">
        <p14:creationId xmlns:p14="http://schemas.microsoft.com/office/powerpoint/2010/main" val="2035440852"/>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CDF1F-4EE2-0E8C-AC3A-E8ED4E443BA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9297282-A5BA-141A-377A-36AE2D8DE6F2}"/>
              </a:ext>
            </a:extLst>
          </p:cNvPr>
          <p:cNvSpPr>
            <a:spLocks noGrp="1"/>
          </p:cNvSpPr>
          <p:nvPr>
            <p:ph type="title"/>
          </p:nvPr>
        </p:nvSpPr>
        <p:spPr/>
        <p:txBody>
          <a:bodyPr/>
          <a:lstStyle/>
          <a:p>
            <a:r>
              <a:rPr lang="zh-TW" altLang="en-US" dirty="0"/>
              <a:t>附件</a:t>
            </a:r>
            <a:r>
              <a:rPr lang="en-US" altLang="zh-TW" dirty="0"/>
              <a:t>2</a:t>
            </a:r>
            <a:endParaRPr lang="zh-TW" altLang="en-US" dirty="0"/>
          </a:p>
        </p:txBody>
      </p:sp>
      <p:pic>
        <p:nvPicPr>
          <p:cNvPr id="8" name="圖片 7" descr="一張含有 文字, 螢幕擷取畫面, 字型, 數字 的圖片&#10;&#10;自動產生的描述">
            <a:extLst>
              <a:ext uri="{FF2B5EF4-FFF2-40B4-BE49-F238E27FC236}">
                <a16:creationId xmlns:a16="http://schemas.microsoft.com/office/drawing/2014/main" id="{513488A7-6C5F-42FE-C610-C0BAE02BD1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895" y="915047"/>
            <a:ext cx="10603345" cy="5305580"/>
          </a:xfrm>
          <a:prstGeom prst="rect">
            <a:avLst/>
          </a:prstGeom>
        </p:spPr>
      </p:pic>
      <p:graphicFrame>
        <p:nvGraphicFramePr>
          <p:cNvPr id="9" name="物件 8">
            <a:extLst>
              <a:ext uri="{FF2B5EF4-FFF2-40B4-BE49-F238E27FC236}">
                <a16:creationId xmlns:a16="http://schemas.microsoft.com/office/drawing/2014/main" id="{1EFF5D12-5E5F-9052-5E8E-DB611165165A}"/>
              </a:ext>
            </a:extLst>
          </p:cNvPr>
          <p:cNvGraphicFramePr>
            <a:graphicFrameLocks noChangeAspect="1"/>
          </p:cNvGraphicFramePr>
          <p:nvPr>
            <p:extLst>
              <p:ext uri="{D42A27DB-BD31-4B8C-83A1-F6EECF244321}">
                <p14:modId xmlns:p14="http://schemas.microsoft.com/office/powerpoint/2010/main" val="745864804"/>
              </p:ext>
            </p:extLst>
          </p:nvPr>
        </p:nvGraphicFramePr>
        <p:xfrm>
          <a:off x="8155420" y="3666548"/>
          <a:ext cx="4410075" cy="514350"/>
        </p:xfrm>
        <a:graphic>
          <a:graphicData uri="http://schemas.openxmlformats.org/presentationml/2006/ole">
            <mc:AlternateContent xmlns:mc="http://schemas.openxmlformats.org/markup-compatibility/2006">
              <mc:Choice xmlns:v="urn:schemas-microsoft-com:vml" Requires="v">
                <p:oleObj name="封裝程式殼層物件" showAsIcon="1" r:id="rId3" imgW="4410251" imgH="514350" progId="Package">
                  <p:embed/>
                </p:oleObj>
              </mc:Choice>
              <mc:Fallback>
                <p:oleObj name="封裝程式殼層物件" showAsIcon="1" r:id="rId3" imgW="4410251" imgH="514350" progId="Package">
                  <p:embed/>
                  <p:pic>
                    <p:nvPicPr>
                      <p:cNvPr id="0" name=""/>
                      <p:cNvPicPr/>
                      <p:nvPr/>
                    </p:nvPicPr>
                    <p:blipFill>
                      <a:blip r:embed="rId4"/>
                      <a:stretch>
                        <a:fillRect/>
                      </a:stretch>
                    </p:blipFill>
                    <p:spPr>
                      <a:xfrm>
                        <a:off x="8155420" y="3666548"/>
                        <a:ext cx="4410075" cy="514350"/>
                      </a:xfrm>
                      <a:prstGeom prst="rect">
                        <a:avLst/>
                      </a:prstGeom>
                    </p:spPr>
                  </p:pic>
                </p:oleObj>
              </mc:Fallback>
            </mc:AlternateContent>
          </a:graphicData>
        </a:graphic>
      </p:graphicFrame>
    </p:spTree>
    <p:extLst>
      <p:ext uri="{BB962C8B-B14F-4D97-AF65-F5344CB8AC3E}">
        <p14:creationId xmlns:p14="http://schemas.microsoft.com/office/powerpoint/2010/main" val="67149046"/>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473D9-539E-5145-61E1-C0F8B136C109}"/>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31C179B-D02B-4A0D-05AD-4DDCA70376D6}"/>
              </a:ext>
            </a:extLst>
          </p:cNvPr>
          <p:cNvSpPr>
            <a:spLocks noGrp="1"/>
          </p:cNvSpPr>
          <p:nvPr>
            <p:ph type="title"/>
          </p:nvPr>
        </p:nvSpPr>
        <p:spPr>
          <a:xfrm>
            <a:off x="527051" y="149736"/>
            <a:ext cx="11233150" cy="630238"/>
          </a:xfrm>
          <a:prstGeom prst="rect">
            <a:avLst/>
          </a:prstGeom>
        </p:spPr>
        <p:txBody>
          <a:bodyPr/>
          <a:lstStyle/>
          <a:p>
            <a:r>
              <a:rPr lang="zh-TW" altLang="en-US" sz="3200" b="0" dirty="0">
                <a:solidFill>
                  <a:schemeClr val="tx1"/>
                </a:solidFill>
                <a:latin typeface="+mn-ea"/>
                <a:ea typeface="+mn-ea"/>
              </a:rPr>
              <a:t>軟體架構</a:t>
            </a:r>
          </a:p>
        </p:txBody>
      </p:sp>
      <p:cxnSp>
        <p:nvCxnSpPr>
          <p:cNvPr id="7" name="直線單箭頭接點 6">
            <a:extLst>
              <a:ext uri="{FF2B5EF4-FFF2-40B4-BE49-F238E27FC236}">
                <a16:creationId xmlns:a16="http://schemas.microsoft.com/office/drawing/2014/main" id="{2F7C9BE2-917C-128D-EE8C-0876EF60D7AD}"/>
              </a:ext>
            </a:extLst>
          </p:cNvPr>
          <p:cNvCxnSpPr>
            <a:cxnSpLocks/>
            <a:stCxn id="9" idx="3"/>
            <a:endCxn id="15" idx="1"/>
          </p:cNvCxnSpPr>
          <p:nvPr/>
        </p:nvCxnSpPr>
        <p:spPr bwMode="auto">
          <a:xfrm flipV="1">
            <a:off x="2940802" y="2864478"/>
            <a:ext cx="2218652" cy="96656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9" name="矩形 8">
            <a:extLst>
              <a:ext uri="{FF2B5EF4-FFF2-40B4-BE49-F238E27FC236}">
                <a16:creationId xmlns:a16="http://schemas.microsoft.com/office/drawing/2014/main" id="{AACF8950-81DE-CC5C-C993-1A4046F4A5F7}"/>
              </a:ext>
            </a:extLst>
          </p:cNvPr>
          <p:cNvSpPr/>
          <p:nvPr/>
        </p:nvSpPr>
        <p:spPr bwMode="auto">
          <a:xfrm>
            <a:off x="1474771" y="3648166"/>
            <a:ext cx="1466031" cy="365749"/>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fontAlgn="base">
              <a:spcBef>
                <a:spcPct val="0"/>
              </a:spcBef>
              <a:spcAft>
                <a:spcPct val="0"/>
              </a:spcAft>
            </a:pPr>
            <a:r>
              <a:rPr kumimoji="0" lang="zh-TW" altLang="en-US" sz="1400" normalizeH="0" baseline="0" dirty="0">
                <a:ln>
                  <a:noFill/>
                </a:ln>
                <a:latin typeface="+mn-ea"/>
                <a:sym typeface="Times New Roman"/>
              </a:rPr>
              <a:t>投顧公槽</a:t>
            </a:r>
          </a:p>
        </p:txBody>
      </p:sp>
      <p:sp>
        <p:nvSpPr>
          <p:cNvPr id="14" name="文字方塊 13">
            <a:extLst>
              <a:ext uri="{FF2B5EF4-FFF2-40B4-BE49-F238E27FC236}">
                <a16:creationId xmlns:a16="http://schemas.microsoft.com/office/drawing/2014/main" id="{95EDE0C2-E069-D415-7EAF-436788437F3B}"/>
              </a:ext>
            </a:extLst>
          </p:cNvPr>
          <p:cNvSpPr txBox="1"/>
          <p:nvPr/>
        </p:nvSpPr>
        <p:spPr>
          <a:xfrm>
            <a:off x="3394109" y="3626442"/>
            <a:ext cx="445507" cy="276999"/>
          </a:xfrm>
          <a:prstGeom prst="rect">
            <a:avLst/>
          </a:prstGeom>
          <a:noFill/>
        </p:spPr>
        <p:txBody>
          <a:bodyPr wrap="none" rtlCol="0">
            <a:spAutoFit/>
          </a:bodyPr>
          <a:lstStyle/>
          <a:p>
            <a:r>
              <a:rPr lang="en-US" altLang="zh-TW" sz="1200" dirty="0">
                <a:latin typeface="+mj-ea"/>
                <a:ea typeface="+mj-ea"/>
              </a:rPr>
              <a:t>FTP</a:t>
            </a:r>
          </a:p>
        </p:txBody>
      </p:sp>
      <p:sp>
        <p:nvSpPr>
          <p:cNvPr id="22" name="矩形 21">
            <a:extLst>
              <a:ext uri="{FF2B5EF4-FFF2-40B4-BE49-F238E27FC236}">
                <a16:creationId xmlns:a16="http://schemas.microsoft.com/office/drawing/2014/main" id="{C7EE70B0-D91C-2E73-9986-92A2F62521DA}"/>
              </a:ext>
            </a:extLst>
          </p:cNvPr>
          <p:cNvSpPr/>
          <p:nvPr/>
        </p:nvSpPr>
        <p:spPr bwMode="auto">
          <a:xfrm>
            <a:off x="1474771" y="1684194"/>
            <a:ext cx="1466031" cy="365749"/>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fontAlgn="base">
              <a:spcBef>
                <a:spcPct val="0"/>
              </a:spcBef>
              <a:spcAft>
                <a:spcPct val="0"/>
              </a:spcAft>
            </a:pPr>
            <a:r>
              <a:rPr kumimoji="0" lang="en-US" altLang="zh-TW" sz="1400" normalizeH="0" baseline="0" dirty="0" err="1">
                <a:ln>
                  <a:noFill/>
                </a:ln>
                <a:latin typeface="+mn-ea"/>
                <a:sym typeface="Times New Roman"/>
              </a:rPr>
              <a:t>Cmoney</a:t>
            </a:r>
            <a:r>
              <a:rPr kumimoji="0" lang="en-US" altLang="zh-TW" sz="1400" normalizeH="0" baseline="0" dirty="0">
                <a:ln>
                  <a:noFill/>
                </a:ln>
                <a:latin typeface="+mn-ea"/>
                <a:sym typeface="Times New Roman"/>
              </a:rPr>
              <a:t> DB</a:t>
            </a:r>
          </a:p>
        </p:txBody>
      </p:sp>
      <p:cxnSp>
        <p:nvCxnSpPr>
          <p:cNvPr id="23" name="直線單箭頭接點 22">
            <a:extLst>
              <a:ext uri="{FF2B5EF4-FFF2-40B4-BE49-F238E27FC236}">
                <a16:creationId xmlns:a16="http://schemas.microsoft.com/office/drawing/2014/main" id="{7013453F-1DCF-E662-22DE-F30A1176CCD1}"/>
              </a:ext>
            </a:extLst>
          </p:cNvPr>
          <p:cNvCxnSpPr>
            <a:cxnSpLocks/>
            <a:stCxn id="22" idx="3"/>
            <a:endCxn id="13" idx="1"/>
          </p:cNvCxnSpPr>
          <p:nvPr/>
        </p:nvCxnSpPr>
        <p:spPr bwMode="auto">
          <a:xfrm>
            <a:off x="2940802" y="1867069"/>
            <a:ext cx="2217099" cy="186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7" name="矩形 26">
            <a:extLst>
              <a:ext uri="{FF2B5EF4-FFF2-40B4-BE49-F238E27FC236}">
                <a16:creationId xmlns:a16="http://schemas.microsoft.com/office/drawing/2014/main" id="{4FF2156E-56DA-6279-190B-3E0708926D59}"/>
              </a:ext>
            </a:extLst>
          </p:cNvPr>
          <p:cNvSpPr/>
          <p:nvPr/>
        </p:nvSpPr>
        <p:spPr bwMode="auto">
          <a:xfrm>
            <a:off x="1474771" y="4798882"/>
            <a:ext cx="1466031" cy="365749"/>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fontAlgn="base">
              <a:spcBef>
                <a:spcPct val="0"/>
              </a:spcBef>
              <a:spcAft>
                <a:spcPct val="0"/>
              </a:spcAft>
            </a:pPr>
            <a:r>
              <a:rPr kumimoji="0" lang="zh-TW" altLang="en-US" sz="1400" normalizeH="0" baseline="0" dirty="0">
                <a:ln>
                  <a:noFill/>
                </a:ln>
                <a:latin typeface="+mn-ea"/>
                <a:sym typeface="Times New Roman"/>
              </a:rPr>
              <a:t>公開資訊觀測站</a:t>
            </a:r>
          </a:p>
        </p:txBody>
      </p:sp>
      <p:sp>
        <p:nvSpPr>
          <p:cNvPr id="28" name="矩形 27">
            <a:extLst>
              <a:ext uri="{FF2B5EF4-FFF2-40B4-BE49-F238E27FC236}">
                <a16:creationId xmlns:a16="http://schemas.microsoft.com/office/drawing/2014/main" id="{A9BDB157-0537-D845-7BC7-BC9D5D8C0B13}"/>
              </a:ext>
            </a:extLst>
          </p:cNvPr>
          <p:cNvSpPr/>
          <p:nvPr/>
        </p:nvSpPr>
        <p:spPr bwMode="auto">
          <a:xfrm>
            <a:off x="8738347" y="4216450"/>
            <a:ext cx="1499688" cy="365749"/>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fontAlgn="base">
              <a:spcBef>
                <a:spcPct val="0"/>
              </a:spcBef>
              <a:spcAft>
                <a:spcPct val="0"/>
              </a:spcAft>
            </a:pPr>
            <a:r>
              <a:rPr kumimoji="0" lang="en-US" altLang="zh-TW" sz="1400" normalizeH="0" baseline="0" dirty="0">
                <a:ln>
                  <a:noFill/>
                </a:ln>
                <a:latin typeface="+mn-ea"/>
                <a:sym typeface="Times New Roman"/>
              </a:rPr>
              <a:t>Azure Open AI</a:t>
            </a:r>
          </a:p>
        </p:txBody>
      </p:sp>
      <p:cxnSp>
        <p:nvCxnSpPr>
          <p:cNvPr id="29" name="直線單箭頭接點 28">
            <a:extLst>
              <a:ext uri="{FF2B5EF4-FFF2-40B4-BE49-F238E27FC236}">
                <a16:creationId xmlns:a16="http://schemas.microsoft.com/office/drawing/2014/main" id="{DEFF7D9E-9A34-CDF3-3010-310F85884092}"/>
              </a:ext>
            </a:extLst>
          </p:cNvPr>
          <p:cNvCxnSpPr>
            <a:cxnSpLocks/>
            <a:stCxn id="27" idx="3"/>
            <a:endCxn id="18" idx="1"/>
          </p:cNvCxnSpPr>
          <p:nvPr/>
        </p:nvCxnSpPr>
        <p:spPr bwMode="auto">
          <a:xfrm>
            <a:off x="2940802" y="4981757"/>
            <a:ext cx="2217099"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3" name="文字方塊 15">
            <a:extLst>
              <a:ext uri="{FF2B5EF4-FFF2-40B4-BE49-F238E27FC236}">
                <a16:creationId xmlns:a16="http://schemas.microsoft.com/office/drawing/2014/main" id="{CC17B804-BAE0-9A5C-E26B-D2BEA78566FD}"/>
              </a:ext>
            </a:extLst>
          </p:cNvPr>
          <p:cNvSpPr txBox="1">
            <a:spLocks noChangeArrowheads="1"/>
          </p:cNvSpPr>
          <p:nvPr/>
        </p:nvSpPr>
        <p:spPr bwMode="auto">
          <a:xfrm>
            <a:off x="8709417" y="3873336"/>
            <a:ext cx="787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TW" sz="1200" i="0" u="none" strike="noStrike" cap="none" normalizeH="0" baseline="0" dirty="0">
                <a:ln>
                  <a:noFill/>
                </a:ln>
                <a:solidFill>
                  <a:srgbClr val="000000"/>
                </a:solidFill>
                <a:effectLst/>
                <a:latin typeface="Arial" panose="020B0604020202020204" pitchFamily="34" charset="0"/>
                <a:ea typeface="STKaiti" panose="02010600040101010101" pitchFamily="2" charset="-122"/>
                <a:cs typeface="Arial" panose="020B0604020202020204" pitchFamily="34" charset="0"/>
              </a:rPr>
              <a:t>API</a:t>
            </a:r>
            <a:endParaRPr kumimoji="0" lang="en-US" altLang="zh-TW" sz="1800" i="0" u="none" strike="noStrike" cap="none" normalizeH="0" baseline="0" dirty="0">
              <a:ln>
                <a:noFill/>
              </a:ln>
              <a:solidFill>
                <a:schemeClr val="tx1"/>
              </a:solidFill>
              <a:effectLst/>
              <a:latin typeface="Arial" panose="020B0604020202020204" pitchFamily="34" charset="0"/>
            </a:endParaRPr>
          </a:p>
        </p:txBody>
      </p:sp>
      <p:sp>
        <p:nvSpPr>
          <p:cNvPr id="44" name="文字方塊 15">
            <a:extLst>
              <a:ext uri="{FF2B5EF4-FFF2-40B4-BE49-F238E27FC236}">
                <a16:creationId xmlns:a16="http://schemas.microsoft.com/office/drawing/2014/main" id="{721DC368-1645-6342-DD4F-9FA70AF1DDCA}"/>
              </a:ext>
            </a:extLst>
          </p:cNvPr>
          <p:cNvSpPr txBox="1">
            <a:spLocks noChangeArrowheads="1"/>
          </p:cNvSpPr>
          <p:nvPr/>
        </p:nvSpPr>
        <p:spPr bwMode="auto">
          <a:xfrm>
            <a:off x="1474771" y="4216450"/>
            <a:ext cx="787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defPPr>
              <a:defRPr lang="zh-TW"/>
            </a:defPPr>
            <a:lvl1pPr marR="0" lvl="0" indent="0" eaLnBrk="0" fontAlgn="base" hangingPunct="0">
              <a:lnSpc>
                <a:spcPct val="100000"/>
              </a:lnSpc>
              <a:spcBef>
                <a:spcPct val="0"/>
              </a:spcBef>
              <a:spcAft>
                <a:spcPct val="0"/>
              </a:spcAft>
              <a:buClrTx/>
              <a:buSzTx/>
              <a:buFontTx/>
              <a:buNone/>
              <a:tabLst/>
              <a:defRPr kumimoji="0" sz="1200" i="0" u="none" strike="noStrike" cap="none" normalizeH="0" baseline="0">
                <a:ln>
                  <a:noFill/>
                </a:ln>
                <a:solidFill>
                  <a:srgbClr val="000000"/>
                </a:solidFill>
                <a:effectLst/>
                <a:latin typeface="Arial" panose="020B0604020202020204" pitchFamily="34" charset="0"/>
                <a:ea typeface="STKaiti" panose="02010600040101010101" pitchFamily="2" charset="-122"/>
                <a:cs typeface="Arial" panose="020B0604020202020204" pitchFamily="34" charset="0"/>
              </a:defRPr>
            </a:lvl1pPr>
          </a:lstStyle>
          <a:p>
            <a:r>
              <a:rPr lang="en-US" altLang="zh-TW" dirty="0"/>
              <a:t>WEB</a:t>
            </a:r>
          </a:p>
        </p:txBody>
      </p:sp>
      <p:sp>
        <p:nvSpPr>
          <p:cNvPr id="45" name="矩形 44">
            <a:extLst>
              <a:ext uri="{FF2B5EF4-FFF2-40B4-BE49-F238E27FC236}">
                <a16:creationId xmlns:a16="http://schemas.microsoft.com/office/drawing/2014/main" id="{2F74A33E-C3B9-16A2-3B23-508C833DFDCD}"/>
              </a:ext>
            </a:extLst>
          </p:cNvPr>
          <p:cNvSpPr/>
          <p:nvPr/>
        </p:nvSpPr>
        <p:spPr bwMode="auto">
          <a:xfrm>
            <a:off x="4528126" y="1000535"/>
            <a:ext cx="3695276" cy="4892265"/>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12" name="文字方塊 11">
            <a:extLst>
              <a:ext uri="{FF2B5EF4-FFF2-40B4-BE49-F238E27FC236}">
                <a16:creationId xmlns:a16="http://schemas.microsoft.com/office/drawing/2014/main" id="{E98B0347-85A2-4CFC-BA5E-34868E85058B}"/>
              </a:ext>
            </a:extLst>
          </p:cNvPr>
          <p:cNvSpPr txBox="1"/>
          <p:nvPr/>
        </p:nvSpPr>
        <p:spPr>
          <a:xfrm>
            <a:off x="4994783" y="1148550"/>
            <a:ext cx="2087418" cy="646331"/>
          </a:xfrm>
          <a:prstGeom prst="rect">
            <a:avLst/>
          </a:prstGeom>
          <a:noFill/>
        </p:spPr>
        <p:txBody>
          <a:bodyPr wrap="square" rtlCol="0" anchor="ctr">
            <a:spAutoFit/>
          </a:bodyPr>
          <a:lstStyle/>
          <a:p>
            <a:r>
              <a:rPr lang="zh-TW" altLang="en-US" sz="1800" b="1" dirty="0">
                <a:latin typeface="+mn-ea"/>
              </a:rPr>
              <a:t>投顧永豐大腦系統</a:t>
            </a:r>
          </a:p>
          <a:p>
            <a:endParaRPr lang="zh-TW" altLang="en-US" dirty="0"/>
          </a:p>
        </p:txBody>
      </p:sp>
      <p:grpSp>
        <p:nvGrpSpPr>
          <p:cNvPr id="42" name="群組 41">
            <a:extLst>
              <a:ext uri="{FF2B5EF4-FFF2-40B4-BE49-F238E27FC236}">
                <a16:creationId xmlns:a16="http://schemas.microsoft.com/office/drawing/2014/main" id="{E709D265-6CF8-71B3-D738-4D0E8259C200}"/>
              </a:ext>
            </a:extLst>
          </p:cNvPr>
          <p:cNvGrpSpPr/>
          <p:nvPr/>
        </p:nvGrpSpPr>
        <p:grpSpPr>
          <a:xfrm>
            <a:off x="8913497" y="2871982"/>
            <a:ext cx="691515" cy="737235"/>
            <a:chOff x="0" y="2165614"/>
            <a:chExt cx="940803" cy="1003339"/>
          </a:xfrm>
        </p:grpSpPr>
        <p:pic>
          <p:nvPicPr>
            <p:cNvPr id="46" name="圖形 18" descr="男性形象">
              <a:extLst>
                <a:ext uri="{FF2B5EF4-FFF2-40B4-BE49-F238E27FC236}">
                  <a16:creationId xmlns:a16="http://schemas.microsoft.com/office/drawing/2014/main" id="{03DA2E77-B1AE-D950-1BC7-6FF91461355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7251" y="2165614"/>
              <a:ext cx="614618" cy="614618"/>
            </a:xfrm>
            <a:prstGeom prst="rect">
              <a:avLst/>
            </a:prstGeom>
          </p:spPr>
        </p:pic>
        <p:sp>
          <p:nvSpPr>
            <p:cNvPr id="47" name="文字方塊 19">
              <a:extLst>
                <a:ext uri="{FF2B5EF4-FFF2-40B4-BE49-F238E27FC236}">
                  <a16:creationId xmlns:a16="http://schemas.microsoft.com/office/drawing/2014/main" id="{81E809A5-DA40-6C5B-1AAF-AA42DF092713}"/>
                </a:ext>
              </a:extLst>
            </p:cNvPr>
            <p:cNvSpPr txBox="1"/>
            <p:nvPr/>
          </p:nvSpPr>
          <p:spPr>
            <a:xfrm>
              <a:off x="0" y="2733539"/>
              <a:ext cx="940803" cy="435414"/>
            </a:xfrm>
            <a:prstGeom prst="rect">
              <a:avLst/>
            </a:prstGeom>
            <a:noFill/>
          </p:spPr>
          <p:txBody>
            <a:bodyPr wrap="none" rtlCol="0">
              <a:spAutoFit/>
            </a:bodyPr>
            <a:lstStyle/>
            <a:p>
              <a:pPr fontAlgn="base"/>
              <a:r>
                <a:rPr lang="zh-TW" sz="1000" b="1" kern="1200" dirty="0">
                  <a:solidFill>
                    <a:srgbClr val="000000"/>
                  </a:solidFill>
                  <a:effectLst/>
                  <a:latin typeface="Calibri" panose="020F0502020204030204" pitchFamily="34" charset="0"/>
                  <a:ea typeface="新細明體" panose="02020500000000000000" pitchFamily="18" charset="-120"/>
                  <a:cs typeface="Times New Roman" panose="02020603050405020304" pitchFamily="18" charset="0"/>
                </a:rPr>
                <a:t>投顧同仁</a:t>
              </a:r>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grpSp>
      <p:cxnSp>
        <p:nvCxnSpPr>
          <p:cNvPr id="48" name="直線單箭頭接點 47">
            <a:extLst>
              <a:ext uri="{FF2B5EF4-FFF2-40B4-BE49-F238E27FC236}">
                <a16:creationId xmlns:a16="http://schemas.microsoft.com/office/drawing/2014/main" id="{675A7983-CEBB-1E6A-6B5E-623A3E6C5C43}"/>
              </a:ext>
            </a:extLst>
          </p:cNvPr>
          <p:cNvCxnSpPr>
            <a:cxnSpLocks/>
          </p:cNvCxnSpPr>
          <p:nvPr/>
        </p:nvCxnSpPr>
        <p:spPr bwMode="auto">
          <a:xfrm>
            <a:off x="8223402" y="3219529"/>
            <a:ext cx="711194"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59" name="文字方塊 15">
            <a:extLst>
              <a:ext uri="{FF2B5EF4-FFF2-40B4-BE49-F238E27FC236}">
                <a16:creationId xmlns:a16="http://schemas.microsoft.com/office/drawing/2014/main" id="{C5869043-1A3A-3C37-4DF6-50E5F35A8F9A}"/>
              </a:ext>
            </a:extLst>
          </p:cNvPr>
          <p:cNvSpPr txBox="1">
            <a:spLocks noChangeArrowheads="1"/>
          </p:cNvSpPr>
          <p:nvPr/>
        </p:nvSpPr>
        <p:spPr bwMode="auto">
          <a:xfrm>
            <a:off x="1474771" y="5244770"/>
            <a:ext cx="1476712" cy="978550"/>
          </a:xfrm>
          <a:prstGeom prst="rect">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bodyPr>
          <a:lstStyle>
            <a:defPPr>
              <a:defRPr lang="zh-TW"/>
            </a:defPPr>
            <a:lvl1pPr algn="ctr" fontAlgn="base">
              <a:spcBef>
                <a:spcPct val="0"/>
              </a:spcBef>
              <a:spcAft>
                <a:spcPct val="0"/>
              </a:spcAft>
              <a:defRPr kumimoji="0" sz="1400" normalizeH="0" baseline="0">
                <a:ln>
                  <a:noFill/>
                </a:ln>
                <a:latin typeface="+mn-ea"/>
              </a:defRPr>
            </a:lvl1pPr>
          </a:lstStyle>
          <a:p>
            <a:pPr algn="l"/>
            <a:r>
              <a:rPr lang="en-US" altLang="zh-TW" dirty="0"/>
              <a:t>1.</a:t>
            </a:r>
            <a:r>
              <a:rPr lang="zh-TW" altLang="en-US" dirty="0"/>
              <a:t> 法說會投影片</a:t>
            </a:r>
            <a:br>
              <a:rPr lang="en-US" altLang="zh-TW" dirty="0"/>
            </a:br>
            <a:r>
              <a:rPr lang="en-US" altLang="zh-TW" dirty="0"/>
              <a:t>2.</a:t>
            </a:r>
            <a:r>
              <a:rPr lang="zh-TW" altLang="en-US" dirty="0"/>
              <a:t> 法說會影音</a:t>
            </a:r>
            <a:endParaRPr lang="en-US" altLang="zh-TW" dirty="0"/>
          </a:p>
          <a:p>
            <a:pPr algn="l"/>
            <a:r>
              <a:rPr lang="en-US" altLang="zh-TW" dirty="0"/>
              <a:t>3.</a:t>
            </a:r>
            <a:r>
              <a:rPr lang="zh-TW" altLang="en-US" dirty="0"/>
              <a:t> 季報</a:t>
            </a:r>
            <a:endParaRPr lang="en-US" altLang="zh-TW" dirty="0"/>
          </a:p>
          <a:p>
            <a:pPr algn="l"/>
            <a:r>
              <a:rPr lang="en-US" altLang="zh-TW" dirty="0"/>
              <a:t>4.</a:t>
            </a:r>
            <a:r>
              <a:rPr lang="zh-TW" altLang="en-US" dirty="0"/>
              <a:t> 年報</a:t>
            </a:r>
            <a:endParaRPr lang="en-US" altLang="zh-TW" dirty="0"/>
          </a:p>
        </p:txBody>
      </p:sp>
      <p:sp>
        <p:nvSpPr>
          <p:cNvPr id="60" name="文字方塊 15">
            <a:extLst>
              <a:ext uri="{FF2B5EF4-FFF2-40B4-BE49-F238E27FC236}">
                <a16:creationId xmlns:a16="http://schemas.microsoft.com/office/drawing/2014/main" id="{804562C4-1556-24CF-EF18-4B01FC5C797C}"/>
              </a:ext>
            </a:extLst>
          </p:cNvPr>
          <p:cNvSpPr txBox="1">
            <a:spLocks noChangeArrowheads="1"/>
          </p:cNvSpPr>
          <p:nvPr/>
        </p:nvSpPr>
        <p:spPr bwMode="auto">
          <a:xfrm>
            <a:off x="8738347" y="4688968"/>
            <a:ext cx="2602838" cy="977783"/>
          </a:xfrm>
          <a:prstGeom prst="rect">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bodyPr>
          <a:lstStyle>
            <a:defPPr>
              <a:defRPr lang="zh-TW"/>
            </a:defPPr>
            <a:lvl1pPr algn="ctr" fontAlgn="base">
              <a:spcBef>
                <a:spcPct val="0"/>
              </a:spcBef>
              <a:spcAft>
                <a:spcPct val="0"/>
              </a:spcAft>
              <a:defRPr kumimoji="0" sz="1400" normalizeH="0" baseline="0">
                <a:ln>
                  <a:noFill/>
                </a:ln>
                <a:latin typeface="+mn-ea"/>
              </a:defRPr>
            </a:lvl1pPr>
          </a:lstStyle>
          <a:p>
            <a:pPr algn="l"/>
            <a:r>
              <a:rPr lang="en-US" altLang="zh-TW" dirty="0"/>
              <a:t>1.</a:t>
            </a:r>
            <a:r>
              <a:rPr lang="zh-TW" altLang="en-US" dirty="0"/>
              <a:t> </a:t>
            </a:r>
            <a:r>
              <a:rPr lang="en-US" altLang="zh-TW" dirty="0"/>
              <a:t>gpt-4o</a:t>
            </a:r>
            <a:br>
              <a:rPr lang="en-US" altLang="zh-TW" dirty="0"/>
            </a:br>
            <a:r>
              <a:rPr lang="en-US" altLang="zh-TW" dirty="0"/>
              <a:t>2. gpt-4o-mini</a:t>
            </a:r>
          </a:p>
          <a:p>
            <a:pPr algn="l"/>
            <a:r>
              <a:rPr lang="en-US" altLang="zh-TW" dirty="0"/>
              <a:t>3. text-embedding-3-small</a:t>
            </a:r>
          </a:p>
          <a:p>
            <a:pPr algn="l"/>
            <a:r>
              <a:rPr lang="en-US" altLang="zh-TW" dirty="0"/>
              <a:t>4. whisper</a:t>
            </a:r>
          </a:p>
        </p:txBody>
      </p:sp>
      <p:sp>
        <p:nvSpPr>
          <p:cNvPr id="61" name="文字方塊 15">
            <a:extLst>
              <a:ext uri="{FF2B5EF4-FFF2-40B4-BE49-F238E27FC236}">
                <a16:creationId xmlns:a16="http://schemas.microsoft.com/office/drawing/2014/main" id="{813B64AC-B950-4AE9-3547-D0407FD7D2AA}"/>
              </a:ext>
            </a:extLst>
          </p:cNvPr>
          <p:cNvSpPr txBox="1">
            <a:spLocks noChangeArrowheads="1"/>
          </p:cNvSpPr>
          <p:nvPr/>
        </p:nvSpPr>
        <p:spPr bwMode="auto">
          <a:xfrm>
            <a:off x="1474771" y="2111500"/>
            <a:ext cx="1976912" cy="1252876"/>
          </a:xfrm>
          <a:prstGeom prst="rect">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bodyPr>
          <a:lstStyle>
            <a:defPPr>
              <a:defRPr lang="zh-TW"/>
            </a:defPPr>
            <a:lvl1pPr algn="ctr" fontAlgn="base">
              <a:spcBef>
                <a:spcPct val="0"/>
              </a:spcBef>
              <a:spcAft>
                <a:spcPct val="0"/>
              </a:spcAft>
              <a:defRPr kumimoji="0" sz="1400" normalizeH="0" baseline="0">
                <a:ln>
                  <a:noFill/>
                </a:ln>
                <a:latin typeface="+mn-ea"/>
              </a:defRPr>
            </a:lvl1pPr>
          </a:lstStyle>
          <a:p>
            <a:pPr algn="l"/>
            <a:r>
              <a:rPr lang="en-US" altLang="zh-TW" dirty="0"/>
              <a:t>1.</a:t>
            </a:r>
            <a:r>
              <a:rPr lang="zh-TW" altLang="en-US" dirty="0"/>
              <a:t> 主要通貨匯率表</a:t>
            </a:r>
            <a:endParaRPr lang="en-US" altLang="zh-TW" dirty="0"/>
          </a:p>
          <a:p>
            <a:pPr algn="l"/>
            <a:r>
              <a:rPr lang="en-US" altLang="zh-TW" dirty="0"/>
              <a:t>2.</a:t>
            </a:r>
            <a:r>
              <a:rPr lang="zh-TW" altLang="en-US" dirty="0"/>
              <a:t> 年</a:t>
            </a:r>
            <a:r>
              <a:rPr lang="en-US" altLang="zh-TW" dirty="0"/>
              <a:t>IFRS</a:t>
            </a:r>
            <a:r>
              <a:rPr lang="zh-TW" altLang="en-US" dirty="0"/>
              <a:t>財報</a:t>
            </a:r>
            <a:endParaRPr lang="en-US" altLang="zh-TW" dirty="0"/>
          </a:p>
          <a:p>
            <a:pPr algn="l"/>
            <a:r>
              <a:rPr lang="en-US" altLang="zh-TW" dirty="0"/>
              <a:t>3.</a:t>
            </a:r>
            <a:r>
              <a:rPr lang="zh-TW" altLang="en-US" dirty="0"/>
              <a:t> 日收盤還原表排行</a:t>
            </a:r>
            <a:endParaRPr lang="en-US" altLang="zh-TW" dirty="0"/>
          </a:p>
          <a:p>
            <a:pPr algn="l"/>
            <a:r>
              <a:rPr lang="en-US" altLang="zh-TW" dirty="0"/>
              <a:t>4.</a:t>
            </a:r>
            <a:r>
              <a:rPr lang="zh-TW" altLang="en-US" dirty="0"/>
              <a:t> 日法人持股估計</a:t>
            </a:r>
            <a:endParaRPr lang="en-US" altLang="zh-TW" dirty="0"/>
          </a:p>
          <a:p>
            <a:pPr algn="l"/>
            <a:r>
              <a:rPr lang="en-US" altLang="zh-TW" dirty="0"/>
              <a:t>Etc.</a:t>
            </a:r>
          </a:p>
        </p:txBody>
      </p:sp>
      <p:sp>
        <p:nvSpPr>
          <p:cNvPr id="50" name="文字方塊 15">
            <a:extLst>
              <a:ext uri="{FF2B5EF4-FFF2-40B4-BE49-F238E27FC236}">
                <a16:creationId xmlns:a16="http://schemas.microsoft.com/office/drawing/2014/main" id="{178503EE-9FA8-B3C7-099B-96B723F2A09C}"/>
              </a:ext>
            </a:extLst>
          </p:cNvPr>
          <p:cNvSpPr txBox="1">
            <a:spLocks noChangeArrowheads="1"/>
          </p:cNvSpPr>
          <p:nvPr/>
        </p:nvSpPr>
        <p:spPr bwMode="auto">
          <a:xfrm>
            <a:off x="1474771" y="4115432"/>
            <a:ext cx="1476712" cy="365749"/>
          </a:xfrm>
          <a:prstGeom prst="rect">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bodyPr>
          <a:lstStyle>
            <a:defPPr>
              <a:defRPr lang="zh-TW"/>
            </a:defPPr>
            <a:lvl1pPr algn="ctr" fontAlgn="base">
              <a:spcBef>
                <a:spcPct val="0"/>
              </a:spcBef>
              <a:spcAft>
                <a:spcPct val="0"/>
              </a:spcAft>
              <a:defRPr kumimoji="0" sz="1400" normalizeH="0" baseline="0">
                <a:ln>
                  <a:noFill/>
                </a:ln>
                <a:latin typeface="+mn-ea"/>
              </a:defRPr>
            </a:lvl1pPr>
          </a:lstStyle>
          <a:p>
            <a:pPr algn="l"/>
            <a:r>
              <a:rPr lang="en-US" altLang="zh-TW" dirty="0"/>
              <a:t>1.</a:t>
            </a:r>
            <a:r>
              <a:rPr lang="zh-TW" altLang="en-US" dirty="0"/>
              <a:t> 投顧內部資料</a:t>
            </a:r>
            <a:endParaRPr lang="en-US" altLang="zh-TW" dirty="0"/>
          </a:p>
        </p:txBody>
      </p:sp>
      <p:sp>
        <p:nvSpPr>
          <p:cNvPr id="99" name="文字方塊 15">
            <a:extLst>
              <a:ext uri="{FF2B5EF4-FFF2-40B4-BE49-F238E27FC236}">
                <a16:creationId xmlns:a16="http://schemas.microsoft.com/office/drawing/2014/main" id="{550EE69C-8168-F90B-723C-922F41C89D15}"/>
              </a:ext>
            </a:extLst>
          </p:cNvPr>
          <p:cNvSpPr txBox="1">
            <a:spLocks noChangeArrowheads="1"/>
          </p:cNvSpPr>
          <p:nvPr/>
        </p:nvSpPr>
        <p:spPr bwMode="auto">
          <a:xfrm>
            <a:off x="3394109" y="1596500"/>
            <a:ext cx="787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TW" sz="1200" i="0" u="none" strike="noStrike" cap="none" normalizeH="0" baseline="0" dirty="0">
                <a:ln>
                  <a:noFill/>
                </a:ln>
                <a:solidFill>
                  <a:srgbClr val="000000"/>
                </a:solidFill>
                <a:effectLst/>
                <a:latin typeface="Arial" panose="020B0604020202020204" pitchFamily="34" charset="0"/>
                <a:ea typeface="STKaiti" panose="02010600040101010101" pitchFamily="2" charset="-122"/>
                <a:cs typeface="Arial" panose="020B0604020202020204" pitchFamily="34" charset="0"/>
              </a:rPr>
              <a:t>API</a:t>
            </a:r>
            <a:endParaRPr kumimoji="0" lang="en-US" altLang="zh-TW" sz="1800" i="0" u="none" strike="noStrike" cap="none" normalizeH="0" baseline="0" dirty="0">
              <a:ln>
                <a:noFill/>
              </a:ln>
              <a:solidFill>
                <a:schemeClr val="tx1"/>
              </a:solidFill>
              <a:effectLst/>
              <a:latin typeface="Arial" panose="020B0604020202020204" pitchFamily="34" charset="0"/>
            </a:endParaRPr>
          </a:p>
        </p:txBody>
      </p:sp>
      <p:sp>
        <p:nvSpPr>
          <p:cNvPr id="3" name="文字方塊 2">
            <a:extLst>
              <a:ext uri="{FF2B5EF4-FFF2-40B4-BE49-F238E27FC236}">
                <a16:creationId xmlns:a16="http://schemas.microsoft.com/office/drawing/2014/main" id="{E4911910-08EC-A70E-C86B-ED10194FAA8B}"/>
              </a:ext>
            </a:extLst>
          </p:cNvPr>
          <p:cNvSpPr txBox="1"/>
          <p:nvPr/>
        </p:nvSpPr>
        <p:spPr>
          <a:xfrm>
            <a:off x="5331440" y="4071284"/>
            <a:ext cx="1388304" cy="508795"/>
          </a:xfrm>
          <a:prstGeom prst="roundRect">
            <a:avLst>
              <a:gd name="adj" fmla="val 16667"/>
            </a:avLst>
          </a:prstGeom>
          <a:noFill/>
        </p:spPr>
        <p:txBody>
          <a:bodyPr wrap="none" rtlCol="0">
            <a:noAutofit/>
          </a:bodyPr>
          <a:lstStyle/>
          <a:p>
            <a:pPr algn="ctr" fontAlgn="base">
              <a:spcBef>
                <a:spcPct val="0"/>
              </a:spcBef>
              <a:spcAft>
                <a:spcPct val="0"/>
              </a:spcAft>
              <a:buFont typeface="Arial"/>
              <a:buNone/>
            </a:pPr>
            <a:r>
              <a:rPr lang="zh-TW" altLang="en-US" sz="1157" kern="0">
                <a:solidFill>
                  <a:srgbClr val="000000"/>
                </a:solidFill>
                <a:latin typeface="微軟正黑體" panose="020B0604030504040204" pitchFamily="34" charset="-120"/>
                <a:cs typeface="Arial"/>
                <a:sym typeface="Arial"/>
              </a:rPr>
              <a:t>法說簡報檔</a:t>
            </a:r>
            <a:endParaRPr lang="en-US" altLang="zh-TW" sz="1157" kern="0">
              <a:solidFill>
                <a:srgbClr val="000000"/>
              </a:solidFill>
              <a:latin typeface="微軟正黑體" panose="020B0604030504040204" pitchFamily="34" charset="-120"/>
              <a:cs typeface="Arial"/>
              <a:sym typeface="Arial"/>
            </a:endParaRPr>
          </a:p>
          <a:p>
            <a:pPr algn="ctr" fontAlgn="base">
              <a:spcBef>
                <a:spcPct val="0"/>
              </a:spcBef>
              <a:spcAft>
                <a:spcPct val="0"/>
              </a:spcAft>
              <a:buFont typeface="Arial"/>
              <a:buNone/>
            </a:pPr>
            <a:r>
              <a:rPr lang="zh-TW" altLang="en-US" sz="1157" kern="0">
                <a:solidFill>
                  <a:srgbClr val="000000"/>
                </a:solidFill>
                <a:latin typeface="微軟正黑體" panose="020B0604030504040204" pitchFamily="34" charset="-120"/>
                <a:cs typeface="Arial"/>
                <a:sym typeface="Arial"/>
              </a:rPr>
              <a:t>法說影音檔</a:t>
            </a:r>
            <a:endParaRPr lang="en-US" altLang="zh-TW" sz="1157" kern="0">
              <a:solidFill>
                <a:srgbClr val="000000"/>
              </a:solidFill>
              <a:latin typeface="微軟正黑體" panose="020B0604030504040204" pitchFamily="34" charset="-120"/>
              <a:cs typeface="Arial"/>
              <a:sym typeface="Arial"/>
            </a:endParaRPr>
          </a:p>
        </p:txBody>
      </p:sp>
      <p:sp>
        <p:nvSpPr>
          <p:cNvPr id="4" name="文字方塊 3">
            <a:extLst>
              <a:ext uri="{FF2B5EF4-FFF2-40B4-BE49-F238E27FC236}">
                <a16:creationId xmlns:a16="http://schemas.microsoft.com/office/drawing/2014/main" id="{FF77C3B7-D208-07CA-F369-CE4DC7A15383}"/>
              </a:ext>
            </a:extLst>
          </p:cNvPr>
          <p:cNvSpPr txBox="1"/>
          <p:nvPr/>
        </p:nvSpPr>
        <p:spPr>
          <a:xfrm>
            <a:off x="5331442" y="5147169"/>
            <a:ext cx="1388304" cy="508795"/>
          </a:xfrm>
          <a:prstGeom prst="roundRect">
            <a:avLst>
              <a:gd name="adj" fmla="val 16667"/>
            </a:avLst>
          </a:prstGeom>
          <a:noFill/>
        </p:spPr>
        <p:txBody>
          <a:bodyPr wrap="none" rtlCol="0">
            <a:noAutofit/>
          </a:bodyPr>
          <a:lstStyle/>
          <a:p>
            <a:pPr algn="ctr" fontAlgn="base">
              <a:spcBef>
                <a:spcPct val="0"/>
              </a:spcBef>
              <a:spcAft>
                <a:spcPct val="0"/>
              </a:spcAft>
              <a:buFont typeface="Arial"/>
              <a:buNone/>
            </a:pPr>
            <a:r>
              <a:rPr lang="zh-TW" altLang="en-US" sz="1157" kern="0">
                <a:solidFill>
                  <a:srgbClr val="000000"/>
                </a:solidFill>
                <a:latin typeface="微軟正黑體" panose="020B0604030504040204" pitchFamily="34" charset="-120"/>
                <a:cs typeface="Arial"/>
                <a:sym typeface="Arial"/>
              </a:rPr>
              <a:t>公司季報</a:t>
            </a:r>
            <a:endParaRPr lang="en-US" altLang="zh-TW" sz="1157" kern="0">
              <a:solidFill>
                <a:srgbClr val="000000"/>
              </a:solidFill>
              <a:latin typeface="微軟正黑體" panose="020B0604030504040204" pitchFamily="34" charset="-120"/>
              <a:cs typeface="Arial"/>
              <a:sym typeface="Arial"/>
            </a:endParaRPr>
          </a:p>
          <a:p>
            <a:pPr algn="ctr" fontAlgn="base">
              <a:spcBef>
                <a:spcPct val="0"/>
              </a:spcBef>
              <a:spcAft>
                <a:spcPct val="0"/>
              </a:spcAft>
              <a:buFont typeface="Arial"/>
              <a:buNone/>
            </a:pPr>
            <a:r>
              <a:rPr lang="zh-TW" altLang="en-US" sz="1157" kern="0">
                <a:solidFill>
                  <a:srgbClr val="000000"/>
                </a:solidFill>
                <a:latin typeface="微軟正黑體" panose="020B0604030504040204" pitchFamily="34" charset="-120"/>
                <a:cs typeface="Arial"/>
                <a:sym typeface="Arial"/>
              </a:rPr>
              <a:t>公司年報</a:t>
            </a:r>
            <a:endParaRPr lang="en-US" altLang="zh-TW" sz="1157" kern="0">
              <a:solidFill>
                <a:srgbClr val="000000"/>
              </a:solidFill>
              <a:latin typeface="微軟正黑體" panose="020B0604030504040204" pitchFamily="34" charset="-120"/>
              <a:cs typeface="Arial"/>
              <a:sym typeface="Arial"/>
            </a:endParaRPr>
          </a:p>
        </p:txBody>
      </p:sp>
      <p:sp>
        <p:nvSpPr>
          <p:cNvPr id="6" name="文字方塊 5">
            <a:extLst>
              <a:ext uri="{FF2B5EF4-FFF2-40B4-BE49-F238E27FC236}">
                <a16:creationId xmlns:a16="http://schemas.microsoft.com/office/drawing/2014/main" id="{2E7A5FDC-6B0E-9BDB-F8F3-B79D0215241F}"/>
              </a:ext>
            </a:extLst>
          </p:cNvPr>
          <p:cNvSpPr txBox="1"/>
          <p:nvPr/>
        </p:nvSpPr>
        <p:spPr>
          <a:xfrm>
            <a:off x="5332993" y="3029890"/>
            <a:ext cx="1388304" cy="508795"/>
          </a:xfrm>
          <a:prstGeom prst="roundRect">
            <a:avLst>
              <a:gd name="adj" fmla="val 16667"/>
            </a:avLst>
          </a:prstGeom>
          <a:noFill/>
        </p:spPr>
        <p:txBody>
          <a:bodyPr wrap="none" rtlCol="0">
            <a:noAutofit/>
          </a:bodyPr>
          <a:lstStyle/>
          <a:p>
            <a:pPr algn="ctr" fontAlgn="base">
              <a:spcBef>
                <a:spcPct val="0"/>
              </a:spcBef>
              <a:spcAft>
                <a:spcPct val="0"/>
              </a:spcAft>
              <a:buFont typeface="Arial"/>
              <a:buNone/>
            </a:pPr>
            <a:r>
              <a:rPr lang="zh-TW" altLang="en-US" sz="1157" kern="0">
                <a:solidFill>
                  <a:srgbClr val="000000"/>
                </a:solidFill>
                <a:latin typeface="微軟正黑體" panose="020B0604030504040204" pitchFamily="34" charset="-120"/>
                <a:cs typeface="Arial"/>
                <a:sym typeface="Arial"/>
              </a:rPr>
              <a:t>同業報告</a:t>
            </a:r>
            <a:endParaRPr lang="en-US" altLang="zh-TW" sz="1157" kern="0">
              <a:solidFill>
                <a:srgbClr val="000000"/>
              </a:solidFill>
              <a:latin typeface="微軟正黑體" panose="020B0604030504040204" pitchFamily="34" charset="-120"/>
              <a:cs typeface="Arial"/>
              <a:sym typeface="Arial"/>
            </a:endParaRPr>
          </a:p>
          <a:p>
            <a:pPr algn="ctr" fontAlgn="base">
              <a:spcBef>
                <a:spcPct val="0"/>
              </a:spcBef>
              <a:spcAft>
                <a:spcPct val="0"/>
              </a:spcAft>
              <a:buFont typeface="Arial"/>
              <a:buNone/>
            </a:pPr>
            <a:r>
              <a:rPr lang="zh-TW" altLang="en-US" sz="1157" kern="0">
                <a:solidFill>
                  <a:srgbClr val="000000"/>
                </a:solidFill>
                <a:latin typeface="微軟正黑體" panose="020B0604030504040204" pitchFamily="34" charset="-120"/>
                <a:cs typeface="Arial"/>
                <a:sym typeface="Arial"/>
              </a:rPr>
              <a:t>永豐投顧報告</a:t>
            </a:r>
            <a:endParaRPr lang="en-US" altLang="zh-TW" sz="1157" kern="0">
              <a:solidFill>
                <a:srgbClr val="000000"/>
              </a:solidFill>
              <a:latin typeface="微軟正黑體" panose="020B0604030504040204" pitchFamily="34" charset="-120"/>
              <a:cs typeface="Arial"/>
              <a:sym typeface="Arial"/>
            </a:endParaRPr>
          </a:p>
        </p:txBody>
      </p:sp>
      <p:sp>
        <p:nvSpPr>
          <p:cNvPr id="10" name="文字方塊 9">
            <a:extLst>
              <a:ext uri="{FF2B5EF4-FFF2-40B4-BE49-F238E27FC236}">
                <a16:creationId xmlns:a16="http://schemas.microsoft.com/office/drawing/2014/main" id="{B589634E-1509-7783-B73D-3BF5713CD0B8}"/>
              </a:ext>
            </a:extLst>
          </p:cNvPr>
          <p:cNvSpPr txBox="1"/>
          <p:nvPr/>
        </p:nvSpPr>
        <p:spPr>
          <a:xfrm>
            <a:off x="5331439" y="2034341"/>
            <a:ext cx="1388304" cy="508795"/>
          </a:xfrm>
          <a:prstGeom prst="roundRect">
            <a:avLst>
              <a:gd name="adj" fmla="val 16667"/>
            </a:avLst>
          </a:prstGeom>
          <a:noFill/>
        </p:spPr>
        <p:txBody>
          <a:bodyPr wrap="none" rtlCol="0">
            <a:noAutofit/>
          </a:bodyPr>
          <a:lstStyle/>
          <a:p>
            <a:pPr algn="ctr" fontAlgn="base">
              <a:spcBef>
                <a:spcPct val="0"/>
              </a:spcBef>
              <a:spcAft>
                <a:spcPct val="0"/>
              </a:spcAft>
              <a:buFont typeface="Arial"/>
              <a:buNone/>
            </a:pPr>
            <a:r>
              <a:rPr lang="zh-TW" altLang="en-US" sz="1157" kern="0">
                <a:solidFill>
                  <a:srgbClr val="000000"/>
                </a:solidFill>
                <a:latin typeface="微軟正黑體" panose="020B0604030504040204" pitchFamily="34" charset="-120"/>
                <a:cs typeface="Arial"/>
                <a:sym typeface="Arial"/>
              </a:rPr>
              <a:t>歷史財報數據</a:t>
            </a:r>
            <a:endParaRPr lang="en-US" altLang="zh-TW" sz="1157" kern="0">
              <a:solidFill>
                <a:srgbClr val="000000"/>
              </a:solidFill>
              <a:latin typeface="微軟正黑體" panose="020B0604030504040204" pitchFamily="34" charset="-120"/>
              <a:cs typeface="Arial"/>
              <a:sym typeface="Arial"/>
            </a:endParaRPr>
          </a:p>
          <a:p>
            <a:pPr algn="ctr" fontAlgn="base">
              <a:spcBef>
                <a:spcPct val="0"/>
              </a:spcBef>
              <a:spcAft>
                <a:spcPct val="0"/>
              </a:spcAft>
              <a:buFont typeface="Arial"/>
              <a:buNone/>
            </a:pPr>
            <a:r>
              <a:rPr lang="zh-TW" altLang="en-US" sz="1157" kern="0">
                <a:solidFill>
                  <a:srgbClr val="000000"/>
                </a:solidFill>
                <a:latin typeface="微軟正黑體" panose="020B0604030504040204" pitchFamily="34" charset="-120"/>
                <a:cs typeface="Arial"/>
                <a:sym typeface="Arial"/>
              </a:rPr>
              <a:t>投顧預估數據</a:t>
            </a:r>
            <a:endParaRPr lang="en-US" altLang="zh-TW" sz="1157" kern="0">
              <a:solidFill>
                <a:srgbClr val="000000"/>
              </a:solidFill>
              <a:latin typeface="微軟正黑體" panose="020B0604030504040204" pitchFamily="34" charset="-120"/>
              <a:cs typeface="Arial"/>
              <a:sym typeface="Arial"/>
            </a:endParaRPr>
          </a:p>
        </p:txBody>
      </p:sp>
      <p:sp>
        <p:nvSpPr>
          <p:cNvPr id="13" name="文字方塊 12">
            <a:extLst>
              <a:ext uri="{FF2B5EF4-FFF2-40B4-BE49-F238E27FC236}">
                <a16:creationId xmlns:a16="http://schemas.microsoft.com/office/drawing/2014/main" id="{702D5BA1-798C-9C5C-348A-EC2EB50A15D7}"/>
              </a:ext>
            </a:extLst>
          </p:cNvPr>
          <p:cNvSpPr txBox="1"/>
          <p:nvPr/>
        </p:nvSpPr>
        <p:spPr>
          <a:xfrm>
            <a:off x="5157901" y="1695391"/>
            <a:ext cx="1735380" cy="347076"/>
          </a:xfrm>
          <a:prstGeom prst="rect">
            <a:avLst/>
          </a:prstGeom>
          <a:solidFill>
            <a:srgbClr val="D6E8FE"/>
          </a:solidFill>
        </p:spPr>
        <p:txBody>
          <a:bodyPr wrap="none" rtlCol="0" anchor="ctr">
            <a:noAutofit/>
          </a:bodyPr>
          <a:lstStyle/>
          <a:p>
            <a:pPr algn="ctr" fontAlgn="base">
              <a:spcBef>
                <a:spcPct val="0"/>
              </a:spcBef>
              <a:spcAft>
                <a:spcPct val="0"/>
              </a:spcAft>
            </a:pPr>
            <a:r>
              <a:rPr lang="zh-TW" altLang="en-US" sz="1543" kern="0">
                <a:solidFill>
                  <a:srgbClr val="000000"/>
                </a:solidFill>
                <a:latin typeface="微軟正黑體" panose="020B0604030504040204" pitchFamily="34" charset="-120"/>
                <a:cs typeface="Arial"/>
                <a:sym typeface="Arial"/>
              </a:rPr>
              <a:t>財報專家</a:t>
            </a:r>
          </a:p>
        </p:txBody>
      </p:sp>
      <p:sp>
        <p:nvSpPr>
          <p:cNvPr id="15" name="文字方塊 14">
            <a:extLst>
              <a:ext uri="{FF2B5EF4-FFF2-40B4-BE49-F238E27FC236}">
                <a16:creationId xmlns:a16="http://schemas.microsoft.com/office/drawing/2014/main" id="{2ECBFDD1-18AF-B8D4-3EFF-B350541C41B9}"/>
              </a:ext>
            </a:extLst>
          </p:cNvPr>
          <p:cNvSpPr txBox="1"/>
          <p:nvPr/>
        </p:nvSpPr>
        <p:spPr>
          <a:xfrm>
            <a:off x="5159454" y="2690940"/>
            <a:ext cx="1735380" cy="347076"/>
          </a:xfrm>
          <a:prstGeom prst="rect">
            <a:avLst/>
          </a:prstGeom>
          <a:solidFill>
            <a:srgbClr val="D6E8FE"/>
          </a:solidFill>
        </p:spPr>
        <p:txBody>
          <a:bodyPr wrap="none" rtlCol="0" anchor="ctr">
            <a:noAutofit/>
          </a:bodyPr>
          <a:lstStyle/>
          <a:p>
            <a:pPr algn="ctr" fontAlgn="base">
              <a:spcBef>
                <a:spcPct val="0"/>
              </a:spcBef>
              <a:spcAft>
                <a:spcPct val="0"/>
              </a:spcAft>
            </a:pPr>
            <a:r>
              <a:rPr lang="zh-TW" altLang="en-US" sz="1543" kern="0">
                <a:solidFill>
                  <a:srgbClr val="000000"/>
                </a:solidFill>
                <a:latin typeface="微軟正黑體" panose="020B0604030504040204" pitchFamily="34" charset="-120"/>
                <a:cs typeface="Arial"/>
                <a:sym typeface="Arial"/>
              </a:rPr>
              <a:t>投顧報告專家</a:t>
            </a:r>
          </a:p>
        </p:txBody>
      </p:sp>
      <p:sp>
        <p:nvSpPr>
          <p:cNvPr id="16" name="文字方塊 15">
            <a:extLst>
              <a:ext uri="{FF2B5EF4-FFF2-40B4-BE49-F238E27FC236}">
                <a16:creationId xmlns:a16="http://schemas.microsoft.com/office/drawing/2014/main" id="{2C3B0D3C-A633-2CE9-7745-8575859D4ACA}"/>
              </a:ext>
            </a:extLst>
          </p:cNvPr>
          <p:cNvSpPr txBox="1"/>
          <p:nvPr/>
        </p:nvSpPr>
        <p:spPr>
          <a:xfrm>
            <a:off x="5157901" y="3732334"/>
            <a:ext cx="1735380" cy="347076"/>
          </a:xfrm>
          <a:prstGeom prst="rect">
            <a:avLst/>
          </a:prstGeom>
          <a:solidFill>
            <a:srgbClr val="D6E8FE"/>
          </a:solidFill>
        </p:spPr>
        <p:txBody>
          <a:bodyPr wrap="none" rtlCol="0" anchor="ctr">
            <a:noAutofit/>
          </a:bodyPr>
          <a:lstStyle/>
          <a:p>
            <a:pPr algn="ctr" fontAlgn="base">
              <a:spcBef>
                <a:spcPct val="0"/>
              </a:spcBef>
              <a:spcAft>
                <a:spcPct val="0"/>
              </a:spcAft>
            </a:pPr>
            <a:r>
              <a:rPr lang="zh-TW" altLang="en-US" sz="1543" kern="0">
                <a:solidFill>
                  <a:srgbClr val="000000"/>
                </a:solidFill>
                <a:latin typeface="微軟正黑體" panose="020B0604030504040204" pitchFamily="34" charset="-120"/>
                <a:cs typeface="Arial"/>
                <a:sym typeface="Arial"/>
              </a:rPr>
              <a:t>法說會專家</a:t>
            </a:r>
          </a:p>
        </p:txBody>
      </p:sp>
      <p:sp>
        <p:nvSpPr>
          <p:cNvPr id="18" name="文字方塊 17">
            <a:extLst>
              <a:ext uri="{FF2B5EF4-FFF2-40B4-BE49-F238E27FC236}">
                <a16:creationId xmlns:a16="http://schemas.microsoft.com/office/drawing/2014/main" id="{23359F04-26A6-668B-B7A5-F13D141D3245}"/>
              </a:ext>
            </a:extLst>
          </p:cNvPr>
          <p:cNvSpPr txBox="1"/>
          <p:nvPr/>
        </p:nvSpPr>
        <p:spPr>
          <a:xfrm>
            <a:off x="5157901" y="4808219"/>
            <a:ext cx="1735380" cy="347076"/>
          </a:xfrm>
          <a:prstGeom prst="rect">
            <a:avLst/>
          </a:prstGeom>
          <a:solidFill>
            <a:srgbClr val="D6E8FE"/>
          </a:solidFill>
        </p:spPr>
        <p:txBody>
          <a:bodyPr wrap="none" rtlCol="0" anchor="ctr">
            <a:noAutofit/>
          </a:bodyPr>
          <a:lstStyle/>
          <a:p>
            <a:pPr algn="ctr" fontAlgn="base">
              <a:spcBef>
                <a:spcPct val="0"/>
              </a:spcBef>
              <a:spcAft>
                <a:spcPct val="0"/>
              </a:spcAft>
            </a:pPr>
            <a:r>
              <a:rPr lang="zh-TW" altLang="en-US" sz="1543" kern="0">
                <a:solidFill>
                  <a:srgbClr val="000000"/>
                </a:solidFill>
                <a:latin typeface="微軟正黑體" panose="020B0604030504040204" pitchFamily="34" charset="-120"/>
                <a:cs typeface="Arial"/>
                <a:sym typeface="Arial"/>
              </a:rPr>
              <a:t>季報</a:t>
            </a:r>
            <a:r>
              <a:rPr lang="en-US" altLang="zh-TW" sz="1543" kern="0">
                <a:solidFill>
                  <a:srgbClr val="000000"/>
                </a:solidFill>
                <a:latin typeface="微軟正黑體" panose="020B0604030504040204" pitchFamily="34" charset="-120"/>
                <a:cs typeface="Arial"/>
                <a:sym typeface="Arial"/>
              </a:rPr>
              <a:t>/</a:t>
            </a:r>
            <a:r>
              <a:rPr lang="zh-TW" altLang="en-US" sz="1543" kern="0">
                <a:solidFill>
                  <a:srgbClr val="000000"/>
                </a:solidFill>
                <a:latin typeface="微軟正黑體" panose="020B0604030504040204" pitchFamily="34" charset="-120"/>
                <a:cs typeface="Arial"/>
                <a:sym typeface="Arial"/>
              </a:rPr>
              <a:t>年報專家</a:t>
            </a:r>
          </a:p>
        </p:txBody>
      </p:sp>
      <p:sp>
        <p:nvSpPr>
          <p:cNvPr id="19" name="文字方塊 18">
            <a:extLst>
              <a:ext uri="{FF2B5EF4-FFF2-40B4-BE49-F238E27FC236}">
                <a16:creationId xmlns:a16="http://schemas.microsoft.com/office/drawing/2014/main" id="{1AF846DF-9831-9B76-7E6D-BECC57787DDB}"/>
              </a:ext>
            </a:extLst>
          </p:cNvPr>
          <p:cNvSpPr txBox="1"/>
          <p:nvPr/>
        </p:nvSpPr>
        <p:spPr>
          <a:xfrm>
            <a:off x="7193208" y="3659344"/>
            <a:ext cx="776175" cy="329770"/>
          </a:xfrm>
          <a:prstGeom prst="rect">
            <a:avLst/>
          </a:prstGeom>
          <a:solidFill>
            <a:srgbClr val="FFCCCC"/>
          </a:solidFill>
        </p:spPr>
        <p:txBody>
          <a:bodyPr wrap="none" rtlCol="0">
            <a:spAutoFit/>
          </a:bodyPr>
          <a:lstStyle/>
          <a:p>
            <a:pPr>
              <a:buClr>
                <a:srgbClr val="000000"/>
              </a:buClr>
              <a:buFont typeface="Arial"/>
              <a:buNone/>
            </a:pPr>
            <a:r>
              <a:rPr lang="zh-TW" altLang="en-US" sz="1543" kern="0" dirty="0">
                <a:solidFill>
                  <a:srgbClr val="000000"/>
                </a:solidFill>
                <a:latin typeface="微軟正黑體" panose="020B0604030504040204" pitchFamily="34" charset="-120"/>
                <a:cs typeface="Arial"/>
                <a:sym typeface="Arial"/>
              </a:rPr>
              <a:t>主持人</a:t>
            </a:r>
          </a:p>
        </p:txBody>
      </p:sp>
      <p:pic>
        <p:nvPicPr>
          <p:cNvPr id="20" name="圖片 19">
            <a:extLst>
              <a:ext uri="{FF2B5EF4-FFF2-40B4-BE49-F238E27FC236}">
                <a16:creationId xmlns:a16="http://schemas.microsoft.com/office/drawing/2014/main" id="{DE9340BE-F0BD-DC89-9BE0-B790E61B52E9}"/>
              </a:ext>
            </a:extLst>
          </p:cNvPr>
          <p:cNvPicPr>
            <a:picLocks noChangeAspect="1"/>
          </p:cNvPicPr>
          <p:nvPr/>
        </p:nvPicPr>
        <p:blipFill>
          <a:blip r:embed="rId4"/>
          <a:stretch>
            <a:fillRect/>
          </a:stretch>
        </p:blipFill>
        <p:spPr>
          <a:xfrm>
            <a:off x="7209312" y="2864478"/>
            <a:ext cx="699612" cy="699612"/>
          </a:xfrm>
          <a:prstGeom prst="rect">
            <a:avLst/>
          </a:prstGeom>
        </p:spPr>
      </p:pic>
      <p:sp>
        <p:nvSpPr>
          <p:cNvPr id="58" name="文字方塊 57">
            <a:extLst>
              <a:ext uri="{FF2B5EF4-FFF2-40B4-BE49-F238E27FC236}">
                <a16:creationId xmlns:a16="http://schemas.microsoft.com/office/drawing/2014/main" id="{724A60C2-66C5-5B9D-9CAC-DB7412B136A3}"/>
              </a:ext>
            </a:extLst>
          </p:cNvPr>
          <p:cNvSpPr txBox="1"/>
          <p:nvPr/>
        </p:nvSpPr>
        <p:spPr>
          <a:xfrm>
            <a:off x="3417073" y="4704757"/>
            <a:ext cx="516488" cy="276999"/>
          </a:xfrm>
          <a:prstGeom prst="rect">
            <a:avLst/>
          </a:prstGeom>
          <a:noFill/>
        </p:spPr>
        <p:txBody>
          <a:bodyPr wrap="none" rtlCol="0">
            <a:spAutoFit/>
          </a:bodyPr>
          <a:lstStyle/>
          <a:p>
            <a:r>
              <a:rPr lang="en-US" altLang="zh-TW" sz="1200" dirty="0">
                <a:latin typeface="+mj-ea"/>
                <a:ea typeface="+mj-ea"/>
              </a:rPr>
              <a:t>WEB</a:t>
            </a:r>
          </a:p>
        </p:txBody>
      </p:sp>
      <p:cxnSp>
        <p:nvCxnSpPr>
          <p:cNvPr id="70" name="直線單箭頭接點 69">
            <a:extLst>
              <a:ext uri="{FF2B5EF4-FFF2-40B4-BE49-F238E27FC236}">
                <a16:creationId xmlns:a16="http://schemas.microsoft.com/office/drawing/2014/main" id="{A81AB558-A469-0C80-65DA-0A01712C602C}"/>
              </a:ext>
            </a:extLst>
          </p:cNvPr>
          <p:cNvCxnSpPr>
            <a:cxnSpLocks/>
            <a:stCxn id="27" idx="3"/>
            <a:endCxn id="16" idx="1"/>
          </p:cNvCxnSpPr>
          <p:nvPr/>
        </p:nvCxnSpPr>
        <p:spPr bwMode="auto">
          <a:xfrm flipV="1">
            <a:off x="2940802" y="3905872"/>
            <a:ext cx="2217099" cy="107588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5" name="直線單箭頭接點 74">
            <a:extLst>
              <a:ext uri="{FF2B5EF4-FFF2-40B4-BE49-F238E27FC236}">
                <a16:creationId xmlns:a16="http://schemas.microsoft.com/office/drawing/2014/main" id="{09030354-0157-EB35-14C8-4F316968FCD9}"/>
              </a:ext>
            </a:extLst>
          </p:cNvPr>
          <p:cNvCxnSpPr>
            <a:cxnSpLocks/>
            <a:stCxn id="28" idx="1"/>
          </p:cNvCxnSpPr>
          <p:nvPr/>
        </p:nvCxnSpPr>
        <p:spPr bwMode="auto">
          <a:xfrm flipH="1" flipV="1">
            <a:off x="8223402" y="4399324"/>
            <a:ext cx="514945" cy="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206640514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AME" val="McK Disclaimer"/>
  <p:tag name="RESIZE" val="Yes"/>
  <p:tag name="LLEFT" val=" 210.125"/>
  <p:tag name="LTOP" val=" 469.875"/>
</p:tagLst>
</file>

<file path=ppt/tags/tag2.xml><?xml version="1.0" encoding="utf-8"?>
<p:tagLst xmlns:a="http://schemas.openxmlformats.org/drawingml/2006/main" xmlns:r="http://schemas.openxmlformats.org/officeDocument/2006/relationships" xmlns:p="http://schemas.openxmlformats.org/presentationml/2006/main">
  <p:tag name="NAME" val="McK Disclaimer"/>
  <p:tag name="RESIZE" val="Yes"/>
  <p:tag name="LLEFT" val=" 210.125"/>
  <p:tag name="LTOP" val=" 469.875"/>
</p:tagLst>
</file>

<file path=ppt/tags/tag3.xml><?xml version="1.0" encoding="utf-8"?>
<p:tagLst xmlns:a="http://schemas.openxmlformats.org/drawingml/2006/main" xmlns:r="http://schemas.openxmlformats.org/officeDocument/2006/relationships" xmlns:p="http://schemas.openxmlformats.org/presentationml/2006/main">
  <p:tag name="ISLIDE.DIAGRAM" val="2b751056-6b97-492c-b763-340acee7e99d"/>
</p:tagLst>
</file>

<file path=ppt/theme/theme1.xml><?xml version="1.0" encoding="utf-8"?>
<a:theme xmlns:a="http://schemas.openxmlformats.org/drawingml/2006/main" name="佈景主題1_永豐金證券">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訂 1">
      <a:majorFont>
        <a:latin typeface="Arial Black"/>
        <a:ea typeface="微軟正黑體"/>
        <a:cs typeface=""/>
      </a:majorFont>
      <a:minorFont>
        <a:latin typeface="Arial"/>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000" b="1" i="0" u="none" strike="noStrike" cap="none" normalizeH="0" baseline="0" smtClean="0">
            <a:ln>
              <a:noFill/>
            </a:ln>
            <a:solidFill>
              <a:schemeClr val="tx1"/>
            </a:solidFill>
            <a:effectLst/>
            <a:latin typeface="Arial" charset="0"/>
            <a:ea typeface="华文楷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000" b="1" i="0" u="none" strike="noStrike" cap="none" normalizeH="0" baseline="0" smtClean="0">
            <a:ln>
              <a:noFill/>
            </a:ln>
            <a:solidFill>
              <a:schemeClr val="tx1"/>
            </a:solidFill>
            <a:effectLst/>
            <a:latin typeface="Arial" charset="0"/>
            <a:ea typeface="华文楷体" pitchFamily="2" charset="-122"/>
          </a:defRPr>
        </a:defPPr>
      </a:lstStyle>
    </a:lnDef>
  </a:objectDefaults>
  <a:extraClrSchemeLst>
    <a:extraClrScheme>
      <a:clrScheme name="Universal Template 1">
        <a:dk1>
          <a:srgbClr val="000000"/>
        </a:dk1>
        <a:lt1>
          <a:srgbClr val="FFFFFF"/>
        </a:lt1>
        <a:dk2>
          <a:srgbClr val="000000"/>
        </a:dk2>
        <a:lt2>
          <a:srgbClr val="FFFFFF"/>
        </a:lt2>
        <a:accent1>
          <a:srgbClr val="FFFFFF"/>
        </a:accent1>
        <a:accent2>
          <a:srgbClr val="D0D0D0"/>
        </a:accent2>
        <a:accent3>
          <a:srgbClr val="FFFFFF"/>
        </a:accent3>
        <a:accent4>
          <a:srgbClr val="000000"/>
        </a:accent4>
        <a:accent5>
          <a:srgbClr val="FFFFFF"/>
        </a:accent5>
        <a:accent6>
          <a:srgbClr val="BCBCBC"/>
        </a:accent6>
        <a:hlink>
          <a:srgbClr val="909090"/>
        </a:hlink>
        <a:folHlink>
          <a:srgbClr val="606060"/>
        </a:folHlink>
      </a:clrScheme>
      <a:clrMap bg1="lt1" tx1="dk1" bg2="lt2" tx2="dk2" accent1="accent1" accent2="accent2" accent3="accent3" accent4="accent4" accent5="accent5" accent6="accent6" hlink="hlink" folHlink="folHlink"/>
    </a:extraClrScheme>
    <a:extraClrScheme>
      <a:clrScheme name="Universal Template 2">
        <a:dk1>
          <a:srgbClr val="000000"/>
        </a:dk1>
        <a:lt1>
          <a:srgbClr val="FFFFFF"/>
        </a:lt1>
        <a:dk2>
          <a:srgbClr val="002960"/>
        </a:dk2>
        <a:lt2>
          <a:srgbClr val="FFFFFF"/>
        </a:lt2>
        <a:accent1>
          <a:srgbClr val="C7E0FB"/>
        </a:accent1>
        <a:accent2>
          <a:srgbClr val="91B0FF"/>
        </a:accent2>
        <a:accent3>
          <a:srgbClr val="FFFFFF"/>
        </a:accent3>
        <a:accent4>
          <a:srgbClr val="000000"/>
        </a:accent4>
        <a:accent5>
          <a:srgbClr val="E0EDFD"/>
        </a:accent5>
        <a:accent6>
          <a:srgbClr val="839FE7"/>
        </a:accent6>
        <a:hlink>
          <a:srgbClr val="0066CC"/>
        </a:hlink>
        <a:folHlink>
          <a:srgbClr val="002960"/>
        </a:folHlink>
      </a:clrScheme>
      <a:clrMap bg1="lt1" tx1="dk1" bg2="lt2" tx2="dk2" accent1="accent1" accent2="accent2" accent3="accent3" accent4="accent4" accent5="accent5" accent6="accent6" hlink="hlink" folHlink="folHlink"/>
    </a:extraClrScheme>
    <a:extraClrScheme>
      <a:clrScheme name="Universal Template 3">
        <a:dk1>
          <a:srgbClr val="002960"/>
        </a:dk1>
        <a:lt1>
          <a:srgbClr val="FFFFFF"/>
        </a:lt1>
        <a:dk2>
          <a:srgbClr val="002960"/>
        </a:dk2>
        <a:lt2>
          <a:srgbClr val="FFBE3D"/>
        </a:lt2>
        <a:accent1>
          <a:srgbClr val="0066CC"/>
        </a:accent1>
        <a:accent2>
          <a:srgbClr val="5F8DFF"/>
        </a:accent2>
        <a:accent3>
          <a:srgbClr val="AAACB6"/>
        </a:accent3>
        <a:accent4>
          <a:srgbClr val="DADADA"/>
        </a:accent4>
        <a:accent5>
          <a:srgbClr val="AAB8E2"/>
        </a:accent5>
        <a:accent6>
          <a:srgbClr val="557FE7"/>
        </a:accent6>
        <a:hlink>
          <a:srgbClr val="96C5F8"/>
        </a:hlink>
        <a:folHlink>
          <a:srgbClr val="D8E9FC"/>
        </a:folHlink>
      </a:clrScheme>
      <a:clrMap bg1="dk2" tx1="lt1" bg2="dk1" tx2="lt2" accent1="accent1" accent2="accent2" accent3="accent3" accent4="accent4" accent5="accent5" accent6="accent6" hlink="hlink" folHlink="folHlink"/>
    </a:extraClrScheme>
    <a:extraClrScheme>
      <a:clrScheme name="Universal Template 4">
        <a:dk1>
          <a:srgbClr val="000000"/>
        </a:dk1>
        <a:lt1>
          <a:srgbClr val="FFFFFF"/>
        </a:lt1>
        <a:dk2>
          <a:srgbClr val="000000"/>
        </a:dk2>
        <a:lt2>
          <a:srgbClr val="FFBE3D"/>
        </a:lt2>
        <a:accent1>
          <a:srgbClr val="002960"/>
        </a:accent1>
        <a:accent2>
          <a:srgbClr val="0066CC"/>
        </a:accent2>
        <a:accent3>
          <a:srgbClr val="AAAAAA"/>
        </a:accent3>
        <a:accent4>
          <a:srgbClr val="DADADA"/>
        </a:accent4>
        <a:accent5>
          <a:srgbClr val="AAACB6"/>
        </a:accent5>
        <a:accent6>
          <a:srgbClr val="005CB9"/>
        </a:accent6>
        <a:hlink>
          <a:srgbClr val="91B0FF"/>
        </a:hlink>
        <a:folHlink>
          <a:srgbClr val="C7E0FB"/>
        </a:folHlink>
      </a:clrScheme>
      <a:clrMap bg1="dk2" tx1="lt1" bg2="dk1" tx2="lt2" accent1="accent1" accent2="accent2" accent3="accent3" accent4="accent4" accent5="accent5" accent6="accent6" hlink="hlink" folHlink="folHlink"/>
    </a:extraClrScheme>
    <a:extraClrScheme>
      <a:clrScheme name="Universal Template 5">
        <a:dk1>
          <a:srgbClr val="000000"/>
        </a:dk1>
        <a:lt1>
          <a:srgbClr val="FFFFFF"/>
        </a:lt1>
        <a:dk2>
          <a:srgbClr val="002960"/>
        </a:dk2>
        <a:lt2>
          <a:srgbClr val="FFFFFF"/>
        </a:lt2>
        <a:accent1>
          <a:srgbClr val="C7E0FB"/>
        </a:accent1>
        <a:accent2>
          <a:srgbClr val="FFCC66"/>
        </a:accent2>
        <a:accent3>
          <a:srgbClr val="FFFFFF"/>
        </a:accent3>
        <a:accent4>
          <a:srgbClr val="000000"/>
        </a:accent4>
        <a:accent5>
          <a:srgbClr val="E0EDFD"/>
        </a:accent5>
        <a:accent6>
          <a:srgbClr val="E7B95C"/>
        </a:accent6>
        <a:hlink>
          <a:srgbClr val="4F8636"/>
        </a:hlink>
        <a:folHlink>
          <a:srgbClr val="002960"/>
        </a:folHlink>
      </a:clrScheme>
      <a:clrMap bg1="lt1" tx1="dk1" bg2="lt2" tx2="dk2" accent1="accent1" accent2="accent2" accent3="accent3" accent4="accent4" accent5="accent5" accent6="accent6" hlink="hlink" folHlink="folHlink"/>
    </a:extraClrScheme>
    <a:extraClrScheme>
      <a:clrScheme name="Universal Template 6">
        <a:dk1>
          <a:srgbClr val="002960"/>
        </a:dk1>
        <a:lt1>
          <a:srgbClr val="FFFFFF"/>
        </a:lt1>
        <a:dk2>
          <a:srgbClr val="002960"/>
        </a:dk2>
        <a:lt2>
          <a:srgbClr val="FFBE3D"/>
        </a:lt2>
        <a:accent1>
          <a:srgbClr val="0066CC"/>
        </a:accent1>
        <a:accent2>
          <a:srgbClr val="4F8636"/>
        </a:accent2>
        <a:accent3>
          <a:srgbClr val="AAACB6"/>
        </a:accent3>
        <a:accent4>
          <a:srgbClr val="DADADA"/>
        </a:accent4>
        <a:accent5>
          <a:srgbClr val="AAB8E2"/>
        </a:accent5>
        <a:accent6>
          <a:srgbClr val="477930"/>
        </a:accent6>
        <a:hlink>
          <a:srgbClr val="FF9900"/>
        </a:hlink>
        <a:folHlink>
          <a:srgbClr val="FFBE3D"/>
        </a:folHlink>
      </a:clrScheme>
      <a:clrMap bg1="dk2" tx1="lt1" bg2="dk1" tx2="lt2" accent1="accent1" accent2="accent2" accent3="accent3" accent4="accent4" accent5="accent5" accent6="accent6" hlink="hlink" folHlink="folHlink"/>
    </a:extraClrScheme>
    <a:extraClrScheme>
      <a:clrScheme name="Universal Template 7">
        <a:dk1>
          <a:srgbClr val="000000"/>
        </a:dk1>
        <a:lt1>
          <a:srgbClr val="FFFFFF"/>
        </a:lt1>
        <a:dk2>
          <a:srgbClr val="000000"/>
        </a:dk2>
        <a:lt2>
          <a:srgbClr val="FFBE3D"/>
        </a:lt2>
        <a:accent1>
          <a:srgbClr val="0066CC"/>
        </a:accent1>
        <a:accent2>
          <a:srgbClr val="4F8636"/>
        </a:accent2>
        <a:accent3>
          <a:srgbClr val="AAAAAA"/>
        </a:accent3>
        <a:accent4>
          <a:srgbClr val="DADADA"/>
        </a:accent4>
        <a:accent5>
          <a:srgbClr val="AAB8E2"/>
        </a:accent5>
        <a:accent6>
          <a:srgbClr val="477930"/>
        </a:accent6>
        <a:hlink>
          <a:srgbClr val="FF9900"/>
        </a:hlink>
        <a:folHlink>
          <a:srgbClr val="FFBE3D"/>
        </a:folHlink>
      </a:clrScheme>
      <a:clrMap bg1="dk2" tx1="lt1" bg2="dk1" tx2="lt2" accent1="accent1" accent2="accent2" accent3="accent3" accent4="accent4" accent5="accent5" accent6="accent6" hlink="hlink" folHlink="folHlink"/>
    </a:extraClrScheme>
    <a:extraClrScheme>
      <a:clrScheme name="Universal Template 8">
        <a:dk1>
          <a:srgbClr val="000000"/>
        </a:dk1>
        <a:lt1>
          <a:srgbClr val="FFFFFF"/>
        </a:lt1>
        <a:dk2>
          <a:srgbClr val="002960"/>
        </a:dk2>
        <a:lt2>
          <a:srgbClr val="FFFFFF"/>
        </a:lt2>
        <a:accent1>
          <a:srgbClr val="C7E0FB"/>
        </a:accent1>
        <a:accent2>
          <a:srgbClr val="C7C293"/>
        </a:accent2>
        <a:accent3>
          <a:srgbClr val="FFFFFF"/>
        </a:accent3>
        <a:accent4>
          <a:srgbClr val="000000"/>
        </a:accent4>
        <a:accent5>
          <a:srgbClr val="E0EDFD"/>
        </a:accent5>
        <a:accent6>
          <a:srgbClr val="B4B085"/>
        </a:accent6>
        <a:hlink>
          <a:srgbClr val="50A2A0"/>
        </a:hlink>
        <a:folHlink>
          <a:srgbClr val="002960"/>
        </a:folHlink>
      </a:clrScheme>
      <a:clrMap bg1="lt1" tx1="dk1" bg2="lt2" tx2="dk2" accent1="accent1" accent2="accent2" accent3="accent3" accent4="accent4" accent5="accent5" accent6="accent6" hlink="hlink" folHlink="folHlink"/>
    </a:extraClrScheme>
    <a:extraClrScheme>
      <a:clrScheme name="Universal Template 9">
        <a:dk1>
          <a:srgbClr val="002960"/>
        </a:dk1>
        <a:lt1>
          <a:srgbClr val="FFFFFF"/>
        </a:lt1>
        <a:dk2>
          <a:srgbClr val="002960"/>
        </a:dk2>
        <a:lt2>
          <a:srgbClr val="FFBE3D"/>
        </a:lt2>
        <a:accent1>
          <a:srgbClr val="0066CC"/>
        </a:accent1>
        <a:accent2>
          <a:srgbClr val="50A2A0"/>
        </a:accent2>
        <a:accent3>
          <a:srgbClr val="AAACB6"/>
        </a:accent3>
        <a:accent4>
          <a:srgbClr val="DADADA"/>
        </a:accent4>
        <a:accent5>
          <a:srgbClr val="AAB8E2"/>
        </a:accent5>
        <a:accent6>
          <a:srgbClr val="489291"/>
        </a:accent6>
        <a:hlink>
          <a:srgbClr val="C7C293"/>
        </a:hlink>
        <a:folHlink>
          <a:srgbClr val="FFBE3D"/>
        </a:folHlink>
      </a:clrScheme>
      <a:clrMap bg1="dk2" tx1="lt1" bg2="dk1" tx2="lt2" accent1="accent1" accent2="accent2" accent3="accent3" accent4="accent4" accent5="accent5" accent6="accent6" hlink="hlink" folHlink="folHlink"/>
    </a:extraClrScheme>
    <a:extraClrScheme>
      <a:clrScheme name="Universal Template 10">
        <a:dk1>
          <a:srgbClr val="000000"/>
        </a:dk1>
        <a:lt1>
          <a:srgbClr val="FFFFFF"/>
        </a:lt1>
        <a:dk2>
          <a:srgbClr val="000000"/>
        </a:dk2>
        <a:lt2>
          <a:srgbClr val="FFBE3D"/>
        </a:lt2>
        <a:accent1>
          <a:srgbClr val="174A7C"/>
        </a:accent1>
        <a:accent2>
          <a:srgbClr val="50A2A0"/>
        </a:accent2>
        <a:accent3>
          <a:srgbClr val="AAAAAA"/>
        </a:accent3>
        <a:accent4>
          <a:srgbClr val="DADADA"/>
        </a:accent4>
        <a:accent5>
          <a:srgbClr val="ABB1BF"/>
        </a:accent5>
        <a:accent6>
          <a:srgbClr val="489291"/>
        </a:accent6>
        <a:hlink>
          <a:srgbClr val="C7C293"/>
        </a:hlink>
        <a:folHlink>
          <a:srgbClr val="FFBE3D"/>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佈景主題1_永豐金證券" id="{75E5537C-BE0B-466A-B93B-6DB285B60407}" vid="{48C6BB96-B5CF-4367-A5FB-2729477046DC}"/>
    </a:ext>
  </a:extLst>
</a:theme>
</file>

<file path=ppt/theme/theme2.xml><?xml version="1.0" encoding="utf-8"?>
<a:theme xmlns:a="http://schemas.openxmlformats.org/drawingml/2006/main" name="1_佈景主題1_永豐金證券">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2x5lcv0c">
      <a:majorFont>
        <a:latin typeface="Calibri"/>
        <a:ea typeface="微軟正黑體"/>
        <a:cs typeface=""/>
      </a:majorFont>
      <a:minorFont>
        <a:latin typeface="Calibri"/>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000" b="1" i="0" u="none" strike="noStrike" cap="none" normalizeH="0" baseline="0" smtClean="0">
            <a:ln>
              <a:noFill/>
            </a:ln>
            <a:solidFill>
              <a:schemeClr val="tx1"/>
            </a:solidFill>
            <a:effectLst/>
            <a:latin typeface="Arial" charset="0"/>
            <a:ea typeface="华文楷体" pitchFamily="2" charset="-122"/>
          </a:defRPr>
        </a:defPPr>
      </a:lstStyle>
    </a:lnDef>
  </a:objectDefaults>
  <a:extraClrSchemeLst>
    <a:extraClrScheme>
      <a:clrScheme name="Universal Template 1">
        <a:dk1>
          <a:srgbClr val="000000"/>
        </a:dk1>
        <a:lt1>
          <a:srgbClr val="FFFFFF"/>
        </a:lt1>
        <a:dk2>
          <a:srgbClr val="000000"/>
        </a:dk2>
        <a:lt2>
          <a:srgbClr val="FFFFFF"/>
        </a:lt2>
        <a:accent1>
          <a:srgbClr val="FFFFFF"/>
        </a:accent1>
        <a:accent2>
          <a:srgbClr val="D0D0D0"/>
        </a:accent2>
        <a:accent3>
          <a:srgbClr val="FFFFFF"/>
        </a:accent3>
        <a:accent4>
          <a:srgbClr val="000000"/>
        </a:accent4>
        <a:accent5>
          <a:srgbClr val="FFFFFF"/>
        </a:accent5>
        <a:accent6>
          <a:srgbClr val="BCBCBC"/>
        </a:accent6>
        <a:hlink>
          <a:srgbClr val="909090"/>
        </a:hlink>
        <a:folHlink>
          <a:srgbClr val="606060"/>
        </a:folHlink>
      </a:clrScheme>
      <a:clrMap bg1="lt1" tx1="dk1" bg2="lt2" tx2="dk2" accent1="accent1" accent2="accent2" accent3="accent3" accent4="accent4" accent5="accent5" accent6="accent6" hlink="hlink" folHlink="folHlink"/>
    </a:extraClrScheme>
    <a:extraClrScheme>
      <a:clrScheme name="Universal Template 2">
        <a:dk1>
          <a:srgbClr val="000000"/>
        </a:dk1>
        <a:lt1>
          <a:srgbClr val="FFFFFF"/>
        </a:lt1>
        <a:dk2>
          <a:srgbClr val="002960"/>
        </a:dk2>
        <a:lt2>
          <a:srgbClr val="FFFFFF"/>
        </a:lt2>
        <a:accent1>
          <a:srgbClr val="C7E0FB"/>
        </a:accent1>
        <a:accent2>
          <a:srgbClr val="91B0FF"/>
        </a:accent2>
        <a:accent3>
          <a:srgbClr val="FFFFFF"/>
        </a:accent3>
        <a:accent4>
          <a:srgbClr val="000000"/>
        </a:accent4>
        <a:accent5>
          <a:srgbClr val="E0EDFD"/>
        </a:accent5>
        <a:accent6>
          <a:srgbClr val="839FE7"/>
        </a:accent6>
        <a:hlink>
          <a:srgbClr val="0066CC"/>
        </a:hlink>
        <a:folHlink>
          <a:srgbClr val="002960"/>
        </a:folHlink>
      </a:clrScheme>
      <a:clrMap bg1="lt1" tx1="dk1" bg2="lt2" tx2="dk2" accent1="accent1" accent2="accent2" accent3="accent3" accent4="accent4" accent5="accent5" accent6="accent6" hlink="hlink" folHlink="folHlink"/>
    </a:extraClrScheme>
    <a:extraClrScheme>
      <a:clrScheme name="Universal Template 3">
        <a:dk1>
          <a:srgbClr val="002960"/>
        </a:dk1>
        <a:lt1>
          <a:srgbClr val="FFFFFF"/>
        </a:lt1>
        <a:dk2>
          <a:srgbClr val="002960"/>
        </a:dk2>
        <a:lt2>
          <a:srgbClr val="FFBE3D"/>
        </a:lt2>
        <a:accent1>
          <a:srgbClr val="0066CC"/>
        </a:accent1>
        <a:accent2>
          <a:srgbClr val="5F8DFF"/>
        </a:accent2>
        <a:accent3>
          <a:srgbClr val="AAACB6"/>
        </a:accent3>
        <a:accent4>
          <a:srgbClr val="DADADA"/>
        </a:accent4>
        <a:accent5>
          <a:srgbClr val="AAB8E2"/>
        </a:accent5>
        <a:accent6>
          <a:srgbClr val="557FE7"/>
        </a:accent6>
        <a:hlink>
          <a:srgbClr val="96C5F8"/>
        </a:hlink>
        <a:folHlink>
          <a:srgbClr val="D8E9FC"/>
        </a:folHlink>
      </a:clrScheme>
      <a:clrMap bg1="dk2" tx1="lt1" bg2="dk1" tx2="lt2" accent1="accent1" accent2="accent2" accent3="accent3" accent4="accent4" accent5="accent5" accent6="accent6" hlink="hlink" folHlink="folHlink"/>
    </a:extraClrScheme>
    <a:extraClrScheme>
      <a:clrScheme name="Universal Template 4">
        <a:dk1>
          <a:srgbClr val="000000"/>
        </a:dk1>
        <a:lt1>
          <a:srgbClr val="FFFFFF"/>
        </a:lt1>
        <a:dk2>
          <a:srgbClr val="000000"/>
        </a:dk2>
        <a:lt2>
          <a:srgbClr val="FFBE3D"/>
        </a:lt2>
        <a:accent1>
          <a:srgbClr val="002960"/>
        </a:accent1>
        <a:accent2>
          <a:srgbClr val="0066CC"/>
        </a:accent2>
        <a:accent3>
          <a:srgbClr val="AAAAAA"/>
        </a:accent3>
        <a:accent4>
          <a:srgbClr val="DADADA"/>
        </a:accent4>
        <a:accent5>
          <a:srgbClr val="AAACB6"/>
        </a:accent5>
        <a:accent6>
          <a:srgbClr val="005CB9"/>
        </a:accent6>
        <a:hlink>
          <a:srgbClr val="91B0FF"/>
        </a:hlink>
        <a:folHlink>
          <a:srgbClr val="C7E0FB"/>
        </a:folHlink>
      </a:clrScheme>
      <a:clrMap bg1="dk2" tx1="lt1" bg2="dk1" tx2="lt2" accent1="accent1" accent2="accent2" accent3="accent3" accent4="accent4" accent5="accent5" accent6="accent6" hlink="hlink" folHlink="folHlink"/>
    </a:extraClrScheme>
    <a:extraClrScheme>
      <a:clrScheme name="Universal Template 5">
        <a:dk1>
          <a:srgbClr val="000000"/>
        </a:dk1>
        <a:lt1>
          <a:srgbClr val="FFFFFF"/>
        </a:lt1>
        <a:dk2>
          <a:srgbClr val="002960"/>
        </a:dk2>
        <a:lt2>
          <a:srgbClr val="FFFFFF"/>
        </a:lt2>
        <a:accent1>
          <a:srgbClr val="C7E0FB"/>
        </a:accent1>
        <a:accent2>
          <a:srgbClr val="FFCC66"/>
        </a:accent2>
        <a:accent3>
          <a:srgbClr val="FFFFFF"/>
        </a:accent3>
        <a:accent4>
          <a:srgbClr val="000000"/>
        </a:accent4>
        <a:accent5>
          <a:srgbClr val="E0EDFD"/>
        </a:accent5>
        <a:accent6>
          <a:srgbClr val="E7B95C"/>
        </a:accent6>
        <a:hlink>
          <a:srgbClr val="4F8636"/>
        </a:hlink>
        <a:folHlink>
          <a:srgbClr val="002960"/>
        </a:folHlink>
      </a:clrScheme>
      <a:clrMap bg1="lt1" tx1="dk1" bg2="lt2" tx2="dk2" accent1="accent1" accent2="accent2" accent3="accent3" accent4="accent4" accent5="accent5" accent6="accent6" hlink="hlink" folHlink="folHlink"/>
    </a:extraClrScheme>
    <a:extraClrScheme>
      <a:clrScheme name="Universal Template 6">
        <a:dk1>
          <a:srgbClr val="002960"/>
        </a:dk1>
        <a:lt1>
          <a:srgbClr val="FFFFFF"/>
        </a:lt1>
        <a:dk2>
          <a:srgbClr val="002960"/>
        </a:dk2>
        <a:lt2>
          <a:srgbClr val="FFBE3D"/>
        </a:lt2>
        <a:accent1>
          <a:srgbClr val="0066CC"/>
        </a:accent1>
        <a:accent2>
          <a:srgbClr val="4F8636"/>
        </a:accent2>
        <a:accent3>
          <a:srgbClr val="AAACB6"/>
        </a:accent3>
        <a:accent4>
          <a:srgbClr val="DADADA"/>
        </a:accent4>
        <a:accent5>
          <a:srgbClr val="AAB8E2"/>
        </a:accent5>
        <a:accent6>
          <a:srgbClr val="477930"/>
        </a:accent6>
        <a:hlink>
          <a:srgbClr val="FF9900"/>
        </a:hlink>
        <a:folHlink>
          <a:srgbClr val="FFBE3D"/>
        </a:folHlink>
      </a:clrScheme>
      <a:clrMap bg1="dk2" tx1="lt1" bg2="dk1" tx2="lt2" accent1="accent1" accent2="accent2" accent3="accent3" accent4="accent4" accent5="accent5" accent6="accent6" hlink="hlink" folHlink="folHlink"/>
    </a:extraClrScheme>
    <a:extraClrScheme>
      <a:clrScheme name="Universal Template 7">
        <a:dk1>
          <a:srgbClr val="000000"/>
        </a:dk1>
        <a:lt1>
          <a:srgbClr val="FFFFFF"/>
        </a:lt1>
        <a:dk2>
          <a:srgbClr val="000000"/>
        </a:dk2>
        <a:lt2>
          <a:srgbClr val="FFBE3D"/>
        </a:lt2>
        <a:accent1>
          <a:srgbClr val="0066CC"/>
        </a:accent1>
        <a:accent2>
          <a:srgbClr val="4F8636"/>
        </a:accent2>
        <a:accent3>
          <a:srgbClr val="AAAAAA"/>
        </a:accent3>
        <a:accent4>
          <a:srgbClr val="DADADA"/>
        </a:accent4>
        <a:accent5>
          <a:srgbClr val="AAB8E2"/>
        </a:accent5>
        <a:accent6>
          <a:srgbClr val="477930"/>
        </a:accent6>
        <a:hlink>
          <a:srgbClr val="FF9900"/>
        </a:hlink>
        <a:folHlink>
          <a:srgbClr val="FFBE3D"/>
        </a:folHlink>
      </a:clrScheme>
      <a:clrMap bg1="dk2" tx1="lt1" bg2="dk1" tx2="lt2" accent1="accent1" accent2="accent2" accent3="accent3" accent4="accent4" accent5="accent5" accent6="accent6" hlink="hlink" folHlink="folHlink"/>
    </a:extraClrScheme>
    <a:extraClrScheme>
      <a:clrScheme name="Universal Template 8">
        <a:dk1>
          <a:srgbClr val="000000"/>
        </a:dk1>
        <a:lt1>
          <a:srgbClr val="FFFFFF"/>
        </a:lt1>
        <a:dk2>
          <a:srgbClr val="002960"/>
        </a:dk2>
        <a:lt2>
          <a:srgbClr val="FFFFFF"/>
        </a:lt2>
        <a:accent1>
          <a:srgbClr val="C7E0FB"/>
        </a:accent1>
        <a:accent2>
          <a:srgbClr val="C7C293"/>
        </a:accent2>
        <a:accent3>
          <a:srgbClr val="FFFFFF"/>
        </a:accent3>
        <a:accent4>
          <a:srgbClr val="000000"/>
        </a:accent4>
        <a:accent5>
          <a:srgbClr val="E0EDFD"/>
        </a:accent5>
        <a:accent6>
          <a:srgbClr val="B4B085"/>
        </a:accent6>
        <a:hlink>
          <a:srgbClr val="50A2A0"/>
        </a:hlink>
        <a:folHlink>
          <a:srgbClr val="002960"/>
        </a:folHlink>
      </a:clrScheme>
      <a:clrMap bg1="lt1" tx1="dk1" bg2="lt2" tx2="dk2" accent1="accent1" accent2="accent2" accent3="accent3" accent4="accent4" accent5="accent5" accent6="accent6" hlink="hlink" folHlink="folHlink"/>
    </a:extraClrScheme>
    <a:extraClrScheme>
      <a:clrScheme name="Universal Template 9">
        <a:dk1>
          <a:srgbClr val="002960"/>
        </a:dk1>
        <a:lt1>
          <a:srgbClr val="FFFFFF"/>
        </a:lt1>
        <a:dk2>
          <a:srgbClr val="002960"/>
        </a:dk2>
        <a:lt2>
          <a:srgbClr val="FFBE3D"/>
        </a:lt2>
        <a:accent1>
          <a:srgbClr val="0066CC"/>
        </a:accent1>
        <a:accent2>
          <a:srgbClr val="50A2A0"/>
        </a:accent2>
        <a:accent3>
          <a:srgbClr val="AAACB6"/>
        </a:accent3>
        <a:accent4>
          <a:srgbClr val="DADADA"/>
        </a:accent4>
        <a:accent5>
          <a:srgbClr val="AAB8E2"/>
        </a:accent5>
        <a:accent6>
          <a:srgbClr val="489291"/>
        </a:accent6>
        <a:hlink>
          <a:srgbClr val="C7C293"/>
        </a:hlink>
        <a:folHlink>
          <a:srgbClr val="FFBE3D"/>
        </a:folHlink>
      </a:clrScheme>
      <a:clrMap bg1="dk2" tx1="lt1" bg2="dk1" tx2="lt2" accent1="accent1" accent2="accent2" accent3="accent3" accent4="accent4" accent5="accent5" accent6="accent6" hlink="hlink" folHlink="folHlink"/>
    </a:extraClrScheme>
    <a:extraClrScheme>
      <a:clrScheme name="Universal Template 10">
        <a:dk1>
          <a:srgbClr val="000000"/>
        </a:dk1>
        <a:lt1>
          <a:srgbClr val="FFFFFF"/>
        </a:lt1>
        <a:dk2>
          <a:srgbClr val="000000"/>
        </a:dk2>
        <a:lt2>
          <a:srgbClr val="FFBE3D"/>
        </a:lt2>
        <a:accent1>
          <a:srgbClr val="174A7C"/>
        </a:accent1>
        <a:accent2>
          <a:srgbClr val="50A2A0"/>
        </a:accent2>
        <a:accent3>
          <a:srgbClr val="AAAAAA"/>
        </a:accent3>
        <a:accent4>
          <a:srgbClr val="DADADA"/>
        </a:accent4>
        <a:accent5>
          <a:srgbClr val="ABB1BF"/>
        </a:accent5>
        <a:accent6>
          <a:srgbClr val="489291"/>
        </a:accent6>
        <a:hlink>
          <a:srgbClr val="C7C293"/>
        </a:hlink>
        <a:folHlink>
          <a:srgbClr val="FFBE3D"/>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佈景主題1_永豐金證券" id="{75E5537C-BE0B-466A-B93B-6DB285B60407}" vid="{48C6BB96-B5CF-4367-A5FB-2729477046DC}"/>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cf76f155ced4ddcb4097134ff3c332f xmlns="4a8ca20b-5434-4993-a6fa-d61b44b516b7">
      <Terms xmlns="http://schemas.microsoft.com/office/infopath/2007/PartnerControls"/>
    </lcf76f155ced4ddcb4097134ff3c332f>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B501D4D87422D44959937A27B281F5D" ma:contentTypeVersion="17" ma:contentTypeDescription="Create a new document." ma:contentTypeScope="" ma:versionID="9f65bd88444c2393f0b68ee55596736b">
  <xsd:schema xmlns:xsd="http://www.w3.org/2001/XMLSchema" xmlns:xs="http://www.w3.org/2001/XMLSchema" xmlns:p="http://schemas.microsoft.com/office/2006/metadata/properties" xmlns:ns1="http://schemas.microsoft.com/sharepoint/v3" xmlns:ns2="4a8ca20b-5434-4993-a6fa-d61b44b516b7" xmlns:ns3="d306a5a7-f77a-4b98-9e25-9e51307c01ec" targetNamespace="http://schemas.microsoft.com/office/2006/metadata/properties" ma:root="true" ma:fieldsID="cc597e7e8c28f54560036f18593bc0b2" ns1:_="" ns2:_="" ns3:_="">
    <xsd:import namespace="http://schemas.microsoft.com/sharepoint/v3"/>
    <xsd:import namespace="4a8ca20b-5434-4993-a6fa-d61b44b516b7"/>
    <xsd:import namespace="d306a5a7-f77a-4b98-9e25-9e51307c01ec"/>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SearchPropertie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element ref="ns2:MediaServiceBillingMetadata" minOccurs="0"/>
                <xsd:element ref="ns1:_ip_UnifiedCompliancePolicyProperties" minOccurs="0"/>
                <xsd:element ref="ns1:_ip_UnifiedCompliancePolicyUIAction"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a8ca20b-5434-4993-a6fa-d61b44b516b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6f1147d-4a84-4851-ac23-a90e0e54e3b4" ma:termSetId="09814cd3-568e-fe90-9814-8d621ff8fb84" ma:anchorId="fba54fb3-c3e1-fe81-a776-ca4b69148c4d" ma:open="true" ma:isKeyword="false">
      <xsd:complexType>
        <xsd:sequence>
          <xsd:element ref="pc:Terms" minOccurs="0" maxOccurs="1"/>
        </xsd:sequence>
      </xsd:complex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BillingMetadata" ma:index="20" nillable="true" ma:displayName="MediaServiceBillingMetadata" ma:hidden="true" ma:internalName="MediaServiceBillingMetadata" ma:readOnly="true">
      <xsd:simpleType>
        <xsd:restriction base="dms:Note"/>
      </xsd:simpleType>
    </xsd:element>
    <xsd:element name="MediaServiceLocation" ma:index="23" nillable="true" ma:displayName="Location" ma:indexed="true" ma:internalName="MediaServiceLocation"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306a5a7-f77a-4b98-9e25-9e51307c01ec"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1FE7E80-6A2A-4CE3-A4F2-154BCD61A795}">
  <ds:schemaRefs>
    <ds:schemaRef ds:uri="http://schemas.microsoft.com/office/2006/metadata/properties"/>
    <ds:schemaRef ds:uri="http://schemas.microsoft.com/office/infopath/2007/PartnerControls"/>
    <ds:schemaRef ds:uri="http://schemas.microsoft.com/sharepoint/v3"/>
    <ds:schemaRef ds:uri="4a8ca20b-5434-4993-a6fa-d61b44b516b7"/>
  </ds:schemaRefs>
</ds:datastoreItem>
</file>

<file path=customXml/itemProps2.xml><?xml version="1.0" encoding="utf-8"?>
<ds:datastoreItem xmlns:ds="http://schemas.openxmlformats.org/officeDocument/2006/customXml" ds:itemID="{EF1F533D-5652-4F91-8362-7452580C8A3C}">
  <ds:schemaRefs>
    <ds:schemaRef ds:uri="http://schemas.microsoft.com/sharepoint/v3/contenttype/forms"/>
  </ds:schemaRefs>
</ds:datastoreItem>
</file>

<file path=customXml/itemProps3.xml><?xml version="1.0" encoding="utf-8"?>
<ds:datastoreItem xmlns:ds="http://schemas.openxmlformats.org/officeDocument/2006/customXml" ds:itemID="{53D6BB7F-C1E7-4B8C-920D-A0447A1A118F}"/>
</file>

<file path=docProps/app.xml><?xml version="1.0" encoding="utf-8"?>
<Properties xmlns="http://schemas.openxmlformats.org/officeDocument/2006/extended-properties" xmlns:vt="http://schemas.openxmlformats.org/officeDocument/2006/docPropsVTypes">
  <TotalTime>26776</TotalTime>
  <Words>2056</Words>
  <Application>Microsoft Office PowerPoint</Application>
  <PresentationFormat>寬螢幕</PresentationFormat>
  <Paragraphs>523</Paragraphs>
  <Slides>20</Slides>
  <Notes>0</Notes>
  <HiddenSlides>2</HiddenSlides>
  <MMClips>0</MMClips>
  <ScaleCrop>false</ScaleCrop>
  <HeadingPairs>
    <vt:vector size="4" baseType="variant">
      <vt:variant>
        <vt:lpstr>佈景主題</vt:lpstr>
      </vt:variant>
      <vt:variant>
        <vt:i4>2</vt:i4>
      </vt:variant>
      <vt:variant>
        <vt:lpstr>投影片標題</vt:lpstr>
      </vt:variant>
      <vt:variant>
        <vt:i4>20</vt:i4>
      </vt:variant>
    </vt:vector>
  </HeadingPairs>
  <TitlesOfParts>
    <vt:vector size="22" baseType="lpstr">
      <vt:lpstr>佈景主題1_永豐金證券</vt:lpstr>
      <vt:lpstr>1_佈景主題1_永豐金證券</vt:lpstr>
      <vt:lpstr>PowerPoint 簡報</vt:lpstr>
      <vt:lpstr>PowerPoint 簡報</vt:lpstr>
      <vt:lpstr>專案總覽</vt:lpstr>
      <vt:lpstr>專案目標</vt:lpstr>
      <vt:lpstr>專案範圍</vt:lpstr>
      <vt:lpstr>軟體架構</vt:lpstr>
      <vt:lpstr>軟體架構</vt:lpstr>
      <vt:lpstr>硬體架構</vt:lpstr>
      <vt:lpstr>系統關聯圖</vt:lpstr>
      <vt:lpstr>專案成本(硬體及其他)</vt:lpstr>
      <vt:lpstr>IT內部人力(資訊)</vt:lpstr>
      <vt:lpstr>IT內部人力(金控)</vt:lpstr>
      <vt:lpstr>專案時程</vt:lpstr>
      <vt:lpstr>專案時程</vt:lpstr>
      <vt:lpstr>專案時程(資訊)</vt:lpstr>
      <vt:lpstr>資安規範檢核</vt:lpstr>
      <vt:lpstr>系統架構 – 相關問題</vt:lpstr>
      <vt:lpstr>附件1</vt:lpstr>
      <vt:lpstr>附件2</vt:lpstr>
      <vt:lpstr>軟體架構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王君豪-資訊營管部-永豐金證券</dc:creator>
  <cp:lastModifiedBy>何立峯-支援系統部-永豐金證券</cp:lastModifiedBy>
  <cp:revision>32</cp:revision>
  <dcterms:created xsi:type="dcterms:W3CDTF">2021-04-06T05:15:37Z</dcterms:created>
  <dcterms:modified xsi:type="dcterms:W3CDTF">2026-01-22T07:08:17Z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0x0101003B501D4D87422D44959937A27B281F5D</vt:lpwstr>
  </property>
  <property fmtid="{D5CDD505-2E9C-101B-9397-08002B2CF9AE}" pid="3" name="MediaServiceImageTags">
    <vt:lpwstr/>
  </property>
</Properties>
</file>